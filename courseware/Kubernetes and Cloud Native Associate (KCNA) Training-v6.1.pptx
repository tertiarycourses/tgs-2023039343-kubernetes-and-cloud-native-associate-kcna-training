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832" r:id="rId584"/>
    <p:sldId id="268" r:id="rId19"/>
    <p:sldId id="269" r:id="rId20"/>
    <p:sldId id="270" r:id="rId21"/>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Weight %</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Kubernetes Fundamentals</c:v>
                </c:pt>
                <c:pt idx="1">
                  <c:v>Container Orchestration</c:v>
                </c:pt>
                <c:pt idx="2">
                  <c:v>Cloud Native Application Delivery</c:v>
                </c:pt>
                <c:pt idx="3">
                  <c:v>Cloud Native Architecture</c:v>
                </c:pt>
              </c:strCache>
            </c:strRef>
          </c:cat>
          <c:val>
            <c:numRef>
              <c:f>Sheet1!$B$2:$B$5</c:f>
              <c:numCache>
                <c:formatCode>General</c:formatCode>
                <c:ptCount val="4"/>
                <c:pt idx="0">
                  <c:v>44</c:v>
                </c:pt>
                <c:pt idx="1">
                  <c:v>28</c:v>
                </c:pt>
                <c:pt idx="2">
                  <c:v>16</c:v>
                </c:pt>
                <c:pt idx="3">
                  <c:v>12</c:v>
                </c:pt>
              </c:numCache>
            </c:numRef>
          </c:val>
        </c:ser>
        <c:dLbls>
          <c:numFmt formatCode="0&quot;%&quot;" sourceLinked="0"/>
          <c:txPr>
            <a:bodyPr/>
            <a:lstStyle/>
            <a:p>
              <a:pPr>
                <a:defRPr sz="900">
                  <a:solidFill>
                    <a:srgbClr val="161B26"/>
                  </a:solidFill>
                  <a:latin typeface="Arial"/>
                </a:defRPr>
              </a:pPr>
            </a:p>
          </c:txPr>
          <c:dLblPos val="outEnd"/>
          <c:showLegendKey val="0"/>
          <c:showVal val="1"/>
          <c:showCatName val="0"/>
          <c:showSerName val="0"/>
          <c:showPercent val="0"/>
          <c:showBubbleSize val="0"/>
          <c:showLeaderLines val="1"/>
        </c:dLbls>
      </c:pieChart>
    </c:plotArea>
    <c:legend>
      <c:legendPos/>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Projects</c:v>
                </c:pt>
              </c:strCache>
            </c:strRef>
          </c:tx>
          <c:spPr>
            <a:solidFill>
              <a:srgbClr val="1F6FEB"/>
            </a:solidFill>
          </c:spPr>
          <c:cat>
            <c:strRef>
              <c:f>Sheet1!$A$2:$A$5</c:f>
              <c:strCache>
                <c:ptCount val="4"/>
                <c:pt idx="0">
                  <c:v>Sandbox</c:v>
                </c:pt>
                <c:pt idx="1">
                  <c:v>Incubating</c:v>
                </c:pt>
                <c:pt idx="2">
                  <c:v>Graduated</c:v>
                </c:pt>
                <c:pt idx="3">
                  <c:v>Archived</c:v>
                </c:pt>
              </c:strCache>
            </c:strRef>
          </c:cat>
          <c:val>
            <c:numRef>
              <c:f>Sheet1!$B$2:$B$5</c:f>
              <c:numCache>
                <c:formatCode>General</c:formatCode>
                <c:ptCount val="4"/>
                <c:pt idx="0">
                  <c:v>151</c:v>
                </c:pt>
                <c:pt idx="1">
                  <c:v>37</c:v>
                </c:pt>
                <c:pt idx="2">
                  <c:v>39</c:v>
                </c:pt>
                <c:pt idx="3">
                  <c:v>28</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Megabytes (10^6 B)</c:v>
                </c:pt>
              </c:strCache>
            </c:strRef>
          </c:tx>
          <c:spPr>
            <a:solidFill>
              <a:srgbClr val="1F6FEB"/>
            </a:solidFill>
          </c:spPr>
          <c:cat>
            <c:strRef>
              <c:f>Sheet1!$A$2:$A$8</c:f>
              <c:strCache>
                <c:ptCount val="7"/>
                <c:pt idx="0">
                  <c:v>kindnetd (CNI agent)</c:v>
                </c:pt>
                <c:pt idx="1">
                  <c:v>nginx:1.27-alpine</c:v>
                </c:pt>
                <c:pt idx="2">
                  <c:v>CoreDNS v1.14.6</c:v>
                </c:pt>
                <c:pt idx="3">
                  <c:v>etcd 3.7.0-0</c:v>
                </c:pt>
                <c:pt idx="4">
                  <c:v>alpine</c:v>
                </c:pt>
                <c:pt idx="5">
                  <c:v>busybox</c:v>
                </c:pt>
                <c:pt idx="6">
                  <c:v>pause:3.10</c:v>
                </c:pt>
              </c:strCache>
            </c:strRef>
          </c:cat>
          <c:val>
            <c:numRef>
              <c:f>Sheet1!$B$2:$B$8</c:f>
              <c:numCache>
                <c:formatCode>General</c:formatCode>
                <c:ptCount val="7"/>
                <c:pt idx="0">
                  <c:v>35.7</c:v>
                </c:pt>
                <c:pt idx="1">
                  <c:v>21.8</c:v>
                </c:pt>
                <c:pt idx="2">
                  <c:v>21.2</c:v>
                </c:pt>
                <c:pt idx="3">
                  <c:v>20.5</c:v>
                </c:pt>
                <c:pt idx="4">
                  <c:v>4.1</c:v>
                </c:pt>
                <c:pt idx="5">
                  <c:v>1.9</c:v>
                </c:pt>
                <c:pt idx="6">
                  <c:v>0.27</c:v>
                </c:pt>
              </c:numCache>
            </c:numRef>
          </c:val>
        </c:ser>
        <c:dLbls>
          <c:numFmt formatCode="0.0" sourceLinked="0"/>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Resource kinds served</c:v>
                </c:pt>
              </c:strCache>
            </c:strRef>
          </c:tx>
          <c:spPr>
            <a:solidFill>
              <a:srgbClr val="1F6FEB"/>
            </a:solidFill>
          </c:spPr>
          <c:cat>
            <c:strRef>
              <c:f>Sheet1!$A$2:$A$10</c:f>
              <c:strCache>
                <c:ptCount val="9"/>
                <c:pt idx="0">
                  <c:v>core (v1)</c:v>
                </c:pt>
                <c:pt idx="1">
                  <c:v>storage</c:v>
                </c:pt>
                <c:pt idx="2">
                  <c:v>admission-
registration</c:v>
                </c:pt>
                <c:pt idx="3">
                  <c:v>resource</c:v>
                </c:pt>
                <c:pt idx="4">
                  <c:v>networking</c:v>
                </c:pt>
                <c:pt idx="5">
                  <c:v>apps</c:v>
                </c:pt>
                <c:pt idx="6">
                  <c:v>rbac</c:v>
                </c:pt>
                <c:pt idx="7">
                  <c:v>authorization</c:v>
                </c:pt>
                <c:pt idx="8">
                  <c:v>18 other
groups</c:v>
                </c:pt>
              </c:strCache>
            </c:strRef>
          </c:cat>
          <c:val>
            <c:numRef>
              <c:f>Sheet1!$B$2:$B$10</c:f>
              <c:numCache>
                <c:formatCode>General</c:formatCode>
                <c:ptCount val="9"/>
                <c:pt idx="0">
                  <c:v>17</c:v>
                </c:pt>
                <c:pt idx="1">
                  <c:v>6</c:v>
                </c:pt>
                <c:pt idx="2">
                  <c:v>6</c:v>
                </c:pt>
                <c:pt idx="3">
                  <c:v>5</c:v>
                </c:pt>
                <c:pt idx="4">
                  <c:v>5</c:v>
                </c:pt>
                <c:pt idx="5">
                  <c:v>5</c:v>
                </c:pt>
                <c:pt idx="6">
                  <c:v>4</c:v>
                </c:pt>
                <c:pt idx="7">
                  <c:v>4</c:v>
                </c:pt>
                <c:pt idx="8">
                  <c:v>19</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Minutes</c:v>
                </c:pt>
              </c:strCache>
            </c:strRef>
          </c:tx>
          <c:spPr>
            <a:solidFill>
              <a:srgbClr val="1F6FEB"/>
            </a:solidFill>
          </c:spPr>
          <c:cat>
            <c:strRef>
              <c:f>Sheet1!$A$2:$A$6</c:f>
              <c:strCache>
                <c:ptCount val="5"/>
                <c:pt idx="0">
                  <c:v>Lab 01
kubectl recon</c:v>
                </c:pt>
                <c:pt idx="1">
                  <c:v>Lab 02
Pod manifest</c:v>
                </c:pt>
                <c:pt idx="2">
                  <c:v>Lab 03
commands/args</c:v>
                </c:pt>
                <c:pt idx="3">
                  <c:v>Lab 04
multi-container</c:v>
                </c:pt>
                <c:pt idx="4">
                  <c:v>Lab 05
images &amp; OCI</c:v>
                </c:pt>
              </c:strCache>
            </c:strRef>
          </c:cat>
          <c:val>
            <c:numRef>
              <c:f>Sheet1!$B$2:$B$6</c:f>
              <c:numCache>
                <c:formatCode>General</c:formatCode>
                <c:ptCount val="5"/>
                <c:pt idx="0">
                  <c:v>45</c:v>
                </c:pt>
                <c:pt idx="1">
                  <c:v>45</c:v>
                </c:pt>
                <c:pt idx="2">
                  <c:v>40</c:v>
                </c:pt>
                <c:pt idx="3">
                  <c:v>50</c:v>
                </c:pt>
                <c:pt idx="4">
                  <c:v>40</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DaemonSet Pods (berth-agent)</c:v>
                </c:pt>
              </c:strCache>
            </c:strRef>
          </c:tx>
          <c:spPr>
            <a:solidFill>
              <a:srgbClr val="1F6FEB"/>
            </a:solidFill>
          </c:spPr>
          <c:cat>
            <c:strRef>
              <c:f>Sheet1!$A$2:$A$6</c:f>
              <c:strCache>
                <c:ptCount val="5"/>
                <c:pt idx="0">
                  <c:v>1 node (kind, Lab 08)</c:v>
                </c:pt>
                <c:pt idx="1">
                  <c:v>3 nodes</c:v>
                </c:pt>
                <c:pt idx="2">
                  <c:v>5 nodes</c:v>
                </c:pt>
                <c:pt idx="3">
                  <c:v>14 nodes (MFS prod)</c:v>
                </c:pt>
                <c:pt idx="4">
                  <c:v>50 nodes</c:v>
                </c:pt>
              </c:strCache>
            </c:strRef>
          </c:cat>
          <c:val>
            <c:numRef>
              <c:f>Sheet1!$B$2:$B$6</c:f>
              <c:numCache>
                <c:formatCode>General</c:formatCode>
                <c:ptCount val="5"/>
                <c:pt idx="0">
                  <c:v>1</c:v>
                </c:pt>
                <c:pt idx="1">
                  <c:v>3</c:v>
                </c:pt>
                <c:pt idx="2">
                  <c:v>5</c:v>
                </c:pt>
                <c:pt idx="3">
                  <c:v>14</c:v>
                </c:pt>
                <c:pt idx="4">
                  <c:v>50</c:v>
                </c:pt>
              </c:numCache>
            </c:numRef>
          </c:val>
        </c:ser>
        <c:ser>
          <c:idx val="1"/>
          <c:order val="1"/>
          <c:tx>
            <c:strRef>
              <c:f>Sheet1!$C$1</c:f>
              <c:strCache>
                <c:ptCount val="1"/>
                <c:pt idx="0">
                  <c:v>Deployment Pods (replicas: 4)</c:v>
                </c:pt>
              </c:strCache>
            </c:strRef>
          </c:tx>
          <c:spPr>
            <a:solidFill>
              <a:srgbClr val="10B981"/>
            </a:solidFill>
          </c:spPr>
          <c:cat>
            <c:strRef>
              <c:f>Sheet1!$A$2:$A$6</c:f>
              <c:strCache>
                <c:ptCount val="5"/>
                <c:pt idx="0">
                  <c:v>1 node (kind, Lab 08)</c:v>
                </c:pt>
                <c:pt idx="1">
                  <c:v>3 nodes</c:v>
                </c:pt>
                <c:pt idx="2">
                  <c:v>5 nodes</c:v>
                </c:pt>
                <c:pt idx="3">
                  <c:v>14 nodes (MFS prod)</c:v>
                </c:pt>
                <c:pt idx="4">
                  <c:v>50 nodes</c:v>
                </c:pt>
              </c:strCache>
            </c:strRef>
          </c:cat>
          <c:val>
            <c:numRef>
              <c:f>Sheet1!$C$2:$C$6</c:f>
              <c:numCache>
                <c:formatCode>General</c:formatCode>
                <c:ptCount val="5"/>
                <c:pt idx="0">
                  <c:v>4</c:v>
                </c:pt>
                <c:pt idx="1">
                  <c:v>4</c:v>
                </c:pt>
                <c:pt idx="2">
                  <c:v>4</c:v>
                </c:pt>
                <c:pt idx="3">
                  <c:v>4</c:v>
                </c:pt>
                <c:pt idx="4">
                  <c:v>4</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Ceiling — max total Pods</c:v>
                </c:pt>
              </c:strCache>
            </c:strRef>
          </c:tx>
          <c:spPr>
            <a:solidFill>
              <a:srgbClr val="1F6FEB"/>
            </a:solidFill>
          </c:spPr>
          <c:cat>
            <c:strRef>
              <c:f>Sheet1!$A$2:$A$6</c:f>
              <c:strCache>
                <c:ptCount val="5"/>
                <c:pt idx="0">
                  <c:v>25% / 25%
(defaults)</c:v>
                </c:pt>
                <c:pt idx="1">
                  <c:v>maxSurge 1
maxUnavail 0</c:v>
                </c:pt>
                <c:pt idx="2">
                  <c:v>maxSurge 0
maxUnavail 2</c:v>
                </c:pt>
                <c:pt idx="3">
                  <c:v>maxSurge 5
maxUnavail 0</c:v>
                </c:pt>
                <c:pt idx="4">
                  <c:v>Recreate</c:v>
                </c:pt>
              </c:strCache>
            </c:strRef>
          </c:cat>
          <c:val>
            <c:numRef>
              <c:f>Sheet1!$B$2:$B$6</c:f>
              <c:numCache>
                <c:formatCode>General</c:formatCode>
                <c:ptCount val="5"/>
                <c:pt idx="0">
                  <c:v>13</c:v>
                </c:pt>
                <c:pt idx="1">
                  <c:v>11</c:v>
                </c:pt>
                <c:pt idx="2">
                  <c:v>10</c:v>
                </c:pt>
                <c:pt idx="3">
                  <c:v>15</c:v>
                </c:pt>
                <c:pt idx="4">
                  <c:v>10</c:v>
                </c:pt>
              </c:numCache>
            </c:numRef>
          </c:val>
        </c:ser>
        <c:ser>
          <c:idx val="1"/>
          <c:order val="1"/>
          <c:tx>
            <c:strRef>
              <c:f>Sheet1!$C$1</c:f>
              <c:strCache>
                <c:ptCount val="1"/>
                <c:pt idx="0">
                  <c:v>Floor — min available Pods</c:v>
                </c:pt>
              </c:strCache>
            </c:strRef>
          </c:tx>
          <c:spPr>
            <a:solidFill>
              <a:srgbClr val="10B981"/>
            </a:solidFill>
          </c:spPr>
          <c:cat>
            <c:strRef>
              <c:f>Sheet1!$A$2:$A$6</c:f>
              <c:strCache>
                <c:ptCount val="5"/>
                <c:pt idx="0">
                  <c:v>25% / 25%
(defaults)</c:v>
                </c:pt>
                <c:pt idx="1">
                  <c:v>maxSurge 1
maxUnavail 0</c:v>
                </c:pt>
                <c:pt idx="2">
                  <c:v>maxSurge 0
maxUnavail 2</c:v>
                </c:pt>
                <c:pt idx="3">
                  <c:v>maxSurge 5
maxUnavail 0</c:v>
                </c:pt>
                <c:pt idx="4">
                  <c:v>Recreate</c:v>
                </c:pt>
              </c:strCache>
            </c:strRef>
          </c:cat>
          <c:val>
            <c:numRef>
              <c:f>Sheet1!$C$2:$C$6</c:f>
              <c:numCache>
                <c:formatCode>General</c:formatCode>
                <c:ptCount val="5"/>
                <c:pt idx="0">
                  <c:v>8</c:v>
                </c:pt>
                <c:pt idx="1">
                  <c:v>10</c:v>
                </c:pt>
                <c:pt idx="2">
                  <c:v>8</c:v>
                </c:pt>
                <c:pt idx="3">
                  <c:v>10</c:v>
                </c:pt>
                <c:pt idx="4">
                  <c:v>0</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TOTAL Pods</c:v>
                </c:pt>
              </c:strCache>
            </c:strRef>
          </c:tx>
          <c:spPr>
            <a:ln w="28575">
              <a:solidFill>
                <a:srgbClr val="1F6FEB"/>
              </a:solidFill>
            </a:ln>
          </c:spPr>
          <c:cat>
            <c:strRef>
              <c:f>Sheet1!$A$2:$A$8</c:f>
              <c:strCache>
                <c:ptCount val="7"/>
                <c:pt idx="0">
                  <c:v>t0 steady</c:v>
                </c:pt>
                <c:pt idx="1">
                  <c:v>t1</c:v>
                </c:pt>
                <c:pt idx="2">
                  <c:v>t2</c:v>
                </c:pt>
                <c:pt idx="3">
                  <c:v>t3</c:v>
                </c:pt>
                <c:pt idx="4">
                  <c:v>t4</c:v>
                </c:pt>
                <c:pt idx="5">
                  <c:v>t5</c:v>
                </c:pt>
                <c:pt idx="6">
                  <c:v>t6 steady</c:v>
                </c:pt>
              </c:strCache>
            </c:strRef>
          </c:cat>
          <c:val>
            <c:numRef>
              <c:f>Sheet1!$B$2:$B$8</c:f>
              <c:numCache>
                <c:formatCode>General</c:formatCode>
                <c:ptCount val="7"/>
                <c:pt idx="0">
                  <c:v>4</c:v>
                </c:pt>
                <c:pt idx="1">
                  <c:v>5</c:v>
                </c:pt>
                <c:pt idx="2">
                  <c:v>5</c:v>
                </c:pt>
                <c:pt idx="3">
                  <c:v>5</c:v>
                </c:pt>
                <c:pt idx="4">
                  <c:v>5</c:v>
                </c:pt>
                <c:pt idx="5">
                  <c:v>5</c:v>
                </c:pt>
                <c:pt idx="6">
                  <c:v>4</c:v>
                </c:pt>
              </c:numCache>
            </c:numRef>
          </c:val>
          <c:smooth val="0"/>
        </c:ser>
        <c:ser>
          <c:idx val="1"/>
          <c:order val="1"/>
          <c:tx>
            <c:strRef>
              <c:f>Sheet1!$C$1</c:f>
              <c:strCache>
                <c:ptCount val="1"/>
                <c:pt idx="0">
                  <c:v>AVAILABLE Pods</c:v>
                </c:pt>
              </c:strCache>
            </c:strRef>
          </c:tx>
          <c:spPr>
            <a:ln w="28575">
              <a:solidFill>
                <a:srgbClr val="10B981"/>
              </a:solidFill>
            </a:ln>
          </c:spPr>
          <c:cat>
            <c:strRef>
              <c:f>Sheet1!$A$2:$A$8</c:f>
              <c:strCache>
                <c:ptCount val="7"/>
                <c:pt idx="0">
                  <c:v>t0 steady</c:v>
                </c:pt>
                <c:pt idx="1">
                  <c:v>t1</c:v>
                </c:pt>
                <c:pt idx="2">
                  <c:v>t2</c:v>
                </c:pt>
                <c:pt idx="3">
                  <c:v>t3</c:v>
                </c:pt>
                <c:pt idx="4">
                  <c:v>t4</c:v>
                </c:pt>
                <c:pt idx="5">
                  <c:v>t5</c:v>
                </c:pt>
                <c:pt idx="6">
                  <c:v>t6 steady</c:v>
                </c:pt>
              </c:strCache>
            </c:strRef>
          </c:cat>
          <c:val>
            <c:numRef>
              <c:f>Sheet1!$C$2:$C$8</c:f>
              <c:numCache>
                <c:formatCode>General</c:formatCode>
                <c:ptCount val="7"/>
                <c:pt idx="0">
                  <c:v>4</c:v>
                </c:pt>
                <c:pt idx="1">
                  <c:v>4</c:v>
                </c:pt>
                <c:pt idx="2">
                  <c:v>4</c:v>
                </c:pt>
                <c:pt idx="3">
                  <c:v>5</c:v>
                </c:pt>
                <c:pt idx="4">
                  <c:v>4</c:v>
                </c:pt>
                <c:pt idx="5">
                  <c:v>4</c:v>
                </c:pt>
                <c:pt idx="6">
                  <c:v>4</c:v>
                </c:pt>
              </c:numCache>
            </c:numRef>
          </c:val>
          <c:smooth val="0"/>
        </c:ser>
        <c:ser>
          <c:idx val="2"/>
          <c:order val="2"/>
          <c:tx>
            <c:strRef>
              <c:f>Sheet1!$D$1</c:f>
              <c:strCache>
                <c:ptCount val="1"/>
                <c:pt idx="0">
                  <c:v>UPDATED Pods</c:v>
                </c:pt>
              </c:strCache>
            </c:strRef>
          </c:tx>
          <c:spPr>
            <a:ln w="28575">
              <a:solidFill>
                <a:srgbClr val="7C3AED"/>
              </a:solidFill>
            </a:ln>
          </c:spPr>
          <c:cat>
            <c:strRef>
              <c:f>Sheet1!$A$2:$A$8</c:f>
              <c:strCache>
                <c:ptCount val="7"/>
                <c:pt idx="0">
                  <c:v>t0 steady</c:v>
                </c:pt>
                <c:pt idx="1">
                  <c:v>t1</c:v>
                </c:pt>
                <c:pt idx="2">
                  <c:v>t2</c:v>
                </c:pt>
                <c:pt idx="3">
                  <c:v>t3</c:v>
                </c:pt>
                <c:pt idx="4">
                  <c:v>t4</c:v>
                </c:pt>
                <c:pt idx="5">
                  <c:v>t5</c:v>
                </c:pt>
                <c:pt idx="6">
                  <c:v>t6 steady</c:v>
                </c:pt>
              </c:strCache>
            </c:strRef>
          </c:cat>
          <c:val>
            <c:numRef>
              <c:f>Sheet1!$D$2:$D$8</c:f>
              <c:numCache>
                <c:formatCode>General</c:formatCode>
                <c:ptCount val="7"/>
                <c:pt idx="0">
                  <c:v>4</c:v>
                </c:pt>
                <c:pt idx="1">
                  <c:v>1</c:v>
                </c:pt>
                <c:pt idx="2">
                  <c:v>2</c:v>
                </c:pt>
                <c:pt idx="3">
                  <c:v>2</c:v>
                </c:pt>
                <c:pt idx="4">
                  <c:v>3</c:v>
                </c:pt>
                <c:pt idx="5">
                  <c:v>4</c:v>
                </c:pt>
                <c:pt idx="6">
                  <c:v>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solidFill>
            <a:srgbClr val="5B6372"/>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Used</c:v>
                </c:pt>
              </c:strCache>
            </c:strRef>
          </c:tx>
          <c:spPr>
            <a:solidFill>
              <a:srgbClr val="1F6FEB"/>
            </a:solidFill>
          </c:spPr>
          <c:cat>
            <c:strRef>
              <c:f>Sheet1!$A$2:$A$5</c:f>
              <c:strCache>
                <c:ptCount val="4"/>
                <c:pt idx="0">
                  <c:v>requests.cpu
(millicores)</c:v>
                </c:pt>
                <c:pt idx="1">
                  <c:v>limits.cpu
(millicores)</c:v>
                </c:pt>
                <c:pt idx="2">
                  <c:v>requests.memory
(MiB)</c:v>
                </c:pt>
                <c:pt idx="3">
                  <c:v>limits.memory
(MiB)</c:v>
                </c:pt>
              </c:strCache>
            </c:strRef>
          </c:cat>
          <c:val>
            <c:numRef>
              <c:f>Sheet1!$B$2:$B$5</c:f>
              <c:numCache>
                <c:formatCode>General</c:formatCode>
                <c:ptCount val="4"/>
                <c:pt idx="0">
                  <c:v>150</c:v>
                </c:pt>
                <c:pt idx="1">
                  <c:v>300</c:v>
                </c:pt>
                <c:pt idx="2">
                  <c:v>192</c:v>
                </c:pt>
                <c:pt idx="3">
                  <c:v>320</c:v>
                </c:pt>
              </c:numCache>
            </c:numRef>
          </c:val>
        </c:ser>
        <c:ser>
          <c:idx val="1"/>
          <c:order val="1"/>
          <c:tx>
            <c:strRef>
              <c:f>Sheet1!$C$1</c:f>
              <c:strCache>
                <c:ptCount val="1"/>
                <c:pt idx="0">
                  <c:v>Hard</c:v>
                </c:pt>
              </c:strCache>
            </c:strRef>
          </c:tx>
          <c:spPr>
            <a:solidFill>
              <a:srgbClr val="10B981"/>
            </a:solidFill>
          </c:spPr>
          <c:cat>
            <c:strRef>
              <c:f>Sheet1!$A$2:$A$5</c:f>
              <c:strCache>
                <c:ptCount val="4"/>
                <c:pt idx="0">
                  <c:v>requests.cpu
(millicores)</c:v>
                </c:pt>
                <c:pt idx="1">
                  <c:v>limits.cpu
(millicores)</c:v>
                </c:pt>
                <c:pt idx="2">
                  <c:v>requests.memory
(MiB)</c:v>
                </c:pt>
                <c:pt idx="3">
                  <c:v>limits.memory
(MiB)</c:v>
                </c:pt>
              </c:strCache>
            </c:strRef>
          </c:cat>
          <c:val>
            <c:numRef>
              <c:f>Sheet1!$C$2:$C$5</c:f>
              <c:numCache>
                <c:formatCode>General</c:formatCode>
                <c:ptCount val="4"/>
                <c:pt idx="0">
                  <c:v>1000</c:v>
                </c:pt>
                <c:pt idx="1">
                  <c:v>3000</c:v>
                </c:pt>
                <c:pt idx="2">
                  <c:v>1024</c:v>
                </c:pt>
                <c:pt idx="3">
                  <c:v>2048</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Raw formula output</c:v>
                </c:pt>
              </c:strCache>
            </c:strRef>
          </c:tx>
          <c:spPr>
            <a:ln w="28575">
              <a:solidFill>
                <a:srgbClr val="1F6FEB"/>
              </a:solidFill>
            </a:ln>
          </c:spPr>
          <c:cat>
            <c:strRef>
              <c:f>Sheet1!$A$2:$A$7</c:f>
              <c:strCache>
                <c:ptCount val="6"/>
                <c:pt idx="0">
                  <c:v>t0 · 30%</c:v>
                </c:pt>
                <c:pt idx="1">
                  <c:v>t1 · 120%</c:v>
                </c:pt>
                <c:pt idx="2">
                  <c:v>t2 · 95%</c:v>
                </c:pt>
                <c:pt idx="3">
                  <c:v>t3 · 62%</c:v>
                </c:pt>
                <c:pt idx="4">
                  <c:v>t4 · 40%</c:v>
                </c:pt>
                <c:pt idx="5">
                  <c:v>t5 · 22%</c:v>
                </c:pt>
              </c:strCache>
            </c:strRef>
          </c:cat>
          <c:val>
            <c:numRef>
              <c:f>Sheet1!$B$2:$B$7</c:f>
              <c:numCache>
                <c:formatCode>General</c:formatCode>
                <c:ptCount val="6"/>
                <c:pt idx="0">
                  <c:v>1</c:v>
                </c:pt>
                <c:pt idx="1">
                  <c:v>4</c:v>
                </c:pt>
                <c:pt idx="2">
                  <c:v>7</c:v>
                </c:pt>
                <c:pt idx="3">
                  <c:v>6</c:v>
                </c:pt>
                <c:pt idx="4">
                  <c:v>4</c:v>
                </c:pt>
                <c:pt idx="5">
                  <c:v>3</c:v>
                </c:pt>
              </c:numCache>
            </c:numRef>
          </c:val>
          <c:smooth val="0"/>
        </c:ser>
        <c:ser>
          <c:idx val="1"/>
          <c:order val="1"/>
          <c:tx>
            <c:strRef>
              <c:f>Sheet1!$C$1</c:f>
              <c:strCache>
                <c:ptCount val="1"/>
                <c:pt idx="0">
                  <c:v>Replicas actually applied</c:v>
                </c:pt>
              </c:strCache>
            </c:strRef>
          </c:tx>
          <c:spPr>
            <a:ln w="28575">
              <a:solidFill>
                <a:srgbClr val="10B981"/>
              </a:solidFill>
            </a:ln>
          </c:spPr>
          <c:cat>
            <c:strRef>
              <c:f>Sheet1!$A$2:$A$7</c:f>
              <c:strCache>
                <c:ptCount val="6"/>
                <c:pt idx="0">
                  <c:v>t0 · 30%</c:v>
                </c:pt>
                <c:pt idx="1">
                  <c:v>t1 · 120%</c:v>
                </c:pt>
                <c:pt idx="2">
                  <c:v>t2 · 95%</c:v>
                </c:pt>
                <c:pt idx="3">
                  <c:v>t3 · 62%</c:v>
                </c:pt>
                <c:pt idx="4">
                  <c:v>t4 · 40%</c:v>
                </c:pt>
                <c:pt idx="5">
                  <c:v>t5 · 22%</c:v>
                </c:pt>
              </c:strCache>
            </c:strRef>
          </c:cat>
          <c:val>
            <c:numRef>
              <c:f>Sheet1!$C$2:$C$7</c:f>
              <c:numCache>
                <c:formatCode>General</c:formatCode>
                <c:ptCount val="6"/>
                <c:pt idx="0">
                  <c:v>2</c:v>
                </c:pt>
                <c:pt idx="1">
                  <c:v>4</c:v>
                </c:pt>
                <c:pt idx="2">
                  <c:v>6</c:v>
                </c:pt>
                <c:pt idx="3">
                  <c:v>6</c:v>
                </c:pt>
                <c:pt idx="4">
                  <c:v>6</c:v>
                </c:pt>
                <c:pt idx="5">
                  <c:v>3</c:v>
                </c:pt>
              </c:numCache>
            </c:numRef>
          </c:val>
          <c:smooth val="0"/>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solidFill>
            <a:srgbClr val="5B6372"/>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Weight %</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Kubernetes Fundamentals</c:v>
                </c:pt>
                <c:pt idx="1">
                  <c:v>Container Orchestration</c:v>
                </c:pt>
                <c:pt idx="2">
                  <c:v>Cloud Native Application Delivery</c:v>
                </c:pt>
                <c:pt idx="3">
                  <c:v>Cloud Native Architecture</c:v>
                </c:pt>
              </c:strCache>
            </c:strRef>
          </c:cat>
          <c:val>
            <c:numRef>
              <c:f>Sheet1!$B$2:$B$5</c:f>
              <c:numCache>
                <c:formatCode>General</c:formatCode>
                <c:ptCount val="4"/>
                <c:pt idx="0">
                  <c:v>44</c:v>
                </c:pt>
                <c:pt idx="1">
                  <c:v>28</c:v>
                </c:pt>
                <c:pt idx="2">
                  <c:v>16</c:v>
                </c:pt>
                <c:pt idx="3">
                  <c:v>12</c:v>
                </c:pt>
              </c:numCache>
            </c:numRef>
          </c:val>
        </c:ser>
        <c:dLbls>
          <c:numFmt formatCode="0&quot;%&quot;" sourceLinked="0"/>
          <c:txPr>
            <a:bodyPr/>
            <a:lstStyle/>
            <a:p>
              <a:pPr>
                <a:defRPr sz="900">
                  <a:solidFill>
                    <a:srgbClr val="161B26"/>
                  </a:solidFill>
                  <a:latin typeface="Arial"/>
                </a:defRPr>
              </a:pPr>
            </a:p>
          </c:txPr>
          <c:dLblPos val="outEnd"/>
          <c:showLegendKey val="0"/>
          <c:showVal val="0"/>
          <c:showCatName val="0"/>
          <c:showSerName val="0"/>
          <c:showPercent val="0"/>
          <c:showBubbleSize val="0"/>
          <c:showLeaderLines val="1"/>
        </c:dLbls>
        <c:firstSliceAng val="0"/>
        <c:holeSize val="50"/>
      </c:doughnutChart>
    </c:plotArea>
    <c:legend>
      <c:legendPos/>
      <c:layout/>
      <c:overlay val="0"/>
    </c:legend>
    <c:plotVisOnly val="1"/>
    <c:dispBlanksAs val="gap"/>
    <c:showDLblsOverMax val="0"/>
  </c:chart>
  <c:txPr>
    <a:bodyPr/>
    <a:lstStyle/>
    <a:p>
      <a:pPr>
        <a:defRPr sz="1000">
          <a:solidFill>
            <a:srgbClr val="5B6372"/>
          </a:solidFill>
          <a:latin typeface="Arial"/>
        </a:defRPr>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iptables chains (modelled)</c:v>
                </c:pt>
              </c:strCache>
            </c:strRef>
          </c:tx>
          <c:spPr>
            <a:solidFill>
              <a:srgbClr val="1F6FEB"/>
            </a:solidFill>
          </c:spPr>
          <c:cat>
            <c:strRef>
              <c:f>Sheet1!$A$2:$A$6</c:f>
              <c:strCache>
                <c:ptCount val="5"/>
                <c:pt idx="0">
                  <c:v>10 Services</c:v>
                </c:pt>
                <c:pt idx="1">
                  <c:v>50</c:v>
                </c:pt>
                <c:pt idx="2">
                  <c:v>100</c:v>
                </c:pt>
                <c:pt idx="3">
                  <c:v>250</c:v>
                </c:pt>
                <c:pt idx="4">
                  <c:v>500</c:v>
                </c:pt>
              </c:strCache>
            </c:strRef>
          </c:cat>
          <c:val>
            <c:numRef>
              <c:f>Sheet1!$B$2:$B$6</c:f>
              <c:numCache>
                <c:formatCode>General</c:formatCode>
                <c:ptCount val="5"/>
                <c:pt idx="0">
                  <c:v>50</c:v>
                </c:pt>
                <c:pt idx="1">
                  <c:v>250</c:v>
                </c:pt>
                <c:pt idx="2">
                  <c:v>500</c:v>
                </c:pt>
                <c:pt idx="3">
                  <c:v>1250</c:v>
                </c:pt>
                <c:pt idx="4">
                  <c:v>2500</c:v>
                </c:pt>
              </c:numCache>
            </c:numRef>
          </c:val>
        </c:ser>
        <c:ser>
          <c:idx val="1"/>
          <c:order val="1"/>
          <c:tx>
            <c:strRef>
              <c:f>Sheet1!$C$1</c:f>
              <c:strCache>
                <c:ptCount val="1"/>
                <c:pt idx="0">
                  <c:v>IPVS virtual servers (modelled)</c:v>
                </c:pt>
              </c:strCache>
            </c:strRef>
          </c:tx>
          <c:spPr>
            <a:solidFill>
              <a:srgbClr val="10B981"/>
            </a:solidFill>
          </c:spPr>
          <c:cat>
            <c:strRef>
              <c:f>Sheet1!$A$2:$A$6</c:f>
              <c:strCache>
                <c:ptCount val="5"/>
                <c:pt idx="0">
                  <c:v>10 Services</c:v>
                </c:pt>
                <c:pt idx="1">
                  <c:v>50</c:v>
                </c:pt>
                <c:pt idx="2">
                  <c:v>100</c:v>
                </c:pt>
                <c:pt idx="3">
                  <c:v>250</c:v>
                </c:pt>
                <c:pt idx="4">
                  <c:v>500</c:v>
                </c:pt>
              </c:strCache>
            </c:strRef>
          </c:cat>
          <c:val>
            <c:numRef>
              <c:f>Sheet1!$C$2:$C$6</c:f>
              <c:numCache>
                <c:formatCode>General</c:formatCode>
                <c:ptCount val="5"/>
                <c:pt idx="0">
                  <c:v>10</c:v>
                </c:pt>
                <c:pt idx="1">
                  <c:v>50</c:v>
                </c:pt>
                <c:pt idx="2">
                  <c:v>100</c:v>
                </c:pt>
                <c:pt idx="3">
                  <c:v>250</c:v>
                </c:pt>
                <c:pt idx="4">
                  <c:v>500</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Failed (NXDOMAIN) lookups</c:v>
                </c:pt>
              </c:strCache>
            </c:strRef>
          </c:tx>
          <c:spPr>
            <a:solidFill>
              <a:srgbClr val="1F6FEB"/>
            </a:solidFill>
          </c:spPr>
          <c:cat>
            <c:strRef>
              <c:f>Sheet1!$A$2:$A$7</c:f>
              <c:strCache>
                <c:ptCount val="6"/>
                <c:pt idx="0">
                  <c:v>quote-api</c:v>
                </c:pt>
                <c:pt idx="1">
                  <c:v>quote-api.kcna-lab11</c:v>
                </c:pt>
                <c:pt idx="2">
                  <c:v>…kcna-lab11.svc</c:v>
                </c:pt>
                <c:pt idx="3">
                  <c:v>…svc.cluster.local</c:v>
                </c:pt>
                <c:pt idx="4">
                  <c:v>api.example.com</c:v>
                </c:pt>
                <c:pt idx="5">
                  <c:v>api.example.com.</c:v>
                </c:pt>
              </c:strCache>
            </c:strRef>
          </c:cat>
          <c:val>
            <c:numRef>
              <c:f>Sheet1!$B$2:$B$7</c:f>
              <c:numCache>
                <c:formatCode>General</c:formatCode>
                <c:ptCount val="6"/>
                <c:pt idx="0">
                  <c:v>0</c:v>
                </c:pt>
                <c:pt idx="1">
                  <c:v>1</c:v>
                </c:pt>
                <c:pt idx="2">
                  <c:v>2</c:v>
                </c:pt>
                <c:pt idx="3">
                  <c:v>3</c:v>
                </c:pt>
                <c:pt idx="4">
                  <c:v>3</c:v>
                </c:pt>
                <c:pt idx="5">
                  <c:v>0</c:v>
                </c:pt>
              </c:numCache>
            </c:numRef>
          </c:val>
        </c:ser>
        <c:ser>
          <c:idx val="1"/>
          <c:order val="1"/>
          <c:tx>
            <c:strRef>
              <c:f>Sheet1!$C$1</c:f>
              <c:strCache>
                <c:ptCount val="1"/>
                <c:pt idx="0">
                  <c:v>The lookup that answers</c:v>
                </c:pt>
              </c:strCache>
            </c:strRef>
          </c:tx>
          <c:spPr>
            <a:solidFill>
              <a:srgbClr val="10B981"/>
            </a:solidFill>
          </c:spPr>
          <c:cat>
            <c:strRef>
              <c:f>Sheet1!$A$2:$A$7</c:f>
              <c:strCache>
                <c:ptCount val="6"/>
                <c:pt idx="0">
                  <c:v>quote-api</c:v>
                </c:pt>
                <c:pt idx="1">
                  <c:v>quote-api.kcna-lab11</c:v>
                </c:pt>
                <c:pt idx="2">
                  <c:v>…kcna-lab11.svc</c:v>
                </c:pt>
                <c:pt idx="3">
                  <c:v>…svc.cluster.local</c:v>
                </c:pt>
                <c:pt idx="4">
                  <c:v>api.example.com</c:v>
                </c:pt>
                <c:pt idx="5">
                  <c:v>api.example.com.</c:v>
                </c:pt>
              </c:strCache>
            </c:strRef>
          </c:cat>
          <c:val>
            <c:numRef>
              <c:f>Sheet1!$C$2:$C$7</c:f>
              <c:numCache>
                <c:formatCode>General</c:formatCode>
                <c:ptCount val="6"/>
                <c:pt idx="0">
                  <c:v>1</c:v>
                </c:pt>
                <c:pt idx="1">
                  <c:v>1</c:v>
                </c:pt>
                <c:pt idx="2">
                  <c:v>1</c:v>
                </c:pt>
                <c:pt idx="3">
                  <c:v>1</c:v>
                </c:pt>
                <c:pt idx="4">
                  <c:v>1</c:v>
                </c:pt>
                <c:pt idx="5">
                  <c:v>1</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Allowed (can-i yes)</c:v>
                </c:pt>
              </c:strCache>
            </c:strRef>
          </c:tx>
          <c:spPr>
            <a:solidFill>
              <a:srgbClr val="1F6FEB"/>
            </a:solidFill>
          </c:spPr>
          <c:cat>
            <c:strRef>
              <c:f>Sheet1!$A$2:$A$4</c:f>
              <c:strCache>
                <c:ptCount val="3"/>
                <c:pt idx="0">
                  <c:v>ops-reader</c:v>
                </c:pt>
                <c:pt idx="1">
                  <c:v>deploy-bot</c:v>
                </c:pt>
                <c:pt idx="2">
                  <c:v>default (auto-created)</c:v>
                </c:pt>
              </c:strCache>
            </c:strRef>
          </c:cat>
          <c:val>
            <c:numRef>
              <c:f>Sheet1!$B$2:$B$4</c:f>
              <c:numCache>
                <c:formatCode>General</c:formatCode>
                <c:ptCount val="3"/>
                <c:pt idx="0">
                  <c:v>5</c:v>
                </c:pt>
                <c:pt idx="1">
                  <c:v>0</c:v>
                </c:pt>
                <c:pt idx="2">
                  <c:v>0</c:v>
                </c:pt>
              </c:numCache>
            </c:numRef>
          </c:val>
        </c:ser>
        <c:ser>
          <c:idx val="1"/>
          <c:order val="1"/>
          <c:tx>
            <c:strRef>
              <c:f>Sheet1!$C$1</c:f>
              <c:strCache>
                <c:ptCount val="1"/>
                <c:pt idx="0">
                  <c:v>Denied (can-i no)</c:v>
                </c:pt>
              </c:strCache>
            </c:strRef>
          </c:tx>
          <c:spPr>
            <a:solidFill>
              <a:srgbClr val="10B981"/>
            </a:solidFill>
          </c:spPr>
          <c:cat>
            <c:strRef>
              <c:f>Sheet1!$A$2:$A$4</c:f>
              <c:strCache>
                <c:ptCount val="3"/>
                <c:pt idx="0">
                  <c:v>ops-reader</c:v>
                </c:pt>
                <c:pt idx="1">
                  <c:v>deploy-bot</c:v>
                </c:pt>
                <c:pt idx="2">
                  <c:v>default (auto-created)</c:v>
                </c:pt>
              </c:strCache>
            </c:strRef>
          </c:cat>
          <c:val>
            <c:numRef>
              <c:f>Sheet1!$C$2:$C$4</c:f>
              <c:numCache>
                <c:formatCode>General</c:formatCode>
                <c:ptCount val="3"/>
                <c:pt idx="0">
                  <c:v>4</c:v>
                </c:pt>
                <c:pt idx="1">
                  <c:v>2</c:v>
                </c:pt>
                <c:pt idx="2">
                  <c:v>1</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Automated checks in verification/checks.sh</c:v>
                </c:pt>
              </c:strCache>
            </c:strRef>
          </c:tx>
          <c:spPr>
            <a:solidFill>
              <a:srgbClr val="1F6FEB"/>
            </a:solidFill>
          </c:spPr>
          <c:cat>
            <c:strRef>
              <c:f>Sheet1!$A$2:$A$7</c:f>
              <c:strCache>
                <c:ptCount val="6"/>
                <c:pt idx="0">
                  <c:v>Lab 11 Services</c:v>
                </c:pt>
                <c:pt idx="1">
                  <c:v>Lab 12 Types</c:v>
                </c:pt>
                <c:pt idx="2">
                  <c:v>Lab 13 Ingress</c:v>
                </c:pt>
                <c:pt idx="3">
                  <c:v>Lab 14 RBAC</c:v>
                </c:pt>
                <c:pt idx="4">
                  <c:v>Lab 15 Secrets</c:v>
                </c:pt>
                <c:pt idx="5">
                  <c:v>Lab 16 NetPol</c:v>
                </c:pt>
              </c:strCache>
            </c:strRef>
          </c:cat>
          <c:val>
            <c:numRef>
              <c:f>Sheet1!$B$2:$B$7</c:f>
              <c:numCache>
                <c:formatCode>General</c:formatCode>
                <c:ptCount val="6"/>
                <c:pt idx="0">
                  <c:v>15</c:v>
                </c:pt>
                <c:pt idx="1">
                  <c:v>20</c:v>
                </c:pt>
                <c:pt idx="2">
                  <c:v>16</c:v>
                </c:pt>
                <c:pt idx="3">
                  <c:v>22</c:v>
                </c:pt>
                <c:pt idx="4">
                  <c:v>17</c:v>
                </c:pt>
                <c:pt idx="5">
                  <c:v>16</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Running Pods</c:v>
                </c:pt>
              </c:strCache>
            </c:strRef>
          </c:tx>
          <c:spPr>
            <a:solidFill>
              <a:srgbClr val="1F6FEB"/>
            </a:solidFill>
          </c:spPr>
          <c:cat>
            <c:strRef>
              <c:f>Sheet1!$A$2:$A$5</c:f>
              <c:strCache>
                <c:ptCount val="4"/>
                <c:pt idx="0">
                  <c:v>replicas: 3</c:v>
                </c:pt>
                <c:pt idx="1">
                  <c:v>scale to 5</c:v>
                </c:pt>
                <c:pt idx="2">
                  <c:v>scale to 1</c:v>
                </c:pt>
                <c:pt idx="3">
                  <c:v>delete the StatefulSet</c:v>
                </c:pt>
              </c:strCache>
            </c:strRef>
          </c:cat>
          <c:val>
            <c:numRef>
              <c:f>Sheet1!$B$2:$B$5</c:f>
              <c:numCache>
                <c:formatCode>General</c:formatCode>
                <c:ptCount val="4"/>
                <c:pt idx="0">
                  <c:v>3</c:v>
                </c:pt>
                <c:pt idx="1">
                  <c:v>5</c:v>
                </c:pt>
                <c:pt idx="2">
                  <c:v>1</c:v>
                </c:pt>
                <c:pt idx="3">
                  <c:v>0</c:v>
                </c:pt>
              </c:numCache>
            </c:numRef>
          </c:val>
        </c:ser>
        <c:ser>
          <c:idx val="1"/>
          <c:order val="1"/>
          <c:tx>
            <c:strRef>
              <c:f>Sheet1!$C$1</c:f>
              <c:strCache>
                <c:ptCount val="1"/>
                <c:pt idx="0">
                  <c:v>PVCs with Retain/Retain</c:v>
                </c:pt>
              </c:strCache>
            </c:strRef>
          </c:tx>
          <c:spPr>
            <a:solidFill>
              <a:srgbClr val="10B981"/>
            </a:solidFill>
          </c:spPr>
          <c:cat>
            <c:strRef>
              <c:f>Sheet1!$A$2:$A$5</c:f>
              <c:strCache>
                <c:ptCount val="4"/>
                <c:pt idx="0">
                  <c:v>replicas: 3</c:v>
                </c:pt>
                <c:pt idx="1">
                  <c:v>scale to 5</c:v>
                </c:pt>
                <c:pt idx="2">
                  <c:v>scale to 1</c:v>
                </c:pt>
                <c:pt idx="3">
                  <c:v>delete the StatefulSet</c:v>
                </c:pt>
              </c:strCache>
            </c:strRef>
          </c:cat>
          <c:val>
            <c:numRef>
              <c:f>Sheet1!$C$2:$C$5</c:f>
              <c:numCache>
                <c:formatCode>General</c:formatCode>
                <c:ptCount val="4"/>
                <c:pt idx="0">
                  <c:v>3</c:v>
                </c:pt>
                <c:pt idx="1">
                  <c:v>5</c:v>
                </c:pt>
                <c:pt idx="2">
                  <c:v>5</c:v>
                </c:pt>
                <c:pt idx="3">
                  <c:v>5</c:v>
                </c:pt>
              </c:numCache>
            </c:numRef>
          </c:val>
        </c:ser>
        <c:ser>
          <c:idx val="2"/>
          <c:order val="2"/>
          <c:tx>
            <c:strRef>
              <c:f>Sheet1!$D$1</c:f>
              <c:strCache>
                <c:ptCount val="1"/>
                <c:pt idx="0">
                  <c:v>PVCs with Delete/Delete</c:v>
                </c:pt>
              </c:strCache>
            </c:strRef>
          </c:tx>
          <c:spPr>
            <a:solidFill>
              <a:srgbClr val="7C3AED"/>
            </a:solidFill>
          </c:spPr>
          <c:cat>
            <c:strRef>
              <c:f>Sheet1!$A$2:$A$5</c:f>
              <c:strCache>
                <c:ptCount val="4"/>
                <c:pt idx="0">
                  <c:v>replicas: 3</c:v>
                </c:pt>
                <c:pt idx="1">
                  <c:v>scale to 5</c:v>
                </c:pt>
                <c:pt idx="2">
                  <c:v>scale to 1</c:v>
                </c:pt>
                <c:pt idx="3">
                  <c:v>delete the StatefulSet</c:v>
                </c:pt>
              </c:strCache>
            </c:strRef>
          </c:cat>
          <c:val>
            <c:numRef>
              <c:f>Sheet1!$D$2:$D$5</c:f>
              <c:numCache>
                <c:formatCode>General</c:formatCode>
                <c:ptCount val="4"/>
                <c:pt idx="0">
                  <c:v>3</c:v>
                </c:pt>
                <c:pt idx="1">
                  <c:v>5</c:v>
                </c:pt>
                <c:pt idx="2">
                  <c:v>1</c:v>
                </c:pt>
                <c:pt idx="3">
                  <c:v>0</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Minor versions OLDER than kube-apiserver allowed</c:v>
                </c:pt>
              </c:strCache>
            </c:strRef>
          </c:tx>
          <c:spPr>
            <a:solidFill>
              <a:srgbClr val="1F6FEB"/>
            </a:solidFill>
          </c:spPr>
          <c:cat>
            <c:strRef>
              <c:f>Sheet1!$A$2:$A$6</c:f>
              <c:strCache>
                <c:ptCount val="5"/>
                <c:pt idx="0">
                  <c:v>kubelet</c:v>
                </c:pt>
                <c:pt idx="1">
                  <c:v>kube-proxy</c:v>
                </c:pt>
                <c:pt idx="2">
                  <c:v>kube-controller-manager</c:v>
                </c:pt>
                <c:pt idx="3">
                  <c:v>kube-scheduler</c:v>
                </c:pt>
                <c:pt idx="4">
                  <c:v>kubectl</c:v>
                </c:pt>
              </c:strCache>
            </c:strRef>
          </c:cat>
          <c:val>
            <c:numRef>
              <c:f>Sheet1!$B$2:$B$6</c:f>
              <c:numCache>
                <c:formatCode>General</c:formatCode>
                <c:ptCount val="5"/>
                <c:pt idx="0">
                  <c:v>3</c:v>
                </c:pt>
                <c:pt idx="1">
                  <c:v>3</c:v>
                </c:pt>
                <c:pt idx="2">
                  <c:v>1</c:v>
                </c:pt>
                <c:pt idx="3">
                  <c:v>1</c:v>
                </c:pt>
                <c:pt idx="4">
                  <c:v>1</c:v>
                </c:pt>
              </c:numCache>
            </c:numRef>
          </c:val>
        </c:ser>
        <c:ser>
          <c:idx val="1"/>
          <c:order val="1"/>
          <c:tx>
            <c:strRef>
              <c:f>Sheet1!$C$1</c:f>
              <c:strCache>
                <c:ptCount val="1"/>
                <c:pt idx="0">
                  <c:v>Minor versions NEWER than kube-apiserver allowed</c:v>
                </c:pt>
              </c:strCache>
            </c:strRef>
          </c:tx>
          <c:spPr>
            <a:solidFill>
              <a:srgbClr val="10B981"/>
            </a:solidFill>
          </c:spPr>
          <c:cat>
            <c:strRef>
              <c:f>Sheet1!$A$2:$A$6</c:f>
              <c:strCache>
                <c:ptCount val="5"/>
                <c:pt idx="0">
                  <c:v>kubelet</c:v>
                </c:pt>
                <c:pt idx="1">
                  <c:v>kube-proxy</c:v>
                </c:pt>
                <c:pt idx="2">
                  <c:v>kube-controller-manager</c:v>
                </c:pt>
                <c:pt idx="3">
                  <c:v>kube-scheduler</c:v>
                </c:pt>
                <c:pt idx="4">
                  <c:v>kubectl</c:v>
                </c:pt>
              </c:strCache>
            </c:strRef>
          </c:cat>
          <c:val>
            <c:numRef>
              <c:f>Sheet1!$C$2:$C$6</c:f>
              <c:numCache>
                <c:formatCode>General</c:formatCode>
                <c:ptCount val="5"/>
                <c:pt idx="0">
                  <c:v>0</c:v>
                </c:pt>
                <c:pt idx="1">
                  <c:v>0</c:v>
                </c:pt>
                <c:pt idx="2">
                  <c:v>0</c:v>
                </c:pt>
                <c:pt idx="3">
                  <c:v>0</c:v>
                </c:pt>
                <c:pt idx="4">
                  <c:v>1</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Quorum required</c:v>
                </c:pt>
              </c:strCache>
            </c:strRef>
          </c:tx>
          <c:spPr>
            <a:solidFill>
              <a:srgbClr val="1F6FEB"/>
            </a:solidFill>
          </c:spPr>
          <c:cat>
            <c:strRef>
              <c:f>Sheet1!$A$2:$A$8</c:f>
              <c:strCache>
                <c:ptCount val="7"/>
                <c:pt idx="0">
                  <c:v>1 member</c:v>
                </c:pt>
                <c:pt idx="1">
                  <c:v>2</c:v>
                </c:pt>
                <c:pt idx="2">
                  <c:v>3</c:v>
                </c:pt>
                <c:pt idx="3">
                  <c:v>4</c:v>
                </c:pt>
                <c:pt idx="4">
                  <c:v>5</c:v>
                </c:pt>
                <c:pt idx="5">
                  <c:v>6</c:v>
                </c:pt>
                <c:pt idx="6">
                  <c:v>7</c:v>
                </c:pt>
              </c:strCache>
            </c:strRef>
          </c:cat>
          <c:val>
            <c:numRef>
              <c:f>Sheet1!$B$2:$B$8</c:f>
              <c:numCache>
                <c:formatCode>General</c:formatCode>
                <c:ptCount val="7"/>
                <c:pt idx="0">
                  <c:v>1</c:v>
                </c:pt>
                <c:pt idx="1">
                  <c:v>2</c:v>
                </c:pt>
                <c:pt idx="2">
                  <c:v>2</c:v>
                </c:pt>
                <c:pt idx="3">
                  <c:v>3</c:v>
                </c:pt>
                <c:pt idx="4">
                  <c:v>3</c:v>
                </c:pt>
                <c:pt idx="5">
                  <c:v>4</c:v>
                </c:pt>
                <c:pt idx="6">
                  <c:v>4</c:v>
                </c:pt>
              </c:numCache>
            </c:numRef>
          </c:val>
        </c:ser>
        <c:ser>
          <c:idx val="1"/>
          <c:order val="1"/>
          <c:tx>
            <c:strRef>
              <c:f>Sheet1!$C$1</c:f>
              <c:strCache>
                <c:ptCount val="1"/>
                <c:pt idx="0">
                  <c:v>Member failures tolerated</c:v>
                </c:pt>
              </c:strCache>
            </c:strRef>
          </c:tx>
          <c:spPr>
            <a:solidFill>
              <a:srgbClr val="10B981"/>
            </a:solidFill>
          </c:spPr>
          <c:cat>
            <c:strRef>
              <c:f>Sheet1!$A$2:$A$8</c:f>
              <c:strCache>
                <c:ptCount val="7"/>
                <c:pt idx="0">
                  <c:v>1 member</c:v>
                </c:pt>
                <c:pt idx="1">
                  <c:v>2</c:v>
                </c:pt>
                <c:pt idx="2">
                  <c:v>3</c:v>
                </c:pt>
                <c:pt idx="3">
                  <c:v>4</c:v>
                </c:pt>
                <c:pt idx="4">
                  <c:v>5</c:v>
                </c:pt>
                <c:pt idx="5">
                  <c:v>6</c:v>
                </c:pt>
                <c:pt idx="6">
                  <c:v>7</c:v>
                </c:pt>
              </c:strCache>
            </c:strRef>
          </c:cat>
          <c:val>
            <c:numRef>
              <c:f>Sheet1!$C$2:$C$8</c:f>
              <c:numCache>
                <c:formatCode>General</c:formatCode>
                <c:ptCount val="7"/>
                <c:pt idx="0">
                  <c:v>0</c:v>
                </c:pt>
                <c:pt idx="1">
                  <c:v>0</c:v>
                </c:pt>
                <c:pt idx="2">
                  <c:v>1</c:v>
                </c:pt>
                <c:pt idx="3">
                  <c:v>1</c:v>
                </c:pt>
                <c:pt idx="4">
                  <c:v>2</c:v>
                </c:pt>
                <c:pt idx="5">
                  <c:v>2</c:v>
                </c:pt>
                <c:pt idx="6">
                  <c:v>3</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Weight %</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Kubernetes Fundamentals</c:v>
                </c:pt>
                <c:pt idx="1">
                  <c:v>Container Orchestration</c:v>
                </c:pt>
                <c:pt idx="2">
                  <c:v>Cloud Native Application Delivery</c:v>
                </c:pt>
                <c:pt idx="3">
                  <c:v>Cloud Native Architecture</c:v>
                </c:pt>
              </c:strCache>
            </c:strRef>
          </c:cat>
          <c:val>
            <c:numRef>
              <c:f>Sheet1!$B$2:$B$5</c:f>
              <c:numCache>
                <c:formatCode>General</c:formatCode>
                <c:ptCount val="4"/>
                <c:pt idx="0">
                  <c:v>44</c:v>
                </c:pt>
                <c:pt idx="1">
                  <c:v>28</c:v>
                </c:pt>
                <c:pt idx="2">
                  <c:v>16</c:v>
                </c:pt>
                <c:pt idx="3">
                  <c:v>12</c:v>
                </c:pt>
              </c:numCache>
            </c:numRef>
          </c:val>
        </c:ser>
        <c:dLbls>
          <c:numFmt formatCode="0&quot;%&quot;" sourceLinked="0"/>
          <c:txPr>
            <a:bodyPr/>
            <a:lstStyle/>
            <a:p>
              <a:pPr>
                <a:defRPr sz="900">
                  <a:solidFill>
                    <a:srgbClr val="161B26"/>
                  </a:solidFill>
                  <a:latin typeface="Arial"/>
                </a:defRPr>
              </a:pPr>
            </a:p>
          </c:txPr>
          <c:dLblPos val="outEnd"/>
          <c:showLegendKey val="0"/>
          <c:showVal val="1"/>
          <c:showCatName val="0"/>
          <c:showSerName val="0"/>
          <c:showPercent val="0"/>
          <c:showBubbleSize val="0"/>
          <c:showLeaderLines val="1"/>
        </c:dLbls>
      </c:pieChart>
    </c:plotArea>
    <c:legend>
      <c:legendPos/>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Helm</c:v>
                </c:pt>
              </c:strCache>
            </c:strRef>
          </c:tx>
          <c:spPr>
            <a:solidFill>
              <a:srgbClr val="1F6FEB"/>
            </a:solidFill>
          </c:spPr>
          <c:cat>
            <c:strRef>
              <c:f>Sheet1!$A$2:$A$7</c:f>
              <c:strCache>
                <c:ptCount val="6"/>
                <c:pt idx="0">
                  <c:v>Redistribution</c:v>
                </c:pt>
                <c:pt idx="1">
                  <c:v>Env variation</c:v>
                </c:pt>
                <c:pt idx="2">
                  <c:v>Diff readability</c:v>
                </c:pt>
                <c:pt idx="3">
                  <c:v>Release + rollback</c:v>
                </c:pt>
                <c:pt idx="4">
                  <c:v>Conditional resources</c:v>
                </c:pt>
                <c:pt idx="5">
                  <c:v>Zero extra tooling</c:v>
                </c:pt>
              </c:strCache>
            </c:strRef>
          </c:cat>
          <c:val>
            <c:numRef>
              <c:f>Sheet1!$B$2:$B$7</c:f>
              <c:numCache>
                <c:formatCode>General</c:formatCode>
                <c:ptCount val="6"/>
                <c:pt idx="0">
                  <c:v>5</c:v>
                </c:pt>
                <c:pt idx="1">
                  <c:v>4</c:v>
                </c:pt>
                <c:pt idx="2">
                  <c:v>2</c:v>
                </c:pt>
                <c:pt idx="3">
                  <c:v>5</c:v>
                </c:pt>
                <c:pt idx="4">
                  <c:v>5</c:v>
                </c:pt>
                <c:pt idx="5">
                  <c:v>1</c:v>
                </c:pt>
              </c:numCache>
            </c:numRef>
          </c:val>
        </c:ser>
        <c:ser>
          <c:idx val="1"/>
          <c:order val="1"/>
          <c:tx>
            <c:strRef>
              <c:f>Sheet1!$C$1</c:f>
              <c:strCache>
                <c:ptCount val="1"/>
                <c:pt idx="0">
                  <c:v>Kustomize</c:v>
                </c:pt>
              </c:strCache>
            </c:strRef>
          </c:tx>
          <c:spPr>
            <a:solidFill>
              <a:srgbClr val="10B981"/>
            </a:solidFill>
          </c:spPr>
          <c:cat>
            <c:strRef>
              <c:f>Sheet1!$A$2:$A$7</c:f>
              <c:strCache>
                <c:ptCount val="6"/>
                <c:pt idx="0">
                  <c:v>Redistribution</c:v>
                </c:pt>
                <c:pt idx="1">
                  <c:v>Env variation</c:v>
                </c:pt>
                <c:pt idx="2">
                  <c:v>Diff readability</c:v>
                </c:pt>
                <c:pt idx="3">
                  <c:v>Release + rollback</c:v>
                </c:pt>
                <c:pt idx="4">
                  <c:v>Conditional resources</c:v>
                </c:pt>
                <c:pt idx="5">
                  <c:v>Zero extra tooling</c:v>
                </c:pt>
              </c:strCache>
            </c:strRef>
          </c:cat>
          <c:val>
            <c:numRef>
              <c:f>Sheet1!$C$2:$C$7</c:f>
              <c:numCache>
                <c:formatCode>General</c:formatCode>
                <c:ptCount val="6"/>
                <c:pt idx="0">
                  <c:v>2</c:v>
                </c:pt>
                <c:pt idx="1">
                  <c:v>5</c:v>
                </c:pt>
                <c:pt idx="2">
                  <c:v>5</c:v>
                </c:pt>
                <c:pt idx="3">
                  <c:v>1</c:v>
                </c:pt>
                <c:pt idx="4">
                  <c:v>2</c:v>
                </c:pt>
                <c:pt idx="5">
                  <c:v>5</c:v>
                </c:pt>
              </c:numCache>
            </c:numRef>
          </c:val>
        </c:ser>
        <c:dLbls>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Permitted downtime (minutes per 30-day month)</c:v>
                </c:pt>
              </c:strCache>
            </c:strRef>
          </c:tx>
          <c:spPr>
            <a:solidFill>
              <a:srgbClr val="1F6FEB"/>
            </a:solidFill>
          </c:spPr>
          <c:cat>
            <c:strRef>
              <c:f>Sheet1!$A$2:$A$6</c:f>
              <c:strCache>
                <c:ptCount val="5"/>
                <c:pt idx="0">
                  <c:v>99%</c:v>
                </c:pt>
                <c:pt idx="1">
                  <c:v>99.5%</c:v>
                </c:pt>
                <c:pt idx="2">
                  <c:v>99.9%</c:v>
                </c:pt>
                <c:pt idx="3">
                  <c:v>99.95%</c:v>
                </c:pt>
                <c:pt idx="4">
                  <c:v>99.99%</c:v>
                </c:pt>
              </c:strCache>
            </c:strRef>
          </c:cat>
          <c:val>
            <c:numRef>
              <c:f>Sheet1!$B$2:$B$6</c:f>
              <c:numCache>
                <c:formatCode>General</c:formatCode>
                <c:ptCount val="5"/>
                <c:pt idx="0">
                  <c:v>432</c:v>
                </c:pt>
                <c:pt idx="1">
                  <c:v>216</c:v>
                </c:pt>
                <c:pt idx="2">
                  <c:v>43.2</c:v>
                </c:pt>
                <c:pt idx="3">
                  <c:v>21.6</c:v>
                </c:pt>
                <c:pt idx="4">
                  <c:v>4.32</c:v>
                </c:pt>
              </c:numCache>
            </c:numRef>
          </c:val>
        </c:ser>
        <c:dLbls>
          <c:numFmt formatCode="0.0" sourceLinked="0"/>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Budget remaining (min) — modelled incidents</c:v>
                </c:pt>
              </c:strCache>
            </c:strRef>
          </c:tx>
          <c:spPr>
            <a:ln w="28575">
              <a:solidFill>
                <a:srgbClr val="1F6FEB"/>
              </a:solidFill>
            </a:ln>
          </c:spPr>
          <c:cat>
            <c:strRef>
              <c:f>Sheet1!$A$2:$A$8</c:f>
              <c:strCache>
                <c:ptCount val="7"/>
                <c:pt idx="0">
                  <c:v>Day 0</c:v>
                </c:pt>
                <c:pt idx="1">
                  <c:v>Day 5</c:v>
                </c:pt>
                <c:pt idx="2">
                  <c:v>Day 10</c:v>
                </c:pt>
                <c:pt idx="3">
                  <c:v>Day 15</c:v>
                </c:pt>
                <c:pt idx="4">
                  <c:v>Day 20</c:v>
                </c:pt>
                <c:pt idx="5">
                  <c:v>Day 25</c:v>
                </c:pt>
                <c:pt idx="6">
                  <c:v>Day 30</c:v>
                </c:pt>
              </c:strCache>
            </c:strRef>
          </c:cat>
          <c:val>
            <c:numRef>
              <c:f>Sheet1!$B$2:$B$8</c:f>
              <c:numCache>
                <c:formatCode>General</c:formatCode>
                <c:ptCount val="7"/>
                <c:pt idx="0">
                  <c:v>43.2</c:v>
                </c:pt>
                <c:pt idx="1">
                  <c:v>31.2</c:v>
                </c:pt>
                <c:pt idx="2">
                  <c:v>31.2</c:v>
                </c:pt>
                <c:pt idx="3">
                  <c:v>12.7</c:v>
                </c:pt>
                <c:pt idx="4">
                  <c:v>3.7</c:v>
                </c:pt>
                <c:pt idx="5">
                  <c:v>3.7</c:v>
                </c:pt>
                <c:pt idx="6">
                  <c:v>3.7</c:v>
                </c:pt>
              </c:numCache>
            </c:numRef>
          </c:val>
          <c:smooth val="0"/>
        </c:ser>
        <c:ser>
          <c:idx val="1"/>
          <c:order val="1"/>
          <c:tx>
            <c:strRef>
              <c:f>Sheet1!$C$1</c:f>
              <c:strCache>
                <c:ptCount val="1"/>
                <c:pt idx="0">
                  <c:v>Even-burn reference (min)</c:v>
                </c:pt>
              </c:strCache>
            </c:strRef>
          </c:tx>
          <c:spPr>
            <a:ln w="28575">
              <a:solidFill>
                <a:srgbClr val="10B981"/>
              </a:solidFill>
            </a:ln>
          </c:spPr>
          <c:cat>
            <c:strRef>
              <c:f>Sheet1!$A$2:$A$8</c:f>
              <c:strCache>
                <c:ptCount val="7"/>
                <c:pt idx="0">
                  <c:v>Day 0</c:v>
                </c:pt>
                <c:pt idx="1">
                  <c:v>Day 5</c:v>
                </c:pt>
                <c:pt idx="2">
                  <c:v>Day 10</c:v>
                </c:pt>
                <c:pt idx="3">
                  <c:v>Day 15</c:v>
                </c:pt>
                <c:pt idx="4">
                  <c:v>Day 20</c:v>
                </c:pt>
                <c:pt idx="5">
                  <c:v>Day 25</c:v>
                </c:pt>
                <c:pt idx="6">
                  <c:v>Day 30</c:v>
                </c:pt>
              </c:strCache>
            </c:strRef>
          </c:cat>
          <c:val>
            <c:numRef>
              <c:f>Sheet1!$C$2:$C$8</c:f>
              <c:numCache>
                <c:formatCode>General</c:formatCode>
                <c:ptCount val="7"/>
                <c:pt idx="0">
                  <c:v>43.2</c:v>
                </c:pt>
                <c:pt idx="1">
                  <c:v>36.0</c:v>
                </c:pt>
                <c:pt idx="2">
                  <c:v>28.8</c:v>
                </c:pt>
                <c:pt idx="3">
                  <c:v>21.6</c:v>
                </c:pt>
                <c:pt idx="4">
                  <c:v>14.4</c:v>
                </c:pt>
                <c:pt idx="5">
                  <c:v>7.2</c:v>
                </c:pt>
                <c:pt idx="6">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solidFill>
            <a:srgbClr val="5B6372"/>
          </a:solidFill>
          <a:latin typeface="Arial"/>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Counter, rebased (sample - 1000)</c:v>
                </c:pt>
              </c:strCache>
            </c:strRef>
          </c:tx>
          <c:spPr>
            <a:ln w="28575">
              <a:solidFill>
                <a:srgbClr val="1F6FEB"/>
              </a:solidFill>
            </a:ln>
          </c:spPr>
          <c:cat>
            <c:strRef>
              <c:f>Sheet1!$A$2:$A$7</c:f>
              <c:strCache>
                <c:ptCount val="6"/>
                <c:pt idx="0">
                  <c:v>0-&gt;10s</c:v>
                </c:pt>
                <c:pt idx="1">
                  <c:v>10-&gt;20s</c:v>
                </c:pt>
                <c:pt idx="2">
                  <c:v>20-&gt;30s</c:v>
                </c:pt>
                <c:pt idx="3">
                  <c:v>30-&gt;40s</c:v>
                </c:pt>
                <c:pt idx="4">
                  <c:v>40-&gt;50s</c:v>
                </c:pt>
                <c:pt idx="5">
                  <c:v>50-&gt;60s</c:v>
                </c:pt>
              </c:strCache>
            </c:strRef>
          </c:cat>
          <c:val>
            <c:numRef>
              <c:f>Sheet1!$B$2:$B$7</c:f>
              <c:numCache>
                <c:formatCode>General</c:formatCode>
                <c:ptCount val="6"/>
                <c:pt idx="0">
                  <c:v>9</c:v>
                </c:pt>
                <c:pt idx="1">
                  <c:v>18</c:v>
                </c:pt>
                <c:pt idx="2">
                  <c:v>28</c:v>
                </c:pt>
                <c:pt idx="3">
                  <c:v>37</c:v>
                </c:pt>
                <c:pt idx="4">
                  <c:v>46</c:v>
                </c:pt>
                <c:pt idx="5">
                  <c:v>56</c:v>
                </c:pt>
              </c:numCache>
            </c:numRef>
          </c:val>
          <c:smooth val="0"/>
        </c:ser>
        <c:ser>
          <c:idx val="1"/>
          <c:order val="1"/>
          <c:tx>
            <c:strRef>
              <c:f>Sheet1!$C$1</c:f>
              <c:strCache>
                <c:ptCount val="1"/>
                <c:pt idx="0">
                  <c:v>Derived rate x 60 (scans per minute)</c:v>
                </c:pt>
              </c:strCache>
            </c:strRef>
          </c:tx>
          <c:spPr>
            <a:ln w="28575">
              <a:solidFill>
                <a:srgbClr val="10B981"/>
              </a:solidFill>
            </a:ln>
          </c:spPr>
          <c:cat>
            <c:strRef>
              <c:f>Sheet1!$A$2:$A$7</c:f>
              <c:strCache>
                <c:ptCount val="6"/>
                <c:pt idx="0">
                  <c:v>0-&gt;10s</c:v>
                </c:pt>
                <c:pt idx="1">
                  <c:v>10-&gt;20s</c:v>
                </c:pt>
                <c:pt idx="2">
                  <c:v>20-&gt;30s</c:v>
                </c:pt>
                <c:pt idx="3">
                  <c:v>30-&gt;40s</c:v>
                </c:pt>
                <c:pt idx="4">
                  <c:v>40-&gt;50s</c:v>
                </c:pt>
                <c:pt idx="5">
                  <c:v>50-&gt;60s</c:v>
                </c:pt>
              </c:strCache>
            </c:strRef>
          </c:cat>
          <c:val>
            <c:numRef>
              <c:f>Sheet1!$C$2:$C$7</c:f>
              <c:numCache>
                <c:formatCode>General</c:formatCode>
                <c:ptCount val="6"/>
                <c:pt idx="0">
                  <c:v>54</c:v>
                </c:pt>
                <c:pt idx="1">
                  <c:v>54</c:v>
                </c:pt>
                <c:pt idx="2">
                  <c:v>60</c:v>
                </c:pt>
                <c:pt idx="3">
                  <c:v>54</c:v>
                </c:pt>
                <c:pt idx="4">
                  <c:v>54</c:v>
                </c:pt>
                <c:pt idx="5">
                  <c:v>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solidFill>
            <a:srgbClr val="5B6372"/>
          </a:solidFill>
          <a:latin typeface="Arial"/>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Cumulative _bucket value</c:v>
                </c:pt>
              </c:strCache>
            </c:strRef>
          </c:tx>
          <c:spPr>
            <a:solidFill>
              <a:srgbClr val="1F6FEB"/>
            </a:solidFill>
          </c:spPr>
          <c:cat>
            <c:strRef>
              <c:f>Sheet1!$A$2:$A$6</c:f>
              <c:strCache>
                <c:ptCount val="5"/>
                <c:pt idx="0">
                  <c:v>le=0.5</c:v>
                </c:pt>
                <c:pt idx="1">
                  <c:v>le=1</c:v>
                </c:pt>
                <c:pt idx="2">
                  <c:v>le=2.5</c:v>
                </c:pt>
                <c:pt idx="3">
                  <c:v>le=5</c:v>
                </c:pt>
                <c:pt idx="4">
                  <c:v>le=+Inf</c:v>
                </c:pt>
              </c:strCache>
            </c:strRef>
          </c:cat>
          <c:val>
            <c:numRef>
              <c:f>Sheet1!$B$2:$B$6</c:f>
              <c:numCache>
                <c:formatCode>General</c:formatCode>
                <c:ptCount val="5"/>
                <c:pt idx="0">
                  <c:v>60</c:v>
                </c:pt>
                <c:pt idx="1">
                  <c:v>81</c:v>
                </c:pt>
                <c:pt idx="2">
                  <c:v>93</c:v>
                </c:pt>
                <c:pt idx="3">
                  <c:v>96</c:v>
                </c:pt>
                <c:pt idx="4">
                  <c:v>97</c:v>
                </c:pt>
              </c:numCache>
            </c:numRef>
          </c:val>
        </c:ser>
        <c:ser>
          <c:idx val="1"/>
          <c:order val="1"/>
          <c:tx>
            <c:strRef>
              <c:f>Sheet1!$C$1</c:f>
              <c:strCache>
                <c:ptCount val="1"/>
                <c:pt idx="0">
                  <c:v>Observations in this bucket only</c:v>
                </c:pt>
              </c:strCache>
            </c:strRef>
          </c:tx>
          <c:spPr>
            <a:solidFill>
              <a:srgbClr val="10B981"/>
            </a:solidFill>
          </c:spPr>
          <c:cat>
            <c:strRef>
              <c:f>Sheet1!$A$2:$A$6</c:f>
              <c:strCache>
                <c:ptCount val="5"/>
                <c:pt idx="0">
                  <c:v>le=0.5</c:v>
                </c:pt>
                <c:pt idx="1">
                  <c:v>le=1</c:v>
                </c:pt>
                <c:pt idx="2">
                  <c:v>le=2.5</c:v>
                </c:pt>
                <c:pt idx="3">
                  <c:v>le=5</c:v>
                </c:pt>
                <c:pt idx="4">
                  <c:v>le=+Inf</c:v>
                </c:pt>
              </c:strCache>
            </c:strRef>
          </c:cat>
          <c:val>
            <c:numRef>
              <c:f>Sheet1!$C$2:$C$6</c:f>
              <c:numCache>
                <c:formatCode>General</c:formatCode>
                <c:ptCount val="5"/>
                <c:pt idx="0">
                  <c:v>60</c:v>
                </c:pt>
                <c:pt idx="1">
                  <c:v>21</c:v>
                </c:pt>
                <c:pt idx="2">
                  <c:v>12</c:v>
                </c:pt>
                <c:pt idx="3">
                  <c:v>3</c:v>
                </c:pt>
                <c:pt idx="4">
                  <c:v>1</c:v>
                </c:pt>
              </c:numCache>
            </c:numRef>
          </c:val>
        </c:ser>
        <c:dLbls>
          <c:numFmt formatCode="0" sourceLinked="0"/>
          <c:txPr>
            <a:bodyPr/>
            <a:lstStyle/>
            <a:p>
              <a:pPr>
                <a:defRPr sz="900">
                  <a:solidFill>
                    <a:srgbClr val="161B26"/>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00">
          <a:solidFill>
            <a:srgbClr val="5B6372"/>
          </a:solidFill>
          <a:latin typeface="Arial"/>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Weighting (%)</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Kubernetes Fundamentals</c:v>
                </c:pt>
                <c:pt idx="1">
                  <c:v>Container Orchestration</c:v>
                </c:pt>
                <c:pt idx="2">
                  <c:v>Cloud Native Application Delivery</c:v>
                </c:pt>
                <c:pt idx="3">
                  <c:v>Cloud Native Architecture</c:v>
                </c:pt>
              </c:strCache>
            </c:strRef>
          </c:cat>
          <c:val>
            <c:numRef>
              <c:f>Sheet1!$B$2:$B$5</c:f>
              <c:numCache>
                <c:formatCode>General</c:formatCode>
                <c:ptCount val="4"/>
                <c:pt idx="0">
                  <c:v>44</c:v>
                </c:pt>
                <c:pt idx="1">
                  <c:v>28</c:v>
                </c:pt>
                <c:pt idx="2">
                  <c:v>16</c:v>
                </c:pt>
                <c:pt idx="3">
                  <c:v>12</c:v>
                </c:pt>
              </c:numCache>
            </c:numRef>
          </c:val>
        </c:ser>
        <c:dLbls>
          <c:numFmt formatCode="0&quot;%&quot;" sourceLinked="0"/>
          <c:txPr>
            <a:bodyPr/>
            <a:lstStyle/>
            <a:p>
              <a:pPr>
                <a:defRPr sz="900">
                  <a:solidFill>
                    <a:srgbClr val="161B26"/>
                  </a:solidFill>
                  <a:latin typeface="Arial"/>
                </a:defRPr>
              </a:pPr>
            </a:p>
          </c:txPr>
          <c:dLblPos val="outEnd"/>
          <c:showLegendKey val="0"/>
          <c:showVal val="0"/>
          <c:showCatName val="0"/>
          <c:showSerName val="0"/>
          <c:showPercent val="0"/>
          <c:showBubbleSize val="0"/>
          <c:showLeaderLines val="1"/>
        </c:dLbls>
        <c:firstSliceAng val="0"/>
        <c:holeSize val="50"/>
      </c:doughnutChart>
    </c:plotArea>
    <c:legend>
      <c:legendPos/>
      <c:layout/>
      <c:overlay val="0"/>
    </c:legend>
    <c:plotVisOnly val="1"/>
    <c:dispBlanksAs val="gap"/>
    <c:showDLblsOverMax val="0"/>
  </c:chart>
  <c:txPr>
    <a:bodyPr/>
    <a:lstStyle/>
    <a:p>
      <a:pPr>
        <a:defRPr sz="1000">
          <a:solidFill>
            <a:srgbClr val="5B6372"/>
          </a:solidFill>
          <a:latin typeface="Arial"/>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five labs is a lot of keyboard time. Concepts on slides, keystrokes in the lab README.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this deck is aligned to the current curriculum revision; older study guides show 46/22/16/8/8.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back on 'we moved to the cloud, so we are cloud native'. Lift-and-shift VMs satisfy none of the four properties.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should be able to name the three live levels and say what each implies about production readiness.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there is no container_create() syscall. A runtime clones a process with the right namespace flags.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answers a large share of the Containerization questions in KCNA. Walk it top to bottom, then bottom to top.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01 makes them prove this with --v=6 and kubectl get --raw.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a CI pipeline, which runs once and forgets. Controllers never stop.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component would you suspect if new Pods stay Pending with no events at all? Answer: the scheduler.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courseware/labs/lab-01-kubectl-and-cluster-recon/README.md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04 makes all six concrete. Do not over-explain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courseware/labs/lab-02-first-pod-manifest/README.md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03 runs all four rows as three real Pods and reads the evidence out of the logs.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courseware/labs/lab-03-commands-args-env/README.md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courseware/labs/lab-04-multi-container-patterns/README.md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courseware/labs/lab-05-container-images-oci/README.md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each module to the lab that exercises it. Learners should leave able to explain why a Pod is Pending.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these are separate loops in one binary. A wedged Deployment does not stop the Job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courseware/labs/lab-06-labels-selectors-replicasets/README.md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courseware/labs/lab-07-deployments-rollout-rollback/README.md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courseware/labs/lab-08-daemonsets-jobs-cronjobs/README.md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courseware/labs/lab-09-scheduling-affinity-taints/README.md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courseware/labs/lab-10-resources-requests-limits-autoscaling/README.md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day as two halves of one question: how does a packet reach a Pod, and who is permitted to make it happen. Every lab today produces evidence, not opinion.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44/28/16/12 split is the CURRENT curriculum. The older five-domain 46/22/16/8/8 split is superseded and must not be quoted.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Docker's default bridge, where containers share a host IP and are reached through port mappings. Kubernetes deliberately refuses that model.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condition 6 explicitly. Learners routinely assume namespaces isolate traffic.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useful mental model of the day. When a learner says 'the Service IP does not respond to ping', this slide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back to Day 1: this is why a fresh kubeadm cluster's nodes are NotReady until a network add-on is applied.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 verified on the isolated kind v1.37.0 cluster that the default CNI establishes no NetworkPolicy enforcement evidence. Lab 16 handles this honestly.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predict what happens to 10.244.0.14 after a rollout. That is the bridge into Services.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Dual-stack and hostNetwork appear as distractors in KCNA questions. Learners should recognise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11 breaks stage 2 with a one-character selector typo and shows that stages 4 and 5 keep working perfectly.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field you would change to move the app from 8080 to 9090 without touching any client. Answer: targetPort only — and with a named port, not even that.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&lt;unset&gt; case is the diagnostic. It means a Pod was selected but exposes no port by that name.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a Service with a perfectly valid spec and an empty slice is a *working* Service with no backends.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room say out loud: 'DNS resolved, the Service exists, and there is nothing behind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Parent-verified currency item. Do not present Endpoints as the normal object; do not pretend it has vanished.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three FAQs at once: why ping fails, why there is no single point of failure, and why HTTP keepalive connections stick to one Pod.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observable difference: a ClusterIP with no endpoints is REJECTed (connection refused) in iptables mode but can present as a timeout elsewhere.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word MODEL out loud. We are illustrating structure, not publishing a performance claim.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3 surprises people: an empty selector plus a hand-written EndpointSlice is how you front a database outside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2 explains the classic 'our load balancing is uneven' ticket: a long-lived gRPC or HTTP/2 connection never rebalances.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4 is the practical one: it is how teams cut over from a VM-hosted service to an in-cluster one.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run-book — a localisation model. The keystrokes live in the Learner Guide and Labs 11 and 16.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naming trap: the Service is called kube-dns for backward compatibility; the Pods behind it are CoreDNS.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Parent-verified: the lab's checks use the libc resolver via ping's resolution line precisely because BusyBox nslookup does not expand dotted partial names.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performance insight in cluster DNS. Fixes: trailing dot, or Pod dnsConfig with a lower ndots for egress-heavy workloads.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 plus named ports is the mechanism many service discovery libraries expect. Link it back to the named port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forward to Lab 19 on Day 4, where headless plus StatefulSet produces stable network identity.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12 creates all four shapes over one Deployment and proves they share a single endpoint set.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the diagnostic order: resolve the name, list the endpointslices, re-run the selector. Three commands, always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Callout 3 is the honest caveat: headless does not guarantee even distribution; the client decides.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courseware/labs/lab-11-services-endpoints/README.md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12 puts all four shapes over one Deployment simultaneously and proves they share one endpoint set.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ExternalName row is a favourite KCNA distractor: it has no selector and no endpoints at all.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externalTrafficPolicy: Local is the answer to 'our access logs show node IPs instead of client IPs'.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9 matters for the labs: port-forward is always available, so extraPortMappings is not the only route to a host-reachable endpoint.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moment to say that kubeconform and similar static tools cannot catch this — only the live API server can.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lesson as Ingress later today: a declaration is inert until a controller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 verified this shape on the isolated kind cluster: the LoadBalancer stays pending because no cloud-controller-manager exists there.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back on 'let's just make it NodePort so I can test it'. port-forward exists precisely for that.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a two-command demonstration, not a procedure. The full workflow is in the Learner Guide.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courseware/labs/lab-12-service-types-nodeport-lb/README.md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afternoon explicitly: same mechanism (declaration + controller), higher layer, then the security topic.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hammering the declaration/implementation split. It is the single most important idea in Lab 13.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backends are normally Services, but the API also supports resource backends — so avoid saying an Ingress can only target a Service.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13 diffs the rules byte-for-byte against a CSV routing table, so the manifest cannot drift from the stated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10 is the portability warning: the moment you need a rewrite, you are writing controller-specific config.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 correction applied: do not assert that an omitted class ALWAYS requires a default class. It is controller-dependent.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Parent-mandated precision: an empty ADDRESS alone does not prove absence of a controller. Say that plainly.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deliberately with the client-certificate slide in the security module: same PEM machinery, opposite direction of trust.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6 is the real-world use: two edges, two classes, one cluster, and a controlled migration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recommend a controller this course has not verified. Envoy Gateway, for example, is Gateway-API focused and is not a drop-in Ingress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Kubernetes Ingress documentation itself states that Ingress is frozen and new features go to Gateway API. Quote it rather than editorialising.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answer is 'install a mesh to get routing'. Mesh solves service-to-service concerns first.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zero IngressClasses in a cluster means no Ingress object there can be claimed by anything.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6 is the honest one. KCNA expects awareness of the trade-off, not advocacy.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point: do not say 'every mesh uses Envoy'. Linkerd's linkerd2-proxy is a Rust micro-proxy.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Istio, Linkerd and Cilium are the CNCF-graded implementations learners will see named in questions.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Helm 3 removed the in-cluster Tiller component. This is the Day 3 introduction; Lab 21 on Day 4 goes deeper.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version/appVersion distinction is a reliable exam and interview question.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releases are stored as Secrets, `get secrets` in a namespace exposes release history — a real RBAC consideration.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up Day 4 cleanly: Argo CD and Flux add the continuous reconciliation Helm does not provide.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courseware/labs/lab-13-ingress-routing/README.md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Tiles 5 and 6 are the assessment-relevant ones and lead directly into NetworkPolicy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14's Pods are written to satisfy restricted, so no warning is printed. Editing them to run as root makes the warn label visible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creates exactly one cluster-scoped object, a ClusterRole, and deletes it by exact name for this reason.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9 is the multi-tenancy caveat KCNA expects: namespaces are soft multi-tenancy.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named KCNA concept. Learners should be able to recite the four and place a given control in the right layer.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rest of the day as closing these four gaps in order: authz, Secrets, network, then workload posture.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error codes: 401 is gate 1, 403 is gate 2, and an admission rejection names the webhook or policy that refused it.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run kubectl get users. The error is the lesson. ServiceAccounts, by contrast, ARE real objects.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6 matters: anonymous is authenticated-as-nobody, and is then subject to RBAC like any other identity.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revocation gap is why short lifetimes and OIDC are preferred for humans in production clusters.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5 is the cheapest hardening win in the whole course. Lab 14 contrasts a Pod with and without the token.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re-reading the token from disk on each use. This is the number one bug in home-grown API clients.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also runs a Pod with automounting disabled, so the directory simply does not exist.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3 is the one most teams skip. It is also the cheapest of the three to implement.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5 is a real audit finding: with AlwaysAllow, every kubectl auth can-i returns yes and proves nothing.</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5 is Lab 14's second failure injection: everything applies cleanly and can-i still says no.</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deliberately creates zero ClusterRoleBindings and asserts that as a negative security check.</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2 is the single most-missed KCNA question in this area. Rehearse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1: granting list on secrets is granting read on every secret value in that scope.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replays a 12-row matrix through this command, so every claim in the lab is machine-verified.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a permission matrix with no denies in it has not tested anything.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401 (authentication failed, no identity) with 403 (identity accepted, permission missing).</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bullet on the right is the discipline: prove the negative as well as the positive.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Middle-zone tile 2 is worth stating plainly: kube-proxy has no security role at all.</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courseware/labs/lab-14-namespaces-serviceaccounts-rbac/README.md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disproof slide: learners should already suspect where this is going.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15 never commits a real Secret manifest and enforces a DUMMY- prefix on every value with a dedicated check.</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Parent-verified on the isolated cluster: no encryption provider is configured there, and the lab records that fact rather than assuming it.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Tile 2 plus tile 3 is the production answer. Tile 1 is the one every cluster can do today at no cost.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15 proves the subPath row experimentally: the pinned file keeps its original content while the directory mount beside it updates.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is the operational trap: enabling encryption does nothing for Secrets that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mention envFrom skipping keys that are not valid shell identifiers — kubelet records InvalidEnvironmentVariableNames and starts anyway.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10 is a useful reassurance: a Secret is not distributed to every node in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courseware/labs/lab-15-secrets-configmaps/README.md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Parent-verified constraint: never demonstrate 'the policy blocked it' on a cluster whose CNI does not enforce.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2 is the classic outage: adding default-deny egress without an explicit DNS allow breaks every lookup.</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Callout 5 is the parent-mandated honesty point and the core of Lab 16's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16's DNS egress rule is the AND case: kube-system namespace AND k8s-app=kube-dns, in a single peer item.</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2 is the common over-grant: a namespaceSelector on its own admits everything in that namespace.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failure family as the Service selector typo this morning. Selectors are queries,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is the discipline: a deny you never tested is a deny you do not have.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9 deliberately avoids the blanket claim that every cloud CNI enforces NetworkPolicy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courseware/labs/lab-16-networkpolicy-isolation/README.md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Rollout pattern: set warn and audit to restricted first, read the warnings, then raise enforce.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7 matters operationally: labelling a namespace does not disturb what is already running.</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failing webhook with failurePolicy: Fail can block all writes for its resources — a real outage mode.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KCNA depth is recognition of the terms and where each control is enforced — not tool operation.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card 1. Most teams that reach for card 3 first have not yet labelled their namespaces.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layer each one operates at. That mapping is exactly what the exam tests.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set the expectation for the assessment: evidence, not assertion.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columns as one sentence: traffic must find the Pod, and the request must be permitted.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previewing Day 4: storage, cluster architecture and application delivery, where Helm returns in depth.</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day as three questions: where do the bytes live, who built the cluster, and how does code get in.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if you write /tmp/report.html in a container, which region is it in? Answer: the writable layer, unless /tmp is a volume.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Correction to older material: SizeMemoryBackedVolumes reached GA in v1.32, not v1.22. v1.22 was the beta graduation.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courseware/labs/lab-17-volumes-emptydir-hostpath/README.md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stress: access modes are a capability of the volume, not an enforcement of application behaviour.</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courseware/labs/lab-18-pv-pvc-storageclass/README.md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sidecars are Kubernetes-specific glue maintained by the community; the vendor only implements the gRPC services.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courseware/labs/lab-19-statefulset-headless/README.md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explicitly: nobody runs this today. Lab 20 reads the runbook as data and takes a verified snapshot only.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courseware/labs/lab-20-cluster-architecture-etcd/README.md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this is just a controller: watch, diff, act, repeat. They already know the pattern from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courseware/labs/lab-21-helm-kustomize-gitops/README.md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day: two registered topics, one assessment, and the KCNA Cloud Native Architecture domain folded through both.</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KCNA expects the signal list and the question each answers, not tool names.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narrative spine of Labs 23 and 24 — same incident, three signals.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courseware/labs/lab-22-probes-health-selfhealing/README.md</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courseware/labs/lab-23-events-logs-metrics/README.md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courseware/labs/lab-24-prometheus-observability/README.md</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step-by-step procedure: Learner Guide and courseware/labs/lab-25-troubleshooting-triage/README.md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illercoda.com/playgrounds/scenario/kubernet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linuxfoundation/linuxfoundation-kcn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1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chart" Target="../charts/chart1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chart" Target="../charts/chart14.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9.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 Id="rId3" Type="http://schemas.openxmlformats.org/officeDocument/2006/relationships/chart" Target="../charts/chart15.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0.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6.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image" Target="../media/image30.png"/></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linuxfoundation/linuxfoundation-kcna" TargetMode="Externa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linuxfoundation/linuxfoundation-kcna" TargetMode="Externa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cna-orchestration-hero-v6.1.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77240" y="457200"/>
            <a:ext cx="694944" cy="694944"/>
          </a:xfrm>
          <a:prstGeom prst="roundRect">
            <a:avLst>
              <a:gd name="adj" fmla="val 16000"/>
            </a:avLst>
          </a:prstGeom>
          <a:solidFill>
            <a:srgbClr val="FFFFFF"/>
          </a:solidFill>
          <a:ln>
            <a:noFill/>
          </a:ln>
          <a:effectLst/>
        </p:spPr>
        <p:txBody>
          <a:bodyPr rtlCol="0" anchor="ctr" wrap="square"/>
          <a:lstStyle/>
          <a:p>
            <a:pPr algn="ctr"/>
          </a:p>
        </p:txBody>
      </p:sp>
      <p:pic>
        <p:nvPicPr>
          <p:cNvPr id="4" name="Picture 3" descr="tertiary-infotech-logo.png"/>
          <p:cNvPicPr>
            <a:picLocks noChangeAspect="1"/>
          </p:cNvPicPr>
          <p:nvPr/>
        </p:nvPicPr>
        <p:blipFill>
          <a:blip r:embed="rId3"/>
          <a:stretch>
            <a:fillRect/>
          </a:stretch>
        </p:blipFill>
        <p:spPr>
          <a:xfrm>
            <a:off x="850392" y="530352"/>
            <a:ext cx="548640" cy="548640"/>
          </a:xfrm>
          <a:prstGeom prst="rect">
            <a:avLst/>
          </a:prstGeom>
        </p:spPr>
      </p:pic>
      <p:sp>
        <p:nvSpPr>
          <p:cNvPr id="5" name="TextBox 4"/>
          <p:cNvSpPr txBox="1"/>
          <p:nvPr/>
        </p:nvSpPr>
        <p:spPr>
          <a:xfrm>
            <a:off x="777240" y="1444752"/>
            <a:ext cx="5257800" cy="310896"/>
          </a:xfrm>
          <a:prstGeom prst="rect">
            <a:avLst/>
          </a:prstGeom>
          <a:noFill/>
        </p:spPr>
        <p:txBody>
          <a:bodyPr wrap="square" lIns="0" rIns="0" tIns="0" bIns="0" anchor="t">
            <a:spAutoFit/>
          </a:bodyPr>
          <a:lstStyle/>
          <a:p>
            <a:pPr algn="l">
              <a:lnSpc>
                <a:spcPct val="100000"/>
              </a:lnSpc>
            </a:pPr>
            <a:r>
              <a:rPr sz="1400" b="1" i="0">
                <a:solidFill>
                  <a:srgbClr val="FFFFFF"/>
                </a:solidFill>
                <a:latin typeface="Arial"/>
              </a:rPr>
              <a:t>Tertiary Infotech Academy Pte Ltd</a:t>
            </a:r>
          </a:p>
        </p:txBody>
      </p:sp>
      <p:sp>
        <p:nvSpPr>
          <p:cNvPr id="6" name="TextBox 5"/>
          <p:cNvSpPr txBox="1"/>
          <p:nvPr/>
        </p:nvSpPr>
        <p:spPr>
          <a:xfrm>
            <a:off x="777240" y="1764792"/>
            <a:ext cx="5257800" cy="237744"/>
          </a:xfrm>
          <a:prstGeom prst="rect">
            <a:avLst/>
          </a:prstGeom>
          <a:noFill/>
        </p:spPr>
        <p:txBody>
          <a:bodyPr wrap="square" lIns="0" rIns="0" tIns="0" bIns="0" anchor="t">
            <a:spAutoFit/>
          </a:bodyPr>
          <a:lstStyle/>
          <a:p>
            <a:pPr algn="l">
              <a:lnSpc>
                <a:spcPct val="100000"/>
              </a:lnSpc>
            </a:pPr>
            <a:r>
              <a:rPr sz="950" b="0" i="0">
                <a:solidFill>
                  <a:srgbClr val="B8CBE8"/>
                </a:solidFill>
                <a:latin typeface="Arial"/>
              </a:rPr>
              <a:t>UEN: 201200696W</a:t>
            </a:r>
          </a:p>
        </p:txBody>
      </p:sp>
      <p:sp>
        <p:nvSpPr>
          <p:cNvPr id="7" name="TextBox 6"/>
          <p:cNvSpPr txBox="1"/>
          <p:nvPr/>
        </p:nvSpPr>
        <p:spPr>
          <a:xfrm>
            <a:off x="777240" y="2139696"/>
            <a:ext cx="5715000" cy="1243584"/>
          </a:xfrm>
          <a:prstGeom prst="rect">
            <a:avLst/>
          </a:prstGeom>
          <a:noFill/>
        </p:spPr>
        <p:txBody>
          <a:bodyPr wrap="square" lIns="0" rIns="0" tIns="0" bIns="0" anchor="t">
            <a:spAutoFit/>
          </a:bodyPr>
          <a:lstStyle/>
          <a:p>
            <a:pPr algn="l">
              <a:lnSpc>
                <a:spcPct val="98000"/>
              </a:lnSpc>
            </a:pPr>
            <a:r>
              <a:rPr sz="3200" b="1" i="0">
                <a:solidFill>
                  <a:srgbClr val="FFFFFF"/>
                </a:solidFill>
                <a:latin typeface="Arial"/>
              </a:rPr>
              <a:t>Kubernetes and Cloud Native</a:t>
            </a:r>
          </a:p>
          <a:p>
            <a:pPr algn="l">
              <a:lnSpc>
                <a:spcPct val="98000"/>
              </a:lnSpc>
            </a:pPr>
            <a:r>
              <a:rPr sz="3200" b="1" i="0">
                <a:solidFill>
                  <a:srgbClr val="FFFFFF"/>
                </a:solidFill>
                <a:latin typeface="Arial"/>
              </a:rPr>
              <a:t>Associate (KCNA) Training</a:t>
            </a:r>
          </a:p>
        </p:txBody>
      </p:sp>
      <p:sp>
        <p:nvSpPr>
          <p:cNvPr id="8" name="Rectangle 7"/>
          <p:cNvSpPr/>
          <p:nvPr/>
        </p:nvSpPr>
        <p:spPr>
          <a:xfrm>
            <a:off x="777240" y="3538728"/>
            <a:ext cx="256032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3749039"/>
            <a:ext cx="5623560" cy="566928"/>
          </a:xfrm>
          <a:prstGeom prst="rect">
            <a:avLst/>
          </a:prstGeom>
          <a:noFill/>
        </p:spPr>
        <p:txBody>
          <a:bodyPr wrap="square" lIns="0" rIns="0" tIns="0" bIns="0" anchor="t">
            <a:spAutoFit/>
          </a:bodyPr>
          <a:lstStyle/>
          <a:p>
            <a:pPr algn="l">
              <a:lnSpc>
                <a:spcPct val="106000"/>
              </a:lnSpc>
            </a:pPr>
            <a:r>
              <a:rPr sz="1350" b="0" i="0">
                <a:solidFill>
                  <a:srgbClr val="D7E7F8"/>
                </a:solidFill>
                <a:latin typeface="Arial"/>
              </a:rPr>
              <a:t>WSQ Course  ·  5 Days  ·  40 Hours  (37h training + 3h assessment)</a:t>
            </a:r>
          </a:p>
        </p:txBody>
      </p:sp>
      <p:sp>
        <p:nvSpPr>
          <p:cNvPr id="10" name="Rectangle 9"/>
          <p:cNvSpPr/>
          <p:nvPr/>
        </p:nvSpPr>
        <p:spPr>
          <a:xfrm>
            <a:off x="777240" y="4800600"/>
            <a:ext cx="1755648" cy="713232"/>
          </a:xfrm>
          <a:prstGeom prst="rect">
            <a:avLst/>
          </a:prstGeom>
          <a:solidFill>
            <a:srgbClr val="0B1220"/>
          </a:solidFill>
          <a:ln w="12700">
            <a:solidFill>
              <a:srgbClr val="94A3B8"/>
            </a:solidFill>
          </a:ln>
          <a:effectLst/>
        </p:spPr>
        <p:txBody>
          <a:bodyPr rtlCol="0" anchor="ctr" wrap="square"/>
          <a:lstStyle/>
          <a:p>
            <a:pPr algn="ctr"/>
          </a:p>
        </p:txBody>
      </p:sp>
      <p:sp>
        <p:nvSpPr>
          <p:cNvPr id="11" name="Rectangle 10"/>
          <p:cNvSpPr/>
          <p:nvPr/>
        </p:nvSpPr>
        <p:spPr>
          <a:xfrm>
            <a:off x="777240" y="4800600"/>
            <a:ext cx="45720" cy="713232"/>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41832" y="4901184"/>
            <a:ext cx="1481328" cy="182880"/>
          </a:xfrm>
          <a:prstGeom prst="rect">
            <a:avLst/>
          </a:prstGeom>
          <a:noFill/>
        </p:spPr>
        <p:txBody>
          <a:bodyPr wrap="square" lIns="0" rIns="0" tIns="0" bIns="0" anchor="t">
            <a:spAutoFit/>
          </a:bodyPr>
          <a:lstStyle/>
          <a:p>
            <a:pPr algn="l">
              <a:lnSpc>
                <a:spcPct val="100000"/>
              </a:lnSpc>
            </a:pPr>
            <a:r>
              <a:rPr sz="750" b="1" i="0">
                <a:solidFill>
                  <a:srgbClr val="FFFFFF"/>
                </a:solidFill>
                <a:latin typeface="Arial"/>
              </a:rPr>
              <a:t>TGS REF NO</a:t>
            </a:r>
          </a:p>
        </p:txBody>
      </p:sp>
      <p:sp>
        <p:nvSpPr>
          <p:cNvPr id="13" name="TextBox 12"/>
          <p:cNvSpPr txBox="1"/>
          <p:nvPr/>
        </p:nvSpPr>
        <p:spPr>
          <a:xfrm>
            <a:off x="941832" y="5102352"/>
            <a:ext cx="1481328" cy="256032"/>
          </a:xfrm>
          <a:prstGeom prst="rect">
            <a:avLst/>
          </a:prstGeom>
          <a:noFill/>
        </p:spPr>
        <p:txBody>
          <a:bodyPr wrap="square" lIns="0" rIns="0" tIns="0" bIns="0" anchor="t">
            <a:spAutoFit/>
          </a:bodyPr>
          <a:lstStyle/>
          <a:p>
            <a:pPr algn="l">
              <a:lnSpc>
                <a:spcPct val="100000"/>
              </a:lnSpc>
            </a:pPr>
            <a:r>
              <a:rPr sz="1000" b="1" i="0">
                <a:solidFill>
                  <a:srgbClr val="FFFFFF"/>
                </a:solidFill>
                <a:latin typeface="Arial"/>
              </a:rPr>
              <a:t>TGS-2023039343</a:t>
            </a:r>
          </a:p>
        </p:txBody>
      </p:sp>
      <p:sp>
        <p:nvSpPr>
          <p:cNvPr id="14" name="Rectangle 13"/>
          <p:cNvSpPr/>
          <p:nvPr/>
        </p:nvSpPr>
        <p:spPr>
          <a:xfrm>
            <a:off x="2651760" y="4800600"/>
            <a:ext cx="1755648" cy="713232"/>
          </a:xfrm>
          <a:prstGeom prst="rect">
            <a:avLst/>
          </a:prstGeom>
          <a:solidFill>
            <a:srgbClr val="0B1220"/>
          </a:solidFill>
          <a:ln w="12700">
            <a:solidFill>
              <a:srgbClr val="94A3B8"/>
            </a:solidFill>
          </a:ln>
          <a:effectLst/>
        </p:spPr>
        <p:txBody>
          <a:bodyPr rtlCol="0" anchor="ctr" wrap="square"/>
          <a:lstStyle/>
          <a:p>
            <a:pPr algn="ctr"/>
          </a:p>
        </p:txBody>
      </p:sp>
      <p:sp>
        <p:nvSpPr>
          <p:cNvPr id="15" name="Rectangle 14"/>
          <p:cNvSpPr/>
          <p:nvPr/>
        </p:nvSpPr>
        <p:spPr>
          <a:xfrm>
            <a:off x="2651760" y="4800600"/>
            <a:ext cx="45720" cy="713232"/>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2816352" y="4901184"/>
            <a:ext cx="1481328" cy="182880"/>
          </a:xfrm>
          <a:prstGeom prst="rect">
            <a:avLst/>
          </a:prstGeom>
          <a:noFill/>
        </p:spPr>
        <p:txBody>
          <a:bodyPr wrap="square" lIns="0" rIns="0" tIns="0" bIns="0" anchor="t">
            <a:spAutoFit/>
          </a:bodyPr>
          <a:lstStyle/>
          <a:p>
            <a:pPr algn="l">
              <a:lnSpc>
                <a:spcPct val="100000"/>
              </a:lnSpc>
            </a:pPr>
            <a:r>
              <a:rPr sz="750" b="1" i="0">
                <a:solidFill>
                  <a:srgbClr val="FFFFFF"/>
                </a:solidFill>
                <a:latin typeface="Arial"/>
              </a:rPr>
              <a:t>VERSION</a:t>
            </a:r>
          </a:p>
        </p:txBody>
      </p:sp>
      <p:sp>
        <p:nvSpPr>
          <p:cNvPr id="17" name="TextBox 16"/>
          <p:cNvSpPr txBox="1"/>
          <p:nvPr/>
        </p:nvSpPr>
        <p:spPr>
          <a:xfrm>
            <a:off x="2816352" y="5102352"/>
            <a:ext cx="1481328" cy="256032"/>
          </a:xfrm>
          <a:prstGeom prst="rect">
            <a:avLst/>
          </a:prstGeom>
          <a:noFill/>
        </p:spPr>
        <p:txBody>
          <a:bodyPr wrap="square" lIns="0" rIns="0" tIns="0" bIns="0" anchor="t">
            <a:spAutoFit/>
          </a:bodyPr>
          <a:lstStyle/>
          <a:p>
            <a:pPr algn="l">
              <a:lnSpc>
                <a:spcPct val="100000"/>
              </a:lnSpc>
            </a:pPr>
            <a:r>
              <a:rPr sz="1000" b="1" i="0">
                <a:solidFill>
                  <a:srgbClr val="FFFFFF"/>
                </a:solidFill>
                <a:latin typeface="Arial"/>
              </a:rPr>
              <a:t>v6.1</a:t>
            </a:r>
          </a:p>
        </p:txBody>
      </p:sp>
      <p:sp>
        <p:nvSpPr>
          <p:cNvPr id="18" name="Rectangle 17"/>
          <p:cNvSpPr/>
          <p:nvPr/>
        </p:nvSpPr>
        <p:spPr>
          <a:xfrm>
            <a:off x="4526279" y="4800600"/>
            <a:ext cx="1755648" cy="713232"/>
          </a:xfrm>
          <a:prstGeom prst="rect">
            <a:avLst/>
          </a:prstGeom>
          <a:solidFill>
            <a:srgbClr val="0B1220"/>
          </a:solidFill>
          <a:ln w="12700">
            <a:solidFill>
              <a:srgbClr val="94A3B8"/>
            </a:solidFill>
          </a:ln>
          <a:effectLst/>
        </p:spPr>
        <p:txBody>
          <a:bodyPr rtlCol="0" anchor="ctr" wrap="square"/>
          <a:lstStyle/>
          <a:p>
            <a:pPr algn="ctr"/>
          </a:p>
        </p:txBody>
      </p:sp>
      <p:sp>
        <p:nvSpPr>
          <p:cNvPr id="19" name="Rectangle 18"/>
          <p:cNvSpPr/>
          <p:nvPr/>
        </p:nvSpPr>
        <p:spPr>
          <a:xfrm>
            <a:off x="4526279" y="4800600"/>
            <a:ext cx="45720" cy="713232"/>
          </a:xfrm>
          <a:prstGeom prst="rect">
            <a:avLst/>
          </a:prstGeom>
          <a:solidFill>
            <a:srgbClr val="7C3AED"/>
          </a:solidFill>
          <a:ln>
            <a:noFill/>
          </a:ln>
          <a:effectLst/>
        </p:spPr>
        <p:txBody>
          <a:bodyPr rtlCol="0" anchor="ctr" wrap="square"/>
          <a:lstStyle/>
          <a:p>
            <a:pPr algn="ctr"/>
          </a:p>
        </p:txBody>
      </p:sp>
      <p:sp>
        <p:nvSpPr>
          <p:cNvPr id="20" name="TextBox 19"/>
          <p:cNvSpPr txBox="1"/>
          <p:nvPr/>
        </p:nvSpPr>
        <p:spPr>
          <a:xfrm>
            <a:off x="4690871" y="4901184"/>
            <a:ext cx="1481328" cy="182880"/>
          </a:xfrm>
          <a:prstGeom prst="rect">
            <a:avLst/>
          </a:prstGeom>
          <a:noFill/>
        </p:spPr>
        <p:txBody>
          <a:bodyPr wrap="square" lIns="0" rIns="0" tIns="0" bIns="0" anchor="t">
            <a:spAutoFit/>
          </a:bodyPr>
          <a:lstStyle/>
          <a:p>
            <a:pPr algn="l">
              <a:lnSpc>
                <a:spcPct val="100000"/>
              </a:lnSpc>
            </a:pPr>
            <a:r>
              <a:rPr sz="750" b="1" i="0">
                <a:solidFill>
                  <a:srgbClr val="FFFFFF"/>
                </a:solidFill>
                <a:latin typeface="Arial"/>
              </a:rPr>
              <a:t>TRAINER</a:t>
            </a:r>
          </a:p>
        </p:txBody>
      </p:sp>
      <p:sp>
        <p:nvSpPr>
          <p:cNvPr id="21" name="TextBox 20"/>
          <p:cNvSpPr txBox="1"/>
          <p:nvPr/>
        </p:nvSpPr>
        <p:spPr>
          <a:xfrm>
            <a:off x="4690871" y="5102352"/>
            <a:ext cx="1481328" cy="256032"/>
          </a:xfrm>
          <a:prstGeom prst="rect">
            <a:avLst/>
          </a:prstGeom>
          <a:noFill/>
        </p:spPr>
        <p:txBody>
          <a:bodyPr wrap="square" lIns="0" rIns="0" tIns="0" bIns="0" anchor="t">
            <a:spAutoFit/>
          </a:bodyPr>
          <a:lstStyle/>
          <a:p>
            <a:pPr algn="l">
              <a:lnSpc>
                <a:spcPct val="100000"/>
              </a:lnSpc>
            </a:pPr>
            <a:r>
              <a:rPr sz="1000" b="1" i="0">
                <a:solidFill>
                  <a:srgbClr val="FFFFFF"/>
                </a:solidFill>
                <a:latin typeface="Arial"/>
              </a:rPr>
              <a:t>Dr. Alfred Ang</a:t>
            </a:r>
          </a:p>
        </p:txBody>
      </p:sp>
      <p:sp>
        <p:nvSpPr>
          <p:cNvPr id="22" name="TextBox 2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FFFFFF"/>
                </a:solidFill>
                <a:latin typeface="Arial"/>
              </a:rPr>
              <a:t>© 2026 Tertiary Infotech Academy Pte Ltd</a:t>
            </a:r>
          </a:p>
        </p:txBody>
      </p:sp>
      <p:sp>
        <p:nvSpPr>
          <p:cNvPr id="23" name="TextBox 2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FFFFFF"/>
                </a:solidFill>
                <a:latin typeface="Arial"/>
              </a:rPr>
              <a:t>Kubernetes and Cloud Native Associate (KCNA) Training  ·  TGS-2023039343</a:t>
            </a:r>
          </a:p>
        </p:txBody>
      </p:sp>
      <p:sp>
        <p:nvSpPr>
          <p:cNvPr id="24" name="TextBox 2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FFFFFF"/>
                </a:solidFill>
                <a:latin typeface="Arial"/>
              </a:rPr>
              <a:t>1</a:t>
            </a:r>
          </a:p>
        </p:txBody>
      </p:sp>
    </p:spTree>
  </p:cSld>
  <p:clrMapOvr>
    <a:masterClrMapping/>
  </p:clrMapOvr>
  <p:transition xmlns:ns1="http://schemas.openxmlformats.org/markup-compatibility/2006" spd="fast" ns1:Ignorable="p14">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Attendance and Learner Feedback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Attendance and TRAQOM feedback serve different purposes.</a:t>
            </a:r>
          </a:p>
        </p:txBody>
      </p:sp>
      <p:sp>
        <p:nvSpPr>
          <p:cNvPr id="7" name="Rectangle 6"/>
          <p:cNvSpPr/>
          <p:nvPr/>
        </p:nvSpPr>
        <p:spPr>
          <a:xfrm>
            <a:off x="777240" y="2200046"/>
            <a:ext cx="6583680" cy="3442817"/>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https://lms-tms.tertiaryinfotech.com/</a:t>
            </a:r>
          </a:p>
        </p:txBody>
      </p:sp>
      <p:sp>
        <p:nvSpPr>
          <p:cNvPr id="14" name="Rectangle 13"/>
          <p:cNvSpPr/>
          <p:nvPr/>
        </p:nvSpPr>
        <p:spPr>
          <a:xfrm>
            <a:off x="996695" y="2803550"/>
            <a:ext cx="1874519" cy="2601569"/>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601569"/>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442817"/>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Attendance records document participation in this course run.</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TRAQOM captures feedback on course quality and outcomes.</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Assessment attendance is a separate course record.</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Learner Guide and trainer provide the run-specific procedure.</a:t>
            </a:r>
          </a:p>
        </p:txBody>
      </p:sp>
      <p:sp>
        <p:nvSpPr>
          <p:cNvPr id="36" name="TextBox 35"/>
          <p:cNvSpPr txBox="1"/>
          <p:nvPr/>
        </p:nvSpPr>
        <p:spPr>
          <a:xfrm>
            <a:off x="777240" y="5770880"/>
            <a:ext cx="10698480" cy="172720"/>
          </a:xfrm>
          <a:prstGeom prst="rect">
            <a:avLst/>
          </a:prstGeom>
          <a:noFill/>
        </p:spPr>
        <p:txBody>
          <a:bodyPr wrap="square" lIns="0" rIns="0" tIns="0" bIns="0" anchor="t">
            <a:spAutoFit/>
          </a:bodyPr>
          <a:lstStyle/>
          <a:p>
            <a:pPr algn="l">
              <a:lnSpc>
                <a:spcPct val="100000"/>
              </a:lnSpc>
            </a:pPr>
            <a:r>
              <a:rPr sz="1000" b="0" i="1">
                <a:solidFill>
                  <a:srgbClr val="94A3B8"/>
                </a:solidFill>
                <a:latin typeface="Arial"/>
              </a:rPr>
              <a:t>TRAQOM: TPGateway Training Quality and Outcomes Measurement initiative.</a:t>
            </a:r>
          </a:p>
        </p:txBody>
      </p:sp>
      <p:sp>
        <p:nvSpPr>
          <p:cNvPr id="37" name="TextBox 36"/>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https://lms-tms.tertiaryinfotech.com/</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a:t>
            </a:r>
          </a:p>
        </p:txBody>
      </p:sp>
    </p:spTree>
  </p:cSld>
  <p:clrMapOvr>
    <a:masterClrMapping/>
  </p:clrMapOvr>
  <p:transition xmlns:ns1="http://schemas.openxmlformats.org/markup-compatibility/2006" spd="fast" ns1:Ignorable="p14">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94A3B8"/>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94A3B8"/>
                </a:solidFill>
                <a:latin typeface="Arial"/>
              </a:rPr>
              <a:t>ABOUT THE TRAINER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About Your Trainer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Template — to be completed by the delivering trainer.</a:t>
            </a:r>
          </a:p>
        </p:txBody>
      </p:sp>
      <p:sp>
        <p:nvSpPr>
          <p:cNvPr id="7" name="Rectangle 6"/>
          <p:cNvSpPr/>
          <p:nvPr/>
        </p:nvSpPr>
        <p:spPr>
          <a:xfrm>
            <a:off x="777240" y="2200046"/>
            <a:ext cx="3291840" cy="3931920"/>
          </a:xfrm>
          <a:prstGeom prst="rect">
            <a:avLst/>
          </a:prstGeom>
          <a:solidFill>
            <a:srgbClr val="F4F7FB"/>
          </a:solidFill>
          <a:ln w="12700">
            <a:solidFill>
              <a:srgbClr val="E2E8F0"/>
            </a:solidFill>
          </a:ln>
          <a:effectLst/>
        </p:spPr>
        <p:txBody>
          <a:bodyPr rtlCol="0" anchor="ctr" wrap="square"/>
          <a:lstStyle/>
          <a:p>
            <a:pPr algn="ctr"/>
          </a:p>
        </p:txBody>
      </p:sp>
      <p:sp>
        <p:nvSpPr>
          <p:cNvPr id="8" name="Oval 7"/>
          <p:cNvSpPr/>
          <p:nvPr/>
        </p:nvSpPr>
        <p:spPr>
          <a:xfrm>
            <a:off x="1783080" y="2584094"/>
            <a:ext cx="1280160" cy="1280160"/>
          </a:xfrm>
          <a:prstGeom prst="ellipse">
            <a:avLst/>
          </a:prstGeom>
          <a:solidFill>
            <a:srgbClr val="94A3B8"/>
          </a:solidFill>
          <a:ln>
            <a:noFill/>
          </a:ln>
          <a:effectLst/>
        </p:spPr>
        <p:txBody>
          <a:bodyPr rtlCol="0" anchor="ctr" wrap="square" lIns="0" rIns="0" tIns="0" bIns="0"/>
          <a:lstStyle/>
          <a:p>
            <a:pPr algn="ctr"/>
            <a:r>
              <a:rPr sz="3400" b="1">
                <a:solidFill>
                  <a:srgbClr val="FFFFFF"/>
                </a:solidFill>
                <a:latin typeface="Arial"/>
              </a:rPr>
              <a:t>?</a:t>
            </a:r>
          </a:p>
        </p:txBody>
      </p:sp>
      <p:sp>
        <p:nvSpPr>
          <p:cNvPr id="9" name="TextBox 8"/>
          <p:cNvSpPr txBox="1"/>
          <p:nvPr/>
        </p:nvSpPr>
        <p:spPr>
          <a:xfrm>
            <a:off x="960120" y="4074566"/>
            <a:ext cx="2926080" cy="384048"/>
          </a:xfrm>
          <a:prstGeom prst="rect">
            <a:avLst/>
          </a:prstGeom>
          <a:noFill/>
        </p:spPr>
        <p:txBody>
          <a:bodyPr wrap="square" lIns="0" rIns="0" tIns="0" bIns="0" anchor="t">
            <a:spAutoFit/>
          </a:bodyPr>
          <a:lstStyle/>
          <a:p>
            <a:pPr algn="ctr">
              <a:lnSpc>
                <a:spcPct val="100000"/>
              </a:lnSpc>
            </a:pPr>
            <a:r>
              <a:rPr sz="1700" b="1" i="0">
                <a:solidFill>
                  <a:srgbClr val="161B26"/>
                </a:solidFill>
                <a:latin typeface="Arial"/>
              </a:rPr>
              <a:t>[ Trainer Name ]</a:t>
            </a:r>
          </a:p>
        </p:txBody>
      </p:sp>
      <p:sp>
        <p:nvSpPr>
          <p:cNvPr id="10" name="TextBox 9"/>
          <p:cNvSpPr txBox="1"/>
          <p:nvPr/>
        </p:nvSpPr>
        <p:spPr>
          <a:xfrm>
            <a:off x="960120" y="4504334"/>
            <a:ext cx="2926080" cy="548640"/>
          </a:xfrm>
          <a:prstGeom prst="rect">
            <a:avLst/>
          </a:prstGeom>
          <a:noFill/>
        </p:spPr>
        <p:txBody>
          <a:bodyPr wrap="square" lIns="0" rIns="0" tIns="0" bIns="0" anchor="t">
            <a:spAutoFit/>
          </a:bodyPr>
          <a:lstStyle/>
          <a:p>
            <a:pPr algn="ctr">
              <a:lnSpc>
                <a:spcPct val="110000"/>
              </a:lnSpc>
            </a:pPr>
            <a:r>
              <a:rPr sz="1150" b="0" i="0">
                <a:solidFill>
                  <a:srgbClr val="5B6372"/>
                </a:solidFill>
                <a:latin typeface="Arial"/>
              </a:rPr>
              <a:t>[ Designation ]</a:t>
            </a:r>
          </a:p>
        </p:txBody>
      </p:sp>
      <p:sp>
        <p:nvSpPr>
          <p:cNvPr id="11" name="Rectangle 10"/>
          <p:cNvSpPr/>
          <p:nvPr/>
        </p:nvSpPr>
        <p:spPr>
          <a:xfrm>
            <a:off x="4343400" y="2200046"/>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4343400" y="2200046"/>
            <a:ext cx="3483864" cy="45720"/>
          </a:xfrm>
          <a:prstGeom prst="rect">
            <a:avLst/>
          </a:prstGeom>
          <a:solidFill>
            <a:srgbClr val="94A3B8"/>
          </a:solidFill>
          <a:ln>
            <a:noFill/>
          </a:ln>
          <a:effectLst/>
        </p:spPr>
        <p:txBody>
          <a:bodyPr rtlCol="0" anchor="ctr" wrap="square"/>
          <a:lstStyle/>
          <a:p>
            <a:pPr algn="ctr"/>
          </a:p>
        </p:txBody>
      </p:sp>
      <p:sp>
        <p:nvSpPr>
          <p:cNvPr id="13" name="TextBox 12"/>
          <p:cNvSpPr txBox="1"/>
          <p:nvPr/>
        </p:nvSpPr>
        <p:spPr>
          <a:xfrm>
            <a:off x="4507992" y="2364638"/>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NAME</a:t>
            </a:r>
          </a:p>
        </p:txBody>
      </p:sp>
      <p:sp>
        <p:nvSpPr>
          <p:cNvPr id="14" name="TextBox 13"/>
          <p:cNvSpPr txBox="1"/>
          <p:nvPr/>
        </p:nvSpPr>
        <p:spPr>
          <a:xfrm>
            <a:off x="4507992" y="2620670"/>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15" name="Rectangle 14"/>
          <p:cNvSpPr/>
          <p:nvPr/>
        </p:nvSpPr>
        <p:spPr>
          <a:xfrm>
            <a:off x="7991856" y="2200046"/>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16" name="Rectangle 15"/>
          <p:cNvSpPr/>
          <p:nvPr/>
        </p:nvSpPr>
        <p:spPr>
          <a:xfrm>
            <a:off x="7991856" y="2200046"/>
            <a:ext cx="3483864" cy="45720"/>
          </a:xfrm>
          <a:prstGeom prst="rect">
            <a:avLst/>
          </a:prstGeom>
          <a:solidFill>
            <a:srgbClr val="94A3B8"/>
          </a:solidFill>
          <a:ln>
            <a:noFill/>
          </a:ln>
          <a:effectLst/>
        </p:spPr>
        <p:txBody>
          <a:bodyPr rtlCol="0" anchor="ctr" wrap="square"/>
          <a:lstStyle/>
          <a:p>
            <a:pPr algn="ctr"/>
          </a:p>
        </p:txBody>
      </p:sp>
      <p:sp>
        <p:nvSpPr>
          <p:cNvPr id="17" name="TextBox 16"/>
          <p:cNvSpPr txBox="1"/>
          <p:nvPr/>
        </p:nvSpPr>
        <p:spPr>
          <a:xfrm>
            <a:off x="8156448" y="2364638"/>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TITLE / DESIGNATION</a:t>
            </a:r>
          </a:p>
        </p:txBody>
      </p:sp>
      <p:sp>
        <p:nvSpPr>
          <p:cNvPr id="18" name="TextBox 17"/>
          <p:cNvSpPr txBox="1"/>
          <p:nvPr/>
        </p:nvSpPr>
        <p:spPr>
          <a:xfrm>
            <a:off x="8156448" y="2620670"/>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19" name="Rectangle 18"/>
          <p:cNvSpPr/>
          <p:nvPr/>
        </p:nvSpPr>
        <p:spPr>
          <a:xfrm>
            <a:off x="4343400" y="3565550"/>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4343400" y="3565550"/>
            <a:ext cx="3483864" cy="45720"/>
          </a:xfrm>
          <a:prstGeom prst="rect">
            <a:avLst/>
          </a:prstGeom>
          <a:solidFill>
            <a:srgbClr val="94A3B8"/>
          </a:solidFill>
          <a:ln>
            <a:noFill/>
          </a:ln>
          <a:effectLst/>
        </p:spPr>
        <p:txBody>
          <a:bodyPr rtlCol="0" anchor="ctr" wrap="square"/>
          <a:lstStyle/>
          <a:p>
            <a:pPr algn="ctr"/>
          </a:p>
        </p:txBody>
      </p:sp>
      <p:sp>
        <p:nvSpPr>
          <p:cNvPr id="21" name="TextBox 20"/>
          <p:cNvSpPr txBox="1"/>
          <p:nvPr/>
        </p:nvSpPr>
        <p:spPr>
          <a:xfrm>
            <a:off x="4507992" y="3730142"/>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QUALIFICATIONS</a:t>
            </a:r>
          </a:p>
        </p:txBody>
      </p:sp>
      <p:sp>
        <p:nvSpPr>
          <p:cNvPr id="22" name="TextBox 21"/>
          <p:cNvSpPr txBox="1"/>
          <p:nvPr/>
        </p:nvSpPr>
        <p:spPr>
          <a:xfrm>
            <a:off x="4507992" y="3986174"/>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23" name="Rectangle 22"/>
          <p:cNvSpPr/>
          <p:nvPr/>
        </p:nvSpPr>
        <p:spPr>
          <a:xfrm>
            <a:off x="7991856" y="3565550"/>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4" name="Rectangle 23"/>
          <p:cNvSpPr/>
          <p:nvPr/>
        </p:nvSpPr>
        <p:spPr>
          <a:xfrm>
            <a:off x="7991856" y="3565550"/>
            <a:ext cx="3483864" cy="45720"/>
          </a:xfrm>
          <a:prstGeom prst="rect">
            <a:avLst/>
          </a:prstGeom>
          <a:solidFill>
            <a:srgbClr val="94A3B8"/>
          </a:solidFill>
          <a:ln>
            <a:noFill/>
          </a:ln>
          <a:effectLst/>
        </p:spPr>
        <p:txBody>
          <a:bodyPr rtlCol="0" anchor="ctr" wrap="square"/>
          <a:lstStyle/>
          <a:p>
            <a:pPr algn="ctr"/>
          </a:p>
        </p:txBody>
      </p:sp>
      <p:sp>
        <p:nvSpPr>
          <p:cNvPr id="25" name="TextBox 24"/>
          <p:cNvSpPr txBox="1"/>
          <p:nvPr/>
        </p:nvSpPr>
        <p:spPr>
          <a:xfrm>
            <a:off x="8156448" y="3730142"/>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AREAS OF EXPERTISE</a:t>
            </a:r>
          </a:p>
        </p:txBody>
      </p:sp>
      <p:sp>
        <p:nvSpPr>
          <p:cNvPr id="26" name="TextBox 25"/>
          <p:cNvSpPr txBox="1"/>
          <p:nvPr/>
        </p:nvSpPr>
        <p:spPr>
          <a:xfrm>
            <a:off x="8156448" y="3986174"/>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27" name="Rectangle 26"/>
          <p:cNvSpPr/>
          <p:nvPr/>
        </p:nvSpPr>
        <p:spPr>
          <a:xfrm>
            <a:off x="4343400" y="4931054"/>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4343400" y="4931054"/>
            <a:ext cx="3483864" cy="45720"/>
          </a:xfrm>
          <a:prstGeom prst="rect">
            <a:avLst/>
          </a:prstGeom>
          <a:solidFill>
            <a:srgbClr val="94A3B8"/>
          </a:solidFill>
          <a:ln>
            <a:noFill/>
          </a:ln>
          <a:effectLst/>
        </p:spPr>
        <p:txBody>
          <a:bodyPr rtlCol="0" anchor="ctr" wrap="square"/>
          <a:lstStyle/>
          <a:p>
            <a:pPr algn="ctr"/>
          </a:p>
        </p:txBody>
      </p:sp>
      <p:sp>
        <p:nvSpPr>
          <p:cNvPr id="29" name="TextBox 28"/>
          <p:cNvSpPr txBox="1"/>
          <p:nvPr/>
        </p:nvSpPr>
        <p:spPr>
          <a:xfrm>
            <a:off x="4507992" y="5095646"/>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TRAINING &amp; INDUSTRY EXPERIENCE</a:t>
            </a:r>
          </a:p>
        </p:txBody>
      </p:sp>
      <p:sp>
        <p:nvSpPr>
          <p:cNvPr id="30" name="TextBox 29"/>
          <p:cNvSpPr txBox="1"/>
          <p:nvPr/>
        </p:nvSpPr>
        <p:spPr>
          <a:xfrm>
            <a:off x="4507992" y="5351678"/>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31" name="Rectangle 30"/>
          <p:cNvSpPr/>
          <p:nvPr/>
        </p:nvSpPr>
        <p:spPr>
          <a:xfrm>
            <a:off x="7991856" y="4931054"/>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32" name="Rectangle 31"/>
          <p:cNvSpPr/>
          <p:nvPr/>
        </p:nvSpPr>
        <p:spPr>
          <a:xfrm>
            <a:off x="7991856" y="4931054"/>
            <a:ext cx="3483864" cy="45720"/>
          </a:xfrm>
          <a:prstGeom prst="rect">
            <a:avLst/>
          </a:prstGeom>
          <a:solidFill>
            <a:srgbClr val="94A3B8"/>
          </a:solidFill>
          <a:ln>
            <a:noFill/>
          </a:ln>
          <a:effectLst/>
        </p:spPr>
        <p:txBody>
          <a:bodyPr rtlCol="0" anchor="ctr" wrap="square"/>
          <a:lstStyle/>
          <a:p>
            <a:pPr algn="ctr"/>
          </a:p>
        </p:txBody>
      </p:sp>
      <p:sp>
        <p:nvSpPr>
          <p:cNvPr id="33" name="TextBox 32"/>
          <p:cNvSpPr txBox="1"/>
          <p:nvPr/>
        </p:nvSpPr>
        <p:spPr>
          <a:xfrm>
            <a:off x="8156448" y="5095646"/>
            <a:ext cx="3154680" cy="219456"/>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CONTACT</a:t>
            </a:r>
          </a:p>
        </p:txBody>
      </p:sp>
      <p:sp>
        <p:nvSpPr>
          <p:cNvPr id="34" name="TextBox 33"/>
          <p:cNvSpPr txBox="1"/>
          <p:nvPr/>
        </p:nvSpPr>
        <p:spPr>
          <a:xfrm>
            <a:off x="8156448" y="5351678"/>
            <a:ext cx="3154680" cy="652271"/>
          </a:xfrm>
          <a:prstGeom prst="rect">
            <a:avLst/>
          </a:prstGeom>
          <a:noFill/>
        </p:spPr>
        <p:txBody>
          <a:bodyPr wrap="square" lIns="0" rIns="0" tIns="0" bIns="0" anchor="t">
            <a:spAutoFit/>
          </a:bodyPr>
          <a:lstStyle/>
          <a:p>
            <a:pPr algn="l">
              <a:lnSpc>
                <a:spcPct val="112000"/>
              </a:lnSpc>
            </a:pPr>
            <a:r>
              <a:rPr sz="1050" b="0" i="0">
                <a:solidFill>
                  <a:srgbClr val="94A3B8"/>
                </a:solidFill>
                <a:latin typeface="Arial"/>
              </a:rPr>
              <a:t>________________________</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a:t>
            </a:r>
          </a:p>
        </p:txBody>
      </p:sp>
    </p:spTree>
  </p:cSld>
  <p:clrMapOvr>
    <a:masterClrMapping/>
  </p:clrMapOvr>
  <p:transition xmlns:ns1="http://schemas.openxmlformats.org/markup-compatibility/2006" spd="fast" ns1:Ignorable="p14">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ABOUT THE TRAINER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Dr. Alfred Ang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Founder &amp; Principal Trainer, Tertiary Infotech Academy</a:t>
            </a:r>
          </a:p>
        </p:txBody>
      </p:sp>
      <p:sp>
        <p:nvSpPr>
          <p:cNvPr id="7" name="Rectangle 6"/>
          <p:cNvSpPr/>
          <p:nvPr/>
        </p:nvSpPr>
        <p:spPr>
          <a:xfrm>
            <a:off x="777240" y="2200046"/>
            <a:ext cx="3291840" cy="3931920"/>
          </a:xfrm>
          <a:prstGeom prst="rect">
            <a:avLst/>
          </a:prstGeom>
          <a:solidFill>
            <a:srgbClr val="EFF4FF"/>
          </a:solidFill>
          <a:ln w="12700">
            <a:solidFill>
              <a:srgbClr val="E2E8F0"/>
            </a:solidFill>
          </a:ln>
          <a:effectLst/>
        </p:spPr>
        <p:txBody>
          <a:bodyPr rtlCol="0" anchor="ctr" wrap="square"/>
          <a:lstStyle/>
          <a:p>
            <a:pPr algn="ctr"/>
          </a:p>
        </p:txBody>
      </p:sp>
      <p:sp>
        <p:nvSpPr>
          <p:cNvPr id="8" name="Oval 7"/>
          <p:cNvSpPr/>
          <p:nvPr/>
        </p:nvSpPr>
        <p:spPr>
          <a:xfrm>
            <a:off x="1783080" y="2584094"/>
            <a:ext cx="1280160" cy="1280160"/>
          </a:xfrm>
          <a:prstGeom prst="ellipse">
            <a:avLst/>
          </a:prstGeom>
          <a:solidFill>
            <a:srgbClr val="1F6FEB"/>
          </a:solidFill>
          <a:ln>
            <a:noFill/>
          </a:ln>
          <a:effectLst/>
        </p:spPr>
        <p:txBody>
          <a:bodyPr rtlCol="0" anchor="ctr" wrap="square" lIns="0" rIns="0" tIns="0" bIns="0"/>
          <a:lstStyle/>
          <a:p>
            <a:pPr algn="ctr"/>
            <a:r>
              <a:rPr sz="3400" b="1">
                <a:solidFill>
                  <a:srgbClr val="FFFFFF"/>
                </a:solidFill>
                <a:latin typeface="Arial"/>
              </a:rPr>
              <a:t>AA</a:t>
            </a:r>
          </a:p>
        </p:txBody>
      </p:sp>
      <p:sp>
        <p:nvSpPr>
          <p:cNvPr id="9" name="TextBox 8"/>
          <p:cNvSpPr txBox="1"/>
          <p:nvPr/>
        </p:nvSpPr>
        <p:spPr>
          <a:xfrm>
            <a:off x="960120" y="4074566"/>
            <a:ext cx="2926080" cy="384048"/>
          </a:xfrm>
          <a:prstGeom prst="rect">
            <a:avLst/>
          </a:prstGeom>
          <a:noFill/>
        </p:spPr>
        <p:txBody>
          <a:bodyPr wrap="square" lIns="0" rIns="0" tIns="0" bIns="0" anchor="t">
            <a:spAutoFit/>
          </a:bodyPr>
          <a:lstStyle/>
          <a:p>
            <a:pPr algn="ctr">
              <a:lnSpc>
                <a:spcPct val="100000"/>
              </a:lnSpc>
            </a:pPr>
            <a:r>
              <a:rPr sz="1700" b="1" i="0">
                <a:solidFill>
                  <a:srgbClr val="161B26"/>
                </a:solidFill>
                <a:latin typeface="Arial"/>
              </a:rPr>
              <a:t>Dr. Alfred Ang</a:t>
            </a:r>
          </a:p>
        </p:txBody>
      </p:sp>
      <p:sp>
        <p:nvSpPr>
          <p:cNvPr id="10" name="TextBox 9"/>
          <p:cNvSpPr txBox="1"/>
          <p:nvPr/>
        </p:nvSpPr>
        <p:spPr>
          <a:xfrm>
            <a:off x="960120" y="4504334"/>
            <a:ext cx="2926080" cy="548640"/>
          </a:xfrm>
          <a:prstGeom prst="rect">
            <a:avLst/>
          </a:prstGeom>
          <a:noFill/>
        </p:spPr>
        <p:txBody>
          <a:bodyPr wrap="square" lIns="0" rIns="0" tIns="0" bIns="0" anchor="t">
            <a:spAutoFit/>
          </a:bodyPr>
          <a:lstStyle/>
          <a:p>
            <a:pPr algn="ctr">
              <a:lnSpc>
                <a:spcPct val="110000"/>
              </a:lnSpc>
            </a:pPr>
            <a:r>
              <a:rPr sz="1150" b="0" i="0">
                <a:solidFill>
                  <a:srgbClr val="5B6372"/>
                </a:solidFill>
                <a:latin typeface="Arial"/>
              </a:rPr>
              <a:t>Founder &amp; Principal Trainer, Tertiary Infotech Academy</a:t>
            </a:r>
          </a:p>
        </p:txBody>
      </p:sp>
      <p:sp>
        <p:nvSpPr>
          <p:cNvPr id="11" name="Rectangle 10"/>
          <p:cNvSpPr/>
          <p:nvPr/>
        </p:nvSpPr>
        <p:spPr>
          <a:xfrm>
            <a:off x="4343400" y="2200046"/>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4343400" y="2200046"/>
            <a:ext cx="3483864" cy="45720"/>
          </a:xfrm>
          <a:prstGeom prst="rect">
            <a:avLst/>
          </a:prstGeom>
          <a:solidFill>
            <a:srgbClr val="1F6FEB"/>
          </a:solidFill>
          <a:ln>
            <a:noFill/>
          </a:ln>
          <a:effectLst/>
        </p:spPr>
        <p:txBody>
          <a:bodyPr rtlCol="0" anchor="ctr" wrap="square"/>
          <a:lstStyle/>
          <a:p>
            <a:pPr algn="ctr"/>
          </a:p>
        </p:txBody>
      </p:sp>
      <p:sp>
        <p:nvSpPr>
          <p:cNvPr id="13" name="TextBox 12"/>
          <p:cNvSpPr txBox="1"/>
          <p:nvPr/>
        </p:nvSpPr>
        <p:spPr>
          <a:xfrm>
            <a:off x="4507992" y="2364638"/>
            <a:ext cx="315468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ROLE</a:t>
            </a:r>
          </a:p>
        </p:txBody>
      </p:sp>
      <p:sp>
        <p:nvSpPr>
          <p:cNvPr id="14" name="TextBox 13"/>
          <p:cNvSpPr txBox="1"/>
          <p:nvPr/>
        </p:nvSpPr>
        <p:spPr>
          <a:xfrm>
            <a:off x="4507992" y="2620670"/>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Founder &amp; Principal Trainer, Tertiary Infotech Academy Pte Ltd</a:t>
            </a:r>
          </a:p>
        </p:txBody>
      </p:sp>
      <p:sp>
        <p:nvSpPr>
          <p:cNvPr id="15" name="Rectangle 14"/>
          <p:cNvSpPr/>
          <p:nvPr/>
        </p:nvSpPr>
        <p:spPr>
          <a:xfrm>
            <a:off x="7991856" y="2200046"/>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16" name="Rectangle 15"/>
          <p:cNvSpPr/>
          <p:nvPr/>
        </p:nvSpPr>
        <p:spPr>
          <a:xfrm>
            <a:off x="7991856" y="2200046"/>
            <a:ext cx="3483864" cy="45720"/>
          </a:xfrm>
          <a:prstGeom prst="rect">
            <a:avLst/>
          </a:prstGeom>
          <a:solidFill>
            <a:srgbClr val="10B981"/>
          </a:solidFill>
          <a:ln>
            <a:noFill/>
          </a:ln>
          <a:effectLst/>
        </p:spPr>
        <p:txBody>
          <a:bodyPr rtlCol="0" anchor="ctr" wrap="square"/>
          <a:lstStyle/>
          <a:p>
            <a:pPr algn="ctr"/>
          </a:p>
        </p:txBody>
      </p:sp>
      <p:sp>
        <p:nvSpPr>
          <p:cNvPr id="17" name="TextBox 16"/>
          <p:cNvSpPr txBox="1"/>
          <p:nvPr/>
        </p:nvSpPr>
        <p:spPr>
          <a:xfrm>
            <a:off x="8156448" y="2364638"/>
            <a:ext cx="315468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QUALIFICATIONS</a:t>
            </a:r>
          </a:p>
        </p:txBody>
      </p:sp>
      <p:sp>
        <p:nvSpPr>
          <p:cNvPr id="18" name="TextBox 17"/>
          <p:cNvSpPr txBox="1"/>
          <p:nvPr/>
        </p:nvSpPr>
        <p:spPr>
          <a:xfrm>
            <a:off x="8156448" y="2620670"/>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PhD (NUS); ACTA-certified adult educator</a:t>
            </a:r>
          </a:p>
        </p:txBody>
      </p:sp>
      <p:sp>
        <p:nvSpPr>
          <p:cNvPr id="19" name="Rectangle 18"/>
          <p:cNvSpPr/>
          <p:nvPr/>
        </p:nvSpPr>
        <p:spPr>
          <a:xfrm>
            <a:off x="4343400" y="3565550"/>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4343400" y="3565550"/>
            <a:ext cx="3483864" cy="45720"/>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4507992" y="3730142"/>
            <a:ext cx="3154680" cy="219456"/>
          </a:xfrm>
          <a:prstGeom prst="rect">
            <a:avLst/>
          </a:prstGeom>
          <a:noFill/>
        </p:spPr>
        <p:txBody>
          <a:bodyPr wrap="square" lIns="0" rIns="0" tIns="0" bIns="0" anchor="t">
            <a:spAutoFit/>
          </a:bodyPr>
          <a:lstStyle/>
          <a:p>
            <a:pPr algn="l">
              <a:lnSpc>
                <a:spcPct val="100000"/>
              </a:lnSpc>
            </a:pPr>
            <a:r>
              <a:rPr sz="850" b="1" i="0">
                <a:solidFill>
                  <a:srgbClr val="7C3AED"/>
                </a:solidFill>
                <a:latin typeface="Arial"/>
              </a:rPr>
              <a:t>AREAS OF EXPERTISE</a:t>
            </a:r>
          </a:p>
        </p:txBody>
      </p:sp>
      <p:sp>
        <p:nvSpPr>
          <p:cNvPr id="22" name="TextBox 21"/>
          <p:cNvSpPr txBox="1"/>
          <p:nvPr/>
        </p:nvSpPr>
        <p:spPr>
          <a:xfrm>
            <a:off x="4507992" y="3986174"/>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Cloud native platforms, Kubernetes, DevOps, data engineering</a:t>
            </a:r>
          </a:p>
        </p:txBody>
      </p:sp>
      <p:sp>
        <p:nvSpPr>
          <p:cNvPr id="23" name="Rectangle 22"/>
          <p:cNvSpPr/>
          <p:nvPr/>
        </p:nvSpPr>
        <p:spPr>
          <a:xfrm>
            <a:off x="7991856" y="3565550"/>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4" name="Rectangle 23"/>
          <p:cNvSpPr/>
          <p:nvPr/>
        </p:nvSpPr>
        <p:spPr>
          <a:xfrm>
            <a:off x="7991856" y="3565550"/>
            <a:ext cx="3483864" cy="45720"/>
          </a:xfrm>
          <a:prstGeom prst="rect">
            <a:avLst/>
          </a:prstGeom>
          <a:solidFill>
            <a:srgbClr val="F59E0B"/>
          </a:solidFill>
          <a:ln>
            <a:noFill/>
          </a:ln>
          <a:effectLst/>
        </p:spPr>
        <p:txBody>
          <a:bodyPr rtlCol="0" anchor="ctr" wrap="square"/>
          <a:lstStyle/>
          <a:p>
            <a:pPr algn="ctr"/>
          </a:p>
        </p:txBody>
      </p:sp>
      <p:sp>
        <p:nvSpPr>
          <p:cNvPr id="25" name="TextBox 24"/>
          <p:cNvSpPr txBox="1"/>
          <p:nvPr/>
        </p:nvSpPr>
        <p:spPr>
          <a:xfrm>
            <a:off x="8156448" y="3730142"/>
            <a:ext cx="3154680" cy="219456"/>
          </a:xfrm>
          <a:prstGeom prst="rect">
            <a:avLst/>
          </a:prstGeom>
          <a:noFill/>
        </p:spPr>
        <p:txBody>
          <a:bodyPr wrap="square" lIns="0" rIns="0" tIns="0" bIns="0" anchor="t">
            <a:spAutoFit/>
          </a:bodyPr>
          <a:lstStyle/>
          <a:p>
            <a:pPr algn="l">
              <a:lnSpc>
                <a:spcPct val="100000"/>
              </a:lnSpc>
            </a:pPr>
            <a:r>
              <a:rPr sz="850" b="1" i="0">
                <a:solidFill>
                  <a:srgbClr val="F59E0B"/>
                </a:solidFill>
                <a:latin typeface="Arial"/>
              </a:rPr>
              <a:t>DELIVERS</a:t>
            </a:r>
          </a:p>
        </p:txBody>
      </p:sp>
      <p:sp>
        <p:nvSpPr>
          <p:cNvPr id="26" name="TextBox 25"/>
          <p:cNvSpPr txBox="1"/>
          <p:nvPr/>
        </p:nvSpPr>
        <p:spPr>
          <a:xfrm>
            <a:off x="8156448" y="3986174"/>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WSQ cloud, container and data engineering programmes</a:t>
            </a:r>
          </a:p>
        </p:txBody>
      </p:sp>
      <p:sp>
        <p:nvSpPr>
          <p:cNvPr id="27" name="Rectangle 26"/>
          <p:cNvSpPr/>
          <p:nvPr/>
        </p:nvSpPr>
        <p:spPr>
          <a:xfrm>
            <a:off x="4343400" y="4931054"/>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4343400" y="4931054"/>
            <a:ext cx="3483864" cy="45720"/>
          </a:xfrm>
          <a:prstGeom prst="rect">
            <a:avLst/>
          </a:prstGeom>
          <a:solidFill>
            <a:srgbClr val="1F6FEB"/>
          </a:solidFill>
          <a:ln>
            <a:noFill/>
          </a:ln>
          <a:effectLst/>
        </p:spPr>
        <p:txBody>
          <a:bodyPr rtlCol="0" anchor="ctr" wrap="square"/>
          <a:lstStyle/>
          <a:p>
            <a:pPr algn="ctr"/>
          </a:p>
        </p:txBody>
      </p:sp>
      <p:sp>
        <p:nvSpPr>
          <p:cNvPr id="29" name="TextBox 28"/>
          <p:cNvSpPr txBox="1"/>
          <p:nvPr/>
        </p:nvSpPr>
        <p:spPr>
          <a:xfrm>
            <a:off x="4507992" y="5095646"/>
            <a:ext cx="315468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INDUSTRY EXPERIENCE</a:t>
            </a:r>
          </a:p>
        </p:txBody>
      </p:sp>
      <p:sp>
        <p:nvSpPr>
          <p:cNvPr id="30" name="TextBox 29"/>
          <p:cNvSpPr txBox="1"/>
          <p:nvPr/>
        </p:nvSpPr>
        <p:spPr>
          <a:xfrm>
            <a:off x="4507992" y="5351678"/>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20+ years across engineering, consulting and technical training</a:t>
            </a:r>
          </a:p>
        </p:txBody>
      </p:sp>
      <p:sp>
        <p:nvSpPr>
          <p:cNvPr id="31" name="Rectangle 30"/>
          <p:cNvSpPr/>
          <p:nvPr/>
        </p:nvSpPr>
        <p:spPr>
          <a:xfrm>
            <a:off x="7991856" y="4931054"/>
            <a:ext cx="3483864" cy="1200912"/>
          </a:xfrm>
          <a:prstGeom prst="rect">
            <a:avLst/>
          </a:prstGeom>
          <a:solidFill>
            <a:srgbClr val="FFFFFF"/>
          </a:solidFill>
          <a:ln w="12700">
            <a:solidFill>
              <a:srgbClr val="E2E8F0"/>
            </a:solidFill>
          </a:ln>
          <a:effectLst/>
        </p:spPr>
        <p:txBody>
          <a:bodyPr rtlCol="0" anchor="ctr" wrap="square"/>
          <a:lstStyle/>
          <a:p>
            <a:pPr algn="ctr"/>
          </a:p>
        </p:txBody>
      </p:sp>
      <p:sp>
        <p:nvSpPr>
          <p:cNvPr id="32" name="Rectangle 31"/>
          <p:cNvSpPr/>
          <p:nvPr/>
        </p:nvSpPr>
        <p:spPr>
          <a:xfrm>
            <a:off x="7991856" y="4931054"/>
            <a:ext cx="3483864" cy="45720"/>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8156448" y="5095646"/>
            <a:ext cx="315468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CONTACT</a:t>
            </a:r>
          </a:p>
        </p:txBody>
      </p:sp>
      <p:sp>
        <p:nvSpPr>
          <p:cNvPr id="34" name="TextBox 33"/>
          <p:cNvSpPr txBox="1"/>
          <p:nvPr/>
        </p:nvSpPr>
        <p:spPr>
          <a:xfrm>
            <a:off x="8156448" y="5351678"/>
            <a:ext cx="3154680" cy="652271"/>
          </a:xfrm>
          <a:prstGeom prst="rect">
            <a:avLst/>
          </a:prstGeom>
          <a:noFill/>
        </p:spPr>
        <p:txBody>
          <a:bodyPr wrap="square" lIns="0" rIns="0" tIns="0" bIns="0" anchor="t">
            <a:spAutoFit/>
          </a:bodyPr>
          <a:lstStyle/>
          <a:p>
            <a:pPr algn="l">
              <a:lnSpc>
                <a:spcPct val="112000"/>
              </a:lnSpc>
            </a:pPr>
            <a:r>
              <a:rPr sz="1050" b="0" i="0">
                <a:solidFill>
                  <a:srgbClr val="161B26"/>
                </a:solidFill>
                <a:latin typeface="Arial"/>
              </a:rPr>
              <a:t>enquiry@tertiaryinfotech.com</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a:t>
            </a:r>
          </a:p>
        </p:txBody>
      </p:sp>
    </p:spTree>
  </p:cSld>
  <p:clrMapOvr>
    <a:masterClrMapping/>
  </p:clrMapOvr>
  <p:transition xmlns:ns1="http://schemas.openxmlformats.org/markup-compatibility/2006" spd="fast" ns1:Ignorable="p14">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LET'S KNOW EACH OTHER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Learner Introduction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days is long enough to learn each other's names — let's start there.</a:t>
            </a:r>
          </a:p>
        </p:txBody>
      </p:sp>
      <p:sp>
        <p:nvSpPr>
          <p:cNvPr id="7" name="TextBox 6"/>
          <p:cNvSpPr txBox="1"/>
          <p:nvPr/>
        </p:nvSpPr>
        <p:spPr>
          <a:xfrm>
            <a:off x="777240" y="2200046"/>
            <a:ext cx="10698480" cy="3743553"/>
          </a:xfrm>
          <a:prstGeom prst="rect">
            <a:avLst/>
          </a:prstGeom>
          <a:noFill/>
        </p:spPr>
        <p:txBody>
          <a:bodyPr wrap="square" lIns="0" rIns="0" tIns="0" bIns="0">
            <a:spAutoFit/>
          </a:bodyPr>
          <a:lstStyle/>
          <a:p>
            <a:pPr>
              <a:lnSpc>
                <a:spcPct val="112000"/>
              </a:lnSpc>
              <a:spcAft>
                <a:spcPts val="900"/>
              </a:spcAft>
            </a:pPr>
            <a:r>
              <a:rPr sz="1300">
                <a:solidFill>
                  <a:srgbClr val="94A3B8"/>
                </a:solidFill>
                <a:latin typeface="Arial"/>
              </a:rPr>
              <a:t>•  </a:t>
            </a:r>
            <a:r>
              <a:rPr sz="1300">
                <a:solidFill>
                  <a:srgbClr val="5B6372"/>
                </a:solidFill>
                <a:latin typeface="Arial"/>
              </a:rPr>
              <a:t>Your name, and the organisation you work with.</a:t>
            </a:r>
          </a:p>
          <a:p>
            <a:pPr>
              <a:lnSpc>
                <a:spcPct val="112000"/>
              </a:lnSpc>
              <a:spcAft>
                <a:spcPts val="900"/>
              </a:spcAft>
            </a:pPr>
            <a:r>
              <a:rPr sz="1300">
                <a:solidFill>
                  <a:srgbClr val="94A3B8"/>
                </a:solidFill>
                <a:latin typeface="Arial"/>
              </a:rPr>
              <a:t>•  </a:t>
            </a:r>
            <a:r>
              <a:rPr sz="1300">
                <a:solidFill>
                  <a:srgbClr val="5B6372"/>
                </a:solidFill>
                <a:latin typeface="Arial"/>
              </a:rPr>
              <a:t>Your current role — developer, ops, SRE, architect, analyst or student.</a:t>
            </a:r>
          </a:p>
          <a:p>
            <a:pPr>
              <a:lnSpc>
                <a:spcPct val="112000"/>
              </a:lnSpc>
              <a:spcAft>
                <a:spcPts val="900"/>
              </a:spcAft>
            </a:pPr>
            <a:r>
              <a:rPr sz="1300">
                <a:solidFill>
                  <a:srgbClr val="94A3B8"/>
                </a:solidFill>
                <a:latin typeface="Arial"/>
              </a:rPr>
              <a:t>•  </a:t>
            </a:r>
            <a:r>
              <a:rPr sz="1300">
                <a:solidFill>
                  <a:srgbClr val="5B6372"/>
                </a:solidFill>
                <a:latin typeface="Arial"/>
              </a:rPr>
              <a:t>How much Kubernetes or container experience you already have (none is completely fine).</a:t>
            </a:r>
          </a:p>
          <a:p>
            <a:pPr>
              <a:lnSpc>
                <a:spcPct val="112000"/>
              </a:lnSpc>
              <a:spcAft>
                <a:spcPts val="900"/>
              </a:spcAft>
            </a:pPr>
            <a:r>
              <a:rPr sz="1300">
                <a:solidFill>
                  <a:srgbClr val="94A3B8"/>
                </a:solidFill>
                <a:latin typeface="Arial"/>
              </a:rPr>
              <a:t>•  </a:t>
            </a:r>
            <a:r>
              <a:rPr sz="1300">
                <a:solidFill>
                  <a:srgbClr val="5B6372"/>
                </a:solidFill>
                <a:latin typeface="Arial"/>
              </a:rPr>
              <a:t>One thing you want to be able to do by Friday evening.</a:t>
            </a:r>
          </a:p>
          <a:p>
            <a:pPr>
              <a:lnSpc>
                <a:spcPct val="112000"/>
              </a:lnSpc>
              <a:spcAft>
                <a:spcPts val="900"/>
              </a:spcAft>
            </a:pPr>
            <a:r>
              <a:rPr sz="1300">
                <a:solidFill>
                  <a:srgbClr val="94A3B8"/>
                </a:solidFill>
                <a:latin typeface="Arial"/>
              </a:rPr>
              <a:t>•  </a:t>
            </a:r>
            <a:r>
              <a:rPr sz="1300">
                <a:solidFill>
                  <a:srgbClr val="5B6372"/>
                </a:solidFill>
                <a:latin typeface="Arial"/>
              </a:rPr>
              <a:t>Whether you intend to sit the official KCNA exam.</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a:t>
            </a:r>
          </a:p>
        </p:txBody>
      </p:sp>
    </p:spTree>
  </p:cSld>
  <p:clrMapOvr>
    <a:masterClrMapping/>
  </p:clrMapOvr>
  <p:transition xmlns:ns1="http://schemas.openxmlformats.org/markup-compatibility/2006" spd="fast" ns1:Ignorable="p14">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GROUND RULES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We Will Work Together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working agreements for the week.</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Be on time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Sessions restart on the clock. Attendance is recorded digitally and 75% is the funding threshold.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Ask immediately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a concept did not land, say so at once. Every later topic is built on the earlier ones.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Hands on keyboards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labs are where the learning actually happens. Type the commands, do not watch.</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Break things deliberately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Several labs ask you to cause a failure. Reading real error output is an examinable skill.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Phones on silent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Take calls outside the room so the session is not interrupted.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Your own namespace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lab runs in its own namespace. Never delete objects you did not create.</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a:t>
            </a:r>
          </a:p>
        </p:txBody>
      </p:sp>
    </p:spTree>
  </p:cSld>
  <p:clrMapOvr>
    <a:masterClrMapping/>
  </p:clrMapOvr>
  <p:transition xmlns:ns1="http://schemas.openxmlformats.org/markup-compatibility/2006" spd="fast" ns1:Ignorable="p14">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OUTLINE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Five Days at a Glance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37 instructional hours plus 3 hours of assessment, across 5 days.</a:t>
            </a:r>
          </a:p>
        </p:txBody>
      </p:sp>
      <p:sp>
        <p:nvSpPr>
          <p:cNvPr id="7" name="Rectangle 6"/>
          <p:cNvSpPr/>
          <p:nvPr/>
        </p:nvSpPr>
        <p:spPr>
          <a:xfrm>
            <a:off x="777240" y="2200046"/>
            <a:ext cx="100584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74980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a:t>
            </a:r>
          </a:p>
        </p:txBody>
      </p:sp>
      <p:sp>
        <p:nvSpPr>
          <p:cNvPr id="9" name="Rectangle 8"/>
          <p:cNvSpPr/>
          <p:nvPr/>
        </p:nvSpPr>
        <p:spPr>
          <a:xfrm>
            <a:off x="1783080" y="2200046"/>
            <a:ext cx="91440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1911096" y="2300630"/>
            <a:ext cx="65836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Hours</a:t>
            </a:r>
          </a:p>
        </p:txBody>
      </p:sp>
      <p:sp>
        <p:nvSpPr>
          <p:cNvPr id="11" name="Rectangle 10"/>
          <p:cNvSpPr/>
          <p:nvPr/>
        </p:nvSpPr>
        <p:spPr>
          <a:xfrm>
            <a:off x="2697480" y="2200046"/>
            <a:ext cx="603504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2825496" y="2300630"/>
            <a:ext cx="577900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Focus</a:t>
            </a:r>
          </a:p>
        </p:txBody>
      </p:sp>
      <p:sp>
        <p:nvSpPr>
          <p:cNvPr id="13" name="Rectangle 12"/>
          <p:cNvSpPr/>
          <p:nvPr/>
        </p:nvSpPr>
        <p:spPr>
          <a:xfrm>
            <a:off x="8732520" y="2200046"/>
            <a:ext cx="274320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860536" y="2300630"/>
            <a:ext cx="248716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Practical</a:t>
            </a:r>
          </a:p>
        </p:txBody>
      </p:sp>
      <p:sp>
        <p:nvSpPr>
          <p:cNvPr id="15" name="Rectangle 14"/>
          <p:cNvSpPr/>
          <p:nvPr/>
        </p:nvSpPr>
        <p:spPr>
          <a:xfrm>
            <a:off x="777240" y="2620670"/>
            <a:ext cx="1005840"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1</a:t>
            </a:r>
          </a:p>
        </p:txBody>
      </p:sp>
      <p:sp>
        <p:nvSpPr>
          <p:cNvPr id="17" name="Rectangle 16"/>
          <p:cNvSpPr/>
          <p:nvPr/>
        </p:nvSpPr>
        <p:spPr>
          <a:xfrm>
            <a:off x="1783080" y="2620670"/>
            <a:ext cx="91440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1911096" y="2702966"/>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8 h</a:t>
            </a:r>
          </a:p>
        </p:txBody>
      </p:sp>
      <p:sp>
        <p:nvSpPr>
          <p:cNvPr id="19" name="Rectangle 18"/>
          <p:cNvSpPr/>
          <p:nvPr/>
        </p:nvSpPr>
        <p:spPr>
          <a:xfrm>
            <a:off x="2697480" y="2620670"/>
            <a:ext cx="6035040" cy="459333"/>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2825496" y="2702966"/>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Cloud Native Foundations &amp; Kubernetes Core Concepts</a:t>
            </a:r>
          </a:p>
        </p:txBody>
      </p:sp>
      <p:sp>
        <p:nvSpPr>
          <p:cNvPr id="21" name="Rectangle 20"/>
          <p:cNvSpPr/>
          <p:nvPr/>
        </p:nvSpPr>
        <p:spPr>
          <a:xfrm>
            <a:off x="8732520" y="2620670"/>
            <a:ext cx="2743200" cy="459333"/>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860536" y="2702966"/>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5 labs · Lab 01–Lab 05</a:t>
            </a:r>
          </a:p>
        </p:txBody>
      </p:sp>
      <p:sp>
        <p:nvSpPr>
          <p:cNvPr id="23" name="Rectangle 22"/>
          <p:cNvSpPr/>
          <p:nvPr/>
        </p:nvSpPr>
        <p:spPr>
          <a:xfrm>
            <a:off x="777240" y="3080004"/>
            <a:ext cx="100584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162299"/>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2</a:t>
            </a:r>
          </a:p>
        </p:txBody>
      </p:sp>
      <p:sp>
        <p:nvSpPr>
          <p:cNvPr id="25" name="Rectangle 24"/>
          <p:cNvSpPr/>
          <p:nvPr/>
        </p:nvSpPr>
        <p:spPr>
          <a:xfrm>
            <a:off x="1783080" y="3080004"/>
            <a:ext cx="914400" cy="459333"/>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1911096" y="3162299"/>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8 h</a:t>
            </a:r>
          </a:p>
        </p:txBody>
      </p:sp>
      <p:sp>
        <p:nvSpPr>
          <p:cNvPr id="27" name="Rectangle 26"/>
          <p:cNvSpPr/>
          <p:nvPr/>
        </p:nvSpPr>
        <p:spPr>
          <a:xfrm>
            <a:off x="2697480" y="3080004"/>
            <a:ext cx="6035040" cy="459333"/>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2825496" y="3162299"/>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Workloads, Scheduling &amp; Container Orchestration</a:t>
            </a:r>
          </a:p>
        </p:txBody>
      </p:sp>
      <p:sp>
        <p:nvSpPr>
          <p:cNvPr id="29" name="Rectangle 28"/>
          <p:cNvSpPr/>
          <p:nvPr/>
        </p:nvSpPr>
        <p:spPr>
          <a:xfrm>
            <a:off x="8732520" y="3080004"/>
            <a:ext cx="2743200" cy="459333"/>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860536" y="3162299"/>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5 labs · Lab 06–Lab 10</a:t>
            </a:r>
          </a:p>
        </p:txBody>
      </p:sp>
      <p:sp>
        <p:nvSpPr>
          <p:cNvPr id="31" name="Rectangle 30"/>
          <p:cNvSpPr/>
          <p:nvPr/>
        </p:nvSpPr>
        <p:spPr>
          <a:xfrm>
            <a:off x="777240" y="3539337"/>
            <a:ext cx="1005840" cy="459333"/>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621633"/>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3</a:t>
            </a:r>
          </a:p>
        </p:txBody>
      </p:sp>
      <p:sp>
        <p:nvSpPr>
          <p:cNvPr id="33" name="Rectangle 32"/>
          <p:cNvSpPr/>
          <p:nvPr/>
        </p:nvSpPr>
        <p:spPr>
          <a:xfrm>
            <a:off x="1783080" y="3539337"/>
            <a:ext cx="914400" cy="459333"/>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1911096" y="3621633"/>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8 h</a:t>
            </a:r>
          </a:p>
        </p:txBody>
      </p:sp>
      <p:sp>
        <p:nvSpPr>
          <p:cNvPr id="35" name="Rectangle 34"/>
          <p:cNvSpPr/>
          <p:nvPr/>
        </p:nvSpPr>
        <p:spPr>
          <a:xfrm>
            <a:off x="2697480" y="3539337"/>
            <a:ext cx="6035040" cy="459333"/>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2825496" y="3621633"/>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Services, Networking &amp; Cluster Security</a:t>
            </a:r>
          </a:p>
        </p:txBody>
      </p:sp>
      <p:sp>
        <p:nvSpPr>
          <p:cNvPr id="37" name="Rectangle 36"/>
          <p:cNvSpPr/>
          <p:nvPr/>
        </p:nvSpPr>
        <p:spPr>
          <a:xfrm>
            <a:off x="8732520" y="3539337"/>
            <a:ext cx="274320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860536" y="3621633"/>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6 labs · Lab 11–Lab 16</a:t>
            </a:r>
          </a:p>
        </p:txBody>
      </p:sp>
      <p:sp>
        <p:nvSpPr>
          <p:cNvPr id="39" name="Rectangle 38"/>
          <p:cNvSpPr/>
          <p:nvPr/>
        </p:nvSpPr>
        <p:spPr>
          <a:xfrm>
            <a:off x="777240" y="3998671"/>
            <a:ext cx="1005840" cy="459333"/>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080967"/>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4</a:t>
            </a:r>
          </a:p>
        </p:txBody>
      </p:sp>
      <p:sp>
        <p:nvSpPr>
          <p:cNvPr id="41" name="Rectangle 40"/>
          <p:cNvSpPr/>
          <p:nvPr/>
        </p:nvSpPr>
        <p:spPr>
          <a:xfrm>
            <a:off x="1783080" y="3998671"/>
            <a:ext cx="914400" cy="459333"/>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1911096" y="4080967"/>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8 h</a:t>
            </a:r>
          </a:p>
        </p:txBody>
      </p:sp>
      <p:sp>
        <p:nvSpPr>
          <p:cNvPr id="43" name="Rectangle 42"/>
          <p:cNvSpPr/>
          <p:nvPr/>
        </p:nvSpPr>
        <p:spPr>
          <a:xfrm>
            <a:off x="2697480" y="3998671"/>
            <a:ext cx="603504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2825496" y="4080967"/>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Storage, Cluster Architecture &amp; Application Delivery</a:t>
            </a:r>
          </a:p>
        </p:txBody>
      </p:sp>
      <p:sp>
        <p:nvSpPr>
          <p:cNvPr id="45" name="Rectangle 44"/>
          <p:cNvSpPr/>
          <p:nvPr/>
        </p:nvSpPr>
        <p:spPr>
          <a:xfrm>
            <a:off x="8732520" y="3998671"/>
            <a:ext cx="274320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860536" y="4080967"/>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5 labs · Lab 17–Lab 21</a:t>
            </a:r>
          </a:p>
        </p:txBody>
      </p:sp>
      <p:sp>
        <p:nvSpPr>
          <p:cNvPr id="47" name="Rectangle 46"/>
          <p:cNvSpPr/>
          <p:nvPr/>
        </p:nvSpPr>
        <p:spPr>
          <a:xfrm>
            <a:off x="777240" y="4458004"/>
            <a:ext cx="1005840" cy="459333"/>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540300"/>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5</a:t>
            </a:r>
          </a:p>
        </p:txBody>
      </p:sp>
      <p:sp>
        <p:nvSpPr>
          <p:cNvPr id="49" name="Rectangle 48"/>
          <p:cNvSpPr/>
          <p:nvPr/>
        </p:nvSpPr>
        <p:spPr>
          <a:xfrm>
            <a:off x="1783080" y="4458004"/>
            <a:ext cx="914400" cy="459333"/>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1911096" y="4540300"/>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5 h</a:t>
            </a:r>
          </a:p>
        </p:txBody>
      </p:sp>
      <p:sp>
        <p:nvSpPr>
          <p:cNvPr id="51" name="Rectangle 50"/>
          <p:cNvSpPr/>
          <p:nvPr/>
        </p:nvSpPr>
        <p:spPr>
          <a:xfrm>
            <a:off x="2697480" y="4458004"/>
            <a:ext cx="6035040" cy="459333"/>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2825496" y="4540300"/>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Observability, Troubleshooting &amp; Assessment</a:t>
            </a:r>
          </a:p>
        </p:txBody>
      </p:sp>
      <p:sp>
        <p:nvSpPr>
          <p:cNvPr id="53" name="Rectangle 52"/>
          <p:cNvSpPr/>
          <p:nvPr/>
        </p:nvSpPr>
        <p:spPr>
          <a:xfrm>
            <a:off x="8732520" y="4458004"/>
            <a:ext cx="2743200" cy="459333"/>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860536" y="4540300"/>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4 labs · Lab 22–Lab 25</a:t>
            </a:r>
          </a:p>
        </p:txBody>
      </p:sp>
      <p:sp>
        <p:nvSpPr>
          <p:cNvPr id="55" name="Rectangle 54"/>
          <p:cNvSpPr/>
          <p:nvPr/>
        </p:nvSpPr>
        <p:spPr>
          <a:xfrm>
            <a:off x="777240" y="4917338"/>
            <a:ext cx="1005840" cy="459333"/>
          </a:xfrm>
          <a:prstGeom prst="rect">
            <a:avLst/>
          </a:prstGeom>
          <a:solidFill>
            <a:srgbClr val="F6F8FA"/>
          </a:solidFill>
          <a:ln w="9525">
            <a:solidFill>
              <a:srgbClr val="E2E8F0"/>
            </a:solidFill>
          </a:ln>
          <a:effectLst/>
        </p:spPr>
        <p:txBody>
          <a:bodyPr rtlCol="0" anchor="ctr" wrap="square"/>
          <a:lstStyle/>
          <a:p>
            <a:pPr algn="ctr"/>
          </a:p>
        </p:txBody>
      </p:sp>
      <p:sp>
        <p:nvSpPr>
          <p:cNvPr id="56" name="TextBox 55"/>
          <p:cNvSpPr txBox="1"/>
          <p:nvPr/>
        </p:nvSpPr>
        <p:spPr>
          <a:xfrm>
            <a:off x="905256" y="4999634"/>
            <a:ext cx="74980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Day 5</a:t>
            </a:r>
          </a:p>
        </p:txBody>
      </p:sp>
      <p:sp>
        <p:nvSpPr>
          <p:cNvPr id="57" name="Rectangle 56"/>
          <p:cNvSpPr/>
          <p:nvPr/>
        </p:nvSpPr>
        <p:spPr>
          <a:xfrm>
            <a:off x="1783080" y="4917338"/>
            <a:ext cx="914400" cy="459333"/>
          </a:xfrm>
          <a:prstGeom prst="rect">
            <a:avLst/>
          </a:prstGeom>
          <a:solidFill>
            <a:srgbClr val="F6F8FA"/>
          </a:solidFill>
          <a:ln w="9525">
            <a:solidFill>
              <a:srgbClr val="E2E8F0"/>
            </a:solidFill>
          </a:ln>
          <a:effectLst/>
        </p:spPr>
        <p:txBody>
          <a:bodyPr rtlCol="0" anchor="ctr" wrap="square"/>
          <a:lstStyle/>
          <a:p>
            <a:pPr algn="ctr"/>
          </a:p>
        </p:txBody>
      </p:sp>
      <p:sp>
        <p:nvSpPr>
          <p:cNvPr id="58" name="TextBox 57"/>
          <p:cNvSpPr txBox="1"/>
          <p:nvPr/>
        </p:nvSpPr>
        <p:spPr>
          <a:xfrm>
            <a:off x="1911096" y="4999634"/>
            <a:ext cx="6583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3 h</a:t>
            </a:r>
          </a:p>
        </p:txBody>
      </p:sp>
      <p:sp>
        <p:nvSpPr>
          <p:cNvPr id="59" name="Rectangle 58"/>
          <p:cNvSpPr/>
          <p:nvPr/>
        </p:nvSpPr>
        <p:spPr>
          <a:xfrm>
            <a:off x="2697480" y="4917338"/>
            <a:ext cx="6035040" cy="459333"/>
          </a:xfrm>
          <a:prstGeom prst="rect">
            <a:avLst/>
          </a:prstGeom>
          <a:solidFill>
            <a:srgbClr val="F6F8FA"/>
          </a:solidFill>
          <a:ln w="9525">
            <a:solidFill>
              <a:srgbClr val="E2E8F0"/>
            </a:solidFill>
          </a:ln>
          <a:effectLst/>
        </p:spPr>
        <p:txBody>
          <a:bodyPr rtlCol="0" anchor="ctr" wrap="square"/>
          <a:lstStyle/>
          <a:p>
            <a:pPr algn="ctr"/>
          </a:p>
        </p:txBody>
      </p:sp>
      <p:sp>
        <p:nvSpPr>
          <p:cNvPr id="60" name="TextBox 59"/>
          <p:cNvSpPr txBox="1"/>
          <p:nvPr/>
        </p:nvSpPr>
        <p:spPr>
          <a:xfrm>
            <a:off x="2825496" y="4999634"/>
            <a:ext cx="577900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Assessment — Written Assessment (SAQ) + Practical Performance (PP)</a:t>
            </a:r>
          </a:p>
        </p:txBody>
      </p:sp>
      <p:sp>
        <p:nvSpPr>
          <p:cNvPr id="61" name="Rectangle 60"/>
          <p:cNvSpPr/>
          <p:nvPr/>
        </p:nvSpPr>
        <p:spPr>
          <a:xfrm>
            <a:off x="8732520" y="4917338"/>
            <a:ext cx="2743200" cy="459333"/>
          </a:xfrm>
          <a:prstGeom prst="rect">
            <a:avLst/>
          </a:prstGeom>
          <a:solidFill>
            <a:srgbClr val="F6F8FA"/>
          </a:solidFill>
          <a:ln w="9525">
            <a:solidFill>
              <a:srgbClr val="E2E8F0"/>
            </a:solidFill>
          </a:ln>
          <a:effectLst/>
        </p:spPr>
        <p:txBody>
          <a:bodyPr rtlCol="0" anchor="ctr" wrap="square"/>
          <a:lstStyle/>
          <a:p>
            <a:pPr algn="ctr"/>
          </a:p>
        </p:txBody>
      </p:sp>
      <p:sp>
        <p:nvSpPr>
          <p:cNvPr id="62" name="TextBox 61"/>
          <p:cNvSpPr txBox="1"/>
          <p:nvPr/>
        </p:nvSpPr>
        <p:spPr>
          <a:xfrm>
            <a:off x="8860536" y="4999634"/>
            <a:ext cx="248716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WA 1 h · PP 2 h</a:t>
            </a:r>
          </a:p>
        </p:txBody>
      </p:sp>
      <p:sp>
        <p:nvSpPr>
          <p:cNvPr id="63" name="Rectangle 6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64" name="Rectangle 6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65" name="TextBox 6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66" name="TextBox 6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Every day ends with hands-on labs you keep and can re-run after the course.</a:t>
            </a:r>
          </a:p>
        </p:txBody>
      </p:sp>
      <p:sp>
        <p:nvSpPr>
          <p:cNvPr id="67" name="TextBox 6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8" name="TextBox 6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9" name="TextBox 6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a:t>
            </a:r>
          </a:p>
        </p:txBody>
      </p:sp>
    </p:spTree>
  </p:cSld>
  <p:clrMapOvr>
    <a:masterClrMapping/>
  </p:clrMapOvr>
  <p:transition xmlns:ns1="http://schemas.openxmlformats.org/markup-compatibility/2006" spd="fast" ns1:Ignorable="p14">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LEARNING OUTCOMES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Will Be Able To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Registered WSQ outcomes for Solution Architecture (ICT-DES-4006-1.1). These are what the assessment measures.</a:t>
            </a:r>
          </a:p>
        </p:txBody>
      </p:sp>
      <p:sp>
        <p:nvSpPr>
          <p:cNvPr id="7" name="Rectangle 6"/>
          <p:cNvSpPr/>
          <p:nvPr/>
        </p:nvSpPr>
        <p:spPr>
          <a:xfrm>
            <a:off x="777240" y="2208885"/>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50815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298369"/>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27757"/>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LO1</a:t>
            </a:r>
          </a:p>
        </p:txBody>
      </p:sp>
      <p:sp>
        <p:nvSpPr>
          <p:cNvPr id="11" name="TextBox 10"/>
          <p:cNvSpPr txBox="1"/>
          <p:nvPr/>
        </p:nvSpPr>
        <p:spPr>
          <a:xfrm>
            <a:off x="2286000" y="2318613"/>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Develop a Kubernetes architectural proof of concept.</a:t>
            </a:r>
          </a:p>
        </p:txBody>
      </p:sp>
      <p:sp>
        <p:nvSpPr>
          <p:cNvPr id="12" name="Rectangle 11"/>
          <p:cNvSpPr/>
          <p:nvPr/>
        </p:nvSpPr>
        <p:spPr>
          <a:xfrm>
            <a:off x="777240" y="2863342"/>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777240" y="2863342"/>
            <a:ext cx="50292" cy="50815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960120" y="2952826"/>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1399032" y="2982214"/>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LO2</a:t>
            </a:r>
          </a:p>
        </p:txBody>
      </p:sp>
      <p:sp>
        <p:nvSpPr>
          <p:cNvPr id="16" name="TextBox 15"/>
          <p:cNvSpPr txBox="1"/>
          <p:nvPr/>
        </p:nvSpPr>
        <p:spPr>
          <a:xfrm>
            <a:off x="2286000" y="2973070"/>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Identify the technical and practical requirements in a Kubernetes setup.</a:t>
            </a:r>
          </a:p>
        </p:txBody>
      </p:sp>
      <p:sp>
        <p:nvSpPr>
          <p:cNvPr id="17" name="Rectangle 16"/>
          <p:cNvSpPr/>
          <p:nvPr/>
        </p:nvSpPr>
        <p:spPr>
          <a:xfrm>
            <a:off x="777240" y="3517798"/>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50815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607282"/>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36670"/>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LO3</a:t>
            </a:r>
          </a:p>
        </p:txBody>
      </p:sp>
      <p:sp>
        <p:nvSpPr>
          <p:cNvPr id="21" name="TextBox 20"/>
          <p:cNvSpPr txBox="1"/>
          <p:nvPr/>
        </p:nvSpPr>
        <p:spPr>
          <a:xfrm>
            <a:off x="2286000" y="3627526"/>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Develop a solution architecture within Kubernetes.</a:t>
            </a:r>
          </a:p>
        </p:txBody>
      </p:sp>
      <p:sp>
        <p:nvSpPr>
          <p:cNvPr id="22" name="Rectangle 21"/>
          <p:cNvSpPr/>
          <p:nvPr/>
        </p:nvSpPr>
        <p:spPr>
          <a:xfrm>
            <a:off x="777240" y="4172254"/>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4172254"/>
            <a:ext cx="50292" cy="50815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261739"/>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4291126"/>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LO4</a:t>
            </a:r>
          </a:p>
        </p:txBody>
      </p:sp>
      <p:sp>
        <p:nvSpPr>
          <p:cNvPr id="26" name="TextBox 25"/>
          <p:cNvSpPr txBox="1"/>
          <p:nvPr/>
        </p:nvSpPr>
        <p:spPr>
          <a:xfrm>
            <a:off x="2286000" y="4281982"/>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Prepare a technical blueprint for a Kubernetes-based solution for security and storage.</a:t>
            </a:r>
          </a:p>
        </p:txBody>
      </p:sp>
      <p:sp>
        <p:nvSpPr>
          <p:cNvPr id="27" name="Rectangle 26"/>
          <p:cNvSpPr/>
          <p:nvPr/>
        </p:nvSpPr>
        <p:spPr>
          <a:xfrm>
            <a:off x="777240" y="4826711"/>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50815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4916195"/>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45583"/>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LO5</a:t>
            </a:r>
          </a:p>
        </p:txBody>
      </p:sp>
      <p:sp>
        <p:nvSpPr>
          <p:cNvPr id="31" name="TextBox 30"/>
          <p:cNvSpPr txBox="1"/>
          <p:nvPr/>
        </p:nvSpPr>
        <p:spPr>
          <a:xfrm>
            <a:off x="2286000" y="4936439"/>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Demonstrate Kubernetes solution for a specific business problem.</a:t>
            </a:r>
          </a:p>
        </p:txBody>
      </p:sp>
      <p:sp>
        <p:nvSpPr>
          <p:cNvPr id="32" name="Rectangle 31"/>
          <p:cNvSpPr/>
          <p:nvPr/>
        </p:nvSpPr>
        <p:spPr>
          <a:xfrm>
            <a:off x="777240" y="5481167"/>
            <a:ext cx="10698480" cy="50815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777240" y="5481167"/>
            <a:ext cx="50292" cy="50815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960120" y="557065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1399032" y="5600039"/>
            <a:ext cx="914400" cy="325272"/>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LO6</a:t>
            </a:r>
          </a:p>
        </p:txBody>
      </p:sp>
      <p:sp>
        <p:nvSpPr>
          <p:cNvPr id="36" name="TextBox 35"/>
          <p:cNvSpPr txBox="1"/>
          <p:nvPr/>
        </p:nvSpPr>
        <p:spPr>
          <a:xfrm>
            <a:off x="2286000" y="5590895"/>
            <a:ext cx="8961119" cy="334416"/>
          </a:xfrm>
          <a:prstGeom prst="rect">
            <a:avLst/>
          </a:prstGeom>
          <a:noFill/>
        </p:spPr>
        <p:txBody>
          <a:bodyPr wrap="square" lIns="0" rIns="0" tIns="0" bIns="0" anchor="t">
            <a:spAutoFit/>
          </a:bodyPr>
          <a:lstStyle/>
          <a:p>
            <a:pPr algn="l">
              <a:lnSpc>
                <a:spcPct val="105000"/>
              </a:lnSpc>
            </a:pPr>
            <a:r>
              <a:rPr sz="1100" b="0" i="0">
                <a:solidFill>
                  <a:srgbClr val="5B6372"/>
                </a:solidFill>
                <a:latin typeface="Arial"/>
              </a:rPr>
              <a:t>Implement regular monitoring of the Kubernetes system and perform necessary troubleshooting.</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a:t>
            </a:r>
          </a:p>
        </p:txBody>
      </p:sp>
    </p:spTree>
  </p:cSld>
  <p:clrMapOvr>
    <a:masterClrMapping/>
  </p:clrMapOvr>
  <p:transition xmlns:ns1="http://schemas.openxmlformats.org/markup-compatibility/2006" spd="fast" ns1:Ignorable="p14">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BRIEFING FOR ASSESSMENT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You Will Be Assessed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this before the assessment slide — you should know exactly what is coming.</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Two instruments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Written Assessment (SAQ) of 7 short-answer questions, and a Practical Performance of 6 hands-on tasks.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Timing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 1 hour, then PP 2 hours — 3 hours in total, on the afternoon of Day 5.</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Open book</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may use your Learner Guide, the lab folders and the Kubernetes documentation.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Competency based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Graded Competent (C) or Not Yet Competent (NYC). There is no percentage mark and no ranking.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Everything is taught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Nothing is assessed that is not covered in these slides and the labs you will have completed.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If you are NYC</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will be counselled and offered a re-assessment. It is a gap to close, not a failure.</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a:t>
            </a:r>
          </a:p>
        </p:txBody>
      </p:sp>
    </p:spTree>
  </p:cSld>
  <p:clrMapOvr>
    <a:masterClrMapping/>
  </p:clrMapOvr>
  <p:transition xmlns:ns1="http://schemas.openxmlformats.org/markup-compatibility/2006" spd="fast" ns1:Ignorable="p14">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ASSESSMENT &amp; FUNDING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Assessment, Attendance and Funding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Attendance and assessment requirements apply alongside the published funding eligibility and terms.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Written Assessment (SAQ)</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7 open-ended questions · 60 minutes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Practical Performance (PP)</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6 hands-on tasks · 120 minutes</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Total assessment time</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3 hours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Grading</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Competent (C) / Not Yet Competent (NYC)</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Minimum attendance</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75% of instructional hours</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Attendance system</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Course-run attendance record</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Submission</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Upload answers on the LMS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Certification</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Statement of Attainment (SOA) from SSG on competency</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Course reference</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TGS-2023039343</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Competency standard</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Solution Architecture (ICT-DES-4006-1.1)</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page: https://www.tertiarycourses.com.sg/wsq-kubernetes-and-cloud-native-associate-kcna-training.html</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a:t>
            </a:r>
          </a:p>
        </p:txBody>
      </p:sp>
    </p:spTree>
  </p:cSld>
  <p:clrMapOvr>
    <a:masterClrMapping/>
  </p:clrMapOvr>
  <p:transition xmlns:ns1="http://schemas.openxmlformats.org/markup-compatibility/2006" spd="fast" ns1:Ignorable="p14">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ASSESSMENT OVERVIEW</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Assessment Records and Evidence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Learner Guide contains the detailed assessment procedure.</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TRAQOM feedback</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Course quality and outcomes feedback; separate from attendance.</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Attendance</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Course participation and assessment-session records.</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Assessment</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Written Assessment: 60 minutes. Practical Performance: 120 minutes.</a:t>
            </a:r>
          </a:p>
        </p:txBody>
      </p:sp>
      <p:sp>
        <p:nvSpPr>
          <p:cNvPr id="22" name="Rectangle 21"/>
          <p:cNvSpPr/>
          <p:nvPr/>
        </p:nvSpPr>
        <p:spPr>
          <a:xfrm>
            <a:off x="777240"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Submitted evidence</a:t>
            </a:r>
          </a:p>
        </p:txBody>
      </p:sp>
      <p:sp>
        <p:nvSpPr>
          <p:cNvPr id="26" name="TextBox 25"/>
          <p:cNvSpPr txBox="1"/>
          <p:nvPr/>
        </p:nvSpPr>
        <p:spPr>
          <a:xfrm>
            <a:off x="1399032"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Candidate responses and practical evidence on the LMS.</a:t>
            </a:r>
          </a:p>
        </p:txBody>
      </p:sp>
      <p:sp>
        <p:nvSpPr>
          <p:cNvPr id="27" name="Rectangle 26"/>
          <p:cNvSpPr/>
          <p:nvPr/>
        </p:nvSpPr>
        <p:spPr>
          <a:xfrm>
            <a:off x="4392167"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37406"/>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Assessor record</a:t>
            </a:r>
          </a:p>
        </p:txBody>
      </p:sp>
      <p:sp>
        <p:nvSpPr>
          <p:cNvPr id="31" name="TextBox 30"/>
          <p:cNvSpPr txBox="1"/>
          <p:nvPr/>
        </p:nvSpPr>
        <p:spPr>
          <a:xfrm>
            <a:off x="5013959"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Competency decisions and the Assessment Summary Record.</a:t>
            </a:r>
          </a:p>
        </p:txBody>
      </p:sp>
      <p:sp>
        <p:nvSpPr>
          <p:cNvPr id="32" name="TextBox 3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3" name="TextBox 3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4" name="TextBox 3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a:t>
            </a:r>
          </a:p>
        </p:txBody>
      </p:sp>
    </p:spTree>
  </p:cSld>
  <p:clrMapOvr>
    <a:masterClrMapping/>
  </p:clrMapOvr>
  <p:transition xmlns:ns1="http://schemas.openxmlformats.org/markup-compatibility/2006" spd="fast" ns1:Ignorable="p14">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Your Kubernetes Playground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full commands and detailed procedures are in the Learner Guide and lab READMEs.</a:t>
            </a:r>
          </a:p>
        </p:txBody>
      </p:sp>
      <p:sp>
        <p:nvSpPr>
          <p:cNvPr id="7" name="Rectangle 6"/>
          <p:cNvSpPr/>
          <p:nvPr/>
        </p:nvSpPr>
        <p:spPr>
          <a:xfrm>
            <a:off x="777240" y="2200046"/>
            <a:ext cx="6583680" cy="3789273"/>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https://killercoda.com/playgrounds/scenario/kubernetes</a:t>
            </a:r>
          </a:p>
        </p:txBody>
      </p:sp>
      <p:sp>
        <p:nvSpPr>
          <p:cNvPr id="14" name="Rectangle 13"/>
          <p:cNvSpPr/>
          <p:nvPr/>
        </p:nvSpPr>
        <p:spPr>
          <a:xfrm>
            <a:off x="996695" y="2803550"/>
            <a:ext cx="1874519" cy="2948025"/>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948025"/>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789273"/>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Killercoda provides the recommended browser-based Kubernetes terminal.</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public repository supplies 25 individual lab folders.</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Each lab includes realistic mock data and Kubernetes YAML.</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Verification scripts check the expected results.</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https://killercoda.com/playgrounds/scenario/kubernetes</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a:t>
            </a:r>
          </a:p>
        </p:txBody>
      </p:sp>
    </p:spTree>
  </p:cSld>
  <p:clrMapOvr>
    <a:masterClrMapping/>
  </p:clrMapOvr>
  <p:transition xmlns:ns1="http://schemas.openxmlformats.org/markup-compatibility/2006" spd="fast" ns1:Ignorable="p14">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Your Course Resources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Current materials are linked from the enrolled course on the LMS.</a:t>
            </a:r>
          </a:p>
        </p:txBody>
      </p:sp>
      <p:sp>
        <p:nvSpPr>
          <p:cNvPr id="7" name="Rectangle 6"/>
          <p:cNvSpPr/>
          <p:nvPr/>
        </p:nvSpPr>
        <p:spPr>
          <a:xfrm>
            <a:off x="777240" y="2200046"/>
            <a:ext cx="6583680" cy="3789273"/>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https://lms-tms.tertiaryinfotech.com/</a:t>
            </a:r>
          </a:p>
        </p:txBody>
      </p:sp>
      <p:sp>
        <p:nvSpPr>
          <p:cNvPr id="14" name="Rectangle 13"/>
          <p:cNvSpPr/>
          <p:nvPr/>
        </p:nvSpPr>
        <p:spPr>
          <a:xfrm>
            <a:off x="996695" y="2803550"/>
            <a:ext cx="1874519" cy="2948025"/>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948025"/>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789273"/>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PPT and PDF slides explain the mechanisms.</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Learner Guide provides detailed procedures and reference material.</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Lab folders contain mock data, YAML and checks.</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Candidate papers and submission records support the WSQ assessment.</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https://lms-tms.tertiaryinfotech.com/</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a:t>
            </a:r>
          </a:p>
        </p:txBody>
      </p:sp>
    </p:spTree>
  </p:cSld>
  <p:clrMapOvr>
    <a:masterClrMapping/>
  </p:clrMapOvr>
  <p:transition xmlns:ns1="http://schemas.openxmlformats.org/markup-compatibility/2006" spd="fast" ns1:Ignorable="p14">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KCNA Practice Resource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Practice material complements the course; the official curriculum remains authoritative.</a:t>
            </a:r>
          </a:p>
        </p:txBody>
      </p:sp>
      <p:sp>
        <p:nvSpPr>
          <p:cNvPr id="7" name="Rectangle 6"/>
          <p:cNvSpPr/>
          <p:nvPr/>
        </p:nvSpPr>
        <p:spPr>
          <a:xfrm>
            <a:off x="777240" y="2200046"/>
            <a:ext cx="6583680" cy="3789273"/>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https://exams.tertiaryinfotech.com/practice-exams/linuxfoundation/linuxfoundation-kcna</a:t>
            </a:r>
          </a:p>
        </p:txBody>
      </p:sp>
      <p:sp>
        <p:nvSpPr>
          <p:cNvPr id="14" name="Rectangle 13"/>
          <p:cNvSpPr/>
          <p:nvPr/>
        </p:nvSpPr>
        <p:spPr>
          <a:xfrm>
            <a:off x="996695" y="2803550"/>
            <a:ext cx="1874519" cy="2948025"/>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948025"/>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789273"/>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Supplementary practice supports concept review.</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This resource is separate from the official KCNA examination.</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current CNCF curriculum defines the examinable domains.</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Practice results identify topics for further study.</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https://exams.tertiaryinfotech.com/practice-exams/linuxfoundation/linuxfoundation-kcna</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a:t>
            </a:r>
          </a:p>
        </p:txBody>
      </p:sp>
    </p:spTree>
  </p:cSld>
  <p:clrMapOvr>
    <a:masterClrMapping/>
  </p:clrMapOvr>
  <p:transition xmlns:ns1="http://schemas.openxmlformats.org/markup-compatibility/2006" spd="fast" ns1:Ignorable="p14">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1 ROADMAP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Seven Modules, Five Labs, One Mental Model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Today builds the vocabulary the rest of the week assumes. Nothing after today re-explains a Pod.</a:t>
            </a:r>
          </a:p>
        </p:txBody>
      </p:sp>
      <p:sp>
        <p:nvSpPr>
          <p:cNvPr id="7" name="Rectangle 6"/>
          <p:cNvSpPr/>
          <p:nvPr/>
        </p:nvSpPr>
        <p:spPr>
          <a:xfrm>
            <a:off x="777240" y="2200046"/>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37590"/>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454249"/>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1 · Cloud native and the CNCF</a:t>
            </a:r>
          </a:p>
        </p:txBody>
      </p:sp>
      <p:sp>
        <p:nvSpPr>
          <p:cNvPr id="11" name="TextBox 10"/>
          <p:cNvSpPr txBox="1"/>
          <p:nvPr/>
        </p:nvSpPr>
        <p:spPr>
          <a:xfrm>
            <a:off x="1399032" y="2657246"/>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What the word means, who governs the projects, and why orchestration exists at all.</a:t>
            </a:r>
          </a:p>
        </p:txBody>
      </p:sp>
      <p:sp>
        <p:nvSpPr>
          <p:cNvPr id="12" name="Rectangle 11"/>
          <p:cNvSpPr/>
          <p:nvPr/>
        </p:nvSpPr>
        <p:spPr>
          <a:xfrm>
            <a:off x="6199631" y="2200046"/>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837590"/>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454249"/>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2 · Containerization</a:t>
            </a:r>
          </a:p>
        </p:txBody>
      </p:sp>
      <p:sp>
        <p:nvSpPr>
          <p:cNvPr id="16" name="TextBox 15"/>
          <p:cNvSpPr txBox="1"/>
          <p:nvPr/>
        </p:nvSpPr>
        <p:spPr>
          <a:xfrm>
            <a:off x="6821423" y="2657246"/>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Namespaces, cgroups, union filesystems, the OCI specs and the CRI boundary the kubelet talks across.</a:t>
            </a:r>
          </a:p>
        </p:txBody>
      </p:sp>
      <p:sp>
        <p:nvSpPr>
          <p:cNvPr id="17" name="Rectangle 16"/>
          <p:cNvSpPr/>
          <p:nvPr/>
        </p:nvSpPr>
        <p:spPr>
          <a:xfrm>
            <a:off x="777240" y="3183940"/>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183940"/>
            <a:ext cx="50292" cy="837590"/>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438144"/>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339388"/>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3 · The Kubernetes API</a:t>
            </a:r>
          </a:p>
        </p:txBody>
      </p:sp>
      <p:sp>
        <p:nvSpPr>
          <p:cNvPr id="21" name="TextBox 20"/>
          <p:cNvSpPr txBox="1"/>
          <p:nvPr/>
        </p:nvSpPr>
        <p:spPr>
          <a:xfrm>
            <a:off x="1399032" y="3641140"/>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Resources, groups, versions and verbs; the control loop; kubectl as an ordinary HTTPS client.  Lab 01.</a:t>
            </a:r>
          </a:p>
        </p:txBody>
      </p:sp>
      <p:sp>
        <p:nvSpPr>
          <p:cNvPr id="22" name="Rectangle 21"/>
          <p:cNvSpPr/>
          <p:nvPr/>
        </p:nvSpPr>
        <p:spPr>
          <a:xfrm>
            <a:off x="6199631" y="3183940"/>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183940"/>
            <a:ext cx="50292" cy="837590"/>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438144"/>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339388"/>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4 · Understanding Pods</a:t>
            </a:r>
          </a:p>
        </p:txBody>
      </p:sp>
      <p:sp>
        <p:nvSpPr>
          <p:cNvPr id="26" name="TextBox 25"/>
          <p:cNvSpPr txBox="1"/>
          <p:nvPr/>
        </p:nvSpPr>
        <p:spPr>
          <a:xfrm>
            <a:off x="6821423" y="3641140"/>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Why a Pod is not a container, the Pod manifest field by field, and exposing ports.  Lab 02.</a:t>
            </a:r>
          </a:p>
        </p:txBody>
      </p:sp>
      <p:sp>
        <p:nvSpPr>
          <p:cNvPr id="27" name="Rectangle 26"/>
          <p:cNvSpPr/>
          <p:nvPr/>
        </p:nvSpPr>
        <p:spPr>
          <a:xfrm>
            <a:off x="777240" y="4167835"/>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167835"/>
            <a:ext cx="50292" cy="837590"/>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442203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32328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5 · Commands, args and config</a:t>
            </a:r>
          </a:p>
        </p:txBody>
      </p:sp>
      <p:sp>
        <p:nvSpPr>
          <p:cNvPr id="31" name="TextBox 30"/>
          <p:cNvSpPr txBox="1"/>
          <p:nvPr/>
        </p:nvSpPr>
        <p:spPr>
          <a:xfrm>
            <a:off x="1399032" y="4625035"/>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command/args against image ENTRYPOINT/CMD, env, envFrom and the downward API.  Lab 03.</a:t>
            </a:r>
          </a:p>
        </p:txBody>
      </p:sp>
      <p:sp>
        <p:nvSpPr>
          <p:cNvPr id="32" name="Rectangle 31"/>
          <p:cNvSpPr/>
          <p:nvPr/>
        </p:nvSpPr>
        <p:spPr>
          <a:xfrm>
            <a:off x="6199631" y="4167835"/>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167835"/>
            <a:ext cx="50292" cy="837590"/>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442203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32328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6 · Multi-container patterns</a:t>
            </a:r>
          </a:p>
        </p:txBody>
      </p:sp>
      <p:sp>
        <p:nvSpPr>
          <p:cNvPr id="36" name="TextBox 35"/>
          <p:cNvSpPr txBox="1"/>
          <p:nvPr/>
        </p:nvSpPr>
        <p:spPr>
          <a:xfrm>
            <a:off x="6821423" y="4625035"/>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Sidecar, adapter, ambassador, init containers and native sidecars.  Lab 04.</a:t>
            </a:r>
          </a:p>
        </p:txBody>
      </p:sp>
      <p:sp>
        <p:nvSpPr>
          <p:cNvPr id="37" name="Rectangle 36"/>
          <p:cNvSpPr/>
          <p:nvPr/>
        </p:nvSpPr>
        <p:spPr>
          <a:xfrm>
            <a:off x="777240" y="5151729"/>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38" name="Rectangle 37"/>
          <p:cNvSpPr/>
          <p:nvPr/>
        </p:nvSpPr>
        <p:spPr>
          <a:xfrm>
            <a:off x="777240" y="5151729"/>
            <a:ext cx="50292" cy="837590"/>
          </a:xfrm>
          <a:prstGeom prst="rect">
            <a:avLst/>
          </a:prstGeom>
          <a:solidFill>
            <a:srgbClr val="7C3AED"/>
          </a:solidFill>
          <a:ln>
            <a:noFill/>
          </a:ln>
          <a:effectLst/>
        </p:spPr>
        <p:txBody>
          <a:bodyPr rtlCol="0" anchor="ctr" wrap="square"/>
          <a:lstStyle/>
          <a:p>
            <a:pPr algn="ctr"/>
          </a:p>
        </p:txBody>
      </p:sp>
      <p:sp>
        <p:nvSpPr>
          <p:cNvPr id="39" name="Oval 38"/>
          <p:cNvSpPr/>
          <p:nvPr/>
        </p:nvSpPr>
        <p:spPr>
          <a:xfrm>
            <a:off x="960120" y="5405932"/>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7</a:t>
            </a:r>
          </a:p>
        </p:txBody>
      </p:sp>
      <p:sp>
        <p:nvSpPr>
          <p:cNvPr id="40" name="TextBox 39"/>
          <p:cNvSpPr txBox="1"/>
          <p:nvPr/>
        </p:nvSpPr>
        <p:spPr>
          <a:xfrm>
            <a:off x="1399032" y="5307177"/>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7 · Images and registries</a:t>
            </a:r>
          </a:p>
        </p:txBody>
      </p:sp>
      <p:sp>
        <p:nvSpPr>
          <p:cNvPr id="41" name="TextBox 40"/>
          <p:cNvSpPr txBox="1"/>
          <p:nvPr/>
        </p:nvSpPr>
        <p:spPr>
          <a:xfrm>
            <a:off x="1399032" y="5608929"/>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Reference anatomy, digests, imagePullPolicy and the pull path through the CRI.  Lab 05.</a:t>
            </a:r>
          </a:p>
        </p:txBody>
      </p:sp>
      <p:sp>
        <p:nvSpPr>
          <p:cNvPr id="42" name="Rectangle 41"/>
          <p:cNvSpPr/>
          <p:nvPr/>
        </p:nvSpPr>
        <p:spPr>
          <a:xfrm>
            <a:off x="6199631" y="5151729"/>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43" name="Rectangle 42"/>
          <p:cNvSpPr/>
          <p:nvPr/>
        </p:nvSpPr>
        <p:spPr>
          <a:xfrm>
            <a:off x="6199631" y="5151729"/>
            <a:ext cx="50292" cy="837590"/>
          </a:xfrm>
          <a:prstGeom prst="rect">
            <a:avLst/>
          </a:prstGeom>
          <a:solidFill>
            <a:srgbClr val="F59E0B"/>
          </a:solidFill>
          <a:ln>
            <a:noFill/>
          </a:ln>
          <a:effectLst/>
        </p:spPr>
        <p:txBody>
          <a:bodyPr rtlCol="0" anchor="ctr" wrap="square"/>
          <a:lstStyle/>
          <a:p>
            <a:pPr algn="ctr"/>
          </a:p>
        </p:txBody>
      </p:sp>
      <p:sp>
        <p:nvSpPr>
          <p:cNvPr id="44" name="Oval 43"/>
          <p:cNvSpPr/>
          <p:nvPr/>
        </p:nvSpPr>
        <p:spPr>
          <a:xfrm>
            <a:off x="6382512" y="5405932"/>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8</a:t>
            </a:r>
          </a:p>
        </p:txBody>
      </p:sp>
      <p:sp>
        <p:nvSpPr>
          <p:cNvPr id="45" name="TextBox 44"/>
          <p:cNvSpPr txBox="1"/>
          <p:nvPr/>
        </p:nvSpPr>
        <p:spPr>
          <a:xfrm>
            <a:off x="6821423" y="5307177"/>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Assessment thread</a:t>
            </a:r>
          </a:p>
        </p:txBody>
      </p:sp>
      <p:sp>
        <p:nvSpPr>
          <p:cNvPr id="46" name="TextBox 45"/>
          <p:cNvSpPr txBox="1"/>
          <p:nvPr/>
        </p:nvSpPr>
        <p:spPr>
          <a:xfrm>
            <a:off x="6821423" y="5608929"/>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module produces evidence you will reuse in the LO1 proof-of-concept task on Day 5.</a:t>
            </a:r>
          </a:p>
        </p:txBody>
      </p:sp>
      <p:sp>
        <p:nvSpPr>
          <p:cNvPr id="47" name="TextBox 4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8" name="TextBox 4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9" name="TextBox 4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a:t>
            </a:r>
          </a:p>
        </p:txBody>
      </p:sp>
    </p:spTree>
  </p:cSld>
  <p:clrMapOvr>
    <a:masterClrMapping/>
  </p:clrMapOvr>
  <p:transition xmlns:ns1="http://schemas.openxmlformats.org/markup-compatibility/2006" spd="fast" ns1:Ignorable="p14">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LESSON PLAN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600" b="1" i="0">
                <a:solidFill>
                  <a:srgbClr val="161B26"/>
                </a:solidFill>
                <a:latin typeface="Arial"/>
              </a:rPr>
              <a:t>Day 1 — Cloud Native Foundations &amp; Kubernetes Core Concepts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8.0 hours of instructional time. Breaks are not counted as instructional time.</a:t>
            </a:r>
          </a:p>
        </p:txBody>
      </p:sp>
      <p:sp>
        <p:nvSpPr>
          <p:cNvPr id="7" name="Rectangle 6"/>
          <p:cNvSpPr/>
          <p:nvPr/>
        </p:nvSpPr>
        <p:spPr>
          <a:xfrm>
            <a:off x="777240" y="2200046"/>
            <a:ext cx="1691640" cy="384048"/>
          </a:xfrm>
          <a:prstGeom prst="rect">
            <a:avLst/>
          </a:prstGeom>
          <a:solidFill>
            <a:srgbClr val="7C3AED"/>
          </a:solidFill>
          <a:ln>
            <a:noFill/>
          </a:ln>
          <a:effectLst/>
        </p:spPr>
        <p:txBody>
          <a:bodyPr rtlCol="0" anchor="ctr" wrap="square"/>
          <a:lstStyle/>
          <a:p>
            <a:pPr algn="ctr"/>
          </a:p>
        </p:txBody>
      </p:sp>
      <p:sp>
        <p:nvSpPr>
          <p:cNvPr id="8" name="TextBox 7"/>
          <p:cNvSpPr txBox="1"/>
          <p:nvPr/>
        </p:nvSpPr>
        <p:spPr>
          <a:xfrm>
            <a:off x="905256" y="2291486"/>
            <a:ext cx="143560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Time</a:t>
            </a:r>
          </a:p>
        </p:txBody>
      </p:sp>
      <p:sp>
        <p:nvSpPr>
          <p:cNvPr id="9" name="Rectangle 8"/>
          <p:cNvSpPr/>
          <p:nvPr/>
        </p:nvSpPr>
        <p:spPr>
          <a:xfrm>
            <a:off x="2468880" y="2200046"/>
            <a:ext cx="1143000" cy="384048"/>
          </a:xfrm>
          <a:prstGeom prst="rect">
            <a:avLst/>
          </a:prstGeom>
          <a:solidFill>
            <a:srgbClr val="7C3AED"/>
          </a:solidFill>
          <a:ln>
            <a:noFill/>
          </a:ln>
          <a:effectLst/>
        </p:spPr>
        <p:txBody>
          <a:bodyPr rtlCol="0" anchor="ctr" wrap="square"/>
          <a:lstStyle/>
          <a:p>
            <a:pPr algn="ctr"/>
          </a:p>
        </p:txBody>
      </p:sp>
      <p:sp>
        <p:nvSpPr>
          <p:cNvPr id="10" name="TextBox 9"/>
          <p:cNvSpPr txBox="1"/>
          <p:nvPr/>
        </p:nvSpPr>
        <p:spPr>
          <a:xfrm>
            <a:off x="2596896" y="2291486"/>
            <a:ext cx="88696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Duration</a:t>
            </a:r>
          </a:p>
        </p:txBody>
      </p:sp>
      <p:sp>
        <p:nvSpPr>
          <p:cNvPr id="11" name="Rectangle 10"/>
          <p:cNvSpPr/>
          <p:nvPr/>
        </p:nvSpPr>
        <p:spPr>
          <a:xfrm>
            <a:off x="3611880" y="2200046"/>
            <a:ext cx="5577840" cy="384048"/>
          </a:xfrm>
          <a:prstGeom prst="rect">
            <a:avLst/>
          </a:prstGeom>
          <a:solidFill>
            <a:srgbClr val="7C3AED"/>
          </a:solidFill>
          <a:ln>
            <a:noFill/>
          </a:ln>
          <a:effectLst/>
        </p:spPr>
        <p:txBody>
          <a:bodyPr rtlCol="0" anchor="ctr" wrap="square"/>
          <a:lstStyle/>
          <a:p>
            <a:pPr algn="ctr"/>
          </a:p>
        </p:txBody>
      </p:sp>
      <p:sp>
        <p:nvSpPr>
          <p:cNvPr id="12" name="TextBox 11"/>
          <p:cNvSpPr txBox="1"/>
          <p:nvPr/>
        </p:nvSpPr>
        <p:spPr>
          <a:xfrm>
            <a:off x="3739896" y="2291486"/>
            <a:ext cx="532180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Session</a:t>
            </a:r>
          </a:p>
        </p:txBody>
      </p:sp>
      <p:sp>
        <p:nvSpPr>
          <p:cNvPr id="13" name="Rectangle 12"/>
          <p:cNvSpPr/>
          <p:nvPr/>
        </p:nvSpPr>
        <p:spPr>
          <a:xfrm>
            <a:off x="9189720" y="2200046"/>
            <a:ext cx="2286000" cy="384048"/>
          </a:xfrm>
          <a:prstGeom prst="rect">
            <a:avLst/>
          </a:prstGeom>
          <a:solidFill>
            <a:srgbClr val="7C3AED"/>
          </a:solidFill>
          <a:ln>
            <a:noFill/>
          </a:ln>
          <a:effectLst/>
        </p:spPr>
        <p:txBody>
          <a:bodyPr rtlCol="0" anchor="ctr" wrap="square"/>
          <a:lstStyle/>
          <a:p>
            <a:pPr algn="ctr"/>
          </a:p>
        </p:txBody>
      </p:sp>
      <p:sp>
        <p:nvSpPr>
          <p:cNvPr id="14" name="TextBox 13"/>
          <p:cNvSpPr txBox="1"/>
          <p:nvPr/>
        </p:nvSpPr>
        <p:spPr>
          <a:xfrm>
            <a:off x="9317736" y="2291486"/>
            <a:ext cx="202996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Method</a:t>
            </a:r>
          </a:p>
        </p:txBody>
      </p:sp>
      <p:sp>
        <p:nvSpPr>
          <p:cNvPr id="15" name="Rectangle 14"/>
          <p:cNvSpPr/>
          <p:nvPr/>
        </p:nvSpPr>
        <p:spPr>
          <a:xfrm>
            <a:off x="777240" y="25840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657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9:30 – 11:00 AM</a:t>
            </a:r>
          </a:p>
        </p:txBody>
      </p:sp>
      <p:sp>
        <p:nvSpPr>
          <p:cNvPr id="17" name="Rectangle 16"/>
          <p:cNvSpPr/>
          <p:nvPr/>
        </p:nvSpPr>
        <p:spPr>
          <a:xfrm>
            <a:off x="2468880" y="25840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596896" y="2657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 h 30 m</a:t>
            </a:r>
          </a:p>
        </p:txBody>
      </p:sp>
      <p:sp>
        <p:nvSpPr>
          <p:cNvPr id="19" name="Rectangle 18"/>
          <p:cNvSpPr/>
          <p:nvPr/>
        </p:nvSpPr>
        <p:spPr>
          <a:xfrm>
            <a:off x="3611880" y="25840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3739896" y="2657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1</a:t>
            </a:r>
          </a:p>
        </p:txBody>
      </p:sp>
      <p:sp>
        <p:nvSpPr>
          <p:cNvPr id="21" name="Rectangle 20"/>
          <p:cNvSpPr/>
          <p:nvPr/>
        </p:nvSpPr>
        <p:spPr>
          <a:xfrm>
            <a:off x="9189720" y="25840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317736" y="2657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Demo</a:t>
            </a:r>
          </a:p>
        </p:txBody>
      </p:sp>
      <p:sp>
        <p:nvSpPr>
          <p:cNvPr id="23" name="Rectangle 22"/>
          <p:cNvSpPr/>
          <p:nvPr/>
        </p:nvSpPr>
        <p:spPr>
          <a:xfrm>
            <a:off x="777240" y="30412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24" name="TextBox 23"/>
          <p:cNvSpPr txBox="1"/>
          <p:nvPr/>
        </p:nvSpPr>
        <p:spPr>
          <a:xfrm>
            <a:off x="905256" y="3114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11:00 – 11:10 AM</a:t>
            </a:r>
          </a:p>
        </p:txBody>
      </p:sp>
      <p:sp>
        <p:nvSpPr>
          <p:cNvPr id="25" name="Rectangle 24"/>
          <p:cNvSpPr/>
          <p:nvPr/>
        </p:nvSpPr>
        <p:spPr>
          <a:xfrm>
            <a:off x="2468880" y="30412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26" name="TextBox 25"/>
          <p:cNvSpPr txBox="1"/>
          <p:nvPr/>
        </p:nvSpPr>
        <p:spPr>
          <a:xfrm>
            <a:off x="2596896" y="3114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27" name="Rectangle 26"/>
          <p:cNvSpPr/>
          <p:nvPr/>
        </p:nvSpPr>
        <p:spPr>
          <a:xfrm>
            <a:off x="3611880" y="30412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28" name="TextBox 27"/>
          <p:cNvSpPr txBox="1"/>
          <p:nvPr/>
        </p:nvSpPr>
        <p:spPr>
          <a:xfrm>
            <a:off x="3739896" y="3114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Morning Break</a:t>
            </a:r>
          </a:p>
        </p:txBody>
      </p:sp>
      <p:sp>
        <p:nvSpPr>
          <p:cNvPr id="29" name="Rectangle 28"/>
          <p:cNvSpPr/>
          <p:nvPr/>
        </p:nvSpPr>
        <p:spPr>
          <a:xfrm>
            <a:off x="9189720" y="30412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30" name="TextBox 29"/>
          <p:cNvSpPr txBox="1"/>
          <p:nvPr/>
        </p:nvSpPr>
        <p:spPr>
          <a:xfrm>
            <a:off x="9317736" y="3114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31" name="Rectangle 30"/>
          <p:cNvSpPr/>
          <p:nvPr/>
        </p:nvSpPr>
        <p:spPr>
          <a:xfrm>
            <a:off x="777240" y="34984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5716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11:10 AM – 1:10 PM</a:t>
            </a:r>
          </a:p>
        </p:txBody>
      </p:sp>
      <p:sp>
        <p:nvSpPr>
          <p:cNvPr id="33" name="Rectangle 32"/>
          <p:cNvSpPr/>
          <p:nvPr/>
        </p:nvSpPr>
        <p:spPr>
          <a:xfrm>
            <a:off x="2468880" y="34984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596896" y="35716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35" name="Rectangle 34"/>
          <p:cNvSpPr/>
          <p:nvPr/>
        </p:nvSpPr>
        <p:spPr>
          <a:xfrm>
            <a:off x="3611880" y="34984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3739896" y="35716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2</a:t>
            </a:r>
          </a:p>
        </p:txBody>
      </p:sp>
      <p:sp>
        <p:nvSpPr>
          <p:cNvPr id="37" name="Rectangle 36"/>
          <p:cNvSpPr/>
          <p:nvPr/>
        </p:nvSpPr>
        <p:spPr>
          <a:xfrm>
            <a:off x="9189720" y="34984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317736" y="35716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Practical</a:t>
            </a:r>
          </a:p>
        </p:txBody>
      </p:sp>
      <p:sp>
        <p:nvSpPr>
          <p:cNvPr id="39" name="Rectangle 38"/>
          <p:cNvSpPr/>
          <p:nvPr/>
        </p:nvSpPr>
        <p:spPr>
          <a:xfrm>
            <a:off x="777240" y="39556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40" name="TextBox 39"/>
          <p:cNvSpPr txBox="1"/>
          <p:nvPr/>
        </p:nvSpPr>
        <p:spPr>
          <a:xfrm>
            <a:off x="905256" y="40288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 – 1:50 PM</a:t>
            </a:r>
          </a:p>
        </p:txBody>
      </p:sp>
      <p:sp>
        <p:nvSpPr>
          <p:cNvPr id="41" name="Rectangle 40"/>
          <p:cNvSpPr/>
          <p:nvPr/>
        </p:nvSpPr>
        <p:spPr>
          <a:xfrm>
            <a:off x="2468880" y="39556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42" name="TextBox 41"/>
          <p:cNvSpPr txBox="1"/>
          <p:nvPr/>
        </p:nvSpPr>
        <p:spPr>
          <a:xfrm>
            <a:off x="2596896" y="40288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40 m</a:t>
            </a:r>
          </a:p>
        </p:txBody>
      </p:sp>
      <p:sp>
        <p:nvSpPr>
          <p:cNvPr id="43" name="Rectangle 42"/>
          <p:cNvSpPr/>
          <p:nvPr/>
        </p:nvSpPr>
        <p:spPr>
          <a:xfrm>
            <a:off x="3611880" y="39556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44" name="TextBox 43"/>
          <p:cNvSpPr txBox="1"/>
          <p:nvPr/>
        </p:nvSpPr>
        <p:spPr>
          <a:xfrm>
            <a:off x="3739896" y="40288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Lunch Break</a:t>
            </a:r>
          </a:p>
        </p:txBody>
      </p:sp>
      <p:sp>
        <p:nvSpPr>
          <p:cNvPr id="45" name="Rectangle 44"/>
          <p:cNvSpPr/>
          <p:nvPr/>
        </p:nvSpPr>
        <p:spPr>
          <a:xfrm>
            <a:off x="9189720" y="39556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46" name="TextBox 45"/>
          <p:cNvSpPr txBox="1"/>
          <p:nvPr/>
        </p:nvSpPr>
        <p:spPr>
          <a:xfrm>
            <a:off x="9317736" y="40288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47" name="Rectangle 46"/>
          <p:cNvSpPr/>
          <p:nvPr/>
        </p:nvSpPr>
        <p:spPr>
          <a:xfrm>
            <a:off x="777240" y="44128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4860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1:50 – 3:50 PM</a:t>
            </a:r>
          </a:p>
        </p:txBody>
      </p:sp>
      <p:sp>
        <p:nvSpPr>
          <p:cNvPr id="49" name="Rectangle 48"/>
          <p:cNvSpPr/>
          <p:nvPr/>
        </p:nvSpPr>
        <p:spPr>
          <a:xfrm>
            <a:off x="2468880" y="44128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596896" y="44860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51" name="Rectangle 50"/>
          <p:cNvSpPr/>
          <p:nvPr/>
        </p:nvSpPr>
        <p:spPr>
          <a:xfrm>
            <a:off x="3611880" y="44128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3739896" y="44860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3</a:t>
            </a:r>
          </a:p>
        </p:txBody>
      </p:sp>
      <p:sp>
        <p:nvSpPr>
          <p:cNvPr id="53" name="Rectangle 52"/>
          <p:cNvSpPr/>
          <p:nvPr/>
        </p:nvSpPr>
        <p:spPr>
          <a:xfrm>
            <a:off x="9189720" y="44128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9317736" y="44860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Didactic questioning</a:t>
            </a:r>
          </a:p>
        </p:txBody>
      </p:sp>
      <p:sp>
        <p:nvSpPr>
          <p:cNvPr id="55" name="Rectangle 54"/>
          <p:cNvSpPr/>
          <p:nvPr/>
        </p:nvSpPr>
        <p:spPr>
          <a:xfrm>
            <a:off x="777240" y="48700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56" name="TextBox 55"/>
          <p:cNvSpPr txBox="1"/>
          <p:nvPr/>
        </p:nvSpPr>
        <p:spPr>
          <a:xfrm>
            <a:off x="905256" y="4943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3:50 – 4:00 PM</a:t>
            </a:r>
          </a:p>
        </p:txBody>
      </p:sp>
      <p:sp>
        <p:nvSpPr>
          <p:cNvPr id="57" name="Rectangle 56"/>
          <p:cNvSpPr/>
          <p:nvPr/>
        </p:nvSpPr>
        <p:spPr>
          <a:xfrm>
            <a:off x="2468880" y="48700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58" name="TextBox 57"/>
          <p:cNvSpPr txBox="1"/>
          <p:nvPr/>
        </p:nvSpPr>
        <p:spPr>
          <a:xfrm>
            <a:off x="2596896" y="4943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59" name="Rectangle 58"/>
          <p:cNvSpPr/>
          <p:nvPr/>
        </p:nvSpPr>
        <p:spPr>
          <a:xfrm>
            <a:off x="3611880" y="48700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60" name="TextBox 59"/>
          <p:cNvSpPr txBox="1"/>
          <p:nvPr/>
        </p:nvSpPr>
        <p:spPr>
          <a:xfrm>
            <a:off x="3739896" y="4943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Afternoon Break</a:t>
            </a:r>
          </a:p>
        </p:txBody>
      </p:sp>
      <p:sp>
        <p:nvSpPr>
          <p:cNvPr id="61" name="Rectangle 60"/>
          <p:cNvSpPr/>
          <p:nvPr/>
        </p:nvSpPr>
        <p:spPr>
          <a:xfrm>
            <a:off x="9189720" y="48700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62" name="TextBox 61"/>
          <p:cNvSpPr txBox="1"/>
          <p:nvPr/>
        </p:nvSpPr>
        <p:spPr>
          <a:xfrm>
            <a:off x="9317736" y="4943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63" name="Rectangle 62"/>
          <p:cNvSpPr/>
          <p:nvPr/>
        </p:nvSpPr>
        <p:spPr>
          <a:xfrm>
            <a:off x="777240" y="53272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64" name="TextBox 63"/>
          <p:cNvSpPr txBox="1"/>
          <p:nvPr/>
        </p:nvSpPr>
        <p:spPr>
          <a:xfrm>
            <a:off x="905256" y="5400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4:00 – 6:30 PM</a:t>
            </a:r>
          </a:p>
        </p:txBody>
      </p:sp>
      <p:sp>
        <p:nvSpPr>
          <p:cNvPr id="65" name="Rectangle 64"/>
          <p:cNvSpPr/>
          <p:nvPr/>
        </p:nvSpPr>
        <p:spPr>
          <a:xfrm>
            <a:off x="2468880" y="53272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66" name="TextBox 65"/>
          <p:cNvSpPr txBox="1"/>
          <p:nvPr/>
        </p:nvSpPr>
        <p:spPr>
          <a:xfrm>
            <a:off x="2596896" y="5400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30 m</a:t>
            </a:r>
          </a:p>
        </p:txBody>
      </p:sp>
      <p:sp>
        <p:nvSpPr>
          <p:cNvPr id="67" name="Rectangle 66"/>
          <p:cNvSpPr/>
          <p:nvPr/>
        </p:nvSpPr>
        <p:spPr>
          <a:xfrm>
            <a:off x="3611880" y="53272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68" name="TextBox 67"/>
          <p:cNvSpPr txBox="1"/>
          <p:nvPr/>
        </p:nvSpPr>
        <p:spPr>
          <a:xfrm>
            <a:off x="3739896" y="5400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4</a:t>
            </a:r>
          </a:p>
        </p:txBody>
      </p:sp>
      <p:sp>
        <p:nvSpPr>
          <p:cNvPr id="69" name="Rectangle 68"/>
          <p:cNvSpPr/>
          <p:nvPr/>
        </p:nvSpPr>
        <p:spPr>
          <a:xfrm>
            <a:off x="9189720" y="53272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70" name="TextBox 69"/>
          <p:cNvSpPr txBox="1"/>
          <p:nvPr/>
        </p:nvSpPr>
        <p:spPr>
          <a:xfrm>
            <a:off x="9317736" y="5400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Demonstration</a:t>
            </a:r>
          </a:p>
        </p:txBody>
      </p:sp>
      <p:sp>
        <p:nvSpPr>
          <p:cNvPr id="71" name="TextBox 7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2" name="TextBox 7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3" name="TextBox 7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a:t>
            </a:r>
          </a:p>
        </p:txBody>
      </p:sp>
    </p:spTree>
  </p:cSld>
  <p:clrMapOvr>
    <a:masterClrMapping/>
  </p:clrMapOvr>
  <p:transition xmlns:ns1="http://schemas.openxmlformats.org/markup-compatibility/2006" spd="fast" ns1:Ignorable="p14">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CERTIFICATION TARGET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KCNA Exam Blueprint You Are Training Against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domains, effective 24 November 2025. This is the current blueprint — not the superseded five-domain split.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3"/>
          </a:graphicData>
        </a:graphic>
      </p:graphicFrame>
      <p:sp>
        <p:nvSpPr>
          <p:cNvPr id="8" name="Rectangle 7"/>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44% Kubernetes Fundamentals</a:t>
            </a:r>
          </a:p>
        </p:txBody>
      </p:sp>
      <p:sp>
        <p:nvSpPr>
          <p:cNvPr id="12" name="TextBox 11"/>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Core concepts, administration, scheduling and containerization. Day 1 and Day 2 own this domain.</a:t>
            </a:r>
          </a:p>
        </p:txBody>
      </p:sp>
      <p:sp>
        <p:nvSpPr>
          <p:cNvPr id="13" name="Rectangle 12"/>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28% Container Orchestration</a:t>
            </a:r>
          </a:p>
        </p:txBody>
      </p:sp>
      <p:sp>
        <p:nvSpPr>
          <p:cNvPr id="15" name="TextBox 14"/>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Networking, security, troubleshooting and storage — Days 3, 4 and 5.</a:t>
            </a:r>
          </a:p>
        </p:txBody>
      </p:sp>
      <p:sp>
        <p:nvSpPr>
          <p:cNvPr id="16" name="Rectangle 15"/>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16% Application Delivery</a:t>
            </a:r>
          </a:p>
        </p:txBody>
      </p:sp>
      <p:sp>
        <p:nvSpPr>
          <p:cNvPr id="18" name="TextBox 17"/>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Packaging, GitOps and debugging; Day 4.</a:t>
            </a:r>
          </a:p>
        </p:txBody>
      </p:sp>
      <p:sp>
        <p:nvSpPr>
          <p:cNvPr id="19" name="Rectangle 18"/>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12% Cloud Native Architecture</a:t>
            </a:r>
          </a:p>
        </p:txBody>
      </p:sp>
      <p:sp>
        <p:nvSpPr>
          <p:cNvPr id="21" name="TextBox 20"/>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Observability, ecosystem principles, community. Opens today, closes on Day 5.</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a:t>
            </a:r>
          </a:p>
        </p:txBody>
      </p:sp>
    </p:spTree>
  </p:cSld>
  <p:clrMapOvr>
    <a:masterClrMapping/>
  </p:clrMapOvr>
  <p:transition xmlns:ns1="http://schemas.openxmlformats.org/markup-compatibility/2006" spd="fast" ns1:Ignorable="p14">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CERTIFICATION TARGET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KCNA Exam Logistics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Book the exam while the course material is fresh; the eligibility window is long but recall is not.</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Format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Online, proctored, multiple-choice</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Questions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60</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Duration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90 minutes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Passing score</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75%</a:t>
            </a:r>
          </a:p>
        </p:txBody>
      </p:sp>
      <p:sp>
        <p:nvSpPr>
          <p:cNvPr id="23" name="Rectangle 22"/>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6263639" y="220004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Validity</a:t>
            </a:r>
          </a:p>
        </p:txBody>
      </p:sp>
      <p:sp>
        <p:nvSpPr>
          <p:cNvPr id="26" name="TextBox 25"/>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2 years</a:t>
            </a:r>
          </a:p>
        </p:txBody>
      </p:sp>
      <p:sp>
        <p:nvSpPr>
          <p:cNvPr id="27" name="Rectangle 26"/>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6263639" y="274868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Prerequisites</a:t>
            </a:r>
          </a:p>
        </p:txBody>
      </p:sp>
      <p:sp>
        <p:nvSpPr>
          <p:cNvPr id="30" name="TextBox 29"/>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None</a:t>
            </a:r>
          </a:p>
        </p:txBody>
      </p:sp>
      <p:sp>
        <p:nvSpPr>
          <p:cNvPr id="31" name="Rectangle 30"/>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329732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Retake</a:t>
            </a:r>
          </a:p>
        </p:txBody>
      </p:sp>
      <p:sp>
        <p:nvSpPr>
          <p:cNvPr id="34" name="TextBox 33"/>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retake included with the exam purchase</a:t>
            </a:r>
          </a:p>
        </p:txBody>
      </p:sp>
      <p:sp>
        <p:nvSpPr>
          <p:cNvPr id="35" name="Rectangle 34"/>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384596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Eligibility window</a:t>
            </a:r>
          </a:p>
        </p:txBody>
      </p:sp>
      <p:sp>
        <p:nvSpPr>
          <p:cNvPr id="38" name="TextBox 37"/>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12 months from purchase</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 Linux Foundation exam policies.</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a:t>
            </a:r>
          </a:p>
        </p:txBody>
      </p:sp>
    </p:spTree>
  </p:cSld>
  <p:clrMapOvr>
    <a:masterClrMapping/>
  </p:clrMapOvr>
  <p:transition xmlns:ns1="http://schemas.openxmlformats.org/markup-compatibility/2006" spd="fast" ns1:Ignorable="p14">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WSQ OUTCOMES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This Course Certifies You Can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TSC Solution Architecture ICT-DES-4006-1.1. Day 1 carries LO1 — the architectural proof of concept.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LO1</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Develop a Kubernetes architectural proof of concept.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LO2</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Identify the technical and practical requirements in a Kubernetes setup.</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LO3</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Develop a solution architecture within Kubernetes.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LO4</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Prepare a technical blueprint for a Kubernetes-based solution for security and storage.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LO5</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Demonstrate Kubernetes solution for a specific business problem.</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LO6</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Implement regular monitoring of the Kubernetes system and perform necessary troubleshooting.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Approved TSC mapping for TGS-2023039343 (course_data.LO_MAP).</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a:t>
            </a:r>
          </a:p>
        </p:txBody>
      </p:sp>
    </p:spTree>
  </p:cSld>
  <p:clrMapOvr>
    <a:masterClrMapping/>
  </p:clrMapOvr>
  <p:transition xmlns:ns1="http://schemas.openxmlformats.org/markup-compatibility/2006" spd="fast" ns1:Ignorable="p14">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1 CONTRACT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By 6:30 PM You Will Have Produced This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LO1 asks for a proof of concept. A PoC is evidence, not opinion — so every module ends with something you can show.</a:t>
            </a:r>
          </a:p>
        </p:txBody>
      </p:sp>
      <p:sp>
        <p:nvSpPr>
          <p:cNvPr id="7" name="Rectangle 6"/>
          <p:cNvSpPr/>
          <p:nvPr/>
        </p:nvSpPr>
        <p:spPr>
          <a:xfrm>
            <a:off x="777240"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CONCEPTS YOU WILL BE ABLE TO DEFEND</a:t>
            </a:r>
          </a:p>
        </p:txBody>
      </p:sp>
      <p:sp>
        <p:nvSpPr>
          <p:cNvPr id="10" name="TextBox 9"/>
          <p:cNvSpPr txBox="1"/>
          <p:nvPr/>
        </p:nvSpPr>
        <p:spPr>
          <a:xfrm>
            <a:off x="996695"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Why orchestration exists and what problem each layer solved</a:t>
            </a:r>
          </a:p>
          <a:p>
            <a:pPr>
              <a:lnSpc>
                <a:spcPct val="112000"/>
              </a:lnSpc>
              <a:spcAft>
                <a:spcPts val="700"/>
              </a:spcAft>
            </a:pPr>
            <a:r>
              <a:rPr sz="1150">
                <a:solidFill>
                  <a:srgbClr val="94A3B8"/>
                </a:solidFill>
                <a:latin typeface="Arial"/>
              </a:rPr>
              <a:t>•  </a:t>
            </a:r>
            <a:r>
              <a:rPr sz="1150">
                <a:solidFill>
                  <a:srgbClr val="5B6372"/>
                </a:solidFill>
                <a:latin typeface="Arial"/>
              </a:rPr>
              <a:t>What a container is at the Linux level, and what OCI standardises</a:t>
            </a:r>
          </a:p>
          <a:p>
            <a:pPr>
              <a:lnSpc>
                <a:spcPct val="112000"/>
              </a:lnSpc>
              <a:spcAft>
                <a:spcPts val="700"/>
              </a:spcAft>
            </a:pPr>
            <a:r>
              <a:rPr sz="1150">
                <a:solidFill>
                  <a:srgbClr val="94A3B8"/>
                </a:solidFill>
                <a:latin typeface="Arial"/>
              </a:rPr>
              <a:t>•  </a:t>
            </a:r>
            <a:r>
              <a:rPr sz="1150">
                <a:solidFill>
                  <a:srgbClr val="5B6372"/>
                </a:solidFill>
                <a:latin typeface="Arial"/>
              </a:rPr>
              <a:t>How the API server, etcd, scheduler and kubelet divide the work</a:t>
            </a:r>
          </a:p>
          <a:p>
            <a:pPr>
              <a:lnSpc>
                <a:spcPct val="112000"/>
              </a:lnSpc>
              <a:spcAft>
                <a:spcPts val="700"/>
              </a:spcAft>
            </a:pPr>
            <a:r>
              <a:rPr sz="1150">
                <a:solidFill>
                  <a:srgbClr val="94A3B8"/>
                </a:solidFill>
                <a:latin typeface="Arial"/>
              </a:rPr>
              <a:t>•  </a:t>
            </a:r>
            <a:r>
              <a:rPr sz="1150">
                <a:solidFill>
                  <a:srgbClr val="5B6372"/>
                </a:solidFill>
                <a:latin typeface="Arial"/>
              </a:rPr>
              <a:t>Why the Pod — not the container — is the unit of scheduling</a:t>
            </a:r>
          </a:p>
          <a:p>
            <a:pPr>
              <a:lnSpc>
                <a:spcPct val="112000"/>
              </a:lnSpc>
              <a:spcAft>
                <a:spcPts val="700"/>
              </a:spcAft>
            </a:pPr>
            <a:r>
              <a:rPr sz="1150">
                <a:solidFill>
                  <a:srgbClr val="94A3B8"/>
                </a:solidFill>
                <a:latin typeface="Arial"/>
              </a:rPr>
              <a:t>•  </a:t>
            </a:r>
            <a:r>
              <a:rPr sz="1150">
                <a:solidFill>
                  <a:srgbClr val="5B6372"/>
                </a:solidFill>
                <a:latin typeface="Arial"/>
              </a:rPr>
              <a:t>How a manifest becomes a running process on a node</a:t>
            </a:r>
          </a:p>
        </p:txBody>
      </p:sp>
      <p:sp>
        <p:nvSpPr>
          <p:cNvPr id="11" name="Rectangle 10"/>
          <p:cNvSpPr/>
          <p:nvPr/>
        </p:nvSpPr>
        <p:spPr>
          <a:xfrm>
            <a:off x="6276441"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8885"/>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ARTEFACTS YOU WILL HAVE ON DISK</a:t>
            </a:r>
          </a:p>
        </p:txBody>
      </p:sp>
      <p:sp>
        <p:nvSpPr>
          <p:cNvPr id="14" name="TextBox 13"/>
          <p:cNvSpPr txBox="1"/>
          <p:nvPr/>
        </p:nvSpPr>
        <p:spPr>
          <a:xfrm>
            <a:off x="6495897"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A reconnaissance record of an unfamiliar cluster (Lab 01)</a:t>
            </a:r>
          </a:p>
          <a:p>
            <a:pPr>
              <a:lnSpc>
                <a:spcPct val="112000"/>
              </a:lnSpc>
              <a:spcAft>
                <a:spcPts val="700"/>
              </a:spcAft>
            </a:pPr>
            <a:r>
              <a:rPr sz="1150">
                <a:solidFill>
                  <a:srgbClr val="94A3B8"/>
                </a:solidFill>
                <a:latin typeface="Arial"/>
              </a:rPr>
              <a:t>•  </a:t>
            </a:r>
            <a:r>
              <a:rPr sz="1150">
                <a:solidFill>
                  <a:srgbClr val="5B6372"/>
                </a:solidFill>
                <a:latin typeface="Arial"/>
              </a:rPr>
              <a:t>A hand-authored Pod manifest that round-trips (Lab 02)</a:t>
            </a:r>
          </a:p>
          <a:p>
            <a:pPr>
              <a:lnSpc>
                <a:spcPct val="112000"/>
              </a:lnSpc>
              <a:spcAft>
                <a:spcPts val="700"/>
              </a:spcAft>
            </a:pPr>
            <a:r>
              <a:rPr sz="1150">
                <a:solidFill>
                  <a:srgbClr val="94A3B8"/>
                </a:solidFill>
                <a:latin typeface="Arial"/>
              </a:rPr>
              <a:t>•  </a:t>
            </a:r>
            <a:r>
              <a:rPr sz="1150">
                <a:solidFill>
                  <a:srgbClr val="5B6372"/>
                </a:solidFill>
                <a:latin typeface="Arial"/>
              </a:rPr>
              <a:t>An ENTRYPOINT/CMD override matrix with evidence (Lab 03)</a:t>
            </a:r>
          </a:p>
          <a:p>
            <a:pPr>
              <a:lnSpc>
                <a:spcPct val="112000"/>
              </a:lnSpc>
              <a:spcAft>
                <a:spcPts val="700"/>
              </a:spcAft>
            </a:pPr>
            <a:r>
              <a:rPr sz="1150">
                <a:solidFill>
                  <a:srgbClr val="94A3B8"/>
                </a:solidFill>
                <a:latin typeface="Arial"/>
              </a:rPr>
              <a:t>•  </a:t>
            </a:r>
            <a:r>
              <a:rPr sz="1150">
                <a:solidFill>
                  <a:srgbClr val="5B6372"/>
                </a:solidFill>
                <a:latin typeface="Arial"/>
              </a:rPr>
              <a:t>Four multi-container Pods, one per pattern (Lab 04)</a:t>
            </a:r>
          </a:p>
          <a:p>
            <a:pPr>
              <a:lnSpc>
                <a:spcPct val="112000"/>
              </a:lnSpc>
              <a:spcAft>
                <a:spcPts val="700"/>
              </a:spcAft>
            </a:pPr>
            <a:r>
              <a:rPr sz="1150">
                <a:solidFill>
                  <a:srgbClr val="94A3B8"/>
                </a:solidFill>
                <a:latin typeface="Arial"/>
              </a:rPr>
              <a:t>•  </a:t>
            </a:r>
            <a:r>
              <a:rPr sz="1150">
                <a:solidFill>
                  <a:srgbClr val="5B6372"/>
                </a:solidFill>
                <a:latin typeface="Arial"/>
              </a:rPr>
              <a:t>A digest-pinned image reference and its resolved imageID (Lab 05)</a:t>
            </a:r>
          </a:p>
        </p:txBody>
      </p:sp>
      <p:sp>
        <p:nvSpPr>
          <p:cNvPr id="15" name="TextBox 1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6" name="TextBox 1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7" name="TextBox 1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a:t>
            </a:r>
          </a:p>
        </p:txBody>
      </p:sp>
    </p:spTree>
  </p:cSld>
  <p:clrMapOvr>
    <a:masterClrMapping/>
  </p:clrMapOvr>
  <p:transition xmlns:ns1="http://schemas.openxmlformats.org/markup-compatibility/2006" spd="fast" ns1:Ignorable="p14">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01</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1 · CLOUD NATIVE ARCHITECTURE</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What 'Cloud Native' Actually Means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The definition, the foundation that owns it, and the reason orchestration had to be invented.</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a:t>
            </a:r>
          </a:p>
        </p:txBody>
      </p:sp>
    </p:spTree>
  </p:cSld>
  <p:clrMapOvr>
    <a:masterClrMapping/>
  </p:clrMapOvr>
  <p:transition xmlns:ns1="http://schemas.openxmlformats.org/markup-compatibility/2006" spd="med" ns1:Ignorable="p14">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10B981"/>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10B981"/>
                </a:solidFill>
                <a:latin typeface="Arial"/>
              </a:rPr>
              <a:t>DEFINITION</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Cloud native names a set of operating properties — not a product, a vendor or a hosting location.</a:t>
            </a:r>
          </a:p>
        </p:txBody>
      </p:sp>
      <p:sp>
        <p:nvSpPr>
          <p:cNvPr id="6" name="Rectangle 5"/>
          <p:cNvSpPr/>
          <p:nvPr/>
        </p:nvSpPr>
        <p:spPr>
          <a:xfrm>
            <a:off x="1143000" y="4187952"/>
            <a:ext cx="2194560" cy="32004"/>
          </a:xfrm>
          <a:prstGeom prst="rect">
            <a:avLst/>
          </a:prstGeom>
          <a:solidFill>
            <a:srgbClr val="10B981"/>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The CNCF definition is written entirely in terms of how a system behaves under change: loosely coupled, resilient, manageable, observable.</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a:t>
            </a:r>
          </a:p>
        </p:txBody>
      </p:sp>
    </p:spTree>
  </p:cSld>
  <p:clrMapOvr>
    <a:masterClrMapping/>
  </p:clrMapOvr>
  <p:transition xmlns:ns1="http://schemas.openxmlformats.org/markup-compatibility/2006" spd="fast" ns1:Ignorable="p14">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DEFINITION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the CNCF Definition Clause by Clause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adjectives do the real work. Learn them: they are the vocabulary the KCNA Cloud Native Architecture domain uses.</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Scalable apps in dynamic environments</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Public, private and hybrid clouds are all in scope. The definition is deliberately not tied to a provider.</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Exemplar technologies</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Containers, service meshes, microservices, immutable infrastructure and declarative APIs — examples, not requirements.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Loosely coupled</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Components fail and are replaced independently. A restart of one part must not require a coordinated restart of the whole.</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Resilient</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system is expected to lose instances routinely and to keep serving; recovery is automated, not a runbook.</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Manageable</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Behaviour is changed by changing declared state, not by logging into a machine and editing files.</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Observable</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system emits enough signal — metrics, logs, traces, events — for an operator to reason about it from outside.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Cloud Native Definition v1.1 — github.com/cncf/toc, DEFINITION.md.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a:t>
            </a:r>
          </a:p>
        </p:txBody>
      </p:sp>
    </p:spTree>
  </p:cSld>
  <p:clrMapOvr>
    <a:masterClrMapping/>
  </p:clrMapOvr>
  <p:transition xmlns:ns1="http://schemas.openxmlformats.org/markup-compatibility/2006" spd="fast" ns1:Ignorable="p14">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WHY ORCHESTRATION EXISTS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Four Deployment Eras and the Problem Each One Left Behind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standard KCNA narrative and it is also the honest engineering history.</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Bare metal</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One app per machine to avoid interference. Utilisation is poor and provisioning takes weeks.</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Virtual machines</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hypervisor multiplexes hardware. Utilisation improves, but each guest carries a whole kernel and OS image.</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Containers</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Kernel-level isolation with a shared kernel. Start-up is process-speed and images are far smaller — but nothing places them.</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Orchestration</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control plane decides placement, restarts failures, rolls updates and reconciles declared state continuously.</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Each era solved the previous era's waste and exposed a new gap. Kubernetes exists to close the placement, healing and rollout gap that containers alone left open.</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What is Kubernetes / Why you need Kubernetes: kubernetes.io/docs/concepts/overview/.</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a:t>
            </a:r>
          </a:p>
        </p:txBody>
      </p:sp>
    </p:spTree>
  </p:cSld>
  <p:clrMapOvr>
    <a:masterClrMapping/>
  </p:clrMapOvr>
  <p:transition xmlns:ns4="http://schemas.openxmlformats.org/markup-compatibility/2006" spd="fast" ns4:Ignorable="p14">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Actually Changes Between the Four Eras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Note the last row: the unsolved problem is identical in all three columns.</a:t>
            </a:r>
          </a:p>
        </p:txBody>
      </p:sp>
      <p:sp>
        <p:nvSpPr>
          <p:cNvPr id="7" name="Rectangle 6"/>
          <p:cNvSpPr/>
          <p:nvPr/>
        </p:nvSpPr>
        <p:spPr>
          <a:xfrm>
            <a:off x="777240" y="2200046"/>
            <a:ext cx="2431472"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17544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Property</a:t>
            </a:r>
          </a:p>
        </p:txBody>
      </p:sp>
      <p:sp>
        <p:nvSpPr>
          <p:cNvPr id="9" name="Rectangle 8"/>
          <p:cNvSpPr/>
          <p:nvPr/>
        </p:nvSpPr>
        <p:spPr>
          <a:xfrm>
            <a:off x="3208712" y="2200046"/>
            <a:ext cx="2431472"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336728" y="2300630"/>
            <a:ext cx="217544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Bare metal</a:t>
            </a:r>
          </a:p>
        </p:txBody>
      </p:sp>
      <p:sp>
        <p:nvSpPr>
          <p:cNvPr id="11" name="Rectangle 10"/>
          <p:cNvSpPr/>
          <p:nvPr/>
        </p:nvSpPr>
        <p:spPr>
          <a:xfrm>
            <a:off x="5640185" y="2200046"/>
            <a:ext cx="259357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768201" y="2300630"/>
            <a:ext cx="233753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Virtual machine</a:t>
            </a:r>
          </a:p>
        </p:txBody>
      </p:sp>
      <p:sp>
        <p:nvSpPr>
          <p:cNvPr id="13" name="Rectangle 12"/>
          <p:cNvSpPr/>
          <p:nvPr/>
        </p:nvSpPr>
        <p:spPr>
          <a:xfrm>
            <a:off x="8233756" y="2200046"/>
            <a:ext cx="3241963"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361772" y="2300630"/>
            <a:ext cx="298593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Container</a:t>
            </a:r>
          </a:p>
        </p:txBody>
      </p:sp>
      <p:sp>
        <p:nvSpPr>
          <p:cNvPr id="15" name="Rectangle 14"/>
          <p:cNvSpPr/>
          <p:nvPr/>
        </p:nvSpPr>
        <p:spPr>
          <a:xfrm>
            <a:off x="777240" y="2620670"/>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Isolation boundary</a:t>
            </a:r>
          </a:p>
        </p:txBody>
      </p:sp>
      <p:sp>
        <p:nvSpPr>
          <p:cNvPr id="17" name="Rectangle 16"/>
          <p:cNvSpPr/>
          <p:nvPr/>
        </p:nvSpPr>
        <p:spPr>
          <a:xfrm>
            <a:off x="3208712" y="2620670"/>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336728" y="2702966"/>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Physical machine</a:t>
            </a:r>
          </a:p>
        </p:txBody>
      </p:sp>
      <p:sp>
        <p:nvSpPr>
          <p:cNvPr id="19" name="Rectangle 18"/>
          <p:cNvSpPr/>
          <p:nvPr/>
        </p:nvSpPr>
        <p:spPr>
          <a:xfrm>
            <a:off x="5640185" y="2620670"/>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768201" y="2702966"/>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Hypervisor + guest kernel</a:t>
            </a:r>
          </a:p>
        </p:txBody>
      </p:sp>
      <p:sp>
        <p:nvSpPr>
          <p:cNvPr id="21" name="Rectangle 20"/>
          <p:cNvSpPr/>
          <p:nvPr/>
        </p:nvSpPr>
        <p:spPr>
          <a:xfrm>
            <a:off x="8233756" y="2620670"/>
            <a:ext cx="3241963" cy="459333"/>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361772" y="2702966"/>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Kernel namespaces + cgroups</a:t>
            </a:r>
          </a:p>
        </p:txBody>
      </p:sp>
      <p:sp>
        <p:nvSpPr>
          <p:cNvPr id="23" name="Rectangle 22"/>
          <p:cNvSpPr/>
          <p:nvPr/>
        </p:nvSpPr>
        <p:spPr>
          <a:xfrm>
            <a:off x="777240" y="3080004"/>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162299"/>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Kernel</a:t>
            </a:r>
          </a:p>
        </p:txBody>
      </p:sp>
      <p:sp>
        <p:nvSpPr>
          <p:cNvPr id="25" name="Rectangle 24"/>
          <p:cNvSpPr/>
          <p:nvPr/>
        </p:nvSpPr>
        <p:spPr>
          <a:xfrm>
            <a:off x="3208712" y="3080004"/>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336728" y="3162299"/>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per machine</a:t>
            </a:r>
          </a:p>
        </p:txBody>
      </p:sp>
      <p:sp>
        <p:nvSpPr>
          <p:cNvPr id="27" name="Rectangle 26"/>
          <p:cNvSpPr/>
          <p:nvPr/>
        </p:nvSpPr>
        <p:spPr>
          <a:xfrm>
            <a:off x="5640185" y="3080004"/>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768201" y="3162299"/>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per guest</a:t>
            </a:r>
          </a:p>
        </p:txBody>
      </p:sp>
      <p:sp>
        <p:nvSpPr>
          <p:cNvPr id="29" name="Rectangle 28"/>
          <p:cNvSpPr/>
          <p:nvPr/>
        </p:nvSpPr>
        <p:spPr>
          <a:xfrm>
            <a:off x="8233756" y="3080004"/>
            <a:ext cx="3241963" cy="459333"/>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361772" y="3162299"/>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with the host</a:t>
            </a:r>
          </a:p>
        </p:txBody>
      </p:sp>
      <p:sp>
        <p:nvSpPr>
          <p:cNvPr id="31" name="Rectangle 30"/>
          <p:cNvSpPr/>
          <p:nvPr/>
        </p:nvSpPr>
        <p:spPr>
          <a:xfrm>
            <a:off x="777240" y="3539337"/>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621633"/>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Unit shipped</a:t>
            </a:r>
          </a:p>
        </p:txBody>
      </p:sp>
      <p:sp>
        <p:nvSpPr>
          <p:cNvPr id="33" name="Rectangle 32"/>
          <p:cNvSpPr/>
          <p:nvPr/>
        </p:nvSpPr>
        <p:spPr>
          <a:xfrm>
            <a:off x="3208712" y="3539337"/>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336728" y="3621633"/>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OS build + config management</a:t>
            </a:r>
          </a:p>
        </p:txBody>
      </p:sp>
      <p:sp>
        <p:nvSpPr>
          <p:cNvPr id="35" name="Rectangle 34"/>
          <p:cNvSpPr/>
          <p:nvPr/>
        </p:nvSpPr>
        <p:spPr>
          <a:xfrm>
            <a:off x="5640185" y="3539337"/>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768201" y="3621633"/>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Disk image (GB scale)</a:t>
            </a:r>
          </a:p>
        </p:txBody>
      </p:sp>
      <p:sp>
        <p:nvSpPr>
          <p:cNvPr id="37" name="Rectangle 36"/>
          <p:cNvSpPr/>
          <p:nvPr/>
        </p:nvSpPr>
        <p:spPr>
          <a:xfrm>
            <a:off x="8233756" y="3539337"/>
            <a:ext cx="3241963"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361772" y="3621633"/>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Layered OCI image (MB scale, layers shared)</a:t>
            </a:r>
          </a:p>
        </p:txBody>
      </p:sp>
      <p:sp>
        <p:nvSpPr>
          <p:cNvPr id="39" name="Rectangle 38"/>
          <p:cNvSpPr/>
          <p:nvPr/>
        </p:nvSpPr>
        <p:spPr>
          <a:xfrm>
            <a:off x="777240" y="3998671"/>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080967"/>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Start-up work</a:t>
            </a:r>
          </a:p>
        </p:txBody>
      </p:sp>
      <p:sp>
        <p:nvSpPr>
          <p:cNvPr id="41" name="Rectangle 40"/>
          <p:cNvSpPr/>
          <p:nvPr/>
        </p:nvSpPr>
        <p:spPr>
          <a:xfrm>
            <a:off x="3208712" y="3998671"/>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336728" y="4080967"/>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Boot firmware, kernel, init, services</a:t>
            </a:r>
          </a:p>
        </p:txBody>
      </p:sp>
      <p:sp>
        <p:nvSpPr>
          <p:cNvPr id="43" name="Rectangle 42"/>
          <p:cNvSpPr/>
          <p:nvPr/>
        </p:nvSpPr>
        <p:spPr>
          <a:xfrm>
            <a:off x="5640185" y="3998671"/>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768201" y="4080967"/>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Boot guest kernel and init</a:t>
            </a:r>
          </a:p>
        </p:txBody>
      </p:sp>
      <p:sp>
        <p:nvSpPr>
          <p:cNvPr id="45" name="Rectangle 44"/>
          <p:cNvSpPr/>
          <p:nvPr/>
        </p:nvSpPr>
        <p:spPr>
          <a:xfrm>
            <a:off x="8233756" y="3998671"/>
            <a:ext cx="3241963"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361772" y="4080967"/>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Create namespaces, mount rootfs, exec the process</a:t>
            </a:r>
          </a:p>
        </p:txBody>
      </p:sp>
      <p:sp>
        <p:nvSpPr>
          <p:cNvPr id="47" name="Rectangle 46"/>
          <p:cNvSpPr/>
          <p:nvPr/>
        </p:nvSpPr>
        <p:spPr>
          <a:xfrm>
            <a:off x="777240" y="4458004"/>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540300"/>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Density on one host</a:t>
            </a:r>
          </a:p>
        </p:txBody>
      </p:sp>
      <p:sp>
        <p:nvSpPr>
          <p:cNvPr id="49" name="Rectangle 48"/>
          <p:cNvSpPr/>
          <p:nvPr/>
        </p:nvSpPr>
        <p:spPr>
          <a:xfrm>
            <a:off x="3208712" y="4458004"/>
            <a:ext cx="2431472" cy="459333"/>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336728" y="4540300"/>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workload</a:t>
            </a:r>
          </a:p>
        </p:txBody>
      </p:sp>
      <p:sp>
        <p:nvSpPr>
          <p:cNvPr id="51" name="Rectangle 50"/>
          <p:cNvSpPr/>
          <p:nvPr/>
        </p:nvSpPr>
        <p:spPr>
          <a:xfrm>
            <a:off x="5640185" y="4458004"/>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768201" y="4540300"/>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Tens of guests</a:t>
            </a:r>
          </a:p>
        </p:txBody>
      </p:sp>
      <p:sp>
        <p:nvSpPr>
          <p:cNvPr id="53" name="Rectangle 52"/>
          <p:cNvSpPr/>
          <p:nvPr/>
        </p:nvSpPr>
        <p:spPr>
          <a:xfrm>
            <a:off x="8233756" y="4458004"/>
            <a:ext cx="3241963" cy="459333"/>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361772" y="4540300"/>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Hundreds of processes</a:t>
            </a:r>
          </a:p>
        </p:txBody>
      </p:sp>
      <p:sp>
        <p:nvSpPr>
          <p:cNvPr id="55" name="Rectangle 54"/>
          <p:cNvSpPr/>
          <p:nvPr/>
        </p:nvSpPr>
        <p:spPr>
          <a:xfrm>
            <a:off x="777240" y="4917338"/>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56" name="TextBox 55"/>
          <p:cNvSpPr txBox="1"/>
          <p:nvPr/>
        </p:nvSpPr>
        <p:spPr>
          <a:xfrm>
            <a:off x="905256" y="4999634"/>
            <a:ext cx="217544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still is not solved</a:t>
            </a:r>
          </a:p>
        </p:txBody>
      </p:sp>
      <p:sp>
        <p:nvSpPr>
          <p:cNvPr id="57" name="Rectangle 56"/>
          <p:cNvSpPr/>
          <p:nvPr/>
        </p:nvSpPr>
        <p:spPr>
          <a:xfrm>
            <a:off x="3208712" y="4917338"/>
            <a:ext cx="2431472" cy="459333"/>
          </a:xfrm>
          <a:prstGeom prst="rect">
            <a:avLst/>
          </a:prstGeom>
          <a:solidFill>
            <a:srgbClr val="F6F8FA"/>
          </a:solidFill>
          <a:ln w="9525">
            <a:solidFill>
              <a:srgbClr val="E2E8F0"/>
            </a:solidFill>
          </a:ln>
          <a:effectLst/>
        </p:spPr>
        <p:txBody>
          <a:bodyPr rtlCol="0" anchor="ctr" wrap="square"/>
          <a:lstStyle/>
          <a:p>
            <a:pPr algn="ctr"/>
          </a:p>
        </p:txBody>
      </p:sp>
      <p:sp>
        <p:nvSpPr>
          <p:cNvPr id="58" name="TextBox 57"/>
          <p:cNvSpPr txBox="1"/>
          <p:nvPr/>
        </p:nvSpPr>
        <p:spPr>
          <a:xfrm>
            <a:off x="3336728" y="4999634"/>
            <a:ext cx="2175440"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Placement, healing, rollout</a:t>
            </a:r>
          </a:p>
        </p:txBody>
      </p:sp>
      <p:sp>
        <p:nvSpPr>
          <p:cNvPr id="59" name="Rectangle 58"/>
          <p:cNvSpPr/>
          <p:nvPr/>
        </p:nvSpPr>
        <p:spPr>
          <a:xfrm>
            <a:off x="5640185" y="4917338"/>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60" name="TextBox 59"/>
          <p:cNvSpPr txBox="1"/>
          <p:nvPr/>
        </p:nvSpPr>
        <p:spPr>
          <a:xfrm>
            <a:off x="5768201" y="4999634"/>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Placement, healing, rollout</a:t>
            </a:r>
          </a:p>
        </p:txBody>
      </p:sp>
      <p:sp>
        <p:nvSpPr>
          <p:cNvPr id="61" name="Rectangle 60"/>
          <p:cNvSpPr/>
          <p:nvPr/>
        </p:nvSpPr>
        <p:spPr>
          <a:xfrm>
            <a:off x="8233756" y="4917338"/>
            <a:ext cx="3241963" cy="459333"/>
          </a:xfrm>
          <a:prstGeom prst="rect">
            <a:avLst/>
          </a:prstGeom>
          <a:solidFill>
            <a:srgbClr val="F6F8FA"/>
          </a:solidFill>
          <a:ln w="9525">
            <a:solidFill>
              <a:srgbClr val="E2E8F0"/>
            </a:solidFill>
          </a:ln>
          <a:effectLst/>
        </p:spPr>
        <p:txBody>
          <a:bodyPr rtlCol="0" anchor="ctr" wrap="square"/>
          <a:lstStyle/>
          <a:p>
            <a:pPr algn="ctr"/>
          </a:p>
        </p:txBody>
      </p:sp>
      <p:sp>
        <p:nvSpPr>
          <p:cNvPr id="62" name="TextBox 61"/>
          <p:cNvSpPr txBox="1"/>
          <p:nvPr/>
        </p:nvSpPr>
        <p:spPr>
          <a:xfrm>
            <a:off x="8361772" y="4999634"/>
            <a:ext cx="298593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Placement, healing, rollout — hence Kubernetes</a:t>
            </a:r>
          </a:p>
        </p:txBody>
      </p:sp>
      <p:sp>
        <p:nvSpPr>
          <p:cNvPr id="63" name="Rectangle 6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64" name="Rectangle 6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65" name="TextBox 6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66" name="TextBox 6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Containers changed the packaging and the isolation cost. They did not change who decides where a workload runs.</a:t>
            </a:r>
          </a:p>
        </p:txBody>
      </p:sp>
      <p:sp>
        <p:nvSpPr>
          <p:cNvPr id="67" name="TextBox 6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man-pages: namespaces(7), cgroups(7), overlayfs kernel docs. Kubernetes documentation — Cluster Architecture: kubernetes.io/docs/concepts/architecture/.</a:t>
            </a:r>
          </a:p>
        </p:txBody>
      </p:sp>
      <p:sp>
        <p:nvSpPr>
          <p:cNvPr id="68" name="TextBox 6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9" name="TextBox 6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0" name="TextBox 6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a:t>
            </a:r>
          </a:p>
        </p:txBody>
      </p:sp>
    </p:spTree>
  </p:cSld>
  <p:clrMapOvr>
    <a:masterClrMapping/>
  </p:clrMapOvr>
  <p:transition xmlns:ns1="http://schemas.openxmlformats.org/markup-compatibility/2006" spd="fast" ns1:Ignorable="p14">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CNCF Hosted Projects by Maturity Level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Counted directly from the landscape source file on 5 September 2026 — 227 currently hosted projects plus 28 archived.</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3"/>
          </a:graphicData>
        </a:graphic>
      </p:graphicFrame>
      <p:sp>
        <p:nvSpPr>
          <p:cNvPr id="8" name="Rectangle 7"/>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Sandbox is the widest gate</a:t>
            </a:r>
          </a:p>
        </p:txBody>
      </p:sp>
      <p:sp>
        <p:nvSpPr>
          <p:cNvPr id="12" name="TextBox 11"/>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151 projects. Early-stage, experimental, no production expectation — do not read inclusion as endorsement.</a:t>
            </a:r>
          </a:p>
        </p:txBody>
      </p:sp>
      <p:sp>
        <p:nvSpPr>
          <p:cNvPr id="13" name="Rectangle 12"/>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Incubating is the proving ground</a:t>
            </a:r>
          </a:p>
        </p:txBody>
      </p:sp>
      <p:sp>
        <p:nvSpPr>
          <p:cNvPr id="15" name="TextBox 14"/>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37 projects with demonstrated production users and a healthy contributor base across organisations.</a:t>
            </a:r>
          </a:p>
        </p:txBody>
      </p:sp>
      <p:sp>
        <p:nvSpPr>
          <p:cNvPr id="16" name="Rectangle 15"/>
          <p:cNvSpPr/>
          <p:nvPr/>
        </p:nvSpPr>
        <p:spPr>
          <a:xfrm>
            <a:off x="7927848" y="4074261"/>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0559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Graduated is the trust signal</a:t>
            </a:r>
          </a:p>
        </p:txBody>
      </p:sp>
      <p:sp>
        <p:nvSpPr>
          <p:cNvPr id="18" name="TextBox 17"/>
          <p:cNvSpPr txBox="1"/>
          <p:nvPr/>
        </p:nvSpPr>
        <p:spPr>
          <a:xfrm>
            <a:off x="8092440" y="42754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39 projects, including Kubernetes, containerd, etcd, Prometheus, Helm, Envoy, CoreDNS and cert-manager.</a:t>
            </a:r>
          </a:p>
        </p:txBody>
      </p:sp>
      <p:sp>
        <p:nvSpPr>
          <p:cNvPr id="19" name="Rectangle 18"/>
          <p:cNvSpPr/>
          <p:nvPr/>
        </p:nvSpPr>
        <p:spPr>
          <a:xfrm>
            <a:off x="7927848" y="4769205"/>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7509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Archived is a real outcome</a:t>
            </a:r>
          </a:p>
        </p:txBody>
      </p:sp>
      <p:sp>
        <p:nvSpPr>
          <p:cNvPr id="21" name="TextBox 20"/>
          <p:cNvSpPr txBox="1"/>
          <p:nvPr/>
        </p:nvSpPr>
        <p:spPr>
          <a:xfrm>
            <a:off x="8092440" y="49703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28 projects have been retired. Maturity level can move backwards; check it before you build on a project.</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Counted from github.com/cncf/landscape landscape.yml (project maturity field), retrieved 5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a:t>
            </a:r>
          </a:p>
        </p:txBody>
      </p:sp>
    </p:spTree>
  </p:cSld>
  <p:clrMapOvr>
    <a:masterClrMapping/>
  </p:clrMapOvr>
  <p:transition xmlns:ns1="http://schemas.openxmlformats.org/markup-compatibility/2006" spd="fast" ns1:Ignorable="p14">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Each Maturity Level Actually Requires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These are the criteria a project must satisfy to move up — worth knowing because KCNA asks about them directly.</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Sandbox</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Entry point for early innovation. Accepted by the TOC on a written proposal; no adoption or governance bar to clear yet.</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Incubating</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Must show production use by independent adopters, a substantial ongoing flow of commits and a committer base beyond one employer.</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Graduated</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Adds a completed independent security audit, an explicit governance and code-of-conduct document, and CII/OpenSSF best practices.</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Archived</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TOC retires a project that is no longer maintained. The code stays; the CNCF marketing, events and services stop.</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Levels are reviewed, not permanent</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Projects move up on application to the TOC and can be moved to archived. Treat the level as current state, not a badge.</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What the level does not tell you</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Fit for your problem. Graduated Vitess is excellent and is still the wrong answer if you are not running MySQL at scale.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Technical Oversight Committee graduation criteria — github.com/cncf/toc/blob/main/process/graduation_criteria.md.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a:t>
            </a:r>
          </a:p>
        </p:txBody>
      </p:sp>
    </p:spTree>
  </p:cSld>
  <p:clrMapOvr>
    <a:masterClrMapping/>
  </p:clrMapOvr>
  <p:transition xmlns:ns1="http://schemas.openxmlformats.org/markup-compatibility/2006" spd="fast" ns1:Ignorable="p14">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Project Moves Through the Maturity Levels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TOC votes at each transition. Nothing is automatic and nothing is permanent.</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Proposal to the TOC</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Maintainers submit a written application describing scope, licence, governance and how the project fits the landscape.</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Sandbox</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Accepted for early innovation. Gains neutral IP ownership and some CNCF services; carries no production endorsement.</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Incubating</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Granted on evidence: named production adopters, a healthy commit flow and committers from more than one organisation.</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Graduated</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Adds a completed independent security audit, explicit governance and code of conduct, and OpenSSF/CII best-practice status.</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Archived</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end state for projects that are no longer maintained. The code remains available; CNCF support stops.</a:t>
            </a:r>
          </a:p>
        </p:txBody>
      </p:sp>
      <p:sp>
        <p:nvSpPr>
          <p:cNvPr id="36" name="Rectangle 35"/>
          <p:cNvSpPr/>
          <p:nvPr/>
        </p:nvSpPr>
        <p:spPr>
          <a:xfrm>
            <a:off x="777240" y="4821326"/>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Level is evidence about the community around a project, not about how good the code is. Read it as a risk signal when you choose a dependency for a platform.</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Technical Oversight Committee graduation criteria — github.com/cncf/toc/blob/main/process/graduation_criteria.md.</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a:t>
            </a:r>
          </a:p>
        </p:txBody>
      </p:sp>
    </p:spTree>
  </p:cSld>
  <p:clrMapOvr>
    <a:masterClrMapping/>
  </p:clrMapOvr>
  <p:transition xmlns:ns5="http://schemas.openxmlformats.org/markup-compatibility/2006" spd="fast" ns5:Ignorable="p14">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GOVERNANCE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What the CNCF Does — and What It Deliberately Does Not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Confusing 'CNCF hosted' with 'CNCF endorsed for your use case' is the most expensive mistake in this domain.</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IT DOES</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Hold trademarks and provide neutral IP ownership for hosted projects</a:t>
            </a:r>
          </a:p>
          <a:p>
            <a:pPr>
              <a:lnSpc>
                <a:spcPct val="112000"/>
              </a:lnSpc>
              <a:spcAft>
                <a:spcPts val="700"/>
              </a:spcAft>
            </a:pPr>
            <a:r>
              <a:rPr sz="1150">
                <a:solidFill>
                  <a:srgbClr val="94A3B8"/>
                </a:solidFill>
                <a:latin typeface="Arial"/>
              </a:rPr>
              <a:t>•  </a:t>
            </a:r>
            <a:r>
              <a:rPr sz="1150">
                <a:solidFill>
                  <a:srgbClr val="5B6372"/>
                </a:solidFill>
                <a:latin typeface="Arial"/>
              </a:rPr>
              <a:t>Run the TOC process that accepts, promotes and archives projects</a:t>
            </a:r>
          </a:p>
          <a:p>
            <a:pPr>
              <a:lnSpc>
                <a:spcPct val="112000"/>
              </a:lnSpc>
              <a:spcAft>
                <a:spcPts val="700"/>
              </a:spcAft>
            </a:pPr>
            <a:r>
              <a:rPr sz="1150">
                <a:solidFill>
                  <a:srgbClr val="94A3B8"/>
                </a:solidFill>
                <a:latin typeface="Arial"/>
              </a:rPr>
              <a:t>•  </a:t>
            </a:r>
            <a:r>
              <a:rPr sz="1150">
                <a:solidFill>
                  <a:srgbClr val="5B6372"/>
                </a:solidFill>
                <a:latin typeface="Arial"/>
              </a:rPr>
              <a:t>Fund shared services: security audits, CI credits, documentation and design help</a:t>
            </a:r>
          </a:p>
          <a:p>
            <a:pPr>
              <a:lnSpc>
                <a:spcPct val="112000"/>
              </a:lnSpc>
              <a:spcAft>
                <a:spcPts val="700"/>
              </a:spcAft>
            </a:pPr>
            <a:r>
              <a:rPr sz="1150">
                <a:solidFill>
                  <a:srgbClr val="94A3B8"/>
                </a:solidFill>
                <a:latin typeface="Arial"/>
              </a:rPr>
              <a:t>•  </a:t>
            </a:r>
            <a:r>
              <a:rPr sz="1150">
                <a:solidFill>
                  <a:srgbClr val="5B6372"/>
                </a:solidFill>
                <a:latin typeface="Arial"/>
              </a:rPr>
              <a:t>Run KubeCon + CloudNativeCon and the certification programme (KCNA, CKA, CKAD, CKS)</a:t>
            </a:r>
          </a:p>
          <a:p>
            <a:pPr>
              <a:lnSpc>
                <a:spcPct val="112000"/>
              </a:lnSpc>
              <a:spcAft>
                <a:spcPts val="700"/>
              </a:spcAft>
            </a:pPr>
            <a:r>
              <a:rPr sz="1150">
                <a:solidFill>
                  <a:srgbClr val="94A3B8"/>
                </a:solidFill>
                <a:latin typeface="Arial"/>
              </a:rPr>
              <a:t>•  </a:t>
            </a:r>
            <a:r>
              <a:rPr sz="1150">
                <a:solidFill>
                  <a:srgbClr val="5B6372"/>
                </a:solidFill>
                <a:latin typeface="Arial"/>
              </a:rPr>
              <a:t>Publish the landscape and the conformance programmes</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IT DOES NOT</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Write the code — maintainers do, employed by many different organisations</a:t>
            </a:r>
          </a:p>
          <a:p>
            <a:pPr>
              <a:lnSpc>
                <a:spcPct val="112000"/>
              </a:lnSpc>
              <a:spcAft>
                <a:spcPts val="700"/>
              </a:spcAft>
            </a:pPr>
            <a:r>
              <a:rPr sz="1150">
                <a:solidFill>
                  <a:srgbClr val="94A3B8"/>
                </a:solidFill>
                <a:latin typeface="Arial"/>
              </a:rPr>
              <a:t>•  </a:t>
            </a:r>
            <a:r>
              <a:rPr sz="1150">
                <a:solidFill>
                  <a:srgbClr val="5B6372"/>
                </a:solidFill>
                <a:latin typeface="Arial"/>
              </a:rPr>
              <a:t>Set a single technical roadmap across projects</a:t>
            </a:r>
          </a:p>
          <a:p>
            <a:pPr>
              <a:lnSpc>
                <a:spcPct val="112000"/>
              </a:lnSpc>
              <a:spcAft>
                <a:spcPts val="700"/>
              </a:spcAft>
            </a:pPr>
            <a:r>
              <a:rPr sz="1150">
                <a:solidFill>
                  <a:srgbClr val="94A3B8"/>
                </a:solidFill>
                <a:latin typeface="Arial"/>
              </a:rPr>
              <a:t>•  </a:t>
            </a:r>
            <a:r>
              <a:rPr sz="1150">
                <a:solidFill>
                  <a:srgbClr val="5B6372"/>
                </a:solidFill>
                <a:latin typeface="Arial"/>
              </a:rPr>
              <a:t>Guarantee that any hosted project is production-ready for you</a:t>
            </a:r>
          </a:p>
          <a:p>
            <a:pPr>
              <a:lnSpc>
                <a:spcPct val="112000"/>
              </a:lnSpc>
              <a:spcAft>
                <a:spcPts val="700"/>
              </a:spcAft>
            </a:pPr>
            <a:r>
              <a:rPr sz="1150">
                <a:solidFill>
                  <a:srgbClr val="94A3B8"/>
                </a:solidFill>
                <a:latin typeface="Arial"/>
              </a:rPr>
              <a:t>•  </a:t>
            </a:r>
            <a:r>
              <a:rPr sz="1150">
                <a:solidFill>
                  <a:srgbClr val="5B6372"/>
                </a:solidFill>
                <a:latin typeface="Arial"/>
              </a:rPr>
              <a:t>Certify vendors' products; conformance is specific and narrow (for example Certified Kubernetes)</a:t>
            </a:r>
          </a:p>
          <a:p>
            <a:pPr>
              <a:lnSpc>
                <a:spcPct val="112000"/>
              </a:lnSpc>
              <a:spcAft>
                <a:spcPts val="700"/>
              </a:spcAft>
            </a:pPr>
            <a:r>
              <a:rPr sz="1150">
                <a:solidFill>
                  <a:srgbClr val="94A3B8"/>
                </a:solidFill>
                <a:latin typeface="Arial"/>
              </a:rPr>
              <a:t>•  </a:t>
            </a:r>
            <a:r>
              <a:rPr sz="1150">
                <a:solidFill>
                  <a:srgbClr val="5B6372"/>
                </a:solidFill>
                <a:latin typeface="Arial"/>
              </a:rPr>
              <a:t>Prevent a project from being archived when its community stops</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Charter and governance pages — cncf.io/about/charter/; Kubernetes community structure — github.com/kubernetes/community. CNCF Technical Oversight Committee graduation criteria — github.com/cncf/toc/blob/main/process/graduation_criteria.md.</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a:t>
            </a:r>
          </a:p>
        </p:txBody>
      </p:sp>
    </p:spTree>
  </p:cSld>
  <p:clrMapOvr>
    <a:masterClrMapping/>
  </p:clrMapOvr>
  <p:transition xmlns:ns1="http://schemas.openxmlformats.org/markup-compatibility/2006" spd="fast" ns1:Ignorable="p14">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GOVERNANCE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Who Decides What, in the CNCF and in Kubernetes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KCNA's community domain tests whether you know who owns which decision. Vendors do not own the technical roadmap.</a:t>
            </a:r>
          </a:p>
        </p:txBody>
      </p:sp>
      <p:sp>
        <p:nvSpPr>
          <p:cNvPr id="7" name="Rectangle 6"/>
          <p:cNvSpPr/>
          <p:nvPr/>
        </p:nvSpPr>
        <p:spPr>
          <a:xfrm>
            <a:off x="777240" y="220888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8885"/>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9118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Governing Board</a:t>
            </a:r>
          </a:p>
        </p:txBody>
      </p:sp>
      <p:sp>
        <p:nvSpPr>
          <p:cNvPr id="10" name="TextBox 9"/>
          <p:cNvSpPr txBox="1"/>
          <p:nvPr/>
        </p:nvSpPr>
        <p:spPr>
          <a:xfrm>
            <a:off x="3235147" y="229118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Business oversight: budget, marketing, legal. It does not make technical decisions.</a:t>
            </a:r>
          </a:p>
        </p:txBody>
      </p:sp>
      <p:sp>
        <p:nvSpPr>
          <p:cNvPr id="11" name="Rectangle 10"/>
          <p:cNvSpPr/>
          <p:nvPr/>
        </p:nvSpPr>
        <p:spPr>
          <a:xfrm>
            <a:off x="777240" y="275752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57525"/>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982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Technical Oversight Committee (TOC)</a:t>
            </a:r>
          </a:p>
        </p:txBody>
      </p:sp>
      <p:sp>
        <p:nvSpPr>
          <p:cNvPr id="14" name="TextBox 13"/>
          <p:cNvSpPr txBox="1"/>
          <p:nvPr/>
        </p:nvSpPr>
        <p:spPr>
          <a:xfrm>
            <a:off x="3235147" y="283982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Accepts, promotes and archives projects; defines the technical vision. Elected, not appointed by vendors.</a:t>
            </a:r>
          </a:p>
        </p:txBody>
      </p:sp>
      <p:sp>
        <p:nvSpPr>
          <p:cNvPr id="15" name="Rectangle 14"/>
          <p:cNvSpPr/>
          <p:nvPr/>
        </p:nvSpPr>
        <p:spPr>
          <a:xfrm>
            <a:off x="777240" y="330616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306165"/>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8846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Technical Advisory Groups (TAGs)</a:t>
            </a:r>
          </a:p>
        </p:txBody>
      </p:sp>
      <p:sp>
        <p:nvSpPr>
          <p:cNvPr id="18" name="TextBox 17"/>
          <p:cNvSpPr txBox="1"/>
          <p:nvPr/>
        </p:nvSpPr>
        <p:spPr>
          <a:xfrm>
            <a:off x="3235147" y="338846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Domain groups the TOC delegates to — for example runtime, network, security, observability, app delivery.</a:t>
            </a:r>
          </a:p>
        </p:txBody>
      </p:sp>
      <p:sp>
        <p:nvSpPr>
          <p:cNvPr id="19" name="Rectangle 18"/>
          <p:cNvSpPr/>
          <p:nvPr/>
        </p:nvSpPr>
        <p:spPr>
          <a:xfrm>
            <a:off x="777240" y="385480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54805"/>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3710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End User community</a:t>
            </a:r>
          </a:p>
        </p:txBody>
      </p:sp>
      <p:sp>
        <p:nvSpPr>
          <p:cNvPr id="22" name="TextBox 21"/>
          <p:cNvSpPr txBox="1"/>
          <p:nvPr/>
        </p:nvSpPr>
        <p:spPr>
          <a:xfrm>
            <a:off x="3235147" y="393710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Adopting organisations feed requirements back to the TOC; the End User Technical Advisory Board coordinates this.</a:t>
            </a:r>
          </a:p>
        </p:txBody>
      </p:sp>
      <p:sp>
        <p:nvSpPr>
          <p:cNvPr id="23" name="Rectangle 22"/>
          <p:cNvSpPr/>
          <p:nvPr/>
        </p:nvSpPr>
        <p:spPr>
          <a:xfrm>
            <a:off x="6263639" y="220888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6263639" y="2208885"/>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6428231" y="229118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Project maintainers</a:t>
            </a:r>
          </a:p>
        </p:txBody>
      </p:sp>
      <p:sp>
        <p:nvSpPr>
          <p:cNvPr id="26" name="TextBox 25"/>
          <p:cNvSpPr txBox="1"/>
          <p:nvPr/>
        </p:nvSpPr>
        <p:spPr>
          <a:xfrm>
            <a:off x="8721547" y="229118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Each hosted project keeps its own governance document; the CNCF does not run day-to-day project decisions.</a:t>
            </a:r>
          </a:p>
        </p:txBody>
      </p:sp>
      <p:sp>
        <p:nvSpPr>
          <p:cNvPr id="27" name="Rectangle 26"/>
          <p:cNvSpPr/>
          <p:nvPr/>
        </p:nvSpPr>
        <p:spPr>
          <a:xfrm>
            <a:off x="6263639" y="275752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6263639" y="2757525"/>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83982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 SIGs</a:t>
            </a:r>
          </a:p>
        </p:txBody>
      </p:sp>
      <p:sp>
        <p:nvSpPr>
          <p:cNvPr id="30" name="TextBox 29"/>
          <p:cNvSpPr txBox="1"/>
          <p:nvPr/>
        </p:nvSpPr>
        <p:spPr>
          <a:xfrm>
            <a:off x="8721547" y="283982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Kubernetes itself is organised into Special Interest Groups (sig-node, sig-network, sig-storage, sig-auth, …).</a:t>
            </a:r>
          </a:p>
        </p:txBody>
      </p:sp>
      <p:sp>
        <p:nvSpPr>
          <p:cNvPr id="31" name="Rectangle 30"/>
          <p:cNvSpPr/>
          <p:nvPr/>
        </p:nvSpPr>
        <p:spPr>
          <a:xfrm>
            <a:off x="6263639" y="330616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3306165"/>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338846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 Working Groups</a:t>
            </a:r>
          </a:p>
        </p:txBody>
      </p:sp>
      <p:sp>
        <p:nvSpPr>
          <p:cNvPr id="34" name="TextBox 33"/>
          <p:cNvSpPr txBox="1"/>
          <p:nvPr/>
        </p:nvSpPr>
        <p:spPr>
          <a:xfrm>
            <a:off x="8721547" y="338846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Time-boxed, cross-SIG efforts for problems that do not fit one SIG's charter.</a:t>
            </a:r>
          </a:p>
        </p:txBody>
      </p:sp>
      <p:sp>
        <p:nvSpPr>
          <p:cNvPr id="35" name="Rectangle 34"/>
          <p:cNvSpPr/>
          <p:nvPr/>
        </p:nvSpPr>
        <p:spPr>
          <a:xfrm>
            <a:off x="6263639" y="385480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3854805"/>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93710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KubeCon + CloudNativeCon</a:t>
            </a:r>
          </a:p>
        </p:txBody>
      </p:sp>
      <p:sp>
        <p:nvSpPr>
          <p:cNvPr id="38" name="TextBox 37"/>
          <p:cNvSpPr txBox="1"/>
          <p:nvPr/>
        </p:nvSpPr>
        <p:spPr>
          <a:xfrm>
            <a:off x="8721547" y="393710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flagship conference; also where maintainer tracks, project meetings and contributor summits happen.</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Charter and governance pages — cncf.io/about/charter/; Kubernetes community structure — github.com/kubernetes/community.</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a:t>
            </a:r>
          </a:p>
        </p:txBody>
      </p:sp>
    </p:spTree>
  </p:cSld>
  <p:clrMapOvr>
    <a:masterClrMapping/>
  </p:clrMapOvr>
  <p:transition xmlns:ns1="http://schemas.openxmlformats.org/markup-compatibility/2006" spd="fast" ns1:Ignorable="p14">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Graduated Projects You Will Meet This Week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All twelve are CNCF graduated projects. Marks are used under the Linux Foundation trademark usage guidelines.</a:t>
            </a:r>
          </a:p>
        </p:txBody>
      </p:sp>
      <p:sp>
        <p:nvSpPr>
          <p:cNvPr id="7" name="Rectangle 6"/>
          <p:cNvSpPr/>
          <p:nvPr/>
        </p:nvSpPr>
        <p:spPr>
          <a:xfrm>
            <a:off x="777240"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1661159" cy="45720"/>
          </a:xfrm>
          <a:prstGeom prst="rect">
            <a:avLst/>
          </a:prstGeom>
          <a:solidFill>
            <a:srgbClr val="1F6FEB"/>
          </a:solidFill>
          <a:ln>
            <a:noFill/>
          </a:ln>
          <a:effectLst/>
        </p:spPr>
        <p:txBody>
          <a:bodyPr rtlCol="0" anchor="ctr" wrap="square"/>
          <a:lstStyle/>
          <a:p>
            <a:pPr algn="ctr"/>
          </a:p>
        </p:txBody>
      </p:sp>
      <p:pic>
        <p:nvPicPr>
          <p:cNvPr id="9" name="Picture 8" descr="kubernetes.png"/>
          <p:cNvPicPr>
            <a:picLocks noChangeAspect="1"/>
          </p:cNvPicPr>
          <p:nvPr/>
        </p:nvPicPr>
        <p:blipFill>
          <a:blip r:embed="rId2"/>
          <a:stretch>
            <a:fillRect/>
          </a:stretch>
        </p:blipFill>
        <p:spPr>
          <a:xfrm>
            <a:off x="1315211" y="2355189"/>
            <a:ext cx="585216" cy="585216"/>
          </a:xfrm>
          <a:prstGeom prst="rect">
            <a:avLst/>
          </a:prstGeom>
        </p:spPr>
      </p:pic>
      <p:sp>
        <p:nvSpPr>
          <p:cNvPr id="10" name="TextBox 9"/>
          <p:cNvSpPr txBox="1"/>
          <p:nvPr/>
        </p:nvSpPr>
        <p:spPr>
          <a:xfrm>
            <a:off x="850392"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Kubernetes</a:t>
            </a:r>
          </a:p>
        </p:txBody>
      </p:sp>
      <p:sp>
        <p:nvSpPr>
          <p:cNvPr id="11" name="TextBox 10"/>
          <p:cNvSpPr txBox="1"/>
          <p:nvPr/>
        </p:nvSpPr>
        <p:spPr>
          <a:xfrm>
            <a:off x="850392"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Orchestration — the whole week</a:t>
            </a:r>
          </a:p>
        </p:txBody>
      </p:sp>
      <p:sp>
        <p:nvSpPr>
          <p:cNvPr id="12" name="Rectangle 11"/>
          <p:cNvSpPr/>
          <p:nvPr/>
        </p:nvSpPr>
        <p:spPr>
          <a:xfrm>
            <a:off x="2584703"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2584703" y="2208885"/>
            <a:ext cx="1661159" cy="45720"/>
          </a:xfrm>
          <a:prstGeom prst="rect">
            <a:avLst/>
          </a:prstGeom>
          <a:solidFill>
            <a:srgbClr val="10B981"/>
          </a:solidFill>
          <a:ln>
            <a:noFill/>
          </a:ln>
          <a:effectLst/>
        </p:spPr>
        <p:txBody>
          <a:bodyPr rtlCol="0" anchor="ctr" wrap="square"/>
          <a:lstStyle/>
          <a:p>
            <a:pPr algn="ctr"/>
          </a:p>
        </p:txBody>
      </p:sp>
      <p:pic>
        <p:nvPicPr>
          <p:cNvPr id="14" name="Picture 13" descr="containerd.png"/>
          <p:cNvPicPr>
            <a:picLocks noChangeAspect="1"/>
          </p:cNvPicPr>
          <p:nvPr/>
        </p:nvPicPr>
        <p:blipFill>
          <a:blip r:embed="rId3"/>
          <a:stretch>
            <a:fillRect/>
          </a:stretch>
        </p:blipFill>
        <p:spPr>
          <a:xfrm>
            <a:off x="3122675" y="2355189"/>
            <a:ext cx="585216" cy="585216"/>
          </a:xfrm>
          <a:prstGeom prst="rect">
            <a:avLst/>
          </a:prstGeom>
        </p:spPr>
      </p:pic>
      <p:sp>
        <p:nvSpPr>
          <p:cNvPr id="15" name="TextBox 14"/>
          <p:cNvSpPr txBox="1"/>
          <p:nvPr/>
        </p:nvSpPr>
        <p:spPr>
          <a:xfrm>
            <a:off x="2657855"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containerd</a:t>
            </a:r>
          </a:p>
        </p:txBody>
      </p:sp>
      <p:sp>
        <p:nvSpPr>
          <p:cNvPr id="16" name="TextBox 15"/>
          <p:cNvSpPr txBox="1"/>
          <p:nvPr/>
        </p:nvSpPr>
        <p:spPr>
          <a:xfrm>
            <a:off x="2657855"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CRI runtime — today, Module 2</a:t>
            </a:r>
          </a:p>
        </p:txBody>
      </p:sp>
      <p:sp>
        <p:nvSpPr>
          <p:cNvPr id="17" name="Rectangle 16"/>
          <p:cNvSpPr/>
          <p:nvPr/>
        </p:nvSpPr>
        <p:spPr>
          <a:xfrm>
            <a:off x="4392167"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4392167" y="2208885"/>
            <a:ext cx="1661159" cy="45720"/>
          </a:xfrm>
          <a:prstGeom prst="rect">
            <a:avLst/>
          </a:prstGeom>
          <a:solidFill>
            <a:srgbClr val="7C3AED"/>
          </a:solidFill>
          <a:ln>
            <a:noFill/>
          </a:ln>
          <a:effectLst/>
        </p:spPr>
        <p:txBody>
          <a:bodyPr rtlCol="0" anchor="ctr" wrap="square"/>
          <a:lstStyle/>
          <a:p>
            <a:pPr algn="ctr"/>
          </a:p>
        </p:txBody>
      </p:sp>
      <p:pic>
        <p:nvPicPr>
          <p:cNvPr id="19" name="Picture 18" descr="cri-o.png"/>
          <p:cNvPicPr>
            <a:picLocks noChangeAspect="1"/>
          </p:cNvPicPr>
          <p:nvPr/>
        </p:nvPicPr>
        <p:blipFill>
          <a:blip r:embed="rId4"/>
          <a:stretch>
            <a:fillRect/>
          </a:stretch>
        </p:blipFill>
        <p:spPr>
          <a:xfrm>
            <a:off x="4930139" y="2355189"/>
            <a:ext cx="585216" cy="585216"/>
          </a:xfrm>
          <a:prstGeom prst="rect">
            <a:avLst/>
          </a:prstGeom>
        </p:spPr>
      </p:pic>
      <p:sp>
        <p:nvSpPr>
          <p:cNvPr id="20" name="TextBox 19"/>
          <p:cNvSpPr txBox="1"/>
          <p:nvPr/>
        </p:nvSpPr>
        <p:spPr>
          <a:xfrm>
            <a:off x="4465320"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CRI-O</a:t>
            </a:r>
          </a:p>
        </p:txBody>
      </p:sp>
      <p:sp>
        <p:nvSpPr>
          <p:cNvPr id="21" name="TextBox 20"/>
          <p:cNvSpPr txBox="1"/>
          <p:nvPr/>
        </p:nvSpPr>
        <p:spPr>
          <a:xfrm>
            <a:off x="4465320"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Alternative CRI runtime — today</a:t>
            </a:r>
          </a:p>
        </p:txBody>
      </p:sp>
      <p:sp>
        <p:nvSpPr>
          <p:cNvPr id="22" name="Rectangle 21"/>
          <p:cNvSpPr/>
          <p:nvPr/>
        </p:nvSpPr>
        <p:spPr>
          <a:xfrm>
            <a:off x="6199631"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3" name="Rectangle 22"/>
          <p:cNvSpPr/>
          <p:nvPr/>
        </p:nvSpPr>
        <p:spPr>
          <a:xfrm>
            <a:off x="6199631" y="2208885"/>
            <a:ext cx="1661159" cy="45720"/>
          </a:xfrm>
          <a:prstGeom prst="rect">
            <a:avLst/>
          </a:prstGeom>
          <a:solidFill>
            <a:srgbClr val="F59E0B"/>
          </a:solidFill>
          <a:ln>
            <a:noFill/>
          </a:ln>
          <a:effectLst/>
        </p:spPr>
        <p:txBody>
          <a:bodyPr rtlCol="0" anchor="ctr" wrap="square"/>
          <a:lstStyle/>
          <a:p>
            <a:pPr algn="ctr"/>
          </a:p>
        </p:txBody>
      </p:sp>
      <p:pic>
        <p:nvPicPr>
          <p:cNvPr id="24" name="Picture 23" descr="etcd.png"/>
          <p:cNvPicPr>
            <a:picLocks noChangeAspect="1"/>
          </p:cNvPicPr>
          <p:nvPr/>
        </p:nvPicPr>
        <p:blipFill>
          <a:blip r:embed="rId5"/>
          <a:stretch>
            <a:fillRect/>
          </a:stretch>
        </p:blipFill>
        <p:spPr>
          <a:xfrm>
            <a:off x="6737603" y="2355189"/>
            <a:ext cx="585216" cy="585216"/>
          </a:xfrm>
          <a:prstGeom prst="rect">
            <a:avLst/>
          </a:prstGeom>
        </p:spPr>
      </p:pic>
      <p:sp>
        <p:nvSpPr>
          <p:cNvPr id="25" name="TextBox 24"/>
          <p:cNvSpPr txBox="1"/>
          <p:nvPr/>
        </p:nvSpPr>
        <p:spPr>
          <a:xfrm>
            <a:off x="6272783"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etcd</a:t>
            </a:r>
          </a:p>
        </p:txBody>
      </p:sp>
      <p:sp>
        <p:nvSpPr>
          <p:cNvPr id="26" name="TextBox 25"/>
          <p:cNvSpPr txBox="1"/>
          <p:nvPr/>
        </p:nvSpPr>
        <p:spPr>
          <a:xfrm>
            <a:off x="6272783"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Cluster datastore — today and Day 4</a:t>
            </a:r>
          </a:p>
        </p:txBody>
      </p:sp>
      <p:sp>
        <p:nvSpPr>
          <p:cNvPr id="27" name="Rectangle 26"/>
          <p:cNvSpPr/>
          <p:nvPr/>
        </p:nvSpPr>
        <p:spPr>
          <a:xfrm>
            <a:off x="8007095"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8007095" y="2208885"/>
            <a:ext cx="1661159" cy="45720"/>
          </a:xfrm>
          <a:prstGeom prst="rect">
            <a:avLst/>
          </a:prstGeom>
          <a:solidFill>
            <a:srgbClr val="1F6FEB"/>
          </a:solidFill>
          <a:ln>
            <a:noFill/>
          </a:ln>
          <a:effectLst/>
        </p:spPr>
        <p:txBody>
          <a:bodyPr rtlCol="0" anchor="ctr" wrap="square"/>
          <a:lstStyle/>
          <a:p>
            <a:pPr algn="ctr"/>
          </a:p>
        </p:txBody>
      </p:sp>
      <p:pic>
        <p:nvPicPr>
          <p:cNvPr id="29" name="Picture 28" descr="coredns.png"/>
          <p:cNvPicPr>
            <a:picLocks noChangeAspect="1"/>
          </p:cNvPicPr>
          <p:nvPr/>
        </p:nvPicPr>
        <p:blipFill>
          <a:blip r:embed="rId6"/>
          <a:stretch>
            <a:fillRect/>
          </a:stretch>
        </p:blipFill>
        <p:spPr>
          <a:xfrm>
            <a:off x="8545067" y="2355189"/>
            <a:ext cx="585216" cy="585216"/>
          </a:xfrm>
          <a:prstGeom prst="rect">
            <a:avLst/>
          </a:prstGeom>
        </p:spPr>
      </p:pic>
      <p:sp>
        <p:nvSpPr>
          <p:cNvPr id="30" name="TextBox 29"/>
          <p:cNvSpPr txBox="1"/>
          <p:nvPr/>
        </p:nvSpPr>
        <p:spPr>
          <a:xfrm>
            <a:off x="8080247"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CoreDNS</a:t>
            </a:r>
          </a:p>
        </p:txBody>
      </p:sp>
      <p:sp>
        <p:nvSpPr>
          <p:cNvPr id="31" name="TextBox 30"/>
          <p:cNvSpPr txBox="1"/>
          <p:nvPr/>
        </p:nvSpPr>
        <p:spPr>
          <a:xfrm>
            <a:off x="8080247"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Cluster DNS — Day 3</a:t>
            </a:r>
          </a:p>
        </p:txBody>
      </p:sp>
      <p:sp>
        <p:nvSpPr>
          <p:cNvPr id="32" name="Rectangle 31"/>
          <p:cNvSpPr/>
          <p:nvPr/>
        </p:nvSpPr>
        <p:spPr>
          <a:xfrm>
            <a:off x="9814559" y="2208885"/>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3" name="Rectangle 32"/>
          <p:cNvSpPr/>
          <p:nvPr/>
        </p:nvSpPr>
        <p:spPr>
          <a:xfrm>
            <a:off x="9814559" y="2208885"/>
            <a:ext cx="1661159" cy="45720"/>
          </a:xfrm>
          <a:prstGeom prst="rect">
            <a:avLst/>
          </a:prstGeom>
          <a:solidFill>
            <a:srgbClr val="10B981"/>
          </a:solidFill>
          <a:ln>
            <a:noFill/>
          </a:ln>
          <a:effectLst/>
        </p:spPr>
        <p:txBody>
          <a:bodyPr rtlCol="0" anchor="ctr" wrap="square"/>
          <a:lstStyle/>
          <a:p>
            <a:pPr algn="ctr"/>
          </a:p>
        </p:txBody>
      </p:sp>
      <p:pic>
        <p:nvPicPr>
          <p:cNvPr id="34" name="Picture 33" descr="cilium.png"/>
          <p:cNvPicPr>
            <a:picLocks noChangeAspect="1"/>
          </p:cNvPicPr>
          <p:nvPr/>
        </p:nvPicPr>
        <p:blipFill>
          <a:blip r:embed="rId7"/>
          <a:stretch>
            <a:fillRect/>
          </a:stretch>
        </p:blipFill>
        <p:spPr>
          <a:xfrm>
            <a:off x="10356454" y="2355189"/>
            <a:ext cx="577370" cy="585216"/>
          </a:xfrm>
          <a:prstGeom prst="rect">
            <a:avLst/>
          </a:prstGeom>
        </p:spPr>
      </p:pic>
      <p:sp>
        <p:nvSpPr>
          <p:cNvPr id="35" name="TextBox 34"/>
          <p:cNvSpPr txBox="1"/>
          <p:nvPr/>
        </p:nvSpPr>
        <p:spPr>
          <a:xfrm>
            <a:off x="9887711" y="3013557"/>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Cilium</a:t>
            </a:r>
          </a:p>
        </p:txBody>
      </p:sp>
      <p:sp>
        <p:nvSpPr>
          <p:cNvPr id="36" name="TextBox 35"/>
          <p:cNvSpPr txBox="1"/>
          <p:nvPr/>
        </p:nvSpPr>
        <p:spPr>
          <a:xfrm>
            <a:off x="9887711" y="3233013"/>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CNI and network policy — Day 3</a:t>
            </a:r>
          </a:p>
        </p:txBody>
      </p:sp>
      <p:sp>
        <p:nvSpPr>
          <p:cNvPr id="37" name="Rectangle 36"/>
          <p:cNvSpPr/>
          <p:nvPr/>
        </p:nvSpPr>
        <p:spPr>
          <a:xfrm>
            <a:off x="777240"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8" name="Rectangle 37"/>
          <p:cNvSpPr/>
          <p:nvPr/>
        </p:nvSpPr>
        <p:spPr>
          <a:xfrm>
            <a:off x="777240" y="3818229"/>
            <a:ext cx="1661159" cy="45720"/>
          </a:xfrm>
          <a:prstGeom prst="rect">
            <a:avLst/>
          </a:prstGeom>
          <a:solidFill>
            <a:srgbClr val="7C3AED"/>
          </a:solidFill>
          <a:ln>
            <a:noFill/>
          </a:ln>
          <a:effectLst/>
        </p:spPr>
        <p:txBody>
          <a:bodyPr rtlCol="0" anchor="ctr" wrap="square"/>
          <a:lstStyle/>
          <a:p>
            <a:pPr algn="ctr"/>
          </a:p>
        </p:txBody>
      </p:sp>
      <p:pic>
        <p:nvPicPr>
          <p:cNvPr id="39" name="Picture 38" descr="helm.png"/>
          <p:cNvPicPr>
            <a:picLocks noChangeAspect="1"/>
          </p:cNvPicPr>
          <p:nvPr/>
        </p:nvPicPr>
        <p:blipFill>
          <a:blip r:embed="rId8"/>
          <a:stretch>
            <a:fillRect/>
          </a:stretch>
        </p:blipFill>
        <p:spPr>
          <a:xfrm>
            <a:off x="1315211" y="3964533"/>
            <a:ext cx="585216" cy="585216"/>
          </a:xfrm>
          <a:prstGeom prst="rect">
            <a:avLst/>
          </a:prstGeom>
        </p:spPr>
      </p:pic>
      <p:sp>
        <p:nvSpPr>
          <p:cNvPr id="40" name="TextBox 39"/>
          <p:cNvSpPr txBox="1"/>
          <p:nvPr/>
        </p:nvSpPr>
        <p:spPr>
          <a:xfrm>
            <a:off x="850392"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Helm</a:t>
            </a:r>
          </a:p>
        </p:txBody>
      </p:sp>
      <p:sp>
        <p:nvSpPr>
          <p:cNvPr id="41" name="TextBox 40"/>
          <p:cNvSpPr txBox="1"/>
          <p:nvPr/>
        </p:nvSpPr>
        <p:spPr>
          <a:xfrm>
            <a:off x="850392"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Packaging — Day 4</a:t>
            </a:r>
          </a:p>
        </p:txBody>
      </p:sp>
      <p:sp>
        <p:nvSpPr>
          <p:cNvPr id="42" name="Rectangle 41"/>
          <p:cNvSpPr/>
          <p:nvPr/>
        </p:nvSpPr>
        <p:spPr>
          <a:xfrm>
            <a:off x="2584703"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3" name="Rectangle 42"/>
          <p:cNvSpPr/>
          <p:nvPr/>
        </p:nvSpPr>
        <p:spPr>
          <a:xfrm>
            <a:off x="2584703" y="3818229"/>
            <a:ext cx="1661159" cy="45720"/>
          </a:xfrm>
          <a:prstGeom prst="rect">
            <a:avLst/>
          </a:prstGeom>
          <a:solidFill>
            <a:srgbClr val="F59E0B"/>
          </a:solidFill>
          <a:ln>
            <a:noFill/>
          </a:ln>
          <a:effectLst/>
        </p:spPr>
        <p:txBody>
          <a:bodyPr rtlCol="0" anchor="ctr" wrap="square"/>
          <a:lstStyle/>
          <a:p>
            <a:pPr algn="ctr"/>
          </a:p>
        </p:txBody>
      </p:sp>
      <p:pic>
        <p:nvPicPr>
          <p:cNvPr id="44" name="Picture 43" descr="argo.png"/>
          <p:cNvPicPr>
            <a:picLocks noChangeAspect="1"/>
          </p:cNvPicPr>
          <p:nvPr/>
        </p:nvPicPr>
        <p:blipFill>
          <a:blip r:embed="rId9"/>
          <a:stretch>
            <a:fillRect/>
          </a:stretch>
        </p:blipFill>
        <p:spPr>
          <a:xfrm>
            <a:off x="3187699" y="3964533"/>
            <a:ext cx="455168" cy="585216"/>
          </a:xfrm>
          <a:prstGeom prst="rect">
            <a:avLst/>
          </a:prstGeom>
        </p:spPr>
      </p:pic>
      <p:sp>
        <p:nvSpPr>
          <p:cNvPr id="45" name="TextBox 44"/>
          <p:cNvSpPr txBox="1"/>
          <p:nvPr/>
        </p:nvSpPr>
        <p:spPr>
          <a:xfrm>
            <a:off x="2657855"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Argo CD</a:t>
            </a:r>
          </a:p>
        </p:txBody>
      </p:sp>
      <p:sp>
        <p:nvSpPr>
          <p:cNvPr id="46" name="TextBox 45"/>
          <p:cNvSpPr txBox="1"/>
          <p:nvPr/>
        </p:nvSpPr>
        <p:spPr>
          <a:xfrm>
            <a:off x="2657855"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GitOps delivery — Day 4</a:t>
            </a:r>
          </a:p>
        </p:txBody>
      </p:sp>
      <p:sp>
        <p:nvSpPr>
          <p:cNvPr id="47" name="Rectangle 46"/>
          <p:cNvSpPr/>
          <p:nvPr/>
        </p:nvSpPr>
        <p:spPr>
          <a:xfrm>
            <a:off x="4392167"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8" name="Rectangle 47"/>
          <p:cNvSpPr/>
          <p:nvPr/>
        </p:nvSpPr>
        <p:spPr>
          <a:xfrm>
            <a:off x="4392167" y="3818229"/>
            <a:ext cx="1661159" cy="45720"/>
          </a:xfrm>
          <a:prstGeom prst="rect">
            <a:avLst/>
          </a:prstGeom>
          <a:solidFill>
            <a:srgbClr val="1F6FEB"/>
          </a:solidFill>
          <a:ln>
            <a:noFill/>
          </a:ln>
          <a:effectLst/>
        </p:spPr>
        <p:txBody>
          <a:bodyPr rtlCol="0" anchor="ctr" wrap="square"/>
          <a:lstStyle/>
          <a:p>
            <a:pPr algn="ctr"/>
          </a:p>
        </p:txBody>
      </p:sp>
      <p:pic>
        <p:nvPicPr>
          <p:cNvPr id="49" name="Picture 48" descr="prometheus.png"/>
          <p:cNvPicPr>
            <a:picLocks noChangeAspect="1"/>
          </p:cNvPicPr>
          <p:nvPr/>
        </p:nvPicPr>
        <p:blipFill>
          <a:blip r:embed="rId10"/>
          <a:stretch>
            <a:fillRect/>
          </a:stretch>
        </p:blipFill>
        <p:spPr>
          <a:xfrm>
            <a:off x="4930139" y="3964533"/>
            <a:ext cx="585216" cy="585216"/>
          </a:xfrm>
          <a:prstGeom prst="rect">
            <a:avLst/>
          </a:prstGeom>
        </p:spPr>
      </p:pic>
      <p:sp>
        <p:nvSpPr>
          <p:cNvPr id="50" name="TextBox 49"/>
          <p:cNvSpPr txBox="1"/>
          <p:nvPr/>
        </p:nvSpPr>
        <p:spPr>
          <a:xfrm>
            <a:off x="4465320"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Prometheus</a:t>
            </a:r>
          </a:p>
        </p:txBody>
      </p:sp>
      <p:sp>
        <p:nvSpPr>
          <p:cNvPr id="51" name="TextBox 50"/>
          <p:cNvSpPr txBox="1"/>
          <p:nvPr/>
        </p:nvSpPr>
        <p:spPr>
          <a:xfrm>
            <a:off x="4465320"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Metrics — Day 5</a:t>
            </a:r>
          </a:p>
        </p:txBody>
      </p:sp>
      <p:sp>
        <p:nvSpPr>
          <p:cNvPr id="52" name="Rectangle 51"/>
          <p:cNvSpPr/>
          <p:nvPr/>
        </p:nvSpPr>
        <p:spPr>
          <a:xfrm>
            <a:off x="6199631"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3" name="Rectangle 52"/>
          <p:cNvSpPr/>
          <p:nvPr/>
        </p:nvSpPr>
        <p:spPr>
          <a:xfrm>
            <a:off x="6199631" y="3818229"/>
            <a:ext cx="1661159" cy="45720"/>
          </a:xfrm>
          <a:prstGeom prst="rect">
            <a:avLst/>
          </a:prstGeom>
          <a:solidFill>
            <a:srgbClr val="10B981"/>
          </a:solidFill>
          <a:ln>
            <a:noFill/>
          </a:ln>
          <a:effectLst/>
        </p:spPr>
        <p:txBody>
          <a:bodyPr rtlCol="0" anchor="ctr" wrap="square"/>
          <a:lstStyle/>
          <a:p>
            <a:pPr algn="ctr"/>
          </a:p>
        </p:txBody>
      </p:sp>
      <p:pic>
        <p:nvPicPr>
          <p:cNvPr id="54" name="Picture 53" descr="opentelemetry.png"/>
          <p:cNvPicPr>
            <a:picLocks noChangeAspect="1"/>
          </p:cNvPicPr>
          <p:nvPr/>
        </p:nvPicPr>
        <p:blipFill>
          <a:blip r:embed="rId11"/>
          <a:stretch>
            <a:fillRect/>
          </a:stretch>
        </p:blipFill>
        <p:spPr>
          <a:xfrm>
            <a:off x="6737603" y="3964533"/>
            <a:ext cx="585216" cy="585216"/>
          </a:xfrm>
          <a:prstGeom prst="rect">
            <a:avLst/>
          </a:prstGeom>
        </p:spPr>
      </p:pic>
      <p:sp>
        <p:nvSpPr>
          <p:cNvPr id="55" name="TextBox 54"/>
          <p:cNvSpPr txBox="1"/>
          <p:nvPr/>
        </p:nvSpPr>
        <p:spPr>
          <a:xfrm>
            <a:off x="6272783"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OpenTelemetry</a:t>
            </a:r>
          </a:p>
        </p:txBody>
      </p:sp>
      <p:sp>
        <p:nvSpPr>
          <p:cNvPr id="56" name="TextBox 55"/>
          <p:cNvSpPr txBox="1"/>
          <p:nvPr/>
        </p:nvSpPr>
        <p:spPr>
          <a:xfrm>
            <a:off x="6272783"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Traces, metrics, logs — Day 5</a:t>
            </a:r>
          </a:p>
        </p:txBody>
      </p:sp>
      <p:sp>
        <p:nvSpPr>
          <p:cNvPr id="57" name="Rectangle 56"/>
          <p:cNvSpPr/>
          <p:nvPr/>
        </p:nvSpPr>
        <p:spPr>
          <a:xfrm>
            <a:off x="8007095"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8" name="Rectangle 57"/>
          <p:cNvSpPr/>
          <p:nvPr/>
        </p:nvSpPr>
        <p:spPr>
          <a:xfrm>
            <a:off x="8007095" y="3818229"/>
            <a:ext cx="1661159" cy="45720"/>
          </a:xfrm>
          <a:prstGeom prst="rect">
            <a:avLst/>
          </a:prstGeom>
          <a:solidFill>
            <a:srgbClr val="7C3AED"/>
          </a:solidFill>
          <a:ln>
            <a:noFill/>
          </a:ln>
          <a:effectLst/>
        </p:spPr>
        <p:txBody>
          <a:bodyPr rtlCol="0" anchor="ctr" wrap="square"/>
          <a:lstStyle/>
          <a:p>
            <a:pPr algn="ctr"/>
          </a:p>
        </p:txBody>
      </p:sp>
      <p:pic>
        <p:nvPicPr>
          <p:cNvPr id="59" name="Picture 58" descr="fluentd.png"/>
          <p:cNvPicPr>
            <a:picLocks noChangeAspect="1"/>
          </p:cNvPicPr>
          <p:nvPr/>
        </p:nvPicPr>
        <p:blipFill>
          <a:blip r:embed="rId12"/>
          <a:stretch>
            <a:fillRect/>
          </a:stretch>
        </p:blipFill>
        <p:spPr>
          <a:xfrm>
            <a:off x="8545067" y="3964533"/>
            <a:ext cx="585216" cy="585216"/>
          </a:xfrm>
          <a:prstGeom prst="rect">
            <a:avLst/>
          </a:prstGeom>
        </p:spPr>
      </p:pic>
      <p:sp>
        <p:nvSpPr>
          <p:cNvPr id="60" name="TextBox 59"/>
          <p:cNvSpPr txBox="1"/>
          <p:nvPr/>
        </p:nvSpPr>
        <p:spPr>
          <a:xfrm>
            <a:off x="8080247"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Fluentd</a:t>
            </a:r>
          </a:p>
        </p:txBody>
      </p:sp>
      <p:sp>
        <p:nvSpPr>
          <p:cNvPr id="61" name="TextBox 60"/>
          <p:cNvSpPr txBox="1"/>
          <p:nvPr/>
        </p:nvSpPr>
        <p:spPr>
          <a:xfrm>
            <a:off x="8080247"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Log pipeline — Day 5</a:t>
            </a:r>
          </a:p>
        </p:txBody>
      </p:sp>
      <p:sp>
        <p:nvSpPr>
          <p:cNvPr id="62" name="Rectangle 61"/>
          <p:cNvSpPr/>
          <p:nvPr/>
        </p:nvSpPr>
        <p:spPr>
          <a:xfrm>
            <a:off x="9814559" y="3818229"/>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63" name="Rectangle 62"/>
          <p:cNvSpPr/>
          <p:nvPr/>
        </p:nvSpPr>
        <p:spPr>
          <a:xfrm>
            <a:off x="9814559" y="3818229"/>
            <a:ext cx="1661159" cy="45720"/>
          </a:xfrm>
          <a:prstGeom prst="rect">
            <a:avLst/>
          </a:prstGeom>
          <a:solidFill>
            <a:srgbClr val="F59E0B"/>
          </a:solidFill>
          <a:ln>
            <a:noFill/>
          </a:ln>
          <a:effectLst/>
        </p:spPr>
        <p:txBody>
          <a:bodyPr rtlCol="0" anchor="ctr" wrap="square"/>
          <a:lstStyle/>
          <a:p>
            <a:pPr algn="ctr"/>
          </a:p>
        </p:txBody>
      </p:sp>
      <p:pic>
        <p:nvPicPr>
          <p:cNvPr id="64" name="Picture 63" descr="envoy.png"/>
          <p:cNvPicPr>
            <a:picLocks noChangeAspect="1"/>
          </p:cNvPicPr>
          <p:nvPr/>
        </p:nvPicPr>
        <p:blipFill>
          <a:blip r:embed="rId13"/>
          <a:stretch>
            <a:fillRect/>
          </a:stretch>
        </p:blipFill>
        <p:spPr>
          <a:xfrm>
            <a:off x="10352531" y="3964533"/>
            <a:ext cx="585216" cy="585216"/>
          </a:xfrm>
          <a:prstGeom prst="rect">
            <a:avLst/>
          </a:prstGeom>
        </p:spPr>
      </p:pic>
      <p:sp>
        <p:nvSpPr>
          <p:cNvPr id="65" name="TextBox 64"/>
          <p:cNvSpPr txBox="1"/>
          <p:nvPr/>
        </p:nvSpPr>
        <p:spPr>
          <a:xfrm>
            <a:off x="9887711" y="4622901"/>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Envoy</a:t>
            </a:r>
          </a:p>
        </p:txBody>
      </p:sp>
      <p:sp>
        <p:nvSpPr>
          <p:cNvPr id="66" name="TextBox 65"/>
          <p:cNvSpPr txBox="1"/>
          <p:nvPr/>
        </p:nvSpPr>
        <p:spPr>
          <a:xfrm>
            <a:off x="9887711" y="4842357"/>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L7 proxy, mesh data plane — Day 3</a:t>
            </a:r>
          </a:p>
        </p:txBody>
      </p:sp>
      <p:sp>
        <p:nvSpPr>
          <p:cNvPr id="67" name="TextBox 6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Counted from github.com/cncf/landscape landscape.yml (project maturity field), retrieved 5 Sep 2026. Artwork: github.com/cncf/artwork.</a:t>
            </a:r>
          </a:p>
        </p:txBody>
      </p:sp>
      <p:sp>
        <p:nvSpPr>
          <p:cNvPr id="68" name="TextBox 6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9" name="TextBox 6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0" name="TextBox 6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a:t>
            </a:r>
          </a:p>
        </p:txBody>
      </p:sp>
    </p:spTree>
  </p:cSld>
  <p:clrMapOvr>
    <a:masterClrMapping/>
  </p:clrMapOvr>
  <p:transition xmlns:ns1="http://schemas.openxmlformats.org/markup-compatibility/2006" spd="fast" ns1:Ignorable="p14">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WHY ORCHESTRATION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Jobs No Container Runtime Does For You</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Kubernetes adds over 'docker run' falls into one of these three buckets. Say which one when you justify the PoC.</a:t>
            </a:r>
          </a:p>
        </p:txBody>
      </p:sp>
      <p:sp>
        <p:nvSpPr>
          <p:cNvPr id="7" name="Rectangle 6"/>
          <p:cNvSpPr/>
          <p:nvPr/>
        </p:nvSpPr>
        <p:spPr>
          <a:xfrm>
            <a:off x="777240"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Placement</a:t>
            </a:r>
          </a:p>
        </p:txBody>
      </p:sp>
      <p:sp>
        <p:nvSpPr>
          <p:cNvPr id="10" name="TextBox 9"/>
          <p:cNvSpPr txBox="1"/>
          <p:nvPr/>
        </p:nvSpPr>
        <p:spPr>
          <a:xfrm>
            <a:off x="1033271"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runtime starts a container where you tell it to.</a:t>
            </a:r>
          </a:p>
          <a:p>
            <a:pPr>
              <a:lnSpc>
                <a:spcPct val="112000"/>
              </a:lnSpc>
              <a:spcAft>
                <a:spcPts val="500"/>
              </a:spcAft>
            </a:pPr>
            <a:r>
              <a:rPr sz="1100">
                <a:solidFill>
                  <a:srgbClr val="94A3B8"/>
                </a:solidFill>
                <a:latin typeface="Arial"/>
              </a:rPr>
              <a:t>•  </a:t>
            </a:r>
            <a:r>
              <a:rPr sz="1100">
                <a:solidFill>
                  <a:srgbClr val="5B6372"/>
                </a:solidFill>
                <a:latin typeface="Arial"/>
              </a:rPr>
              <a:t>A scheduler decides which node can actually host it — CPU, memory, taints, affinity, topology.</a:t>
            </a:r>
          </a:p>
          <a:p>
            <a:pPr>
              <a:lnSpc>
                <a:spcPct val="112000"/>
              </a:lnSpc>
              <a:spcAft>
                <a:spcPts val="500"/>
              </a:spcAft>
            </a:pPr>
            <a:r>
              <a:rPr sz="1100">
                <a:solidFill>
                  <a:srgbClr val="94A3B8"/>
                </a:solidFill>
                <a:latin typeface="Arial"/>
              </a:rPr>
              <a:t>•  </a:t>
            </a:r>
            <a:r>
              <a:rPr sz="1100">
                <a:solidFill>
                  <a:srgbClr val="5B6372"/>
                </a:solidFill>
                <a:latin typeface="Arial"/>
              </a:rPr>
              <a:t>It re-decides every time a Pod is created.</a:t>
            </a:r>
          </a:p>
        </p:txBody>
      </p:sp>
      <p:sp>
        <p:nvSpPr>
          <p:cNvPr id="11" name="Rounded Rectangle 10"/>
          <p:cNvSpPr/>
          <p:nvPr/>
        </p:nvSpPr>
        <p:spPr>
          <a:xfrm>
            <a:off x="1033271" y="5532119"/>
            <a:ext cx="114300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kube-scheduler</a:t>
            </a:r>
          </a:p>
        </p:txBody>
      </p:sp>
      <p:sp>
        <p:nvSpPr>
          <p:cNvPr id="12" name="Rounded Rectangle 11"/>
          <p:cNvSpPr/>
          <p:nvPr/>
        </p:nvSpPr>
        <p:spPr>
          <a:xfrm>
            <a:off x="2267712" y="5532119"/>
            <a:ext cx="10744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spec.nodeName</a:t>
            </a:r>
          </a:p>
        </p:txBody>
      </p:sp>
      <p:sp>
        <p:nvSpPr>
          <p:cNvPr id="13" name="Rectangle 12"/>
          <p:cNvSpPr/>
          <p:nvPr/>
        </p:nvSpPr>
        <p:spPr>
          <a:xfrm>
            <a:off x="4483303"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8885"/>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Healing</a:t>
            </a:r>
          </a:p>
        </p:txBody>
      </p:sp>
      <p:sp>
        <p:nvSpPr>
          <p:cNvPr id="16" name="TextBox 15"/>
          <p:cNvSpPr txBox="1"/>
          <p:nvPr/>
        </p:nvSpPr>
        <p:spPr>
          <a:xfrm>
            <a:off x="4739335"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runtime restarts a process if you configure it to.</a:t>
            </a:r>
          </a:p>
          <a:p>
            <a:pPr>
              <a:lnSpc>
                <a:spcPct val="112000"/>
              </a:lnSpc>
              <a:spcAft>
                <a:spcPts val="500"/>
              </a:spcAft>
            </a:pPr>
            <a:r>
              <a:rPr sz="1100">
                <a:solidFill>
                  <a:srgbClr val="94A3B8"/>
                </a:solidFill>
                <a:latin typeface="Arial"/>
              </a:rPr>
              <a:t>•  </a:t>
            </a:r>
            <a:r>
              <a:rPr sz="1100">
                <a:solidFill>
                  <a:srgbClr val="5B6372"/>
                </a:solidFill>
                <a:latin typeface="Arial"/>
              </a:rPr>
              <a:t>A controller compares observed replicas against declared replicas and creates replacements on surviving nodes.</a:t>
            </a:r>
          </a:p>
          <a:p>
            <a:pPr>
              <a:lnSpc>
                <a:spcPct val="112000"/>
              </a:lnSpc>
              <a:spcAft>
                <a:spcPts val="500"/>
              </a:spcAft>
            </a:pPr>
            <a:r>
              <a:rPr sz="1100">
                <a:solidFill>
                  <a:srgbClr val="94A3B8"/>
                </a:solidFill>
                <a:latin typeface="Arial"/>
              </a:rPr>
              <a:t>•  </a:t>
            </a:r>
            <a:r>
              <a:rPr sz="1100">
                <a:solidFill>
                  <a:srgbClr val="5B6372"/>
                </a:solidFill>
                <a:latin typeface="Arial"/>
              </a:rPr>
              <a:t>Node loss is an ordinary, handled event.</a:t>
            </a:r>
          </a:p>
        </p:txBody>
      </p:sp>
      <p:sp>
        <p:nvSpPr>
          <p:cNvPr id="17" name="Rounded Rectangle 16"/>
          <p:cNvSpPr/>
          <p:nvPr/>
        </p:nvSpPr>
        <p:spPr>
          <a:xfrm>
            <a:off x="4739335" y="5532119"/>
            <a:ext cx="1417319"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controller-manager</a:t>
            </a:r>
          </a:p>
        </p:txBody>
      </p:sp>
      <p:sp>
        <p:nvSpPr>
          <p:cNvPr id="18" name="Rounded Rectangle 17"/>
          <p:cNvSpPr/>
          <p:nvPr/>
        </p:nvSpPr>
        <p:spPr>
          <a:xfrm>
            <a:off x="6248095" y="5532119"/>
            <a:ext cx="11430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reconciliation</a:t>
            </a:r>
          </a:p>
        </p:txBody>
      </p:sp>
      <p:sp>
        <p:nvSpPr>
          <p:cNvPr id="19" name="Rectangle 18"/>
          <p:cNvSpPr/>
          <p:nvPr/>
        </p:nvSpPr>
        <p:spPr>
          <a:xfrm>
            <a:off x="8189366"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8885"/>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Change</a:t>
            </a:r>
          </a:p>
        </p:txBody>
      </p:sp>
      <p:sp>
        <p:nvSpPr>
          <p:cNvPr id="22" name="TextBox 21"/>
          <p:cNvSpPr txBox="1"/>
          <p:nvPr/>
        </p:nvSpPr>
        <p:spPr>
          <a:xfrm>
            <a:off x="8445398"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runtime has no idea what 'version 2' means.</a:t>
            </a:r>
          </a:p>
          <a:p>
            <a:pPr>
              <a:lnSpc>
                <a:spcPct val="112000"/>
              </a:lnSpc>
              <a:spcAft>
                <a:spcPts val="500"/>
              </a:spcAft>
            </a:pPr>
            <a:r>
              <a:rPr sz="1100">
                <a:solidFill>
                  <a:srgbClr val="94A3B8"/>
                </a:solidFill>
                <a:latin typeface="Arial"/>
              </a:rPr>
              <a:t>•  </a:t>
            </a:r>
            <a:r>
              <a:rPr sz="1100">
                <a:solidFill>
                  <a:srgbClr val="5B6372"/>
                </a:solidFill>
                <a:latin typeface="Arial"/>
              </a:rPr>
              <a:t>A controller sequences a rollout, watches readiness, and stops or reverses on failure.</a:t>
            </a:r>
          </a:p>
          <a:p>
            <a:pPr>
              <a:lnSpc>
                <a:spcPct val="112000"/>
              </a:lnSpc>
              <a:spcAft>
                <a:spcPts val="500"/>
              </a:spcAft>
            </a:pPr>
            <a:r>
              <a:rPr sz="1100">
                <a:solidFill>
                  <a:srgbClr val="94A3B8"/>
                </a:solidFill>
                <a:latin typeface="Arial"/>
              </a:rPr>
              <a:t>•  </a:t>
            </a:r>
            <a:r>
              <a:rPr sz="1100">
                <a:solidFill>
                  <a:srgbClr val="5B6372"/>
                </a:solidFill>
                <a:latin typeface="Arial"/>
              </a:rPr>
              <a:t>The declared state is the record of intent.</a:t>
            </a:r>
          </a:p>
        </p:txBody>
      </p:sp>
      <p:sp>
        <p:nvSpPr>
          <p:cNvPr id="23" name="Rounded Rectangle 22"/>
          <p:cNvSpPr/>
          <p:nvPr/>
        </p:nvSpPr>
        <p:spPr>
          <a:xfrm>
            <a:off x="8445398" y="5532119"/>
            <a:ext cx="8686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Deployment</a:t>
            </a:r>
          </a:p>
        </p:txBody>
      </p:sp>
      <p:sp>
        <p:nvSpPr>
          <p:cNvPr id="24" name="Rounded Rectangle 23"/>
          <p:cNvSpPr/>
          <p:nvPr/>
        </p:nvSpPr>
        <p:spPr>
          <a:xfrm>
            <a:off x="9405518" y="5532119"/>
            <a:ext cx="11430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rollout status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a:t>
            </a:r>
          </a:p>
        </p:txBody>
      </p:sp>
    </p:spTree>
  </p:cSld>
  <p:clrMapOvr>
    <a:masterClrMapping/>
  </p:clrMapOvr>
  <p:transition xmlns:ns1="http://schemas.openxmlformats.org/markup-compatibility/2006" spd="fast" ns1:Ignorable="p14">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COMMUNITY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Roles Around a Cloud Native Platform</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KCNA's community domain expects you to recognise these roles and the boundaries between them.</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Application developer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the container image and the workload manifest. Should not need to know how the CNI plugin is configured.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Platform engineer</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the cluster as a product: namespaces, quotas, base policy, golden paths and the tooling other teams consume.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Site reliability engineer</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service level objectives, on-call, capacity and the observability pipeline that makes those measurable.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Security engineer</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RBAC, admission policy, supply chain provenance, secrets handling and network isolation.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Architect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the trade-off record: what is standardised, what is allowed to vary, and why. That is this course's LO3.</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Contributor and end user</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CNCF explicitly routes adopter feedback into project direction — participation is part of the model, not charity.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 CNCF Charter and governance pages — cncf.io/about/charter/; Kubernetes community structure — github.com/kubernetes/community.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a:t>
            </a:r>
          </a:p>
        </p:txBody>
      </p:sp>
    </p:spTree>
  </p:cSld>
  <p:clrMapOvr>
    <a:masterClrMapping/>
  </p:clrMapOvr>
  <p:transition xmlns:ns1="http://schemas.openxmlformats.org/markup-compatibility/2006" spd="fast" ns1:Ignorable="p14">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JUDGEMENT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Does This Workload Belong on Kubernetes?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proof of concept that recommends Kubernetes for everything is not an architecture; it is an advertisement.</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the workload need placement, healing or rolling change — and can it tolerate being restarted?</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orchestrate it</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Stateless or state-externalised services</a:t>
            </a:r>
          </a:p>
          <a:p>
            <a:pPr>
              <a:lnSpc>
                <a:spcPct val="112000"/>
              </a:lnSpc>
              <a:spcAft>
                <a:spcPts val="500"/>
              </a:spcAft>
            </a:pPr>
            <a:r>
              <a:rPr sz="1100">
                <a:solidFill>
                  <a:srgbClr val="94A3B8"/>
                </a:solidFill>
                <a:latin typeface="Arial"/>
              </a:rPr>
              <a:t>•  </a:t>
            </a:r>
            <a:r>
              <a:rPr sz="1100">
                <a:solidFill>
                  <a:srgbClr val="5B6372"/>
                </a:solidFill>
                <a:latin typeface="Arial"/>
              </a:rPr>
              <a:t>Anything horizontally scaled or frequently released</a:t>
            </a:r>
          </a:p>
          <a:p>
            <a:pPr>
              <a:lnSpc>
                <a:spcPct val="112000"/>
              </a:lnSpc>
              <a:spcAft>
                <a:spcPts val="500"/>
              </a:spcAft>
            </a:pPr>
            <a:r>
              <a:rPr sz="1100">
                <a:solidFill>
                  <a:srgbClr val="94A3B8"/>
                </a:solidFill>
                <a:latin typeface="Arial"/>
              </a:rPr>
              <a:t>•  </a:t>
            </a:r>
            <a:r>
              <a:rPr sz="1100">
                <a:solidFill>
                  <a:srgbClr val="5B6372"/>
                </a:solidFill>
                <a:latin typeface="Arial"/>
              </a:rPr>
              <a:t>Batch work that must be retried and tracked</a:t>
            </a:r>
          </a:p>
          <a:p>
            <a:pPr>
              <a:lnSpc>
                <a:spcPct val="112000"/>
              </a:lnSpc>
              <a:spcAft>
                <a:spcPts val="500"/>
              </a:spcAft>
            </a:pPr>
            <a:r>
              <a:rPr sz="1100">
                <a:solidFill>
                  <a:srgbClr val="94A3B8"/>
                </a:solidFill>
                <a:latin typeface="Arial"/>
              </a:rPr>
              <a:t>•  </a:t>
            </a:r>
            <a:r>
              <a:rPr sz="1100">
                <a:solidFill>
                  <a:srgbClr val="5B6372"/>
                </a:solidFill>
                <a:latin typeface="Arial"/>
              </a:rPr>
              <a:t>Workloads that must survive node loss without a human</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or not yet</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Single-instance appliances with licence pinning to hardware</a:t>
            </a:r>
          </a:p>
          <a:p>
            <a:pPr>
              <a:lnSpc>
                <a:spcPct val="112000"/>
              </a:lnSpc>
              <a:spcAft>
                <a:spcPts val="500"/>
              </a:spcAft>
            </a:pPr>
            <a:r>
              <a:rPr sz="1100">
                <a:solidFill>
                  <a:srgbClr val="94A3B8"/>
                </a:solidFill>
                <a:latin typeface="Arial"/>
              </a:rPr>
              <a:t>•  </a:t>
            </a:r>
            <a:r>
              <a:rPr sz="1100">
                <a:solidFill>
                  <a:srgbClr val="5B6372"/>
                </a:solidFill>
                <a:latin typeface="Arial"/>
              </a:rPr>
              <a:t>Workloads whose vendor forbids containerisation or restarts</a:t>
            </a:r>
          </a:p>
          <a:p>
            <a:pPr>
              <a:lnSpc>
                <a:spcPct val="112000"/>
              </a:lnSpc>
              <a:spcAft>
                <a:spcPts val="500"/>
              </a:spcAft>
            </a:pPr>
            <a:r>
              <a:rPr sz="1100">
                <a:solidFill>
                  <a:srgbClr val="94A3B8"/>
                </a:solidFill>
                <a:latin typeface="Arial"/>
              </a:rPr>
              <a:t>•  </a:t>
            </a:r>
            <a:r>
              <a:rPr sz="1100">
                <a:solidFill>
                  <a:srgbClr val="5B6372"/>
                </a:solidFill>
                <a:latin typeface="Arial"/>
              </a:rPr>
              <a:t>Latency paths needing kernel or device access you cannot grant</a:t>
            </a:r>
          </a:p>
          <a:p>
            <a:pPr>
              <a:lnSpc>
                <a:spcPct val="112000"/>
              </a:lnSpc>
              <a:spcAft>
                <a:spcPts val="500"/>
              </a:spcAft>
            </a:pPr>
            <a:r>
              <a:rPr sz="1100">
                <a:solidFill>
                  <a:srgbClr val="94A3B8"/>
                </a:solidFill>
                <a:latin typeface="Arial"/>
              </a:rPr>
              <a:t>•  </a:t>
            </a:r>
            <a:r>
              <a:rPr sz="1100">
                <a:solidFill>
                  <a:srgbClr val="5B6372"/>
                </a:solidFill>
                <a:latin typeface="Arial"/>
              </a:rPr>
              <a:t>Anything where one VM and a cron job is genuinely sufficient</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a:t>
            </a:r>
          </a:p>
        </p:txBody>
      </p:sp>
    </p:spTree>
  </p:cSld>
  <p:clrMapOvr>
    <a:masterClrMapping/>
  </p:clrMapOvr>
  <p:transition xmlns:ns3="http://schemas.openxmlformats.org/markup-compatibility/2006" spd="fast" ns3:Ignorable="p14">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VOCABULARY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Six Terms KCNA Uses Precisely — and Most People Do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Exam questions are frequently decided by one of these distinctions.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Cloud native ≠ cloud hosted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definition never mentions where the machines are. An on-premises cluster can be cloud native; a lifted VM is not.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Microservices ≠ cloud native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Microservices are one exemplar technology in the definition. A well-run modular monolith on Kubernetes still qualifies.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Orchestration ≠ runtime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containerd runs containers. Kubernetes decides which containers should exist and where. Two different jobs, two different APIs.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Declarative ≠ configuration file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Declarative means a controller continuously reconciles toward the declared state, not that the state lives in YAML.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Immutable infrastructure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replace instances rather than modify them. This is why in-place patching a running container is an anti-pattern.</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Serverless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consumption and scaling model, not the opposite of containers — Knative runs serverless workloads as Pods.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Cloud Native Definition v1.1 — github.com/cncf/toc, DEFINITION.md.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a:t>
            </a:r>
          </a:p>
        </p:txBody>
      </p:sp>
    </p:spTree>
  </p:cSld>
  <p:clrMapOvr>
    <a:masterClrMapping/>
  </p:clrMapOvr>
  <p:transition xmlns:ns1="http://schemas.openxmlformats.org/markup-compatibility/2006" spd="fast" ns1:Ignorable="p14">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02</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2 · CONTAINERIZATION</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What a Container Actually Is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Linux namespaces, cgroups and union filesystems; the three OCI specifications; and the CRI boundary.</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a:t>
            </a:r>
          </a:p>
        </p:txBody>
      </p:sp>
    </p:spTree>
  </p:cSld>
  <p:clrMapOvr>
    <a:masterClrMapping/>
  </p:clrMapOvr>
  <p:transition xmlns:ns1="http://schemas.openxmlformats.org/markup-compatibility/2006" spd="med" ns1:Ignorable="p14">
    <p:push dir="l"/>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LINUX 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A Container Is a Process With a Restricted View — Namespaces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Eight kinds of namespace exist in current Linux kernels. 'Container' is not a kernel object — this list is.</a:t>
            </a:r>
          </a:p>
        </p:txBody>
      </p:sp>
      <p:sp>
        <p:nvSpPr>
          <p:cNvPr id="7" name="Rectangle 6"/>
          <p:cNvSpPr/>
          <p:nvPr/>
        </p:nvSpPr>
        <p:spPr>
          <a:xfrm>
            <a:off x="777240" y="2200046"/>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37590"/>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454249"/>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mount (mnt)</a:t>
            </a:r>
          </a:p>
        </p:txBody>
      </p:sp>
      <p:sp>
        <p:nvSpPr>
          <p:cNvPr id="11" name="TextBox 10"/>
          <p:cNvSpPr txBox="1"/>
          <p:nvPr/>
        </p:nvSpPr>
        <p:spPr>
          <a:xfrm>
            <a:off x="1399032" y="2657246"/>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filesystem tree. This is why the container sees the image's rootfs and not the host's /.</a:t>
            </a:r>
          </a:p>
        </p:txBody>
      </p:sp>
      <p:sp>
        <p:nvSpPr>
          <p:cNvPr id="12" name="Rectangle 11"/>
          <p:cNvSpPr/>
          <p:nvPr/>
        </p:nvSpPr>
        <p:spPr>
          <a:xfrm>
            <a:off x="6199631" y="2200046"/>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837590"/>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454249"/>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process (pid)</a:t>
            </a:r>
          </a:p>
        </p:txBody>
      </p:sp>
      <p:sp>
        <p:nvSpPr>
          <p:cNvPr id="16" name="TextBox 15"/>
          <p:cNvSpPr txBox="1"/>
          <p:nvPr/>
        </p:nvSpPr>
        <p:spPr>
          <a:xfrm>
            <a:off x="6821423" y="2657246"/>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PID numbering starting at 1. The container's PID 1 is an ordinary host process seen from outside.</a:t>
            </a:r>
          </a:p>
        </p:txBody>
      </p:sp>
      <p:sp>
        <p:nvSpPr>
          <p:cNvPr id="17" name="Rectangle 16"/>
          <p:cNvSpPr/>
          <p:nvPr/>
        </p:nvSpPr>
        <p:spPr>
          <a:xfrm>
            <a:off x="777240" y="3183940"/>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183940"/>
            <a:ext cx="50292" cy="837590"/>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438144"/>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339388"/>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network (net)</a:t>
            </a:r>
          </a:p>
        </p:txBody>
      </p:sp>
      <p:sp>
        <p:nvSpPr>
          <p:cNvPr id="21" name="TextBox 20"/>
          <p:cNvSpPr txBox="1"/>
          <p:nvPr/>
        </p:nvSpPr>
        <p:spPr>
          <a:xfrm>
            <a:off x="1399032" y="3641140"/>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interfaces, routes, ports and iptables/nftables tables. Every Pod gets exactly one of these.</a:t>
            </a:r>
          </a:p>
        </p:txBody>
      </p:sp>
      <p:sp>
        <p:nvSpPr>
          <p:cNvPr id="22" name="Rectangle 21"/>
          <p:cNvSpPr/>
          <p:nvPr/>
        </p:nvSpPr>
        <p:spPr>
          <a:xfrm>
            <a:off x="6199631" y="3183940"/>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183940"/>
            <a:ext cx="50292" cy="837590"/>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438144"/>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339388"/>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interprocess (ipc)</a:t>
            </a:r>
          </a:p>
        </p:txBody>
      </p:sp>
      <p:sp>
        <p:nvSpPr>
          <p:cNvPr id="26" name="TextBox 25"/>
          <p:cNvSpPr txBox="1"/>
          <p:nvPr/>
        </p:nvSpPr>
        <p:spPr>
          <a:xfrm>
            <a:off x="6821423" y="3641140"/>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System V IPC and POSIX message queues. Containers in a Pod can be made to share this one.</a:t>
            </a:r>
          </a:p>
        </p:txBody>
      </p:sp>
      <p:sp>
        <p:nvSpPr>
          <p:cNvPr id="27" name="Rectangle 26"/>
          <p:cNvSpPr/>
          <p:nvPr/>
        </p:nvSpPr>
        <p:spPr>
          <a:xfrm>
            <a:off x="777240" y="4167835"/>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167835"/>
            <a:ext cx="50292" cy="837590"/>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442203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32328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hostname (uts)</a:t>
            </a:r>
          </a:p>
        </p:txBody>
      </p:sp>
      <p:sp>
        <p:nvSpPr>
          <p:cNvPr id="31" name="TextBox 30"/>
          <p:cNvSpPr txBox="1"/>
          <p:nvPr/>
        </p:nvSpPr>
        <p:spPr>
          <a:xfrm>
            <a:off x="1399032" y="4625035"/>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hostname and domain name — which is why $HOSTNAME inside a Pod is the Pod name.</a:t>
            </a:r>
          </a:p>
        </p:txBody>
      </p:sp>
      <p:sp>
        <p:nvSpPr>
          <p:cNvPr id="32" name="Rectangle 31"/>
          <p:cNvSpPr/>
          <p:nvPr/>
        </p:nvSpPr>
        <p:spPr>
          <a:xfrm>
            <a:off x="6199631" y="4167835"/>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167835"/>
            <a:ext cx="50292" cy="837590"/>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442203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32328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user</a:t>
            </a:r>
          </a:p>
        </p:txBody>
      </p:sp>
      <p:sp>
        <p:nvSpPr>
          <p:cNvPr id="36" name="TextBox 35"/>
          <p:cNvSpPr txBox="1"/>
          <p:nvPr/>
        </p:nvSpPr>
        <p:spPr>
          <a:xfrm>
            <a:off x="6821423" y="4625035"/>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Its own uid/gid mapping, so root inside can be an unprivileged uid outside. Kubernetes support is via user namespaces.</a:t>
            </a:r>
          </a:p>
        </p:txBody>
      </p:sp>
      <p:sp>
        <p:nvSpPr>
          <p:cNvPr id="37" name="Rectangle 36"/>
          <p:cNvSpPr/>
          <p:nvPr/>
        </p:nvSpPr>
        <p:spPr>
          <a:xfrm>
            <a:off x="777240" y="5151729"/>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38" name="Rectangle 37"/>
          <p:cNvSpPr/>
          <p:nvPr/>
        </p:nvSpPr>
        <p:spPr>
          <a:xfrm>
            <a:off x="777240" y="5151729"/>
            <a:ext cx="50292" cy="837590"/>
          </a:xfrm>
          <a:prstGeom prst="rect">
            <a:avLst/>
          </a:prstGeom>
          <a:solidFill>
            <a:srgbClr val="7C3AED"/>
          </a:solidFill>
          <a:ln>
            <a:noFill/>
          </a:ln>
          <a:effectLst/>
        </p:spPr>
        <p:txBody>
          <a:bodyPr rtlCol="0" anchor="ctr" wrap="square"/>
          <a:lstStyle/>
          <a:p>
            <a:pPr algn="ctr"/>
          </a:p>
        </p:txBody>
      </p:sp>
      <p:sp>
        <p:nvSpPr>
          <p:cNvPr id="39" name="Oval 38"/>
          <p:cNvSpPr/>
          <p:nvPr/>
        </p:nvSpPr>
        <p:spPr>
          <a:xfrm>
            <a:off x="960120" y="5405932"/>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7</a:t>
            </a:r>
          </a:p>
        </p:txBody>
      </p:sp>
      <p:sp>
        <p:nvSpPr>
          <p:cNvPr id="40" name="TextBox 39"/>
          <p:cNvSpPr txBox="1"/>
          <p:nvPr/>
        </p:nvSpPr>
        <p:spPr>
          <a:xfrm>
            <a:off x="1399032" y="5307177"/>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cgroup</a:t>
            </a:r>
          </a:p>
        </p:txBody>
      </p:sp>
      <p:sp>
        <p:nvSpPr>
          <p:cNvPr id="41" name="TextBox 40"/>
          <p:cNvSpPr txBox="1"/>
          <p:nvPr/>
        </p:nvSpPr>
        <p:spPr>
          <a:xfrm>
            <a:off x="1399032" y="5608929"/>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Hides the host's cgroup hierarchy so the container sees its own limits at the root of /sys/fs/cgroup.</a:t>
            </a:r>
          </a:p>
        </p:txBody>
      </p:sp>
      <p:sp>
        <p:nvSpPr>
          <p:cNvPr id="42" name="Rectangle 41"/>
          <p:cNvSpPr/>
          <p:nvPr/>
        </p:nvSpPr>
        <p:spPr>
          <a:xfrm>
            <a:off x="6199631" y="5151729"/>
            <a:ext cx="5276088" cy="837590"/>
          </a:xfrm>
          <a:prstGeom prst="rect">
            <a:avLst/>
          </a:prstGeom>
          <a:solidFill>
            <a:srgbClr val="F4F7FB"/>
          </a:solidFill>
          <a:ln w="12700">
            <a:solidFill>
              <a:srgbClr val="E2E8F0"/>
            </a:solidFill>
          </a:ln>
          <a:effectLst/>
        </p:spPr>
        <p:txBody>
          <a:bodyPr rtlCol="0" anchor="ctr" wrap="square"/>
          <a:lstStyle/>
          <a:p>
            <a:pPr algn="ctr"/>
          </a:p>
        </p:txBody>
      </p:sp>
      <p:sp>
        <p:nvSpPr>
          <p:cNvPr id="43" name="Rectangle 42"/>
          <p:cNvSpPr/>
          <p:nvPr/>
        </p:nvSpPr>
        <p:spPr>
          <a:xfrm>
            <a:off x="6199631" y="5151729"/>
            <a:ext cx="50292" cy="837590"/>
          </a:xfrm>
          <a:prstGeom prst="rect">
            <a:avLst/>
          </a:prstGeom>
          <a:solidFill>
            <a:srgbClr val="F59E0B"/>
          </a:solidFill>
          <a:ln>
            <a:noFill/>
          </a:ln>
          <a:effectLst/>
        </p:spPr>
        <p:txBody>
          <a:bodyPr rtlCol="0" anchor="ctr" wrap="square"/>
          <a:lstStyle/>
          <a:p>
            <a:pPr algn="ctr"/>
          </a:p>
        </p:txBody>
      </p:sp>
      <p:sp>
        <p:nvSpPr>
          <p:cNvPr id="44" name="Oval 43"/>
          <p:cNvSpPr/>
          <p:nvPr/>
        </p:nvSpPr>
        <p:spPr>
          <a:xfrm>
            <a:off x="6382512" y="5405932"/>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8</a:t>
            </a:r>
          </a:p>
        </p:txBody>
      </p:sp>
      <p:sp>
        <p:nvSpPr>
          <p:cNvPr id="45" name="TextBox 44"/>
          <p:cNvSpPr txBox="1"/>
          <p:nvPr/>
        </p:nvSpPr>
        <p:spPr>
          <a:xfrm>
            <a:off x="6821423" y="5307177"/>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time</a:t>
            </a:r>
          </a:p>
        </p:txBody>
      </p:sp>
      <p:sp>
        <p:nvSpPr>
          <p:cNvPr id="46" name="TextBox 45"/>
          <p:cNvSpPr txBox="1"/>
          <p:nvPr/>
        </p:nvSpPr>
        <p:spPr>
          <a:xfrm>
            <a:off x="6821423" y="5608929"/>
            <a:ext cx="4453127" cy="30723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Isolates the CLOCK_MONOTONIC and boot time offsets. Rarely used, but it completes the list.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man-pages: namespaces(7), cgroups(7), overlayfs kernel docs.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a:t>
            </a:r>
          </a:p>
        </p:txBody>
      </p:sp>
    </p:spTree>
  </p:cSld>
  <p:clrMapOvr>
    <a:masterClrMapping/>
  </p:clrMapOvr>
  <p:transition xmlns:ns1="http://schemas.openxmlformats.org/markup-compatibility/2006" spd="fast" ns1:Ignorable="p14">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LINUX 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cgroups v2 — Accounting and Limiting, Not Isolating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Namespaces answer 'what can I see'. cgroups answer 'how much can I use'. Both are required to make a container.</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cpu controller</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Weight and bandwidth. Kubernetes maps requests.cpu to a weight and limits.cpu to a bandwidth quota per period.</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memory controller</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High and max watermarks. Exceeding memory.max gets the process OOM-killed — surfacing as exit code 137 / OOMKilled.</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io controller</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Weights and throughput caps per block device. Relevant to noisy-neighbour disk problems.</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pids controller</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Caps the number of processes so one container cannot fork-bomb the node.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Unified hierarchy</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cgroup v2 replaced v1's separate per-controller trees with one hierarchy; Kubernetes has supported it as the default path since v1.25.</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Where Kubernetes puts you</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kubelet builds a cgroup path per QoS class and per Pod, so node pressure decisions can be made per Pod, not per process.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man-pages: namespaces(7), cgroups(7), overlayfs kernel docs. Kubernetes documentation — cgroup v2: kubernetes.io/docs/concepts/architecture/cgroups/.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a:t>
            </a:r>
          </a:p>
        </p:txBody>
      </p:sp>
    </p:spTree>
  </p:cSld>
  <p:clrMapOvr>
    <a:masterClrMapping/>
  </p:clrMapOvr>
  <p:transition xmlns:ns1="http://schemas.openxmlformats.org/markup-compatibility/2006" spd="fast" ns1:Ignorable="p14">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LINUX 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Union Filesystems: Why Image Layers Are Cheap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also why a file 'deleted' in a later layer is still extractable from the image — a real supply-chain trap.</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Layers on disk</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Each image layer is an extracted, read-only directory of filesystem changes, addressed by the digest of its content.</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Overlay mount</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runtime stacks those directories as lowerdirs and adds one empty upperdir — the container's writable layer.</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Copy-up on write</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Reading comes from the topmost layer that has the file. Writing copies the file up into the upperdir first.</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Deletion by whiteout</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Removing a file from a lower layer writes a whiteout marker above it. The bytes below are never actually removed.</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Two images sharing a base layer share it once on disk, and the container's writable layer is empty at start. That is why container start-up costs a mount, not a copy.</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man-pages: namespaces(7), cgroups(7), overlayfs kernel docs. Open Container Initiative Image Format Specification — github.com/opencontainers/image-spec.</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a:t>
            </a:r>
          </a:p>
        </p:txBody>
      </p:sp>
    </p:spTree>
  </p:cSld>
  <p:clrMapOvr>
    <a:masterClrMapping/>
  </p:clrMapOvr>
  <p:transition xmlns:ns4="http://schemas.openxmlformats.org/markup-compatibility/2006" spd="fast" ns4:Ignorable="p14">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Runtime Stack Below the kubelet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boundaries, three of them standardised. Know which component sits on which side of each.</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KUBERNETES</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Node agent. Owns Pod lifecycle; the only Kubernetes component that talks to a runtime</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CRI (gRPC)</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RuntimeService + ImageService. The stable contract; not a program you install</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 sandbox</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RunPodSandbox creates the shared network and IPC namespaces before any app container</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10B981"/>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CONTAINER RUNTIME</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containerd</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CRI-conformant high-level runtime; manages images, snapshots and container lifecycle</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CRI-O</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Alternative high-level runtime, built specifically for Kubernetes</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Snapshotter</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Assembles the overlay mount for the container rootfs from image layers</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OCI LAYER</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OCI bundle</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directory: config.json plus the rootfs the snapshotter mounted</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runc / crun</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Low-level runtime. Reads config.json, creates namespaces and cgroups, execs the process</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Registry</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Distribution-spec HTTP API the runtime pulls manifests and layers from</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kubelet → CRI → containerd → OCI bundle → runc. Each arrow is a published contract, which is why the runtime is swappable and why Docker Engine's removal in v1.24 changed nothing about your images.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Container Runtime Interface: kubernetes.io/docs/concepts/architecture/cri/. Open Container Initiative Runtime Specification — github.com/opencontainers/runtime-spec.</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a:t>
            </a:r>
          </a:p>
        </p:txBody>
      </p:sp>
    </p:spTree>
  </p:cSld>
  <p:clrMapOvr>
    <a:masterClrMapping/>
  </p:clrMapOvr>
  <p:transition xmlns:ns1="http://schemas.openxmlformats.org/markup-compatibility/2006" spd="fast" ns1:Ignorable="p14">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STANDARDS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Open Container Initiative — Three Specifications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last tile is the single most commonly missed distinction in this part of the syllabus.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image-spec</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Defines the image index, the image manifest, the image config and the layer media types. Answers 'what is an image?'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runtime-spec</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Defines the filesystem bundle and config.json: process, rootfs, mounts, namespaces, cgroups. Answers 'how do I run it?'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distribution-spec</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Defines the registry HTTP API — /v2/, manifest and blob endpoints, content ranges. Answers 'how do I fetch it?'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three and not one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Building, running and distributing are done by different programs. Splitting the contracts is what allows substitution.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Conformance is testable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specification ships a conformance suite, which is how 'OCI-compliant' becomes a checkable claim rather than marketing.</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CRI is not OCI</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CRI is a Kubernetes gRPC API between kubelet and runtime. OCI specifications are vendor-neutral formats. Do not confuse them.</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 Container Initiative Image Format Specification — github.com/opencontainers/image-spec. Open Container Initiative Runtime Specification — github.com/opencontainers/runtime-spec. Open Container Initiative Distribution Specification — github.com/opencontainers/distribution-spec.</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a:t>
            </a:r>
          </a:p>
        </p:txBody>
      </p:sp>
    </p:spTree>
  </p:cSld>
  <p:clrMapOvr>
    <a:masterClrMapping/>
  </p:clrMapOvr>
  <p:transition xmlns:ns1="http://schemas.openxmlformats.org/markup-compatibility/2006" spd="fast" ns1:Ignorable="p14">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an OCI Image Manifest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Digests are abbreviated for the slide; in a real manifest each is a full sha256 of 64 hex characters.</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OCI image manifest (structure per image-spec)</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t>
            </a:r>
          </a:p>
          <a:p>
            <a:pPr>
              <a:lnSpc>
                <a:spcPts val="1413"/>
              </a:lnSpc>
              <a:spcAft>
                <a:spcPts val="0"/>
              </a:spcAft>
            </a:pPr>
            <a:r>
              <a:rPr sz="1050">
                <a:solidFill>
                  <a:srgbClr val="E6EDF3"/>
                </a:solidFill>
                <a:latin typeface="Consolas"/>
              </a:rPr>
              <a:t>  "schemaVersion": 2,</a:t>
            </a:r>
          </a:p>
          <a:p>
            <a:pPr>
              <a:lnSpc>
                <a:spcPts val="1413"/>
              </a:lnSpc>
              <a:spcAft>
                <a:spcPts val="0"/>
              </a:spcAft>
            </a:pPr>
            <a:r>
              <a:rPr sz="1050">
                <a:solidFill>
                  <a:srgbClr val="E6EDF3"/>
                </a:solidFill>
                <a:latin typeface="Consolas"/>
              </a:rPr>
              <a:t>  "mediaType":</a:t>
            </a:r>
          </a:p>
          <a:p>
            <a:pPr>
              <a:lnSpc>
                <a:spcPts val="1413"/>
              </a:lnSpc>
              <a:spcAft>
                <a:spcPts val="0"/>
              </a:spcAft>
            </a:pPr>
            <a:r>
              <a:rPr sz="1050">
                <a:solidFill>
                  <a:srgbClr val="E6EDF3"/>
                </a:solidFill>
                <a:latin typeface="Consolas"/>
              </a:rPr>
              <a:t>     "application/vnd.oci.image.manifest.v1+json",</a:t>
            </a:r>
          </a:p>
          <a:p>
            <a:pPr>
              <a:lnSpc>
                <a:spcPts val="1413"/>
              </a:lnSpc>
              <a:spcAft>
                <a:spcPts val="0"/>
              </a:spcAft>
            </a:pPr>
            <a:r>
              <a:rPr sz="1050">
                <a:solidFill>
                  <a:srgbClr val="E6EDF3"/>
                </a:solidFill>
                <a:latin typeface="Consolas"/>
              </a:rPr>
              <a:t>  "config": {</a:t>
            </a:r>
          </a:p>
          <a:p>
            <a:pPr>
              <a:lnSpc>
                <a:spcPts val="1413"/>
              </a:lnSpc>
              <a:spcAft>
                <a:spcPts val="0"/>
              </a:spcAft>
            </a:pPr>
            <a:r>
              <a:rPr sz="1050">
                <a:solidFill>
                  <a:srgbClr val="E6EDF3"/>
                </a:solidFill>
                <a:latin typeface="Consolas"/>
              </a:rPr>
              <a:t>    "mediaType":</a:t>
            </a:r>
          </a:p>
          <a:p>
            <a:pPr>
              <a:lnSpc>
                <a:spcPts val="1413"/>
              </a:lnSpc>
              <a:spcAft>
                <a:spcPts val="0"/>
              </a:spcAft>
            </a:pPr>
            <a:r>
              <a:rPr sz="1050">
                <a:solidFill>
                  <a:srgbClr val="E6EDF3"/>
                </a:solidFill>
                <a:latin typeface="Consolas"/>
              </a:rPr>
              <a:t>       "application/vnd.oci.image.config.v1+json",</a:t>
            </a:r>
          </a:p>
          <a:p>
            <a:pPr>
              <a:lnSpc>
                <a:spcPts val="1413"/>
              </a:lnSpc>
              <a:spcAft>
                <a:spcPts val="0"/>
              </a:spcAft>
            </a:pPr>
            <a:r>
              <a:rPr sz="1050">
                <a:solidFill>
                  <a:srgbClr val="E6EDF3"/>
                </a:solidFill>
                <a:latin typeface="Consolas"/>
              </a:rPr>
              <a:t>    "digest": "sha256:b5b2b2c5...", "size": 7023</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  "layers": [</a:t>
            </a:r>
          </a:p>
          <a:p>
            <a:pPr>
              <a:lnSpc>
                <a:spcPts val="1413"/>
              </a:lnSpc>
              <a:spcAft>
                <a:spcPts val="0"/>
              </a:spcAft>
            </a:pPr>
            <a:r>
              <a:rPr sz="1050">
                <a:solidFill>
                  <a:srgbClr val="E6EDF3"/>
                </a:solidFill>
                <a:latin typeface="Consolas"/>
              </a:rPr>
              <a:t>    { "mediaType":</a:t>
            </a:r>
          </a:p>
          <a:p>
            <a:pPr>
              <a:lnSpc>
                <a:spcPts val="1413"/>
              </a:lnSpc>
              <a:spcAft>
                <a:spcPts val="0"/>
              </a:spcAft>
            </a:pPr>
            <a:r>
              <a:rPr sz="1050">
                <a:solidFill>
                  <a:srgbClr val="E6EDF3"/>
                </a:solidFill>
                <a:latin typeface="Consolas"/>
              </a:rPr>
              <a:t>        "application/vnd.oci.image.layer.v1.tar+gzip",</a:t>
            </a:r>
          </a:p>
          <a:p>
            <a:pPr>
              <a:lnSpc>
                <a:spcPts val="1413"/>
              </a:lnSpc>
              <a:spcAft>
                <a:spcPts val="0"/>
              </a:spcAft>
            </a:pPr>
            <a:r>
              <a:rPr sz="1050">
                <a:solidFill>
                  <a:srgbClr val="E6EDF3"/>
                </a:solidFill>
                <a:latin typeface="Consolas"/>
              </a:rPr>
              <a:t>      "digest": "sha256:9834876d...",</a:t>
            </a:r>
          </a:p>
          <a:p>
            <a:pPr>
              <a:lnSpc>
                <a:spcPts val="1413"/>
              </a:lnSpc>
              <a:spcAft>
                <a:spcPts val="0"/>
              </a:spcAft>
            </a:pPr>
            <a:r>
              <a:rPr sz="1050">
                <a:solidFill>
                  <a:srgbClr val="E6EDF3"/>
                </a:solidFill>
                <a:latin typeface="Consolas"/>
              </a:rPr>
              <a:t>      "size": 32654 },</a:t>
            </a:r>
          </a:p>
          <a:p>
            <a:pPr>
              <a:lnSpc>
                <a:spcPts val="1413"/>
              </a:lnSpc>
              <a:spcAft>
                <a:spcPts val="0"/>
              </a:spcAft>
            </a:pPr>
            <a:r>
              <a:rPr sz="1050">
                <a:solidFill>
                  <a:srgbClr val="E6EDF3"/>
                </a:solidFill>
                <a:latin typeface="Consolas"/>
              </a:rPr>
              <a:t>    { "digest": "sha256:3c3a4604...",</a:t>
            </a:r>
          </a:p>
          <a:p>
            <a:pPr>
              <a:lnSpc>
                <a:spcPts val="1413"/>
              </a:lnSpc>
              <a:spcAft>
                <a:spcPts val="0"/>
              </a:spcAft>
            </a:pPr>
            <a:r>
              <a:rPr sz="1050">
                <a:solidFill>
                  <a:srgbClr val="E6EDF3"/>
                </a:solidFill>
                <a:latin typeface="Consolas"/>
              </a:rPr>
              <a:t>      "size": 16724 }</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An image is a JSON document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Not a file and not a tarball. The manifest is the thing a digest actually names.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config is where ENTRYPOINT lives</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referenced config blob carries Entrypoint, Cmd, Env, User, WorkingDir and rootfs.diff_ids — the fields Lab 03 overrides.</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layers is an ordered list</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Applied bottom to top. Each entry is content-addressed, so changing any byte changes the digest all the way up.</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An index sits above this</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For multi-platform images an image index maps linux/amd64 and linux/arm64 to different manifests.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 Container Initiative Image Format Specification — github.com/opencontainers/image-spec.</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a:t>
            </a:r>
          </a:p>
        </p:txBody>
      </p:sp>
    </p:spTree>
  </p:cSld>
  <p:clrMapOvr>
    <a:masterClrMapping/>
  </p:clrMapOvr>
  <p:transition xmlns:ns1="http://schemas.openxmlformats.org/markup-compatibility/2006" spd="fast" ns1:Ignorable="p14">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an OCI Runtime config.json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you write in a Pod spec ends up here or is discarded. Reading this file demystifies the whole stack.</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OCI runtime bundle config.json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t>
            </a:r>
          </a:p>
          <a:p>
            <a:pPr>
              <a:lnSpc>
                <a:spcPts val="1413"/>
              </a:lnSpc>
              <a:spcAft>
                <a:spcPts val="0"/>
              </a:spcAft>
            </a:pPr>
            <a:r>
              <a:rPr sz="1050">
                <a:solidFill>
                  <a:srgbClr val="E6EDF3"/>
                </a:solidFill>
                <a:latin typeface="Consolas"/>
              </a:rPr>
              <a:t>  "ociVersion": "1.2.0",</a:t>
            </a:r>
          </a:p>
          <a:p>
            <a:pPr>
              <a:lnSpc>
                <a:spcPts val="1413"/>
              </a:lnSpc>
              <a:spcAft>
                <a:spcPts val="0"/>
              </a:spcAft>
            </a:pPr>
            <a:r>
              <a:rPr sz="1050">
                <a:solidFill>
                  <a:srgbClr val="E6EDF3"/>
                </a:solidFill>
                <a:latin typeface="Consolas"/>
              </a:rPr>
              <a:t>  "process": {</a:t>
            </a:r>
          </a:p>
          <a:p>
            <a:pPr>
              <a:lnSpc>
                <a:spcPts val="1413"/>
              </a:lnSpc>
              <a:spcAft>
                <a:spcPts val="0"/>
              </a:spcAft>
            </a:pPr>
            <a:r>
              <a:rPr sz="1050">
                <a:solidFill>
                  <a:srgbClr val="E6EDF3"/>
                </a:solidFill>
                <a:latin typeface="Consolas"/>
              </a:rPr>
              <a:t>    "user": { "uid": 0, "gid": 0 },</a:t>
            </a:r>
          </a:p>
          <a:p>
            <a:pPr>
              <a:lnSpc>
                <a:spcPts val="1413"/>
              </a:lnSpc>
              <a:spcAft>
                <a:spcPts val="0"/>
              </a:spcAft>
            </a:pPr>
            <a:r>
              <a:rPr sz="1050">
                <a:solidFill>
                  <a:srgbClr val="E6EDF3"/>
                </a:solidFill>
                <a:latin typeface="Consolas"/>
              </a:rPr>
              <a:t>    "args": ["nginx", "-g", "daemon off;"],</a:t>
            </a:r>
          </a:p>
          <a:p>
            <a:pPr>
              <a:lnSpc>
                <a:spcPts val="1413"/>
              </a:lnSpc>
              <a:spcAft>
                <a:spcPts val="0"/>
              </a:spcAft>
            </a:pPr>
            <a:r>
              <a:rPr sz="1050">
                <a:solidFill>
                  <a:srgbClr val="E6EDF3"/>
                </a:solidFill>
                <a:latin typeface="Consolas"/>
              </a:rPr>
              <a:t>    "cwd": "/",</a:t>
            </a:r>
          </a:p>
          <a:p>
            <a:pPr>
              <a:lnSpc>
                <a:spcPts val="1413"/>
              </a:lnSpc>
              <a:spcAft>
                <a:spcPts val="0"/>
              </a:spcAft>
            </a:pPr>
            <a:r>
              <a:rPr sz="1050">
                <a:solidFill>
                  <a:srgbClr val="E6EDF3"/>
                </a:solidFill>
                <a:latin typeface="Consolas"/>
              </a:rPr>
              <a:t>    "capabilities": { "bounding": ["CAP_NET_BIND_SERVICE"] }</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  "root": { "path": "rootfs", "readonly": false },</a:t>
            </a:r>
          </a:p>
          <a:p>
            <a:pPr>
              <a:lnSpc>
                <a:spcPts val="1413"/>
              </a:lnSpc>
              <a:spcAft>
                <a:spcPts val="0"/>
              </a:spcAft>
            </a:pPr>
            <a:r>
              <a:rPr sz="1050">
                <a:solidFill>
                  <a:srgbClr val="E6EDF3"/>
                </a:solidFill>
                <a:latin typeface="Consolas"/>
              </a:rPr>
              <a:t>  "linux": {</a:t>
            </a:r>
          </a:p>
          <a:p>
            <a:pPr>
              <a:lnSpc>
                <a:spcPts val="1413"/>
              </a:lnSpc>
              <a:spcAft>
                <a:spcPts val="0"/>
              </a:spcAft>
            </a:pPr>
            <a:r>
              <a:rPr sz="1050">
                <a:solidFill>
                  <a:srgbClr val="E6EDF3"/>
                </a:solidFill>
                <a:latin typeface="Consolas"/>
              </a:rPr>
              <a:t>    "namespaces": [</a:t>
            </a:r>
          </a:p>
          <a:p>
            <a:pPr>
              <a:lnSpc>
                <a:spcPts val="1413"/>
              </a:lnSpc>
              <a:spcAft>
                <a:spcPts val="0"/>
              </a:spcAft>
            </a:pPr>
            <a:r>
              <a:rPr sz="1050">
                <a:solidFill>
                  <a:srgbClr val="E6EDF3"/>
                </a:solidFill>
                <a:latin typeface="Consolas"/>
              </a:rPr>
              <a:t>      { "type": "pid" },  { "type": "ipc" },</a:t>
            </a:r>
          </a:p>
          <a:p>
            <a:pPr>
              <a:lnSpc>
                <a:spcPts val="1413"/>
              </a:lnSpc>
              <a:spcAft>
                <a:spcPts val="0"/>
              </a:spcAft>
            </a:pPr>
            <a:r>
              <a:rPr sz="1050">
                <a:solidFill>
                  <a:srgbClr val="E6EDF3"/>
                </a:solidFill>
                <a:latin typeface="Consolas"/>
              </a:rPr>
              <a:t>      { "type": "uts" },  { "type": "mount" },</a:t>
            </a:r>
          </a:p>
          <a:p>
            <a:pPr>
              <a:lnSpc>
                <a:spcPts val="1413"/>
              </a:lnSpc>
              <a:spcAft>
                <a:spcPts val="0"/>
              </a:spcAft>
            </a:pPr>
            <a:r>
              <a:rPr sz="1050">
                <a:solidFill>
                  <a:srgbClr val="E6EDF3"/>
                </a:solidFill>
                <a:latin typeface="Consolas"/>
              </a:rPr>
              <a:t>      { "type": "network", "path": "/var/run/netns/..." }</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    "resources": { "memory": { "limit": 134217728 } }</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This is what runc is handed</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bundle is one directory: this file plus the rootfs the snapshotter mounted. Nothing else.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args came from the image config</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…unless the Pod spec overrode it. This is the exact join point between Kubernetes command/args and the image.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network has a path, the others do not</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path means 'join this existing namespace'. That is how the second container in a Pod gets the Pod IP.</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resources mirrors the cgroup</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134217728 bytes is 128Mi — the memory limit written in the Pod spec, translated all the way down.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 Container Initiative Runtime Specification — github.com/opencontainers/runtime-spec.</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a:t>
            </a:r>
          </a:p>
        </p:txBody>
      </p:sp>
    </p:spTree>
  </p:cSld>
  <p:clrMapOvr>
    <a:masterClrMapping/>
  </p:clrMapOvr>
  <p:transition xmlns:ns1="http://schemas.openxmlformats.org/markup-compatibility/2006" spd="fast" ns1:Ignorable="p14">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Image Versus Container — Two Different Nouns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05 makes you read both fields on the same Pod and compare them.</a:t>
            </a:r>
          </a:p>
        </p:txBody>
      </p:sp>
      <p:sp>
        <p:nvSpPr>
          <p:cNvPr id="7" name="Rectangle 6"/>
          <p:cNvSpPr/>
          <p:nvPr/>
        </p:nvSpPr>
        <p:spPr>
          <a:xfrm>
            <a:off x="777240" y="2200046"/>
            <a:ext cx="2377439"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12140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Question</a:t>
            </a:r>
          </a:p>
        </p:txBody>
      </p:sp>
      <p:sp>
        <p:nvSpPr>
          <p:cNvPr id="9" name="Rectangle 8"/>
          <p:cNvSpPr/>
          <p:nvPr/>
        </p:nvSpPr>
        <p:spPr>
          <a:xfrm>
            <a:off x="3154679" y="2200046"/>
            <a:ext cx="3962399"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282696" y="2300630"/>
            <a:ext cx="370636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Image</a:t>
            </a:r>
          </a:p>
        </p:txBody>
      </p:sp>
      <p:sp>
        <p:nvSpPr>
          <p:cNvPr id="11" name="Rectangle 10"/>
          <p:cNvSpPr/>
          <p:nvPr/>
        </p:nvSpPr>
        <p:spPr>
          <a:xfrm>
            <a:off x="7117080" y="2200046"/>
            <a:ext cx="435864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245096" y="2300630"/>
            <a:ext cx="410260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Container</a:t>
            </a:r>
          </a:p>
        </p:txBody>
      </p:sp>
      <p:sp>
        <p:nvSpPr>
          <p:cNvPr id="13" name="Rectangle 12"/>
          <p:cNvSpPr/>
          <p:nvPr/>
        </p:nvSpPr>
        <p:spPr>
          <a:xfrm>
            <a:off x="777240" y="2620670"/>
            <a:ext cx="2377439"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12140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is it</a:t>
            </a:r>
          </a:p>
        </p:txBody>
      </p:sp>
      <p:sp>
        <p:nvSpPr>
          <p:cNvPr id="15" name="Rectangle 14"/>
          <p:cNvSpPr/>
          <p:nvPr/>
        </p:nvSpPr>
        <p:spPr>
          <a:xfrm>
            <a:off x="3154679" y="2620670"/>
            <a:ext cx="3962399"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282696" y="2702966"/>
            <a:ext cx="370636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 immutable, content-addressed set of JSON documents and layer blobs</a:t>
            </a:r>
          </a:p>
        </p:txBody>
      </p:sp>
      <p:sp>
        <p:nvSpPr>
          <p:cNvPr id="17" name="Rectangle 16"/>
          <p:cNvSpPr/>
          <p:nvPr/>
        </p:nvSpPr>
        <p:spPr>
          <a:xfrm>
            <a:off x="7117080" y="2620670"/>
            <a:ext cx="435864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245096" y="2702966"/>
            <a:ext cx="410260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running (or exited) process with namespaces, cgroups and a writable layer</a:t>
            </a:r>
          </a:p>
        </p:txBody>
      </p:sp>
      <p:sp>
        <p:nvSpPr>
          <p:cNvPr id="19" name="Rectangle 18"/>
          <p:cNvSpPr/>
          <p:nvPr/>
        </p:nvSpPr>
        <p:spPr>
          <a:xfrm>
            <a:off x="777240" y="3171870"/>
            <a:ext cx="2377439"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12140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Where does it live</a:t>
            </a:r>
          </a:p>
        </p:txBody>
      </p:sp>
      <p:sp>
        <p:nvSpPr>
          <p:cNvPr id="21" name="Rectangle 20"/>
          <p:cNvSpPr/>
          <p:nvPr/>
        </p:nvSpPr>
        <p:spPr>
          <a:xfrm>
            <a:off x="3154679" y="3171870"/>
            <a:ext cx="3962399"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282696" y="3254166"/>
            <a:ext cx="370636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 a registry and in the node's local content store</a:t>
            </a:r>
          </a:p>
        </p:txBody>
      </p:sp>
      <p:sp>
        <p:nvSpPr>
          <p:cNvPr id="23" name="Rectangle 22"/>
          <p:cNvSpPr/>
          <p:nvPr/>
        </p:nvSpPr>
        <p:spPr>
          <a:xfrm>
            <a:off x="7117080" y="3171870"/>
            <a:ext cx="435864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245096" y="3254166"/>
            <a:ext cx="410260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 exactly one node, inside one Pod sandbox</a:t>
            </a:r>
          </a:p>
        </p:txBody>
      </p:sp>
      <p:sp>
        <p:nvSpPr>
          <p:cNvPr id="25" name="Rectangle 24"/>
          <p:cNvSpPr/>
          <p:nvPr/>
        </p:nvSpPr>
        <p:spPr>
          <a:xfrm>
            <a:off x="777240" y="3723071"/>
            <a:ext cx="2377439"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12140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Identity</a:t>
            </a:r>
          </a:p>
        </p:txBody>
      </p:sp>
      <p:sp>
        <p:nvSpPr>
          <p:cNvPr id="27" name="Rectangle 26"/>
          <p:cNvSpPr/>
          <p:nvPr/>
        </p:nvSpPr>
        <p:spPr>
          <a:xfrm>
            <a:off x="3154679" y="3723071"/>
            <a:ext cx="3962399"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282696" y="3805367"/>
            <a:ext cx="370636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digest — sha256 of the manifest; a tag is just a mutable pointer at one</a:t>
            </a:r>
          </a:p>
        </p:txBody>
      </p:sp>
      <p:sp>
        <p:nvSpPr>
          <p:cNvPr id="29" name="Rectangle 28"/>
          <p:cNvSpPr/>
          <p:nvPr/>
        </p:nvSpPr>
        <p:spPr>
          <a:xfrm>
            <a:off x="7117080" y="3723071"/>
            <a:ext cx="435864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245096" y="3805367"/>
            <a:ext cx="410260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container ID assigned by the runtime; visible as status.containerStatuses[].containerID</a:t>
            </a:r>
          </a:p>
        </p:txBody>
      </p:sp>
      <p:sp>
        <p:nvSpPr>
          <p:cNvPr id="31" name="Rectangle 30"/>
          <p:cNvSpPr/>
          <p:nvPr/>
        </p:nvSpPr>
        <p:spPr>
          <a:xfrm>
            <a:off x="777240" y="4274271"/>
            <a:ext cx="2377439"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12140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 it change</a:t>
            </a:r>
          </a:p>
        </p:txBody>
      </p:sp>
      <p:sp>
        <p:nvSpPr>
          <p:cNvPr id="33" name="Rectangle 32"/>
          <p:cNvSpPr/>
          <p:nvPr/>
        </p:nvSpPr>
        <p:spPr>
          <a:xfrm>
            <a:off x="3154679" y="4274271"/>
            <a:ext cx="3962399"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282696" y="4356567"/>
            <a:ext cx="370636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Any change produces a different digest</a:t>
            </a:r>
          </a:p>
        </p:txBody>
      </p:sp>
      <p:sp>
        <p:nvSpPr>
          <p:cNvPr id="35" name="Rectangle 34"/>
          <p:cNvSpPr/>
          <p:nvPr/>
        </p:nvSpPr>
        <p:spPr>
          <a:xfrm>
            <a:off x="7117080" y="4274271"/>
            <a:ext cx="435864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245096" y="4356567"/>
            <a:ext cx="410260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the writable layer is thrown away when the container is replaced</a:t>
            </a:r>
          </a:p>
        </p:txBody>
      </p:sp>
      <p:sp>
        <p:nvSpPr>
          <p:cNvPr id="37" name="Rectangle 36"/>
          <p:cNvSpPr/>
          <p:nvPr/>
        </p:nvSpPr>
        <p:spPr>
          <a:xfrm>
            <a:off x="777240" y="4825471"/>
            <a:ext cx="2377439"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12140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Kubernetes field</a:t>
            </a:r>
          </a:p>
        </p:txBody>
      </p:sp>
      <p:sp>
        <p:nvSpPr>
          <p:cNvPr id="39" name="Rectangle 38"/>
          <p:cNvSpPr/>
          <p:nvPr/>
        </p:nvSpPr>
        <p:spPr>
          <a:xfrm>
            <a:off x="3154679" y="4825471"/>
            <a:ext cx="3962399"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282696" y="4907767"/>
            <a:ext cx="370636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spec.containers[].image (what you asked for)</a:t>
            </a:r>
          </a:p>
        </p:txBody>
      </p:sp>
      <p:sp>
        <p:nvSpPr>
          <p:cNvPr id="41" name="Rectangle 40"/>
          <p:cNvSpPr/>
          <p:nvPr/>
        </p:nvSpPr>
        <p:spPr>
          <a:xfrm>
            <a:off x="7117080" y="4825471"/>
            <a:ext cx="435864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245096" y="4907767"/>
            <a:ext cx="410260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status.containerStatuses[].imageID (what actually resolved)</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If you cannot say which of the two a question is about, you cannot answer it. spec is the image; status is the container.</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Images: kubernetes.io/docs/concepts/containers/images/. Open Container Initiative Image Format Specification — github.com/opencontainers/image-spec.</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a:t>
            </a:r>
          </a:p>
        </p:txBody>
      </p:sp>
    </p:spTree>
  </p:cSld>
  <p:clrMapOvr>
    <a:masterClrMapping/>
  </p:clrMapOvr>
  <p:transition xmlns:ns1="http://schemas.openxmlformats.org/markup-compatibility/2006" spd="fast" ns1:Ignorable="p14">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Node's Image Store, Read Through the API</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you need to reason about images on a node is already in the API.</a:t>
            </a:r>
          </a:p>
        </p:txBody>
      </p:sp>
      <p:sp>
        <p:nvSpPr>
          <p:cNvPr id="7" name="Rectangle 6"/>
          <p:cNvSpPr/>
          <p:nvPr/>
        </p:nvSpPr>
        <p:spPr>
          <a:xfrm>
            <a:off x="777240" y="2200046"/>
            <a:ext cx="6903720" cy="262890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training cluster, 5 Sep 2026</a:t>
            </a:r>
          </a:p>
        </p:txBody>
      </p:sp>
      <p:sp>
        <p:nvSpPr>
          <p:cNvPr id="9" name="TextBox 8"/>
          <p:cNvSpPr txBox="1"/>
          <p:nvPr/>
        </p:nvSpPr>
        <p:spPr>
          <a:xfrm>
            <a:off x="923544" y="2620670"/>
            <a:ext cx="6611112" cy="206197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nodes -o jsonpath='{range .items[0].status.images[*]}\</a:t>
            </a:r>
          </a:p>
          <a:p>
            <a:pPr>
              <a:lnSpc>
                <a:spcPts val="1476"/>
              </a:lnSpc>
              <a:spcAft>
                <a:spcPts val="0"/>
              </a:spcAft>
            </a:pPr>
            <a:r>
              <a:rPr sz="1000">
                <a:solidFill>
                  <a:srgbClr val="E6EDF3"/>
                </a:solidFill>
                <a:latin typeface="Consolas"/>
              </a:rPr>
              <a:t>    {.sizeBytes}{"\t"}{.names[0]}{"\n"}{end}' | sort -rn</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35652389   docker.io/kindest/kindnetd:v20260820-69b56db7</a:t>
            </a:r>
          </a:p>
          <a:p>
            <a:pPr>
              <a:lnSpc>
                <a:spcPts val="1476"/>
              </a:lnSpc>
              <a:spcAft>
                <a:spcPts val="0"/>
              </a:spcAft>
            </a:pPr>
            <a:r>
              <a:rPr sz="1000">
                <a:solidFill>
                  <a:srgbClr val="E6EDF3"/>
                </a:solidFill>
                <a:latin typeface="Consolas"/>
              </a:rPr>
              <a:t>21832241   docker.io/library/nginx@sha256:65645c7bb6a0...</a:t>
            </a:r>
          </a:p>
          <a:p>
            <a:pPr>
              <a:lnSpc>
                <a:spcPts val="1476"/>
              </a:lnSpc>
              <a:spcAft>
                <a:spcPts val="0"/>
              </a:spcAft>
            </a:pPr>
            <a:r>
              <a:rPr sz="1000">
                <a:solidFill>
                  <a:srgbClr val="E6EDF3"/>
                </a:solidFill>
                <a:latin typeface="Consolas"/>
              </a:rPr>
              <a:t>21239459   registry.k8s.io/coredns/coredns:v1.14.6</a:t>
            </a:r>
          </a:p>
          <a:p>
            <a:pPr>
              <a:lnSpc>
                <a:spcPts val="1476"/>
              </a:lnSpc>
              <a:spcAft>
                <a:spcPts val="0"/>
              </a:spcAft>
            </a:pPr>
            <a:r>
              <a:rPr sz="1000">
                <a:solidFill>
                  <a:srgbClr val="E6EDF3"/>
                </a:solidFill>
                <a:latin typeface="Consolas"/>
              </a:rPr>
              <a:t>20455189   registry.k8s.io/etcd:3.7.0-0</a:t>
            </a:r>
          </a:p>
          <a:p>
            <a:pPr>
              <a:lnSpc>
                <a:spcPts val="1476"/>
              </a:lnSpc>
              <a:spcAft>
                <a:spcPts val="0"/>
              </a:spcAft>
            </a:pPr>
            <a:r>
              <a:rPr sz="1000">
                <a:solidFill>
                  <a:srgbClr val="E6EDF3"/>
                </a:solidFill>
                <a:latin typeface="Consolas"/>
              </a:rPr>
              <a:t>14217939   docker.io/kindest/local-path-provisioner:v20260820</a:t>
            </a:r>
          </a:p>
          <a:p>
            <a:pPr>
              <a:lnSpc>
                <a:spcPts val="1476"/>
              </a:lnSpc>
              <a:spcAft>
                <a:spcPts val="0"/>
              </a:spcAft>
            </a:pPr>
            <a:r>
              <a:rPr sz="1000">
                <a:solidFill>
                  <a:srgbClr val="E6EDF3"/>
                </a:solidFill>
                <a:latin typeface="Consolas"/>
              </a:rPr>
              <a:t> 4103199   docker.io/library/alpine@sha256:d9e853e87e55...</a:t>
            </a:r>
          </a:p>
          <a:p>
            <a:pPr>
              <a:lnSpc>
                <a:spcPts val="1476"/>
              </a:lnSpc>
              <a:spcAft>
                <a:spcPts val="0"/>
              </a:spcAft>
            </a:pPr>
            <a:r>
              <a:rPr sz="1000">
                <a:solidFill>
                  <a:srgbClr val="E6EDF3"/>
                </a:solidFill>
                <a:latin typeface="Consolas"/>
              </a:rPr>
              <a:t> 1906887   docker.io/library/busybox@sha256:73aaf090f3d8...</a:t>
            </a:r>
          </a:p>
          <a:p>
            <a:pPr>
              <a:lnSpc>
                <a:spcPts val="1476"/>
              </a:lnSpc>
              <a:spcAft>
                <a:spcPts val="0"/>
              </a:spcAft>
            </a:pPr>
            <a:r>
              <a:rPr sz="1000">
                <a:solidFill>
                  <a:srgbClr val="E6EDF3"/>
                </a:solidFill>
                <a:latin typeface="Consolas"/>
              </a:rPr>
              <a:t>  267933   registry.k8s.io/pause:3.10</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You never touched the node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kubelet reports its content store to the API server; the data is in Node.status.images. No SSH, no crictl.</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Entries are digest-addressed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store is a content-addressed cache. Tags shown here are names attached to a digest, not the identity itself.</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pause is the smallest thing here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267 933 bytes. It is the sandbox container that holds every Pod's network namespace open.</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sizeBytes is per image, not per node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Images sharing a base layer store it once, so these numbers do not sum to disk usage.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a:t>
            </a:r>
          </a:p>
        </p:txBody>
      </p:sp>
    </p:spTree>
  </p:cSld>
  <p:clrMapOvr>
    <a:masterClrMapping/>
  </p:clrMapOvr>
  <p:transition xmlns:ns1="http://schemas.openxmlformats.org/markup-compatibility/2006" spd="fast" ns1:Ignorable="p14">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Image Sizes on the Training Node, as containerd Reports Them</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Node.status.images[].sizeBytes divided by 10^6, read from the live training cluster. No estimates.</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MB (10^6 bytes)</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orders of magnitude, top to bottom</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35.7 MB for the CNI agent against 0.27 MB for the pause sandbox image — both are ordinary containers.</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Alpine bases are genuinely small</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nginx:1.27-alpine at 21.8 MB carries a full web server; the alpine base underneath it is 4.1 MB.</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Small does not mean trivial</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busybox at 1.9 MB is the workhorse of every lab today and still gives you a usable shell and coreutils.</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Compare with a VM image</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are the sizes shipped and cached per node. A guest OS disk image for the same workload is measured in gigabytes.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a:t>
            </a:r>
          </a:p>
        </p:txBody>
      </p:sp>
    </p:spTree>
  </p:cSld>
  <p:clrMapOvr>
    <a:masterClrMapping/>
  </p:clrMapOvr>
  <p:transition xmlns:ns1="http://schemas.openxmlformats.org/markup-compatibility/2006" spd="fast" ns1:Ignorable="p14">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Container Runtimes You Will Actually See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dropped Docker' is a statement about the shim, not about your images.</a:t>
            </a:r>
          </a:p>
        </p:txBody>
      </p:sp>
      <p:sp>
        <p:nvSpPr>
          <p:cNvPr id="7" name="Rectangle 6"/>
          <p:cNvSpPr/>
          <p:nvPr/>
        </p:nvSpPr>
        <p:spPr>
          <a:xfrm>
            <a:off x="777240" y="2200046"/>
            <a:ext cx="1810512"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55448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Runtime</a:t>
            </a:r>
          </a:p>
        </p:txBody>
      </p:sp>
      <p:sp>
        <p:nvSpPr>
          <p:cNvPr id="9" name="Rectangle 8"/>
          <p:cNvSpPr/>
          <p:nvPr/>
        </p:nvSpPr>
        <p:spPr>
          <a:xfrm>
            <a:off x="2587752" y="2200046"/>
            <a:ext cx="329184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715768" y="2300630"/>
            <a:ext cx="303580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Role</a:t>
            </a:r>
          </a:p>
        </p:txBody>
      </p:sp>
      <p:sp>
        <p:nvSpPr>
          <p:cNvPr id="11" name="Rectangle 10"/>
          <p:cNvSpPr/>
          <p:nvPr/>
        </p:nvSpPr>
        <p:spPr>
          <a:xfrm>
            <a:off x="5879592" y="2200046"/>
            <a:ext cx="2139696"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007607" y="2300630"/>
            <a:ext cx="188366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Speaks CRI?</a:t>
            </a:r>
          </a:p>
        </p:txBody>
      </p:sp>
      <p:sp>
        <p:nvSpPr>
          <p:cNvPr id="13" name="Rectangle 12"/>
          <p:cNvSpPr/>
          <p:nvPr/>
        </p:nvSpPr>
        <p:spPr>
          <a:xfrm>
            <a:off x="8019288" y="2200046"/>
            <a:ext cx="3456432"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147304" y="2300630"/>
            <a:ext cx="320040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Notes</a:t>
            </a:r>
          </a:p>
        </p:txBody>
      </p:sp>
      <p:sp>
        <p:nvSpPr>
          <p:cNvPr id="15" name="Rectangle 14"/>
          <p:cNvSpPr/>
          <p:nvPr/>
        </p:nvSpPr>
        <p:spPr>
          <a:xfrm>
            <a:off x="777240" y="2620670"/>
            <a:ext cx="1810512"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554480"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containerd</a:t>
            </a:r>
          </a:p>
        </p:txBody>
      </p:sp>
      <p:sp>
        <p:nvSpPr>
          <p:cNvPr id="17" name="Rectangle 16"/>
          <p:cNvSpPr/>
          <p:nvPr/>
        </p:nvSpPr>
        <p:spPr>
          <a:xfrm>
            <a:off x="2587752" y="2620670"/>
            <a:ext cx="329184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715768" y="2702966"/>
            <a:ext cx="303580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High-level runtime: images, snapshots, lifecycle</a:t>
            </a:r>
          </a:p>
        </p:txBody>
      </p:sp>
      <p:sp>
        <p:nvSpPr>
          <p:cNvPr id="19" name="Rectangle 18"/>
          <p:cNvSpPr/>
          <p:nvPr/>
        </p:nvSpPr>
        <p:spPr>
          <a:xfrm>
            <a:off x="5879592" y="2620670"/>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007607" y="2702966"/>
            <a:ext cx="1883663"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via its built-in CRI plugin</a:t>
            </a:r>
          </a:p>
        </p:txBody>
      </p:sp>
      <p:sp>
        <p:nvSpPr>
          <p:cNvPr id="21" name="Rectangle 20"/>
          <p:cNvSpPr/>
          <p:nvPr/>
        </p:nvSpPr>
        <p:spPr>
          <a:xfrm>
            <a:off x="8019288" y="2620670"/>
            <a:ext cx="3456432"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147304" y="2702966"/>
            <a:ext cx="320040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CNCF graduated; the default on most managed offerings and on kind</a:t>
            </a:r>
          </a:p>
        </p:txBody>
      </p:sp>
      <p:sp>
        <p:nvSpPr>
          <p:cNvPr id="23" name="Rectangle 22"/>
          <p:cNvSpPr/>
          <p:nvPr/>
        </p:nvSpPr>
        <p:spPr>
          <a:xfrm>
            <a:off x="777240" y="3171870"/>
            <a:ext cx="1810512"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554480"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CRI-O</a:t>
            </a:r>
          </a:p>
        </p:txBody>
      </p:sp>
      <p:sp>
        <p:nvSpPr>
          <p:cNvPr id="25" name="Rectangle 24"/>
          <p:cNvSpPr/>
          <p:nvPr/>
        </p:nvSpPr>
        <p:spPr>
          <a:xfrm>
            <a:off x="2587752" y="3171870"/>
            <a:ext cx="3291840"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715768" y="3254166"/>
            <a:ext cx="303580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High-level runtime built only for Kubernetes</a:t>
            </a:r>
          </a:p>
        </p:txBody>
      </p:sp>
      <p:sp>
        <p:nvSpPr>
          <p:cNvPr id="27" name="Rectangle 26"/>
          <p:cNvSpPr/>
          <p:nvPr/>
        </p:nvSpPr>
        <p:spPr>
          <a:xfrm>
            <a:off x="5879592" y="3171870"/>
            <a:ext cx="2139696"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007607" y="3254166"/>
            <a:ext cx="1883663"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natively</a:t>
            </a:r>
          </a:p>
        </p:txBody>
      </p:sp>
      <p:sp>
        <p:nvSpPr>
          <p:cNvPr id="29" name="Rectangle 28"/>
          <p:cNvSpPr/>
          <p:nvPr/>
        </p:nvSpPr>
        <p:spPr>
          <a:xfrm>
            <a:off x="8019288" y="3171870"/>
            <a:ext cx="3456432"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147304" y="3254166"/>
            <a:ext cx="320040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CNCF graduated; the default on OpenShift</a:t>
            </a:r>
          </a:p>
        </p:txBody>
      </p:sp>
      <p:sp>
        <p:nvSpPr>
          <p:cNvPr id="31" name="Rectangle 30"/>
          <p:cNvSpPr/>
          <p:nvPr/>
        </p:nvSpPr>
        <p:spPr>
          <a:xfrm>
            <a:off x="777240" y="3723071"/>
            <a:ext cx="1810512"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554480"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runc</a:t>
            </a:r>
          </a:p>
        </p:txBody>
      </p:sp>
      <p:sp>
        <p:nvSpPr>
          <p:cNvPr id="33" name="Rectangle 32"/>
          <p:cNvSpPr/>
          <p:nvPr/>
        </p:nvSpPr>
        <p:spPr>
          <a:xfrm>
            <a:off x="2587752" y="3723071"/>
            <a:ext cx="3291840"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715768" y="3805367"/>
            <a:ext cx="303580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Low-level runtime: creates namespaces and cgroups, execs</a:t>
            </a:r>
          </a:p>
        </p:txBody>
      </p:sp>
      <p:sp>
        <p:nvSpPr>
          <p:cNvPr id="35" name="Rectangle 34"/>
          <p:cNvSpPr/>
          <p:nvPr/>
        </p:nvSpPr>
        <p:spPr>
          <a:xfrm>
            <a:off x="5879592" y="3723071"/>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007607" y="3805367"/>
            <a:ext cx="1883663"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it is below the CRI</a:t>
            </a:r>
          </a:p>
        </p:txBody>
      </p:sp>
      <p:sp>
        <p:nvSpPr>
          <p:cNvPr id="37" name="Rectangle 36"/>
          <p:cNvSpPr/>
          <p:nvPr/>
        </p:nvSpPr>
        <p:spPr>
          <a:xfrm>
            <a:off x="8019288" y="3723071"/>
            <a:ext cx="3456432"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147304" y="3805367"/>
            <a:ext cx="320040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OCI reference implementation; invoked by containerd/CRI-O</a:t>
            </a:r>
          </a:p>
        </p:txBody>
      </p:sp>
      <p:sp>
        <p:nvSpPr>
          <p:cNvPr id="39" name="Rectangle 38"/>
          <p:cNvSpPr/>
          <p:nvPr/>
        </p:nvSpPr>
        <p:spPr>
          <a:xfrm>
            <a:off x="777240" y="4274271"/>
            <a:ext cx="1810512"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554480"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crun</a:t>
            </a:r>
          </a:p>
        </p:txBody>
      </p:sp>
      <p:sp>
        <p:nvSpPr>
          <p:cNvPr id="41" name="Rectangle 40"/>
          <p:cNvSpPr/>
          <p:nvPr/>
        </p:nvSpPr>
        <p:spPr>
          <a:xfrm>
            <a:off x="2587752" y="4274271"/>
            <a:ext cx="3291840"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715768" y="4356567"/>
            <a:ext cx="303580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Low-level runtime, C implementation</a:t>
            </a:r>
          </a:p>
        </p:txBody>
      </p:sp>
      <p:sp>
        <p:nvSpPr>
          <p:cNvPr id="43" name="Rectangle 42"/>
          <p:cNvSpPr/>
          <p:nvPr/>
        </p:nvSpPr>
        <p:spPr>
          <a:xfrm>
            <a:off x="5879592" y="4274271"/>
            <a:ext cx="2139696"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007607" y="4356567"/>
            <a:ext cx="1883663"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below the CRI</a:t>
            </a:r>
          </a:p>
        </p:txBody>
      </p:sp>
      <p:sp>
        <p:nvSpPr>
          <p:cNvPr id="45" name="Rectangle 44"/>
          <p:cNvSpPr/>
          <p:nvPr/>
        </p:nvSpPr>
        <p:spPr>
          <a:xfrm>
            <a:off x="8019288" y="4274271"/>
            <a:ext cx="3456432"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147304" y="4356567"/>
            <a:ext cx="320040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Drop-in alternative to runc; also used as the base for Kata/gVisor style sandboxes</a:t>
            </a:r>
          </a:p>
        </p:txBody>
      </p:sp>
      <p:sp>
        <p:nvSpPr>
          <p:cNvPr id="47" name="Rectangle 46"/>
          <p:cNvSpPr/>
          <p:nvPr/>
        </p:nvSpPr>
        <p:spPr>
          <a:xfrm>
            <a:off x="777240" y="4825471"/>
            <a:ext cx="1810512"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554480"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Docker Engine</a:t>
            </a:r>
          </a:p>
        </p:txBody>
      </p:sp>
      <p:sp>
        <p:nvSpPr>
          <p:cNvPr id="49" name="Rectangle 48"/>
          <p:cNvSpPr/>
          <p:nvPr/>
        </p:nvSpPr>
        <p:spPr>
          <a:xfrm>
            <a:off x="2587752" y="4825471"/>
            <a:ext cx="3291840"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715768" y="4907767"/>
            <a:ext cx="303580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Developer tooling and daemon</a:t>
            </a:r>
          </a:p>
        </p:txBody>
      </p:sp>
      <p:sp>
        <p:nvSpPr>
          <p:cNvPr id="51" name="Rectangle 50"/>
          <p:cNvSpPr/>
          <p:nvPr/>
        </p:nvSpPr>
        <p:spPr>
          <a:xfrm>
            <a:off x="5879592" y="4825471"/>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007607" y="4907767"/>
            <a:ext cx="1883663"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dockershim was removed in v1.24</a:t>
            </a:r>
          </a:p>
        </p:txBody>
      </p:sp>
      <p:sp>
        <p:nvSpPr>
          <p:cNvPr id="53" name="Rectangle 52"/>
          <p:cNvSpPr/>
          <p:nvPr/>
        </p:nvSpPr>
        <p:spPr>
          <a:xfrm>
            <a:off x="8019288" y="4825471"/>
            <a:ext cx="3456432"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147304" y="4907767"/>
            <a:ext cx="320040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Images built by Docker are ordinary OCI images and run fine</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Ask two questions of any runtime: does it speak CRI, and does it produce an OCI bundle? Everything else is detail.</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Container Runtime Interface: kubernetes.io/docs/concepts/architecture/cri/.</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a:t>
            </a:r>
          </a:p>
        </p:txBody>
      </p:sp>
    </p:spTree>
  </p:cSld>
  <p:clrMapOvr>
    <a:masterClrMapping/>
  </p:clrMapOvr>
  <p:transition xmlns:ns1="http://schemas.openxmlformats.org/markup-compatibility/2006" spd="fast" ns1:Ignorable="p14">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CRI Facts Worth Memorising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CRI is why a cluster can change runtime without a single manifest changing.</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Transport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gRPC over a Unix domain socket on the node</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Services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RuntimeService (sandboxes, containers, exec) and ImageService (pull, list, remove)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Client</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kubelet — and only the kubelet</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Sandbox first</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RunPodSandbox is called before any container; it creates the Pod's shared namespaces</a:t>
            </a:r>
          </a:p>
        </p:txBody>
      </p:sp>
      <p:sp>
        <p:nvSpPr>
          <p:cNvPr id="23" name="Rectangle 22"/>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6263639" y="220004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Node-level CLI</a:t>
            </a:r>
          </a:p>
        </p:txBody>
      </p:sp>
      <p:sp>
        <p:nvSpPr>
          <p:cNvPr id="26" name="TextBox 25"/>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crictl speaks CRI directly; useful when the API server view and the node disagree</a:t>
            </a:r>
          </a:p>
        </p:txBody>
      </p:sp>
      <p:sp>
        <p:nvSpPr>
          <p:cNvPr id="27" name="Rectangle 26"/>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6263639" y="274868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Version skew</a:t>
            </a:r>
          </a:p>
        </p:txBody>
      </p:sp>
      <p:sp>
        <p:nvSpPr>
          <p:cNvPr id="30" name="TextBox 29"/>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kubelet negotiates the CRI version with the runtime at startup</a:t>
            </a:r>
          </a:p>
        </p:txBody>
      </p:sp>
      <p:sp>
        <p:nvSpPr>
          <p:cNvPr id="31" name="Rectangle 30"/>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329732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Where it is configured</a:t>
            </a:r>
          </a:p>
        </p:txBody>
      </p:sp>
      <p:sp>
        <p:nvSpPr>
          <p:cNvPr id="34" name="TextBox 33"/>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kubelet flag --container-runtime-endpoint, pointing at the socket path</a:t>
            </a:r>
          </a:p>
        </p:txBody>
      </p:sp>
      <p:sp>
        <p:nvSpPr>
          <p:cNvPr id="35" name="Rectangle 34"/>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384596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Reported back</a:t>
            </a:r>
          </a:p>
        </p:txBody>
      </p:sp>
      <p:sp>
        <p:nvSpPr>
          <p:cNvPr id="38" name="TextBox 37"/>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Node.status.nodeInfo.containerRuntimeVersion — on this cluster, containerd://2.3.4</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Container Runtime Interface: kubernetes.io/docs/concepts/architecture/cri/. Measured on the course training cluster: kind, Kubernetes v1.37.0, containerd 2.3.4, linux/arm64, 5 Sep 2026.</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a:t>
            </a:r>
          </a:p>
        </p:txBody>
      </p:sp>
    </p:spTree>
  </p:cSld>
  <p:clrMapOvr>
    <a:masterClrMapping/>
  </p:clrMapOvr>
  <p:transition xmlns:ns1="http://schemas.openxmlformats.org/markup-compatibility/2006" spd="fast" ns1:Ignorable="p14">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Morning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11:00 – 11:10 AM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a:t>
            </a:r>
          </a:p>
        </p:txBody>
      </p:sp>
    </p:spTree>
  </p:cSld>
  <p:clrMapOvr>
    <a:masterClrMapping/>
  </p:clrMapOvr>
  <p:transition xmlns:ns1="http://schemas.openxmlformats.org/markup-compatibility/2006" spd="fast" ns1:Ignorable="p14">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03</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3 · KUBERNETES CORE CONCEPTS</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The API Is the Product</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Resources, groups, versions and verbs; the control loop; the control plane and node plane; kubectl as an HTTPS client.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a:t>
            </a:r>
          </a:p>
        </p:txBody>
      </p:sp>
    </p:spTree>
  </p:cSld>
  <p:clrMapOvr>
    <a:masterClrMapping/>
  </p:clrMapOvr>
  <p:transition xmlns:ns1="http://schemas.openxmlformats.org/markup-compatibility/2006" spd="med" ns1:Ignorable="p14">
    <p:push dir="l"/>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1F6FEB"/>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MECHANISM</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kubectl is an HTTPS client. Every other Kubernetes behaviour you will learn this week follows from that one fact.</a:t>
            </a:r>
          </a:p>
        </p:txBody>
      </p:sp>
      <p:sp>
        <p:nvSpPr>
          <p:cNvPr id="6" name="Rectangle 5"/>
          <p:cNvSpPr/>
          <p:nvPr/>
        </p:nvSpPr>
        <p:spPr>
          <a:xfrm>
            <a:off x="1143000" y="4187952"/>
            <a:ext cx="2194560" cy="3200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There is no privileged channel, no side door and no local state: the object you get back is the object the API server stored.</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a:t>
            </a:r>
          </a:p>
        </p:txBody>
      </p:sp>
    </p:spTree>
  </p:cSld>
  <p:clrMapOvr>
    <a:masterClrMapping/>
  </p:clrMapOvr>
  <p:transition xmlns:ns1="http://schemas.openxmlformats.org/markup-compatibility/2006" spd="fast" ns1:Ignorable="p14">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API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Six Words the API Reference Uses Precisely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Get these six right and kubectl output, RBAC rules and exam questions all become readable.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Resource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plural, lower-case URL segment: pods, services, deployments. It is what appears in the REST path.</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Kind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CamelCase type name written in the manifest: Pod, Service, Deployment. One kind, one resource, different spellings.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Group</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namespace for kinds: apps, batch, networking.k8s.io. The original core group has an empty name.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Version</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v1alpha1 → v1beta1 → v1, per group. The group/version pair is what you write as apiVersion.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Verb</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What you may do: get, list, watch, create, update, patch, delete, deletecollection. RBAC is written in these words.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Scope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Namespaced or cluster-scoped. This decides the URL shape and whether a namespace can isolate the object at all.</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Kubernetes API concepts: kubernetes.io/docs/reference/using-api/api-concepts/.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a:t>
            </a:r>
          </a:p>
        </p:txBody>
      </p:sp>
    </p:spTree>
  </p:cSld>
  <p:clrMapOvr>
    <a:masterClrMapping/>
  </p:clrMapOvr>
  <p:transition xmlns:ns1="http://schemas.openxmlformats.org/markup-compatibility/2006" spd="fast" ns1:Ignorable="p14">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Proving kubectl Is Just an HTTP Client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commands, two URLs. Read the path and you can predict the RBAC rule that would allow or deny it.</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training cluster, 5 Sep 2026</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kube-system get pods --v=6</a:t>
            </a:r>
          </a:p>
          <a:p>
            <a:pPr>
              <a:lnSpc>
                <a:spcPts val="1476"/>
              </a:lnSpc>
              <a:spcAft>
                <a:spcPts val="0"/>
              </a:spcAft>
            </a:pPr>
            <a:r>
              <a:rPr sz="1000">
                <a:solidFill>
                  <a:srgbClr val="E6EDF3"/>
                </a:solidFill>
                <a:latin typeface="Consolas"/>
              </a:rPr>
              <a:t>I0905 16:27:52.389269 loader.go:408] Config loaded from file:</a:t>
            </a:r>
          </a:p>
          <a:p>
            <a:pPr>
              <a:lnSpc>
                <a:spcPts val="1476"/>
              </a:lnSpc>
              <a:spcAft>
                <a:spcPts val="0"/>
              </a:spcAft>
            </a:pPr>
            <a:r>
              <a:rPr sz="1000">
                <a:solidFill>
                  <a:srgbClr val="E6EDF3"/>
                </a:solidFill>
                <a:latin typeface="Consolas"/>
              </a:rPr>
              <a:t>    /tmp/kcna-kind-20260905/kubeconfig</a:t>
            </a:r>
          </a:p>
          <a:p>
            <a:pPr>
              <a:lnSpc>
                <a:spcPts val="1476"/>
              </a:lnSpc>
              <a:spcAft>
                <a:spcPts val="0"/>
              </a:spcAft>
            </a:pPr>
            <a:r>
              <a:rPr sz="1000">
                <a:solidFill>
                  <a:srgbClr val="E6EDF3"/>
                </a:solidFill>
                <a:latin typeface="Consolas"/>
              </a:rPr>
              <a:t>I0905 16:27:52.417996 round_trippers.go:632] "Response"</a:t>
            </a:r>
          </a:p>
          <a:p>
            <a:pPr>
              <a:lnSpc>
                <a:spcPts val="1476"/>
              </a:lnSpc>
              <a:spcAft>
                <a:spcPts val="0"/>
              </a:spcAft>
            </a:pPr>
            <a:r>
              <a:rPr sz="1000">
                <a:solidFill>
                  <a:srgbClr val="E6EDF3"/>
                </a:solidFill>
                <a:latin typeface="Consolas"/>
              </a:rPr>
              <a:t>    verb="GET"</a:t>
            </a:r>
          </a:p>
          <a:p>
            <a:pPr>
              <a:lnSpc>
                <a:spcPts val="1476"/>
              </a:lnSpc>
              <a:spcAft>
                <a:spcPts val="0"/>
              </a:spcAft>
            </a:pPr>
            <a:r>
              <a:rPr sz="1000">
                <a:solidFill>
                  <a:srgbClr val="E6EDF3"/>
                </a:solidFill>
                <a:latin typeface="Consolas"/>
              </a:rPr>
              <a:t>    url="https://127.0.0.1:65108/api/v1/namespaces/kube-system/pods?limit=500"</a:t>
            </a:r>
          </a:p>
          <a:p>
            <a:pPr>
              <a:lnSpc>
                <a:spcPts val="1476"/>
              </a:lnSpc>
              <a:spcAft>
                <a:spcPts val="0"/>
              </a:spcAft>
            </a:pPr>
            <a:r>
              <a:rPr sz="1000">
                <a:solidFill>
                  <a:srgbClr val="E6EDF3"/>
                </a:solidFill>
                <a:latin typeface="Consolas"/>
              </a:rPr>
              <a:t>    status="200 OK" milliseconds=20</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kube-system get deployments --v=6</a:t>
            </a:r>
          </a:p>
          <a:p>
            <a:pPr>
              <a:lnSpc>
                <a:spcPts val="1476"/>
              </a:lnSpc>
              <a:spcAft>
                <a:spcPts val="0"/>
              </a:spcAft>
            </a:pPr>
            <a:r>
              <a:rPr sz="1000">
                <a:solidFill>
                  <a:srgbClr val="E6EDF3"/>
                </a:solidFill>
                <a:latin typeface="Consolas"/>
              </a:rPr>
              <a:t>I0905 16:27:52.462977 round_trippers.go:632] "Response"</a:t>
            </a:r>
          </a:p>
          <a:p>
            <a:pPr>
              <a:lnSpc>
                <a:spcPts val="1476"/>
              </a:lnSpc>
              <a:spcAft>
                <a:spcPts val="0"/>
              </a:spcAft>
            </a:pPr>
            <a:r>
              <a:rPr sz="1000">
                <a:solidFill>
                  <a:srgbClr val="E6EDF3"/>
                </a:solidFill>
                <a:latin typeface="Consolas"/>
              </a:rPr>
              <a:t>    verb="GET"</a:t>
            </a:r>
          </a:p>
          <a:p>
            <a:pPr>
              <a:lnSpc>
                <a:spcPts val="1476"/>
              </a:lnSpc>
              <a:spcAft>
                <a:spcPts val="0"/>
              </a:spcAft>
            </a:pPr>
            <a:r>
              <a:rPr sz="1000">
                <a:solidFill>
                  <a:srgbClr val="E6EDF3"/>
                </a:solidFill>
                <a:latin typeface="Consolas"/>
              </a:rPr>
              <a:t>    url="https://127.0.0.1:65108/apis/apps/v1/namespaces/kube-system/deployments?lim</a:t>
            </a:r>
          </a:p>
          <a:p>
            <a:pPr>
              <a:lnSpc>
                <a:spcPts val="1476"/>
              </a:lnSpc>
              <a:spcAft>
                <a:spcPts val="0"/>
              </a:spcAft>
            </a:pPr>
            <a:r>
              <a:rPr sz="1000">
                <a:solidFill>
                  <a:srgbClr val="E6EDF3"/>
                </a:solidFill>
                <a:latin typeface="Consolas"/>
              </a:rPr>
              <a:t>it=500"</a:t>
            </a:r>
          </a:p>
          <a:p>
            <a:pPr>
              <a:lnSpc>
                <a:spcPts val="1476"/>
              </a:lnSpc>
              <a:spcAft>
                <a:spcPts val="0"/>
              </a:spcAft>
            </a:pPr>
            <a:r>
              <a:rPr sz="1000">
                <a:solidFill>
                  <a:srgbClr val="E6EDF3"/>
                </a:solidFill>
                <a:latin typeface="Consolas"/>
              </a:rPr>
              <a:t>    status="200 OK" milliseconds=13</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--v=6 prints one line per request</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Verbosity 6 is the level that exposes the round-tripper. Higher levels add headers and bodies.</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/api/v1 versus /apis/apps/v1</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Core group objects live under /api. Every named group lives under /apis. That asymmetry is historical and it is examinable.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limit=500 is server-side pagination</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kubectl asks for a page and follows a continue token. Large clusters never return one giant list.</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kubeconfig is just credentials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Cluster URL, CA bundle, client certificate. Change the file and you change which API server you are addressing.</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Captured in courseware/labs/lab-01-kubectl-and-cluster-recon on the training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a:t>
            </a:r>
          </a:p>
        </p:txBody>
      </p:sp>
    </p:spTree>
  </p:cSld>
  <p:clrMapOvr>
    <a:masterClrMapping/>
  </p:clrMapOvr>
  <p:transition xmlns:ns1="http://schemas.openxmlformats.org/markup-compatibility/2006" spd="fast" ns1:Ignorable="p14">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Decomposing a Kubernetes REST Path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Once you can write the URL from the manifest, kubectl stops being magic.</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anatomy of the request kubectl just made</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https://127.0.0.1:65108</a:t>
            </a:r>
          </a:p>
          <a:p>
            <a:pPr>
              <a:lnSpc>
                <a:spcPts val="1476"/>
              </a:lnSpc>
              <a:spcAft>
                <a:spcPts val="0"/>
              </a:spcAft>
            </a:pPr>
            <a:r>
              <a:rPr sz="1050">
                <a:solidFill>
                  <a:srgbClr val="E6EDF3"/>
                </a:solidFill>
                <a:latin typeface="Consolas"/>
              </a:rPr>
              <a:t>  /apis            &lt;- named group prefix (/api for core)</a:t>
            </a:r>
          </a:p>
          <a:p>
            <a:pPr>
              <a:lnSpc>
                <a:spcPts val="1476"/>
              </a:lnSpc>
              <a:spcAft>
                <a:spcPts val="0"/>
              </a:spcAft>
            </a:pPr>
            <a:r>
              <a:rPr sz="1050">
                <a:solidFill>
                  <a:srgbClr val="E6EDF3"/>
                </a:solidFill>
                <a:latin typeface="Consolas"/>
              </a:rPr>
              <a:t>  /apps            &lt;- API group</a:t>
            </a:r>
          </a:p>
          <a:p>
            <a:pPr>
              <a:lnSpc>
                <a:spcPts val="1476"/>
              </a:lnSpc>
              <a:spcAft>
                <a:spcPts val="0"/>
              </a:spcAft>
            </a:pPr>
            <a:r>
              <a:rPr sz="1050">
                <a:solidFill>
                  <a:srgbClr val="E6EDF3"/>
                </a:solidFill>
                <a:latin typeface="Consolas"/>
              </a:rPr>
              <a:t>  /v1              &lt;- group version</a:t>
            </a:r>
          </a:p>
          <a:p>
            <a:pPr>
              <a:lnSpc>
                <a:spcPts val="1476"/>
              </a:lnSpc>
              <a:spcAft>
                <a:spcPts val="0"/>
              </a:spcAft>
            </a:pPr>
            <a:r>
              <a:rPr sz="1050">
                <a:solidFill>
                  <a:srgbClr val="E6EDF3"/>
                </a:solidFill>
                <a:latin typeface="Consolas"/>
              </a:rPr>
              <a:t>  /namespaces      &lt;- scope selector</a:t>
            </a:r>
          </a:p>
          <a:p>
            <a:pPr>
              <a:lnSpc>
                <a:spcPts val="1476"/>
              </a:lnSpc>
              <a:spcAft>
                <a:spcPts val="0"/>
              </a:spcAft>
            </a:pPr>
            <a:r>
              <a:rPr sz="1050">
                <a:solidFill>
                  <a:srgbClr val="E6EDF3"/>
                </a:solidFill>
                <a:latin typeface="Consolas"/>
              </a:rPr>
              <a:t>  /kube-system     &lt;- the namespace</a:t>
            </a:r>
          </a:p>
          <a:p>
            <a:pPr>
              <a:lnSpc>
                <a:spcPts val="1476"/>
              </a:lnSpc>
              <a:spcAft>
                <a:spcPts val="0"/>
              </a:spcAft>
            </a:pPr>
            <a:r>
              <a:rPr sz="1050">
                <a:solidFill>
                  <a:srgbClr val="E6EDF3"/>
                </a:solidFill>
                <a:latin typeface="Consolas"/>
              </a:rPr>
              <a:t>  /deployments     &lt;- the resource (plural, lower case)</a:t>
            </a:r>
          </a:p>
          <a:p>
            <a:pPr>
              <a:lnSpc>
                <a:spcPts val="1476"/>
              </a:lnSpc>
              <a:spcAft>
                <a:spcPts val="0"/>
              </a:spcAft>
            </a:pPr>
            <a:r>
              <a:rPr sz="1050">
                <a:solidFill>
                  <a:srgbClr val="E6EDF3"/>
                </a:solidFill>
                <a:latin typeface="Consolas"/>
              </a:rPr>
              <a:t>  /coredns         &lt;- the object name</a:t>
            </a:r>
          </a:p>
          <a:p>
            <a:pPr>
              <a:lnSpc>
                <a:spcPts val="1476"/>
              </a:lnSpc>
              <a:spcAft>
                <a:spcPts val="0"/>
              </a:spcAft>
            </a:pPr>
            <a:r>
              <a:rPr sz="1050">
                <a:solidFill>
                  <a:srgbClr val="E6EDF3"/>
                </a:solidFill>
                <a:latin typeface="Consolas"/>
              </a:rPr>
              <a:t>  /status          &lt;- optional subresource</a:t>
            </a:r>
          </a:p>
          <a:p>
            <a:pPr>
              <a:lnSpc>
                <a:spcPts val="1476"/>
              </a:lnSpc>
              <a:spcAft>
                <a:spcPts val="0"/>
              </a:spcAft>
            </a:pPr>
            <a:r>
              <a:rPr sz="1050">
                <a:solidFill>
                  <a:srgbClr val="E6EDF3"/>
                </a:solidFill>
                <a:latin typeface="Consolas"/>
              </a:rPr>
              <a:t>  ?limit=500       &lt;- pagination</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cluster-scoped objects have no /namespaces segment:</a:t>
            </a:r>
          </a:p>
          <a:p>
            <a:pPr>
              <a:lnSpc>
                <a:spcPts val="1476"/>
              </a:lnSpc>
              <a:spcAft>
                <a:spcPts val="0"/>
              </a:spcAft>
            </a:pPr>
            <a:r>
              <a:rPr sz="1050">
                <a:solidFill>
                  <a:srgbClr val="E6EDF3"/>
                </a:solidFill>
                <a:latin typeface="Consolas"/>
              </a:rPr>
              <a:t>  /api/v1/nodes/kcna-qa-20260905-control-plane</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and the manifest field that names group+version:</a:t>
            </a:r>
          </a:p>
          <a:p>
            <a:pPr>
              <a:lnSpc>
                <a:spcPts val="1476"/>
              </a:lnSpc>
              <a:spcAft>
                <a:spcPts val="0"/>
              </a:spcAft>
            </a:pPr>
            <a:r>
              <a:rPr sz="1050">
                <a:solidFill>
                  <a:srgbClr val="E6EDF3"/>
                </a:solidFill>
                <a:latin typeface="Consolas"/>
              </a:rPr>
              <a:t>  apiVersion: apps/v1     -&gt;  /apis/apps/v1</a:t>
            </a:r>
          </a:p>
          <a:p>
            <a:pPr>
              <a:lnSpc>
                <a:spcPts val="1476"/>
              </a:lnSpc>
              <a:spcAft>
                <a:spcPts val="0"/>
              </a:spcAft>
            </a:pPr>
            <a:r>
              <a:rPr sz="1050">
                <a:solidFill>
                  <a:srgbClr val="E6EDF3"/>
                </a:solidFill>
                <a:latin typeface="Consolas"/>
              </a:rPr>
              <a:t>  apiVersion: v1          -&gt;  /api/v1</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apiVersion is the path</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apiVersion: apps/v1 in YAML and /apis/apps/v1 in the URL are the same statement written twice.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kind maps to the resource</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kind: Deployment is served at the resource deployments. The mapping is published by API discovery, not guessed.</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Subresources are separate endpoints</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status, scale, logs, exec and portforward each have their own path — and their own RBAC verbs.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 /namespaces means cluster-scoped</a:t>
            </a:r>
          </a:p>
        </p:txBody>
      </p:sp>
      <p:sp>
        <p:nvSpPr>
          <p:cNvPr id="23" name="TextBox 22"/>
          <p:cNvSpPr txBox="1"/>
          <p:nvPr/>
        </p:nvSpPr>
        <p:spPr>
          <a:xfrm>
            <a:off x="7973567" y="5027584"/>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Nodes, PersistentVolumes and CRDs cannot be isolated by namespace. That is an architecture constraint, not a preference.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Kubernetes API concepts: kubernetes.io/docs/reference/using-api/api-concepts/.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a:t>
            </a:r>
          </a:p>
        </p:txBody>
      </p:sp>
    </p:spTree>
  </p:cSld>
  <p:clrMapOvr>
    <a:masterClrMapping/>
  </p:clrMapOvr>
  <p:transition xmlns:ns1="http://schemas.openxmlformats.org/markup-compatibility/2006" spd="fast" ns1:Ignorable="p14">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API Discovery: Asking the Server What It Serves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output is generated from the live OpenAPI discovery document, so it is always right for this cluster's version.</a:t>
            </a:r>
          </a:p>
        </p:txBody>
      </p:sp>
      <p:sp>
        <p:nvSpPr>
          <p:cNvPr id="7" name="Rectangle 6"/>
          <p:cNvSpPr/>
          <p:nvPr/>
        </p:nvSpPr>
        <p:spPr>
          <a:xfrm>
            <a:off x="777240" y="2200046"/>
            <a:ext cx="690372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training cluster, 5 Sep 2026</a:t>
            </a:r>
          </a:p>
        </p:txBody>
      </p:sp>
      <p:sp>
        <p:nvSpPr>
          <p:cNvPr id="9" name="TextBox 8"/>
          <p:cNvSpPr txBox="1"/>
          <p:nvPr/>
        </p:nvSpPr>
        <p:spPr>
          <a:xfrm>
            <a:off x="923544" y="2620670"/>
            <a:ext cx="6611112" cy="318668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api-resources --api-group=''</a:t>
            </a:r>
          </a:p>
          <a:p>
            <a:pPr>
              <a:lnSpc>
                <a:spcPts val="1476"/>
              </a:lnSpc>
              <a:spcAft>
                <a:spcPts val="0"/>
              </a:spcAft>
            </a:pPr>
            <a:r>
              <a:rPr sz="1000">
                <a:solidFill>
                  <a:srgbClr val="E6EDF3"/>
                </a:solidFill>
                <a:latin typeface="Consolas"/>
              </a:rPr>
              <a:t>NAME                    SHORTNAMES  APIVERSION  NAMESPACED  KIND</a:t>
            </a:r>
          </a:p>
          <a:p>
            <a:pPr>
              <a:lnSpc>
                <a:spcPts val="1476"/>
              </a:lnSpc>
              <a:spcAft>
                <a:spcPts val="0"/>
              </a:spcAft>
            </a:pPr>
            <a:r>
              <a:rPr sz="1000">
                <a:solidFill>
                  <a:srgbClr val="E6EDF3"/>
                </a:solidFill>
                <a:latin typeface="Consolas"/>
              </a:rPr>
              <a:t>bindings                            v1          true    Binding</a:t>
            </a:r>
          </a:p>
          <a:p>
            <a:pPr>
              <a:lnSpc>
                <a:spcPts val="1476"/>
              </a:lnSpc>
              <a:spcAft>
                <a:spcPts val="0"/>
              </a:spcAft>
            </a:pPr>
            <a:r>
              <a:rPr sz="1000">
                <a:solidFill>
                  <a:srgbClr val="E6EDF3"/>
                </a:solidFill>
                <a:latin typeface="Consolas"/>
              </a:rPr>
              <a:t>componentstatuses       cs          v1          false   ComponentStatus</a:t>
            </a:r>
          </a:p>
          <a:p>
            <a:pPr>
              <a:lnSpc>
                <a:spcPts val="1476"/>
              </a:lnSpc>
              <a:spcAft>
                <a:spcPts val="0"/>
              </a:spcAft>
            </a:pPr>
            <a:r>
              <a:rPr sz="1000">
                <a:solidFill>
                  <a:srgbClr val="E6EDF3"/>
                </a:solidFill>
                <a:latin typeface="Consolas"/>
              </a:rPr>
              <a:t>configmaps              cm          v1          true    ConfigMap</a:t>
            </a:r>
          </a:p>
          <a:p>
            <a:pPr>
              <a:lnSpc>
                <a:spcPts val="1476"/>
              </a:lnSpc>
              <a:spcAft>
                <a:spcPts val="0"/>
              </a:spcAft>
            </a:pPr>
            <a:r>
              <a:rPr sz="1000">
                <a:solidFill>
                  <a:srgbClr val="E6EDF3"/>
                </a:solidFill>
                <a:latin typeface="Consolas"/>
              </a:rPr>
              <a:t>endpoints               ep          v1          true    Endpoints</a:t>
            </a:r>
          </a:p>
          <a:p>
            <a:pPr>
              <a:lnSpc>
                <a:spcPts val="1476"/>
              </a:lnSpc>
              <a:spcAft>
                <a:spcPts val="0"/>
              </a:spcAft>
            </a:pPr>
            <a:r>
              <a:rPr sz="1000">
                <a:solidFill>
                  <a:srgbClr val="E6EDF3"/>
                </a:solidFill>
                <a:latin typeface="Consolas"/>
              </a:rPr>
              <a:t>events                  ev          v1          true    Event</a:t>
            </a:r>
          </a:p>
          <a:p>
            <a:pPr>
              <a:lnSpc>
                <a:spcPts val="1476"/>
              </a:lnSpc>
              <a:spcAft>
                <a:spcPts val="0"/>
              </a:spcAft>
            </a:pPr>
            <a:r>
              <a:rPr sz="1000">
                <a:solidFill>
                  <a:srgbClr val="E6EDF3"/>
                </a:solidFill>
                <a:latin typeface="Consolas"/>
              </a:rPr>
              <a:t>limitranges             limits      v1          true    LimitRange</a:t>
            </a:r>
          </a:p>
          <a:p>
            <a:pPr>
              <a:lnSpc>
                <a:spcPts val="1476"/>
              </a:lnSpc>
              <a:spcAft>
                <a:spcPts val="0"/>
              </a:spcAft>
            </a:pPr>
            <a:r>
              <a:rPr sz="1000">
                <a:solidFill>
                  <a:srgbClr val="E6EDF3"/>
                </a:solidFill>
                <a:latin typeface="Consolas"/>
              </a:rPr>
              <a:t>namespaces              ns          v1          false   Namespace</a:t>
            </a:r>
          </a:p>
          <a:p>
            <a:pPr>
              <a:lnSpc>
                <a:spcPts val="1476"/>
              </a:lnSpc>
              <a:spcAft>
                <a:spcPts val="0"/>
              </a:spcAft>
            </a:pPr>
            <a:r>
              <a:rPr sz="1000">
                <a:solidFill>
                  <a:srgbClr val="E6EDF3"/>
                </a:solidFill>
                <a:latin typeface="Consolas"/>
              </a:rPr>
              <a:t>nodes                   no          v1          false   Node</a:t>
            </a:r>
          </a:p>
          <a:p>
            <a:pPr>
              <a:lnSpc>
                <a:spcPts val="1476"/>
              </a:lnSpc>
              <a:spcAft>
                <a:spcPts val="0"/>
              </a:spcAft>
            </a:pPr>
            <a:r>
              <a:rPr sz="1000">
                <a:solidFill>
                  <a:srgbClr val="E6EDF3"/>
                </a:solidFill>
                <a:latin typeface="Consolas"/>
              </a:rPr>
              <a:t>persistentvolumeclaims  pvc         v1          true    PersistentVolumeClaim</a:t>
            </a:r>
          </a:p>
          <a:p>
            <a:pPr>
              <a:lnSpc>
                <a:spcPts val="1476"/>
              </a:lnSpc>
              <a:spcAft>
                <a:spcPts val="0"/>
              </a:spcAft>
            </a:pPr>
            <a:r>
              <a:rPr sz="1000">
                <a:solidFill>
                  <a:srgbClr val="E6EDF3"/>
                </a:solidFill>
                <a:latin typeface="Consolas"/>
              </a:rPr>
              <a:t>persistentvolumes       pv          v1          false   PersistentVolume</a:t>
            </a:r>
          </a:p>
          <a:p>
            <a:pPr>
              <a:lnSpc>
                <a:spcPts val="1476"/>
              </a:lnSpc>
              <a:spcAft>
                <a:spcPts val="0"/>
              </a:spcAft>
            </a:pPr>
            <a:r>
              <a:rPr sz="1000">
                <a:solidFill>
                  <a:srgbClr val="E6EDF3"/>
                </a:solidFill>
                <a:latin typeface="Consolas"/>
              </a:rPr>
              <a:t>pods                    po          v1          true    Pod</a:t>
            </a:r>
          </a:p>
          <a:p>
            <a:pPr>
              <a:lnSpc>
                <a:spcPts val="1476"/>
              </a:lnSpc>
              <a:spcAft>
                <a:spcPts val="0"/>
              </a:spcAft>
            </a:pPr>
            <a:r>
              <a:rPr sz="1000">
                <a:solidFill>
                  <a:srgbClr val="E6EDF3"/>
                </a:solidFill>
                <a:latin typeface="Consolas"/>
              </a:rPr>
              <a:t>resourcequotas          quota       v1          true    ResourceQuota</a:t>
            </a:r>
          </a:p>
          <a:p>
            <a:pPr>
              <a:lnSpc>
                <a:spcPts val="1476"/>
              </a:lnSpc>
              <a:spcAft>
                <a:spcPts val="0"/>
              </a:spcAft>
            </a:pPr>
            <a:r>
              <a:rPr sz="1000">
                <a:solidFill>
                  <a:srgbClr val="E6EDF3"/>
                </a:solidFill>
                <a:latin typeface="Consolas"/>
              </a:rPr>
              <a:t>secrets                             v1          true    Secret</a:t>
            </a:r>
          </a:p>
          <a:p>
            <a:pPr>
              <a:lnSpc>
                <a:spcPts val="1476"/>
              </a:lnSpc>
              <a:spcAft>
                <a:spcPts val="0"/>
              </a:spcAft>
            </a:pPr>
            <a:r>
              <a:rPr sz="1000">
                <a:solidFill>
                  <a:srgbClr val="E6EDF3"/>
                </a:solidFill>
                <a:latin typeface="Consolas"/>
              </a:rPr>
              <a:t>serviceaccounts         sa          v1          true    ServiceAccount</a:t>
            </a:r>
          </a:p>
          <a:p>
            <a:pPr>
              <a:lnSpc>
                <a:spcPts val="1476"/>
              </a:lnSpc>
              <a:spcAft>
                <a:spcPts val="0"/>
              </a:spcAft>
            </a:pPr>
            <a:r>
              <a:rPr sz="1000">
                <a:solidFill>
                  <a:srgbClr val="E6EDF3"/>
                </a:solidFill>
                <a:latin typeface="Consolas"/>
              </a:rPr>
              <a:t>services                svc         v1          true    Service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Seventeen kinds in the core group</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Everything with apiVersion: v1. Pods, Services, ConfigMaps and Secrets are all here — the oldest and most used objects.</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NAMESPACED is the architectural column</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Nodes, PersistentVolumes and Namespaces themselves are false. A namespace cannot isolate them for a tenant.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SHORTNAMES are server-published</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po, svc, cm and pvc come from discovery, not from kubectl. They work for CRDs too if the CRD declares them.</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endpoints is still served</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v1 Endpoints was deprecated in v1.33. Use discovery.k8s.io/v1 EndpointSlice for Service diagnostics from Day 3 onward.</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kubernetes.io/blog/2025/04/24/endpoints-deprecation/ — v1 Endpoints deprecated in v1.33; prefer discovery.k8s.io/v1.</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a:t>
            </a:r>
          </a:p>
        </p:txBody>
      </p:sp>
    </p:spTree>
  </p:cSld>
  <p:clrMapOvr>
    <a:masterClrMapping/>
  </p:clrMapOvr>
  <p:transition xmlns:ns1="http://schemas.openxmlformats.org/markup-compatibility/2006" spd="fast" ns1:Ignorable="p14">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the 71 Resource Kinds Live, by API Group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Counted with kubectl api-resources on the training cluster: 71 kinds across 22 API groups and 23 group/version pairs.</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Rectangle 7"/>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core group is still the biggest</a:t>
            </a:r>
          </a:p>
        </p:txBody>
      </p:sp>
      <p:sp>
        <p:nvSpPr>
          <p:cNvPr id="12" name="TextBox 11"/>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17 of 71 kinds, and it holds the objects you touch daily — Pod, Service, ConfigMap, Secret, Namespace, Node.</a:t>
            </a:r>
          </a:p>
        </p:txBody>
      </p:sp>
      <p:sp>
        <p:nvSpPr>
          <p:cNvPr id="13" name="Rectangle 12"/>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apps is smaller than people expect</a:t>
            </a:r>
          </a:p>
        </p:txBody>
      </p:sp>
      <p:sp>
        <p:nvSpPr>
          <p:cNvPr id="15" name="TextBox 14"/>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Five kinds: Deployment, ReplicaSet, StatefulSet, DaemonSet, ControllerRevision. That is the whole of Day 2's workload API.</a:t>
            </a:r>
          </a:p>
        </p:txBody>
      </p:sp>
      <p:sp>
        <p:nvSpPr>
          <p:cNvPr id="16" name="Rectangle 15"/>
          <p:cNvSpPr/>
          <p:nvPr/>
        </p:nvSpPr>
        <p:spPr>
          <a:xfrm>
            <a:off x="7927848" y="4165800"/>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1475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long tail of one-kind groups</a:t>
            </a:r>
          </a:p>
        </p:txBody>
      </p:sp>
      <p:sp>
        <p:nvSpPr>
          <p:cNvPr id="18" name="TextBox 17"/>
          <p:cNvSpPr txBox="1"/>
          <p:nvPr/>
        </p:nvSpPr>
        <p:spPr>
          <a:xfrm>
            <a:off x="8092440" y="43669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discovery, coordination, policy, autoscaling, node, events and others each serve one or two kinds.</a:t>
            </a:r>
          </a:p>
        </p:txBody>
      </p:sp>
      <p:sp>
        <p:nvSpPr>
          <p:cNvPr id="19" name="Rectangle 18"/>
          <p:cNvSpPr/>
          <p:nvPr/>
        </p:nvSpPr>
        <p:spPr>
          <a:xfrm>
            <a:off x="7927848" y="4860744"/>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8424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CRDs extend this list</a:t>
            </a:r>
          </a:p>
        </p:txBody>
      </p:sp>
      <p:sp>
        <p:nvSpPr>
          <p:cNvPr id="21" name="TextBox 20"/>
          <p:cNvSpPr txBox="1"/>
          <p:nvPr/>
        </p:nvSpPr>
        <p:spPr>
          <a:xfrm>
            <a:off x="8092440" y="50619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This cluster runs no operators. Add cert-manager or Argo CD and the count rises without any change to the API server.</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a:t>
            </a:r>
          </a:p>
        </p:txBody>
      </p:sp>
    </p:spTree>
  </p:cSld>
  <p:clrMapOvr>
    <a:masterClrMapping/>
  </p:clrMapOvr>
  <p:transition xmlns:ns1="http://schemas.openxmlformats.org/markup-compatibility/2006" spd="fast" ns1:Ignorable="p14">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API Groups You Will Use This Week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group/version pairs cover essentially the whole syllabus. Memorising these saves time in the exam.</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v1 (core)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Service, ConfigMap, Secret, Namespace, Node, PersistentVolume — Days 1, 3, 4</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apps/v1</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Deployment, ReplicaSet, StatefulSet, DaemonSet — Day 2</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batch/v1</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Job, CronJob — Day 2</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autoscaling/v2</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HorizontalPodAutoscaler — Day 2</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discovery.k8s.io/v1</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EndpointSlice — Day 3, replacing v1 Endpoints</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networking.k8s.io/v1</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Ingress, IngressClass, NetworkPolicy — Day 3</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rbac.authorization.k8s.io/v1</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Role, RoleBinding, ClusterRole, ClusterRoleBinding — Day 3</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storage.k8s.io/v1</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StorageClass, CSIDriver, VolumeAttachment — Day 4</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policy/v1</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PodDisruptionBudget — Day 4</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apiextensions.k8s.io/v1</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CustomResourceDefinition — the extension point, Day 4</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Kubernetes API concepts: kubernetes.io/docs/reference/using-api/api-concepts/.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58</a:t>
            </a:r>
          </a:p>
        </p:txBody>
      </p:sp>
    </p:spTree>
  </p:cSld>
  <p:clrMapOvr>
    <a:masterClrMapping/>
  </p:clrMapOvr>
  <p:transition xmlns:ns1="http://schemas.openxmlformats.org/markup-compatibility/2006" spd="fast" ns1:Ignorable="p14">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explain Reads the Live OpenAPI Schema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reference you should reach for first — faster than a browser and correct for your cluster.</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training cluster, 5 Sep 2026</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explain pod.spec.containers.ports</a:t>
            </a:r>
          </a:p>
          <a:p>
            <a:pPr>
              <a:lnSpc>
                <a:spcPts val="1413"/>
              </a:lnSpc>
              <a:spcAft>
                <a:spcPts val="0"/>
              </a:spcAft>
            </a:pPr>
            <a:r>
              <a:rPr sz="1000">
                <a:solidFill>
                  <a:srgbClr val="E6EDF3"/>
                </a:solidFill>
                <a:latin typeface="Consolas"/>
              </a:rPr>
              <a:t>KIND:       Pod</a:t>
            </a:r>
          </a:p>
          <a:p>
            <a:pPr>
              <a:lnSpc>
                <a:spcPts val="1413"/>
              </a:lnSpc>
              <a:spcAft>
                <a:spcPts val="0"/>
              </a:spcAft>
            </a:pPr>
            <a:r>
              <a:rPr sz="1000">
                <a:solidFill>
                  <a:srgbClr val="E6EDF3"/>
                </a:solidFill>
                <a:latin typeface="Consolas"/>
              </a:rPr>
              <a:t>VERSION:    v1</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E6EDF3"/>
                </a:solidFill>
                <a:latin typeface="Consolas"/>
              </a:rPr>
              <a:t>FIELD: ports &lt;[]ContainerPort&gt;</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E6EDF3"/>
                </a:solidFill>
                <a:latin typeface="Consolas"/>
              </a:rPr>
              <a:t>DESCRIPTION:</a:t>
            </a:r>
          </a:p>
          <a:p>
            <a:pPr>
              <a:lnSpc>
                <a:spcPts val="1413"/>
              </a:lnSpc>
              <a:spcAft>
                <a:spcPts val="0"/>
              </a:spcAft>
            </a:pPr>
            <a:r>
              <a:rPr sz="1000">
                <a:solidFill>
                  <a:srgbClr val="E6EDF3"/>
                </a:solidFill>
                <a:latin typeface="Consolas"/>
              </a:rPr>
              <a:t>    List of ports to expose from the container. Not specifying a</a:t>
            </a:r>
          </a:p>
          <a:p>
            <a:pPr>
              <a:lnSpc>
                <a:spcPts val="1413"/>
              </a:lnSpc>
              <a:spcAft>
                <a:spcPts val="0"/>
              </a:spcAft>
            </a:pPr>
            <a:r>
              <a:rPr sz="1000">
                <a:solidFill>
                  <a:srgbClr val="E6EDF3"/>
                </a:solidFill>
                <a:latin typeface="Consolas"/>
              </a:rPr>
              <a:t>    port here DOES NOT prevent that port from being exposed. Any</a:t>
            </a:r>
          </a:p>
          <a:p>
            <a:pPr>
              <a:lnSpc>
                <a:spcPts val="1413"/>
              </a:lnSpc>
              <a:spcAft>
                <a:spcPts val="0"/>
              </a:spcAft>
            </a:pPr>
            <a:r>
              <a:rPr sz="1000">
                <a:solidFill>
                  <a:srgbClr val="E6EDF3"/>
                </a:solidFill>
                <a:latin typeface="Consolas"/>
              </a:rPr>
              <a:t>    port which is listening on the default "0.0.0.0" address</a:t>
            </a:r>
          </a:p>
          <a:p>
            <a:pPr>
              <a:lnSpc>
                <a:spcPts val="1413"/>
              </a:lnSpc>
              <a:spcAft>
                <a:spcPts val="0"/>
              </a:spcAft>
            </a:pPr>
            <a:r>
              <a:rPr sz="1000">
                <a:solidFill>
                  <a:srgbClr val="E6EDF3"/>
                </a:solidFill>
                <a:latin typeface="Consolas"/>
              </a:rPr>
              <a:t>    inside a container will be accessible from the network.</a:t>
            </a:r>
          </a:p>
          <a:p>
            <a:pPr>
              <a:lnSpc>
                <a:spcPts val="1413"/>
              </a:lnSpc>
              <a:spcAft>
                <a:spcPts val="0"/>
              </a:spcAft>
            </a:pPr>
            <a:r>
              <a:rPr sz="1000">
                <a:solidFill>
                  <a:srgbClr val="E6EDF3"/>
                </a:solidFill>
                <a:latin typeface="Consolas"/>
              </a:rPr>
              <a:t>    Cannot be updated.</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E6EDF3"/>
                </a:solidFill>
                <a:latin typeface="Consolas"/>
              </a:rPr>
              <a:t>FIELDS:</a:t>
            </a:r>
          </a:p>
          <a:p>
            <a:pPr>
              <a:lnSpc>
                <a:spcPts val="1413"/>
              </a:lnSpc>
              <a:spcAft>
                <a:spcPts val="0"/>
              </a:spcAft>
            </a:pPr>
            <a:r>
              <a:rPr sz="1000">
                <a:solidFill>
                  <a:srgbClr val="E6EDF3"/>
                </a:solidFill>
                <a:latin typeface="Consolas"/>
              </a:rPr>
              <a:t>  containerPort &lt;integer&gt; -required-</a:t>
            </a:r>
          </a:p>
          <a:p>
            <a:pPr>
              <a:lnSpc>
                <a:spcPts val="1413"/>
              </a:lnSpc>
              <a:spcAft>
                <a:spcPts val="0"/>
              </a:spcAft>
            </a:pPr>
            <a:r>
              <a:rPr sz="1000">
                <a:solidFill>
                  <a:srgbClr val="E6EDF3"/>
                </a:solidFill>
                <a:latin typeface="Consolas"/>
              </a:rPr>
              <a:t>    Number of port to expose on the pod's IP address. This must</a:t>
            </a:r>
          </a:p>
          <a:p>
            <a:pPr>
              <a:lnSpc>
                <a:spcPts val="1413"/>
              </a:lnSpc>
              <a:spcAft>
                <a:spcPts val="0"/>
              </a:spcAft>
            </a:pPr>
            <a:r>
              <a:rPr sz="1000">
                <a:solidFill>
                  <a:srgbClr val="E6EDF3"/>
                </a:solidFill>
                <a:latin typeface="Consolas"/>
              </a:rPr>
              <a:t>    be a valid port number, 0 &lt; x &lt; 65536.</a:t>
            </a:r>
          </a:p>
          <a:p>
            <a:pPr>
              <a:lnSpc>
                <a:spcPts val="1413"/>
              </a:lnSpc>
              <a:spcAft>
                <a:spcPts val="0"/>
              </a:spcAft>
            </a:pPr>
            <a:r>
              <a:rPr sz="1000">
                <a:solidFill>
                  <a:srgbClr val="E6EDF3"/>
                </a:solidFill>
                <a:latin typeface="Consolas"/>
              </a:rPr>
              <a:t>  hostIP &lt;string&gt;   hostPort &lt;integer&gt;   name &lt;string&gt;</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schema comes from the server</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explain walks the cluster's own OpenAPI v3 document. It cannot drift from the version you are actually running.</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&lt;[]ContainerPort&gt; means a list</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angle-bracket type tells you the YAML shape before you write a character.</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-required- is machine-checked</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Omit containerPort and admission rejects the object with the exact field path.</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 the DESCRIPTION, not the folklore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API itself states that declaring a port neither opens nor closes anything. Module 4 returns to this.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Kubernetes API concepts: kubernetes.io/docs/reference/using-api/api-concepts/.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59</a:t>
            </a:r>
          </a:p>
        </p:txBody>
      </p:sp>
    </p:spTree>
  </p:cSld>
  <p:clrMapOvr>
    <a:masterClrMapping/>
  </p:clrMapOvr>
  <p:transition xmlns:ns1="http://schemas.openxmlformats.org/markup-compatibility/2006" spd="fast" ns1:Ignorable="p14">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600" b="1" i="0">
                <a:solidFill>
                  <a:srgbClr val="161B26"/>
                </a:solidFill>
                <a:latin typeface="Arial"/>
              </a:rPr>
              <a:t>Three Ways to Change the Cluster — and When Each Is Defensible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registered topic asks you to generate Pod manifests from the CLI. That is the fourth row, not the first.</a:t>
            </a:r>
          </a:p>
        </p:txBody>
      </p:sp>
      <p:sp>
        <p:nvSpPr>
          <p:cNvPr id="7" name="Rectangle 6"/>
          <p:cNvSpPr/>
          <p:nvPr/>
        </p:nvSpPr>
        <p:spPr>
          <a:xfrm>
            <a:off x="777240" y="2200046"/>
            <a:ext cx="2075824"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1979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Style</a:t>
            </a:r>
          </a:p>
        </p:txBody>
      </p:sp>
      <p:sp>
        <p:nvSpPr>
          <p:cNvPr id="9" name="Rectangle 8"/>
          <p:cNvSpPr/>
          <p:nvPr/>
        </p:nvSpPr>
        <p:spPr>
          <a:xfrm>
            <a:off x="2853064" y="2200046"/>
            <a:ext cx="3033897"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81080" y="2300630"/>
            <a:ext cx="277786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Example shape</a:t>
            </a:r>
          </a:p>
        </p:txBody>
      </p:sp>
      <p:sp>
        <p:nvSpPr>
          <p:cNvPr id="11" name="Rectangle 10"/>
          <p:cNvSpPr/>
          <p:nvPr/>
        </p:nvSpPr>
        <p:spPr>
          <a:xfrm>
            <a:off x="5886961" y="2200046"/>
            <a:ext cx="239518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014977" y="2300630"/>
            <a:ext cx="213915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State of record</a:t>
            </a:r>
          </a:p>
        </p:txBody>
      </p:sp>
      <p:sp>
        <p:nvSpPr>
          <p:cNvPr id="13" name="Rectangle 12"/>
          <p:cNvSpPr/>
          <p:nvPr/>
        </p:nvSpPr>
        <p:spPr>
          <a:xfrm>
            <a:off x="8282143" y="2200046"/>
            <a:ext cx="3193576"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410159" y="2300630"/>
            <a:ext cx="293754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Use it when</a:t>
            </a:r>
          </a:p>
        </p:txBody>
      </p:sp>
      <p:sp>
        <p:nvSpPr>
          <p:cNvPr id="15" name="Rectangle 14"/>
          <p:cNvSpPr/>
          <p:nvPr/>
        </p:nvSpPr>
        <p:spPr>
          <a:xfrm>
            <a:off x="777240" y="2620670"/>
            <a:ext cx="2075824"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81979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Imperative command</a:t>
            </a:r>
          </a:p>
        </p:txBody>
      </p:sp>
      <p:sp>
        <p:nvSpPr>
          <p:cNvPr id="17" name="Rectangle 16"/>
          <p:cNvSpPr/>
          <p:nvPr/>
        </p:nvSpPr>
        <p:spPr>
          <a:xfrm>
            <a:off x="2853064" y="2620670"/>
            <a:ext cx="3033897"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981080" y="2702966"/>
            <a:ext cx="277786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run / kubectl create / kubectl expose</a:t>
            </a:r>
          </a:p>
        </p:txBody>
      </p:sp>
      <p:sp>
        <p:nvSpPr>
          <p:cNvPr id="19" name="Rectangle 18"/>
          <p:cNvSpPr/>
          <p:nvPr/>
        </p:nvSpPr>
        <p:spPr>
          <a:xfrm>
            <a:off x="5886961" y="2620670"/>
            <a:ext cx="2395182"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014977" y="2702966"/>
            <a:ext cx="213915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Only in the cluster</a:t>
            </a:r>
          </a:p>
        </p:txBody>
      </p:sp>
      <p:sp>
        <p:nvSpPr>
          <p:cNvPr id="21" name="Rectangle 20"/>
          <p:cNvSpPr/>
          <p:nvPr/>
        </p:nvSpPr>
        <p:spPr>
          <a:xfrm>
            <a:off x="8282143" y="2620670"/>
            <a:ext cx="3193576"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410159" y="2702966"/>
            <a:ext cx="293754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Throwaway probes and exam speed; never as the source of truth</a:t>
            </a:r>
          </a:p>
        </p:txBody>
      </p:sp>
      <p:sp>
        <p:nvSpPr>
          <p:cNvPr id="23" name="Rectangle 22"/>
          <p:cNvSpPr/>
          <p:nvPr/>
        </p:nvSpPr>
        <p:spPr>
          <a:xfrm>
            <a:off x="777240" y="3187598"/>
            <a:ext cx="2075824"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181979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Imperative object</a:t>
            </a:r>
          </a:p>
        </p:txBody>
      </p:sp>
      <p:sp>
        <p:nvSpPr>
          <p:cNvPr id="25" name="Rectangle 24"/>
          <p:cNvSpPr/>
          <p:nvPr/>
        </p:nvSpPr>
        <p:spPr>
          <a:xfrm>
            <a:off x="2853064" y="3187598"/>
            <a:ext cx="3033897"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981080" y="3269894"/>
            <a:ext cx="277786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create -f / kubectl replace -f</a:t>
            </a:r>
          </a:p>
        </p:txBody>
      </p:sp>
      <p:sp>
        <p:nvSpPr>
          <p:cNvPr id="27" name="Rectangle 26"/>
          <p:cNvSpPr/>
          <p:nvPr/>
        </p:nvSpPr>
        <p:spPr>
          <a:xfrm>
            <a:off x="5886961" y="3187598"/>
            <a:ext cx="2395182"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014977" y="3269894"/>
            <a:ext cx="213915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Your file, but applied destructively</a:t>
            </a:r>
          </a:p>
        </p:txBody>
      </p:sp>
      <p:sp>
        <p:nvSpPr>
          <p:cNvPr id="29" name="Rectangle 28"/>
          <p:cNvSpPr/>
          <p:nvPr/>
        </p:nvSpPr>
        <p:spPr>
          <a:xfrm>
            <a:off x="8282143" y="3187598"/>
            <a:ext cx="3193576"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410159" y="3269894"/>
            <a:ext cx="293754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Rare; when you must overwrite rather than merge</a:t>
            </a:r>
          </a:p>
        </p:txBody>
      </p:sp>
      <p:sp>
        <p:nvSpPr>
          <p:cNvPr id="31" name="Rectangle 30"/>
          <p:cNvSpPr/>
          <p:nvPr/>
        </p:nvSpPr>
        <p:spPr>
          <a:xfrm>
            <a:off x="777240" y="3754526"/>
            <a:ext cx="2075824"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181979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Declarative</a:t>
            </a:r>
          </a:p>
        </p:txBody>
      </p:sp>
      <p:sp>
        <p:nvSpPr>
          <p:cNvPr id="33" name="Rectangle 32"/>
          <p:cNvSpPr/>
          <p:nvPr/>
        </p:nvSpPr>
        <p:spPr>
          <a:xfrm>
            <a:off x="2853064" y="3754526"/>
            <a:ext cx="3033897"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981080" y="3836822"/>
            <a:ext cx="277786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apply -f / kubectl diff -f</a:t>
            </a:r>
          </a:p>
        </p:txBody>
      </p:sp>
      <p:sp>
        <p:nvSpPr>
          <p:cNvPr id="35" name="Rectangle 34"/>
          <p:cNvSpPr/>
          <p:nvPr/>
        </p:nvSpPr>
        <p:spPr>
          <a:xfrm>
            <a:off x="5886961" y="3754526"/>
            <a:ext cx="2395182"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014977" y="3836822"/>
            <a:ext cx="213915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Your files in Git, merged server-side</a:t>
            </a:r>
          </a:p>
        </p:txBody>
      </p:sp>
      <p:sp>
        <p:nvSpPr>
          <p:cNvPr id="37" name="Rectangle 36"/>
          <p:cNvSpPr/>
          <p:nvPr/>
        </p:nvSpPr>
        <p:spPr>
          <a:xfrm>
            <a:off x="8282143" y="3754526"/>
            <a:ext cx="3193576"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410159" y="3836822"/>
            <a:ext cx="293754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Everything that outlives the terminal session</a:t>
            </a:r>
          </a:p>
        </p:txBody>
      </p:sp>
      <p:sp>
        <p:nvSpPr>
          <p:cNvPr id="39" name="Rectangle 38"/>
          <p:cNvSpPr/>
          <p:nvPr/>
        </p:nvSpPr>
        <p:spPr>
          <a:xfrm>
            <a:off x="777240" y="4321454"/>
            <a:ext cx="2075824"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181979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Generation, then declaration</a:t>
            </a:r>
          </a:p>
        </p:txBody>
      </p:sp>
      <p:sp>
        <p:nvSpPr>
          <p:cNvPr id="41" name="Rectangle 40"/>
          <p:cNvSpPr/>
          <p:nvPr/>
        </p:nvSpPr>
        <p:spPr>
          <a:xfrm>
            <a:off x="2853064" y="4321454"/>
            <a:ext cx="3033897"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981080" y="4403750"/>
            <a:ext cx="277786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run --dry-run=client -o yaml &gt; file.yaml</a:t>
            </a:r>
          </a:p>
        </p:txBody>
      </p:sp>
      <p:sp>
        <p:nvSpPr>
          <p:cNvPr id="43" name="Rectangle 42"/>
          <p:cNvSpPr/>
          <p:nvPr/>
        </p:nvSpPr>
        <p:spPr>
          <a:xfrm>
            <a:off x="5886961" y="4321454"/>
            <a:ext cx="2395182"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014977" y="4403750"/>
            <a:ext cx="213915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Your file, after you finish it</a:t>
            </a:r>
          </a:p>
        </p:txBody>
      </p:sp>
      <p:sp>
        <p:nvSpPr>
          <p:cNvPr id="45" name="Rectangle 44"/>
          <p:cNvSpPr/>
          <p:nvPr/>
        </p:nvSpPr>
        <p:spPr>
          <a:xfrm>
            <a:off x="8282143" y="4321454"/>
            <a:ext cx="3193576"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410159" y="4403750"/>
            <a:ext cx="293754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realistic workflow: generate a skeleton, then own it</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Generate imperatively to save typing; commit declaratively so the cluster can be rebuilt from the repository.</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Managing Kubernetes objects: kubernetes.io/docs/tasks/manage-kubernetes-objects/.</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60</a:t>
            </a:r>
          </a:p>
        </p:txBody>
      </p:sp>
    </p:spTree>
  </p:cSld>
  <p:clrMapOvr>
    <a:masterClrMapping/>
  </p:clrMapOvr>
  <p:transition xmlns:ns1="http://schemas.openxmlformats.org/markup-compatibility/2006" spd="fast" ns1:Ignorable="p14">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Reconciliation Loop Every Controller Runs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loop, many controllers. Deployment, ReplicaSet, Job, EndpointSlice and node lifecycle all follow this shape.</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Watch</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controller holds a long-running watch on the API server for its resource, and keeps a local cache in sync.</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Compare</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For each object it computes the difference between spec (what was declared) and status (what has been observed).</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Act</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It issues API calls to close that gap — create a Pod, delete a Pod, update a field. It never edits a node directly.</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Record</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It writes the observed result back to status, so the next pass and every human reader can see the outcome.</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loop is level-triggered, not edge-triggered: it re-checks current state rather than trusting that it saw every event. That is why Kubernetes recovers after a controller restart.</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61</a:t>
            </a:r>
          </a:p>
        </p:txBody>
      </p:sp>
    </p:spTree>
  </p:cSld>
  <p:clrMapOvr>
    <a:masterClrMapping/>
  </p:clrMapOvr>
  <p:transition xmlns:ns4="http://schemas.openxmlformats.org/markup-compatibility/2006" spd="fast" ns4:Ignorable="p14">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Control Plane and Node Plane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Nine components. If you can say what each one writes, you can troubleshoot most of Day 5.</a:t>
            </a:r>
          </a:p>
        </p:txBody>
      </p:sp>
      <p:sp>
        <p:nvSpPr>
          <p:cNvPr id="7" name="Rectangle 6"/>
          <p:cNvSpPr/>
          <p:nvPr/>
        </p:nvSpPr>
        <p:spPr>
          <a:xfrm>
            <a:off x="777240" y="2200046"/>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428292"/>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1099108"/>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CONTROL PLANE</a:t>
            </a:r>
          </a:p>
        </p:txBody>
      </p:sp>
      <p:sp>
        <p:nvSpPr>
          <p:cNvPr id="10" name="Rounded Rectangle 9"/>
          <p:cNvSpPr/>
          <p:nvPr/>
        </p:nvSpPr>
        <p:spPr>
          <a:xfrm>
            <a:off x="2258568" y="2273198"/>
            <a:ext cx="1671523"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kube-apiserver</a:t>
            </a:r>
          </a:p>
        </p:txBody>
      </p:sp>
      <p:sp>
        <p:nvSpPr>
          <p:cNvPr id="12" name="TextBox 11"/>
          <p:cNvSpPr txBox="1"/>
          <p:nvPr/>
        </p:nvSpPr>
        <p:spPr>
          <a:xfrm>
            <a:off x="2350008"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only component that reads or writes etcd; authn, authz, admission, validation</a:t>
            </a:r>
          </a:p>
        </p:txBody>
      </p:sp>
      <p:sp>
        <p:nvSpPr>
          <p:cNvPr id="13" name="Rounded Rectangle 12"/>
          <p:cNvSpPr/>
          <p:nvPr/>
        </p:nvSpPr>
        <p:spPr>
          <a:xfrm>
            <a:off x="4094683" y="2273198"/>
            <a:ext cx="1671523"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186123"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etcd</a:t>
            </a:r>
          </a:p>
        </p:txBody>
      </p:sp>
      <p:sp>
        <p:nvSpPr>
          <p:cNvPr id="15" name="TextBox 14"/>
          <p:cNvSpPr txBox="1"/>
          <p:nvPr/>
        </p:nvSpPr>
        <p:spPr>
          <a:xfrm>
            <a:off x="4186123"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Consistent, watchable key-value store holding all cluster state</a:t>
            </a:r>
          </a:p>
        </p:txBody>
      </p:sp>
      <p:sp>
        <p:nvSpPr>
          <p:cNvPr id="16" name="Rounded Rectangle 15"/>
          <p:cNvSpPr/>
          <p:nvPr/>
        </p:nvSpPr>
        <p:spPr>
          <a:xfrm>
            <a:off x="5930798" y="2273198"/>
            <a:ext cx="1671523"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022238"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kube-scheduler</a:t>
            </a:r>
          </a:p>
        </p:txBody>
      </p:sp>
      <p:sp>
        <p:nvSpPr>
          <p:cNvPr id="18" name="TextBox 17"/>
          <p:cNvSpPr txBox="1"/>
          <p:nvPr/>
        </p:nvSpPr>
        <p:spPr>
          <a:xfrm>
            <a:off x="6022238"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Filters then scores nodes and binds the Pod by writing spec.nodeName</a:t>
            </a:r>
          </a:p>
        </p:txBody>
      </p:sp>
      <p:sp>
        <p:nvSpPr>
          <p:cNvPr id="19" name="Rounded Rectangle 18"/>
          <p:cNvSpPr/>
          <p:nvPr/>
        </p:nvSpPr>
        <p:spPr>
          <a:xfrm>
            <a:off x="7766913" y="2273198"/>
            <a:ext cx="1671523"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7858353" y="2328062"/>
            <a:ext cx="1488643" cy="352552"/>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kube-controller-manager</a:t>
            </a:r>
          </a:p>
        </p:txBody>
      </p:sp>
      <p:sp>
        <p:nvSpPr>
          <p:cNvPr id="21" name="TextBox 20"/>
          <p:cNvSpPr txBox="1"/>
          <p:nvPr/>
        </p:nvSpPr>
        <p:spPr>
          <a:xfrm>
            <a:off x="7858353" y="2694330"/>
            <a:ext cx="1488643" cy="787704"/>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Runs the built-in reconciliation loops in one process</a:t>
            </a:r>
          </a:p>
        </p:txBody>
      </p:sp>
      <p:sp>
        <p:nvSpPr>
          <p:cNvPr id="22" name="Rounded Rectangle 21"/>
          <p:cNvSpPr/>
          <p:nvPr/>
        </p:nvSpPr>
        <p:spPr>
          <a:xfrm>
            <a:off x="9603028" y="2273198"/>
            <a:ext cx="1671523"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3" name="TextBox 22"/>
          <p:cNvSpPr txBox="1"/>
          <p:nvPr/>
        </p:nvSpPr>
        <p:spPr>
          <a:xfrm>
            <a:off x="9694468" y="2328062"/>
            <a:ext cx="1488643" cy="352552"/>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cloud-controller-manager</a:t>
            </a:r>
          </a:p>
        </p:txBody>
      </p:sp>
      <p:sp>
        <p:nvSpPr>
          <p:cNvPr id="24" name="TextBox 23"/>
          <p:cNvSpPr txBox="1"/>
          <p:nvPr/>
        </p:nvSpPr>
        <p:spPr>
          <a:xfrm>
            <a:off x="9694468" y="2694330"/>
            <a:ext cx="1488643" cy="787704"/>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Cloud-specific loops: node lifecycle, routes, load balancers</a:t>
            </a:r>
          </a:p>
        </p:txBody>
      </p:sp>
      <p:sp>
        <p:nvSpPr>
          <p:cNvPr id="25" name="Rectangle 24"/>
          <p:cNvSpPr/>
          <p:nvPr/>
        </p:nvSpPr>
        <p:spPr>
          <a:xfrm>
            <a:off x="777240" y="3811219"/>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26" name="Rectangle 25"/>
          <p:cNvSpPr/>
          <p:nvPr/>
        </p:nvSpPr>
        <p:spPr>
          <a:xfrm>
            <a:off x="777240" y="3811219"/>
            <a:ext cx="50292" cy="1428292"/>
          </a:xfrm>
          <a:prstGeom prst="rect">
            <a:avLst/>
          </a:prstGeom>
          <a:solidFill>
            <a:srgbClr val="10B981"/>
          </a:solidFill>
          <a:ln>
            <a:noFill/>
          </a:ln>
          <a:effectLst/>
        </p:spPr>
        <p:txBody>
          <a:bodyPr rtlCol="0" anchor="ctr" wrap="square"/>
          <a:lstStyle/>
          <a:p>
            <a:pPr algn="ctr"/>
          </a:p>
        </p:txBody>
      </p:sp>
      <p:sp>
        <p:nvSpPr>
          <p:cNvPr id="27" name="TextBox 26"/>
          <p:cNvSpPr txBox="1"/>
          <p:nvPr/>
        </p:nvSpPr>
        <p:spPr>
          <a:xfrm>
            <a:off x="941832" y="3994099"/>
            <a:ext cx="1261872" cy="1099108"/>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NODE PLANE</a:t>
            </a:r>
          </a:p>
        </p:txBody>
      </p:sp>
      <p:sp>
        <p:nvSpPr>
          <p:cNvPr id="28" name="Rounded Rectangle 27"/>
          <p:cNvSpPr/>
          <p:nvPr/>
        </p:nvSpPr>
        <p:spPr>
          <a:xfrm>
            <a:off x="225856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2350008"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a:t>
            </a:r>
          </a:p>
        </p:txBody>
      </p:sp>
      <p:sp>
        <p:nvSpPr>
          <p:cNvPr id="30" name="TextBox 29"/>
          <p:cNvSpPr txBox="1"/>
          <p:nvPr/>
        </p:nvSpPr>
        <p:spPr>
          <a:xfrm>
            <a:off x="2350008"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Registers the node, watches its Pods, drives the runtime, reports status</a:t>
            </a:r>
          </a:p>
        </p:txBody>
      </p:sp>
      <p:sp>
        <p:nvSpPr>
          <p:cNvPr id="31" name="Rounded Rectangle 30"/>
          <p:cNvSpPr/>
          <p:nvPr/>
        </p:nvSpPr>
        <p:spPr>
          <a:xfrm>
            <a:off x="4094683"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2" name="TextBox 31"/>
          <p:cNvSpPr txBox="1"/>
          <p:nvPr/>
        </p:nvSpPr>
        <p:spPr>
          <a:xfrm>
            <a:off x="4186123"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 runtime</a:t>
            </a:r>
          </a:p>
        </p:txBody>
      </p:sp>
      <p:sp>
        <p:nvSpPr>
          <p:cNvPr id="33" name="TextBox 32"/>
          <p:cNvSpPr txBox="1"/>
          <p:nvPr/>
        </p:nvSpPr>
        <p:spPr>
          <a:xfrm>
            <a:off x="4186123"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containerd or CRI-O behind the CRI socket; pulls images and runs containers</a:t>
            </a:r>
          </a:p>
        </p:txBody>
      </p:sp>
      <p:sp>
        <p:nvSpPr>
          <p:cNvPr id="34" name="Rounded Rectangle 33"/>
          <p:cNvSpPr/>
          <p:nvPr/>
        </p:nvSpPr>
        <p:spPr>
          <a:xfrm>
            <a:off x="593079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6022238"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kube-proxy</a:t>
            </a:r>
          </a:p>
        </p:txBody>
      </p:sp>
      <p:sp>
        <p:nvSpPr>
          <p:cNvPr id="36" name="TextBox 35"/>
          <p:cNvSpPr txBox="1"/>
          <p:nvPr/>
        </p:nvSpPr>
        <p:spPr>
          <a:xfrm>
            <a:off x="6022238"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Programs the node dataplane for Service virtual IPs (iptables, IPVS or nftables mode)</a:t>
            </a:r>
          </a:p>
        </p:txBody>
      </p:sp>
      <p:sp>
        <p:nvSpPr>
          <p:cNvPr id="37" name="Rounded Rectangle 36"/>
          <p:cNvSpPr/>
          <p:nvPr/>
        </p:nvSpPr>
        <p:spPr>
          <a:xfrm>
            <a:off x="7766913"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7858353"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CNI plugin</a:t>
            </a:r>
          </a:p>
        </p:txBody>
      </p:sp>
      <p:sp>
        <p:nvSpPr>
          <p:cNvPr id="39" name="TextBox 38"/>
          <p:cNvSpPr txBox="1"/>
          <p:nvPr/>
        </p:nvSpPr>
        <p:spPr>
          <a:xfrm>
            <a:off x="7858353"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Invoked by the runtime to give the Pod sandbox an interface and an IP</a:t>
            </a:r>
          </a:p>
        </p:txBody>
      </p:sp>
      <p:sp>
        <p:nvSpPr>
          <p:cNvPr id="40" name="Rounded Rectangle 39"/>
          <p:cNvSpPr/>
          <p:nvPr/>
        </p:nvSpPr>
        <p:spPr>
          <a:xfrm>
            <a:off x="960302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9694468"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Pods</a:t>
            </a:r>
          </a:p>
        </p:txBody>
      </p:sp>
      <p:sp>
        <p:nvSpPr>
          <p:cNvPr id="42" name="TextBox 41"/>
          <p:cNvSpPr txBox="1"/>
          <p:nvPr/>
        </p:nvSpPr>
        <p:spPr>
          <a:xfrm>
            <a:off x="9694468"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Your workloads, plus system add-ons such as CoreDNS</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Every write funnels through kube-apiserver. No controller, scheduler or kubelet ever talks to etcd, and none of them talk to each other — they communicate by changing objects.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62</a:t>
            </a:r>
          </a:p>
        </p:txBody>
      </p:sp>
    </p:spTree>
  </p:cSld>
  <p:clrMapOvr>
    <a:masterClrMapping/>
  </p:clrMapOvr>
  <p:transition xmlns:ns1="http://schemas.openxmlformats.org/markup-compatibility/2006" spd="fast" ns1:Ignorable="p14">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Happens Between `apply` and a Running Process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sequence is the single most useful troubleshooting model in Kubernetes, and it is examinable in every domain.</a:t>
            </a:r>
          </a:p>
        </p:txBody>
      </p:sp>
      <p:sp>
        <p:nvSpPr>
          <p:cNvPr id="7" name="Rounded Rectangle 6"/>
          <p:cNvSpPr/>
          <p:nvPr/>
        </p:nvSpPr>
        <p:spPr>
          <a:xfrm>
            <a:off x="777240" y="2391765"/>
            <a:ext cx="1524000" cy="229235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91765"/>
            <a:ext cx="1524000"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Request</a:t>
            </a:r>
          </a:p>
        </p:txBody>
      </p:sp>
      <p:sp>
        <p:nvSpPr>
          <p:cNvPr id="11" name="TextBox 10"/>
          <p:cNvSpPr txBox="1"/>
          <p:nvPr/>
        </p:nvSpPr>
        <p:spPr>
          <a:xfrm>
            <a:off x="923544"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kubectl POSTs the object. TLS, then authentication identifies the user; RBAC authorises the verb on the resource.</a:t>
            </a:r>
          </a:p>
        </p:txBody>
      </p:sp>
      <p:cxnSp>
        <p:nvCxnSpPr>
          <p:cNvPr id="12" name="Connector 11"/>
          <p:cNvCxnSpPr/>
          <p:nvPr/>
        </p:nvCxnSpPr>
        <p:spPr>
          <a:xfrm>
            <a:off x="2346960" y="3537940"/>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12136" y="2391765"/>
            <a:ext cx="1524000" cy="2292350"/>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612136" y="2391765"/>
            <a:ext cx="1524000"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612136"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2758440"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Admission</a:t>
            </a:r>
          </a:p>
        </p:txBody>
      </p:sp>
      <p:sp>
        <p:nvSpPr>
          <p:cNvPr id="17" name="TextBox 16"/>
          <p:cNvSpPr txBox="1"/>
          <p:nvPr/>
        </p:nvSpPr>
        <p:spPr>
          <a:xfrm>
            <a:off x="2758440"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Mutating webhooks and defaulting run, then validation and quota. Rejections here create nothing at all.</a:t>
            </a:r>
          </a:p>
        </p:txBody>
      </p:sp>
      <p:cxnSp>
        <p:nvCxnSpPr>
          <p:cNvPr id="18" name="Connector 17"/>
          <p:cNvCxnSpPr/>
          <p:nvPr/>
        </p:nvCxnSpPr>
        <p:spPr>
          <a:xfrm>
            <a:off x="4181856" y="3537940"/>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47032" y="2391765"/>
            <a:ext cx="1524000" cy="2292350"/>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4447032" y="2391765"/>
            <a:ext cx="1524000"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4447032"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4593336"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Persist</a:t>
            </a:r>
          </a:p>
        </p:txBody>
      </p:sp>
      <p:sp>
        <p:nvSpPr>
          <p:cNvPr id="23" name="TextBox 22"/>
          <p:cNvSpPr txBox="1"/>
          <p:nvPr/>
        </p:nvSpPr>
        <p:spPr>
          <a:xfrm>
            <a:off x="4593336"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API server writes to etcd and assigns a resourceVersion. The object now exists with no node and no status.</a:t>
            </a:r>
          </a:p>
        </p:txBody>
      </p:sp>
      <p:cxnSp>
        <p:nvCxnSpPr>
          <p:cNvPr id="24" name="Connector 23"/>
          <p:cNvCxnSpPr/>
          <p:nvPr/>
        </p:nvCxnSpPr>
        <p:spPr>
          <a:xfrm>
            <a:off x="6016752" y="3537940"/>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81928" y="2391765"/>
            <a:ext cx="1524000" cy="2292350"/>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6281928" y="2391765"/>
            <a:ext cx="1524000"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6281928"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6428232"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Schedule</a:t>
            </a:r>
          </a:p>
        </p:txBody>
      </p:sp>
      <p:sp>
        <p:nvSpPr>
          <p:cNvPr id="29" name="TextBox 28"/>
          <p:cNvSpPr txBox="1"/>
          <p:nvPr/>
        </p:nvSpPr>
        <p:spPr>
          <a:xfrm>
            <a:off x="6428232"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kube-scheduler filters nodes by predicates, scores the survivors and writes spec.nodeName via a Binding.</a:t>
            </a:r>
          </a:p>
        </p:txBody>
      </p:sp>
      <p:cxnSp>
        <p:nvCxnSpPr>
          <p:cNvPr id="30" name="Connector 29"/>
          <p:cNvCxnSpPr/>
          <p:nvPr/>
        </p:nvCxnSpPr>
        <p:spPr>
          <a:xfrm>
            <a:off x="7851648" y="3537940"/>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6824" y="2391765"/>
            <a:ext cx="1524000" cy="229235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8116824" y="2391765"/>
            <a:ext cx="1524000"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8116824"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8263128"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Run</a:t>
            </a:r>
          </a:p>
        </p:txBody>
      </p:sp>
      <p:sp>
        <p:nvSpPr>
          <p:cNvPr id="35" name="TextBox 34"/>
          <p:cNvSpPr txBox="1"/>
          <p:nvPr/>
        </p:nvSpPr>
        <p:spPr>
          <a:xfrm>
            <a:off x="8263128"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kubelet on that node sees the Pod, calls RunPodSandbox, pulls images through the CRI and starts containers.</a:t>
            </a:r>
          </a:p>
        </p:txBody>
      </p:sp>
      <p:cxnSp>
        <p:nvCxnSpPr>
          <p:cNvPr id="36" name="Connector 35"/>
          <p:cNvCxnSpPr/>
          <p:nvPr/>
        </p:nvCxnSpPr>
        <p:spPr>
          <a:xfrm>
            <a:off x="9686544" y="3537940"/>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951720" y="2391765"/>
            <a:ext cx="1524000" cy="2292350"/>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38" name="Rounded Rectangle 37"/>
          <p:cNvSpPr/>
          <p:nvPr/>
        </p:nvSpPr>
        <p:spPr>
          <a:xfrm>
            <a:off x="9951720" y="2391765"/>
            <a:ext cx="1524000" cy="274320"/>
          </a:xfrm>
          <a:prstGeom prst="roundRect">
            <a:avLst>
              <a:gd name="adj" fmla="val 42000"/>
            </a:avLst>
          </a:prstGeom>
          <a:solidFill>
            <a:srgbClr val="10B981"/>
          </a:solidFill>
          <a:ln>
            <a:noFill/>
          </a:ln>
          <a:effectLst/>
        </p:spPr>
        <p:txBody>
          <a:bodyPr rtlCol="0" anchor="ctr" wrap="square"/>
          <a:lstStyle/>
          <a:p>
            <a:pPr algn="ctr"/>
          </a:p>
        </p:txBody>
      </p:sp>
      <p:sp>
        <p:nvSpPr>
          <p:cNvPr id="39" name="TextBox 38"/>
          <p:cNvSpPr txBox="1"/>
          <p:nvPr/>
        </p:nvSpPr>
        <p:spPr>
          <a:xfrm>
            <a:off x="9951720" y="2419197"/>
            <a:ext cx="1524000"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6</a:t>
            </a:r>
          </a:p>
        </p:txBody>
      </p:sp>
      <p:sp>
        <p:nvSpPr>
          <p:cNvPr id="40" name="TextBox 39"/>
          <p:cNvSpPr txBox="1"/>
          <p:nvPr/>
        </p:nvSpPr>
        <p:spPr>
          <a:xfrm>
            <a:off x="10098024" y="2794101"/>
            <a:ext cx="1231392"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Report</a:t>
            </a:r>
          </a:p>
        </p:txBody>
      </p:sp>
      <p:sp>
        <p:nvSpPr>
          <p:cNvPr id="41" name="TextBox 40"/>
          <p:cNvSpPr txBox="1"/>
          <p:nvPr/>
        </p:nvSpPr>
        <p:spPr>
          <a:xfrm>
            <a:off x="10098024" y="3342741"/>
            <a:ext cx="1231392" cy="123164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kubelet writes status back: phase, conditions, container states, podIP. Everything you read comes from here.</a:t>
            </a:r>
          </a:p>
        </p:txBody>
      </p:sp>
      <p:sp>
        <p:nvSpPr>
          <p:cNvPr id="42" name="Rectangle 41"/>
          <p:cNvSpPr/>
          <p:nvPr/>
        </p:nvSpPr>
        <p:spPr>
          <a:xfrm>
            <a:off x="777240" y="4995011"/>
            <a:ext cx="10698480" cy="713232"/>
          </a:xfrm>
          <a:prstGeom prst="rect">
            <a:avLst/>
          </a:prstGeom>
          <a:solidFill>
            <a:srgbClr val="EFF4FF"/>
          </a:solidFill>
          <a:ln>
            <a:noFill/>
          </a:ln>
          <a:effectLst/>
        </p:spPr>
        <p:txBody>
          <a:bodyPr rtlCol="0" anchor="ctr" wrap="square"/>
          <a:lstStyle/>
          <a:p>
            <a:pPr algn="ctr"/>
          </a:p>
        </p:txBody>
      </p:sp>
      <p:sp>
        <p:nvSpPr>
          <p:cNvPr id="43" name="Rectangle 42"/>
          <p:cNvSpPr/>
          <p:nvPr/>
        </p:nvSpPr>
        <p:spPr>
          <a:xfrm>
            <a:off x="777240" y="4995011"/>
            <a:ext cx="50292" cy="713232"/>
          </a:xfrm>
          <a:prstGeom prst="rect">
            <a:avLst/>
          </a:prstGeom>
          <a:solidFill>
            <a:srgbClr val="1F6FEB"/>
          </a:solidFill>
          <a:ln>
            <a:noFill/>
          </a:ln>
          <a:effectLst/>
        </p:spPr>
        <p:txBody>
          <a:bodyPr rtlCol="0" anchor="ctr" wrap="square"/>
          <a:lstStyle/>
          <a:p>
            <a:pPr algn="ctr"/>
          </a:p>
        </p:txBody>
      </p:sp>
      <p:sp>
        <p:nvSpPr>
          <p:cNvPr id="44" name="TextBox 43"/>
          <p:cNvSpPr txBox="1"/>
          <p:nvPr/>
        </p:nvSpPr>
        <p:spPr>
          <a:xfrm>
            <a:off x="996695" y="5077307"/>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45" name="TextBox 44"/>
          <p:cNvSpPr txBox="1"/>
          <p:nvPr/>
        </p:nvSpPr>
        <p:spPr>
          <a:xfrm>
            <a:off x="996695" y="5305907"/>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Six hops, each one observable. When a Pod misbehaves, decide which hop it stopped at before you touch anything.</a:t>
            </a:r>
          </a:p>
        </p:txBody>
      </p:sp>
      <p:sp>
        <p:nvSpPr>
          <p:cNvPr id="46" name="TextBox 4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 Kubernetes documentation — Kubernetes API concepts: kubernetes.io/docs/reference/using-api/api-concepts/.</a:t>
            </a:r>
          </a:p>
        </p:txBody>
      </p:sp>
      <p:sp>
        <p:nvSpPr>
          <p:cNvPr id="47" name="TextBox 4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8" name="TextBox 4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9" name="TextBox 4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63</a:t>
            </a:r>
          </a:p>
        </p:txBody>
      </p:sp>
    </p:spTree>
  </p:cSld>
  <p:clrMapOvr>
    <a:masterClrMapping/>
  </p:clrMapOvr>
  <p:transition xmlns:ns6="http://schemas.openxmlformats.org/markup-compatibility/2006" spd="fast" ns6:Ignorable="p14">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CONTROL PLANE DETAIL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Some of the Loops Inside kube-controller-manager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binary, dozens of independent loops. Naming them turns 'Kubernetes did something' into a specific question.</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 controller</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node heartbeats; marks a node NotReady and eventually evicts its Pods when leases stop arriving.</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ReplicaSet controller</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Counts Pods matching the selector and creates or deletes to reach spec.replicas. The engine behind every Deployment.</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Deployment controller</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Owns ReplicaSets, not Pods. A rollout is one ReplicaSet scaling up while another scales down.</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Job / CronJob controllers</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Track completions and back-off; the CronJob controller creates Job objects on a schedule.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EndpointSlice controller</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Keeps discovery.k8s.io/v1 EndpointSlices in step with Service selectors and Pod readiness.</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Garbage collector</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Deletes objects whose ownerReferences point at something that no longer exists — the mechanism behind cascading delete.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64</a:t>
            </a:r>
          </a:p>
        </p:txBody>
      </p:sp>
    </p:spTree>
  </p:cSld>
  <p:clrMapOvr>
    <a:masterClrMapping/>
  </p:clrMapOvr>
  <p:transition xmlns:ns1="http://schemas.openxmlformats.org/markup-compatibility/2006" spd="fast" ns1:Ignorable="p14">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PLANE DETAIL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the kubelet Is Actually Responsible For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kubelet is the only component that turns API objects into processes. Everything else just edits objects.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Registration</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Creates the Node object and keeps its status — capacity, allocatable, conditions, images, addresses.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 sync loop</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Pods bound to its own node and drives the runtime until observed state matches the spec.</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Volume management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Mounts volumes before containers start; unmounts on teardown. CSI drivers plug in here (Day 4).</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Probes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Runs liveness, readiness and startup probes and acts on the results locally — no control-plane round trip (Day 5).</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Resource enforcement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Applies the cgroup limits, and evicts Pods under node memory or disk pressure according to QoS class.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What it does not do</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does not schedule, does not know about Deployments and does not talk to other kubelets.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Cluster Architecture: kubernetes.io/docs/concepts/architecture/.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65</a:t>
            </a:r>
          </a:p>
        </p:txBody>
      </p:sp>
    </p:spTree>
  </p:cSld>
  <p:clrMapOvr>
    <a:masterClrMapping/>
  </p:clrMapOvr>
  <p:transition xmlns:ns1="http://schemas.openxmlformats.org/markup-compatibility/2006" spd="fast" ns1:Ignorable="p14">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Five Main Fields of a Pod Object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Real output from the training cluster's CoreDNS Pod, trimmed to the fields that matter.</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kubectl -n kube-system get pod coredns-... -o yaml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v1                 # group/version</a:t>
            </a:r>
          </a:p>
          <a:p>
            <a:pPr>
              <a:lnSpc>
                <a:spcPts val="1413"/>
              </a:lnSpc>
              <a:spcAft>
                <a:spcPts val="0"/>
              </a:spcAft>
            </a:pPr>
            <a:r>
              <a:rPr sz="1050">
                <a:solidFill>
                  <a:srgbClr val="E6EDF3"/>
                </a:solidFill>
                <a:latin typeface="Consolas"/>
              </a:rPr>
              <a:t>kind: Pod                      # the type</a:t>
            </a:r>
          </a:p>
          <a:p>
            <a:pPr>
              <a:lnSpc>
                <a:spcPts val="1413"/>
              </a:lnSpc>
              <a:spcAft>
                <a:spcPts val="0"/>
              </a:spcAft>
            </a:pPr>
            <a:r>
              <a:rPr sz="1050">
                <a:solidFill>
                  <a:srgbClr val="E6EDF3"/>
                </a:solidFill>
                <a:latin typeface="Consolas"/>
              </a:rPr>
              <a:t>metadata:                      # identity + bookkeeping</a:t>
            </a:r>
          </a:p>
          <a:p>
            <a:pPr>
              <a:lnSpc>
                <a:spcPts val="1413"/>
              </a:lnSpc>
              <a:spcAft>
                <a:spcPts val="0"/>
              </a:spcAft>
            </a:pPr>
            <a:r>
              <a:rPr sz="1050">
                <a:solidFill>
                  <a:srgbClr val="E6EDF3"/>
                </a:solidFill>
                <a:latin typeface="Consolas"/>
              </a:rPr>
              <a:t>  name: coredns-559f6c778d-cgwt9</a:t>
            </a:r>
          </a:p>
          <a:p>
            <a:pPr>
              <a:lnSpc>
                <a:spcPts val="1413"/>
              </a:lnSpc>
              <a:spcAft>
                <a:spcPts val="0"/>
              </a:spcAft>
            </a:pPr>
            <a:r>
              <a:rPr sz="1050">
                <a:solidFill>
                  <a:srgbClr val="E6EDF3"/>
                </a:solidFill>
                <a:latin typeface="Consolas"/>
              </a:rPr>
              <a:t>  namespace: kube-system</a:t>
            </a:r>
          </a:p>
          <a:p>
            <a:pPr>
              <a:lnSpc>
                <a:spcPts val="1413"/>
              </a:lnSpc>
              <a:spcAft>
                <a:spcPts val="0"/>
              </a:spcAft>
            </a:pPr>
            <a:r>
              <a:rPr sz="1050">
                <a:solidFill>
                  <a:srgbClr val="E6EDF3"/>
                </a:solidFill>
                <a:latin typeface="Consolas"/>
              </a:rPr>
              <a:t>  uid: 954002fb-b38d-4c6f-baed-da666733ceb8</a:t>
            </a:r>
          </a:p>
          <a:p>
            <a:pPr>
              <a:lnSpc>
                <a:spcPts val="1413"/>
              </a:lnSpc>
              <a:spcAft>
                <a:spcPts val="0"/>
              </a:spcAft>
            </a:pPr>
            <a:r>
              <a:rPr sz="1050">
                <a:solidFill>
                  <a:srgbClr val="E6EDF3"/>
                </a:solidFill>
                <a:latin typeface="Consolas"/>
              </a:rPr>
              <a:t>  resourceVersion: "514"</a:t>
            </a:r>
          </a:p>
          <a:p>
            <a:pPr>
              <a:lnSpc>
                <a:spcPts val="1413"/>
              </a:lnSpc>
              <a:spcAft>
                <a:spcPts val="0"/>
              </a:spcAft>
            </a:pPr>
            <a:r>
              <a:rPr sz="1050">
                <a:solidFill>
                  <a:srgbClr val="E6EDF3"/>
                </a:solidFill>
                <a:latin typeface="Consolas"/>
              </a:rPr>
              <a:t>  generation: 1</a:t>
            </a:r>
          </a:p>
          <a:p>
            <a:pPr>
              <a:lnSpc>
                <a:spcPts val="1413"/>
              </a:lnSpc>
              <a:spcAft>
                <a:spcPts val="0"/>
              </a:spcAft>
            </a:pPr>
            <a:r>
              <a:rPr sz="1050">
                <a:solidFill>
                  <a:srgbClr val="E6EDF3"/>
                </a:solidFill>
                <a:latin typeface="Consolas"/>
              </a:rPr>
              <a:t>  creationTimestamp: "2026-09-05T07:03:42Z"</a:t>
            </a:r>
          </a:p>
          <a:p>
            <a:pPr>
              <a:lnSpc>
                <a:spcPts val="1413"/>
              </a:lnSpc>
              <a:spcAft>
                <a:spcPts val="0"/>
              </a:spcAft>
            </a:pPr>
            <a:r>
              <a:rPr sz="1050">
                <a:solidFill>
                  <a:srgbClr val="E6EDF3"/>
                </a:solidFill>
                <a:latin typeface="Consolas"/>
              </a:rPr>
              <a:t>  generateName: coredns-559f6c778d-</a:t>
            </a:r>
          </a:p>
          <a:p>
            <a:pPr>
              <a:lnSpc>
                <a:spcPts val="1413"/>
              </a:lnSpc>
              <a:spcAft>
                <a:spcPts val="0"/>
              </a:spcAft>
            </a:pPr>
            <a:r>
              <a:rPr sz="1050">
                <a:solidFill>
                  <a:srgbClr val="E6EDF3"/>
                </a:solidFill>
                <a:latin typeface="Consolas"/>
              </a:rPr>
              <a:t>  labels:</a:t>
            </a:r>
          </a:p>
          <a:p>
            <a:pPr>
              <a:lnSpc>
                <a:spcPts val="1413"/>
              </a:lnSpc>
              <a:spcAft>
                <a:spcPts val="0"/>
              </a:spcAft>
            </a:pPr>
            <a:r>
              <a:rPr sz="1050">
                <a:solidFill>
                  <a:srgbClr val="E6EDF3"/>
                </a:solidFill>
                <a:latin typeface="Consolas"/>
              </a:rPr>
              <a:t>    k8s-app: kube-dns</a:t>
            </a:r>
          </a:p>
          <a:p>
            <a:pPr>
              <a:lnSpc>
                <a:spcPts val="1413"/>
              </a:lnSpc>
              <a:spcAft>
                <a:spcPts val="0"/>
              </a:spcAft>
            </a:pPr>
            <a:r>
              <a:rPr sz="1050">
                <a:solidFill>
                  <a:srgbClr val="E6EDF3"/>
                </a:solidFill>
                <a:latin typeface="Consolas"/>
              </a:rPr>
              <a:t>    pod-template-hash: 559f6c778d</a:t>
            </a:r>
          </a:p>
          <a:p>
            <a:pPr>
              <a:lnSpc>
                <a:spcPts val="1413"/>
              </a:lnSpc>
              <a:spcAft>
                <a:spcPts val="0"/>
              </a:spcAft>
            </a:pPr>
            <a:r>
              <a:rPr sz="1050">
                <a:solidFill>
                  <a:srgbClr val="E6EDF3"/>
                </a:solidFill>
                <a:latin typeface="Consolas"/>
              </a:rPr>
              <a:t>spec:                          # what YOU declared</a:t>
            </a:r>
          </a:p>
          <a:p>
            <a:pPr>
              <a:lnSpc>
                <a:spcPts val="1413"/>
              </a:lnSpc>
              <a:spcAft>
                <a:spcPts val="0"/>
              </a:spcAft>
            </a:pPr>
            <a:r>
              <a:rPr sz="1050">
                <a:solidFill>
                  <a:srgbClr val="E6EDF3"/>
                </a:solidFill>
                <a:latin typeface="Consolas"/>
              </a:rPr>
              <a:t>  containers:</a:t>
            </a:r>
          </a:p>
          <a:p>
            <a:pPr>
              <a:lnSpc>
                <a:spcPts val="1413"/>
              </a:lnSpc>
              <a:spcAft>
                <a:spcPts val="0"/>
              </a:spcAft>
            </a:pPr>
            <a:r>
              <a:rPr sz="1050">
                <a:solidFill>
                  <a:srgbClr val="E6EDF3"/>
                </a:solidFill>
                <a:latin typeface="Consolas"/>
              </a:rPr>
              <a:t>  - image: registry.k8s.io/coredns/coredns:v1.14.6</a:t>
            </a:r>
          </a:p>
          <a:p>
            <a:pPr>
              <a:lnSpc>
                <a:spcPts val="1413"/>
              </a:lnSpc>
              <a:spcAft>
                <a:spcPts val="0"/>
              </a:spcAft>
            </a:pPr>
            <a:r>
              <a:rPr sz="1050">
                <a:solidFill>
                  <a:srgbClr val="E6EDF3"/>
                </a:solidFill>
                <a:latin typeface="Consolas"/>
              </a:rPr>
              <a:t>status:                        # what the SYSTEM observed</a:t>
            </a:r>
          </a:p>
          <a:p>
            <a:pPr>
              <a:lnSpc>
                <a:spcPts val="1413"/>
              </a:lnSpc>
              <a:spcAft>
                <a:spcPts val="0"/>
              </a:spcAft>
            </a:pPr>
            <a:r>
              <a:rPr sz="1050">
                <a:solidFill>
                  <a:srgbClr val="E6EDF3"/>
                </a:solidFill>
                <a:latin typeface="Consolas"/>
              </a:rPr>
              <a:t>  phase: Running</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You author desired state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Set apiVersion, kind, spec and chosen metadata. The API server defaults fields; controllers report status.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uid versus name</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Names are reusable after deletion; the uid never is. Controllers and ownerReferences track uid, not name.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resourceVersion is opaque</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an etcd revision cursor used for watches and optimistic concurrency — never compare or arithmetic it.</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generateName produced this name</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ReplicaSet asked for a prefix; the API server appended the random suffix at create time.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Working with Kubernetes objects: kubernetes.io/docs/concepts/overview/working-with-objects/.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66</a:t>
            </a:r>
          </a:p>
        </p:txBody>
      </p:sp>
    </p:spTree>
  </p:cSld>
  <p:clrMapOvr>
    <a:masterClrMapping/>
  </p:clrMapOvr>
  <p:transition xmlns:ns1="http://schemas.openxmlformats.org/markup-compatibility/2006" spd="fast" ns1:Ignorable="p14">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Labels, Annotations and Fields — Three Different Jobs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Day 2's ReplicaSet lab and Day 3's Service lab both fail loudly if this distinction is fuzzy.</a:t>
            </a:r>
          </a:p>
        </p:txBody>
      </p:sp>
      <p:sp>
        <p:nvSpPr>
          <p:cNvPr id="7" name="Rectangle 6"/>
          <p:cNvSpPr/>
          <p:nvPr/>
        </p:nvSpPr>
        <p:spPr>
          <a:xfrm>
            <a:off x="777240" y="2200046"/>
            <a:ext cx="213969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8366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Property</a:t>
            </a:r>
          </a:p>
        </p:txBody>
      </p:sp>
      <p:sp>
        <p:nvSpPr>
          <p:cNvPr id="9" name="Rectangle 8"/>
          <p:cNvSpPr/>
          <p:nvPr/>
        </p:nvSpPr>
        <p:spPr>
          <a:xfrm>
            <a:off x="2916936" y="2200046"/>
            <a:ext cx="4279392"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44952" y="2300630"/>
            <a:ext cx="402335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Labels</a:t>
            </a:r>
          </a:p>
        </p:txBody>
      </p:sp>
      <p:sp>
        <p:nvSpPr>
          <p:cNvPr id="11" name="Rectangle 10"/>
          <p:cNvSpPr/>
          <p:nvPr/>
        </p:nvSpPr>
        <p:spPr>
          <a:xfrm>
            <a:off x="7196327" y="2200046"/>
            <a:ext cx="427939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324344" y="2300630"/>
            <a:ext cx="402335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Annotations</a:t>
            </a:r>
          </a:p>
        </p:txBody>
      </p:sp>
      <p:sp>
        <p:nvSpPr>
          <p:cNvPr id="13" name="Rectangle 12"/>
          <p:cNvSpPr/>
          <p:nvPr/>
        </p:nvSpPr>
        <p:spPr>
          <a:xfrm>
            <a:off x="777240" y="2620670"/>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883663"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Purpose</a:t>
            </a:r>
          </a:p>
        </p:txBody>
      </p:sp>
      <p:sp>
        <p:nvSpPr>
          <p:cNvPr id="15" name="Rectangle 14"/>
          <p:cNvSpPr/>
          <p:nvPr/>
        </p:nvSpPr>
        <p:spPr>
          <a:xfrm>
            <a:off x="2916936" y="2620670"/>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044952" y="27029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Identifying attributes used to select objects</a:t>
            </a:r>
          </a:p>
        </p:txBody>
      </p:sp>
      <p:sp>
        <p:nvSpPr>
          <p:cNvPr id="17" name="Rectangle 16"/>
          <p:cNvSpPr/>
          <p:nvPr/>
        </p:nvSpPr>
        <p:spPr>
          <a:xfrm>
            <a:off x="7196327" y="2620670"/>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324344" y="27029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Arbitrary non-identifying metadata for tools and humans</a:t>
            </a:r>
          </a:p>
        </p:txBody>
      </p:sp>
      <p:sp>
        <p:nvSpPr>
          <p:cNvPr id="19" name="Rectangle 18"/>
          <p:cNvSpPr/>
          <p:nvPr/>
        </p:nvSpPr>
        <p:spPr>
          <a:xfrm>
            <a:off x="777240" y="3171870"/>
            <a:ext cx="2139696"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1883663"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Queryable</a:t>
            </a:r>
          </a:p>
        </p:txBody>
      </p:sp>
      <p:sp>
        <p:nvSpPr>
          <p:cNvPr id="21" name="Rectangle 20"/>
          <p:cNvSpPr/>
          <p:nvPr/>
        </p:nvSpPr>
        <p:spPr>
          <a:xfrm>
            <a:off x="2916936" y="3171870"/>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044952" y="32541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label selectors, and the API indexes them</a:t>
            </a:r>
          </a:p>
        </p:txBody>
      </p:sp>
      <p:sp>
        <p:nvSpPr>
          <p:cNvPr id="23" name="Rectangle 22"/>
          <p:cNvSpPr/>
          <p:nvPr/>
        </p:nvSpPr>
        <p:spPr>
          <a:xfrm>
            <a:off x="7196327" y="3171870"/>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324344" y="32541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you cannot select on an annotation</a:t>
            </a:r>
          </a:p>
        </p:txBody>
      </p:sp>
      <p:sp>
        <p:nvSpPr>
          <p:cNvPr id="25" name="Rectangle 24"/>
          <p:cNvSpPr/>
          <p:nvPr/>
        </p:nvSpPr>
        <p:spPr>
          <a:xfrm>
            <a:off x="777240" y="3723071"/>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1883663"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Size</a:t>
            </a:r>
          </a:p>
        </p:txBody>
      </p:sp>
      <p:sp>
        <p:nvSpPr>
          <p:cNvPr id="27" name="Rectangle 26"/>
          <p:cNvSpPr/>
          <p:nvPr/>
        </p:nvSpPr>
        <p:spPr>
          <a:xfrm>
            <a:off x="2916936" y="37230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044952" y="38053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Values limited to 63 characters, restricted charset</a:t>
            </a:r>
          </a:p>
        </p:txBody>
      </p:sp>
      <p:sp>
        <p:nvSpPr>
          <p:cNvPr id="29" name="Rectangle 28"/>
          <p:cNvSpPr/>
          <p:nvPr/>
        </p:nvSpPr>
        <p:spPr>
          <a:xfrm>
            <a:off x="7196327" y="37230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324344" y="38053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Large values allowed; last-applied-configuration lives here</a:t>
            </a:r>
          </a:p>
        </p:txBody>
      </p:sp>
      <p:sp>
        <p:nvSpPr>
          <p:cNvPr id="31" name="Rectangle 30"/>
          <p:cNvSpPr/>
          <p:nvPr/>
        </p:nvSpPr>
        <p:spPr>
          <a:xfrm>
            <a:off x="777240" y="4274271"/>
            <a:ext cx="2139696"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1883663"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Who reads them</a:t>
            </a:r>
          </a:p>
        </p:txBody>
      </p:sp>
      <p:sp>
        <p:nvSpPr>
          <p:cNvPr id="33" name="Rectangle 32"/>
          <p:cNvSpPr/>
          <p:nvPr/>
        </p:nvSpPr>
        <p:spPr>
          <a:xfrm>
            <a:off x="2916936" y="4274271"/>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044952" y="43565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Services, ReplicaSets, NetworkPolicies, scheduling rules, kubectl -l</a:t>
            </a:r>
          </a:p>
        </p:txBody>
      </p:sp>
      <p:sp>
        <p:nvSpPr>
          <p:cNvPr id="35" name="Rectangle 34"/>
          <p:cNvSpPr/>
          <p:nvPr/>
        </p:nvSpPr>
        <p:spPr>
          <a:xfrm>
            <a:off x="7196327" y="4274271"/>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324344" y="43565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Ingress controllers, cert managers, deployment tooling, humans</a:t>
            </a:r>
          </a:p>
        </p:txBody>
      </p:sp>
      <p:sp>
        <p:nvSpPr>
          <p:cNvPr id="37" name="Rectangle 36"/>
          <p:cNvSpPr/>
          <p:nvPr/>
        </p:nvSpPr>
        <p:spPr>
          <a:xfrm>
            <a:off x="777240" y="4825471"/>
            <a:ext cx="2139696"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1883663"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Getting it wrong</a:t>
            </a:r>
          </a:p>
        </p:txBody>
      </p:sp>
      <p:sp>
        <p:nvSpPr>
          <p:cNvPr id="39" name="Rectangle 38"/>
          <p:cNvSpPr/>
          <p:nvPr/>
        </p:nvSpPr>
        <p:spPr>
          <a:xfrm>
            <a:off x="2916936" y="48254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044952" y="49077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typo silently breaks Service routing — the selector matches nothing</a:t>
            </a:r>
          </a:p>
        </p:txBody>
      </p:sp>
      <p:sp>
        <p:nvSpPr>
          <p:cNvPr id="41" name="Rectangle 40"/>
          <p:cNvSpPr/>
          <p:nvPr/>
        </p:nvSpPr>
        <p:spPr>
          <a:xfrm>
            <a:off x="7196327" y="48254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324344" y="49077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typo is usually ignored; the tool simply does not act</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If something must be selected on, it is a label. If it is just information, it is an annotation.</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Working with Kubernetes objects: kubernetes.io/docs/concepts/overview/working-with-objects/.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67</a:t>
            </a:r>
          </a:p>
        </p:txBody>
      </p:sp>
    </p:spTree>
  </p:cSld>
  <p:clrMapOvr>
    <a:masterClrMapping/>
  </p:clrMapOvr>
  <p:transition xmlns:ns1="http://schemas.openxmlformats.org/markup-compatibility/2006" spd="fast" ns1:Ignorable="p14">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metadata Fields Worth Recognising on Sight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Twelve fields. You will meet every one of them before Friday.</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name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Unique within namespace and kind; DNS subdomain rules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generateName</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Prefix; the server appends a random suffix at create time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namespace</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Absent for cluster-scoped kinds; defaults to 'default' if omitted for namespaced kinds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uid</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Server-assigned, globally unique, never reused</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resourceVersion</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Opaque etcd cursor for watch and optimistic concurrency</a:t>
            </a:r>
          </a:p>
        </p:txBody>
      </p:sp>
      <p:sp>
        <p:nvSpPr>
          <p:cNvPr id="27" name="Rectangle 26"/>
          <p:cNvSpPr/>
          <p:nvPr/>
        </p:nvSpPr>
        <p:spPr>
          <a:xfrm>
            <a:off x="777240" y="494324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9432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50255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generation</a:t>
            </a:r>
          </a:p>
        </p:txBody>
      </p:sp>
      <p:sp>
        <p:nvSpPr>
          <p:cNvPr id="30" name="TextBox 29"/>
          <p:cNvSpPr txBox="1"/>
          <p:nvPr/>
        </p:nvSpPr>
        <p:spPr>
          <a:xfrm>
            <a:off x="3235147" y="50255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Incremented when spec changes; compared against status.observedGeneration</a:t>
            </a:r>
          </a:p>
        </p:txBody>
      </p:sp>
      <p:sp>
        <p:nvSpPr>
          <p:cNvPr id="31" name="Rectangle 30"/>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220004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creationTimestamp</a:t>
            </a:r>
          </a:p>
        </p:txBody>
      </p:sp>
      <p:sp>
        <p:nvSpPr>
          <p:cNvPr id="34" name="TextBox 33"/>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Server clock at create; the basis of the AGE column</a:t>
            </a:r>
          </a:p>
        </p:txBody>
      </p:sp>
      <p:sp>
        <p:nvSpPr>
          <p:cNvPr id="35" name="Rectangle 34"/>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274868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labels</a:t>
            </a:r>
          </a:p>
        </p:txBody>
      </p:sp>
      <p:sp>
        <p:nvSpPr>
          <p:cNvPr id="38" name="TextBox 37"/>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Selectable identifying key/value pairs</a:t>
            </a:r>
          </a:p>
        </p:txBody>
      </p:sp>
      <p:sp>
        <p:nvSpPr>
          <p:cNvPr id="39" name="Rectangle 38"/>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0" name="Rectangle 39"/>
          <p:cNvSpPr/>
          <p:nvPr/>
        </p:nvSpPr>
        <p:spPr>
          <a:xfrm>
            <a:off x="6263639" y="329732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annotations</a:t>
            </a:r>
          </a:p>
        </p:txBody>
      </p:sp>
      <p:sp>
        <p:nvSpPr>
          <p:cNvPr id="42" name="TextBox 41"/>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Non-selectable metadata, including kubectl.kubernetes.io/last-applied-configuration</a:t>
            </a:r>
          </a:p>
        </p:txBody>
      </p:sp>
      <p:sp>
        <p:nvSpPr>
          <p:cNvPr id="43" name="Rectangle 42"/>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4" name="Rectangle 43"/>
          <p:cNvSpPr/>
          <p:nvPr/>
        </p:nvSpPr>
        <p:spPr>
          <a:xfrm>
            <a:off x="6263639" y="384596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ownerReferences</a:t>
            </a:r>
          </a:p>
        </p:txBody>
      </p:sp>
      <p:sp>
        <p:nvSpPr>
          <p:cNvPr id="46" name="TextBox 45"/>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Who owns this object; drives cascading deletion</a:t>
            </a:r>
          </a:p>
        </p:txBody>
      </p:sp>
      <p:sp>
        <p:nvSpPr>
          <p:cNvPr id="47" name="Rectangle 46"/>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8" name="Rectangle 47"/>
          <p:cNvSpPr/>
          <p:nvPr/>
        </p:nvSpPr>
        <p:spPr>
          <a:xfrm>
            <a:off x="6263639" y="4394606"/>
            <a:ext cx="36576" cy="548640"/>
          </a:xfrm>
          <a:prstGeom prst="rect">
            <a:avLst/>
          </a:prstGeom>
          <a:solidFill>
            <a:srgbClr val="7C3AED"/>
          </a:solidFill>
          <a:ln>
            <a:noFill/>
          </a:ln>
          <a:effectLst/>
        </p:spPr>
        <p:txBody>
          <a:bodyPr rtlCol="0" anchor="ctr" wrap="square"/>
          <a:lstStyle/>
          <a:p>
            <a:pPr algn="ctr"/>
          </a:p>
        </p:txBody>
      </p:sp>
      <p:sp>
        <p:nvSpPr>
          <p:cNvPr id="49" name="TextBox 48"/>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finalizers</a:t>
            </a:r>
          </a:p>
        </p:txBody>
      </p:sp>
      <p:sp>
        <p:nvSpPr>
          <p:cNvPr id="50" name="TextBox 49"/>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Named pre-delete hooks; the object stays Terminating until each is removed</a:t>
            </a:r>
          </a:p>
        </p:txBody>
      </p:sp>
      <p:sp>
        <p:nvSpPr>
          <p:cNvPr id="51" name="Rectangle 50"/>
          <p:cNvSpPr/>
          <p:nvPr/>
        </p:nvSpPr>
        <p:spPr>
          <a:xfrm>
            <a:off x="6263639" y="494324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2" name="Rectangle 51"/>
          <p:cNvSpPr/>
          <p:nvPr/>
        </p:nvSpPr>
        <p:spPr>
          <a:xfrm>
            <a:off x="6263639" y="4943246"/>
            <a:ext cx="36576" cy="548640"/>
          </a:xfrm>
          <a:prstGeom prst="rect">
            <a:avLst/>
          </a:prstGeom>
          <a:solidFill>
            <a:srgbClr val="F59E0B"/>
          </a:solidFill>
          <a:ln>
            <a:noFill/>
          </a:ln>
          <a:effectLst/>
        </p:spPr>
        <p:txBody>
          <a:bodyPr rtlCol="0" anchor="ctr" wrap="square"/>
          <a:lstStyle/>
          <a:p>
            <a:pPr algn="ctr"/>
          </a:p>
        </p:txBody>
      </p:sp>
      <p:sp>
        <p:nvSpPr>
          <p:cNvPr id="53" name="TextBox 52"/>
          <p:cNvSpPr txBox="1"/>
          <p:nvPr/>
        </p:nvSpPr>
        <p:spPr>
          <a:xfrm>
            <a:off x="6428231" y="50255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deletionTimestamp</a:t>
            </a:r>
          </a:p>
        </p:txBody>
      </p:sp>
      <p:sp>
        <p:nvSpPr>
          <p:cNvPr id="54" name="TextBox 53"/>
          <p:cNvSpPr txBox="1"/>
          <p:nvPr/>
        </p:nvSpPr>
        <p:spPr>
          <a:xfrm>
            <a:off x="8721547" y="50255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Set on delete; presence means 'being deleted', not 'deleted'</a:t>
            </a:r>
          </a:p>
        </p:txBody>
      </p:sp>
      <p:sp>
        <p:nvSpPr>
          <p:cNvPr id="55" name="TextBox 5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Working with Kubernetes objects: kubernetes.io/docs/concepts/overview/working-with-objects/.</a:t>
            </a:r>
          </a:p>
        </p:txBody>
      </p:sp>
      <p:sp>
        <p:nvSpPr>
          <p:cNvPr id="56" name="TextBox 5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7" name="TextBox 5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8" name="TextBox 5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68</a:t>
            </a:r>
          </a:p>
        </p:txBody>
      </p:sp>
    </p:spTree>
  </p:cSld>
  <p:clrMapOvr>
    <a:masterClrMapping/>
  </p:clrMapOvr>
  <p:transition xmlns:ns1="http://schemas.openxmlformats.org/markup-compatibility/2006" spd="fast" ns1:Ignorable="p14">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ownerReferences and Cascading Deletion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single block explains why deleting a Deployment removes its Pods and why a bare Pod survives everything.</a:t>
            </a:r>
          </a:p>
        </p:txBody>
      </p:sp>
      <p:sp>
        <p:nvSpPr>
          <p:cNvPr id="7" name="Rectangle 6"/>
          <p:cNvSpPr/>
          <p:nvPr/>
        </p:nvSpPr>
        <p:spPr>
          <a:xfrm>
            <a:off x="777240" y="2200046"/>
            <a:ext cx="635508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real ownerReferences from the training cluster</a:t>
            </a:r>
          </a:p>
        </p:txBody>
      </p:sp>
      <p:sp>
        <p:nvSpPr>
          <p:cNvPr id="9" name="TextBox 8"/>
          <p:cNvSpPr txBox="1"/>
          <p:nvPr/>
        </p:nvSpPr>
        <p:spPr>
          <a:xfrm>
            <a:off x="923544" y="2620670"/>
            <a:ext cx="6062472" cy="2811779"/>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coredns-559f6c778d-cgwt9</a:t>
            </a:r>
          </a:p>
          <a:p>
            <a:pPr>
              <a:lnSpc>
                <a:spcPts val="1476"/>
              </a:lnSpc>
              <a:spcAft>
                <a:spcPts val="0"/>
              </a:spcAft>
            </a:pPr>
            <a:r>
              <a:rPr sz="1050">
                <a:solidFill>
                  <a:srgbClr val="E6EDF3"/>
                </a:solidFill>
                <a:latin typeface="Consolas"/>
              </a:rPr>
              <a:t>  ownerReferences:</a:t>
            </a:r>
          </a:p>
          <a:p>
            <a:pPr>
              <a:lnSpc>
                <a:spcPts val="1476"/>
              </a:lnSpc>
              <a:spcAft>
                <a:spcPts val="0"/>
              </a:spcAft>
            </a:pPr>
            <a:r>
              <a:rPr sz="1050">
                <a:solidFill>
                  <a:srgbClr val="E6EDF3"/>
                </a:solidFill>
                <a:latin typeface="Consolas"/>
              </a:rPr>
              <a:t>  - apiVersion: apps/v1</a:t>
            </a:r>
          </a:p>
          <a:p>
            <a:pPr>
              <a:lnSpc>
                <a:spcPts val="1476"/>
              </a:lnSpc>
              <a:spcAft>
                <a:spcPts val="0"/>
              </a:spcAft>
            </a:pPr>
            <a:r>
              <a:rPr sz="1050">
                <a:solidFill>
                  <a:srgbClr val="E6EDF3"/>
                </a:solidFill>
                <a:latin typeface="Consolas"/>
              </a:rPr>
              <a:t>    kind: ReplicaSet</a:t>
            </a:r>
          </a:p>
          <a:p>
            <a:pPr>
              <a:lnSpc>
                <a:spcPts val="1476"/>
              </a:lnSpc>
              <a:spcAft>
                <a:spcPts val="0"/>
              </a:spcAft>
            </a:pPr>
            <a:r>
              <a:rPr sz="1050">
                <a:solidFill>
                  <a:srgbClr val="E6EDF3"/>
                </a:solidFill>
                <a:latin typeface="Consolas"/>
              </a:rPr>
              <a:t>    name: coredns-559f6c778d</a:t>
            </a:r>
          </a:p>
          <a:p>
            <a:pPr>
              <a:lnSpc>
                <a:spcPts val="1476"/>
              </a:lnSpc>
              <a:spcAft>
                <a:spcPts val="0"/>
              </a:spcAft>
            </a:pPr>
            <a:r>
              <a:rPr sz="1050">
                <a:solidFill>
                  <a:srgbClr val="E6EDF3"/>
                </a:solidFill>
                <a:latin typeface="Consolas"/>
              </a:rPr>
              <a:t>    uid: 2cd550e9-ed06-47aa-8462-798b8f99fb8b</a:t>
            </a:r>
          </a:p>
          <a:p>
            <a:pPr>
              <a:lnSpc>
                <a:spcPts val="1476"/>
              </a:lnSpc>
              <a:spcAft>
                <a:spcPts val="0"/>
              </a:spcAft>
            </a:pPr>
            <a:r>
              <a:rPr sz="1050">
                <a:solidFill>
                  <a:srgbClr val="E6EDF3"/>
                </a:solidFill>
                <a:latin typeface="Consolas"/>
              </a:rPr>
              <a:t>    controller: true</a:t>
            </a:r>
          </a:p>
          <a:p>
            <a:pPr>
              <a:lnSpc>
                <a:spcPts val="1476"/>
              </a:lnSpc>
              <a:spcAft>
                <a:spcPts val="0"/>
              </a:spcAft>
            </a:pPr>
            <a:r>
              <a:rPr sz="1050">
                <a:solidFill>
                  <a:srgbClr val="E6EDF3"/>
                </a:solidFill>
                <a:latin typeface="Consolas"/>
              </a:rPr>
              <a:t>    blockOwnerDeletion: true</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the chain on this cluster:</a:t>
            </a:r>
          </a:p>
          <a:p>
            <a:pPr>
              <a:lnSpc>
                <a:spcPts val="1476"/>
              </a:lnSpc>
              <a:spcAft>
                <a:spcPts val="0"/>
              </a:spcAft>
            </a:pPr>
            <a:r>
              <a:rPr sz="1050">
                <a:solidFill>
                  <a:srgbClr val="7D8A99"/>
                </a:solidFill>
                <a:latin typeface="Consolas"/>
              </a:rPr>
              <a:t>#   Deployment coredns</a:t>
            </a:r>
          </a:p>
          <a:p>
            <a:pPr>
              <a:lnSpc>
                <a:spcPts val="1476"/>
              </a:lnSpc>
              <a:spcAft>
                <a:spcPts val="0"/>
              </a:spcAft>
            </a:pPr>
            <a:r>
              <a:rPr sz="1050">
                <a:solidFill>
                  <a:srgbClr val="7D8A99"/>
                </a:solidFill>
                <a:latin typeface="Consolas"/>
              </a:rPr>
              <a:t>#     -&gt; ReplicaSet coredns-559f6c778d</a:t>
            </a:r>
          </a:p>
          <a:p>
            <a:pPr>
              <a:lnSpc>
                <a:spcPts val="1476"/>
              </a:lnSpc>
              <a:spcAft>
                <a:spcPts val="0"/>
              </a:spcAft>
            </a:pPr>
            <a:r>
              <a:rPr sz="1050">
                <a:solidFill>
                  <a:srgbClr val="7D8A99"/>
                </a:solidFill>
                <a:latin typeface="Consolas"/>
              </a:rPr>
              <a:t>#          -&gt; Pod coredns-559f6c778d-cgwt9</a:t>
            </a:r>
          </a:p>
          <a:p>
            <a:pPr>
              <a:lnSpc>
                <a:spcPts val="1476"/>
              </a:lnSpc>
              <a:spcAft>
                <a:spcPts val="0"/>
              </a:spcAft>
            </a:pPr>
            <a:r>
              <a:rPr sz="1050">
                <a:solidFill>
                  <a:srgbClr val="7D8A99"/>
                </a:solidFill>
                <a:latin typeface="Consolas"/>
              </a:rPr>
              <a:t>#          -&gt; Pod coredns-559f6c778d-n7qbs</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Pod points up, not down</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Ownership is recorded on the child. Nothing on the Deployment lists its Pods; the relationship is discovered by uid.</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controller: true names the manager</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Exactly one owner may be the controller. This is what stops two ReplicaSets fighting over the same Pod.</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Deleting the parent deletes the children</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garbage collector finds objects whose owner uid is gone. That is all 'cascading delete' means.</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uid, not name</a:t>
            </a:r>
          </a:p>
        </p:txBody>
      </p:sp>
      <p:sp>
        <p:nvSpPr>
          <p:cNvPr id="23" name="TextBox 22"/>
          <p:cNvSpPr txBox="1"/>
          <p:nvPr/>
        </p:nvSpPr>
        <p:spPr>
          <a:xfrm>
            <a:off x="7973567" y="518134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Recreating a ReplicaSet with the same name gives it a new uid, so the orphaned Pods are collected, not adopted.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Working with Kubernetes objects: kubernetes.io/docs/concepts/overview/working-with-objects/.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69</a:t>
            </a:r>
          </a:p>
        </p:txBody>
      </p:sp>
    </p:spTree>
  </p:cSld>
  <p:clrMapOvr>
    <a:masterClrMapping/>
  </p:clrMapOvr>
  <p:transition xmlns:ns1="http://schemas.openxmlformats.org/markup-compatibility/2006" spd="fast" ns1:Ignorable="p14">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SCOPING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Namespaces: What They Do and What They Do Not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lab this week uses a dedicated namespace so that a mistake in one exercise cannot damage another.</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namespace is a name scope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Object names must be unique within a namespace and kind. Two namespaces may both hold a Pod called web.</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Four exist from the start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default, kube-system, kube-public and kube-node-lease. Do not deploy your workloads into kube-system.</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a policy attachment point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ResourceQuota, LimitRange, RBAC RoleBindings, NetworkPolicy and Pod Security Admission labels all attach to a namespace.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not a security boundary by itself</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Without NetworkPolicy, Pods in different namespaces still reach each other. Isolation is something you add (Day 3).</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Cluster-scoped objects ignore it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Nodes, PersistentVolumes, StorageClasses, ClusterRoles and CRDs cannot be partitioned this way.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affects DNS, not IPs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Service is reachable as name.namespace.svc.cluster.local. Pod IPs are flat across the cluster.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Namespaces: kubernetes.io/docs/concepts/overview/working-with-objects/namespaces/.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70</a:t>
            </a:r>
          </a:p>
        </p:txBody>
      </p:sp>
    </p:spTree>
  </p:cSld>
  <p:clrMapOvr>
    <a:masterClrMapping/>
  </p:clrMapOvr>
  <p:transition xmlns:ns1="http://schemas.openxmlformats.org/markup-compatibility/2006" spd="fast" ns1:Ignorable="p14">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JUDGEMENT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Namespaced or Cluster-Scoped?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Ask kubectl rather than guessing: api-resources --namespaced=false lists every cluster-scoped kind.</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the object describe something that belongs to one team or application — or something the whole cluster shares?</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Namespaced</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Pod, Service, ConfigMap, Secret, Deployment, Job</a:t>
            </a:r>
          </a:p>
          <a:p>
            <a:pPr>
              <a:lnSpc>
                <a:spcPct val="112000"/>
              </a:lnSpc>
              <a:spcAft>
                <a:spcPts val="500"/>
              </a:spcAft>
            </a:pPr>
            <a:r>
              <a:rPr sz="1100">
                <a:solidFill>
                  <a:srgbClr val="94A3B8"/>
                </a:solidFill>
                <a:latin typeface="Arial"/>
              </a:rPr>
              <a:t>•  </a:t>
            </a:r>
            <a:r>
              <a:rPr sz="1100">
                <a:solidFill>
                  <a:srgbClr val="5B6372"/>
                </a:solidFill>
                <a:latin typeface="Arial"/>
              </a:rPr>
              <a:t>Role, RoleBinding, NetworkPolicy, ResourceQuota</a:t>
            </a:r>
          </a:p>
          <a:p>
            <a:pPr>
              <a:lnSpc>
                <a:spcPct val="112000"/>
              </a:lnSpc>
              <a:spcAft>
                <a:spcPts val="500"/>
              </a:spcAft>
            </a:pPr>
            <a:r>
              <a:rPr sz="1100">
                <a:solidFill>
                  <a:srgbClr val="94A3B8"/>
                </a:solidFill>
                <a:latin typeface="Arial"/>
              </a:rPr>
              <a:t>•  </a:t>
            </a:r>
            <a:r>
              <a:rPr sz="1100">
                <a:solidFill>
                  <a:srgbClr val="5B6372"/>
                </a:solidFill>
                <a:latin typeface="Arial"/>
              </a:rPr>
              <a:t>PersistentVolumeClaim — the claim is tenant-owned</a:t>
            </a:r>
          </a:p>
          <a:p>
            <a:pPr>
              <a:lnSpc>
                <a:spcPct val="112000"/>
              </a:lnSpc>
              <a:spcAft>
                <a:spcPts val="500"/>
              </a:spcAft>
            </a:pPr>
            <a:r>
              <a:rPr sz="1100">
                <a:solidFill>
                  <a:srgbClr val="94A3B8"/>
                </a:solidFill>
                <a:latin typeface="Arial"/>
              </a:rPr>
              <a:t>•  </a:t>
            </a:r>
            <a:r>
              <a:rPr sz="1100">
                <a:solidFill>
                  <a:srgbClr val="5B6372"/>
                </a:solidFill>
                <a:latin typeface="Arial"/>
              </a:rPr>
              <a:t>Can be delegated with a RoleBinding in that namespace</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Cluster-scoped</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Node, PersistentVolume, StorageClass, IngressClass</a:t>
            </a:r>
          </a:p>
          <a:p>
            <a:pPr>
              <a:lnSpc>
                <a:spcPct val="112000"/>
              </a:lnSpc>
              <a:spcAft>
                <a:spcPts val="500"/>
              </a:spcAft>
            </a:pPr>
            <a:r>
              <a:rPr sz="1100">
                <a:solidFill>
                  <a:srgbClr val="94A3B8"/>
                </a:solidFill>
                <a:latin typeface="Arial"/>
              </a:rPr>
              <a:t>•  </a:t>
            </a:r>
            <a:r>
              <a:rPr sz="1100">
                <a:solidFill>
                  <a:srgbClr val="5B6372"/>
                </a:solidFill>
                <a:latin typeface="Arial"/>
              </a:rPr>
              <a:t>Namespace itself, ClusterRole, ClusterRoleBinding</a:t>
            </a:r>
          </a:p>
          <a:p>
            <a:pPr>
              <a:lnSpc>
                <a:spcPct val="112000"/>
              </a:lnSpc>
              <a:spcAft>
                <a:spcPts val="500"/>
              </a:spcAft>
            </a:pPr>
            <a:r>
              <a:rPr sz="1100">
                <a:solidFill>
                  <a:srgbClr val="94A3B8"/>
                </a:solidFill>
                <a:latin typeface="Arial"/>
              </a:rPr>
              <a:t>•  </a:t>
            </a:r>
            <a:r>
              <a:rPr sz="1100">
                <a:solidFill>
                  <a:srgbClr val="5B6372"/>
                </a:solidFill>
                <a:latin typeface="Arial"/>
              </a:rPr>
              <a:t>CustomResourceDefinition, admission webhook configurations</a:t>
            </a:r>
          </a:p>
          <a:p>
            <a:pPr>
              <a:lnSpc>
                <a:spcPct val="112000"/>
              </a:lnSpc>
              <a:spcAft>
                <a:spcPts val="500"/>
              </a:spcAft>
            </a:pPr>
            <a:r>
              <a:rPr sz="1100">
                <a:solidFill>
                  <a:srgbClr val="94A3B8"/>
                </a:solidFill>
                <a:latin typeface="Arial"/>
              </a:rPr>
              <a:t>•  </a:t>
            </a:r>
            <a:r>
              <a:rPr sz="1100">
                <a:solidFill>
                  <a:srgbClr val="5B6372"/>
                </a:solidFill>
                <a:latin typeface="Arial"/>
              </a:rPr>
              <a:t>Granting these means granting them everywhere — no partial scope</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Kubernetes API concepts: kubernetes.io/docs/reference/using-api/api-concepts/.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71</a:t>
            </a:r>
          </a:p>
        </p:txBody>
      </p:sp>
    </p:spTree>
  </p:cSld>
  <p:clrMapOvr>
    <a:masterClrMapping/>
  </p:clrMapOvr>
  <p:transition xmlns:ns3="http://schemas.openxmlformats.org/markup-compatibility/2006" spd="fast" ns3:Ignorable="p14">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'My Pod Disappeared' — Scope, Not Deletion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most common false alarm in Kubernetes and it costs beginners hours. Diagnose it in seconds instead.</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kubectl reports the object does not exist, moments after it was created successfully.</a:t>
            </a:r>
          </a:p>
        </p:txBody>
      </p:sp>
      <p:sp>
        <p:nvSpPr>
          <p:cNvPr id="11" name="Rectangle 10"/>
          <p:cNvSpPr/>
          <p:nvPr/>
        </p:nvSpPr>
        <p:spPr>
          <a:xfrm>
            <a:off x="777240" y="2913278"/>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get pod recon-shell</a:t>
            </a:r>
          </a:p>
          <a:p>
            <a:pPr>
              <a:lnSpc>
                <a:spcPts val="1476"/>
              </a:lnSpc>
              <a:spcAft>
                <a:spcPts val="0"/>
              </a:spcAft>
            </a:pPr>
            <a:r>
              <a:rPr sz="950">
                <a:solidFill>
                  <a:srgbClr val="E6EDF3"/>
                </a:solidFill>
                <a:latin typeface="Consolas"/>
              </a:rPr>
              <a:t>Error from server (NotFound): pods "recon-shell" not found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config view --minify | grep -A2 context:</a:t>
            </a:r>
          </a:p>
          <a:p>
            <a:pPr>
              <a:lnSpc>
                <a:spcPts val="1476"/>
              </a:lnSpc>
              <a:spcAft>
                <a:spcPts val="0"/>
              </a:spcAft>
            </a:pPr>
            <a:r>
              <a:rPr sz="950">
                <a:solidFill>
                  <a:srgbClr val="E6EDF3"/>
                </a:solidFill>
                <a:latin typeface="Consolas"/>
              </a:rPr>
              <a:t>  context:</a:t>
            </a:r>
          </a:p>
          <a:p>
            <a:pPr>
              <a:lnSpc>
                <a:spcPts val="1476"/>
              </a:lnSpc>
              <a:spcAft>
                <a:spcPts val="0"/>
              </a:spcAft>
            </a:pPr>
            <a:r>
              <a:rPr sz="950">
                <a:solidFill>
                  <a:srgbClr val="E6EDF3"/>
                </a:solidFill>
                <a:latin typeface="Consolas"/>
              </a:rPr>
              <a:t>    cluster: kind-kcna-qa</a:t>
            </a:r>
          </a:p>
          <a:p>
            <a:pPr>
              <a:lnSpc>
                <a:spcPts val="1476"/>
              </a:lnSpc>
              <a:spcAft>
                <a:spcPts val="0"/>
              </a:spcAft>
            </a:pPr>
            <a:r>
              <a:rPr sz="950">
                <a:solidFill>
                  <a:srgbClr val="E6EDF3"/>
                </a:solidFill>
                <a:latin typeface="Consolas"/>
              </a:rPr>
              <a:t>    user: kind-kcna-qa          # &lt;- no namespace: key</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kcna-lab01 get pod recon-shell</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recon-shell   1/1     Running   0          64s</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context declares no default namespace, so every namespaced request went to 'default'. The object was never missing — the request was addressed to the wrong scope.</a:t>
            </a:r>
          </a:p>
        </p:txBody>
      </p:sp>
      <p:sp>
        <p:nvSpPr>
          <p:cNvPr id="18" name="Rectangle 17"/>
          <p:cNvSpPr/>
          <p:nvPr/>
        </p:nvSpPr>
        <p:spPr>
          <a:xfrm>
            <a:off x="7205472" y="3927157"/>
            <a:ext cx="4270247" cy="140177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99943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URL the client used: kubectl get pods --v=6</a:t>
            </a:r>
          </a:p>
          <a:p>
            <a:pPr>
              <a:lnSpc>
                <a:spcPct val="112000"/>
              </a:lnSpc>
              <a:spcAft>
                <a:spcPts val="200"/>
              </a:spcAft>
            </a:pPr>
            <a:r>
              <a:rPr sz="950">
                <a:solidFill>
                  <a:srgbClr val="94A3B8"/>
                </a:solidFill>
                <a:latin typeface="Arial"/>
              </a:rPr>
              <a:t>•  </a:t>
            </a:r>
            <a:r>
              <a:rPr sz="950">
                <a:solidFill>
                  <a:srgbClr val="5B6372"/>
                </a:solidFill>
                <a:latin typeface="Arial"/>
              </a:rPr>
              <a:t>Confirm scope with kubectl config view --minify</a:t>
            </a:r>
          </a:p>
          <a:p>
            <a:pPr>
              <a:lnSpc>
                <a:spcPct val="112000"/>
              </a:lnSpc>
              <a:spcAft>
                <a:spcPts val="200"/>
              </a:spcAft>
            </a:pPr>
            <a:r>
              <a:rPr sz="950">
                <a:solidFill>
                  <a:srgbClr val="94A3B8"/>
                </a:solidFill>
                <a:latin typeface="Arial"/>
              </a:rPr>
              <a:t>•  </a:t>
            </a:r>
            <a:r>
              <a:rPr sz="950">
                <a:solidFill>
                  <a:srgbClr val="5B6372"/>
                </a:solidFill>
                <a:latin typeface="Arial"/>
              </a:rPr>
              <a:t>Pin the namespace in the manifest's metadata, not in your shell</a:t>
            </a:r>
          </a:p>
          <a:p>
            <a:pPr>
              <a:lnSpc>
                <a:spcPct val="112000"/>
              </a:lnSpc>
              <a:spcAft>
                <a:spcPts val="200"/>
              </a:spcAft>
            </a:pPr>
            <a:r>
              <a:rPr sz="950">
                <a:solidFill>
                  <a:srgbClr val="94A3B8"/>
                </a:solidFill>
                <a:latin typeface="Arial"/>
              </a:rPr>
              <a:t>•  </a:t>
            </a:r>
            <a:r>
              <a:rPr sz="950">
                <a:solidFill>
                  <a:srgbClr val="5B6372"/>
                </a:solidFill>
                <a:latin typeface="Arial"/>
              </a:rPr>
              <a:t>Or set it deliberately: kubectl config set-context --current --namespace=&lt;ns&gt;</a:t>
            </a:r>
          </a:p>
        </p:txBody>
      </p:sp>
      <p:sp>
        <p:nvSpPr>
          <p:cNvPr id="22" name="Rectangle 21"/>
          <p:cNvSpPr/>
          <p:nvPr/>
        </p:nvSpPr>
        <p:spPr>
          <a:xfrm>
            <a:off x="777240" y="5688482"/>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798210"/>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The same command with an explicit -n returns the object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courseware/labs/lab-01-kubectl-and-cluster-recon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72</a:t>
            </a:r>
          </a:p>
        </p:txBody>
      </p:sp>
    </p:spTree>
  </p:cSld>
  <p:clrMapOvr>
    <a:masterClrMapping/>
  </p:clrMapOvr>
  <p:transition xmlns:ns1="http://schemas.openxmlformats.org/markup-compatibility/2006" spd="fast" ns1:Ignorable="p14">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01 — Cluster Reconnaissance with kubectl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Profile an unfamiliar Kubernetes cluster with kubectl alone — contexts, nodes, API groups, resource schemas and the raw REST calls behind every command — and record the findings as reusable evidence.</a:t>
            </a:r>
          </a:p>
        </p:txBody>
      </p:sp>
      <p:sp>
        <p:nvSpPr>
          <p:cNvPr id="10" name="Rectangle 9"/>
          <p:cNvSpPr/>
          <p:nvPr/>
        </p:nvSpPr>
        <p:spPr>
          <a:xfrm>
            <a:off x="777240"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namespace kcna-lab01 with a ResourceQuota and LimitRange, discovered and read back as YAML</a:t>
            </a:r>
          </a:p>
          <a:p>
            <a:pPr>
              <a:lnSpc>
                <a:spcPct val="112000"/>
              </a:lnSpc>
              <a:spcAft>
                <a:spcPts val="500"/>
              </a:spcAft>
            </a:pPr>
            <a:r>
              <a:rPr sz="1050">
                <a:solidFill>
                  <a:srgbClr val="94A3B8"/>
                </a:solidFill>
                <a:latin typeface="Arial"/>
              </a:rPr>
              <a:t>•  </a:t>
            </a:r>
            <a:r>
              <a:rPr sz="1050">
                <a:solidFill>
                  <a:srgbClr val="5B6372"/>
                </a:solidFill>
                <a:latin typeface="Arial"/>
              </a:rPr>
              <a:t>A recon-shell Pod that serves the Meridian Freight reconnaissance checklist from a ConfigMap built out of data/recon-checklist.csv</a:t>
            </a:r>
          </a:p>
          <a:p>
            <a:pPr>
              <a:lnSpc>
                <a:spcPct val="112000"/>
              </a:lnSpc>
              <a:spcAft>
                <a:spcPts val="500"/>
              </a:spcAft>
            </a:pPr>
            <a:r>
              <a:rPr sz="1050">
                <a:solidFill>
                  <a:srgbClr val="94A3B8"/>
                </a:solidFill>
                <a:latin typeface="Arial"/>
              </a:rPr>
              <a:t>•  </a:t>
            </a:r>
            <a:r>
              <a:rPr sz="1050">
                <a:solidFill>
                  <a:srgbClr val="5B6372"/>
                </a:solidFill>
                <a:latin typeface="Arial"/>
              </a:rPr>
              <a:t>A verified core-API inventory diff proving every resource in data/core-api-inventory.tsv is served by this cluster</a:t>
            </a:r>
          </a:p>
        </p:txBody>
      </p:sp>
      <p:sp>
        <p:nvSpPr>
          <p:cNvPr id="14" name="Rectangle 13"/>
          <p:cNvSpPr/>
          <p:nvPr/>
        </p:nvSpPr>
        <p:spPr>
          <a:xfrm>
            <a:off x="6276441"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kubectl is an HTTP client: --v=6 exposes the exact GET/POST against /api/v1/...</a:t>
            </a:r>
          </a:p>
          <a:p>
            <a:pPr>
              <a:lnSpc>
                <a:spcPct val="112000"/>
              </a:lnSpc>
              <a:spcAft>
                <a:spcPts val="500"/>
              </a:spcAft>
            </a:pPr>
            <a:r>
              <a:rPr sz="1050">
                <a:solidFill>
                  <a:srgbClr val="94A3B8"/>
                </a:solidFill>
                <a:latin typeface="Arial"/>
              </a:rPr>
              <a:t>•  </a:t>
            </a:r>
            <a:r>
              <a:rPr sz="1050">
                <a:solidFill>
                  <a:srgbClr val="5B6372"/>
                </a:solidFill>
                <a:latin typeface="Arial"/>
              </a:rPr>
              <a:t>API discovery: api-versions, api-resources and namespaced vs cluster-scoped kinds</a:t>
            </a:r>
          </a:p>
          <a:p>
            <a:pPr>
              <a:lnSpc>
                <a:spcPct val="112000"/>
              </a:lnSpc>
              <a:spcAft>
                <a:spcPts val="500"/>
              </a:spcAft>
            </a:pPr>
            <a:r>
              <a:rPr sz="1050">
                <a:solidFill>
                  <a:srgbClr val="94A3B8"/>
                </a:solidFill>
                <a:latin typeface="Arial"/>
              </a:rPr>
              <a:t>•  </a:t>
            </a:r>
            <a:r>
              <a:rPr sz="1050">
                <a:solidFill>
                  <a:srgbClr val="5B6372"/>
                </a:solidFill>
                <a:latin typeface="Arial"/>
              </a:rPr>
              <a:t>kubectl explain reads the live OpenAPI schema, not a static cheat sheet</a:t>
            </a:r>
          </a:p>
          <a:p>
            <a:pPr>
              <a:lnSpc>
                <a:spcPct val="112000"/>
              </a:lnSpc>
              <a:spcAft>
                <a:spcPts val="500"/>
              </a:spcAft>
            </a:pPr>
            <a:r>
              <a:rPr sz="1050">
                <a:solidFill>
                  <a:srgbClr val="94A3B8"/>
                </a:solidFill>
                <a:latin typeface="Arial"/>
              </a:rPr>
              <a:t>•  </a:t>
            </a:r>
            <a:r>
              <a:rPr sz="1050">
                <a:solidFill>
                  <a:srgbClr val="5B6372"/>
                </a:solidFill>
                <a:latin typeface="Arial"/>
              </a:rPr>
              <a:t>Contexts and namespaces scope every request; NotFound usually means wrong scope</a:t>
            </a:r>
          </a:p>
        </p:txBody>
      </p:sp>
      <p:sp>
        <p:nvSpPr>
          <p:cNvPr id="18" name="Rectangle 17"/>
          <p:cNvSpPr/>
          <p:nvPr/>
        </p:nvSpPr>
        <p:spPr>
          <a:xfrm>
            <a:off x="777240"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6053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2454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01</a:t>
            </a:r>
          </a:p>
        </p:txBody>
      </p:sp>
      <p:sp>
        <p:nvSpPr>
          <p:cNvPr id="22" name="Rectangle 21"/>
          <p:cNvSpPr/>
          <p:nvPr/>
        </p:nvSpPr>
        <p:spPr>
          <a:xfrm>
            <a:off x="3488436"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6053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2454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kcna-lab01</a:t>
            </a:r>
          </a:p>
        </p:txBody>
      </p:sp>
      <p:sp>
        <p:nvSpPr>
          <p:cNvPr id="26" name="Rectangle 25"/>
          <p:cNvSpPr/>
          <p:nvPr/>
        </p:nvSpPr>
        <p:spPr>
          <a:xfrm>
            <a:off x="6199631"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6053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2454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LO1 · A1 · K1</a:t>
            </a:r>
          </a:p>
        </p:txBody>
      </p:sp>
      <p:sp>
        <p:nvSpPr>
          <p:cNvPr id="30" name="Rectangle 29"/>
          <p:cNvSpPr/>
          <p:nvPr/>
        </p:nvSpPr>
        <p:spPr>
          <a:xfrm>
            <a:off x="8910828"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6053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2454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60061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courseware/labs/lab-01-kubectl-and-cluster-recon/README.md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73</a:t>
            </a:r>
          </a:p>
        </p:txBody>
      </p:sp>
    </p:spTree>
  </p:cSld>
  <p:clrMapOvr>
    <a:masterClrMapping/>
  </p:clrMapOvr>
  <p:transition xmlns:ns1="http://schemas.openxmlformats.org/markup-compatibility/2006" spd="fast" ns1:Ignorable="p14">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Lunch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 – 1:50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74</a:t>
            </a:r>
          </a:p>
        </p:txBody>
      </p:sp>
    </p:spTree>
  </p:cSld>
  <p:clrMapOvr>
    <a:masterClrMapping/>
  </p:clrMapOvr>
  <p:transition xmlns:ns1="http://schemas.openxmlformats.org/markup-compatibility/2006" spd="fast" ns1:Ignorable="p14">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04</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4 · UNDERSTANDING PODS</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The Pod Is the Unit of Scheduling</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Why a Pod is not a container, the pause sandbox, the manifest field by field, and what exposing a port really means.</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75</a:t>
            </a:r>
          </a:p>
        </p:txBody>
      </p:sp>
    </p:spTree>
  </p:cSld>
  <p:clrMapOvr>
    <a:masterClrMapping/>
  </p:clrMapOvr>
  <p:transition xmlns:ns1="http://schemas.openxmlformats.org/markup-compatibility/2006" spd="med" ns1:Ignorable="p14">
    <p:push dir="l"/>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CONCEPT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Six Reasons the Unit Is a Pod and Not a Container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Pod is usually one container' is true and unhelpful. The question is why the abstraction exists at all.</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Some processes must be co-located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log shipper that tails a file must run on the same disk and the same lifecycle as the writer. Two Pods cannot guarantee that.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One IP per unit of scheduling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Service routing, DNS and NetworkPolicy all target a single address. A Pod gives you exactly one, shared by its containers.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Atomic placement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scheduler makes one decision for the whole group. Partial placement — app here, sidecar there — is not expressible.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Shared volumes with a defined lifetime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emptyDir lives and dies with the Pod, so co-operating containers get a scratch space with clear ownership.</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single failure and restart domain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restartPolicy, terminationGracePeriodSeconds and eviction apply to the Pod, giving one coherent story for failure.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keeps the container image single-purpose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add capability by adding a container, not by stuffing a supervisor and three daemons into one image.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76</a:t>
            </a:r>
          </a:p>
        </p:txBody>
      </p:sp>
    </p:spTree>
  </p:cSld>
  <p:clrMapOvr>
    <a:masterClrMapping/>
  </p:clrMapOvr>
  <p:transition xmlns:ns1="http://schemas.openxmlformats.org/markup-compatibility/2006" spd="fast" ns1:Ignorable="p14">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Inside a Pod: The Sandbox and Its Containers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registry.k8s.io/pause:3.10 was 267 933 bytes on the training node — the smallest, most important image in the cluster.</a:t>
            </a:r>
          </a:p>
        </p:txBody>
      </p:sp>
      <p:sp>
        <p:nvSpPr>
          <p:cNvPr id="7" name="Rectangle 6"/>
          <p:cNvSpPr/>
          <p:nvPr/>
        </p:nvSpPr>
        <p:spPr>
          <a:xfrm>
            <a:off x="777240" y="2208885"/>
            <a:ext cx="10698480" cy="1423873"/>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423873"/>
          </a:xfrm>
          <a:prstGeom prst="rect">
            <a:avLst/>
          </a:prstGeom>
          <a:solidFill>
            <a:srgbClr val="7C3AED"/>
          </a:solidFill>
          <a:ln>
            <a:noFill/>
          </a:ln>
          <a:effectLst/>
        </p:spPr>
        <p:txBody>
          <a:bodyPr rtlCol="0" anchor="ctr" wrap="square"/>
          <a:lstStyle/>
          <a:p>
            <a:pPr algn="ctr"/>
          </a:p>
        </p:txBody>
      </p:sp>
      <p:sp>
        <p:nvSpPr>
          <p:cNvPr id="9" name="TextBox 8"/>
          <p:cNvSpPr txBox="1"/>
          <p:nvPr/>
        </p:nvSpPr>
        <p:spPr>
          <a:xfrm>
            <a:off x="941832" y="2391765"/>
            <a:ext cx="1261872" cy="1094689"/>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POD SANDBOX (PAUSE)</a:t>
            </a:r>
          </a:p>
        </p:txBody>
      </p:sp>
      <p:sp>
        <p:nvSpPr>
          <p:cNvPr id="10" name="Rounded Rectangle 9"/>
          <p:cNvSpPr/>
          <p:nvPr/>
        </p:nvSpPr>
        <p:spPr>
          <a:xfrm>
            <a:off x="2258568" y="2282037"/>
            <a:ext cx="2130551" cy="1277569"/>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1" name="TextBox 10"/>
          <p:cNvSpPr txBox="1"/>
          <p:nvPr/>
        </p:nvSpPr>
        <p:spPr>
          <a:xfrm>
            <a:off x="2350008"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pause container</a:t>
            </a:r>
          </a:p>
        </p:txBody>
      </p:sp>
      <p:sp>
        <p:nvSpPr>
          <p:cNvPr id="12" name="TextBox 11"/>
          <p:cNvSpPr txBox="1"/>
          <p:nvPr/>
        </p:nvSpPr>
        <p:spPr>
          <a:xfrm>
            <a:off x="2350008" y="2570073"/>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First thing created; holds the namespaces open so containers can come and go</a:t>
            </a:r>
          </a:p>
        </p:txBody>
      </p:sp>
      <p:sp>
        <p:nvSpPr>
          <p:cNvPr id="13" name="Rounded Rectangle 12"/>
          <p:cNvSpPr/>
          <p:nvPr/>
        </p:nvSpPr>
        <p:spPr>
          <a:xfrm>
            <a:off x="4553712" y="2282037"/>
            <a:ext cx="2130551" cy="1277569"/>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4" name="TextBox 13"/>
          <p:cNvSpPr txBox="1"/>
          <p:nvPr/>
        </p:nvSpPr>
        <p:spPr>
          <a:xfrm>
            <a:off x="4645151"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network namespace</a:t>
            </a:r>
          </a:p>
        </p:txBody>
      </p:sp>
      <p:sp>
        <p:nvSpPr>
          <p:cNvPr id="15" name="TextBox 14"/>
          <p:cNvSpPr txBox="1"/>
          <p:nvPr/>
        </p:nvSpPr>
        <p:spPr>
          <a:xfrm>
            <a:off x="4645151" y="2570073"/>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interface, one Pod IP, one loopback, one port space — created by the CNI plugin</a:t>
            </a:r>
          </a:p>
        </p:txBody>
      </p:sp>
      <p:sp>
        <p:nvSpPr>
          <p:cNvPr id="16" name="Rounded Rectangle 15"/>
          <p:cNvSpPr/>
          <p:nvPr/>
        </p:nvSpPr>
        <p:spPr>
          <a:xfrm>
            <a:off x="6848855" y="2282037"/>
            <a:ext cx="2130551" cy="1277569"/>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7" name="TextBox 16"/>
          <p:cNvSpPr txBox="1"/>
          <p:nvPr/>
        </p:nvSpPr>
        <p:spPr>
          <a:xfrm>
            <a:off x="6940295"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IPC namespace</a:t>
            </a:r>
          </a:p>
        </p:txBody>
      </p:sp>
      <p:sp>
        <p:nvSpPr>
          <p:cNvPr id="18" name="TextBox 17"/>
          <p:cNvSpPr txBox="1"/>
          <p:nvPr/>
        </p:nvSpPr>
        <p:spPr>
          <a:xfrm>
            <a:off x="6940295" y="2570073"/>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Shared System V IPC and POSIX queues for the whole Pod</a:t>
            </a:r>
          </a:p>
        </p:txBody>
      </p:sp>
      <p:sp>
        <p:nvSpPr>
          <p:cNvPr id="19" name="Rounded Rectangle 18"/>
          <p:cNvSpPr/>
          <p:nvPr/>
        </p:nvSpPr>
        <p:spPr>
          <a:xfrm>
            <a:off x="9143999" y="2282037"/>
            <a:ext cx="2130551" cy="1277569"/>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0" name="TextBox 19"/>
          <p:cNvSpPr txBox="1"/>
          <p:nvPr/>
        </p:nvSpPr>
        <p:spPr>
          <a:xfrm>
            <a:off x="9235439"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cgroup parent</a:t>
            </a:r>
          </a:p>
        </p:txBody>
      </p:sp>
      <p:sp>
        <p:nvSpPr>
          <p:cNvPr id="21" name="TextBox 20"/>
          <p:cNvSpPr txBox="1"/>
          <p:nvPr/>
        </p:nvSpPr>
        <p:spPr>
          <a:xfrm>
            <a:off x="9235439" y="2570073"/>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per-Pod cgroup under the QoS-class slice; per-container cgroups nest inside it</a:t>
            </a:r>
          </a:p>
        </p:txBody>
      </p:sp>
      <p:sp>
        <p:nvSpPr>
          <p:cNvPr id="22" name="Rectangle 21"/>
          <p:cNvSpPr/>
          <p:nvPr/>
        </p:nvSpPr>
        <p:spPr>
          <a:xfrm>
            <a:off x="777240" y="3815638"/>
            <a:ext cx="10698480" cy="1423873"/>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815638"/>
            <a:ext cx="50292" cy="1423873"/>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941832" y="3998518"/>
            <a:ext cx="1261872" cy="1094689"/>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CONTAINERS IN THE POD</a:t>
            </a:r>
          </a:p>
        </p:txBody>
      </p:sp>
      <p:sp>
        <p:nvSpPr>
          <p:cNvPr id="25" name="Rounded Rectangle 24"/>
          <p:cNvSpPr/>
          <p:nvPr/>
        </p:nvSpPr>
        <p:spPr>
          <a:xfrm>
            <a:off x="2258568" y="3888790"/>
            <a:ext cx="2130551" cy="1277569"/>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6" name="TextBox 25"/>
          <p:cNvSpPr txBox="1"/>
          <p:nvPr/>
        </p:nvSpPr>
        <p:spPr>
          <a:xfrm>
            <a:off x="2350008" y="394365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init containers</a:t>
            </a:r>
          </a:p>
        </p:txBody>
      </p:sp>
      <p:sp>
        <p:nvSpPr>
          <p:cNvPr id="27" name="TextBox 26"/>
          <p:cNvSpPr txBox="1"/>
          <p:nvPr/>
        </p:nvSpPr>
        <p:spPr>
          <a:xfrm>
            <a:off x="2350008" y="4176826"/>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 to completion, in order, before any app container starts</a:t>
            </a:r>
          </a:p>
        </p:txBody>
      </p:sp>
      <p:sp>
        <p:nvSpPr>
          <p:cNvPr id="28" name="Rounded Rectangle 27"/>
          <p:cNvSpPr/>
          <p:nvPr/>
        </p:nvSpPr>
        <p:spPr>
          <a:xfrm>
            <a:off x="4553712" y="3888790"/>
            <a:ext cx="2130551" cy="1277569"/>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4645151" y="394365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 containers</a:t>
            </a:r>
          </a:p>
        </p:txBody>
      </p:sp>
      <p:sp>
        <p:nvSpPr>
          <p:cNvPr id="30" name="TextBox 29"/>
          <p:cNvSpPr txBox="1"/>
          <p:nvPr/>
        </p:nvSpPr>
        <p:spPr>
          <a:xfrm>
            <a:off x="4645151" y="4176826"/>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Started together, no ordering guarantee among themselves</a:t>
            </a:r>
          </a:p>
        </p:txBody>
      </p:sp>
      <p:sp>
        <p:nvSpPr>
          <p:cNvPr id="31" name="Rounded Rectangle 30"/>
          <p:cNvSpPr/>
          <p:nvPr/>
        </p:nvSpPr>
        <p:spPr>
          <a:xfrm>
            <a:off x="6848855" y="3888790"/>
            <a:ext cx="2130551" cy="1277569"/>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2" name="TextBox 31"/>
          <p:cNvSpPr txBox="1"/>
          <p:nvPr/>
        </p:nvSpPr>
        <p:spPr>
          <a:xfrm>
            <a:off x="6940295" y="394365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each has its own rootfs</a:t>
            </a:r>
          </a:p>
        </p:txBody>
      </p:sp>
      <p:sp>
        <p:nvSpPr>
          <p:cNvPr id="33" name="TextBox 32"/>
          <p:cNvSpPr txBox="1"/>
          <p:nvPr/>
        </p:nvSpPr>
        <p:spPr>
          <a:xfrm>
            <a:off x="6940295" y="4176826"/>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Separate mount namespace from the image; nothing is shared implicitly</a:t>
            </a:r>
          </a:p>
        </p:txBody>
      </p:sp>
      <p:sp>
        <p:nvSpPr>
          <p:cNvPr id="34" name="Rounded Rectangle 33"/>
          <p:cNvSpPr/>
          <p:nvPr/>
        </p:nvSpPr>
        <p:spPr>
          <a:xfrm>
            <a:off x="9143999" y="3888790"/>
            <a:ext cx="2130551" cy="1277569"/>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9235439" y="394365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named volumes</a:t>
            </a:r>
          </a:p>
        </p:txBody>
      </p:sp>
      <p:sp>
        <p:nvSpPr>
          <p:cNvPr id="36" name="TextBox 35"/>
          <p:cNvSpPr txBox="1"/>
          <p:nvPr/>
        </p:nvSpPr>
        <p:spPr>
          <a:xfrm>
            <a:off x="9235439" y="4176826"/>
            <a:ext cx="1947671" cy="916381"/>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only shared filesystem, and only where a container explicitly mounts it</a:t>
            </a:r>
          </a:p>
        </p:txBody>
      </p:sp>
      <p:sp>
        <p:nvSpPr>
          <p:cNvPr id="37" name="Rectangle 36"/>
          <p:cNvSpPr/>
          <p:nvPr/>
        </p:nvSpPr>
        <p:spPr>
          <a:xfrm>
            <a:off x="777240" y="5404103"/>
            <a:ext cx="10698480" cy="566928"/>
          </a:xfrm>
          <a:prstGeom prst="rect">
            <a:avLst/>
          </a:prstGeom>
          <a:solidFill>
            <a:srgbClr val="EFF4FF"/>
          </a:solidFill>
          <a:ln>
            <a:noFill/>
          </a:ln>
          <a:effectLst/>
        </p:spPr>
        <p:txBody>
          <a:bodyPr rtlCol="0" anchor="ctr" wrap="square"/>
          <a:lstStyle/>
          <a:p>
            <a:pPr algn="ctr"/>
          </a:p>
        </p:txBody>
      </p:sp>
      <p:sp>
        <p:nvSpPr>
          <p:cNvPr id="38" name="Rectangle 37"/>
          <p:cNvSpPr/>
          <p:nvPr/>
        </p:nvSpPr>
        <p:spPr>
          <a:xfrm>
            <a:off x="777240" y="5404103"/>
            <a:ext cx="50292" cy="566928"/>
          </a:xfrm>
          <a:prstGeom prst="rect">
            <a:avLst/>
          </a:prstGeom>
          <a:solidFill>
            <a:srgbClr val="1F6FEB"/>
          </a:solidFill>
          <a:ln>
            <a:noFill/>
          </a:ln>
          <a:effectLst/>
        </p:spPr>
        <p:txBody>
          <a:bodyPr rtlCol="0" anchor="ctr" wrap="square"/>
          <a:lstStyle/>
          <a:p>
            <a:pPr algn="ctr"/>
          </a:p>
        </p:txBody>
      </p:sp>
      <p:sp>
        <p:nvSpPr>
          <p:cNvPr id="39" name="TextBox 38"/>
          <p:cNvSpPr txBox="1"/>
          <p:nvPr/>
        </p:nvSpPr>
        <p:spPr>
          <a:xfrm>
            <a:off x="996695" y="5458967"/>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0" name="TextBox 39"/>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The pause container is why you can restart your application container without losing the Pod IP: the namespace belongs to the sandbox, not to your process.</a:t>
            </a:r>
          </a:p>
        </p:txBody>
      </p:sp>
      <p:sp>
        <p:nvSpPr>
          <p:cNvPr id="41" name="TextBox 4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Kubernetes documentation — Container Runtime Interface: kubernetes.io/docs/concepts/architecture/cri/. Measured on the course training cluster: kind, Kubernetes v1.37.0, containerd 2.3.4, linux/arm64, 5 Sep 2026.</a:t>
            </a:r>
          </a:p>
        </p:txBody>
      </p:sp>
      <p:sp>
        <p:nvSpPr>
          <p:cNvPr id="42" name="TextBox 4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3" name="TextBox 4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4" name="TextBox 4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77</a:t>
            </a:r>
          </a:p>
        </p:txBody>
      </p:sp>
    </p:spTree>
  </p:cSld>
  <p:clrMapOvr>
    <a:masterClrMapping/>
  </p:clrMapOvr>
  <p:transition xmlns:ns1="http://schemas.openxmlformats.org/markup-compatibility/2006" spd="fast" ns1:Ignorable="p14">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CONCEPT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Containers in a Pod Share — and What They Do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04 proves every line of this by experiment, including the read-only mount that blocks a write from the sidecar.</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SHARED · network namespace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One Pod IP, one loopback. Container A reaches container B on 127.0.0.1 — and two containers cannot bind the same port.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SHARED · IPC namespace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System V IPC and POSIX message queues are common to the Pod.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SHARED · named volumes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Only where each container declares its own volumeMounts entry. Mount path and readOnly are per container.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SHARED · lifecycle and node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One scheduling decision, one restartPolicy, one termination grace period, one eviction event.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shared · filesystem root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container gets its own image rootfs. /seed existing in one container says nothing about the other.</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shared · PID namespace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Off by default; enable deliberately with spec.shareProcessNamespace: true if a container must signal another.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Captured in courseware/labs/lab-04-multi-container-patterns on the training cluster, Kubernetes v1.37.0.</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78</a:t>
            </a:r>
          </a:p>
        </p:txBody>
      </p:sp>
    </p:spTree>
  </p:cSld>
  <p:clrMapOvr>
    <a:masterClrMapping/>
  </p:clrMapOvr>
  <p:transition xmlns:ns1="http://schemas.openxmlformats.org/markup-compatibility/2006" spd="fast" ns1:Ignorable="p14">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Pod Manifest You Would Defend in Review</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Resources requests and limits are also in the real file; Day 2 spends a full module on them.</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pod-depot-web.yaml (Lab 02 reference manifest,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apiVersion: v1</a:t>
            </a:r>
          </a:p>
          <a:p>
            <a:pPr>
              <a:lnSpc>
                <a:spcPts val="1339"/>
              </a:lnSpc>
              <a:spcAft>
                <a:spcPts val="0"/>
              </a:spcAft>
            </a:pPr>
            <a:r>
              <a:rPr sz="1050">
                <a:solidFill>
                  <a:srgbClr val="E6EDF3"/>
                </a:solidFill>
                <a:latin typeface="Consolas"/>
              </a:rPr>
              <a:t>kind: Pod</a:t>
            </a:r>
          </a:p>
          <a:p>
            <a:pPr>
              <a:lnSpc>
                <a:spcPts val="1339"/>
              </a:lnSpc>
              <a:spcAft>
                <a:spcPts val="0"/>
              </a:spcAft>
            </a:pPr>
            <a:r>
              <a:rPr sz="1050">
                <a:solidFill>
                  <a:srgbClr val="E6EDF3"/>
                </a:solidFill>
                <a:latin typeface="Consolas"/>
              </a:rPr>
              <a:t>metadata:</a:t>
            </a:r>
          </a:p>
          <a:p>
            <a:pPr>
              <a:lnSpc>
                <a:spcPts val="1339"/>
              </a:lnSpc>
              <a:spcAft>
                <a:spcPts val="0"/>
              </a:spcAft>
            </a:pPr>
            <a:r>
              <a:rPr sz="1050">
                <a:solidFill>
                  <a:srgbClr val="E6EDF3"/>
                </a:solidFill>
                <a:latin typeface="Consolas"/>
              </a:rPr>
              <a:t>  name: depot-web</a:t>
            </a:r>
          </a:p>
          <a:p>
            <a:pPr>
              <a:lnSpc>
                <a:spcPts val="1339"/>
              </a:lnSpc>
              <a:spcAft>
                <a:spcPts val="0"/>
              </a:spcAft>
            </a:pPr>
            <a:r>
              <a:rPr sz="1050">
                <a:solidFill>
                  <a:srgbClr val="E6EDF3"/>
                </a:solidFill>
                <a:latin typeface="Consolas"/>
              </a:rPr>
              <a:t>  namespace: kcna-lab02</a:t>
            </a:r>
          </a:p>
          <a:p>
            <a:pPr>
              <a:lnSpc>
                <a:spcPts val="1339"/>
              </a:lnSpc>
              <a:spcAft>
                <a:spcPts val="0"/>
              </a:spcAft>
            </a:pPr>
            <a:r>
              <a:rPr sz="1050">
                <a:solidFill>
                  <a:srgbClr val="E6EDF3"/>
                </a:solidFill>
                <a:latin typeface="Consolas"/>
              </a:rPr>
              <a:t>  labels:</a:t>
            </a:r>
          </a:p>
          <a:p>
            <a:pPr>
              <a:lnSpc>
                <a:spcPts val="1339"/>
              </a:lnSpc>
              <a:spcAft>
                <a:spcPts val="0"/>
              </a:spcAft>
            </a:pPr>
            <a:r>
              <a:rPr sz="1050">
                <a:solidFill>
                  <a:srgbClr val="E6EDF3"/>
                </a:solidFill>
                <a:latin typeface="Consolas"/>
              </a:rPr>
              <a:t>    app.kubernetes.io/name: depot-web</a:t>
            </a:r>
          </a:p>
          <a:p>
            <a:pPr>
              <a:lnSpc>
                <a:spcPts val="1339"/>
              </a:lnSpc>
              <a:spcAft>
                <a:spcPts val="0"/>
              </a:spcAft>
            </a:pPr>
            <a:r>
              <a:rPr sz="1050">
                <a:solidFill>
                  <a:srgbClr val="E6EDF3"/>
                </a:solidFill>
                <a:latin typeface="Consolas"/>
              </a:rPr>
              <a:t>    app.kubernetes.io/part-of: depot-portal</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containers:</a:t>
            </a:r>
          </a:p>
          <a:p>
            <a:pPr>
              <a:lnSpc>
                <a:spcPts val="1339"/>
              </a:lnSpc>
              <a:spcAft>
                <a:spcPts val="0"/>
              </a:spcAft>
            </a:pPr>
            <a:r>
              <a:rPr sz="1050">
                <a:solidFill>
                  <a:srgbClr val="E6EDF3"/>
                </a:solidFill>
                <a:latin typeface="Consolas"/>
              </a:rPr>
              <a:t>    - name: web</a:t>
            </a:r>
          </a:p>
          <a:p>
            <a:pPr>
              <a:lnSpc>
                <a:spcPts val="1339"/>
              </a:lnSpc>
              <a:spcAft>
                <a:spcPts val="0"/>
              </a:spcAft>
            </a:pPr>
            <a:r>
              <a:rPr sz="1050">
                <a:solidFill>
                  <a:srgbClr val="E6EDF3"/>
                </a:solidFill>
                <a:latin typeface="Consolas"/>
              </a:rPr>
              <a:t>      image: nginx:1.27-alpine</a:t>
            </a:r>
          </a:p>
          <a:p>
            <a:pPr>
              <a:lnSpc>
                <a:spcPts val="1339"/>
              </a:lnSpc>
              <a:spcAft>
                <a:spcPts val="0"/>
              </a:spcAft>
            </a:pPr>
            <a:r>
              <a:rPr sz="1050">
                <a:solidFill>
                  <a:srgbClr val="E6EDF3"/>
                </a:solidFill>
                <a:latin typeface="Consolas"/>
              </a:rPr>
              <a:t>      imagePullPolicy: IfNotPresent</a:t>
            </a:r>
          </a:p>
          <a:p>
            <a:pPr>
              <a:lnSpc>
                <a:spcPts val="1339"/>
              </a:lnSpc>
              <a:spcAft>
                <a:spcPts val="0"/>
              </a:spcAft>
            </a:pPr>
            <a:r>
              <a:rPr sz="1050">
                <a:solidFill>
                  <a:srgbClr val="E6EDF3"/>
                </a:solidFill>
                <a:latin typeface="Consolas"/>
              </a:rPr>
              <a:t>      ports: [{ name: http, containerPort: 80 }]</a:t>
            </a:r>
          </a:p>
          <a:p>
            <a:pPr>
              <a:lnSpc>
                <a:spcPts val="1339"/>
              </a:lnSpc>
              <a:spcAft>
                <a:spcPts val="0"/>
              </a:spcAft>
            </a:pPr>
            <a:r>
              <a:rPr sz="1050">
                <a:solidFill>
                  <a:srgbClr val="E6EDF3"/>
                </a:solidFill>
                <a:latin typeface="Consolas"/>
              </a:rPr>
              <a:t>      volumeMounts:</a:t>
            </a:r>
          </a:p>
          <a:p>
            <a:pPr>
              <a:lnSpc>
                <a:spcPts val="1339"/>
              </a:lnSpc>
              <a:spcAft>
                <a:spcPts val="0"/>
              </a:spcAft>
            </a:pPr>
            <a:r>
              <a:rPr sz="1050">
                <a:solidFill>
                  <a:srgbClr val="E6EDF3"/>
                </a:solidFill>
                <a:latin typeface="Consolas"/>
              </a:rPr>
              <a:t>        - { name: content, readOnly: true,</a:t>
            </a:r>
          </a:p>
          <a:p>
            <a:pPr>
              <a:lnSpc>
                <a:spcPts val="1339"/>
              </a:lnSpc>
              <a:spcAft>
                <a:spcPts val="0"/>
              </a:spcAft>
            </a:pPr>
            <a:r>
              <a:rPr sz="1050">
                <a:solidFill>
                  <a:srgbClr val="E6EDF3"/>
                </a:solidFill>
                <a:latin typeface="Consolas"/>
              </a:rPr>
              <a:t>            mountPath: /usr/share/nginx/html }</a:t>
            </a:r>
          </a:p>
          <a:p>
            <a:pPr>
              <a:lnSpc>
                <a:spcPts val="1339"/>
              </a:lnSpc>
              <a:spcAft>
                <a:spcPts val="0"/>
              </a:spcAft>
            </a:pPr>
            <a:r>
              <a:rPr sz="1050">
                <a:solidFill>
                  <a:srgbClr val="E6EDF3"/>
                </a:solidFill>
                <a:latin typeface="Consolas"/>
              </a:rPr>
              <a:t>  volumes:</a:t>
            </a:r>
          </a:p>
          <a:p>
            <a:pPr>
              <a:lnSpc>
                <a:spcPts val="1339"/>
              </a:lnSpc>
              <a:spcAft>
                <a:spcPts val="0"/>
              </a:spcAft>
            </a:pPr>
            <a:r>
              <a:rPr sz="1050">
                <a:solidFill>
                  <a:srgbClr val="E6EDF3"/>
                </a:solidFill>
                <a:latin typeface="Consolas"/>
              </a:rPr>
              <a:t>    - { name: content, configMap: { name: depot-content } }</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namespace is in the file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manifest that relies on the ambient namespace is not reproducible. Pin it, or apply it with an explicit -n.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app.kubernetes.io/* labels</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recommended label set. Day 2's selectors and Day 3's Services will match on exactly these keys.</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named port</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name: http lets probes and Services reference the port by name, so renumbering does not break them.</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Volume then mount, always two places</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spec.volumes declares it once for the Pod; each container that wants it repeats the name in volumeMounts.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 Kubernetes documentation — Pods and Pod lifecycle: kubernetes.io/docs/concepts/workloads/pods/.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79</a:t>
            </a:r>
          </a:p>
        </p:txBody>
      </p:sp>
    </p:spTree>
  </p:cSld>
  <p:clrMapOvr>
    <a:masterClrMapping/>
  </p:clrMapOvr>
  <p:transition xmlns:ns1="http://schemas.openxmlformats.org/markup-compatibility/2006" spd="fast" ns1:Ignorable="p14">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Who Writes Which Part of a Pod Object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If you cannot name the writer of a field, you cannot debug it. Lab 02 has you verify each of these on a live object.</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apiVersion, kind</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They select the schema the request is validated against</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metadata.name / labels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 or a controller, via generateName and template labels</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metadata.uid / resourceVersion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kube-apiserver, at create and on every update</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spec.containers</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This is the declared desired state</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spec.dnsPolicy, serviceAccountName, schedulerName</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kube-apiserver defaulting at admission — you wrote none of them</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spec.nodeName</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kube-scheduler, by creating a Binding</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spec.tolerations (some)</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Admission plugins, e.g. the default not-ready/unreachable tolerations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status.phase / conditions</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kubelet, reporting what it observed</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status.podIP</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kubelet, after the CNI plugin assigned it</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status.containerStatuses[].imageID</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kubelet, after the runtime resolved the reference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Captured in courseware/labs/lab-02-first-pod-manifest on the training cluster, Kubernetes v1.37.0.</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80</a:t>
            </a:r>
          </a:p>
        </p:txBody>
      </p:sp>
    </p:spTree>
  </p:cSld>
  <p:clrMapOvr>
    <a:masterClrMapping/>
  </p:clrMapOvr>
  <p:transition xmlns:ns1="http://schemas.openxmlformats.org/markup-compatibility/2006" spd="fast" ns1:Ignorable="p14">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Server-Side Truth: What You Wrote vs What Was Stored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Reading these three commands is the fastest way to see the boundary between declaration and observation.</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Lab 02 on the training cluster</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kcna-lab02 get pod depot-web -o jsonpath=\</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'{.spec.dnsPolicy}{"\t"}{.spec.serviceAccountName}{"\t"}{.spec.schedulerName}{"\n"}'</a:t>
            </a:r>
          </a:p>
          <a:p>
            <a:pPr>
              <a:lnSpc>
                <a:spcPts val="1476"/>
              </a:lnSpc>
              <a:spcAft>
                <a:spcPts val="0"/>
              </a:spcAft>
            </a:pPr>
            <a:r>
              <a:rPr sz="1000">
                <a:solidFill>
                  <a:srgbClr val="E6EDF3"/>
                </a:solidFill>
                <a:latin typeface="Consolas"/>
              </a:rPr>
              <a:t>ClusterFirst   default   default-scheduler</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kcna-lab02 get pod depot-web -o jsonpath=\</a:t>
            </a:r>
          </a:p>
          <a:p>
            <a:pPr>
              <a:lnSpc>
                <a:spcPts val="1476"/>
              </a:lnSpc>
              <a:spcAft>
                <a:spcPts val="0"/>
              </a:spcAft>
            </a:pPr>
            <a:r>
              <a:rPr sz="1000">
                <a:solidFill>
                  <a:srgbClr val="E6EDF3"/>
                </a:solidFill>
                <a:latin typeface="Consolas"/>
              </a:rPr>
              <a:t>    '{range .status.conditions[*]}{.type}={.status}{"\n"}{end}'</a:t>
            </a:r>
          </a:p>
          <a:p>
            <a:pPr>
              <a:lnSpc>
                <a:spcPts val="1476"/>
              </a:lnSpc>
              <a:spcAft>
                <a:spcPts val="0"/>
              </a:spcAft>
            </a:pPr>
            <a:r>
              <a:rPr sz="1000">
                <a:solidFill>
                  <a:srgbClr val="E6EDF3"/>
                </a:solidFill>
                <a:latin typeface="Consolas"/>
              </a:rPr>
              <a:t>PodReadyToStartContainers=True</a:t>
            </a:r>
          </a:p>
          <a:p>
            <a:pPr>
              <a:lnSpc>
                <a:spcPts val="1476"/>
              </a:lnSpc>
              <a:spcAft>
                <a:spcPts val="0"/>
              </a:spcAft>
            </a:pPr>
            <a:r>
              <a:rPr sz="1000">
                <a:solidFill>
                  <a:srgbClr val="E6EDF3"/>
                </a:solidFill>
                <a:latin typeface="Consolas"/>
              </a:rPr>
              <a:t>Initialized=True</a:t>
            </a:r>
          </a:p>
          <a:p>
            <a:pPr>
              <a:lnSpc>
                <a:spcPts val="1476"/>
              </a:lnSpc>
              <a:spcAft>
                <a:spcPts val="0"/>
              </a:spcAft>
            </a:pPr>
            <a:r>
              <a:rPr sz="1000">
                <a:solidFill>
                  <a:srgbClr val="E6EDF3"/>
                </a:solidFill>
                <a:latin typeface="Consolas"/>
              </a:rPr>
              <a:t>Ready=True</a:t>
            </a:r>
          </a:p>
          <a:p>
            <a:pPr>
              <a:lnSpc>
                <a:spcPts val="1476"/>
              </a:lnSpc>
              <a:spcAft>
                <a:spcPts val="0"/>
              </a:spcAft>
            </a:pPr>
            <a:r>
              <a:rPr sz="1000">
                <a:solidFill>
                  <a:srgbClr val="E6EDF3"/>
                </a:solidFill>
                <a:latin typeface="Consolas"/>
              </a:rPr>
              <a:t>ContainersReady=True</a:t>
            </a:r>
          </a:p>
          <a:p>
            <a:pPr>
              <a:lnSpc>
                <a:spcPts val="1476"/>
              </a:lnSpc>
              <a:spcAft>
                <a:spcPts val="0"/>
              </a:spcAft>
            </a:pPr>
            <a:r>
              <a:rPr sz="1000">
                <a:solidFill>
                  <a:srgbClr val="E6EDF3"/>
                </a:solidFill>
                <a:latin typeface="Consolas"/>
              </a:rPr>
              <a:t>PodScheduled=True</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kcna-lab02 get pod depot-web -o wide</a:t>
            </a:r>
          </a:p>
          <a:p>
            <a:pPr>
              <a:lnSpc>
                <a:spcPts val="1476"/>
              </a:lnSpc>
              <a:spcAft>
                <a:spcPts val="0"/>
              </a:spcAft>
            </a:pPr>
            <a:r>
              <a:rPr sz="1000">
                <a:solidFill>
                  <a:srgbClr val="E6EDF3"/>
                </a:solidFill>
                <a:latin typeface="Consolas"/>
              </a:rPr>
              <a:t>NAME        READY  STATUS   RESTARTS  AGE  IP           NODE</a:t>
            </a:r>
          </a:p>
          <a:p>
            <a:pPr>
              <a:lnSpc>
                <a:spcPts val="1476"/>
              </a:lnSpc>
              <a:spcAft>
                <a:spcPts val="0"/>
              </a:spcAft>
            </a:pPr>
            <a:r>
              <a:rPr sz="1000">
                <a:solidFill>
                  <a:srgbClr val="E6EDF3"/>
                </a:solidFill>
                <a:latin typeface="Consolas"/>
              </a:rPr>
              <a:t>depot-web   1/1    Running  0         18s  10.244.0.11  kcna-qa-...-control-plane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Three fields you never typed</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Defaulting happens at admission. The stored object is always larger than the file you applied.</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Conditions are ordered by meaning</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PodScheduled, then Initialized, then ContainersReady, then Ready. The first False one tells you where progress stopped.</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READY 1/1 is containers, not conditions</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Left is ready containers, right is total. A 1/2 means one container in a two-container Pod is failing its readiness probe.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IP and NODE are status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Both were written by components after your object was persisted — which is why an unscheduled Pod shows &lt;none&gt;.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81</a:t>
            </a:r>
          </a:p>
        </p:txBody>
      </p:sp>
    </p:spTree>
  </p:cSld>
  <p:clrMapOvr>
    <a:masterClrMapping/>
  </p:clrMapOvr>
  <p:transition xmlns:ns1="http://schemas.openxmlformats.org/markup-compatibility/2006" spd="fast" ns1:Ignorable="p14">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600" b="1" i="0">
                <a:solidFill>
                  <a:srgbClr val="161B26"/>
                </a:solidFill>
                <a:latin typeface="Arial"/>
              </a:rPr>
              <a:t>Phase, Conditions and Container State Are Three Different Things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Most 'the Pod is broken' conversations are really disagreements about which of these four fields is being read.</a:t>
            </a:r>
          </a:p>
        </p:txBody>
      </p:sp>
      <p:sp>
        <p:nvSpPr>
          <p:cNvPr id="7" name="Rectangle 6"/>
          <p:cNvSpPr/>
          <p:nvPr/>
        </p:nvSpPr>
        <p:spPr>
          <a:xfrm>
            <a:off x="777240" y="2200046"/>
            <a:ext cx="1705554"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44952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Signal</a:t>
            </a:r>
          </a:p>
        </p:txBody>
      </p:sp>
      <p:sp>
        <p:nvSpPr>
          <p:cNvPr id="9" name="Rectangle 8"/>
          <p:cNvSpPr/>
          <p:nvPr/>
        </p:nvSpPr>
        <p:spPr>
          <a:xfrm>
            <a:off x="2482794" y="2200046"/>
            <a:ext cx="2480806"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610810" y="2300630"/>
            <a:ext cx="222477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Where it lives</a:t>
            </a:r>
          </a:p>
        </p:txBody>
      </p:sp>
      <p:sp>
        <p:nvSpPr>
          <p:cNvPr id="11" name="Rectangle 10"/>
          <p:cNvSpPr/>
          <p:nvPr/>
        </p:nvSpPr>
        <p:spPr>
          <a:xfrm>
            <a:off x="4963601" y="2200046"/>
            <a:ext cx="3101008"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091617" y="2300630"/>
            <a:ext cx="284497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Values</a:t>
            </a:r>
          </a:p>
        </p:txBody>
      </p:sp>
      <p:sp>
        <p:nvSpPr>
          <p:cNvPr id="13" name="Rectangle 12"/>
          <p:cNvSpPr/>
          <p:nvPr/>
        </p:nvSpPr>
        <p:spPr>
          <a:xfrm>
            <a:off x="8064610" y="2200046"/>
            <a:ext cx="3411109"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192626" y="2300630"/>
            <a:ext cx="315507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tells you</a:t>
            </a:r>
          </a:p>
        </p:txBody>
      </p:sp>
      <p:sp>
        <p:nvSpPr>
          <p:cNvPr id="15" name="Rectangle 14"/>
          <p:cNvSpPr/>
          <p:nvPr/>
        </p:nvSpPr>
        <p:spPr>
          <a:xfrm>
            <a:off x="777240" y="2620670"/>
            <a:ext cx="1705554"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44952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Pod phase</a:t>
            </a:r>
          </a:p>
        </p:txBody>
      </p:sp>
      <p:sp>
        <p:nvSpPr>
          <p:cNvPr id="17" name="Rectangle 16"/>
          <p:cNvSpPr/>
          <p:nvPr/>
        </p:nvSpPr>
        <p:spPr>
          <a:xfrm>
            <a:off x="2482794" y="2620670"/>
            <a:ext cx="2480806"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610810" y="2702966"/>
            <a:ext cx="22247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status.phase</a:t>
            </a:r>
          </a:p>
        </p:txBody>
      </p:sp>
      <p:sp>
        <p:nvSpPr>
          <p:cNvPr id="19" name="Rectangle 18"/>
          <p:cNvSpPr/>
          <p:nvPr/>
        </p:nvSpPr>
        <p:spPr>
          <a:xfrm>
            <a:off x="4963601" y="2620670"/>
            <a:ext cx="3101008"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091617" y="2702966"/>
            <a:ext cx="2844976"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Pending, Running, Succeeded, Failed, Unknown</a:t>
            </a:r>
          </a:p>
        </p:txBody>
      </p:sp>
      <p:sp>
        <p:nvSpPr>
          <p:cNvPr id="21" name="Rectangle 20"/>
          <p:cNvSpPr/>
          <p:nvPr/>
        </p:nvSpPr>
        <p:spPr>
          <a:xfrm>
            <a:off x="8064610" y="2620670"/>
            <a:ext cx="3411109"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192626" y="2702966"/>
            <a:ext cx="315507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coarse life-stage summary; deliberately not a health signal</a:t>
            </a:r>
          </a:p>
        </p:txBody>
      </p:sp>
      <p:sp>
        <p:nvSpPr>
          <p:cNvPr id="23" name="Rectangle 22"/>
          <p:cNvSpPr/>
          <p:nvPr/>
        </p:nvSpPr>
        <p:spPr>
          <a:xfrm>
            <a:off x="777240" y="3171870"/>
            <a:ext cx="1705554"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44952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Pod conditions</a:t>
            </a:r>
          </a:p>
        </p:txBody>
      </p:sp>
      <p:sp>
        <p:nvSpPr>
          <p:cNvPr id="25" name="Rectangle 24"/>
          <p:cNvSpPr/>
          <p:nvPr/>
        </p:nvSpPr>
        <p:spPr>
          <a:xfrm>
            <a:off x="2482794" y="3171870"/>
            <a:ext cx="2480806"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610810" y="3254166"/>
            <a:ext cx="22247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status.conditions[]</a:t>
            </a:r>
          </a:p>
        </p:txBody>
      </p:sp>
      <p:sp>
        <p:nvSpPr>
          <p:cNvPr id="27" name="Rectangle 26"/>
          <p:cNvSpPr/>
          <p:nvPr/>
        </p:nvSpPr>
        <p:spPr>
          <a:xfrm>
            <a:off x="4963601" y="3171870"/>
            <a:ext cx="3101008"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091617" y="3254166"/>
            <a:ext cx="2844976"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PodScheduled, Initialized, ContainersReady, Ready (+ PodReadyToStartContainers)</a:t>
            </a:r>
          </a:p>
        </p:txBody>
      </p:sp>
      <p:sp>
        <p:nvSpPr>
          <p:cNvPr id="29" name="Rectangle 28"/>
          <p:cNvSpPr/>
          <p:nvPr/>
        </p:nvSpPr>
        <p:spPr>
          <a:xfrm>
            <a:off x="8064610" y="3171870"/>
            <a:ext cx="3411109"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192626" y="3254166"/>
            <a:ext cx="315507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Which stage of admission-to-serving has completed</a:t>
            </a:r>
          </a:p>
        </p:txBody>
      </p:sp>
      <p:sp>
        <p:nvSpPr>
          <p:cNvPr id="31" name="Rectangle 30"/>
          <p:cNvSpPr/>
          <p:nvPr/>
        </p:nvSpPr>
        <p:spPr>
          <a:xfrm>
            <a:off x="777240" y="3723071"/>
            <a:ext cx="1705554"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44952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Container state</a:t>
            </a:r>
          </a:p>
        </p:txBody>
      </p:sp>
      <p:sp>
        <p:nvSpPr>
          <p:cNvPr id="33" name="Rectangle 32"/>
          <p:cNvSpPr/>
          <p:nvPr/>
        </p:nvSpPr>
        <p:spPr>
          <a:xfrm>
            <a:off x="2482794" y="3723071"/>
            <a:ext cx="2480806"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610810" y="3805367"/>
            <a:ext cx="22247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status.containerStatuses[].state</a:t>
            </a:r>
          </a:p>
        </p:txBody>
      </p:sp>
      <p:sp>
        <p:nvSpPr>
          <p:cNvPr id="35" name="Rectangle 34"/>
          <p:cNvSpPr/>
          <p:nvPr/>
        </p:nvSpPr>
        <p:spPr>
          <a:xfrm>
            <a:off x="4963601" y="3723071"/>
            <a:ext cx="3101008"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091617" y="3805367"/>
            <a:ext cx="2844976"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waiting{reason}, running{startedAt}, terminated{exitCode}</a:t>
            </a:r>
          </a:p>
        </p:txBody>
      </p:sp>
      <p:sp>
        <p:nvSpPr>
          <p:cNvPr id="37" name="Rectangle 36"/>
          <p:cNvSpPr/>
          <p:nvPr/>
        </p:nvSpPr>
        <p:spPr>
          <a:xfrm>
            <a:off x="8064610" y="3723071"/>
            <a:ext cx="3411109"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192626" y="3805367"/>
            <a:ext cx="315507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precise current state, including the reason string you act on</a:t>
            </a:r>
          </a:p>
        </p:txBody>
      </p:sp>
      <p:sp>
        <p:nvSpPr>
          <p:cNvPr id="39" name="Rectangle 38"/>
          <p:cNvSpPr/>
          <p:nvPr/>
        </p:nvSpPr>
        <p:spPr>
          <a:xfrm>
            <a:off x="777240" y="4274271"/>
            <a:ext cx="1705554"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44952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Last state</a:t>
            </a:r>
          </a:p>
        </p:txBody>
      </p:sp>
      <p:sp>
        <p:nvSpPr>
          <p:cNvPr id="41" name="Rectangle 40"/>
          <p:cNvSpPr/>
          <p:nvPr/>
        </p:nvSpPr>
        <p:spPr>
          <a:xfrm>
            <a:off x="2482794" y="4274271"/>
            <a:ext cx="2480806"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610810" y="4356567"/>
            <a:ext cx="22247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status.containerStatuses[].lastState</a:t>
            </a:r>
          </a:p>
        </p:txBody>
      </p:sp>
      <p:sp>
        <p:nvSpPr>
          <p:cNvPr id="43" name="Rectangle 42"/>
          <p:cNvSpPr/>
          <p:nvPr/>
        </p:nvSpPr>
        <p:spPr>
          <a:xfrm>
            <a:off x="4963601" y="4274271"/>
            <a:ext cx="3101008"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091617" y="4356567"/>
            <a:ext cx="2844976"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terminated{exitCode, reason, finishedAt}</a:t>
            </a:r>
          </a:p>
        </p:txBody>
      </p:sp>
      <p:sp>
        <p:nvSpPr>
          <p:cNvPr id="45" name="Rectangle 44"/>
          <p:cNvSpPr/>
          <p:nvPr/>
        </p:nvSpPr>
        <p:spPr>
          <a:xfrm>
            <a:off x="8064610" y="4274271"/>
            <a:ext cx="3411109"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192626" y="4356567"/>
            <a:ext cx="315507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Why the previous instance died — indispensable for crash loops</a:t>
            </a:r>
          </a:p>
        </p:txBody>
      </p:sp>
      <p:sp>
        <p:nvSpPr>
          <p:cNvPr id="47" name="Rectangle 46"/>
          <p:cNvSpPr/>
          <p:nvPr/>
        </p:nvSpPr>
        <p:spPr>
          <a:xfrm>
            <a:off x="777240" y="4825471"/>
            <a:ext cx="1705554"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44952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Reason strings</a:t>
            </a:r>
          </a:p>
        </p:txBody>
      </p:sp>
      <p:sp>
        <p:nvSpPr>
          <p:cNvPr id="49" name="Rectangle 48"/>
          <p:cNvSpPr/>
          <p:nvPr/>
        </p:nvSpPr>
        <p:spPr>
          <a:xfrm>
            <a:off x="2482794" y="4825471"/>
            <a:ext cx="2480806"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610810" y="4907767"/>
            <a:ext cx="22247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state.waiting.reason</a:t>
            </a:r>
          </a:p>
        </p:txBody>
      </p:sp>
      <p:sp>
        <p:nvSpPr>
          <p:cNvPr id="51" name="Rectangle 50"/>
          <p:cNvSpPr/>
          <p:nvPr/>
        </p:nvSpPr>
        <p:spPr>
          <a:xfrm>
            <a:off x="4963601" y="4825471"/>
            <a:ext cx="3101008"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091617" y="4907767"/>
            <a:ext cx="2844976"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ImagePullBackOff, CrashLoopBackOff, CreateContainerConfigError</a:t>
            </a:r>
          </a:p>
        </p:txBody>
      </p:sp>
      <p:sp>
        <p:nvSpPr>
          <p:cNvPr id="53" name="Rectangle 52"/>
          <p:cNvSpPr/>
          <p:nvPr/>
        </p:nvSpPr>
        <p:spPr>
          <a:xfrm>
            <a:off x="8064610" y="4825471"/>
            <a:ext cx="3411109"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192626" y="4907767"/>
            <a:ext cx="315507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actual diagnosis. STATUS in kubectl get is a rendering of this</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STATUS in `kubectl get pods` is a convenience rendering. Diagnose from containerStatuses, not from the column.</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82</a:t>
            </a:r>
          </a:p>
        </p:txBody>
      </p:sp>
    </p:spTree>
  </p:cSld>
  <p:clrMapOvr>
    <a:masterClrMapping/>
  </p:clrMapOvr>
  <p:transition xmlns:ns1="http://schemas.openxmlformats.org/markup-compatibility/2006" spd="fast" ns1:Ignorable="p14">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LIFECYCLE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Five Pod Phases, Precisely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Phase is a five-valued summary of a much richer state. Know the five, then stop relying on them.</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Pending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Accepted by the cluster but not all containers are running. Covers 'not scheduled yet' and 'still pulling images'.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Running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Bound to a node, all containers created, and at least one is running or starting or restarting. Not the same as Ready.</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Succeeded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All containers terminated with success and will not be restarted. Only reachable with restartPolicy Never or OnFailure.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Failed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All containers terminated and at least one failed — non-zero exit or killed by the system.</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Unknown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control plane cannot reach the node that owns the Pod. Almost always a node or network problem, not an application one.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phase is not enough</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crash-looping container keeps the Pod in Running. Ready and the container state carry the truth.</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83</a:t>
            </a:r>
          </a:p>
        </p:txBody>
      </p:sp>
    </p:spTree>
  </p:cSld>
  <p:clrMapOvr>
    <a:masterClrMapping/>
  </p:clrMapOvr>
  <p:transition xmlns:ns1="http://schemas.openxmlformats.org/markup-compatibility/2006" spd="fast" ns1:Ignorable="p14">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From Bound Pod to Ready Endpoint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Each stage emits an event, which is why kubectl describe reads like a transcript of this diagram.</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Sandbox</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kubelet calls RunPodSandbox. The pause container starts and the CNI plugin attaches an interface and assigns the Pod IP.</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Images</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ImageService pulls anything missing, honouring imagePullPolicy. Pull failures surface here, before any process.</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Init</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Init containers run to completion in order. A failure restarts the sequence per restartPolicy; nothing else starts.</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Start</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App containers are created and started, postStart hooks fire, startup probes gate the liveness probe.</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Ready</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Readiness probes pass, the Ready condition flips true, and the EndpointSlice controller adds the Pod as a Service backend.</a:t>
            </a:r>
          </a:p>
        </p:txBody>
      </p:sp>
      <p:sp>
        <p:nvSpPr>
          <p:cNvPr id="36" name="Rectangle 35"/>
          <p:cNvSpPr/>
          <p:nvPr/>
        </p:nvSpPr>
        <p:spPr>
          <a:xfrm>
            <a:off x="777240" y="482132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Readiness — not Running — is what puts a Pod into service. Day 3 and Day 5 both hang off that last stage.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kubernetes.io/blog/2025/04/24/endpoints-deprecation/ — v1 Endpoints deprecated in v1.33; prefer discovery.k8s.io/v1.</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84</a:t>
            </a:r>
          </a:p>
        </p:txBody>
      </p:sp>
    </p:spTree>
  </p:cSld>
  <p:clrMapOvr>
    <a:masterClrMapping/>
  </p:clrMapOvr>
  <p:transition xmlns:ns5="http://schemas.openxmlformats.org/markup-compatibility/2006" spd="fast" ns5:Ignorable="p14">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LIFECYCLE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spec.restartPolicy — Three Values, One Pod-Wide Decision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It applies to the whole Pod, not per container — the one exception being an init container marked restartPolicy: Always, which is a native sidecar.</a:t>
            </a:r>
          </a:p>
        </p:txBody>
      </p:sp>
      <p:sp>
        <p:nvSpPr>
          <p:cNvPr id="7" name="Rectangle 6"/>
          <p:cNvSpPr/>
          <p:nvPr/>
        </p:nvSpPr>
        <p:spPr>
          <a:xfrm>
            <a:off x="777240"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Always</a:t>
            </a:r>
          </a:p>
        </p:txBody>
      </p:sp>
      <p:sp>
        <p:nvSpPr>
          <p:cNvPr id="10" name="TextBox 9"/>
          <p:cNvSpPr txBox="1"/>
          <p:nvPr/>
        </p:nvSpPr>
        <p:spPr>
          <a:xfrm>
            <a:off x="1033271"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default, and the only value a Deployment's Pod template may use.</a:t>
            </a:r>
          </a:p>
          <a:p>
            <a:pPr>
              <a:lnSpc>
                <a:spcPct val="112000"/>
              </a:lnSpc>
              <a:spcAft>
                <a:spcPts val="500"/>
              </a:spcAft>
            </a:pPr>
            <a:r>
              <a:rPr sz="1100">
                <a:solidFill>
                  <a:srgbClr val="94A3B8"/>
                </a:solidFill>
                <a:latin typeface="Arial"/>
              </a:rPr>
              <a:t>•  </a:t>
            </a:r>
            <a:r>
              <a:rPr sz="1100">
                <a:solidFill>
                  <a:srgbClr val="5B6372"/>
                </a:solidFill>
                <a:latin typeface="Arial"/>
              </a:rPr>
              <a:t>Every container is restarted when it exits, whatever the exit code.</a:t>
            </a:r>
          </a:p>
          <a:p>
            <a:pPr>
              <a:lnSpc>
                <a:spcPct val="112000"/>
              </a:lnSpc>
              <a:spcAft>
                <a:spcPts val="500"/>
              </a:spcAft>
            </a:pPr>
            <a:r>
              <a:rPr sz="1100">
                <a:solidFill>
                  <a:srgbClr val="94A3B8"/>
                </a:solidFill>
                <a:latin typeface="Arial"/>
              </a:rPr>
              <a:t>•  </a:t>
            </a:r>
            <a:r>
              <a:rPr sz="1100">
                <a:solidFill>
                  <a:srgbClr val="5B6372"/>
                </a:solidFill>
                <a:latin typeface="Arial"/>
              </a:rPr>
              <a:t>The Pod can never reach Succeeded — long-running services live here.</a:t>
            </a:r>
          </a:p>
        </p:txBody>
      </p:sp>
      <p:sp>
        <p:nvSpPr>
          <p:cNvPr id="11" name="Rounded Rectangle 10"/>
          <p:cNvSpPr/>
          <p:nvPr/>
        </p:nvSpPr>
        <p:spPr>
          <a:xfrm>
            <a:off x="1033271" y="5532119"/>
            <a:ext cx="66294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default</a:t>
            </a:r>
          </a:p>
        </p:txBody>
      </p:sp>
      <p:sp>
        <p:nvSpPr>
          <p:cNvPr id="12" name="Rounded Rectangle 11"/>
          <p:cNvSpPr/>
          <p:nvPr/>
        </p:nvSpPr>
        <p:spPr>
          <a:xfrm>
            <a:off x="1787652" y="5532119"/>
            <a:ext cx="7315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services</a:t>
            </a:r>
          </a:p>
        </p:txBody>
      </p:sp>
      <p:sp>
        <p:nvSpPr>
          <p:cNvPr id="13" name="Rectangle 12"/>
          <p:cNvSpPr/>
          <p:nvPr/>
        </p:nvSpPr>
        <p:spPr>
          <a:xfrm>
            <a:off x="4483303"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8885"/>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OnFailure</a:t>
            </a:r>
          </a:p>
        </p:txBody>
      </p:sp>
      <p:sp>
        <p:nvSpPr>
          <p:cNvPr id="16" name="TextBox 15"/>
          <p:cNvSpPr txBox="1"/>
          <p:nvPr/>
        </p:nvSpPr>
        <p:spPr>
          <a:xfrm>
            <a:off x="4739335"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Restart only on a non-zero exit.</a:t>
            </a:r>
          </a:p>
          <a:p>
            <a:pPr>
              <a:lnSpc>
                <a:spcPct val="112000"/>
              </a:lnSpc>
              <a:spcAft>
                <a:spcPts val="500"/>
              </a:spcAft>
            </a:pPr>
            <a:r>
              <a:rPr sz="1100">
                <a:solidFill>
                  <a:srgbClr val="94A3B8"/>
                </a:solidFill>
                <a:latin typeface="Arial"/>
              </a:rPr>
              <a:t>•  </a:t>
            </a:r>
            <a:r>
              <a:rPr sz="1100">
                <a:solidFill>
                  <a:srgbClr val="5B6372"/>
                </a:solidFill>
                <a:latin typeface="Arial"/>
              </a:rPr>
              <a:t>A clean exit lets the Pod reach Succeeded and stop.</a:t>
            </a:r>
          </a:p>
          <a:p>
            <a:pPr>
              <a:lnSpc>
                <a:spcPct val="112000"/>
              </a:lnSpc>
              <a:spcAft>
                <a:spcPts val="500"/>
              </a:spcAft>
            </a:pPr>
            <a:r>
              <a:rPr sz="1100">
                <a:solidFill>
                  <a:srgbClr val="94A3B8"/>
                </a:solidFill>
                <a:latin typeface="Arial"/>
              </a:rPr>
              <a:t>•  </a:t>
            </a:r>
            <a:r>
              <a:rPr sz="1100">
                <a:solidFill>
                  <a:srgbClr val="5B6372"/>
                </a:solidFill>
                <a:latin typeface="Arial"/>
              </a:rPr>
              <a:t>The natural choice for retryable batch work — Jobs use it (Day 2).</a:t>
            </a:r>
          </a:p>
        </p:txBody>
      </p:sp>
      <p:sp>
        <p:nvSpPr>
          <p:cNvPr id="17" name="Rounded Rectangle 16"/>
          <p:cNvSpPr/>
          <p:nvPr/>
        </p:nvSpPr>
        <p:spPr>
          <a:xfrm>
            <a:off x="4739335" y="5532119"/>
            <a:ext cx="38862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Job</a:t>
            </a:r>
          </a:p>
        </p:txBody>
      </p:sp>
      <p:sp>
        <p:nvSpPr>
          <p:cNvPr id="18" name="Rounded Rectangle 17"/>
          <p:cNvSpPr/>
          <p:nvPr/>
        </p:nvSpPr>
        <p:spPr>
          <a:xfrm>
            <a:off x="5219395" y="5532119"/>
            <a:ext cx="5257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retry</a:t>
            </a:r>
          </a:p>
        </p:txBody>
      </p:sp>
      <p:sp>
        <p:nvSpPr>
          <p:cNvPr id="19" name="Rectangle 18"/>
          <p:cNvSpPr/>
          <p:nvPr/>
        </p:nvSpPr>
        <p:spPr>
          <a:xfrm>
            <a:off x="8189366"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8885"/>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Never</a:t>
            </a:r>
          </a:p>
        </p:txBody>
      </p:sp>
      <p:sp>
        <p:nvSpPr>
          <p:cNvPr id="22" name="TextBox 21"/>
          <p:cNvSpPr txBox="1"/>
          <p:nvPr/>
        </p:nvSpPr>
        <p:spPr>
          <a:xfrm>
            <a:off x="8445398"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No restarts at all. The Pod reaches Succeeded or Failed on the first exit.</a:t>
            </a:r>
          </a:p>
          <a:p>
            <a:pPr>
              <a:lnSpc>
                <a:spcPct val="112000"/>
              </a:lnSpc>
              <a:spcAft>
                <a:spcPts val="500"/>
              </a:spcAft>
            </a:pPr>
            <a:r>
              <a:rPr sz="1100">
                <a:solidFill>
                  <a:srgbClr val="94A3B8"/>
                </a:solidFill>
                <a:latin typeface="Arial"/>
              </a:rPr>
              <a:t>•  </a:t>
            </a:r>
            <a:r>
              <a:rPr sz="1100">
                <a:solidFill>
                  <a:srgbClr val="5B6372"/>
                </a:solidFill>
                <a:latin typeface="Arial"/>
              </a:rPr>
              <a:t>Used for one-shot diagnostics and for Jobs that must not re-run automatically.</a:t>
            </a:r>
          </a:p>
          <a:p>
            <a:pPr>
              <a:lnSpc>
                <a:spcPct val="112000"/>
              </a:lnSpc>
              <a:spcAft>
                <a:spcPts val="500"/>
              </a:spcAft>
            </a:pPr>
            <a:r>
              <a:rPr sz="1100">
                <a:solidFill>
                  <a:srgbClr val="94A3B8"/>
                </a:solidFill>
                <a:latin typeface="Arial"/>
              </a:rPr>
              <a:t>•  </a:t>
            </a:r>
            <a:r>
              <a:rPr sz="1100">
                <a:solidFill>
                  <a:srgbClr val="5B6372"/>
                </a:solidFill>
                <a:latin typeface="Arial"/>
              </a:rPr>
              <a:t>It is what makes the Lab 03 override Pods show Completed.</a:t>
            </a:r>
          </a:p>
        </p:txBody>
      </p:sp>
      <p:sp>
        <p:nvSpPr>
          <p:cNvPr id="23" name="Rounded Rectangle 22"/>
          <p:cNvSpPr/>
          <p:nvPr/>
        </p:nvSpPr>
        <p:spPr>
          <a:xfrm>
            <a:off x="8445398" y="5532119"/>
            <a:ext cx="7315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one-shot</a:t>
            </a:r>
          </a:p>
        </p:txBody>
      </p:sp>
      <p:sp>
        <p:nvSpPr>
          <p:cNvPr id="24" name="Rounded Rectangle 23"/>
          <p:cNvSpPr/>
          <p:nvPr/>
        </p:nvSpPr>
        <p:spPr>
          <a:xfrm>
            <a:off x="9268358" y="5532119"/>
            <a:ext cx="8001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Completed</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Kubernetes documentation — Sidecar Containers: kubernetes.io/docs/concepts/workloads/pods/sidecar-containers/.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85</a:t>
            </a:r>
          </a:p>
        </p:txBody>
      </p:sp>
    </p:spTree>
  </p:cSld>
  <p:clrMapOvr>
    <a:masterClrMapping/>
  </p:clrMapOvr>
  <p:transition xmlns:ns1="http://schemas.openxmlformats.org/markup-compatibility/2006" spd="fast" ns1:Ignorable="p14">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Generating a Manifest From the CLI, Then Finishing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fastest legitimate way to start a manifest, and it is explicitly in the registered outline for Topic 1.</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the registered topic 'generating Pod manifests via CLI'</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7EE787"/>
                </a:solidFill>
                <a:latin typeface="Consolas"/>
              </a:rPr>
              <a:t>$ kubectl run depot-web --image=nginx:1.27-alpine \</a:t>
            </a:r>
          </a:p>
          <a:p>
            <a:pPr>
              <a:lnSpc>
                <a:spcPts val="1413"/>
              </a:lnSpc>
              <a:spcAft>
                <a:spcPts val="0"/>
              </a:spcAft>
            </a:pPr>
            <a:r>
              <a:rPr sz="1050">
                <a:solidFill>
                  <a:srgbClr val="E6EDF3"/>
                </a:solidFill>
                <a:latin typeface="Consolas"/>
              </a:rPr>
              <a:t>    --port=80 --dry-run=client -o yaml</a:t>
            </a:r>
          </a:p>
          <a:p>
            <a:pPr>
              <a:lnSpc>
                <a:spcPts val="1413"/>
              </a:lnSpc>
              <a:spcAft>
                <a:spcPts val="0"/>
              </a:spcAft>
            </a:pPr>
            <a:r>
              <a:rPr sz="1050">
                <a:solidFill>
                  <a:srgbClr val="E6EDF3"/>
                </a:solidFill>
                <a:latin typeface="Consolas"/>
              </a:rPr>
              <a:t> </a:t>
            </a:r>
          </a:p>
          <a:p>
            <a:pPr>
              <a:lnSpc>
                <a:spcPts val="1413"/>
              </a:lnSpc>
              <a:spcAft>
                <a:spcPts val="0"/>
              </a:spcAft>
            </a:pPr>
            <a:r>
              <a:rPr sz="1050">
                <a:solidFill>
                  <a:srgbClr val="E6EDF3"/>
                </a:solidFill>
                <a:latin typeface="Consolas"/>
              </a:rPr>
              <a:t>apiVersion: v1</a:t>
            </a:r>
          </a:p>
          <a:p>
            <a:pPr>
              <a:lnSpc>
                <a:spcPts val="1413"/>
              </a:lnSpc>
              <a:spcAft>
                <a:spcPts val="0"/>
              </a:spcAft>
            </a:pPr>
            <a:r>
              <a:rPr sz="1050">
                <a:solidFill>
                  <a:srgbClr val="E6EDF3"/>
                </a:solidFill>
                <a:latin typeface="Consolas"/>
              </a:rPr>
              <a:t>kind: Pod</a:t>
            </a:r>
          </a:p>
          <a:p>
            <a:pPr>
              <a:lnSpc>
                <a:spcPts val="1413"/>
              </a:lnSpc>
              <a:spcAft>
                <a:spcPts val="0"/>
              </a:spcAft>
            </a:pPr>
            <a:r>
              <a:rPr sz="1050">
                <a:solidFill>
                  <a:srgbClr val="E6EDF3"/>
                </a:solidFill>
                <a:latin typeface="Consolas"/>
              </a:rPr>
              <a:t>metadata:</a:t>
            </a:r>
          </a:p>
          <a:p>
            <a:pPr>
              <a:lnSpc>
                <a:spcPts val="1413"/>
              </a:lnSpc>
              <a:spcAft>
                <a:spcPts val="0"/>
              </a:spcAft>
            </a:pPr>
            <a:r>
              <a:rPr sz="1050">
                <a:solidFill>
                  <a:srgbClr val="E6EDF3"/>
                </a:solidFill>
                <a:latin typeface="Consolas"/>
              </a:rPr>
              <a:t>  creationTimestamp: null</a:t>
            </a:r>
          </a:p>
          <a:p>
            <a:pPr>
              <a:lnSpc>
                <a:spcPts val="1413"/>
              </a:lnSpc>
              <a:spcAft>
                <a:spcPts val="0"/>
              </a:spcAft>
            </a:pPr>
            <a:r>
              <a:rPr sz="1050">
                <a:solidFill>
                  <a:srgbClr val="E6EDF3"/>
                </a:solidFill>
                <a:latin typeface="Consolas"/>
              </a:rPr>
              <a:t>  labels:</a:t>
            </a:r>
          </a:p>
          <a:p>
            <a:pPr>
              <a:lnSpc>
                <a:spcPts val="1413"/>
              </a:lnSpc>
              <a:spcAft>
                <a:spcPts val="0"/>
              </a:spcAft>
            </a:pPr>
            <a:r>
              <a:rPr sz="1050">
                <a:solidFill>
                  <a:srgbClr val="E6EDF3"/>
                </a:solidFill>
                <a:latin typeface="Consolas"/>
              </a:rPr>
              <a:t>    run: depot-web        # generator label, not a real one</a:t>
            </a:r>
          </a:p>
          <a:p>
            <a:pPr>
              <a:lnSpc>
                <a:spcPts val="1413"/>
              </a:lnSpc>
              <a:spcAft>
                <a:spcPts val="0"/>
              </a:spcAft>
            </a:pPr>
            <a:r>
              <a:rPr sz="1050">
                <a:solidFill>
                  <a:srgbClr val="E6EDF3"/>
                </a:solidFill>
                <a:latin typeface="Consolas"/>
              </a:rPr>
              <a:t>  name: depot-web         # and no namespace at all</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containers:</a:t>
            </a:r>
          </a:p>
          <a:p>
            <a:pPr>
              <a:lnSpc>
                <a:spcPts val="1413"/>
              </a:lnSpc>
              <a:spcAft>
                <a:spcPts val="0"/>
              </a:spcAft>
            </a:pPr>
            <a:r>
              <a:rPr sz="1050">
                <a:solidFill>
                  <a:srgbClr val="E6EDF3"/>
                </a:solidFill>
                <a:latin typeface="Consolas"/>
              </a:rPr>
              <a:t>  - image: nginx:1.27-alpine</a:t>
            </a:r>
          </a:p>
          <a:p>
            <a:pPr>
              <a:lnSpc>
                <a:spcPts val="1413"/>
              </a:lnSpc>
              <a:spcAft>
                <a:spcPts val="0"/>
              </a:spcAft>
            </a:pPr>
            <a:r>
              <a:rPr sz="1050">
                <a:solidFill>
                  <a:srgbClr val="E6EDF3"/>
                </a:solidFill>
                <a:latin typeface="Consolas"/>
              </a:rPr>
              <a:t>    name: depot-web</a:t>
            </a:r>
          </a:p>
          <a:p>
            <a:pPr>
              <a:lnSpc>
                <a:spcPts val="1413"/>
              </a:lnSpc>
              <a:spcAft>
                <a:spcPts val="0"/>
              </a:spcAft>
            </a:pPr>
            <a:r>
              <a:rPr sz="1050">
                <a:solidFill>
                  <a:srgbClr val="E6EDF3"/>
                </a:solidFill>
                <a:latin typeface="Consolas"/>
              </a:rPr>
              <a:t>    ports:</a:t>
            </a:r>
          </a:p>
          <a:p>
            <a:pPr>
              <a:lnSpc>
                <a:spcPts val="1413"/>
              </a:lnSpc>
              <a:spcAft>
                <a:spcPts val="0"/>
              </a:spcAft>
            </a:pPr>
            <a:r>
              <a:rPr sz="1050">
                <a:solidFill>
                  <a:srgbClr val="E6EDF3"/>
                </a:solidFill>
                <a:latin typeface="Consolas"/>
              </a:rPr>
              <a:t>    - containerPort: 80</a:t>
            </a:r>
          </a:p>
          <a:p>
            <a:pPr>
              <a:lnSpc>
                <a:spcPts val="1413"/>
              </a:lnSpc>
              <a:spcAft>
                <a:spcPts val="0"/>
              </a:spcAft>
            </a:pPr>
            <a:r>
              <a:rPr sz="1050">
                <a:solidFill>
                  <a:srgbClr val="E6EDF3"/>
                </a:solidFill>
                <a:latin typeface="Consolas"/>
              </a:rPr>
              <a:t>    resources: {}         # no requests, no limits</a:t>
            </a:r>
          </a:p>
          <a:p>
            <a:pPr>
              <a:lnSpc>
                <a:spcPts val="1413"/>
              </a:lnSpc>
              <a:spcAft>
                <a:spcPts val="0"/>
              </a:spcAft>
            </a:pPr>
            <a:r>
              <a:rPr sz="1050">
                <a:solidFill>
                  <a:srgbClr val="E6EDF3"/>
                </a:solidFill>
                <a:latin typeface="Consolas"/>
              </a:rPr>
              <a:t>status: {}</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--dry-run=client contacts nothing</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generator renders the object locally. Nothing is created and no credentials are needed.</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Three defects to fix by hand</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Empty resources, a meaningless run: label, and no namespace. This is a skeleton, not a deliverable.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Delete creationTimestamp and status</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Both are server-owned. Leaving them is harmless but signals a manifest nobody read.</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workflow the exam rewards</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Generate, redirect to a file, edit, then apply. Typing YAML from memory under time pressure is the slow path.</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86</a:t>
            </a:r>
          </a:p>
        </p:txBody>
      </p:sp>
    </p:spTree>
  </p:cSld>
  <p:clrMapOvr>
    <a:masterClrMapping/>
  </p:clrMapOvr>
  <p:transition xmlns:ns1="http://schemas.openxmlformats.org/markup-compatibility/2006" spd="fast" ns1:Ignorable="p14">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Dry Runs, Three Different Guarantees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02 shows a Pod that passes client validation and is rejected server-side, and one that passes both and still fails on the node.</a:t>
            </a:r>
          </a:p>
        </p:txBody>
      </p:sp>
      <p:sp>
        <p:nvSpPr>
          <p:cNvPr id="7" name="Rectangle 6"/>
          <p:cNvSpPr/>
          <p:nvPr/>
        </p:nvSpPr>
        <p:spPr>
          <a:xfrm>
            <a:off x="777240" y="2208885"/>
            <a:ext cx="195887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170284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Mode</a:t>
            </a:r>
          </a:p>
        </p:txBody>
      </p:sp>
      <p:sp>
        <p:nvSpPr>
          <p:cNvPr id="9" name="Rectangle 8"/>
          <p:cNvSpPr/>
          <p:nvPr/>
        </p:nvSpPr>
        <p:spPr>
          <a:xfrm>
            <a:off x="2736116" y="2208885"/>
            <a:ext cx="2862973"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864132" y="2309469"/>
            <a:ext cx="26069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Where it runs</a:t>
            </a:r>
          </a:p>
        </p:txBody>
      </p:sp>
      <p:sp>
        <p:nvSpPr>
          <p:cNvPr id="11" name="Rectangle 10"/>
          <p:cNvSpPr/>
          <p:nvPr/>
        </p:nvSpPr>
        <p:spPr>
          <a:xfrm>
            <a:off x="5599090" y="2208885"/>
            <a:ext cx="2862973"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727106" y="2309469"/>
            <a:ext cx="26069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catches</a:t>
            </a:r>
          </a:p>
        </p:txBody>
      </p:sp>
      <p:sp>
        <p:nvSpPr>
          <p:cNvPr id="13" name="Rectangle 12"/>
          <p:cNvSpPr/>
          <p:nvPr/>
        </p:nvSpPr>
        <p:spPr>
          <a:xfrm>
            <a:off x="8462063" y="2208885"/>
            <a:ext cx="3013656"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590079" y="2309469"/>
            <a:ext cx="27576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misses</a:t>
            </a:r>
          </a:p>
        </p:txBody>
      </p:sp>
      <p:sp>
        <p:nvSpPr>
          <p:cNvPr id="15" name="Rectangle 14"/>
          <p:cNvSpPr/>
          <p:nvPr/>
        </p:nvSpPr>
        <p:spPr>
          <a:xfrm>
            <a:off x="777240" y="2629509"/>
            <a:ext cx="1958876"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170284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--dry-run=client</a:t>
            </a:r>
          </a:p>
        </p:txBody>
      </p:sp>
      <p:sp>
        <p:nvSpPr>
          <p:cNvPr id="17" name="Rectangle 16"/>
          <p:cNvSpPr/>
          <p:nvPr/>
        </p:nvSpPr>
        <p:spPr>
          <a:xfrm>
            <a:off x="2736116" y="2629509"/>
            <a:ext cx="2862973"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864132" y="2711805"/>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Entirely in kubectl</a:t>
            </a:r>
          </a:p>
        </p:txBody>
      </p:sp>
      <p:sp>
        <p:nvSpPr>
          <p:cNvPr id="19" name="Rectangle 18"/>
          <p:cNvSpPr/>
          <p:nvPr/>
        </p:nvSpPr>
        <p:spPr>
          <a:xfrm>
            <a:off x="5599090" y="2629509"/>
            <a:ext cx="2862973"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727106" y="2711805"/>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YAML syntax and basic schema shape</a:t>
            </a:r>
          </a:p>
        </p:txBody>
      </p:sp>
      <p:sp>
        <p:nvSpPr>
          <p:cNvPr id="21" name="Rectangle 20"/>
          <p:cNvSpPr/>
          <p:nvPr/>
        </p:nvSpPr>
        <p:spPr>
          <a:xfrm>
            <a:off x="8462063" y="2629509"/>
            <a:ext cx="3013656"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590079" y="2711805"/>
            <a:ext cx="27576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Defaulting, admission webhooks, quota, Pod Security Admission</a:t>
            </a:r>
          </a:p>
        </p:txBody>
      </p:sp>
      <p:sp>
        <p:nvSpPr>
          <p:cNvPr id="23" name="Rectangle 22"/>
          <p:cNvSpPr/>
          <p:nvPr/>
        </p:nvSpPr>
        <p:spPr>
          <a:xfrm>
            <a:off x="777240" y="3196437"/>
            <a:ext cx="1958876"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78733"/>
            <a:ext cx="170284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--dry-run=server</a:t>
            </a:r>
          </a:p>
        </p:txBody>
      </p:sp>
      <p:sp>
        <p:nvSpPr>
          <p:cNvPr id="25" name="Rectangle 24"/>
          <p:cNvSpPr/>
          <p:nvPr/>
        </p:nvSpPr>
        <p:spPr>
          <a:xfrm>
            <a:off x="2736116" y="3196437"/>
            <a:ext cx="2862973"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864132" y="3278733"/>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Full admission chain on the API server, nothing persisted</a:t>
            </a:r>
          </a:p>
        </p:txBody>
      </p:sp>
      <p:sp>
        <p:nvSpPr>
          <p:cNvPr id="27" name="Rectangle 26"/>
          <p:cNvSpPr/>
          <p:nvPr/>
        </p:nvSpPr>
        <p:spPr>
          <a:xfrm>
            <a:off x="5599090" y="3196437"/>
            <a:ext cx="2862973"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727106" y="3278733"/>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Validation, defaulting, mutating and validating webhooks, quota</a:t>
            </a:r>
          </a:p>
        </p:txBody>
      </p:sp>
      <p:sp>
        <p:nvSpPr>
          <p:cNvPr id="29" name="Rectangle 28"/>
          <p:cNvSpPr/>
          <p:nvPr/>
        </p:nvSpPr>
        <p:spPr>
          <a:xfrm>
            <a:off x="8462063" y="3196437"/>
            <a:ext cx="3013656"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590079" y="3278733"/>
            <a:ext cx="27576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Anything that only fails on a node — image pulls, scheduling, crashes</a:t>
            </a:r>
          </a:p>
        </p:txBody>
      </p:sp>
      <p:sp>
        <p:nvSpPr>
          <p:cNvPr id="31" name="Rectangle 30"/>
          <p:cNvSpPr/>
          <p:nvPr/>
        </p:nvSpPr>
        <p:spPr>
          <a:xfrm>
            <a:off x="777240" y="3763365"/>
            <a:ext cx="1958876"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45661"/>
            <a:ext cx="170284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kubectl diff -f</a:t>
            </a:r>
          </a:p>
        </p:txBody>
      </p:sp>
      <p:sp>
        <p:nvSpPr>
          <p:cNvPr id="33" name="Rectangle 32"/>
          <p:cNvSpPr/>
          <p:nvPr/>
        </p:nvSpPr>
        <p:spPr>
          <a:xfrm>
            <a:off x="2736116" y="3763365"/>
            <a:ext cx="2862973"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864132" y="3845661"/>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Server-side, against the stored object</a:t>
            </a:r>
          </a:p>
        </p:txBody>
      </p:sp>
      <p:sp>
        <p:nvSpPr>
          <p:cNvPr id="35" name="Rectangle 34"/>
          <p:cNvSpPr/>
          <p:nvPr/>
        </p:nvSpPr>
        <p:spPr>
          <a:xfrm>
            <a:off x="5599090" y="3763365"/>
            <a:ext cx="2862973"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727106" y="3845661"/>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Exactly what would change if you applied</a:t>
            </a:r>
          </a:p>
        </p:txBody>
      </p:sp>
      <p:sp>
        <p:nvSpPr>
          <p:cNvPr id="37" name="Rectangle 36"/>
          <p:cNvSpPr/>
          <p:nvPr/>
        </p:nvSpPr>
        <p:spPr>
          <a:xfrm>
            <a:off x="8462063" y="3763365"/>
            <a:ext cx="3013656"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590079" y="3845661"/>
            <a:ext cx="27576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Same node-level failures; also needs read access to the object</a:t>
            </a:r>
          </a:p>
        </p:txBody>
      </p:sp>
      <p:sp>
        <p:nvSpPr>
          <p:cNvPr id="39" name="Rectangle 38"/>
          <p:cNvSpPr/>
          <p:nvPr/>
        </p:nvSpPr>
        <p:spPr>
          <a:xfrm>
            <a:off x="777240" y="4330293"/>
            <a:ext cx="1958876"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12589"/>
            <a:ext cx="170284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kubectl apply</a:t>
            </a:r>
          </a:p>
        </p:txBody>
      </p:sp>
      <p:sp>
        <p:nvSpPr>
          <p:cNvPr id="41" name="Rectangle 40"/>
          <p:cNvSpPr/>
          <p:nvPr/>
        </p:nvSpPr>
        <p:spPr>
          <a:xfrm>
            <a:off x="2736116" y="4330293"/>
            <a:ext cx="2862973"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864132" y="4412589"/>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For real</a:t>
            </a:r>
          </a:p>
        </p:txBody>
      </p:sp>
      <p:sp>
        <p:nvSpPr>
          <p:cNvPr id="43" name="Rectangle 42"/>
          <p:cNvSpPr/>
          <p:nvPr/>
        </p:nvSpPr>
        <p:spPr>
          <a:xfrm>
            <a:off x="5599090" y="4330293"/>
            <a:ext cx="2862973"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727106" y="4412589"/>
            <a:ext cx="26069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Everything the server checks</a:t>
            </a:r>
          </a:p>
        </p:txBody>
      </p:sp>
      <p:sp>
        <p:nvSpPr>
          <p:cNvPr id="45" name="Rectangle 44"/>
          <p:cNvSpPr/>
          <p:nvPr/>
        </p:nvSpPr>
        <p:spPr>
          <a:xfrm>
            <a:off x="8462063" y="4330293"/>
            <a:ext cx="3013656"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590079" y="4412589"/>
            <a:ext cx="27576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but now you own the consequences</a:t>
            </a:r>
          </a:p>
        </p:txBody>
      </p:sp>
      <p:sp>
        <p:nvSpPr>
          <p:cNvPr id="47" name="Rectangle 46"/>
          <p:cNvSpPr/>
          <p:nvPr/>
        </p:nvSpPr>
        <p:spPr>
          <a:xfrm>
            <a:off x="777240" y="5080101"/>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80101"/>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3496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3613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Put --dry-run=server in CI. It is the strongest check available without creating anything.</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 Kubernetes documentation — Kubernetes API concepts: kubernetes.io/docs/reference/using-api/api-concepts/.</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87</a:t>
            </a:r>
          </a:p>
        </p:txBody>
      </p:sp>
    </p:spTree>
  </p:cSld>
  <p:clrMapOvr>
    <a:masterClrMapping/>
  </p:clrMapOvr>
  <p:transition xmlns:ns1="http://schemas.openxmlformats.org/markup-compatibility/2006" spd="fast" ns1:Ignorable="p14">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Validation Rejects the Object — Read the Field Path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Admission-time errors are the cheapest class of failure. Learn to recognise them by the 'is invalid:' prefix.</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one-character edit to containerPort makes the API server refuse the Pod outright.</a:t>
            </a:r>
          </a:p>
        </p:txBody>
      </p:sp>
      <p:sp>
        <p:nvSpPr>
          <p:cNvPr id="11" name="Rectangle 10"/>
          <p:cNvSpPr/>
          <p:nvPr/>
        </p:nvSpPr>
        <p:spPr>
          <a:xfrm>
            <a:off x="777240" y="2913278"/>
            <a:ext cx="6172200" cy="2253996"/>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687068"/>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sed 's/containerPort: 80$/containerPort: 80000/' \</a:t>
            </a:r>
          </a:p>
          <a:p>
            <a:pPr>
              <a:lnSpc>
                <a:spcPts val="1476"/>
              </a:lnSpc>
              <a:spcAft>
                <a:spcPts val="0"/>
              </a:spcAft>
            </a:pPr>
            <a:r>
              <a:rPr sz="950">
                <a:solidFill>
                  <a:srgbClr val="E6EDF3"/>
                </a:solidFill>
                <a:latin typeface="Consolas"/>
              </a:rPr>
              <a:t>    /tmp/my-depot-web.yaml | kubectl apply -f - --dry-run=server</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The Pod "depot-web" is invalid:</a:t>
            </a:r>
          </a:p>
          <a:p>
            <a:pPr>
              <a:lnSpc>
                <a:spcPts val="1476"/>
              </a:lnSpc>
              <a:spcAft>
                <a:spcPts val="0"/>
              </a:spcAft>
            </a:pPr>
            <a:r>
              <a:rPr sz="950">
                <a:solidFill>
                  <a:srgbClr val="E6EDF3"/>
                </a:solidFill>
                <a:latin typeface="Consolas"/>
              </a:rPr>
              <a:t>  spec.containers[0].ports[0].containerPort:</a:t>
            </a:r>
          </a:p>
          <a:p>
            <a:pPr>
              <a:lnSpc>
                <a:spcPts val="1476"/>
              </a:lnSpc>
              <a:spcAft>
                <a:spcPts val="0"/>
              </a:spcAft>
            </a:pPr>
            <a:r>
              <a:rPr sz="950">
                <a:solidFill>
                  <a:srgbClr val="E6EDF3"/>
                </a:solidFill>
                <a:latin typeface="Consolas"/>
              </a:rPr>
              <a:t>    Invalid value: 80000: must be between 1 and 65535, inclusive</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kcna-lab02 get pod depot-web-typo</a:t>
            </a:r>
          </a:p>
          <a:p>
            <a:pPr>
              <a:lnSpc>
                <a:spcPts val="1476"/>
              </a:lnSpc>
              <a:spcAft>
                <a:spcPts val="0"/>
              </a:spcAft>
            </a:pPr>
            <a:r>
              <a:rPr sz="950">
                <a:solidFill>
                  <a:srgbClr val="E6EDF3"/>
                </a:solidFill>
                <a:latin typeface="Consolas"/>
              </a:rPr>
              <a:t>Error from server (NotFound): pods "depot-web-typo" not found</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value is outside the range published in the OpenAPI schema. Validation runs before persistence, so no object was created and no node was ever involved.</a:t>
            </a:r>
          </a:p>
        </p:txBody>
      </p:sp>
      <p:sp>
        <p:nvSpPr>
          <p:cNvPr id="18" name="Rectangle 17"/>
          <p:cNvSpPr/>
          <p:nvPr/>
        </p:nvSpPr>
        <p:spPr>
          <a:xfrm>
            <a:off x="7205472" y="3927157"/>
            <a:ext cx="4270247" cy="1242324"/>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83998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field path — it is exact: containers[0].ports[0]</a:t>
            </a:r>
          </a:p>
          <a:p>
            <a:pPr>
              <a:lnSpc>
                <a:spcPct val="112000"/>
              </a:lnSpc>
              <a:spcAft>
                <a:spcPts val="200"/>
              </a:spcAft>
            </a:pPr>
            <a:r>
              <a:rPr sz="950">
                <a:solidFill>
                  <a:srgbClr val="94A3B8"/>
                </a:solidFill>
                <a:latin typeface="Arial"/>
              </a:rPr>
              <a:t>•  </a:t>
            </a:r>
            <a:r>
              <a:rPr sz="950">
                <a:solidFill>
                  <a:srgbClr val="5B6372"/>
                </a:solidFill>
                <a:latin typeface="Arial"/>
              </a:rPr>
              <a:t>Confirm the legal range with kubectl explain on that field</a:t>
            </a:r>
          </a:p>
          <a:p>
            <a:pPr>
              <a:lnSpc>
                <a:spcPct val="112000"/>
              </a:lnSpc>
              <a:spcAft>
                <a:spcPts val="200"/>
              </a:spcAft>
            </a:pPr>
            <a:r>
              <a:rPr sz="950">
                <a:solidFill>
                  <a:srgbClr val="94A3B8"/>
                </a:solidFill>
                <a:latin typeface="Arial"/>
              </a:rPr>
              <a:t>•  </a:t>
            </a:r>
            <a:r>
              <a:rPr sz="950">
                <a:solidFill>
                  <a:srgbClr val="5B6372"/>
                </a:solidFill>
                <a:latin typeface="Arial"/>
              </a:rPr>
              <a:t>Nothing to clean up; admission failures leave no state</a:t>
            </a:r>
          </a:p>
          <a:p>
            <a:pPr>
              <a:lnSpc>
                <a:spcPct val="112000"/>
              </a:lnSpc>
              <a:spcAft>
                <a:spcPts val="200"/>
              </a:spcAft>
            </a:pPr>
            <a:r>
              <a:rPr sz="950">
                <a:solidFill>
                  <a:srgbClr val="94A3B8"/>
                </a:solidFill>
                <a:latin typeface="Arial"/>
              </a:rPr>
              <a:t>•  </a:t>
            </a:r>
            <a:r>
              <a:rPr sz="950">
                <a:solidFill>
                  <a:srgbClr val="5B6372"/>
                </a:solidFill>
                <a:latin typeface="Arial"/>
              </a:rPr>
              <a:t>Run --dry-run=server in CI so this never reaches a cluster</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apply --dry-run=server returns 'created (server dry run)'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88</a:t>
            </a:r>
          </a:p>
        </p:txBody>
      </p:sp>
    </p:spTree>
  </p:cSld>
  <p:clrMapOvr>
    <a:masterClrMapping/>
  </p:clrMapOvr>
  <p:transition xmlns:ns1="http://schemas.openxmlformats.org/markup-compatibility/2006" spd="fast" ns1:Ignorable="p14">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Exposing Ports for a Pod — Every Field in the Block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here is metadata plus one genuine node-level reservation. Know which is which.</a:t>
            </a:r>
          </a:p>
        </p:txBody>
      </p:sp>
      <p:sp>
        <p:nvSpPr>
          <p:cNvPr id="7" name="Rectangle 6"/>
          <p:cNvSpPr/>
          <p:nvPr/>
        </p:nvSpPr>
        <p:spPr>
          <a:xfrm>
            <a:off x="777240" y="2200046"/>
            <a:ext cx="635508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spec.containers[].ports — the registered topic 'exposing ports for Pods'</a:t>
            </a:r>
          </a:p>
        </p:txBody>
      </p:sp>
      <p:sp>
        <p:nvSpPr>
          <p:cNvPr id="9" name="TextBox 8"/>
          <p:cNvSpPr txBox="1"/>
          <p:nvPr/>
        </p:nvSpPr>
        <p:spPr>
          <a:xfrm>
            <a:off x="923544" y="2620670"/>
            <a:ext cx="6062472" cy="2436876"/>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ports:</a:t>
            </a:r>
          </a:p>
          <a:p>
            <a:pPr>
              <a:lnSpc>
                <a:spcPts val="1476"/>
              </a:lnSpc>
              <a:spcAft>
                <a:spcPts val="0"/>
              </a:spcAft>
            </a:pPr>
            <a:r>
              <a:rPr sz="1050">
                <a:solidFill>
                  <a:srgbClr val="E6EDF3"/>
                </a:solidFill>
                <a:latin typeface="Consolas"/>
              </a:rPr>
              <a:t>  - name: http           # DNS_LABEL, unique in the Pod</a:t>
            </a:r>
          </a:p>
          <a:p>
            <a:pPr>
              <a:lnSpc>
                <a:spcPts val="1476"/>
              </a:lnSpc>
              <a:spcAft>
                <a:spcPts val="0"/>
              </a:spcAft>
            </a:pPr>
            <a:r>
              <a:rPr sz="1050">
                <a:solidFill>
                  <a:srgbClr val="E6EDF3"/>
                </a:solidFill>
                <a:latin typeface="Consolas"/>
              </a:rPr>
              <a:t>    containerPort: 80    # required, 1-65535</a:t>
            </a:r>
          </a:p>
          <a:p>
            <a:pPr>
              <a:lnSpc>
                <a:spcPts val="1476"/>
              </a:lnSpc>
              <a:spcAft>
                <a:spcPts val="0"/>
              </a:spcAft>
            </a:pPr>
            <a:r>
              <a:rPr sz="1050">
                <a:solidFill>
                  <a:srgbClr val="E6EDF3"/>
                </a:solidFill>
                <a:latin typeface="Consolas"/>
              </a:rPr>
              <a:t>    protocol: TCP        # TCP | UDP | SCTP, defaults to TCP</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  - name: metrics</a:t>
            </a:r>
          </a:p>
          <a:p>
            <a:pPr>
              <a:lnSpc>
                <a:spcPts val="1476"/>
              </a:lnSpc>
              <a:spcAft>
                <a:spcPts val="0"/>
              </a:spcAft>
            </a:pPr>
            <a:r>
              <a:rPr sz="1050">
                <a:solidFill>
                  <a:srgbClr val="E6EDF3"/>
                </a:solidFill>
                <a:latin typeface="Consolas"/>
              </a:rPr>
              <a:t>    containerPort: 9090</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fields you should almost never use:</a:t>
            </a:r>
          </a:p>
          <a:p>
            <a:pPr>
              <a:lnSpc>
                <a:spcPts val="1476"/>
              </a:lnSpc>
              <a:spcAft>
                <a:spcPts val="0"/>
              </a:spcAft>
            </a:pPr>
            <a:r>
              <a:rPr sz="1050">
                <a:solidFill>
                  <a:srgbClr val="E6EDF3"/>
                </a:solidFill>
                <a:latin typeface="Consolas"/>
              </a:rPr>
              <a:t>  - name: legacy</a:t>
            </a:r>
          </a:p>
          <a:p>
            <a:pPr>
              <a:lnSpc>
                <a:spcPts val="1476"/>
              </a:lnSpc>
              <a:spcAft>
                <a:spcPts val="0"/>
              </a:spcAft>
            </a:pPr>
            <a:r>
              <a:rPr sz="1050">
                <a:solidFill>
                  <a:srgbClr val="E6EDF3"/>
                </a:solidFill>
                <a:latin typeface="Consolas"/>
              </a:rPr>
              <a:t>    containerPort: 8080</a:t>
            </a:r>
          </a:p>
          <a:p>
            <a:pPr>
              <a:lnSpc>
                <a:spcPts val="1476"/>
              </a:lnSpc>
              <a:spcAft>
                <a:spcPts val="0"/>
              </a:spcAft>
            </a:pPr>
            <a:r>
              <a:rPr sz="1050">
                <a:solidFill>
                  <a:srgbClr val="E6EDF3"/>
                </a:solidFill>
                <a:latin typeface="Consolas"/>
              </a:rPr>
              <a:t>    hostPort: 8080       # binds a port on the NODE itself</a:t>
            </a:r>
          </a:p>
          <a:p>
            <a:pPr>
              <a:lnSpc>
                <a:spcPts val="1476"/>
              </a:lnSpc>
              <a:spcAft>
                <a:spcPts val="0"/>
              </a:spcAft>
            </a:pPr>
            <a:r>
              <a:rPr sz="1050">
                <a:solidFill>
                  <a:srgbClr val="E6EDF3"/>
                </a:solidFill>
                <a:latin typeface="Consolas"/>
              </a:rPr>
              <a:t>    hostIP: 0.0.0.0      # which node address to bind</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name is the useful part</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Services (targetPort: http) and probes (port: http) can reference it, so renumbering the container does not break them.</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protocol defaults to TCP</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Write it anyway when you mean UDP or SCTP — a silent default is a review comment waiting to happen.</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hostPort punches through the Pod network</a:t>
            </a:r>
          </a:p>
        </p:txBody>
      </p:sp>
      <p:sp>
        <p:nvSpPr>
          <p:cNvPr id="20" name="TextBox 19"/>
          <p:cNvSpPr txBox="1"/>
          <p:nvPr/>
        </p:nvSpPr>
        <p:spPr>
          <a:xfrm>
            <a:off x="7973567" y="446958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reserves that port on every node the Pod can land on, which caps replicas at one per node. Use a Service instead.</a:t>
            </a:r>
          </a:p>
        </p:txBody>
      </p:sp>
      <p:sp>
        <p:nvSpPr>
          <p:cNvPr id="21" name="Oval 20"/>
          <p:cNvSpPr/>
          <p:nvPr/>
        </p:nvSpPr>
        <p:spPr>
          <a:xfrm>
            <a:off x="7626096" y="5136596"/>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11830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containers, one port space</a:t>
            </a:r>
          </a:p>
        </p:txBody>
      </p:sp>
      <p:sp>
        <p:nvSpPr>
          <p:cNvPr id="23" name="TextBox 22"/>
          <p:cNvSpPr txBox="1"/>
          <p:nvPr/>
        </p:nvSpPr>
        <p:spPr>
          <a:xfrm>
            <a:off x="7973567" y="533509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Because the Pod shares one network namespace, two containers cannot both bind 8080. Lab 04 demonstrates this.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Captured in courseware/labs/lab-02-first-pod-manifest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89</a:t>
            </a:r>
          </a:p>
        </p:txBody>
      </p:sp>
    </p:spTree>
  </p:cSld>
  <p:clrMapOvr>
    <a:masterClrMapping/>
  </p:clrMapOvr>
  <p:transition xmlns:ns1="http://schemas.openxmlformats.org/markup-compatibility/2006" spd="fast" ns1:Ignorable="p14">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CORRECTION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What containerPort Does — and What It Absolutely Does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single most misunderstood field in the Pod spec, and the API reference is unusually blunt about it.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does NOT open a port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process opens the port. nginx listens on 80 because of its own configuration, not because your YAML said so.</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does NOT close a port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documentation says so explicitly: any port listening on 0.0.0.0 in the container is reachable on the Pod IP regardless.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does NOT publish to the node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Only hostPort does that, and Services are the supported way to expose a workload (Day 3).</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DOES give the port a name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Which is the only reason to write it: probes and Service targetPort can then use a symbol instead of a number.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DOES feed tooling</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describe, dashboards, service meshes and some scrape auto-discovery read the declared ports.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Proved in Lab 02</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wget from a second Pod reaches the Pod IP on an undeclared port. Declaring nothing changes nothing.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Captured in courseware/labs/lab-02-first-pod-manifest on the training cluster, Kubernetes v1.37.0.</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90</a:t>
            </a:r>
          </a:p>
        </p:txBody>
      </p:sp>
    </p:spTree>
  </p:cSld>
  <p:clrMapOvr>
    <a:masterClrMapping/>
  </p:clrMapOvr>
  <p:transition xmlns:ns1="http://schemas.openxmlformats.org/markup-compatibility/2006" spd="fast" ns1:Ignorable="p14">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Every 'Port' You Will Meet This Week, Disambiguated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Eight fields, one word. Naming which one you mean removes most networking confusion before it starts.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containerPort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spec. Declares and names a port the container is expected to listen on</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hostPort</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spec. Actually reserves that port on the node — avoid unless you are writing a DaemonSet</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Service port</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port the Service itself listens on, at the cluster IP (Day 3)</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Service targetPort</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Where traffic is sent inside the Pod — a number, or the containerPort name</a:t>
            </a:r>
          </a:p>
        </p:txBody>
      </p:sp>
      <p:sp>
        <p:nvSpPr>
          <p:cNvPr id="23" name="Rectangle 22"/>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6263639" y="220004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nodePort</a:t>
            </a:r>
          </a:p>
        </p:txBody>
      </p:sp>
      <p:sp>
        <p:nvSpPr>
          <p:cNvPr id="26" name="TextBox 25"/>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30000-32767 by default; opened on every node for a type: NodePort Service (Day 3)</a:t>
            </a:r>
          </a:p>
        </p:txBody>
      </p:sp>
      <p:sp>
        <p:nvSpPr>
          <p:cNvPr id="27" name="Rectangle 26"/>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6263639" y="274868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probe port</a:t>
            </a:r>
          </a:p>
        </p:txBody>
      </p:sp>
      <p:sp>
        <p:nvSpPr>
          <p:cNvPr id="30" name="TextBox 29"/>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httpGet.port / tcpSocket.port; accepts the same port name (Day 5)</a:t>
            </a:r>
          </a:p>
        </p:txBody>
      </p:sp>
      <p:sp>
        <p:nvSpPr>
          <p:cNvPr id="31" name="Rectangle 30"/>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329732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port-forward local:remote</a:t>
            </a:r>
          </a:p>
        </p:txBody>
      </p:sp>
      <p:sp>
        <p:nvSpPr>
          <p:cNvPr id="34" name="TextBox 33"/>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debugging tunnel through the API server; single user, dies with your terminal</a:t>
            </a:r>
          </a:p>
        </p:txBody>
      </p:sp>
      <p:sp>
        <p:nvSpPr>
          <p:cNvPr id="35" name="Rectangle 34"/>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384596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EndpointSlice port</a:t>
            </a:r>
          </a:p>
        </p:txBody>
      </p:sp>
      <p:sp>
        <p:nvSpPr>
          <p:cNvPr id="38" name="TextBox 37"/>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What the endpoint actually resolved to, per backend — the field to check when routing misses</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Kubernetes documentation — Service: kubernetes.io/docs/concepts/services-networking/service/.</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91</a:t>
            </a:r>
          </a:p>
        </p:txBody>
      </p:sp>
    </p:spTree>
  </p:cSld>
  <p:clrMapOvr>
    <a:masterClrMapping/>
  </p:clrMapOvr>
  <p:transition xmlns:ns1="http://schemas.openxmlformats.org/markup-compatibility/2006" spd="fast" ns1:Ignorable="p14">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JUDGEMENT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Should Anything Ever Be a Bare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Today you write Pods directly so that nothing is hidden. From Day 2 onward you will almost never do it again.</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this workload need to survive node loss, scale, or be replaced with a new version?</a:t>
            </a:r>
          </a:p>
        </p:txBody>
      </p:sp>
      <p:sp>
        <p:nvSpPr>
          <p:cNvPr id="8" name="Rounded Rectangle 7"/>
          <p:cNvSpPr/>
          <p:nvPr/>
        </p:nvSpPr>
        <p:spPr>
          <a:xfrm>
            <a:off x="777240" y="4098950"/>
            <a:ext cx="5199278" cy="1881225"/>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098950"/>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44670"/>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a bare Pod is honest</a:t>
            </a:r>
          </a:p>
        </p:txBody>
      </p:sp>
      <p:sp>
        <p:nvSpPr>
          <p:cNvPr id="11" name="TextBox 10"/>
          <p:cNvSpPr txBox="1"/>
          <p:nvPr/>
        </p:nvSpPr>
        <p:spPr>
          <a:xfrm>
            <a:off x="1014983" y="4574438"/>
            <a:ext cx="4723790" cy="1296009"/>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Learning and lab exercises, exactly as in today's five labs</a:t>
            </a:r>
          </a:p>
          <a:p>
            <a:pPr>
              <a:lnSpc>
                <a:spcPct val="112000"/>
              </a:lnSpc>
              <a:spcAft>
                <a:spcPts val="500"/>
              </a:spcAft>
            </a:pPr>
            <a:r>
              <a:rPr sz="1100">
                <a:solidFill>
                  <a:srgbClr val="94A3B8"/>
                </a:solidFill>
                <a:latin typeface="Arial"/>
              </a:rPr>
              <a:t>•  </a:t>
            </a:r>
            <a:r>
              <a:rPr sz="1100">
                <a:solidFill>
                  <a:srgbClr val="5B6372"/>
                </a:solidFill>
                <a:latin typeface="Arial"/>
              </a:rPr>
              <a:t>Short-lived debugging shells created with --rm</a:t>
            </a:r>
          </a:p>
          <a:p>
            <a:pPr>
              <a:lnSpc>
                <a:spcPct val="112000"/>
              </a:lnSpc>
              <a:spcAft>
                <a:spcPts val="500"/>
              </a:spcAft>
            </a:pPr>
            <a:r>
              <a:rPr sz="1100">
                <a:solidFill>
                  <a:srgbClr val="94A3B8"/>
                </a:solidFill>
                <a:latin typeface="Arial"/>
              </a:rPr>
              <a:t>•  </a:t>
            </a:r>
            <a:r>
              <a:rPr sz="1100">
                <a:solidFill>
                  <a:srgbClr val="5B6372"/>
                </a:solidFill>
                <a:latin typeface="Arial"/>
              </a:rPr>
              <a:t>One-shot diagnostics you will delete in minutes</a:t>
            </a:r>
          </a:p>
          <a:p>
            <a:pPr>
              <a:lnSpc>
                <a:spcPct val="112000"/>
              </a:lnSpc>
              <a:spcAft>
                <a:spcPts val="500"/>
              </a:spcAft>
            </a:pPr>
            <a:r>
              <a:rPr sz="1100">
                <a:solidFill>
                  <a:srgbClr val="94A3B8"/>
                </a:solidFill>
                <a:latin typeface="Arial"/>
              </a:rPr>
              <a:t>•  </a:t>
            </a:r>
            <a:r>
              <a:rPr sz="1100">
                <a:solidFill>
                  <a:srgbClr val="5B6372"/>
                </a:solidFill>
                <a:latin typeface="Arial"/>
              </a:rPr>
              <a:t>Anything where you genuinely want it gone when the node goes</a:t>
            </a:r>
          </a:p>
        </p:txBody>
      </p:sp>
      <p:cxnSp>
        <p:nvCxnSpPr>
          <p:cNvPr id="12" name="Connector 11"/>
          <p:cNvCxnSpPr/>
          <p:nvPr/>
        </p:nvCxnSpPr>
        <p:spPr>
          <a:xfrm flipH="1">
            <a:off x="3376879" y="3288182"/>
            <a:ext cx="1766621" cy="774192"/>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14902"/>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098950"/>
            <a:ext cx="5199278" cy="1881225"/>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098950"/>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44670"/>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put a controller in front</a:t>
            </a:r>
          </a:p>
        </p:txBody>
      </p:sp>
      <p:sp>
        <p:nvSpPr>
          <p:cNvPr id="17" name="TextBox 16"/>
          <p:cNvSpPr txBox="1"/>
          <p:nvPr/>
        </p:nvSpPr>
        <p:spPr>
          <a:xfrm>
            <a:off x="6514185" y="4574438"/>
            <a:ext cx="4723790" cy="1296009"/>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bare Pod is never rescheduled: lose the node, lose the Pod</a:t>
            </a:r>
          </a:p>
          <a:p>
            <a:pPr>
              <a:lnSpc>
                <a:spcPct val="112000"/>
              </a:lnSpc>
              <a:spcAft>
                <a:spcPts val="500"/>
              </a:spcAft>
            </a:pPr>
            <a:r>
              <a:rPr sz="1100">
                <a:solidFill>
                  <a:srgbClr val="94A3B8"/>
                </a:solidFill>
                <a:latin typeface="Arial"/>
              </a:rPr>
              <a:t>•  </a:t>
            </a:r>
            <a:r>
              <a:rPr sz="1100">
                <a:solidFill>
                  <a:srgbClr val="5B6372"/>
                </a:solidFill>
                <a:latin typeface="Arial"/>
              </a:rPr>
              <a:t>Its spec is almost entirely immutable, so 'update' means delete and recreate by hand</a:t>
            </a:r>
          </a:p>
          <a:p>
            <a:pPr>
              <a:lnSpc>
                <a:spcPct val="112000"/>
              </a:lnSpc>
              <a:spcAft>
                <a:spcPts val="500"/>
              </a:spcAft>
            </a:pPr>
            <a:r>
              <a:rPr sz="1100">
                <a:solidFill>
                  <a:srgbClr val="94A3B8"/>
                </a:solidFill>
                <a:latin typeface="Arial"/>
              </a:rPr>
              <a:t>•  </a:t>
            </a:r>
            <a:r>
              <a:rPr sz="1100">
                <a:solidFill>
                  <a:srgbClr val="5B6372"/>
                </a:solidFill>
                <a:latin typeface="Arial"/>
              </a:rPr>
              <a:t>Nothing counts replicas, so there is no scaling and no self-healing</a:t>
            </a:r>
          </a:p>
          <a:p>
            <a:pPr>
              <a:lnSpc>
                <a:spcPct val="112000"/>
              </a:lnSpc>
              <a:spcAft>
                <a:spcPts val="500"/>
              </a:spcAft>
            </a:pPr>
            <a:r>
              <a:rPr sz="1100">
                <a:solidFill>
                  <a:srgbClr val="94A3B8"/>
                </a:solidFill>
                <a:latin typeface="Arial"/>
              </a:rPr>
              <a:t>•  </a:t>
            </a:r>
            <a:r>
              <a:rPr sz="1100">
                <a:solidFill>
                  <a:srgbClr val="5B6372"/>
                </a:solidFill>
                <a:latin typeface="Arial"/>
              </a:rPr>
              <a:t>Deployment, StatefulSet, DaemonSet, Job or CronJob — Day 2</a:t>
            </a:r>
          </a:p>
        </p:txBody>
      </p:sp>
      <p:cxnSp>
        <p:nvCxnSpPr>
          <p:cNvPr id="18" name="Connector 17"/>
          <p:cNvCxnSpPr/>
          <p:nvPr/>
        </p:nvCxnSpPr>
        <p:spPr>
          <a:xfrm>
            <a:off x="7018019" y="3288182"/>
            <a:ext cx="1858061" cy="774192"/>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14902"/>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92</a:t>
            </a:r>
          </a:p>
        </p:txBody>
      </p:sp>
    </p:spTree>
  </p:cSld>
  <p:clrMapOvr>
    <a:masterClrMapping/>
  </p:clrMapOvr>
  <p:transition xmlns:ns3="http://schemas.openxmlformats.org/markup-compatibility/2006" spd="fast" ns3:Ignorable="p14">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02 — Authoring Your First Pod Manifest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Hand-author a valid Pod manifest field by field — using kubectl explain and --dry-run=client as the authoring tools — then run it, serve real content from a ConfigMap, and diagnose an ImagePullBackOff caused by a single mistyped tag.</a:t>
            </a:r>
          </a:p>
        </p:txBody>
      </p:sp>
      <p:sp>
        <p:nvSpPr>
          <p:cNvPr id="10" name="Rectangle 9"/>
          <p:cNvSpPr/>
          <p:nvPr/>
        </p:nvSpPr>
        <p:spPr>
          <a:xfrm>
            <a:off x="777240"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depot-web Pod in kcna-lab02 serving data/depot-status.html and data/depots.csv from the ConfigMap depot-content</a:t>
            </a:r>
          </a:p>
          <a:p>
            <a:pPr>
              <a:lnSpc>
                <a:spcPct val="112000"/>
              </a:lnSpc>
              <a:spcAft>
                <a:spcPts val="500"/>
              </a:spcAft>
            </a:pPr>
            <a:r>
              <a:rPr sz="1050">
                <a:solidFill>
                  <a:srgbClr val="94A3B8"/>
                </a:solidFill>
                <a:latin typeface="Arial"/>
              </a:rPr>
              <a:t>•  </a:t>
            </a:r>
            <a:r>
              <a:rPr sz="1050">
                <a:solidFill>
                  <a:srgbClr val="5B6372"/>
                </a:solidFill>
                <a:latin typeface="Arial"/>
              </a:rPr>
              <a:t>A learner-authored manifest in /tmp that round-trips cleanly against manifests/20-depot-web-pod.yaml</a:t>
            </a:r>
          </a:p>
          <a:p>
            <a:pPr>
              <a:lnSpc>
                <a:spcPct val="112000"/>
              </a:lnSpc>
              <a:spcAft>
                <a:spcPts val="500"/>
              </a:spcAft>
            </a:pPr>
            <a:r>
              <a:rPr sz="1050">
                <a:solidFill>
                  <a:srgbClr val="94A3B8"/>
                </a:solidFill>
                <a:latin typeface="Arial"/>
              </a:rPr>
              <a:t>•  </a:t>
            </a:r>
            <a:r>
              <a:rPr sz="1050">
                <a:solidFill>
                  <a:srgbClr val="5B6372"/>
                </a:solidFill>
                <a:latin typeface="Arial"/>
              </a:rPr>
              <a:t>A documented ImagePullBackOff diagnosis with the exact kubelet Failed event text</a:t>
            </a:r>
          </a:p>
        </p:txBody>
      </p:sp>
      <p:sp>
        <p:nvSpPr>
          <p:cNvPr id="14" name="Rectangle 13"/>
          <p:cNvSpPr/>
          <p:nvPr/>
        </p:nvSpPr>
        <p:spPr>
          <a:xfrm>
            <a:off x="6276441"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The five top-level fields every object has: apiVersion, kind, metadata, spec, status</a:t>
            </a:r>
          </a:p>
          <a:p>
            <a:pPr>
              <a:lnSpc>
                <a:spcPct val="112000"/>
              </a:lnSpc>
              <a:spcAft>
                <a:spcPts val="500"/>
              </a:spcAft>
            </a:pPr>
            <a:r>
              <a:rPr sz="1050">
                <a:solidFill>
                  <a:srgbClr val="94A3B8"/>
                </a:solidFill>
                <a:latin typeface="Arial"/>
              </a:rPr>
              <a:t>•  </a:t>
            </a:r>
            <a:r>
              <a:rPr sz="1050">
                <a:solidFill>
                  <a:srgbClr val="5B6372"/>
                </a:solidFill>
                <a:latin typeface="Arial"/>
              </a:rPr>
              <a:t>kubectl explain and --dry-run=client -o yaml as manifest authoring aids, not toys</a:t>
            </a:r>
          </a:p>
          <a:p>
            <a:pPr>
              <a:lnSpc>
                <a:spcPct val="112000"/>
              </a:lnSpc>
              <a:spcAft>
                <a:spcPts val="500"/>
              </a:spcAft>
            </a:pPr>
            <a:r>
              <a:rPr sz="1050">
                <a:solidFill>
                  <a:srgbClr val="94A3B8"/>
                </a:solidFill>
                <a:latin typeface="Arial"/>
              </a:rPr>
              <a:t>•  </a:t>
            </a:r>
            <a:r>
              <a:rPr sz="1050">
                <a:solidFill>
                  <a:srgbClr val="5B6372"/>
                </a:solidFill>
                <a:latin typeface="Arial"/>
              </a:rPr>
              <a:t>containerPort is documentation, not a firewall or a publish rule</a:t>
            </a:r>
          </a:p>
          <a:p>
            <a:pPr>
              <a:lnSpc>
                <a:spcPct val="112000"/>
              </a:lnSpc>
              <a:spcAft>
                <a:spcPts val="500"/>
              </a:spcAft>
            </a:pPr>
            <a:r>
              <a:rPr sz="1050">
                <a:solidFill>
                  <a:srgbClr val="94A3B8"/>
                </a:solidFill>
                <a:latin typeface="Arial"/>
              </a:rPr>
              <a:t>•  </a:t>
            </a:r>
            <a:r>
              <a:rPr sz="1050">
                <a:solidFill>
                  <a:srgbClr val="5B6372"/>
                </a:solidFill>
                <a:latin typeface="Arial"/>
              </a:rPr>
              <a:t>Waiting-state reasons: ImagePullBackOff, ErrImagePull and the backoff loop behind them</a:t>
            </a:r>
          </a:p>
        </p:txBody>
      </p:sp>
      <p:sp>
        <p:nvSpPr>
          <p:cNvPr id="18" name="Rectangle 17"/>
          <p:cNvSpPr/>
          <p:nvPr/>
        </p:nvSpPr>
        <p:spPr>
          <a:xfrm>
            <a:off x="777240"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6053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2454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02</a:t>
            </a:r>
          </a:p>
        </p:txBody>
      </p:sp>
      <p:sp>
        <p:nvSpPr>
          <p:cNvPr id="22" name="Rectangle 21"/>
          <p:cNvSpPr/>
          <p:nvPr/>
        </p:nvSpPr>
        <p:spPr>
          <a:xfrm>
            <a:off x="3488436"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6053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2454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kcna-lab02</a:t>
            </a:r>
          </a:p>
        </p:txBody>
      </p:sp>
      <p:sp>
        <p:nvSpPr>
          <p:cNvPr id="26" name="Rectangle 25"/>
          <p:cNvSpPr/>
          <p:nvPr/>
        </p:nvSpPr>
        <p:spPr>
          <a:xfrm>
            <a:off x="6199631"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6053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2454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LO1 · A1 · K1</a:t>
            </a:r>
          </a:p>
        </p:txBody>
      </p:sp>
      <p:sp>
        <p:nvSpPr>
          <p:cNvPr id="30" name="Rectangle 29"/>
          <p:cNvSpPr/>
          <p:nvPr/>
        </p:nvSpPr>
        <p:spPr>
          <a:xfrm>
            <a:off x="8910828"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6053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2454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60061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courseware/labs/lab-02-first-pod-manifest/README.md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93</a:t>
            </a:r>
          </a:p>
        </p:txBody>
      </p:sp>
    </p:spTree>
  </p:cSld>
  <p:clrMapOvr>
    <a:masterClrMapping/>
  </p:clrMapOvr>
  <p:transition xmlns:ns1="http://schemas.openxmlformats.org/markup-compatibility/2006" spd="fast" ns1:Ignorable="p14">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ImagePullBackOff: One Missing Character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ErrImagePull is one failed attempt; ImagePullBackOff is the kubelet pausing between retries. Same cause, two stages.</a:t>
            </a:r>
          </a:p>
        </p:txBody>
      </p:sp>
      <p:sp>
        <p:nvSpPr>
          <p:cNvPr id="7" name="Rectangle 6"/>
          <p:cNvSpPr/>
          <p:nvPr/>
        </p:nvSpPr>
        <p:spPr>
          <a:xfrm>
            <a:off x="777240" y="2208885"/>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8885"/>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72893"/>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74061"/>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Pod is accepted and scheduled, then never starts. RESTARTS stays at 0 throughout.</a:t>
            </a:r>
          </a:p>
        </p:txBody>
      </p:sp>
      <p:sp>
        <p:nvSpPr>
          <p:cNvPr id="11" name="Rectangle 10"/>
          <p:cNvSpPr/>
          <p:nvPr/>
        </p:nvSpPr>
        <p:spPr>
          <a:xfrm>
            <a:off x="777240" y="2922117"/>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50133"/>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42741"/>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kcna-lab02 get pod depot-web-badtag</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depot-web-badtag   0/1    ImagePullBackOff   0         45s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kcna-lab02 describe pod depot-web-badtag | tail -6</a:t>
            </a:r>
          </a:p>
          <a:p>
            <a:pPr>
              <a:lnSpc>
                <a:spcPts val="1476"/>
              </a:lnSpc>
              <a:spcAft>
                <a:spcPts val="0"/>
              </a:spcAft>
            </a:pPr>
            <a:r>
              <a:rPr sz="950">
                <a:solidFill>
                  <a:srgbClr val="E6EDF3"/>
                </a:solidFill>
                <a:latin typeface="Consolas"/>
              </a:rPr>
              <a:t>  Normal   Scheduled  62s       default-scheduler  Successfully assigned</a:t>
            </a:r>
          </a:p>
          <a:p>
            <a:pPr>
              <a:lnSpc>
                <a:spcPts val="1476"/>
              </a:lnSpc>
              <a:spcAft>
                <a:spcPts val="0"/>
              </a:spcAft>
            </a:pPr>
            <a:r>
              <a:rPr sz="950">
                <a:solidFill>
                  <a:srgbClr val="E6EDF3"/>
                </a:solidFill>
                <a:latin typeface="Consolas"/>
              </a:rPr>
              <a:t>  Normal   Pulling    22s (x3)  kubelet  Pulling image "nginx:1.27-alpin"</a:t>
            </a:r>
          </a:p>
          <a:p>
            <a:pPr>
              <a:lnSpc>
                <a:spcPts val="1476"/>
              </a:lnSpc>
              <a:spcAft>
                <a:spcPts val="0"/>
              </a:spcAft>
            </a:pPr>
            <a:r>
              <a:rPr sz="950">
                <a:solidFill>
                  <a:srgbClr val="E6EDF3"/>
                </a:solidFill>
                <a:latin typeface="Consolas"/>
              </a:rPr>
              <a:t>  Warning  Failed     21s (x3)  kubelet  Failed to pull image:</a:t>
            </a:r>
          </a:p>
          <a:p>
            <a:pPr>
              <a:lnSpc>
                <a:spcPts val="1476"/>
              </a:lnSpc>
              <a:spcAft>
                <a:spcPts val="0"/>
              </a:spcAft>
            </a:pPr>
            <a:r>
              <a:rPr sz="950">
                <a:solidFill>
                  <a:srgbClr val="E6EDF3"/>
                </a:solidFill>
                <a:latin typeface="Consolas"/>
              </a:rPr>
              <a:t>     failed to resolve reference</a:t>
            </a:r>
          </a:p>
          <a:p>
            <a:pPr>
              <a:lnSpc>
                <a:spcPts val="1476"/>
              </a:lnSpc>
              <a:spcAft>
                <a:spcPts val="0"/>
              </a:spcAft>
            </a:pPr>
            <a:r>
              <a:rPr sz="950">
                <a:solidFill>
                  <a:srgbClr val="E6EDF3"/>
                </a:solidFill>
                <a:latin typeface="Consolas"/>
              </a:rPr>
              <a:t>     "docker.io/library/nginx:1.27-alpin": not found</a:t>
            </a:r>
          </a:p>
          <a:p>
            <a:pPr>
              <a:lnSpc>
                <a:spcPts val="1476"/>
              </a:lnSpc>
              <a:spcAft>
                <a:spcPts val="0"/>
              </a:spcAft>
            </a:pPr>
            <a:r>
              <a:rPr sz="950">
                <a:solidFill>
                  <a:srgbClr val="E6EDF3"/>
                </a:solidFill>
                <a:latin typeface="Consolas"/>
              </a:rPr>
              <a:t>  Warning  Failed     21s (x3)  kubelet  Error: ErrImagePull</a:t>
            </a:r>
          </a:p>
          <a:p>
            <a:pPr>
              <a:lnSpc>
                <a:spcPts val="1476"/>
              </a:lnSpc>
              <a:spcAft>
                <a:spcPts val="0"/>
              </a:spcAft>
            </a:pPr>
            <a:r>
              <a:rPr sz="950">
                <a:solidFill>
                  <a:srgbClr val="E6EDF3"/>
                </a:solidFill>
                <a:latin typeface="Consolas"/>
              </a:rPr>
              <a:t>  Warning  Failed      8s (x4)  kubelet  Error: ImagePullBackOff</a:t>
            </a:r>
          </a:p>
        </p:txBody>
      </p:sp>
      <p:sp>
        <p:nvSpPr>
          <p:cNvPr id="14" name="Rectangle 13"/>
          <p:cNvSpPr/>
          <p:nvPr/>
        </p:nvSpPr>
        <p:spPr>
          <a:xfrm>
            <a:off x="7205472" y="2922117"/>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22117"/>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5869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9589"/>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image tag is misspelled — the trailing 'e' of 'alpine' is missing. Schema validation cannot know which tags exist in a registry, so the object was accepted and only the kubelet failed.</a:t>
            </a:r>
          </a:p>
        </p:txBody>
      </p:sp>
      <p:sp>
        <p:nvSpPr>
          <p:cNvPr id="18" name="Rectangle 17"/>
          <p:cNvSpPr/>
          <p:nvPr/>
        </p:nvSpPr>
        <p:spPr>
          <a:xfrm>
            <a:off x="7205472" y="3935996"/>
            <a:ext cx="4270247" cy="1720677"/>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35996"/>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72572"/>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83468"/>
            <a:ext cx="3904487" cy="1318341"/>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kubectl logs is useless here — no container was ever created</a:t>
            </a:r>
          </a:p>
          <a:p>
            <a:pPr>
              <a:lnSpc>
                <a:spcPct val="112000"/>
              </a:lnSpc>
              <a:spcAft>
                <a:spcPts val="200"/>
              </a:spcAft>
            </a:pPr>
            <a:r>
              <a:rPr sz="950">
                <a:solidFill>
                  <a:srgbClr val="94A3B8"/>
                </a:solidFill>
                <a:latin typeface="Arial"/>
              </a:rPr>
              <a:t>•  </a:t>
            </a:r>
            <a:r>
              <a:rPr sz="950">
                <a:solidFill>
                  <a:srgbClr val="5B6372"/>
                </a:solidFill>
                <a:latin typeface="Arial"/>
              </a:rPr>
              <a:t>Read the Pulling event: the kubelet echoes the reference you asked for</a:t>
            </a:r>
          </a:p>
          <a:p>
            <a:pPr>
              <a:lnSpc>
                <a:spcPct val="112000"/>
              </a:lnSpc>
              <a:spcAft>
                <a:spcPts val="200"/>
              </a:spcAft>
            </a:pPr>
            <a:r>
              <a:rPr sz="950">
                <a:solidFill>
                  <a:srgbClr val="94A3B8"/>
                </a:solidFill>
                <a:latin typeface="Arial"/>
              </a:rPr>
              <a:t>•  </a:t>
            </a:r>
            <a:r>
              <a:rPr sz="950">
                <a:solidFill>
                  <a:srgbClr val="5B6372"/>
                </a:solidFill>
                <a:latin typeface="Arial"/>
              </a:rPr>
              <a:t>'not found' after the tag means the tag is wrong; 401 would mean credentials; x509 would mean TLS</a:t>
            </a:r>
          </a:p>
          <a:p>
            <a:pPr>
              <a:lnSpc>
                <a:spcPct val="112000"/>
              </a:lnSpc>
              <a:spcAft>
                <a:spcPts val="200"/>
              </a:spcAft>
            </a:pPr>
            <a:r>
              <a:rPr sz="950">
                <a:solidFill>
                  <a:srgbClr val="94A3B8"/>
                </a:solidFill>
                <a:latin typeface="Arial"/>
              </a:rPr>
              <a:t>•  </a:t>
            </a:r>
            <a:r>
              <a:rPr sz="950">
                <a:solidFill>
                  <a:srgbClr val="5B6372"/>
                </a:solidFill>
                <a:latin typeface="Arial"/>
              </a:rPr>
              <a:t>image is one of the few mutable Pod fields, so kubectl set image repairs it in place</a:t>
            </a:r>
          </a:p>
        </p:txBody>
      </p:sp>
      <p:sp>
        <p:nvSpPr>
          <p:cNvPr id="22" name="Rectangle 21"/>
          <p:cNvSpPr/>
          <p:nvPr/>
        </p:nvSpPr>
        <p:spPr>
          <a:xfrm>
            <a:off x="777240" y="5884773"/>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94501"/>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STATUS moves ImagePullBackOff → ContainerCreating → Running</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courseware/labs/lab-02-first-pod-manifest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94</a:t>
            </a:r>
          </a:p>
        </p:txBody>
      </p:sp>
    </p:spTree>
  </p:cSld>
  <p:clrMapOvr>
    <a:masterClrMapping/>
  </p:clrMapOvr>
  <p:transition xmlns:ns1="http://schemas.openxmlformats.org/markup-compatibility/2006" spd="fast" ns1:Ignorable="p14">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Pod Stuck Pending Is a Scheduling Verdict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Day 2 tunes requests and Day 5 troubleshoots this properly. Today, learn to read the message.</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Pod exists in etcd, has no NODE, and never leaves Pending.</a:t>
            </a:r>
          </a:p>
        </p:txBody>
      </p:sp>
      <p:sp>
        <p:nvSpPr>
          <p:cNvPr id="11" name="Rectangle 10"/>
          <p:cNvSpPr/>
          <p:nvPr/>
        </p:nvSpPr>
        <p:spPr>
          <a:xfrm>
            <a:off x="777240" y="2913278"/>
            <a:ext cx="6172200" cy="2441448"/>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874519"/>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kcna-lab25 get pod manifest-indexer-8b7d5c9f47-lm3zq</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manifest-indexer-8b7d5c9f47-lm3zq 0/1    Pending   0         4m</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kcna-lab25 describe pod manifest-indexer-... | tail -3</a:t>
            </a:r>
          </a:p>
          <a:p>
            <a:pPr>
              <a:lnSpc>
                <a:spcPts val="1476"/>
              </a:lnSpc>
              <a:spcAft>
                <a:spcPts val="0"/>
              </a:spcAft>
            </a:pPr>
            <a:r>
              <a:rPr sz="950">
                <a:solidFill>
                  <a:srgbClr val="E6EDF3"/>
                </a:solidFill>
                <a:latin typeface="Consolas"/>
              </a:rPr>
              <a:t>Events:</a:t>
            </a:r>
          </a:p>
          <a:p>
            <a:pPr>
              <a:lnSpc>
                <a:spcPts val="1476"/>
              </a:lnSpc>
              <a:spcAft>
                <a:spcPts val="0"/>
              </a:spcAft>
            </a:pPr>
            <a:r>
              <a:rPr sz="950">
                <a:solidFill>
                  <a:srgbClr val="E6EDF3"/>
                </a:solidFill>
                <a:latin typeface="Consolas"/>
              </a:rPr>
              <a:t>  Warning  FailedScheduling  4m5s (x2 over 4m20s)  default-scheduler</a:t>
            </a:r>
          </a:p>
          <a:p>
            <a:pPr>
              <a:lnSpc>
                <a:spcPts val="1476"/>
              </a:lnSpc>
              <a:spcAft>
                <a:spcPts val="0"/>
              </a:spcAft>
            </a:pPr>
            <a:r>
              <a:rPr sz="950">
                <a:solidFill>
                  <a:srgbClr val="E6EDF3"/>
                </a:solidFill>
                <a:latin typeface="Consolas"/>
              </a:rPr>
              <a:t>    0/1 nodes are available: 1 Insufficient cpu, 1 Insufficient memory.</a:t>
            </a:r>
          </a:p>
          <a:p>
            <a:pPr>
              <a:lnSpc>
                <a:spcPts val="1476"/>
              </a:lnSpc>
              <a:spcAft>
                <a:spcPts val="0"/>
              </a:spcAft>
            </a:pPr>
            <a:r>
              <a:rPr sz="950">
                <a:solidFill>
                  <a:srgbClr val="E6EDF3"/>
                </a:solidFill>
                <a:latin typeface="Consolas"/>
              </a:rPr>
              <a:t>    preemption: 0/1 nodes are available: 1 No preemption victims found for </a:t>
            </a:r>
          </a:p>
          <a:p>
            <a:pPr>
              <a:lnSpc>
                <a:spcPts val="1476"/>
              </a:lnSpc>
              <a:spcAft>
                <a:spcPts val="0"/>
              </a:spcAft>
            </a:pPr>
            <a:r>
              <a:rPr sz="950">
                <a:solidFill>
                  <a:srgbClr val="E6EDF3"/>
                </a:solidFill>
                <a:latin typeface="Consolas"/>
              </a:rPr>
              <a:t>incoming pod.</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Pod's resource requests exceed what any node still has allocatable. The scheduler ran, evaluated every node, and rejected all of them — this is a verdict, not a hang.</a:t>
            </a:r>
          </a:p>
        </p:txBody>
      </p:sp>
      <p:sp>
        <p:nvSpPr>
          <p:cNvPr id="18" name="Rectangle 17"/>
          <p:cNvSpPr/>
          <p:nvPr/>
        </p:nvSpPr>
        <p:spPr>
          <a:xfrm>
            <a:off x="7205472" y="3927157"/>
            <a:ext cx="4270247" cy="1720677"/>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1318341"/>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node tally first: 0/1 nodes are available</a:t>
            </a:r>
          </a:p>
          <a:p>
            <a:pPr>
              <a:lnSpc>
                <a:spcPct val="112000"/>
              </a:lnSpc>
              <a:spcAft>
                <a:spcPts val="200"/>
              </a:spcAft>
            </a:pPr>
            <a:r>
              <a:rPr sz="950">
                <a:solidFill>
                  <a:srgbClr val="94A3B8"/>
                </a:solidFill>
                <a:latin typeface="Arial"/>
              </a:rPr>
              <a:t>•  </a:t>
            </a:r>
            <a:r>
              <a:rPr sz="950">
                <a:solidFill>
                  <a:srgbClr val="5B6372"/>
                </a:solidFill>
                <a:latin typeface="Arial"/>
              </a:rPr>
              <a:t>Then the predicate: Insufficient cpu is capacity; 'didn't match node affinity' is placement</a:t>
            </a:r>
          </a:p>
          <a:p>
            <a:pPr>
              <a:lnSpc>
                <a:spcPct val="112000"/>
              </a:lnSpc>
              <a:spcAft>
                <a:spcPts val="200"/>
              </a:spcAft>
            </a:pPr>
            <a:r>
              <a:rPr sz="950">
                <a:solidFill>
                  <a:srgbClr val="94A3B8"/>
                </a:solidFill>
                <a:latin typeface="Arial"/>
              </a:rPr>
              <a:t>•  </a:t>
            </a:r>
            <a:r>
              <a:rPr sz="950">
                <a:solidFill>
                  <a:srgbClr val="5B6372"/>
                </a:solidFill>
                <a:latin typeface="Arial"/>
              </a:rPr>
              <a:t>'No preemption victims' means evicting lower-priority Pods would not help either</a:t>
            </a:r>
          </a:p>
          <a:p>
            <a:pPr>
              <a:lnSpc>
                <a:spcPct val="112000"/>
              </a:lnSpc>
              <a:spcAft>
                <a:spcPts val="200"/>
              </a:spcAft>
            </a:pPr>
            <a:r>
              <a:rPr sz="950">
                <a:solidFill>
                  <a:srgbClr val="94A3B8"/>
                </a:solidFill>
                <a:latin typeface="Arial"/>
              </a:rPr>
              <a:t>•  </a:t>
            </a:r>
            <a:r>
              <a:rPr sz="950">
                <a:solidFill>
                  <a:srgbClr val="5B6372"/>
                </a:solidFill>
                <a:latin typeface="Arial"/>
              </a:rPr>
              <a:t>A Pending Pod with NO FailedScheduling event at all means the scheduler itself is not running</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get pod -o wide shows a NODE and the phase leaves Pending</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courseware/labs/lab-25-troubleshooting-triage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95</a:t>
            </a:r>
          </a:p>
        </p:txBody>
      </p:sp>
    </p:spTree>
  </p:cSld>
  <p:clrMapOvr>
    <a:masterClrMapping/>
  </p:clrMapOvr>
  <p:transition xmlns:ns1="http://schemas.openxmlformats.org/markup-compatibility/2006" spd="fast" ns1:Ignorable="p14">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05</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5 · COMMANDS, ARGUMENTS &amp; CONFIGURATION</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Configuring a Container From Outside Its Image</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command and args against ENTRYPOINT and CMD; env, envFrom, configMapKeyRef and the downward API.</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96</a:t>
            </a:r>
          </a:p>
        </p:txBody>
      </p:sp>
    </p:spTree>
  </p:cSld>
  <p:clrMapOvr>
    <a:masterClrMapping/>
  </p:clrMapOvr>
  <p:transition xmlns:ns1="http://schemas.openxmlformats.org/markup-compatibility/2006" spd="med" ns1:Ignorable="p14">
    <p:push dir="l"/>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RULE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command and args Against the Image's ENTRYPOINT and CMD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and OCI use different names for the same two things. That mismatch is the whole difficulty.</a:t>
            </a:r>
          </a:p>
        </p:txBody>
      </p:sp>
      <p:sp>
        <p:nvSpPr>
          <p:cNvPr id="7" name="Rectangle 6"/>
          <p:cNvSpPr/>
          <p:nvPr/>
        </p:nvSpPr>
        <p:spPr>
          <a:xfrm>
            <a:off x="777240" y="2200046"/>
            <a:ext cx="3451122"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19509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you set in the Pod spec</a:t>
            </a:r>
          </a:p>
        </p:txBody>
      </p:sp>
      <p:sp>
        <p:nvSpPr>
          <p:cNvPr id="9" name="Rectangle 8"/>
          <p:cNvSpPr/>
          <p:nvPr/>
        </p:nvSpPr>
        <p:spPr>
          <a:xfrm>
            <a:off x="4228362" y="2200046"/>
            <a:ext cx="310601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356378" y="2300630"/>
            <a:ext cx="284997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the container runs</a:t>
            </a:r>
          </a:p>
        </p:txBody>
      </p:sp>
      <p:sp>
        <p:nvSpPr>
          <p:cNvPr id="11" name="Rectangle 10"/>
          <p:cNvSpPr/>
          <p:nvPr/>
        </p:nvSpPr>
        <p:spPr>
          <a:xfrm>
            <a:off x="7334372" y="2200046"/>
            <a:ext cx="2070673"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462388" y="2300630"/>
            <a:ext cx="18146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Image ENTRYPOINT</a:t>
            </a:r>
          </a:p>
        </p:txBody>
      </p:sp>
      <p:sp>
        <p:nvSpPr>
          <p:cNvPr id="13" name="Rectangle 12"/>
          <p:cNvSpPr/>
          <p:nvPr/>
        </p:nvSpPr>
        <p:spPr>
          <a:xfrm>
            <a:off x="9405046" y="2200046"/>
            <a:ext cx="2070673"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9533062" y="2300630"/>
            <a:ext cx="18146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Image CMD</a:t>
            </a:r>
          </a:p>
        </p:txBody>
      </p:sp>
      <p:sp>
        <p:nvSpPr>
          <p:cNvPr id="15" name="Rectangle 14"/>
          <p:cNvSpPr/>
          <p:nvPr/>
        </p:nvSpPr>
        <p:spPr>
          <a:xfrm>
            <a:off x="777240" y="2620670"/>
            <a:ext cx="3451122"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319509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neither command nor args</a:t>
            </a:r>
          </a:p>
        </p:txBody>
      </p:sp>
      <p:sp>
        <p:nvSpPr>
          <p:cNvPr id="17" name="Rectangle 16"/>
          <p:cNvSpPr/>
          <p:nvPr/>
        </p:nvSpPr>
        <p:spPr>
          <a:xfrm>
            <a:off x="4228362" y="2620670"/>
            <a:ext cx="3106010"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4356378" y="2702966"/>
            <a:ext cx="2849978"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ENTRYPOINT  CMD</a:t>
            </a:r>
          </a:p>
        </p:txBody>
      </p:sp>
      <p:sp>
        <p:nvSpPr>
          <p:cNvPr id="19" name="Rectangle 18"/>
          <p:cNvSpPr/>
          <p:nvPr/>
        </p:nvSpPr>
        <p:spPr>
          <a:xfrm>
            <a:off x="7334372" y="2620670"/>
            <a:ext cx="2070673"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7462388" y="2702966"/>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used</a:t>
            </a:r>
          </a:p>
        </p:txBody>
      </p:sp>
      <p:sp>
        <p:nvSpPr>
          <p:cNvPr id="21" name="Rectangle 20"/>
          <p:cNvSpPr/>
          <p:nvPr/>
        </p:nvSpPr>
        <p:spPr>
          <a:xfrm>
            <a:off x="9405046" y="2620670"/>
            <a:ext cx="2070673"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533062" y="2702966"/>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used</a:t>
            </a:r>
          </a:p>
        </p:txBody>
      </p:sp>
      <p:sp>
        <p:nvSpPr>
          <p:cNvPr id="23" name="Rectangle 22"/>
          <p:cNvSpPr/>
          <p:nvPr/>
        </p:nvSpPr>
        <p:spPr>
          <a:xfrm>
            <a:off x="777240" y="3187598"/>
            <a:ext cx="3451122"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319509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args only</a:t>
            </a:r>
          </a:p>
        </p:txBody>
      </p:sp>
      <p:sp>
        <p:nvSpPr>
          <p:cNvPr id="25" name="Rectangle 24"/>
          <p:cNvSpPr/>
          <p:nvPr/>
        </p:nvSpPr>
        <p:spPr>
          <a:xfrm>
            <a:off x="4228362" y="3187598"/>
            <a:ext cx="3106010"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4356378" y="3269894"/>
            <a:ext cx="2849978"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ENTRYPOINT  args</a:t>
            </a:r>
          </a:p>
        </p:txBody>
      </p:sp>
      <p:sp>
        <p:nvSpPr>
          <p:cNvPr id="27" name="Rectangle 26"/>
          <p:cNvSpPr/>
          <p:nvPr/>
        </p:nvSpPr>
        <p:spPr>
          <a:xfrm>
            <a:off x="7334372" y="3187598"/>
            <a:ext cx="2070673"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7462388" y="3269894"/>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used</a:t>
            </a:r>
          </a:p>
        </p:txBody>
      </p:sp>
      <p:sp>
        <p:nvSpPr>
          <p:cNvPr id="29" name="Rectangle 28"/>
          <p:cNvSpPr/>
          <p:nvPr/>
        </p:nvSpPr>
        <p:spPr>
          <a:xfrm>
            <a:off x="9405046" y="3187598"/>
            <a:ext cx="2070673"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9533062" y="3269894"/>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replaced</a:t>
            </a:r>
          </a:p>
        </p:txBody>
      </p:sp>
      <p:sp>
        <p:nvSpPr>
          <p:cNvPr id="31" name="Rectangle 30"/>
          <p:cNvSpPr/>
          <p:nvPr/>
        </p:nvSpPr>
        <p:spPr>
          <a:xfrm>
            <a:off x="777240" y="3754526"/>
            <a:ext cx="3451122"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319509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command only</a:t>
            </a:r>
          </a:p>
        </p:txBody>
      </p:sp>
      <p:sp>
        <p:nvSpPr>
          <p:cNvPr id="33" name="Rectangle 32"/>
          <p:cNvSpPr/>
          <p:nvPr/>
        </p:nvSpPr>
        <p:spPr>
          <a:xfrm>
            <a:off x="4228362" y="3754526"/>
            <a:ext cx="3106010"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4356378" y="3836822"/>
            <a:ext cx="2849978"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command</a:t>
            </a:r>
          </a:p>
        </p:txBody>
      </p:sp>
      <p:sp>
        <p:nvSpPr>
          <p:cNvPr id="35" name="Rectangle 34"/>
          <p:cNvSpPr/>
          <p:nvPr/>
        </p:nvSpPr>
        <p:spPr>
          <a:xfrm>
            <a:off x="7334372" y="3754526"/>
            <a:ext cx="2070673"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7462388" y="3836822"/>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replaced</a:t>
            </a:r>
          </a:p>
        </p:txBody>
      </p:sp>
      <p:sp>
        <p:nvSpPr>
          <p:cNvPr id="37" name="Rectangle 36"/>
          <p:cNvSpPr/>
          <p:nvPr/>
        </p:nvSpPr>
        <p:spPr>
          <a:xfrm>
            <a:off x="9405046" y="3754526"/>
            <a:ext cx="2070673"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533062" y="3836822"/>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discarded</a:t>
            </a:r>
          </a:p>
        </p:txBody>
      </p:sp>
      <p:sp>
        <p:nvSpPr>
          <p:cNvPr id="39" name="Rectangle 38"/>
          <p:cNvSpPr/>
          <p:nvPr/>
        </p:nvSpPr>
        <p:spPr>
          <a:xfrm>
            <a:off x="777240" y="4321454"/>
            <a:ext cx="3451122"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319509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both command and args</a:t>
            </a:r>
          </a:p>
        </p:txBody>
      </p:sp>
      <p:sp>
        <p:nvSpPr>
          <p:cNvPr id="41" name="Rectangle 40"/>
          <p:cNvSpPr/>
          <p:nvPr/>
        </p:nvSpPr>
        <p:spPr>
          <a:xfrm>
            <a:off x="4228362" y="4321454"/>
            <a:ext cx="3106010"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4356378" y="4403750"/>
            <a:ext cx="2849978"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command  args</a:t>
            </a:r>
          </a:p>
        </p:txBody>
      </p:sp>
      <p:sp>
        <p:nvSpPr>
          <p:cNvPr id="43" name="Rectangle 42"/>
          <p:cNvSpPr/>
          <p:nvPr/>
        </p:nvSpPr>
        <p:spPr>
          <a:xfrm>
            <a:off x="7334372" y="4321454"/>
            <a:ext cx="2070673"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7462388" y="4403750"/>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replaced</a:t>
            </a:r>
          </a:p>
        </p:txBody>
      </p:sp>
      <p:sp>
        <p:nvSpPr>
          <p:cNvPr id="45" name="Rectangle 44"/>
          <p:cNvSpPr/>
          <p:nvPr/>
        </p:nvSpPr>
        <p:spPr>
          <a:xfrm>
            <a:off x="9405046" y="4321454"/>
            <a:ext cx="2070673"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9533062" y="4403750"/>
            <a:ext cx="18146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replaced</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command → ENTRYPOINT, args → CMD. The dangerous row is the third: setting command alone silently throws CMD away.</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Define a command and arguments / Downward API: kubernetes.io/docs/tasks/inject-data-application/. Captured in courseware/labs/lab-03-commands-args-env on the training cluster, Kubernetes v1.37.0.</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97</a:t>
            </a:r>
          </a:p>
        </p:txBody>
      </p:sp>
    </p:spTree>
  </p:cSld>
  <p:clrMapOvr>
    <a:masterClrMapping/>
  </p:clrMapOvr>
  <p:transition xmlns:ns1="http://schemas.openxmlformats.org/markup-compatibility/2006" spd="fast" ns1:Ignorable="p14">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API's Own Words on command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behaviours, all documented in the schema, all examinable. Read the field description, not a blog post.</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training cluster, 5 Sep 2026</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explain pod.spec.containers.command</a:t>
            </a:r>
          </a:p>
          <a:p>
            <a:pPr>
              <a:lnSpc>
                <a:spcPts val="1476"/>
              </a:lnSpc>
              <a:spcAft>
                <a:spcPts val="0"/>
              </a:spcAft>
            </a:pPr>
            <a:r>
              <a:rPr sz="1000">
                <a:solidFill>
                  <a:srgbClr val="E6EDF3"/>
                </a:solidFill>
                <a:latin typeface="Consolas"/>
              </a:rPr>
              <a:t>KIND:       Pod</a:t>
            </a:r>
          </a:p>
          <a:p>
            <a:pPr>
              <a:lnSpc>
                <a:spcPts val="1476"/>
              </a:lnSpc>
              <a:spcAft>
                <a:spcPts val="0"/>
              </a:spcAft>
            </a:pPr>
            <a:r>
              <a:rPr sz="1000">
                <a:solidFill>
                  <a:srgbClr val="E6EDF3"/>
                </a:solidFill>
                <a:latin typeface="Consolas"/>
              </a:rPr>
              <a:t>VERSION:    v1</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FIELD: command &lt;[]string&gt;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DESCRIPTION:</a:t>
            </a:r>
          </a:p>
          <a:p>
            <a:pPr>
              <a:lnSpc>
                <a:spcPts val="1476"/>
              </a:lnSpc>
              <a:spcAft>
                <a:spcPts val="0"/>
              </a:spcAft>
            </a:pPr>
            <a:r>
              <a:rPr sz="1000">
                <a:solidFill>
                  <a:srgbClr val="E6EDF3"/>
                </a:solidFill>
                <a:latin typeface="Consolas"/>
              </a:rPr>
              <a:t>    Entrypoint array. Not executed within a shell. The container</a:t>
            </a:r>
          </a:p>
          <a:p>
            <a:pPr>
              <a:lnSpc>
                <a:spcPts val="1476"/>
              </a:lnSpc>
              <a:spcAft>
                <a:spcPts val="0"/>
              </a:spcAft>
            </a:pPr>
            <a:r>
              <a:rPr sz="1000">
                <a:solidFill>
                  <a:srgbClr val="E6EDF3"/>
                </a:solidFill>
                <a:latin typeface="Consolas"/>
              </a:rPr>
              <a:t>    image's ENTRYPOINT is used if this is not provided. Variable</a:t>
            </a:r>
          </a:p>
          <a:p>
            <a:pPr>
              <a:lnSpc>
                <a:spcPts val="1476"/>
              </a:lnSpc>
              <a:spcAft>
                <a:spcPts val="0"/>
              </a:spcAft>
            </a:pPr>
            <a:r>
              <a:rPr sz="1000">
                <a:solidFill>
                  <a:srgbClr val="E6EDF3"/>
                </a:solidFill>
                <a:latin typeface="Consolas"/>
              </a:rPr>
              <a:t>    references $(VAR_NAME) are expanded using the container's</a:t>
            </a:r>
          </a:p>
          <a:p>
            <a:pPr>
              <a:lnSpc>
                <a:spcPts val="1476"/>
              </a:lnSpc>
              <a:spcAft>
                <a:spcPts val="0"/>
              </a:spcAft>
            </a:pPr>
            <a:r>
              <a:rPr sz="1000">
                <a:solidFill>
                  <a:srgbClr val="E6EDF3"/>
                </a:solidFill>
                <a:latin typeface="Consolas"/>
              </a:rPr>
              <a:t>    environment. If a variable cannot be resolved, the reference</a:t>
            </a:r>
          </a:p>
          <a:p>
            <a:pPr>
              <a:lnSpc>
                <a:spcPts val="1476"/>
              </a:lnSpc>
              <a:spcAft>
                <a:spcPts val="0"/>
              </a:spcAft>
            </a:pPr>
            <a:r>
              <a:rPr sz="1000">
                <a:solidFill>
                  <a:srgbClr val="E6EDF3"/>
                </a:solidFill>
                <a:latin typeface="Consolas"/>
              </a:rPr>
              <a:t>    in the input string will be unchanged. Double $$ are reduced</a:t>
            </a:r>
          </a:p>
          <a:p>
            <a:pPr>
              <a:lnSpc>
                <a:spcPts val="1476"/>
              </a:lnSpc>
              <a:spcAft>
                <a:spcPts val="0"/>
              </a:spcAft>
            </a:pPr>
            <a:r>
              <a:rPr sz="1000">
                <a:solidFill>
                  <a:srgbClr val="E6EDF3"/>
                </a:solidFill>
                <a:latin typeface="Consolas"/>
              </a:rPr>
              <a:t>    to a single $, which allows for escaping the $(VAR_NAME)</a:t>
            </a:r>
          </a:p>
          <a:p>
            <a:pPr>
              <a:lnSpc>
                <a:spcPts val="1476"/>
              </a:lnSpc>
              <a:spcAft>
                <a:spcPts val="0"/>
              </a:spcAft>
            </a:pPr>
            <a:r>
              <a:rPr sz="1000">
                <a:solidFill>
                  <a:srgbClr val="E6EDF3"/>
                </a:solidFill>
                <a:latin typeface="Consolas"/>
              </a:rPr>
              <a:t>    syntax: i.e. "$$(VAR_NAME)" will produce the string literal</a:t>
            </a:r>
          </a:p>
          <a:p>
            <a:pPr>
              <a:lnSpc>
                <a:spcPts val="1476"/>
              </a:lnSpc>
              <a:spcAft>
                <a:spcPts val="0"/>
              </a:spcAft>
            </a:pPr>
            <a:r>
              <a:rPr sz="1000">
                <a:solidFill>
                  <a:srgbClr val="E6EDF3"/>
                </a:solidFill>
                <a:latin typeface="Consolas"/>
              </a:rPr>
              <a:t>    "$(VAR_NAME)". Cannot be updated.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 executed within a shell'</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command: ["echo a &amp;&amp; echo b"] cannot work — there is no shell to interpret &amp;&amp;. Ask for one: ["/bin/sh", "-c"].</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$(VAR_NAME), not ${VAR}</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Expansion is done by the kubelet before the process starts, and only in this one syntax.</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Unresolvable references are left alone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You get the literal text $(MISSING) in your argument list rather than an empty string or an error.</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'Cannot be updated'</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command and args are immutable on a running Pod. Only image, and a short list of other fields, can be patched.</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Measured on the course training cluster: kind, Kubernetes v1.37.0, containerd 2.3.4, linux/arm64, 5 Sep 2026. Kubernetes documentation — Define a command and arguments / Downward API: kubernetes.io/docs/tasks/inject-data-application/.</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98</a:t>
            </a:r>
          </a:p>
        </p:txBody>
      </p:sp>
    </p:spTree>
  </p:cSld>
  <p:clrMapOvr>
    <a:masterClrMapping/>
  </p:clrMapOvr>
  <p:transition xmlns:ns1="http://schemas.openxmlformats.org/markup-compatibility/2006" spd="fast" ns1:Ignorable="p14">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Override Matrix as Three Real Pods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Overriding command on an unfamiliar image means taking responsibility for the initialisation you just skipped.</a:t>
            </a:r>
          </a:p>
        </p:txBody>
      </p:sp>
      <p:sp>
        <p:nvSpPr>
          <p:cNvPr id="7" name="Rectangle 6"/>
          <p:cNvSpPr/>
          <p:nvPr/>
        </p:nvSpPr>
        <p:spPr>
          <a:xfrm>
            <a:off x="777240" y="2200046"/>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manifests/10-entrypoint-matrix.yaml (Lab 03, abridged)</a:t>
            </a:r>
          </a:p>
        </p:txBody>
      </p:sp>
      <p:sp>
        <p:nvSpPr>
          <p:cNvPr id="9" name="TextBox 8"/>
          <p:cNvSpPr txBox="1"/>
          <p:nvPr/>
        </p:nvSpPr>
        <p:spPr>
          <a:xfrm>
            <a:off x="923544" y="2620670"/>
            <a:ext cx="6062472" cy="2624327"/>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A — neither field: image defaults win</a:t>
            </a:r>
          </a:p>
          <a:p>
            <a:pPr>
              <a:lnSpc>
                <a:spcPts val="1476"/>
              </a:lnSpc>
              <a:spcAft>
                <a:spcPts val="0"/>
              </a:spcAft>
            </a:pPr>
            <a:r>
              <a:rPr sz="1050">
                <a:solidFill>
                  <a:srgbClr val="E6EDF3"/>
                </a:solidFill>
                <a:latin typeface="Consolas"/>
              </a:rPr>
              <a:t>  containers:</a:t>
            </a:r>
          </a:p>
          <a:p>
            <a:pPr>
              <a:lnSpc>
                <a:spcPts val="1476"/>
              </a:lnSpc>
              <a:spcAft>
                <a:spcPts val="0"/>
              </a:spcAft>
            </a:pPr>
            <a:r>
              <a:rPr sz="1050">
                <a:solidFill>
                  <a:srgbClr val="E6EDF3"/>
                </a:solidFill>
                <a:latin typeface="Consolas"/>
              </a:rPr>
              <a:t>    - name: web</a:t>
            </a:r>
          </a:p>
          <a:p>
            <a:pPr>
              <a:lnSpc>
                <a:spcPts val="1476"/>
              </a:lnSpc>
              <a:spcAft>
                <a:spcPts val="0"/>
              </a:spcAft>
            </a:pPr>
            <a:r>
              <a:rPr sz="1050">
                <a:solidFill>
                  <a:srgbClr val="E6EDF3"/>
                </a:solidFill>
                <a:latin typeface="Consolas"/>
              </a:rPr>
              <a:t>      image: nginx:1.27-alpine</a:t>
            </a:r>
          </a:p>
          <a:p>
            <a:pPr>
              <a:lnSpc>
                <a:spcPts val="1476"/>
              </a:lnSpc>
              <a:spcAft>
                <a:spcPts val="0"/>
              </a:spcAft>
            </a:pPr>
            <a:r>
              <a:rPr sz="1050">
                <a:solidFill>
                  <a:srgbClr val="7D8A99"/>
                </a:solidFill>
                <a:latin typeface="Consolas"/>
              </a:rPr>
              <a:t>  # runs /docker-entrypoint.sh  nginx -g 'daemon off;'</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B — args only: ENTRYPOINT kept, CMD replaced</a:t>
            </a:r>
          </a:p>
          <a:p>
            <a:pPr>
              <a:lnSpc>
                <a:spcPts val="1476"/>
              </a:lnSpc>
              <a:spcAft>
                <a:spcPts val="0"/>
              </a:spcAft>
            </a:pPr>
            <a:r>
              <a:rPr sz="1050">
                <a:solidFill>
                  <a:srgbClr val="E6EDF3"/>
                </a:solidFill>
                <a:latin typeface="Consolas"/>
              </a:rPr>
              <a:t>      args: ["nginx", "-v"]</a:t>
            </a:r>
          </a:p>
          <a:p>
            <a:pPr>
              <a:lnSpc>
                <a:spcPts val="1476"/>
              </a:lnSpc>
              <a:spcAft>
                <a:spcPts val="0"/>
              </a:spcAft>
            </a:pPr>
            <a:r>
              <a:rPr sz="1050">
                <a:solidFill>
                  <a:srgbClr val="7D8A99"/>
                </a:solidFill>
                <a:latin typeface="Consolas"/>
              </a:rPr>
              <a:t>  # banner still prints, then: nginx version: 1.27.5</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C — command only: ENTRYPOINT replaced, CMD discarded</a:t>
            </a:r>
          </a:p>
          <a:p>
            <a:pPr>
              <a:lnSpc>
                <a:spcPts val="1476"/>
              </a:lnSpc>
              <a:spcAft>
                <a:spcPts val="0"/>
              </a:spcAft>
            </a:pPr>
            <a:r>
              <a:rPr sz="1050">
                <a:solidFill>
                  <a:srgbClr val="E6EDF3"/>
                </a:solidFill>
                <a:latin typeface="Consolas"/>
              </a:rPr>
              <a:t>      command: ["/bin/sh", "-c"]</a:t>
            </a:r>
          </a:p>
          <a:p>
            <a:pPr>
              <a:lnSpc>
                <a:spcPts val="1476"/>
              </a:lnSpc>
              <a:spcAft>
                <a:spcPts val="0"/>
              </a:spcAft>
            </a:pPr>
            <a:r>
              <a:rPr sz="1050">
                <a:solidFill>
                  <a:srgbClr val="E6EDF3"/>
                </a:solidFill>
                <a:latin typeface="Consolas"/>
              </a:rPr>
              <a:t>      args: ["echo case C; ..."]</a:t>
            </a:r>
          </a:p>
          <a:p>
            <a:pPr>
              <a:lnSpc>
                <a:spcPts val="1476"/>
              </a:lnSpc>
              <a:spcAft>
                <a:spcPts val="0"/>
              </a:spcAft>
            </a:pPr>
            <a:r>
              <a:rPr sz="1050">
                <a:solidFill>
                  <a:srgbClr val="7D8A99"/>
                </a:solidFill>
                <a:latin typeface="Consolas"/>
              </a:rPr>
              <a:t>  # NO entrypoint banner at all — that absence is the evidence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Case A leaves the Pod Running</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nginx serves. The image's own entrypoint script did its configuration work first.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Case B still runs the entrypoint</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banner appears, then your arguments run instead of the default CMD. Container exits 0 → Completed.</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Case C is the risky one</a:t>
            </a:r>
          </a:p>
        </p:txBody>
      </p:sp>
      <p:sp>
        <p:nvSpPr>
          <p:cNvPr id="20" name="TextBox 19"/>
          <p:cNvSpPr txBox="1"/>
          <p:nvPr/>
        </p:nvSpPr>
        <p:spPr>
          <a:xfrm>
            <a:off x="7973567" y="431583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 banner means /docker-entrypoint.sh never ran, so the IPv6 listener, template substitution and worker tuning silently did not happen.</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API stores &lt;none&gt; for unset fields</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Kubernetes never copies the image's ENTRYPOINT into the spec. The runtime resolves it at start-up.</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courseware/labs/lab-03-commands-args-env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99</a:t>
            </a:r>
          </a:p>
        </p:txBody>
      </p:sp>
    </p:spTree>
  </p:cSld>
  <p:clrMapOvr>
    <a:masterClrMapping/>
  </p:clrMapOvr>
  <p:transition xmlns:ns1="http://schemas.openxmlformats.org/markup-compatibility/2006" spd="fast" ns1:Ignorable="p14">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Five Ways to Get Configuration Into a Container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03 exercises all five against the same booking service so the differences are visible side by side.</a:t>
            </a:r>
          </a:p>
        </p:txBody>
      </p:sp>
      <p:sp>
        <p:nvSpPr>
          <p:cNvPr id="7" name="Rectangle 6"/>
          <p:cNvSpPr/>
          <p:nvPr/>
        </p:nvSpPr>
        <p:spPr>
          <a:xfrm>
            <a:off x="777240" y="2200046"/>
            <a:ext cx="2109559"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5352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Mechanism</a:t>
            </a:r>
          </a:p>
        </p:txBody>
      </p:sp>
      <p:sp>
        <p:nvSpPr>
          <p:cNvPr id="9" name="Rectangle 8"/>
          <p:cNvSpPr/>
          <p:nvPr/>
        </p:nvSpPr>
        <p:spPr>
          <a:xfrm>
            <a:off x="2886799" y="2200046"/>
            <a:ext cx="2862973"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14815" y="2300630"/>
            <a:ext cx="26069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Shape</a:t>
            </a:r>
          </a:p>
        </p:txBody>
      </p:sp>
      <p:sp>
        <p:nvSpPr>
          <p:cNvPr id="11" name="Rectangle 10"/>
          <p:cNvSpPr/>
          <p:nvPr/>
        </p:nvSpPr>
        <p:spPr>
          <a:xfrm>
            <a:off x="5749772" y="2200046"/>
            <a:ext cx="271229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877788" y="2300630"/>
            <a:ext cx="245625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Best for</a:t>
            </a:r>
          </a:p>
        </p:txBody>
      </p:sp>
      <p:sp>
        <p:nvSpPr>
          <p:cNvPr id="13" name="Rectangle 12"/>
          <p:cNvSpPr/>
          <p:nvPr/>
        </p:nvSpPr>
        <p:spPr>
          <a:xfrm>
            <a:off x="8462063" y="2200046"/>
            <a:ext cx="3013656"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590079" y="2300630"/>
            <a:ext cx="27576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Trap</a:t>
            </a:r>
          </a:p>
        </p:txBody>
      </p:sp>
      <p:sp>
        <p:nvSpPr>
          <p:cNvPr id="15" name="Rectangle 14"/>
          <p:cNvSpPr/>
          <p:nvPr/>
        </p:nvSpPr>
        <p:spPr>
          <a:xfrm>
            <a:off x="777240" y="2620670"/>
            <a:ext cx="2109559"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85352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env</a:t>
            </a:r>
          </a:p>
        </p:txBody>
      </p:sp>
      <p:sp>
        <p:nvSpPr>
          <p:cNvPr id="17" name="Rectangle 16"/>
          <p:cNvSpPr/>
          <p:nvPr/>
        </p:nvSpPr>
        <p:spPr>
          <a:xfrm>
            <a:off x="2886799" y="2620670"/>
            <a:ext cx="2862973"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014815" y="2702966"/>
            <a:ext cx="260694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name/value pairs written inline</a:t>
            </a:r>
          </a:p>
        </p:txBody>
      </p:sp>
      <p:sp>
        <p:nvSpPr>
          <p:cNvPr id="19" name="Rectangle 18"/>
          <p:cNvSpPr/>
          <p:nvPr/>
        </p:nvSpPr>
        <p:spPr>
          <a:xfrm>
            <a:off x="5749772" y="2620670"/>
            <a:ext cx="2712290"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877788" y="2702966"/>
            <a:ext cx="245625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handful of literal settings</a:t>
            </a:r>
          </a:p>
        </p:txBody>
      </p:sp>
      <p:sp>
        <p:nvSpPr>
          <p:cNvPr id="21" name="Rectangle 20"/>
          <p:cNvSpPr/>
          <p:nvPr/>
        </p:nvSpPr>
        <p:spPr>
          <a:xfrm>
            <a:off x="8462063" y="2620670"/>
            <a:ext cx="3013656"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590079" y="2702966"/>
            <a:ext cx="27576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Duplicated across manifests; no single source of truth</a:t>
            </a:r>
          </a:p>
        </p:txBody>
      </p:sp>
      <p:sp>
        <p:nvSpPr>
          <p:cNvPr id="23" name="Rectangle 22"/>
          <p:cNvSpPr/>
          <p:nvPr/>
        </p:nvSpPr>
        <p:spPr>
          <a:xfrm>
            <a:off x="777240" y="3171870"/>
            <a:ext cx="2109559"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85352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env + configMapKeyRef</a:t>
            </a:r>
          </a:p>
        </p:txBody>
      </p:sp>
      <p:sp>
        <p:nvSpPr>
          <p:cNvPr id="25" name="Rectangle 24"/>
          <p:cNvSpPr/>
          <p:nvPr/>
        </p:nvSpPr>
        <p:spPr>
          <a:xfrm>
            <a:off x="2886799" y="3171870"/>
            <a:ext cx="2862973"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014815" y="3254166"/>
            <a:ext cx="260694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key from a ConfigMap, renamed on the way in</a:t>
            </a:r>
          </a:p>
        </p:txBody>
      </p:sp>
      <p:sp>
        <p:nvSpPr>
          <p:cNvPr id="27" name="Rectangle 26"/>
          <p:cNvSpPr/>
          <p:nvPr/>
        </p:nvSpPr>
        <p:spPr>
          <a:xfrm>
            <a:off x="5749772" y="3171870"/>
            <a:ext cx="2712290"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877788" y="3254166"/>
            <a:ext cx="245625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Selecting and renaming individual settings</a:t>
            </a:r>
          </a:p>
        </p:txBody>
      </p:sp>
      <p:sp>
        <p:nvSpPr>
          <p:cNvPr id="29" name="Rectangle 28"/>
          <p:cNvSpPr/>
          <p:nvPr/>
        </p:nvSpPr>
        <p:spPr>
          <a:xfrm>
            <a:off x="8462063" y="3171870"/>
            <a:ext cx="3013656"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590079" y="3254166"/>
            <a:ext cx="27576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Missing key blocks start unless optional: true</a:t>
            </a:r>
          </a:p>
        </p:txBody>
      </p:sp>
      <p:sp>
        <p:nvSpPr>
          <p:cNvPr id="31" name="Rectangle 30"/>
          <p:cNvSpPr/>
          <p:nvPr/>
        </p:nvSpPr>
        <p:spPr>
          <a:xfrm>
            <a:off x="777240" y="3723071"/>
            <a:ext cx="2109559"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85352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envFrom + configMapRef</a:t>
            </a:r>
          </a:p>
        </p:txBody>
      </p:sp>
      <p:sp>
        <p:nvSpPr>
          <p:cNvPr id="33" name="Rectangle 32"/>
          <p:cNvSpPr/>
          <p:nvPr/>
        </p:nvSpPr>
        <p:spPr>
          <a:xfrm>
            <a:off x="2886799" y="3723071"/>
            <a:ext cx="2862973"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014815" y="3805367"/>
            <a:ext cx="260694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 key becomes an environment variable</a:t>
            </a:r>
          </a:p>
        </p:txBody>
      </p:sp>
      <p:sp>
        <p:nvSpPr>
          <p:cNvPr id="35" name="Rectangle 34"/>
          <p:cNvSpPr/>
          <p:nvPr/>
        </p:nvSpPr>
        <p:spPr>
          <a:xfrm>
            <a:off x="5749772" y="3723071"/>
            <a:ext cx="2712290"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877788" y="3805367"/>
            <a:ext cx="245625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Bulk application defaults from --from-env-file</a:t>
            </a:r>
          </a:p>
        </p:txBody>
      </p:sp>
      <p:sp>
        <p:nvSpPr>
          <p:cNvPr id="37" name="Rectangle 36"/>
          <p:cNvSpPr/>
          <p:nvPr/>
        </p:nvSpPr>
        <p:spPr>
          <a:xfrm>
            <a:off x="8462063" y="3723071"/>
            <a:ext cx="3013656"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590079" y="3805367"/>
            <a:ext cx="27576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Key collisions; add prefix: to keep sources apart</a:t>
            </a:r>
          </a:p>
        </p:txBody>
      </p:sp>
      <p:sp>
        <p:nvSpPr>
          <p:cNvPr id="39" name="Rectangle 38"/>
          <p:cNvSpPr/>
          <p:nvPr/>
        </p:nvSpPr>
        <p:spPr>
          <a:xfrm>
            <a:off x="777240" y="4274271"/>
            <a:ext cx="2109559"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85352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Downward API</a:t>
            </a:r>
          </a:p>
        </p:txBody>
      </p:sp>
      <p:sp>
        <p:nvSpPr>
          <p:cNvPr id="41" name="Rectangle 40"/>
          <p:cNvSpPr/>
          <p:nvPr/>
        </p:nvSpPr>
        <p:spPr>
          <a:xfrm>
            <a:off x="2886799" y="4274271"/>
            <a:ext cx="2862973"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014815" y="4356567"/>
            <a:ext cx="260694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fieldRef and resourceFieldRef</a:t>
            </a:r>
          </a:p>
        </p:txBody>
      </p:sp>
      <p:sp>
        <p:nvSpPr>
          <p:cNvPr id="43" name="Rectangle 42"/>
          <p:cNvSpPr/>
          <p:nvPr/>
        </p:nvSpPr>
        <p:spPr>
          <a:xfrm>
            <a:off x="5749772" y="4274271"/>
            <a:ext cx="2712290"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877788" y="4356567"/>
            <a:ext cx="245625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Telling a Pod its own name, node, namespace, IP or memory limit</a:t>
            </a:r>
          </a:p>
        </p:txBody>
      </p:sp>
      <p:sp>
        <p:nvSpPr>
          <p:cNvPr id="45" name="Rectangle 44"/>
          <p:cNvSpPr/>
          <p:nvPr/>
        </p:nvSpPr>
        <p:spPr>
          <a:xfrm>
            <a:off x="8462063" y="4274271"/>
            <a:ext cx="3013656"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590079" y="4356567"/>
            <a:ext cx="27576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Only a defined subset of fields is exposed</a:t>
            </a:r>
          </a:p>
        </p:txBody>
      </p:sp>
      <p:sp>
        <p:nvSpPr>
          <p:cNvPr id="47" name="Rectangle 46"/>
          <p:cNvSpPr/>
          <p:nvPr/>
        </p:nvSpPr>
        <p:spPr>
          <a:xfrm>
            <a:off x="777240" y="4825471"/>
            <a:ext cx="2109559"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85352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Volume mount</a:t>
            </a:r>
          </a:p>
        </p:txBody>
      </p:sp>
      <p:sp>
        <p:nvSpPr>
          <p:cNvPr id="49" name="Rectangle 48"/>
          <p:cNvSpPr/>
          <p:nvPr/>
        </p:nvSpPr>
        <p:spPr>
          <a:xfrm>
            <a:off x="2886799" y="4825471"/>
            <a:ext cx="2862973"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014815" y="4907767"/>
            <a:ext cx="260694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ConfigMap or Secret projected as files</a:t>
            </a:r>
          </a:p>
        </p:txBody>
      </p:sp>
      <p:sp>
        <p:nvSpPr>
          <p:cNvPr id="51" name="Rectangle 50"/>
          <p:cNvSpPr/>
          <p:nvPr/>
        </p:nvSpPr>
        <p:spPr>
          <a:xfrm>
            <a:off x="5749772" y="4825471"/>
            <a:ext cx="2712290"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877788" y="4907767"/>
            <a:ext cx="245625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Large payloads, config files, anything hot-reloadable</a:t>
            </a:r>
          </a:p>
        </p:txBody>
      </p:sp>
      <p:sp>
        <p:nvSpPr>
          <p:cNvPr id="53" name="Rectangle 52"/>
          <p:cNvSpPr/>
          <p:nvPr/>
        </p:nvSpPr>
        <p:spPr>
          <a:xfrm>
            <a:off x="8462063" y="4825471"/>
            <a:ext cx="3013656"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590079" y="4907767"/>
            <a:ext cx="27576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Sub-path mounts do not receive updates</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Start-up-only settings go in env; anything the process should re-read at runtime goes in a volume.</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Define a command and arguments / Downward API: kubernetes.io/docs/tasks/inject-data-application/. Captured in courseware/labs/lab-03-commands-args-env on the training cluster, Kubernetes v1.37.0.</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100</a:t>
            </a:r>
          </a:p>
        </p:txBody>
      </p:sp>
    </p:spTree>
  </p:cSld>
  <p:clrMapOvr>
    <a:masterClrMapping/>
  </p:clrMapOvr>
  <p:transition xmlns:ns1="http://schemas.openxmlformats.org/markup-compatibility/2006" spd="fast" ns1:Ignorable="p14">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One Container, Four Injection Mechanisms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line here is verified in Lab 03 by comparing the stored spec against `kubectl exec ... -- env`.</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manifests/20-booking-config.yaml (Lab 03,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envFrom:</a:t>
            </a:r>
          </a:p>
          <a:p>
            <a:pPr>
              <a:lnSpc>
                <a:spcPts val="1413"/>
              </a:lnSpc>
              <a:spcAft>
                <a:spcPts val="0"/>
              </a:spcAft>
            </a:pPr>
            <a:r>
              <a:rPr sz="1050">
                <a:solidFill>
                  <a:srgbClr val="E6EDF3"/>
                </a:solidFill>
                <a:latin typeface="Consolas"/>
              </a:rPr>
              <a:t>  - configMapRef: { name: route-defaults }</a:t>
            </a:r>
          </a:p>
          <a:p>
            <a:pPr>
              <a:lnSpc>
                <a:spcPts val="1413"/>
              </a:lnSpc>
              <a:spcAft>
                <a:spcPts val="0"/>
              </a:spcAft>
            </a:pPr>
            <a:r>
              <a:rPr sz="1050">
                <a:solidFill>
                  <a:srgbClr val="E6EDF3"/>
                </a:solidFill>
                <a:latin typeface="Consolas"/>
              </a:rPr>
              <a:t>  - prefix: MF_</a:t>
            </a:r>
          </a:p>
          <a:p>
            <a:pPr>
              <a:lnSpc>
                <a:spcPts val="1413"/>
              </a:lnSpc>
              <a:spcAft>
                <a:spcPts val="0"/>
              </a:spcAft>
            </a:pPr>
            <a:r>
              <a:rPr sz="1050">
                <a:solidFill>
                  <a:srgbClr val="E6EDF3"/>
                </a:solidFill>
                <a:latin typeface="Consolas"/>
              </a:rPr>
              <a:t>    configMapRef: { name: route-defaults }</a:t>
            </a:r>
          </a:p>
          <a:p>
            <a:pPr>
              <a:lnSpc>
                <a:spcPts val="1413"/>
              </a:lnSpc>
              <a:spcAft>
                <a:spcPts val="0"/>
              </a:spcAft>
            </a:pPr>
            <a:r>
              <a:rPr sz="1050">
                <a:solidFill>
                  <a:srgbClr val="E6EDF3"/>
                </a:solidFill>
                <a:latin typeface="Consolas"/>
              </a:rPr>
              <a:t>  - configMapRef: { name: route-overrides }</a:t>
            </a:r>
          </a:p>
          <a:p>
            <a:pPr>
              <a:lnSpc>
                <a:spcPts val="1413"/>
              </a:lnSpc>
              <a:spcAft>
                <a:spcPts val="0"/>
              </a:spcAft>
            </a:pPr>
            <a:r>
              <a:rPr sz="1050">
                <a:solidFill>
                  <a:srgbClr val="E6EDF3"/>
                </a:solidFill>
                <a:latin typeface="Consolas"/>
              </a:rPr>
              <a:t>    optional: true      # absent ConfigMap is tolerated</a:t>
            </a:r>
          </a:p>
          <a:p>
            <a:pPr>
              <a:lnSpc>
                <a:spcPts val="1413"/>
              </a:lnSpc>
              <a:spcAft>
                <a:spcPts val="0"/>
              </a:spcAft>
            </a:pPr>
            <a:r>
              <a:rPr sz="1050">
                <a:solidFill>
                  <a:srgbClr val="E6EDF3"/>
                </a:solidFill>
                <a:latin typeface="Consolas"/>
              </a:rPr>
              <a:t>env:</a:t>
            </a:r>
          </a:p>
          <a:p>
            <a:pPr>
              <a:lnSpc>
                <a:spcPts val="1413"/>
              </a:lnSpc>
              <a:spcAft>
                <a:spcPts val="0"/>
              </a:spcAft>
            </a:pPr>
            <a:r>
              <a:rPr sz="1050">
                <a:solidFill>
                  <a:srgbClr val="E6EDF3"/>
                </a:solidFill>
                <a:latin typeface="Consolas"/>
              </a:rPr>
              <a:t>  - { name: SERVICE_NAME, value: booking }</a:t>
            </a:r>
          </a:p>
          <a:p>
            <a:pPr>
              <a:lnSpc>
                <a:spcPts val="1413"/>
              </a:lnSpc>
              <a:spcAft>
                <a:spcPts val="0"/>
              </a:spcAft>
            </a:pPr>
            <a:r>
              <a:rPr sz="1050">
                <a:solidFill>
                  <a:srgbClr val="E6EDF3"/>
                </a:solidFill>
                <a:latin typeface="Consolas"/>
              </a:rPr>
              <a:t>  - name: TRAILERS_PER_BAY</a:t>
            </a:r>
          </a:p>
          <a:p>
            <a:pPr>
              <a:lnSpc>
                <a:spcPts val="1413"/>
              </a:lnSpc>
              <a:spcAft>
                <a:spcPts val="0"/>
              </a:spcAft>
            </a:pPr>
            <a:r>
              <a:rPr sz="1050">
                <a:solidFill>
                  <a:srgbClr val="E6EDF3"/>
                </a:solidFill>
                <a:latin typeface="Consolas"/>
              </a:rPr>
              <a:t>    valueFrom:</a:t>
            </a:r>
          </a:p>
          <a:p>
            <a:pPr>
              <a:lnSpc>
                <a:spcPts val="1413"/>
              </a:lnSpc>
              <a:spcAft>
                <a:spcPts val="0"/>
              </a:spcAft>
            </a:pPr>
            <a:r>
              <a:rPr sz="1050">
                <a:solidFill>
                  <a:srgbClr val="E6EDF3"/>
                </a:solidFill>
                <a:latin typeface="Consolas"/>
              </a:rPr>
              <a:t>      configMapKeyRef:</a:t>
            </a:r>
          </a:p>
          <a:p>
            <a:pPr>
              <a:lnSpc>
                <a:spcPts val="1413"/>
              </a:lnSpc>
              <a:spcAft>
                <a:spcPts val="0"/>
              </a:spcAft>
            </a:pPr>
            <a:r>
              <a:rPr sz="1050">
                <a:solidFill>
                  <a:srgbClr val="E6EDF3"/>
                </a:solidFill>
                <a:latin typeface="Consolas"/>
              </a:rPr>
              <a:t>        name: route-defaults</a:t>
            </a:r>
          </a:p>
          <a:p>
            <a:pPr>
              <a:lnSpc>
                <a:spcPts val="1413"/>
              </a:lnSpc>
              <a:spcAft>
                <a:spcPts val="0"/>
              </a:spcAft>
            </a:pPr>
            <a:r>
              <a:rPr sz="1050">
                <a:solidFill>
                  <a:srgbClr val="E6EDF3"/>
                </a:solidFill>
                <a:latin typeface="Consolas"/>
              </a:rPr>
              <a:t>        key: MAX_TRAILERS_PER_BAY</a:t>
            </a:r>
          </a:p>
          <a:p>
            <a:pPr>
              <a:lnSpc>
                <a:spcPts val="1413"/>
              </a:lnSpc>
              <a:spcAft>
                <a:spcPts val="0"/>
              </a:spcAft>
            </a:pPr>
            <a:r>
              <a:rPr sz="1050">
                <a:solidFill>
                  <a:srgbClr val="E6EDF3"/>
                </a:solidFill>
                <a:latin typeface="Consolas"/>
              </a:rPr>
              <a:t>  - name: NODE_NAME</a:t>
            </a:r>
          </a:p>
          <a:p>
            <a:pPr>
              <a:lnSpc>
                <a:spcPts val="1413"/>
              </a:lnSpc>
              <a:spcAft>
                <a:spcPts val="0"/>
              </a:spcAft>
            </a:pPr>
            <a:r>
              <a:rPr sz="1050">
                <a:solidFill>
                  <a:srgbClr val="E6EDF3"/>
                </a:solidFill>
                <a:latin typeface="Consolas"/>
              </a:rPr>
              <a:t>    valueFrom:</a:t>
            </a:r>
          </a:p>
          <a:p>
            <a:pPr>
              <a:lnSpc>
                <a:spcPts val="1413"/>
              </a:lnSpc>
              <a:spcAft>
                <a:spcPts val="0"/>
              </a:spcAft>
            </a:pPr>
            <a:r>
              <a:rPr sz="1050">
                <a:solidFill>
                  <a:srgbClr val="E6EDF3"/>
                </a:solidFill>
                <a:latin typeface="Consolas"/>
              </a:rPr>
              <a:t>      fieldRef: { fieldPath: spec.nodeName }</a:t>
            </a:r>
          </a:p>
          <a:p>
            <a:pPr>
              <a:lnSpc>
                <a:spcPts val="1413"/>
              </a:lnSpc>
              <a:spcAft>
                <a:spcPts val="0"/>
              </a:spcAft>
            </a:pPr>
            <a:r>
              <a:rPr sz="1050">
                <a:solidFill>
                  <a:srgbClr val="E6EDF3"/>
                </a:solidFill>
                <a:latin typeface="Consolas"/>
              </a:rPr>
              <a:t>  - name: BOOKING_ENDPOINT</a:t>
            </a:r>
          </a:p>
          <a:p>
            <a:pPr>
              <a:lnSpc>
                <a:spcPts val="1413"/>
              </a:lnSpc>
              <a:spcAft>
                <a:spcPts val="0"/>
              </a:spcAft>
            </a:pPr>
            <a:r>
              <a:rPr sz="1050">
                <a:solidFill>
                  <a:srgbClr val="E6EDF3"/>
                </a:solidFill>
                <a:latin typeface="Consolas"/>
              </a:rPr>
              <a:t>    value: http://$(SERVICE_NAME).kcna-lab03.svc:8080</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prefix keeps two sources apart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same nine keys appear twice — once bare, once as MF_*. This is how you merge config without collisions.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optional: true is load-bearing</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Without it, a missing ConfigMap leaves the Pod in CreateContainerConfigError forever.</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fieldRef is the downward API</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Pod learns its own node name without holding any RBAC permission to read the Node object.</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$(VAR) resolves at start, in the kubelet</a:t>
            </a:r>
          </a:p>
        </p:txBody>
      </p:sp>
      <p:sp>
        <p:nvSpPr>
          <p:cNvPr id="23" name="TextBox 22"/>
          <p:cNvSpPr txBox="1"/>
          <p:nvPr/>
        </p:nvSpPr>
        <p:spPr>
          <a:xfrm>
            <a:off x="7973567" y="5027584"/>
            <a:ext cx="3246119" cy="637885"/>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stored object still contains the literal $(SERVICE_NAME); only the process sees the expansion. And it can only reference earlier entries in this same env list.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courseware/labs/lab-03-commands-args-env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101</a:t>
            </a:r>
          </a:p>
        </p:txBody>
      </p:sp>
    </p:spTree>
  </p:cSld>
  <p:clrMapOvr>
    <a:masterClrMapping/>
  </p:clrMapOvr>
  <p:transition xmlns:ns1="http://schemas.openxmlformats.org/markup-compatibility/2006" spd="fast" ns1:Ignorable="p14">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the kubelet Assembles a Container's Environment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contributions merged in a fixed order, all before the process is executed.</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Image config</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Env array from the OCI image config is the baseline — PATH and anything the image author set.</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Service links</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If enableServiceLinks is on, Services already present in the namespace are injected as {NAME}_SERVICE_HOST and _SERVICE_PORT.</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envFrom, in order</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Each ConfigMap or Secret reference contributes all of its keys, with an optional prefix. Later entries win over earlier ones.</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env, in order</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Explicit entries are applied last and override anything above them, whether literal, configMapKeyRef or downward API.</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$(VAR) expansion</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Finally the kubelet expands references — but only to variables defined earlier in this same env list.</a:t>
            </a:r>
          </a:p>
        </p:txBody>
      </p:sp>
      <p:sp>
        <p:nvSpPr>
          <p:cNvPr id="36" name="Rectangle 35"/>
          <p:cNvSpPr/>
          <p:nvPr/>
        </p:nvSpPr>
        <p:spPr>
          <a:xfrm>
            <a:off x="777240" y="482132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This ordering is why a $(VAR) reference cannot resolve a key that arrived through envFrom, and why an explicit env entry always beats a bulk import.</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Define a command and arguments / Downward API: kubernetes.io/docs/tasks/inject-data-application/. Captured in courseware/labs/lab-03-commands-args-env on the training cluster, Kubernetes v1.37.0.</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102</a:t>
            </a:r>
          </a:p>
        </p:txBody>
      </p:sp>
    </p:spTree>
  </p:cSld>
  <p:clrMapOvr>
    <a:masterClrMapping/>
  </p:clrMapOvr>
  <p:transition xmlns:ns5="http://schemas.openxmlformats.org/markup-compatibility/2006" spd="fast" ns5:Ignorable="p14">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Environment Variables Are a Snapshot; Mounted Files Are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03 patches a ConfigMap and shows the env var stubbornly unchanged while a new file appears in the mounted directory.</a:t>
            </a:r>
          </a:p>
        </p:txBody>
      </p:sp>
      <p:sp>
        <p:nvSpPr>
          <p:cNvPr id="7" name="Rectangle 6"/>
          <p:cNvSpPr/>
          <p:nvPr/>
        </p:nvSpPr>
        <p:spPr>
          <a:xfrm>
            <a:off x="777240" y="2208885"/>
            <a:ext cx="2496311"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24027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Behaviour</a:t>
            </a:r>
          </a:p>
        </p:txBody>
      </p:sp>
      <p:sp>
        <p:nvSpPr>
          <p:cNvPr id="9" name="Rectangle 8"/>
          <p:cNvSpPr/>
          <p:nvPr/>
        </p:nvSpPr>
        <p:spPr>
          <a:xfrm>
            <a:off x="3273551" y="2208885"/>
            <a:ext cx="3922776"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401568" y="2309469"/>
            <a:ext cx="366674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env / envFrom</a:t>
            </a:r>
          </a:p>
        </p:txBody>
      </p:sp>
      <p:sp>
        <p:nvSpPr>
          <p:cNvPr id="11" name="Rectangle 10"/>
          <p:cNvSpPr/>
          <p:nvPr/>
        </p:nvSpPr>
        <p:spPr>
          <a:xfrm>
            <a:off x="7196327" y="2208885"/>
            <a:ext cx="427939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324344" y="2309469"/>
            <a:ext cx="402335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ConfigMap or Secret volume</a:t>
            </a:r>
          </a:p>
        </p:txBody>
      </p:sp>
      <p:sp>
        <p:nvSpPr>
          <p:cNvPr id="13" name="Rectangle 12"/>
          <p:cNvSpPr/>
          <p:nvPr/>
        </p:nvSpPr>
        <p:spPr>
          <a:xfrm>
            <a:off x="777240" y="2629509"/>
            <a:ext cx="2496311" cy="549432"/>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11805"/>
            <a:ext cx="2240279"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When it is read</a:t>
            </a:r>
          </a:p>
        </p:txBody>
      </p:sp>
      <p:sp>
        <p:nvSpPr>
          <p:cNvPr id="15" name="Rectangle 14"/>
          <p:cNvSpPr/>
          <p:nvPr/>
        </p:nvSpPr>
        <p:spPr>
          <a:xfrm>
            <a:off x="3273551" y="2629509"/>
            <a:ext cx="3922776"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401568" y="2711805"/>
            <a:ext cx="366674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Once, when the container process is created</a:t>
            </a:r>
          </a:p>
        </p:txBody>
      </p:sp>
      <p:sp>
        <p:nvSpPr>
          <p:cNvPr id="17" name="Rectangle 16"/>
          <p:cNvSpPr/>
          <p:nvPr/>
        </p:nvSpPr>
        <p:spPr>
          <a:xfrm>
            <a:off x="7196327" y="2629509"/>
            <a:ext cx="4279392"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324344" y="2711805"/>
            <a:ext cx="4023359"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Continuously — the kubelet refreshes the projected directory</a:t>
            </a:r>
          </a:p>
        </p:txBody>
      </p:sp>
      <p:sp>
        <p:nvSpPr>
          <p:cNvPr id="19" name="Rectangle 18"/>
          <p:cNvSpPr/>
          <p:nvPr/>
        </p:nvSpPr>
        <p:spPr>
          <a:xfrm>
            <a:off x="777240" y="3178942"/>
            <a:ext cx="2496311" cy="549432"/>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61238"/>
            <a:ext cx="2240279"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Effect of editing the source</a:t>
            </a:r>
          </a:p>
        </p:txBody>
      </p:sp>
      <p:sp>
        <p:nvSpPr>
          <p:cNvPr id="21" name="Rectangle 20"/>
          <p:cNvSpPr/>
          <p:nvPr/>
        </p:nvSpPr>
        <p:spPr>
          <a:xfrm>
            <a:off x="3273551" y="3178942"/>
            <a:ext cx="3922776" cy="549432"/>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401568" y="3261238"/>
            <a:ext cx="366674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until the container is recreated</a:t>
            </a:r>
          </a:p>
        </p:txBody>
      </p:sp>
      <p:sp>
        <p:nvSpPr>
          <p:cNvPr id="23" name="Rectangle 22"/>
          <p:cNvSpPr/>
          <p:nvPr/>
        </p:nvSpPr>
        <p:spPr>
          <a:xfrm>
            <a:off x="7196327" y="3178942"/>
            <a:ext cx="4279392"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324344" y="3261238"/>
            <a:ext cx="4023359"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file changes in place, typically within about a minute</a:t>
            </a:r>
          </a:p>
        </p:txBody>
      </p:sp>
      <p:sp>
        <p:nvSpPr>
          <p:cNvPr id="25" name="Rectangle 24"/>
          <p:cNvSpPr/>
          <p:nvPr/>
        </p:nvSpPr>
        <p:spPr>
          <a:xfrm>
            <a:off x="777240" y="3728374"/>
            <a:ext cx="2496311" cy="549432"/>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10670"/>
            <a:ext cx="2240279"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How the update is made atomic</a:t>
            </a:r>
          </a:p>
        </p:txBody>
      </p:sp>
      <p:sp>
        <p:nvSpPr>
          <p:cNvPr id="27" name="Rectangle 26"/>
          <p:cNvSpPr/>
          <p:nvPr/>
        </p:nvSpPr>
        <p:spPr>
          <a:xfrm>
            <a:off x="3273551" y="3728374"/>
            <a:ext cx="3922776" cy="549432"/>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401568" y="3810670"/>
            <a:ext cx="366674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a:t>
            </a:r>
          </a:p>
        </p:txBody>
      </p:sp>
      <p:sp>
        <p:nvSpPr>
          <p:cNvPr id="29" name="Rectangle 28"/>
          <p:cNvSpPr/>
          <p:nvPr/>
        </p:nvSpPr>
        <p:spPr>
          <a:xfrm>
            <a:off x="7196327" y="3728374"/>
            <a:ext cx="4279392" cy="549432"/>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324344" y="3810670"/>
            <a:ext cx="4023359"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kubelet writes a timestamped directory and flips the ..data symlink</a:t>
            </a:r>
          </a:p>
        </p:txBody>
      </p:sp>
      <p:sp>
        <p:nvSpPr>
          <p:cNvPr id="31" name="Rectangle 30"/>
          <p:cNvSpPr/>
          <p:nvPr/>
        </p:nvSpPr>
        <p:spPr>
          <a:xfrm>
            <a:off x="777240" y="4277807"/>
            <a:ext cx="2496311" cy="549432"/>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60103"/>
            <a:ext cx="2240279"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Visible to a process that re-reads</a:t>
            </a:r>
          </a:p>
        </p:txBody>
      </p:sp>
      <p:sp>
        <p:nvSpPr>
          <p:cNvPr id="33" name="Rectangle 32"/>
          <p:cNvSpPr/>
          <p:nvPr/>
        </p:nvSpPr>
        <p:spPr>
          <a:xfrm>
            <a:off x="3273551" y="4277807"/>
            <a:ext cx="3922776" cy="549432"/>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401568" y="4360103"/>
            <a:ext cx="366674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the process would have to be restarted</a:t>
            </a:r>
          </a:p>
        </p:txBody>
      </p:sp>
      <p:sp>
        <p:nvSpPr>
          <p:cNvPr id="35" name="Rectangle 34"/>
          <p:cNvSpPr/>
          <p:nvPr/>
        </p:nvSpPr>
        <p:spPr>
          <a:xfrm>
            <a:off x="7196327" y="4277807"/>
            <a:ext cx="4279392" cy="549432"/>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324344" y="4360103"/>
            <a:ext cx="4023359"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if the application watches or re-reads the file</a:t>
            </a:r>
          </a:p>
        </p:txBody>
      </p:sp>
      <p:sp>
        <p:nvSpPr>
          <p:cNvPr id="37" name="Rectangle 36"/>
          <p:cNvSpPr/>
          <p:nvPr/>
        </p:nvSpPr>
        <p:spPr>
          <a:xfrm>
            <a:off x="777240" y="4827239"/>
            <a:ext cx="2496311"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9535"/>
            <a:ext cx="2240279"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Known exception</a:t>
            </a:r>
          </a:p>
        </p:txBody>
      </p:sp>
      <p:sp>
        <p:nvSpPr>
          <p:cNvPr id="39" name="Rectangle 38"/>
          <p:cNvSpPr/>
          <p:nvPr/>
        </p:nvSpPr>
        <p:spPr>
          <a:xfrm>
            <a:off x="3273551" y="4827239"/>
            <a:ext cx="3922776" cy="549432"/>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401568" y="4909535"/>
            <a:ext cx="366674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t>
            </a:r>
          </a:p>
        </p:txBody>
      </p:sp>
      <p:sp>
        <p:nvSpPr>
          <p:cNvPr id="41" name="Rectangle 40"/>
          <p:cNvSpPr/>
          <p:nvPr/>
        </p:nvSpPr>
        <p:spPr>
          <a:xfrm>
            <a:off x="7196327" y="4827239"/>
            <a:ext cx="4279392" cy="549432"/>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324344" y="4909535"/>
            <a:ext cx="4023359"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subPath mounts are resolved once and never updated</a:t>
            </a:r>
          </a:p>
        </p:txBody>
      </p:sp>
      <p:sp>
        <p:nvSpPr>
          <p:cNvPr id="43" name="Rectangle 42"/>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Secrets and anything hot-reloadable belong in a volume. Start-up-only settings are fine as environment variables.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courseware/labs/lab-03-commands-args-env on the training cluster, Kubernetes v1.37.0. Kubernetes documentation — ConfigMaps: kubernetes.io/docs/concepts/configuration/configmap/.</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103</a:t>
            </a:r>
          </a:p>
        </p:txBody>
      </p:sp>
    </p:spTree>
  </p:cSld>
  <p:clrMapOvr>
    <a:masterClrMapping/>
  </p:clrMapOvr>
  <p:transition xmlns:ns1="http://schemas.openxmlformats.org/markup-compatibility/2006" spd="fast" ns1:Ignorable="p14">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CrashLoopBackOff Is a Waiting Reason, Not an Error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back-off doubles — roughly 10s, 20s, 40s, 80s — and is capped at five minutes. Slow status flips are expected.</a:t>
            </a:r>
          </a:p>
        </p:txBody>
      </p:sp>
      <p:sp>
        <p:nvSpPr>
          <p:cNvPr id="7" name="Rectangle 6"/>
          <p:cNvSpPr/>
          <p:nvPr/>
        </p:nvSpPr>
        <p:spPr>
          <a:xfrm>
            <a:off x="777240" y="2208885"/>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8885"/>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72893"/>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74061"/>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container starts, exits immediately, and the restart counter climbs while the intervals get longer.</a:t>
            </a:r>
          </a:p>
        </p:txBody>
      </p:sp>
      <p:sp>
        <p:nvSpPr>
          <p:cNvPr id="11" name="Rectangle 10"/>
          <p:cNvSpPr/>
          <p:nvPr/>
        </p:nvSpPr>
        <p:spPr>
          <a:xfrm>
            <a:off x="777240" y="2922117"/>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50133"/>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42741"/>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kcna-lab03 get pod booking-missing-env</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booking-missing-env   0/1    CrashLoopBackOff   3 (28s)   72s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kcna-lab03 logs booking-missing-env</a:t>
            </a:r>
          </a:p>
          <a:p>
            <a:pPr>
              <a:lnSpc>
                <a:spcPts val="1476"/>
              </a:lnSpc>
              <a:spcAft>
                <a:spcPts val="0"/>
              </a:spcAft>
            </a:pPr>
            <a:r>
              <a:rPr sz="950">
                <a:solidFill>
                  <a:srgbClr val="E6EDF3"/>
                </a:solidFill>
                <a:latin typeface="Consolas"/>
              </a:rPr>
              <a:t>Error from server (BadRequest): container "app" in pod</a:t>
            </a:r>
          </a:p>
          <a:p>
            <a:pPr>
              <a:lnSpc>
                <a:spcPts val="1476"/>
              </a:lnSpc>
              <a:spcAft>
                <a:spcPts val="0"/>
              </a:spcAft>
            </a:pPr>
            <a:r>
              <a:rPr sz="950">
                <a:solidFill>
                  <a:srgbClr val="E6EDF3"/>
                </a:solidFill>
                <a:latin typeface="Consolas"/>
              </a:rPr>
              <a:t>  "booking-missing-env" is waiting to start: CrashLoopBackOff</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kcna-lab03 logs booking-missing-env --previous</a:t>
            </a:r>
          </a:p>
          <a:p>
            <a:pPr>
              <a:lnSpc>
                <a:spcPts val="1476"/>
              </a:lnSpc>
              <a:spcAft>
                <a:spcPts val="0"/>
              </a:spcAft>
            </a:pPr>
            <a:r>
              <a:rPr sz="950">
                <a:solidFill>
                  <a:srgbClr val="E6EDF3"/>
                </a:solidFill>
                <a:latin typeface="Consolas"/>
              </a:rPr>
              <a:t>[preflight] booking-api starting</a:t>
            </a:r>
          </a:p>
          <a:p>
            <a:pPr>
              <a:lnSpc>
                <a:spcPts val="1476"/>
              </a:lnSpc>
              <a:spcAft>
                <a:spcPts val="0"/>
              </a:spcAft>
            </a:pPr>
            <a:r>
              <a:rPr sz="950">
                <a:solidFill>
                  <a:srgbClr val="E6EDF3"/>
                </a:solidFill>
                <a:latin typeface="Consolas"/>
              </a:rPr>
              <a:t>[preflight] FATAL: TARIFF_TABLE is not set - refusing to start</a:t>
            </a:r>
          </a:p>
        </p:txBody>
      </p:sp>
      <p:sp>
        <p:nvSpPr>
          <p:cNvPr id="14" name="Rectangle 13"/>
          <p:cNvSpPr/>
          <p:nvPr/>
        </p:nvSpPr>
        <p:spPr>
          <a:xfrm>
            <a:off x="7205472" y="2922117"/>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22117"/>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5869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9589"/>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application requires TARIFF_TABLE and exits 1 when it is missing. Nothing upstream complained: the API server accepted the Pod, the scheduler placed it and the image pulled cleanly.</a:t>
            </a:r>
          </a:p>
        </p:txBody>
      </p:sp>
      <p:sp>
        <p:nvSpPr>
          <p:cNvPr id="18" name="Rectangle 17"/>
          <p:cNvSpPr/>
          <p:nvPr/>
        </p:nvSpPr>
        <p:spPr>
          <a:xfrm>
            <a:off x="7205472" y="3935996"/>
            <a:ext cx="4270247" cy="1242324"/>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35996"/>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72572"/>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83468"/>
            <a:ext cx="3904487" cy="83998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--previous is mandatory: the current container does not exist yet</a:t>
            </a:r>
          </a:p>
          <a:p>
            <a:pPr>
              <a:lnSpc>
                <a:spcPct val="112000"/>
              </a:lnSpc>
              <a:spcAft>
                <a:spcPts val="200"/>
              </a:spcAft>
            </a:pPr>
            <a:r>
              <a:rPr sz="950">
                <a:solidFill>
                  <a:srgbClr val="94A3B8"/>
                </a:solidFill>
                <a:latin typeface="Arial"/>
              </a:rPr>
              <a:t>•  </a:t>
            </a:r>
            <a:r>
              <a:rPr sz="950">
                <a:solidFill>
                  <a:srgbClr val="5B6372"/>
                </a:solidFill>
                <a:latin typeface="Arial"/>
              </a:rPr>
              <a:t>Read lastState.terminated.exitCode — 1 is the app deciding to stop</a:t>
            </a:r>
          </a:p>
          <a:p>
            <a:pPr>
              <a:lnSpc>
                <a:spcPct val="112000"/>
              </a:lnSpc>
              <a:spcAft>
                <a:spcPts val="200"/>
              </a:spcAft>
            </a:pPr>
            <a:r>
              <a:rPr sz="950">
                <a:solidFill>
                  <a:srgbClr val="94A3B8"/>
                </a:solidFill>
                <a:latin typeface="Arial"/>
              </a:rPr>
              <a:t>•  </a:t>
            </a:r>
            <a:r>
              <a:rPr sz="950">
                <a:solidFill>
                  <a:srgbClr val="5B6372"/>
                </a:solidFill>
                <a:latin typeface="Arial"/>
              </a:rPr>
              <a:t>Exit 137 is SIGKILL (usually OOMKilled); 143 is SIGTERM</a:t>
            </a:r>
          </a:p>
          <a:p>
            <a:pPr>
              <a:lnSpc>
                <a:spcPct val="112000"/>
              </a:lnSpc>
              <a:spcAft>
                <a:spcPts val="200"/>
              </a:spcAft>
            </a:pPr>
            <a:r>
              <a:rPr sz="950">
                <a:solidFill>
                  <a:srgbClr val="94A3B8"/>
                </a:solidFill>
                <a:latin typeface="Arial"/>
              </a:rPr>
              <a:t>•  </a:t>
            </a:r>
            <a:r>
              <a:rPr sz="950">
                <a:solidFill>
                  <a:srgbClr val="5B6372"/>
                </a:solidFill>
                <a:latin typeface="Arial"/>
              </a:rPr>
              <a:t>Started and Finished in the same second means start-up, not load</a:t>
            </a:r>
          </a:p>
        </p:txBody>
      </p:sp>
      <p:sp>
        <p:nvSpPr>
          <p:cNvPr id="22" name="Rectangle 21"/>
          <p:cNvSpPr/>
          <p:nvPr/>
        </p:nvSpPr>
        <p:spPr>
          <a:xfrm>
            <a:off x="777240" y="5697321"/>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807049"/>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A rebuilt Pod reaches Ready and the restart counter stops moving</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courseware/labs/lab-03-commands-args-env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104</a:t>
            </a:r>
          </a:p>
        </p:txBody>
      </p:sp>
    </p:spTree>
  </p:cSld>
  <p:clrMapOvr>
    <a:masterClrMapping/>
  </p:clrMapOvr>
  <p:transition xmlns:ns1="http://schemas.openxmlformats.org/markup-compatibility/2006" spd="fast" ns1:Ignorable="p14">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May Change on a Running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list is not trivia — it is the argument for never managing bare Pods in production, delivered by the API itself.</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spec.containers[*].image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Mutable — this is why kubectl set image repaired the bad tag in Lab 02</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spec.initContainers[*].image</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Mutable, same reason</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spec.activeDeadlineSeconds</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Mutable</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spec.tolerations</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Additions to existing tolerations only</a:t>
            </a:r>
          </a:p>
        </p:txBody>
      </p:sp>
      <p:sp>
        <p:nvSpPr>
          <p:cNvPr id="23" name="Rectangle 22"/>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6263639" y="220004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spec.terminationGracePeriodSeconds</a:t>
            </a:r>
          </a:p>
        </p:txBody>
      </p:sp>
      <p:sp>
        <p:nvSpPr>
          <p:cNvPr id="26" name="TextBox 25"/>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May be set to 1 if it was previously negative</a:t>
            </a:r>
          </a:p>
        </p:txBody>
      </p:sp>
      <p:sp>
        <p:nvSpPr>
          <p:cNvPr id="27" name="Rectangle 26"/>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6263639" y="274868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Everything else</a:t>
            </a:r>
          </a:p>
        </p:txBody>
      </p:sp>
      <p:sp>
        <p:nvSpPr>
          <p:cNvPr id="30" name="TextBox 29"/>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Forbidden. The API server returns 'pod updates may not change fields other than …'</a:t>
            </a:r>
          </a:p>
        </p:txBody>
      </p:sp>
      <p:sp>
        <p:nvSpPr>
          <p:cNvPr id="31" name="Rectangle 30"/>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329732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So how do you change env?</a:t>
            </a:r>
          </a:p>
        </p:txBody>
      </p:sp>
      <p:sp>
        <p:nvSpPr>
          <p:cNvPr id="34" name="TextBox 33"/>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replace the object. A Deployment does that for you (Day 2)</a:t>
            </a:r>
          </a:p>
        </p:txBody>
      </p:sp>
      <p:sp>
        <p:nvSpPr>
          <p:cNvPr id="35" name="Rectangle 34"/>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384596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Why the restriction exists</a:t>
            </a:r>
          </a:p>
        </p:txBody>
      </p:sp>
      <p:sp>
        <p:nvSpPr>
          <p:cNvPr id="38" name="TextBox 37"/>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Pod is bound to a node and already running; most spec changes cannot be applied in place</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courseware/labs/lab-03-commands-args-env on the training cluster, Kubernetes v1.37.0. Kubernetes documentation — Pods and Pod lifecycle: kubernetes.io/docs/concepts/workloads/pods/.</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105</a:t>
            </a:r>
          </a:p>
        </p:txBody>
      </p:sp>
    </p:spTree>
  </p:cSld>
  <p:clrMapOvr>
    <a:masterClrMapping/>
  </p:clrMapOvr>
  <p:transition xmlns:ns1="http://schemas.openxmlformats.org/markup-compatibility/2006" spd="fast" ns1:Ignorable="p14">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03 — Commands, Arguments and Environment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Configure a container entirely from outside its image — override ENTRYPOINT and CMD with command/args, inject settings with env, envFrom and the downward API, and mount a JSON dataset — then diagnose a CrashLoopBackOff caused by one missing variable.</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An entrypoint-override matrix of three Pods proving how command and args map onto image ENTRYPOINT and CMD</a:t>
            </a:r>
          </a:p>
          <a:p>
            <a:pPr>
              <a:lnSpc>
                <a:spcPct val="112000"/>
              </a:lnSpc>
              <a:spcAft>
                <a:spcPts val="500"/>
              </a:spcAft>
            </a:pPr>
            <a:r>
              <a:rPr sz="1050">
                <a:solidFill>
                  <a:srgbClr val="94A3B8"/>
                </a:solidFill>
                <a:latin typeface="Arial"/>
              </a:rPr>
              <a:t>•  </a:t>
            </a:r>
            <a:r>
              <a:rPr sz="1050">
                <a:solidFill>
                  <a:srgbClr val="5B6372"/>
                </a:solidFill>
                <a:latin typeface="Arial"/>
              </a:rPr>
              <a:t>A booking-config Pod driven by ConfigMaps built from data/route-defaults.env and data/tariff-rates.json</a:t>
            </a:r>
          </a:p>
          <a:p>
            <a:pPr>
              <a:lnSpc>
                <a:spcPct val="112000"/>
              </a:lnSpc>
              <a:spcAft>
                <a:spcPts val="500"/>
              </a:spcAft>
            </a:pPr>
            <a:r>
              <a:rPr sz="1050">
                <a:solidFill>
                  <a:srgbClr val="94A3B8"/>
                </a:solidFill>
                <a:latin typeface="Arial"/>
              </a:rPr>
              <a:t>•  </a:t>
            </a:r>
            <a:r>
              <a:rPr sz="1050">
                <a:solidFill>
                  <a:srgbClr val="5B6372"/>
                </a:solidFill>
                <a:latin typeface="Arial"/>
              </a:rPr>
              <a:t>A CrashLoopBackOff diagnosis read from kubectl logs --previous and lastState.terminated.exitCode</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command overrides ENTRYPOINT, args overrides CMD — and command alone discards CMD</a:t>
            </a:r>
          </a:p>
          <a:p>
            <a:pPr>
              <a:lnSpc>
                <a:spcPct val="112000"/>
              </a:lnSpc>
              <a:spcAft>
                <a:spcPts val="500"/>
              </a:spcAft>
            </a:pPr>
            <a:r>
              <a:rPr sz="1050">
                <a:solidFill>
                  <a:srgbClr val="94A3B8"/>
                </a:solidFill>
                <a:latin typeface="Arial"/>
              </a:rPr>
              <a:t>•  </a:t>
            </a:r>
            <a:r>
              <a:rPr sz="1050">
                <a:solidFill>
                  <a:srgbClr val="5B6372"/>
                </a:solidFill>
                <a:latin typeface="Arial"/>
              </a:rPr>
              <a:t>env, envFrom (with prefix and optional), configMapKeyRef and the downward API fieldRef/resourceFieldRef</a:t>
            </a:r>
          </a:p>
          <a:p>
            <a:pPr>
              <a:lnSpc>
                <a:spcPct val="112000"/>
              </a:lnSpc>
              <a:spcAft>
                <a:spcPts val="500"/>
              </a:spcAft>
            </a:pPr>
            <a:r>
              <a:rPr sz="1050">
                <a:solidFill>
                  <a:srgbClr val="94A3B8"/>
                </a:solidFill>
                <a:latin typeface="Arial"/>
              </a:rPr>
              <a:t>•  </a:t>
            </a:r>
            <a:r>
              <a:rPr sz="1050">
                <a:solidFill>
                  <a:srgbClr val="5B6372"/>
                </a:solidFill>
                <a:latin typeface="Arial"/>
              </a:rPr>
              <a:t>$(VAR) expansion inside env values and args happens in the kubelet, before the shell runs</a:t>
            </a:r>
          </a:p>
          <a:p>
            <a:pPr>
              <a:lnSpc>
                <a:spcPct val="112000"/>
              </a:lnSpc>
              <a:spcAft>
                <a:spcPts val="500"/>
              </a:spcAft>
            </a:pPr>
            <a:r>
              <a:rPr sz="1050">
                <a:solidFill>
                  <a:srgbClr val="94A3B8"/>
                </a:solidFill>
                <a:latin typeface="Arial"/>
              </a:rPr>
              <a:t>•  </a:t>
            </a:r>
            <a:r>
              <a:rPr sz="1050">
                <a:solidFill>
                  <a:srgbClr val="5B6372"/>
                </a:solidFill>
                <a:latin typeface="Arial"/>
              </a:rPr>
              <a:t>CrashLoopBackOff is a back-off state, not an error: read exitCode and logs --previous</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03</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kcna-lab03</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LO1 · A1 · K1</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40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courseware/labs/lab-03-commands-args-env/README.md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106</a:t>
            </a:r>
          </a:p>
        </p:txBody>
      </p:sp>
    </p:spTree>
  </p:cSld>
  <p:clrMapOvr>
    <a:masterClrMapping/>
  </p:clrMapOvr>
  <p:transition xmlns:ns1="http://schemas.openxmlformats.org/markup-compatibility/2006" spd="fast" ns1:Ignorable="p14">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Afternoon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3:50 – 4:00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107</a:t>
            </a:r>
          </a:p>
        </p:txBody>
      </p:sp>
    </p:spTree>
  </p:cSld>
  <p:clrMapOvr>
    <a:masterClrMapping/>
  </p:clrMapOvr>
  <p:transition xmlns:ns1="http://schemas.openxmlformats.org/markup-compatibility/2006" spd="fast" ns1:Ignorable="p14">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06</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6 · MULTI-CONTAINER POD PATTERNS</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Adding Capability Without Touching the Application</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Sidecar, adapter and ambassador; init containers; and native sidecars from Kubernetes v1.29.</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108</a:t>
            </a:r>
          </a:p>
        </p:txBody>
      </p:sp>
    </p:spTree>
  </p:cSld>
  <p:clrMapOvr>
    <a:masterClrMapping/>
  </p:clrMapOvr>
  <p:transition xmlns:ns1="http://schemas.openxmlformats.org/markup-compatibility/2006" spd="med" ns1:Ignorable="p14">
    <p:push dir="l"/>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THREE PATTERNS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Same Mechanics, Three Different Intents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mechanics are identical — an extra container in the Pod. The intent is what you write down in the design record.</a:t>
            </a:r>
          </a:p>
        </p:txBody>
      </p:sp>
      <p:sp>
        <p:nvSpPr>
          <p:cNvPr id="7" name="Rectangle 6"/>
          <p:cNvSpPr/>
          <p:nvPr/>
        </p:nvSpPr>
        <p:spPr>
          <a:xfrm>
            <a:off x="777240"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Sidecar — adds a capability</a:t>
            </a:r>
          </a:p>
        </p:txBody>
      </p:sp>
      <p:sp>
        <p:nvSpPr>
          <p:cNvPr id="10" name="TextBox 9"/>
          <p:cNvSpPr txBox="1"/>
          <p:nvPr/>
        </p:nvSpPr>
        <p:spPr>
          <a:xfrm>
            <a:off x="1033271"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application does something useful but incompletely.</a:t>
            </a:r>
          </a:p>
          <a:p>
            <a:pPr>
              <a:lnSpc>
                <a:spcPct val="112000"/>
              </a:lnSpc>
              <a:spcAft>
                <a:spcPts val="500"/>
              </a:spcAft>
            </a:pPr>
            <a:r>
              <a:rPr sz="1100">
                <a:solidFill>
                  <a:srgbClr val="94A3B8"/>
                </a:solidFill>
                <a:latin typeface="Arial"/>
              </a:rPr>
              <a:t>•  </a:t>
            </a:r>
            <a:r>
              <a:rPr sz="1100">
                <a:solidFill>
                  <a:srgbClr val="5B6372"/>
                </a:solidFill>
                <a:latin typeface="Arial"/>
              </a:rPr>
              <a:t>A second container extends it: ships logs, reloads config, rotates certificates, refreshes a git checkout.</a:t>
            </a:r>
          </a:p>
          <a:p>
            <a:pPr>
              <a:lnSpc>
                <a:spcPct val="112000"/>
              </a:lnSpc>
              <a:spcAft>
                <a:spcPts val="500"/>
              </a:spcAft>
            </a:pPr>
            <a:r>
              <a:rPr sz="1100">
                <a:solidFill>
                  <a:srgbClr val="94A3B8"/>
                </a:solidFill>
                <a:latin typeface="Arial"/>
              </a:rPr>
              <a:t>•  </a:t>
            </a:r>
            <a:r>
              <a:rPr sz="1100">
                <a:solidFill>
                  <a:srgbClr val="5B6372"/>
                </a:solidFill>
                <a:latin typeface="Arial"/>
              </a:rPr>
              <a:t>Communication is usually a shared volume.</a:t>
            </a:r>
          </a:p>
          <a:p>
            <a:pPr>
              <a:lnSpc>
                <a:spcPct val="112000"/>
              </a:lnSpc>
              <a:spcAft>
                <a:spcPts val="500"/>
              </a:spcAft>
            </a:pPr>
            <a:r>
              <a:rPr sz="1100">
                <a:solidFill>
                  <a:srgbClr val="94A3B8"/>
                </a:solidFill>
                <a:latin typeface="Arial"/>
              </a:rPr>
              <a:t>•  </a:t>
            </a:r>
            <a:r>
              <a:rPr sz="1100">
                <a:solidFill>
                  <a:srgbClr val="5B6372"/>
                </a:solidFill>
                <a:latin typeface="Arial"/>
              </a:rPr>
              <a:t>Real example: Fluent Bit tailing an application's log file.</a:t>
            </a:r>
          </a:p>
        </p:txBody>
      </p:sp>
      <p:sp>
        <p:nvSpPr>
          <p:cNvPr id="11" name="Rounded Rectangle 10"/>
          <p:cNvSpPr/>
          <p:nvPr/>
        </p:nvSpPr>
        <p:spPr>
          <a:xfrm>
            <a:off x="1033271" y="5532119"/>
            <a:ext cx="12115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shared emptyDir</a:t>
            </a:r>
          </a:p>
        </p:txBody>
      </p:sp>
      <p:sp>
        <p:nvSpPr>
          <p:cNvPr id="12" name="Rounded Rectangle 11"/>
          <p:cNvSpPr/>
          <p:nvPr/>
        </p:nvSpPr>
        <p:spPr>
          <a:xfrm>
            <a:off x="2336291" y="5532119"/>
            <a:ext cx="45720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logs</a:t>
            </a:r>
          </a:p>
        </p:txBody>
      </p:sp>
      <p:sp>
        <p:nvSpPr>
          <p:cNvPr id="13" name="Rectangle 12"/>
          <p:cNvSpPr/>
          <p:nvPr/>
        </p:nvSpPr>
        <p:spPr>
          <a:xfrm>
            <a:off x="4483303"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8885"/>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Adapter — reshapes an output</a:t>
            </a:r>
          </a:p>
        </p:txBody>
      </p:sp>
      <p:sp>
        <p:nvSpPr>
          <p:cNvPr id="16" name="TextBox 15"/>
          <p:cNvSpPr txBox="1"/>
          <p:nvPr/>
        </p:nvSpPr>
        <p:spPr>
          <a:xfrm>
            <a:off x="4739335"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application already produces the data, in the wrong format.</a:t>
            </a:r>
          </a:p>
          <a:p>
            <a:pPr>
              <a:lnSpc>
                <a:spcPct val="112000"/>
              </a:lnSpc>
              <a:spcAft>
                <a:spcPts val="500"/>
              </a:spcAft>
            </a:pPr>
            <a:r>
              <a:rPr sz="1100">
                <a:solidFill>
                  <a:srgbClr val="94A3B8"/>
                </a:solidFill>
                <a:latin typeface="Arial"/>
              </a:rPr>
              <a:t>•  </a:t>
            </a:r>
            <a:r>
              <a:rPr sz="1100">
                <a:solidFill>
                  <a:srgbClr val="5B6372"/>
                </a:solidFill>
                <a:latin typeface="Arial"/>
              </a:rPr>
              <a:t>The adapter reads it and re-emits it in a standard shape.</a:t>
            </a:r>
          </a:p>
          <a:p>
            <a:pPr>
              <a:lnSpc>
                <a:spcPct val="112000"/>
              </a:lnSpc>
              <a:spcAft>
                <a:spcPts val="500"/>
              </a:spcAft>
            </a:pPr>
            <a:r>
              <a:rPr sz="1100">
                <a:solidFill>
                  <a:srgbClr val="94A3B8"/>
                </a:solidFill>
                <a:latin typeface="Arial"/>
              </a:rPr>
              <a:t>•  </a:t>
            </a:r>
            <a:r>
              <a:rPr sz="1100">
                <a:solidFill>
                  <a:srgbClr val="5B6372"/>
                </a:solidFill>
                <a:latin typeface="Arial"/>
              </a:rPr>
              <a:t>The application is unchanged and unaware.</a:t>
            </a:r>
          </a:p>
          <a:p>
            <a:pPr>
              <a:lnSpc>
                <a:spcPct val="112000"/>
              </a:lnSpc>
              <a:spcAft>
                <a:spcPts val="500"/>
              </a:spcAft>
            </a:pPr>
            <a:r>
              <a:rPr sz="1100">
                <a:solidFill>
                  <a:srgbClr val="94A3B8"/>
                </a:solidFill>
                <a:latin typeface="Arial"/>
              </a:rPr>
              <a:t>•  </a:t>
            </a:r>
            <a:r>
              <a:rPr sz="1100">
                <a:solidFill>
                  <a:srgbClr val="5B6372"/>
                </a:solidFill>
                <a:latin typeface="Arial"/>
              </a:rPr>
              <a:t>Real example: an exporter turning a private log into Prometheus exposition format.</a:t>
            </a:r>
          </a:p>
        </p:txBody>
      </p:sp>
      <p:sp>
        <p:nvSpPr>
          <p:cNvPr id="17" name="Rounded Rectangle 16"/>
          <p:cNvSpPr/>
          <p:nvPr/>
        </p:nvSpPr>
        <p:spPr>
          <a:xfrm>
            <a:off x="4739335" y="5532119"/>
            <a:ext cx="12115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read-only mount</a:t>
            </a:r>
          </a:p>
        </p:txBody>
      </p:sp>
      <p:sp>
        <p:nvSpPr>
          <p:cNvPr id="18" name="Rounded Rectangle 17"/>
          <p:cNvSpPr/>
          <p:nvPr/>
        </p:nvSpPr>
        <p:spPr>
          <a:xfrm>
            <a:off x="6042355" y="5532119"/>
            <a:ext cx="66294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metrics</a:t>
            </a:r>
          </a:p>
        </p:txBody>
      </p:sp>
      <p:sp>
        <p:nvSpPr>
          <p:cNvPr id="19" name="Rectangle 18"/>
          <p:cNvSpPr/>
          <p:nvPr/>
        </p:nvSpPr>
        <p:spPr>
          <a:xfrm>
            <a:off x="8189366"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8885"/>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Ambassador — owns outbound traffic</a:t>
            </a:r>
          </a:p>
        </p:txBody>
      </p:sp>
      <p:sp>
        <p:nvSpPr>
          <p:cNvPr id="22" name="TextBox 21"/>
          <p:cNvSpPr txBox="1"/>
          <p:nvPr/>
        </p:nvSpPr>
        <p:spPr>
          <a:xfrm>
            <a:off x="8445398"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application makes the simplest possible call: localhost.</a:t>
            </a:r>
          </a:p>
          <a:p>
            <a:pPr>
              <a:lnSpc>
                <a:spcPct val="112000"/>
              </a:lnSpc>
              <a:spcAft>
                <a:spcPts val="500"/>
              </a:spcAft>
            </a:pPr>
            <a:r>
              <a:rPr sz="1100">
                <a:solidFill>
                  <a:srgbClr val="94A3B8"/>
                </a:solidFill>
                <a:latin typeface="Arial"/>
              </a:rPr>
              <a:t>•  </a:t>
            </a:r>
            <a:r>
              <a:rPr sz="1100">
                <a:solidFill>
                  <a:srgbClr val="5B6372"/>
                </a:solidFill>
                <a:latin typeface="Arial"/>
              </a:rPr>
              <a:t>The ambassador handles discovery, TLS, retries, sharding and topology on its behalf.</a:t>
            </a:r>
          </a:p>
          <a:p>
            <a:pPr>
              <a:lnSpc>
                <a:spcPct val="112000"/>
              </a:lnSpc>
              <a:spcAft>
                <a:spcPts val="500"/>
              </a:spcAft>
            </a:pPr>
            <a:r>
              <a:rPr sz="1100">
                <a:solidFill>
                  <a:srgbClr val="94A3B8"/>
                </a:solidFill>
                <a:latin typeface="Arial"/>
              </a:rPr>
              <a:t>•  </a:t>
            </a:r>
            <a:r>
              <a:rPr sz="1100">
                <a:solidFill>
                  <a:srgbClr val="5B6372"/>
                </a:solidFill>
                <a:latin typeface="Arial"/>
              </a:rPr>
              <a:t>Communication is the shared loopback interface.</a:t>
            </a:r>
          </a:p>
          <a:p>
            <a:pPr>
              <a:lnSpc>
                <a:spcPct val="112000"/>
              </a:lnSpc>
              <a:spcAft>
                <a:spcPts val="500"/>
              </a:spcAft>
            </a:pPr>
            <a:r>
              <a:rPr sz="1100">
                <a:solidFill>
                  <a:srgbClr val="94A3B8"/>
                </a:solidFill>
                <a:latin typeface="Arial"/>
              </a:rPr>
              <a:t>•  </a:t>
            </a:r>
            <a:r>
              <a:rPr sz="1100">
                <a:solidFill>
                  <a:srgbClr val="5B6372"/>
                </a:solidFill>
                <a:latin typeface="Arial"/>
              </a:rPr>
              <a:t>Real example: an Envoy sidecar in a service mesh.</a:t>
            </a:r>
          </a:p>
        </p:txBody>
      </p:sp>
      <p:sp>
        <p:nvSpPr>
          <p:cNvPr id="23" name="Rounded Rectangle 22"/>
          <p:cNvSpPr/>
          <p:nvPr/>
        </p:nvSpPr>
        <p:spPr>
          <a:xfrm>
            <a:off x="8445398" y="5532119"/>
            <a:ext cx="8001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127.0.0.1</a:t>
            </a:r>
          </a:p>
        </p:txBody>
      </p:sp>
      <p:sp>
        <p:nvSpPr>
          <p:cNvPr id="24" name="Rounded Rectangle 23"/>
          <p:cNvSpPr/>
          <p:nvPr/>
        </p:nvSpPr>
        <p:spPr>
          <a:xfrm>
            <a:off x="9336938" y="5532119"/>
            <a:ext cx="5257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proxy</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 Captured in courseware/labs/lab-04-multi-container-patterns on the training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109</a:t>
            </a:r>
          </a:p>
        </p:txBody>
      </p:sp>
    </p:spTree>
  </p:cSld>
  <p:clrMapOvr>
    <a:masterClrMapping/>
  </p:clrMapOvr>
  <p:transition xmlns:ns1="http://schemas.openxmlformats.org/markup-compatibility/2006" spd="fast" ns1:Ignorable="p14">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Sidecar — Two Containers, One Volume, Two Mount Modes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Note READY 2/2 on this Pod: the left number counts ready containers, the right counts total containers.</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manifests/20-sidecar-logship.yaml (Lab 04,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containers:</a:t>
            </a:r>
          </a:p>
          <a:p>
            <a:pPr>
              <a:lnSpc>
                <a:spcPts val="1413"/>
              </a:lnSpc>
              <a:spcAft>
                <a:spcPts val="0"/>
              </a:spcAft>
            </a:pPr>
            <a:r>
              <a:rPr sz="1050">
                <a:solidFill>
                  <a:srgbClr val="E6EDF3"/>
                </a:solidFill>
                <a:latin typeface="Consolas"/>
              </a:rPr>
              <a:t>    - name: app</a:t>
            </a:r>
          </a:p>
          <a:p>
            <a:pPr>
              <a:lnSpc>
                <a:spcPts val="1413"/>
              </a:lnSpc>
              <a:spcAft>
                <a:spcPts val="0"/>
              </a:spcAft>
            </a:pPr>
            <a:r>
              <a:rPr sz="1050">
                <a:solidFill>
                  <a:srgbClr val="E6EDF3"/>
                </a:solidFill>
                <a:latin typeface="Consolas"/>
              </a:rPr>
              <a:t>      image: busybox:1.36</a:t>
            </a:r>
          </a:p>
          <a:p>
            <a:pPr>
              <a:lnSpc>
                <a:spcPts val="1413"/>
              </a:lnSpc>
              <a:spcAft>
                <a:spcPts val="0"/>
              </a:spcAft>
            </a:pPr>
            <a:r>
              <a:rPr sz="1050">
                <a:solidFill>
                  <a:srgbClr val="E6EDF3"/>
                </a:solidFill>
                <a:latin typeface="Consolas"/>
              </a:rPr>
              <a:t>      volumeMounts:</a:t>
            </a:r>
          </a:p>
          <a:p>
            <a:pPr>
              <a:lnSpc>
                <a:spcPts val="1413"/>
              </a:lnSpc>
              <a:spcAft>
                <a:spcPts val="0"/>
              </a:spcAft>
            </a:pPr>
            <a:r>
              <a:rPr sz="1050">
                <a:solidFill>
                  <a:srgbClr val="E6EDF3"/>
                </a:solidFill>
                <a:latin typeface="Consolas"/>
              </a:rPr>
              <a:t>        - { name: varlog, mountPath: /var/log/depot }</a:t>
            </a:r>
          </a:p>
          <a:p>
            <a:pPr>
              <a:lnSpc>
                <a:spcPts val="1413"/>
              </a:lnSpc>
              <a:spcAft>
                <a:spcPts val="0"/>
              </a:spcAft>
            </a:pPr>
            <a:r>
              <a:rPr sz="1050">
                <a:solidFill>
                  <a:srgbClr val="E6EDF3"/>
                </a:solidFill>
                <a:latin typeface="Consolas"/>
              </a:rPr>
              <a:t>        - { name: seed,   mountPath: /seed }</a:t>
            </a:r>
          </a:p>
          <a:p>
            <a:pPr>
              <a:lnSpc>
                <a:spcPts val="1413"/>
              </a:lnSpc>
              <a:spcAft>
                <a:spcPts val="0"/>
              </a:spcAft>
            </a:pPr>
            <a:r>
              <a:rPr sz="1050">
                <a:solidFill>
                  <a:srgbClr val="E6EDF3"/>
                </a:solidFill>
                <a:latin typeface="Consolas"/>
              </a:rPr>
              <a:t>    - name: shipper</a:t>
            </a:r>
          </a:p>
          <a:p>
            <a:pPr>
              <a:lnSpc>
                <a:spcPts val="1413"/>
              </a:lnSpc>
              <a:spcAft>
                <a:spcPts val="0"/>
              </a:spcAft>
            </a:pPr>
            <a:r>
              <a:rPr sz="1050">
                <a:solidFill>
                  <a:srgbClr val="E6EDF3"/>
                </a:solidFill>
                <a:latin typeface="Consolas"/>
              </a:rPr>
              <a:t>      image: busybox:1.36</a:t>
            </a:r>
          </a:p>
          <a:p>
            <a:pPr>
              <a:lnSpc>
                <a:spcPts val="1413"/>
              </a:lnSpc>
              <a:spcAft>
                <a:spcPts val="0"/>
              </a:spcAft>
            </a:pPr>
            <a:r>
              <a:rPr sz="1050">
                <a:solidFill>
                  <a:srgbClr val="E6EDF3"/>
                </a:solidFill>
                <a:latin typeface="Consolas"/>
              </a:rPr>
              <a:t>      volumeMounts:</a:t>
            </a:r>
          </a:p>
          <a:p>
            <a:pPr>
              <a:lnSpc>
                <a:spcPts val="1413"/>
              </a:lnSpc>
              <a:spcAft>
                <a:spcPts val="0"/>
              </a:spcAft>
            </a:pPr>
            <a:r>
              <a:rPr sz="1050">
                <a:solidFill>
                  <a:srgbClr val="E6EDF3"/>
                </a:solidFill>
                <a:latin typeface="Consolas"/>
              </a:rPr>
              <a:t>        - name: varlog</a:t>
            </a:r>
          </a:p>
          <a:p>
            <a:pPr>
              <a:lnSpc>
                <a:spcPts val="1413"/>
              </a:lnSpc>
              <a:spcAft>
                <a:spcPts val="0"/>
              </a:spcAft>
            </a:pPr>
            <a:r>
              <a:rPr sz="1050">
                <a:solidFill>
                  <a:srgbClr val="E6EDF3"/>
                </a:solidFill>
                <a:latin typeface="Consolas"/>
              </a:rPr>
              <a:t>          mountPath: /var/log/depot</a:t>
            </a:r>
          </a:p>
          <a:p>
            <a:pPr>
              <a:lnSpc>
                <a:spcPts val="1413"/>
              </a:lnSpc>
              <a:spcAft>
                <a:spcPts val="0"/>
              </a:spcAft>
            </a:pPr>
            <a:r>
              <a:rPr sz="1050">
                <a:solidFill>
                  <a:srgbClr val="E6EDF3"/>
                </a:solidFill>
                <a:latin typeface="Consolas"/>
              </a:rPr>
              <a:t>          readOnly: true          # same volume, RO</a:t>
            </a:r>
          </a:p>
          <a:p>
            <a:pPr>
              <a:lnSpc>
                <a:spcPts val="1413"/>
              </a:lnSpc>
              <a:spcAft>
                <a:spcPts val="0"/>
              </a:spcAft>
            </a:pPr>
            <a:r>
              <a:rPr sz="1050">
                <a:solidFill>
                  <a:srgbClr val="E6EDF3"/>
                </a:solidFill>
                <a:latin typeface="Consolas"/>
              </a:rPr>
              <a:t>  volumes:</a:t>
            </a:r>
          </a:p>
          <a:p>
            <a:pPr>
              <a:lnSpc>
                <a:spcPts val="1413"/>
              </a:lnSpc>
              <a:spcAft>
                <a:spcPts val="0"/>
              </a:spcAft>
            </a:pPr>
            <a:r>
              <a:rPr sz="1050">
                <a:solidFill>
                  <a:srgbClr val="E6EDF3"/>
                </a:solidFill>
                <a:latin typeface="Consolas"/>
              </a:rPr>
              <a:t>    - name: varlog</a:t>
            </a:r>
          </a:p>
          <a:p>
            <a:pPr>
              <a:lnSpc>
                <a:spcPts val="1413"/>
              </a:lnSpc>
              <a:spcAft>
                <a:spcPts val="0"/>
              </a:spcAft>
            </a:pPr>
            <a:r>
              <a:rPr sz="1050">
                <a:solidFill>
                  <a:srgbClr val="E6EDF3"/>
                </a:solidFill>
                <a:latin typeface="Consolas"/>
              </a:rPr>
              <a:t>      emptyDir: { sizeLimit: 16Mi }</a:t>
            </a:r>
          </a:p>
          <a:p>
            <a:pPr>
              <a:lnSpc>
                <a:spcPts val="1413"/>
              </a:lnSpc>
              <a:spcAft>
                <a:spcPts val="0"/>
              </a:spcAft>
            </a:pPr>
            <a:r>
              <a:rPr sz="1050">
                <a:solidFill>
                  <a:srgbClr val="E6EDF3"/>
                </a:solidFill>
                <a:latin typeface="Consolas"/>
              </a:rPr>
              <a:t>    - name: seed</a:t>
            </a:r>
          </a:p>
          <a:p>
            <a:pPr>
              <a:lnSpc>
                <a:spcPts val="1413"/>
              </a:lnSpc>
              <a:spcAft>
                <a:spcPts val="0"/>
              </a:spcAft>
            </a:pPr>
            <a:r>
              <a:rPr sz="1050">
                <a:solidFill>
                  <a:srgbClr val="E6EDF3"/>
                </a:solidFill>
                <a:latin typeface="Consolas"/>
              </a:rPr>
              <a:t>      configMap: { name: access-seed }</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Mount options are per container</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volume, mounted read-write in app and read-only in shipper. A write from the shipper fails with 'Read-only file system'.</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Only declared mounts exist</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shipper never mounts seed, so /seed does not exist in it. Same Pod, different filesystems.</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emptyDir needs a sizeLimit</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 unbounded scratch volume can fill the node's disk and get the Pod evicted.</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result is an ordinary container log</a:t>
            </a:r>
          </a:p>
        </p:txBody>
      </p:sp>
      <p:sp>
        <p:nvSpPr>
          <p:cNvPr id="23" name="TextBox 22"/>
          <p:cNvSpPr txBox="1"/>
          <p:nvPr/>
        </p:nvSpPr>
        <p:spPr>
          <a:xfrm>
            <a:off x="7973567" y="518134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Anything that already collects container logs picks the shipped output up for free. That is the sidecar's whole value.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courseware/labs/lab-04-multi-container-patterns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110</a:t>
            </a:r>
          </a:p>
        </p:txBody>
      </p:sp>
    </p:spTree>
  </p:cSld>
  <p:clrMapOvr>
    <a:masterClrMapping/>
  </p:clrMapOvr>
  <p:transition xmlns:ns1="http://schemas.openxmlformats.org/markup-compatibility/2006" spd="fast" ns1:Ignorable="p14">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Adapter: Turning a Private Format Into a Standard One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04 produces real counters — 200, 201, 404 and 503 series — from a log the adapter did not write.</a:t>
            </a:r>
          </a:p>
        </p:txBody>
      </p:sp>
      <p:sp>
        <p:nvSpPr>
          <p:cNvPr id="7" name="Rounded Rectangle 6"/>
          <p:cNvSpPr/>
          <p:nvPr/>
        </p:nvSpPr>
        <p:spPr>
          <a:xfrm>
            <a:off x="777240" y="2382926"/>
            <a:ext cx="2441448"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App writes its own format</a:t>
            </a:r>
          </a:p>
        </p:txBody>
      </p:sp>
      <p:sp>
        <p:nvSpPr>
          <p:cNvPr id="11" name="TextBox 10"/>
          <p:cNvSpPr txBox="1"/>
          <p:nvPr/>
        </p:nvSpPr>
        <p:spPr>
          <a:xfrm>
            <a:off x="923544"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depot=MF-SIN-02 path=/api/bookings status=200 latency_ms=41 — Meridian's key=value log, unchanged for six years.</a:t>
            </a:r>
          </a:p>
        </p:txBody>
      </p:sp>
      <p:cxnSp>
        <p:nvCxnSpPr>
          <p:cNvPr id="12" name="Connector 11"/>
          <p:cNvCxnSpPr/>
          <p:nvPr/>
        </p:nvCxnSpPr>
        <p:spPr>
          <a:xfrm>
            <a:off x="3264408"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Adapter reads the shared volume</a:t>
            </a:r>
          </a:p>
        </p:txBody>
      </p:sp>
      <p:sp>
        <p:nvSpPr>
          <p:cNvPr id="17" name="TextBox 16"/>
          <p:cNvSpPr txBox="1"/>
          <p:nvPr/>
        </p:nvSpPr>
        <p:spPr>
          <a:xfrm>
            <a:off x="3675887"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It mounts the same emptyDir read-only and parses each line. The application does not know it exists.</a:t>
            </a:r>
          </a:p>
        </p:txBody>
      </p:sp>
      <p:cxnSp>
        <p:nvCxnSpPr>
          <p:cNvPr id="18" name="Connector 17"/>
          <p:cNvCxnSpPr/>
          <p:nvPr/>
        </p:nvCxnSpPr>
        <p:spPr>
          <a:xfrm>
            <a:off x="6016751"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Adapter re-emits a standard</a:t>
            </a:r>
          </a:p>
        </p:txBody>
      </p:sp>
      <p:sp>
        <p:nvSpPr>
          <p:cNvPr id="23" name="TextBox 22"/>
          <p:cNvSpPr txBox="1"/>
          <p:nvPr/>
        </p:nvSpPr>
        <p:spPr>
          <a:xfrm>
            <a:off x="6428231"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 HELP / # TYPE / metric{label="value"} number — the Prometheus text exposition format.</a:t>
            </a:r>
          </a:p>
        </p:txBody>
      </p:sp>
      <p:cxnSp>
        <p:nvCxnSpPr>
          <p:cNvPr id="24" name="Connector 23"/>
          <p:cNvCxnSpPr/>
          <p:nvPr/>
        </p:nvCxnSpPr>
        <p:spPr>
          <a:xfrm>
            <a:off x="8769096" y="3364255"/>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 standard consumer scrapes it</a:t>
            </a:r>
          </a:p>
        </p:txBody>
      </p:sp>
      <p:sp>
        <p:nvSpPr>
          <p:cNvPr id="29" name="TextBox 28"/>
          <p:cNvSpPr txBox="1"/>
          <p:nvPr/>
        </p:nvSpPr>
        <p:spPr>
          <a:xfrm>
            <a:off x="9180576"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Any Prometheus-compatible collector can now read this workload. Day 5 does exactly that.</a:t>
            </a:r>
          </a:p>
        </p:txBody>
      </p:sp>
      <p:sp>
        <p:nvSpPr>
          <p:cNvPr id="30" name="Rectangle 29"/>
          <p:cNvSpPr/>
          <p:nvPr/>
        </p:nvSpPr>
        <p:spPr>
          <a:xfrm>
            <a:off x="777240" y="4656480"/>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656480"/>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967376"/>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Nothing in the application changed, no rebuild was scheduled, and the workload became observable. That is the strongest single argument for composite Pods in a PoC.</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courseware/labs/lab-04-multi-container-patterns on the training cluster, Kubernetes v1.37.0. Prometheus exposition format: prometheus.io/docs/instrumenting/exposition_formats/.</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111</a:t>
            </a:r>
          </a:p>
        </p:txBody>
      </p:sp>
    </p:spTree>
  </p:cSld>
  <p:clrMapOvr>
    <a:masterClrMapping/>
  </p:clrMapOvr>
  <p:transition xmlns:ns4="http://schemas.openxmlformats.org/markup-compatibility/2006" spd="fast" ns4:Ignorable="p14">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Ambassador — the Proxy Config Is the Contract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An ambassador represents the outside world to the application on localhost.</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ambassador-conf ConfigMap + proxy access log (Lab 04)</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what the application knows:</a:t>
            </a:r>
          </a:p>
          <a:p>
            <a:pPr>
              <a:lnSpc>
                <a:spcPts val="1476"/>
              </a:lnSpc>
              <a:spcAft>
                <a:spcPts val="0"/>
              </a:spcAft>
            </a:pPr>
            <a:r>
              <a:rPr sz="1050">
                <a:solidFill>
                  <a:srgbClr val="7D8A99"/>
                </a:solidFill>
                <a:latin typeface="Consolas"/>
              </a:rPr>
              <a:t>#     http://127.0.0.1:9000</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server {</a:t>
            </a:r>
          </a:p>
          <a:p>
            <a:pPr>
              <a:lnSpc>
                <a:spcPts val="1476"/>
              </a:lnSpc>
              <a:spcAft>
                <a:spcPts val="0"/>
              </a:spcAft>
            </a:pPr>
            <a:r>
              <a:rPr sz="1050">
                <a:solidFill>
                  <a:srgbClr val="E6EDF3"/>
                </a:solidFill>
                <a:latin typeface="Consolas"/>
              </a:rPr>
              <a:t>    listen       9000;</a:t>
            </a:r>
          </a:p>
          <a:p>
            <a:pPr>
              <a:lnSpc>
                <a:spcPts val="1476"/>
              </a:lnSpc>
              <a:spcAft>
                <a:spcPts val="0"/>
              </a:spcAft>
            </a:pPr>
            <a:r>
              <a:rPr sz="1050">
                <a:solidFill>
                  <a:srgbClr val="E6EDF3"/>
                </a:solidFill>
                <a:latin typeface="Consolas"/>
              </a:rPr>
              <a:t>    location / {</a:t>
            </a:r>
          </a:p>
          <a:p>
            <a:pPr>
              <a:lnSpc>
                <a:spcPts val="1476"/>
              </a:lnSpc>
              <a:spcAft>
                <a:spcPts val="0"/>
              </a:spcAft>
            </a:pPr>
            <a:r>
              <a:rPr sz="1050">
                <a:solidFill>
                  <a:srgbClr val="E6EDF3"/>
                </a:solidFill>
                <a:latin typeface="Consolas"/>
              </a:rPr>
              <a:t>        proxy_pass</a:t>
            </a:r>
          </a:p>
          <a:p>
            <a:pPr>
              <a:lnSpc>
                <a:spcPts val="1476"/>
              </a:lnSpc>
              <a:spcAft>
                <a:spcPts val="0"/>
              </a:spcAft>
            </a:pPr>
            <a:r>
              <a:rPr sz="1050">
                <a:solidFill>
                  <a:srgbClr val="E6EDF3"/>
                </a:solidFill>
                <a:latin typeface="Consolas"/>
              </a:rPr>
              <a:t>          http://tariff-backend.kcna-lab04.svc.cluster.local:80;</a:t>
            </a:r>
          </a:p>
          <a:p>
            <a:pPr>
              <a:lnSpc>
                <a:spcPts val="1476"/>
              </a:lnSpc>
              <a:spcAft>
                <a:spcPts val="0"/>
              </a:spcAft>
            </a:pPr>
            <a:r>
              <a:rPr sz="1050">
                <a:solidFill>
                  <a:srgbClr val="E6EDF3"/>
                </a:solidFill>
                <a:latin typeface="Consolas"/>
              </a:rPr>
              <a:t>        proxy_set_header  X-Meridian-Via  ambassador;</a:t>
            </a:r>
          </a:p>
          <a:p>
            <a:pPr>
              <a:lnSpc>
                <a:spcPts val="1476"/>
              </a:lnSpc>
              <a:spcAft>
                <a:spcPts val="0"/>
              </a:spcAft>
            </a:pPr>
            <a:r>
              <a:rPr sz="1050">
                <a:solidFill>
                  <a:srgbClr val="E6EDF3"/>
                </a:solidFill>
                <a:latin typeface="Consolas"/>
              </a:rPr>
              <a:t>        proxy_connect_timeout 2s;</a:t>
            </a:r>
          </a:p>
          <a:p>
            <a:pPr>
              <a:lnSpc>
                <a:spcPts val="1476"/>
              </a:lnSpc>
              <a:spcAft>
                <a:spcPts val="0"/>
              </a:spcAft>
            </a:pPr>
            <a:r>
              <a:rPr sz="1050">
                <a:solidFill>
                  <a:srgbClr val="E6EDF3"/>
                </a:solidFill>
                <a:latin typeface="Consolas"/>
              </a:rPr>
              <a:t>        proxy_read_timeout    5s;</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the proxy's access log, from inside the Pod:</a:t>
            </a:r>
          </a:p>
          <a:p>
            <a:pPr>
              <a:lnSpc>
                <a:spcPts val="1476"/>
              </a:lnSpc>
              <a:spcAft>
                <a:spcPts val="0"/>
              </a:spcAft>
            </a:pPr>
            <a:r>
              <a:rPr sz="1050">
                <a:solidFill>
                  <a:srgbClr val="E6EDF3"/>
                </a:solidFill>
                <a:latin typeface="Consolas"/>
              </a:rPr>
              <a:t>127.0.0.1 - - [05/Sep/2026:16:16:02]</a:t>
            </a:r>
          </a:p>
          <a:p>
            <a:pPr>
              <a:lnSpc>
                <a:spcPts val="1476"/>
              </a:lnSpc>
              <a:spcAft>
                <a:spcPts val="0"/>
              </a:spcAft>
            </a:pPr>
            <a:r>
              <a:rPr sz="1050">
                <a:solidFill>
                  <a:srgbClr val="E6EDF3"/>
                </a:solidFill>
                <a:latin typeface="Consolas"/>
              </a:rPr>
              <a:t>  "GET /tariff-quote.json HTTP/1.1" 200 341 "-" "Wget"</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client address is 127.0.0.1</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Two containers, one loopback interface — direct evidence that they share a network namespace.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app never learns the Service name</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Discovery, timeouts and headers are the ambassador's problem. Adding mTLS later edits this ConfigMap, not the application.</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One port space per Pod</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ambassador owns 9000. No other container in this Pod may bind it.</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This is how a service mesh works</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Istio and Linkerd inject exactly this shape automatically instead of you writing it by hand.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courseware/labs/lab-04-multi-container-patterns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112</a:t>
            </a:r>
          </a:p>
        </p:txBody>
      </p:sp>
    </p:spTree>
  </p:cSld>
  <p:clrMapOvr>
    <a:masterClrMapping/>
  </p:clrMapOvr>
  <p:transition xmlns:ns1="http://schemas.openxmlformats.org/markup-compatibility/2006" spd="fast" ns1:Ignorable="p14">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Choosing Between the Three Patterns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If two containers must scale independently or fail independently, they belong in two Pods — not in one.</a:t>
            </a:r>
          </a:p>
        </p:txBody>
      </p:sp>
      <p:sp>
        <p:nvSpPr>
          <p:cNvPr id="7" name="Rectangle 6"/>
          <p:cNvSpPr/>
          <p:nvPr/>
        </p:nvSpPr>
        <p:spPr>
          <a:xfrm>
            <a:off x="777240" y="2200046"/>
            <a:ext cx="2045297"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78926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Question</a:t>
            </a:r>
          </a:p>
        </p:txBody>
      </p:sp>
      <p:sp>
        <p:nvSpPr>
          <p:cNvPr id="9" name="Rectangle 8"/>
          <p:cNvSpPr/>
          <p:nvPr/>
        </p:nvSpPr>
        <p:spPr>
          <a:xfrm>
            <a:off x="2822537"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50553"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Sidecar</a:t>
            </a:r>
          </a:p>
        </p:txBody>
      </p:sp>
      <p:sp>
        <p:nvSpPr>
          <p:cNvPr id="11" name="Rectangle 10"/>
          <p:cNvSpPr/>
          <p:nvPr/>
        </p:nvSpPr>
        <p:spPr>
          <a:xfrm>
            <a:off x="5497157" y="2200046"/>
            <a:ext cx="2989281"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625173" y="2300630"/>
            <a:ext cx="27332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Adapter</a:t>
            </a:r>
          </a:p>
        </p:txBody>
      </p:sp>
      <p:sp>
        <p:nvSpPr>
          <p:cNvPr id="13" name="Rectangle 12"/>
          <p:cNvSpPr/>
          <p:nvPr/>
        </p:nvSpPr>
        <p:spPr>
          <a:xfrm>
            <a:off x="8486438" y="2200046"/>
            <a:ext cx="2989281"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614454" y="2300630"/>
            <a:ext cx="27332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Ambassador</a:t>
            </a:r>
          </a:p>
        </p:txBody>
      </p:sp>
      <p:sp>
        <p:nvSpPr>
          <p:cNvPr id="15" name="Rectangle 14"/>
          <p:cNvSpPr/>
          <p:nvPr/>
        </p:nvSpPr>
        <p:spPr>
          <a:xfrm>
            <a:off x="777240" y="2620670"/>
            <a:ext cx="2045297"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789265"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Direction of concern</a:t>
            </a:r>
          </a:p>
        </p:txBody>
      </p:sp>
      <p:sp>
        <p:nvSpPr>
          <p:cNvPr id="17" name="Rectangle 16"/>
          <p:cNvSpPr/>
          <p:nvPr/>
        </p:nvSpPr>
        <p:spPr>
          <a:xfrm>
            <a:off x="2822537"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950553"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Augments the app</a:t>
            </a:r>
          </a:p>
        </p:txBody>
      </p:sp>
      <p:sp>
        <p:nvSpPr>
          <p:cNvPr id="19" name="Rectangle 18"/>
          <p:cNvSpPr/>
          <p:nvPr/>
        </p:nvSpPr>
        <p:spPr>
          <a:xfrm>
            <a:off x="5497157" y="2620670"/>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625173" y="2702966"/>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Reshapes the app's output</a:t>
            </a:r>
          </a:p>
        </p:txBody>
      </p:sp>
      <p:sp>
        <p:nvSpPr>
          <p:cNvPr id="21" name="Rectangle 20"/>
          <p:cNvSpPr/>
          <p:nvPr/>
        </p:nvSpPr>
        <p:spPr>
          <a:xfrm>
            <a:off x="8486438" y="2620670"/>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614454" y="2702966"/>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Owns the app's outbound traffic</a:t>
            </a:r>
          </a:p>
        </p:txBody>
      </p:sp>
      <p:sp>
        <p:nvSpPr>
          <p:cNvPr id="23" name="Rectangle 22"/>
          <p:cNvSpPr/>
          <p:nvPr/>
        </p:nvSpPr>
        <p:spPr>
          <a:xfrm>
            <a:off x="777240" y="3171870"/>
            <a:ext cx="2045297"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789265"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App awareness</a:t>
            </a:r>
          </a:p>
        </p:txBody>
      </p:sp>
      <p:sp>
        <p:nvSpPr>
          <p:cNvPr id="25" name="Rectangle 24"/>
          <p:cNvSpPr/>
          <p:nvPr/>
        </p:nvSpPr>
        <p:spPr>
          <a:xfrm>
            <a:off x="2822537"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950553"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a:t>
            </a:r>
          </a:p>
        </p:txBody>
      </p:sp>
      <p:sp>
        <p:nvSpPr>
          <p:cNvPr id="27" name="Rectangle 26"/>
          <p:cNvSpPr/>
          <p:nvPr/>
        </p:nvSpPr>
        <p:spPr>
          <a:xfrm>
            <a:off x="5497157" y="3171870"/>
            <a:ext cx="2989281"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625173" y="3254166"/>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a:t>
            </a:r>
          </a:p>
        </p:txBody>
      </p:sp>
      <p:sp>
        <p:nvSpPr>
          <p:cNvPr id="29" name="Rectangle 28"/>
          <p:cNvSpPr/>
          <p:nvPr/>
        </p:nvSpPr>
        <p:spPr>
          <a:xfrm>
            <a:off x="8486438" y="3171870"/>
            <a:ext cx="2989281"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614454" y="3254166"/>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 it just calls localhost</a:t>
            </a:r>
          </a:p>
        </p:txBody>
      </p:sp>
      <p:sp>
        <p:nvSpPr>
          <p:cNvPr id="31" name="Rectangle 30"/>
          <p:cNvSpPr/>
          <p:nvPr/>
        </p:nvSpPr>
        <p:spPr>
          <a:xfrm>
            <a:off x="777240" y="3723071"/>
            <a:ext cx="2045297"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789265"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Usual channel</a:t>
            </a:r>
          </a:p>
        </p:txBody>
      </p:sp>
      <p:sp>
        <p:nvSpPr>
          <p:cNvPr id="33" name="Rectangle 32"/>
          <p:cNvSpPr/>
          <p:nvPr/>
        </p:nvSpPr>
        <p:spPr>
          <a:xfrm>
            <a:off x="2822537"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950553"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volume</a:t>
            </a:r>
          </a:p>
        </p:txBody>
      </p:sp>
      <p:sp>
        <p:nvSpPr>
          <p:cNvPr id="35" name="Rectangle 34"/>
          <p:cNvSpPr/>
          <p:nvPr/>
        </p:nvSpPr>
        <p:spPr>
          <a:xfrm>
            <a:off x="5497157" y="3723071"/>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625173" y="38053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volume, read-only</a:t>
            </a:r>
          </a:p>
        </p:txBody>
      </p:sp>
      <p:sp>
        <p:nvSpPr>
          <p:cNvPr id="37" name="Rectangle 36"/>
          <p:cNvSpPr/>
          <p:nvPr/>
        </p:nvSpPr>
        <p:spPr>
          <a:xfrm>
            <a:off x="8486438" y="3723071"/>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614454" y="38053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loopback interface</a:t>
            </a:r>
          </a:p>
        </p:txBody>
      </p:sp>
      <p:sp>
        <p:nvSpPr>
          <p:cNvPr id="39" name="Rectangle 38"/>
          <p:cNvSpPr/>
          <p:nvPr/>
        </p:nvSpPr>
        <p:spPr>
          <a:xfrm>
            <a:off x="777240" y="4274271"/>
            <a:ext cx="2045297"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789265"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Typical job</a:t>
            </a:r>
          </a:p>
        </p:txBody>
      </p:sp>
      <p:sp>
        <p:nvSpPr>
          <p:cNvPr id="41" name="Rectangle 40"/>
          <p:cNvSpPr/>
          <p:nvPr/>
        </p:nvSpPr>
        <p:spPr>
          <a:xfrm>
            <a:off x="2822537"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950553"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Log shipping, config reload, cert rotation</a:t>
            </a:r>
          </a:p>
        </p:txBody>
      </p:sp>
      <p:sp>
        <p:nvSpPr>
          <p:cNvPr id="43" name="Rectangle 42"/>
          <p:cNvSpPr/>
          <p:nvPr/>
        </p:nvSpPr>
        <p:spPr>
          <a:xfrm>
            <a:off x="5497157" y="4274271"/>
            <a:ext cx="2989281"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625173" y="43565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Metrics exporter, log reformatter, protocol translation</a:t>
            </a:r>
          </a:p>
        </p:txBody>
      </p:sp>
      <p:sp>
        <p:nvSpPr>
          <p:cNvPr id="45" name="Rectangle 44"/>
          <p:cNvSpPr/>
          <p:nvPr/>
        </p:nvSpPr>
        <p:spPr>
          <a:xfrm>
            <a:off x="8486438" y="4274271"/>
            <a:ext cx="2989281"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614454" y="43565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Proxy, TLS origination, retries, sharding</a:t>
            </a:r>
          </a:p>
        </p:txBody>
      </p:sp>
      <p:sp>
        <p:nvSpPr>
          <p:cNvPr id="47" name="Rectangle 46"/>
          <p:cNvSpPr/>
          <p:nvPr/>
        </p:nvSpPr>
        <p:spPr>
          <a:xfrm>
            <a:off x="777240" y="4825471"/>
            <a:ext cx="2045297"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789265"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Real-world example</a:t>
            </a:r>
          </a:p>
        </p:txBody>
      </p:sp>
      <p:sp>
        <p:nvSpPr>
          <p:cNvPr id="49" name="Rectangle 48"/>
          <p:cNvSpPr/>
          <p:nvPr/>
        </p:nvSpPr>
        <p:spPr>
          <a:xfrm>
            <a:off x="2822537"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950553"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Fluent Bit tailing a log file</a:t>
            </a:r>
          </a:p>
        </p:txBody>
      </p:sp>
      <p:sp>
        <p:nvSpPr>
          <p:cNvPr id="51" name="Rectangle 50"/>
          <p:cNvSpPr/>
          <p:nvPr/>
        </p:nvSpPr>
        <p:spPr>
          <a:xfrm>
            <a:off x="5497157" y="4825471"/>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625173" y="49077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*_exporter translating to Prometheus</a:t>
            </a:r>
          </a:p>
        </p:txBody>
      </p:sp>
      <p:sp>
        <p:nvSpPr>
          <p:cNvPr id="53" name="Rectangle 52"/>
          <p:cNvSpPr/>
          <p:nvPr/>
        </p:nvSpPr>
        <p:spPr>
          <a:xfrm>
            <a:off x="8486438" y="4825471"/>
            <a:ext cx="2989281"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614454" y="4907767"/>
            <a:ext cx="273324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Envoy in Istio or Linkerd</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Name the intent in the design record. The reviewer cannot tell the three apart from the YAML alone.</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courseware/labs/lab-04-multi-container-patterns on the training cluster, Kubernetes v1.37.0. Kubernetes documentation — Pods and Pod lifecycle: kubernetes.io/docs/concepts/workloads/pods/.</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113</a:t>
            </a:r>
          </a:p>
        </p:txBody>
      </p:sp>
    </p:spTree>
  </p:cSld>
  <p:clrMapOvr>
    <a:masterClrMapping/>
  </p:clrMapOvr>
  <p:transition xmlns:ns1="http://schemas.openxmlformats.org/markup-compatibility/2006" spd="fast" ns1:Ignorable="p14">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ORDERING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Init Containers: Sequencing Before Anything Serves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Init containers solve ordering. They do not solve 'I need this helper to keep running' — which is the next slide.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They run first, in list order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must exit 0 before the next starts. No app container is created until all of them have completed.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They are ordinary containers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Own image, own command, own volumeMounts, own resources. Often a smaller, sharper image than the app.</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Typical work</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Wait for a dependency, fetch a schema, render a config file into a shared emptyDir, run a database migration.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Failure restarts the sequence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Subject to the Pod's restartPolicy. The Pod stays in Pending with reason Init:CrashLoopBackOff.</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They are not in READY n/m</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ratio counts spec.containers only. Their state lives in status.initContainerStatuses.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Their resources still count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scheduler uses the maximum of any single init container and the sum of the app containers.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114</a:t>
            </a:r>
          </a:p>
        </p:txBody>
      </p:sp>
    </p:spTree>
  </p:cSld>
  <p:clrMapOvr>
    <a:masterClrMapping/>
  </p:clrMapOvr>
  <p:transition xmlns:ns1="http://schemas.openxmlformats.org/markup-compatibility/2006" spd="fast" ns1:Ignorable="p14">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Native Sidecars: initContainers With restartPolicy: Always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Available by default from Kubernetes v1.29 and GA in v1.33. Prefer it for anything the application needs at start-up.</a:t>
            </a:r>
          </a:p>
        </p:txBody>
      </p:sp>
      <p:sp>
        <p:nvSpPr>
          <p:cNvPr id="7" name="Rectangle 6"/>
          <p:cNvSpPr/>
          <p:nvPr/>
        </p:nvSpPr>
        <p:spPr>
          <a:xfrm>
            <a:off x="777240" y="2208885"/>
            <a:ext cx="6355080" cy="378957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manifests/50-native-sidecar.yaml (Lab 04, abridged)</a:t>
            </a:r>
          </a:p>
        </p:txBody>
      </p:sp>
      <p:sp>
        <p:nvSpPr>
          <p:cNvPr id="9" name="TextBox 8"/>
          <p:cNvSpPr txBox="1"/>
          <p:nvPr/>
        </p:nvSpPr>
        <p:spPr>
          <a:xfrm>
            <a:off x="923544" y="2629509"/>
            <a:ext cx="6062472" cy="3222650"/>
          </a:xfrm>
          <a:prstGeom prst="rect">
            <a:avLst/>
          </a:prstGeom>
          <a:noFill/>
        </p:spPr>
        <p:txBody>
          <a:bodyPr wrap="none" lIns="0" rIns="0" tIns="0" bIns="0">
            <a:spAutoFit/>
          </a:bodyPr>
          <a:lstStyle/>
          <a:p>
            <a:pPr>
              <a:lnSpc>
                <a:spcPts val="1409"/>
              </a:lnSpc>
              <a:spcAft>
                <a:spcPts val="0"/>
              </a:spcAft>
            </a:pPr>
            <a:r>
              <a:rPr sz="1050">
                <a:solidFill>
                  <a:srgbClr val="E6EDF3"/>
                </a:solidFill>
                <a:latin typeface="Consolas"/>
              </a:rPr>
              <a:t>spec:</a:t>
            </a:r>
          </a:p>
          <a:p>
            <a:pPr>
              <a:lnSpc>
                <a:spcPts val="1409"/>
              </a:lnSpc>
              <a:spcAft>
                <a:spcPts val="0"/>
              </a:spcAft>
            </a:pPr>
            <a:r>
              <a:rPr sz="1050">
                <a:solidFill>
                  <a:srgbClr val="E6EDF3"/>
                </a:solidFill>
                <a:latin typeface="Consolas"/>
              </a:rPr>
              <a:t>  initContainers:</a:t>
            </a:r>
          </a:p>
          <a:p>
            <a:pPr>
              <a:lnSpc>
                <a:spcPts val="1409"/>
              </a:lnSpc>
              <a:spcAft>
                <a:spcPts val="0"/>
              </a:spcAft>
            </a:pPr>
            <a:r>
              <a:rPr sz="1050">
                <a:solidFill>
                  <a:srgbClr val="E6EDF3"/>
                </a:solidFill>
                <a:latin typeface="Consolas"/>
              </a:rPr>
              <a:t>    - name: prepare</a:t>
            </a:r>
          </a:p>
          <a:p>
            <a:pPr>
              <a:lnSpc>
                <a:spcPts val="1409"/>
              </a:lnSpc>
              <a:spcAft>
                <a:spcPts val="0"/>
              </a:spcAft>
            </a:pPr>
            <a:r>
              <a:rPr sz="1050">
                <a:solidFill>
                  <a:srgbClr val="E6EDF3"/>
                </a:solidFill>
                <a:latin typeface="Consolas"/>
              </a:rPr>
              <a:t>      image: busybox:1.36</a:t>
            </a:r>
          </a:p>
          <a:p>
            <a:pPr>
              <a:lnSpc>
                <a:spcPts val="1409"/>
              </a:lnSpc>
              <a:spcAft>
                <a:spcPts val="0"/>
              </a:spcAft>
            </a:pPr>
            <a:r>
              <a:rPr sz="1050">
                <a:solidFill>
                  <a:srgbClr val="E6EDF3"/>
                </a:solidFill>
                <a:latin typeface="Consolas"/>
              </a:rPr>
              <a:t>      command: ["/bin/sh", "-c", "..."]</a:t>
            </a:r>
          </a:p>
          <a:p>
            <a:pPr>
              <a:lnSpc>
                <a:spcPts val="1409"/>
              </a:lnSpc>
              <a:spcAft>
                <a:spcPts val="0"/>
              </a:spcAft>
            </a:pPr>
            <a:r>
              <a:rPr sz="1050">
                <a:solidFill>
                  <a:srgbClr val="7D8A99"/>
                </a:solidFill>
                <a:latin typeface="Consolas"/>
              </a:rPr>
              <a:t>      # no restartPolicy -&gt; classic init container</a:t>
            </a:r>
          </a:p>
          <a:p>
            <a:pPr>
              <a:lnSpc>
                <a:spcPts val="1409"/>
              </a:lnSpc>
              <a:spcAft>
                <a:spcPts val="0"/>
              </a:spcAft>
            </a:pPr>
            <a:r>
              <a:rPr sz="1050">
                <a:solidFill>
                  <a:srgbClr val="E6EDF3"/>
                </a:solidFill>
                <a:latin typeface="Consolas"/>
              </a:rPr>
              <a:t>    - name: shipper</a:t>
            </a:r>
          </a:p>
          <a:p>
            <a:pPr>
              <a:lnSpc>
                <a:spcPts val="1409"/>
              </a:lnSpc>
              <a:spcAft>
                <a:spcPts val="0"/>
              </a:spcAft>
            </a:pPr>
            <a:r>
              <a:rPr sz="1050">
                <a:solidFill>
                  <a:srgbClr val="E6EDF3"/>
                </a:solidFill>
                <a:latin typeface="Consolas"/>
              </a:rPr>
              <a:t>      image: busybox:1.36</a:t>
            </a:r>
          </a:p>
          <a:p>
            <a:pPr>
              <a:lnSpc>
                <a:spcPts val="1409"/>
              </a:lnSpc>
              <a:spcAft>
                <a:spcPts val="0"/>
              </a:spcAft>
            </a:pPr>
            <a:r>
              <a:rPr sz="1050">
                <a:solidFill>
                  <a:srgbClr val="E6EDF3"/>
                </a:solidFill>
                <a:latin typeface="Consolas"/>
              </a:rPr>
              <a:t>      restartPolicy: Always      # &lt;- native sidecar</a:t>
            </a:r>
          </a:p>
          <a:p>
            <a:pPr>
              <a:lnSpc>
                <a:spcPts val="1409"/>
              </a:lnSpc>
              <a:spcAft>
                <a:spcPts val="0"/>
              </a:spcAft>
            </a:pPr>
            <a:r>
              <a:rPr sz="1050">
                <a:solidFill>
                  <a:srgbClr val="E6EDF3"/>
                </a:solidFill>
                <a:latin typeface="Consolas"/>
              </a:rPr>
              <a:t>      volumeMounts:</a:t>
            </a:r>
          </a:p>
          <a:p>
            <a:pPr>
              <a:lnSpc>
                <a:spcPts val="1409"/>
              </a:lnSpc>
              <a:spcAft>
                <a:spcPts val="0"/>
              </a:spcAft>
            </a:pPr>
            <a:r>
              <a:rPr sz="1050">
                <a:solidFill>
                  <a:srgbClr val="E6EDF3"/>
                </a:solidFill>
                <a:latin typeface="Consolas"/>
              </a:rPr>
              <a:t>        - { name: varlog, mountPath: /var/log/depot }</a:t>
            </a:r>
          </a:p>
          <a:p>
            <a:pPr>
              <a:lnSpc>
                <a:spcPts val="1409"/>
              </a:lnSpc>
              <a:spcAft>
                <a:spcPts val="0"/>
              </a:spcAft>
            </a:pPr>
            <a:r>
              <a:rPr sz="1050">
                <a:solidFill>
                  <a:srgbClr val="E6EDF3"/>
                </a:solidFill>
                <a:latin typeface="Consolas"/>
              </a:rPr>
              <a:t>  containers:</a:t>
            </a:r>
          </a:p>
          <a:p>
            <a:pPr>
              <a:lnSpc>
                <a:spcPts val="1409"/>
              </a:lnSpc>
              <a:spcAft>
                <a:spcPts val="0"/>
              </a:spcAft>
            </a:pPr>
            <a:r>
              <a:rPr sz="1050">
                <a:solidFill>
                  <a:srgbClr val="E6EDF3"/>
                </a:solidFill>
                <a:latin typeface="Consolas"/>
              </a:rPr>
              <a:t>    - name: app</a:t>
            </a:r>
          </a:p>
          <a:p>
            <a:pPr>
              <a:lnSpc>
                <a:spcPts val="1409"/>
              </a:lnSpc>
              <a:spcAft>
                <a:spcPts val="0"/>
              </a:spcAft>
            </a:pPr>
            <a:r>
              <a:rPr sz="1050">
                <a:solidFill>
                  <a:srgbClr val="E6EDF3"/>
                </a:solidFill>
                <a:latin typeface="Consolas"/>
              </a:rPr>
              <a:t>      image: busybox:1.36</a:t>
            </a:r>
          </a:p>
          <a:p>
            <a:pPr>
              <a:lnSpc>
                <a:spcPts val="1409"/>
              </a:lnSpc>
              <a:spcAft>
                <a:spcPts val="0"/>
              </a:spcAft>
            </a:pPr>
            <a:r>
              <a:rPr sz="1050">
                <a:solidFill>
                  <a:srgbClr val="E6EDF3"/>
                </a:solidFill>
                <a:latin typeface="Consolas"/>
              </a:rPr>
              <a:t> </a:t>
            </a:r>
          </a:p>
          <a:p>
            <a:pPr>
              <a:lnSpc>
                <a:spcPts val="1409"/>
              </a:lnSpc>
              <a:spcAft>
                <a:spcPts val="0"/>
              </a:spcAft>
            </a:pPr>
            <a:r>
              <a:rPr sz="1050">
                <a:solidFill>
                  <a:srgbClr val="7D8A99"/>
                </a:solidFill>
                <a:latin typeface="Consolas"/>
              </a:rPr>
              <a:t># status.initContainerStatuses:</a:t>
            </a:r>
          </a:p>
          <a:p>
            <a:pPr>
              <a:lnSpc>
                <a:spcPts val="1409"/>
              </a:lnSpc>
              <a:spcAft>
                <a:spcPts val="0"/>
              </a:spcAft>
            </a:pPr>
            <a:r>
              <a:rPr sz="1050">
                <a:solidFill>
                  <a:srgbClr val="7D8A99"/>
                </a:solidFill>
                <a:latin typeface="Consolas"/>
              </a:rPr>
              <a:t># prepare  {"terminated":{"exitCode":0,...}}</a:t>
            </a:r>
          </a:p>
          <a:p>
            <a:pPr>
              <a:lnSpc>
                <a:spcPts val="1409"/>
              </a:lnSpc>
              <a:spcAft>
                <a:spcPts val="0"/>
              </a:spcAft>
            </a:pPr>
            <a:r>
              <a:rPr sz="1050">
                <a:solidFill>
                  <a:srgbClr val="7D8A99"/>
                </a:solidFill>
                <a:latin typeface="Consolas"/>
              </a:rPr>
              <a:t># shipper  {"running":{"startedAt":"..."}}</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One field changes everything</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restartPolicy: Always on an init container means 'start it before the app containers and keep it running'.</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Ordering is finally guaranteed</a:t>
            </a:r>
          </a:p>
        </p:txBody>
      </p:sp>
      <p:sp>
        <p:nvSpPr>
          <p:cNvPr id="17" name="TextBox 16"/>
          <p:cNvSpPr txBox="1"/>
          <p:nvPr/>
        </p:nvSpPr>
        <p:spPr>
          <a:xfrm>
            <a:off x="7973567" y="361291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shipper is up before the app writes its first line, so no early output is lost.</a:t>
            </a:r>
          </a:p>
        </p:txBody>
      </p:sp>
      <p:sp>
        <p:nvSpPr>
          <p:cNvPr id="18" name="Oval 17"/>
          <p:cNvSpPr/>
          <p:nvPr/>
        </p:nvSpPr>
        <p:spPr>
          <a:xfrm>
            <a:off x="7626096" y="412616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10788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READY shows 1/1, not 2/2</a:t>
            </a:r>
          </a:p>
        </p:txBody>
      </p:sp>
      <p:sp>
        <p:nvSpPr>
          <p:cNvPr id="20" name="TextBox 19"/>
          <p:cNvSpPr txBox="1"/>
          <p:nvPr/>
        </p:nvSpPr>
        <p:spPr>
          <a:xfrm>
            <a:off x="7973567" y="432467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Native sidecars are not counted in the ratio — the Pod above has two running processes and reports one container.</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does not block Job completion</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 old-style sidecar keeps a Job's Pod running forever. This is the reason native sidecars exist.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Sidecar Containers: kubernetes.io/docs/concepts/workloads/pods/sidecar-containers/. Captured in courseware/labs/lab-04-multi-container-patterns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115</a:t>
            </a:r>
          </a:p>
        </p:txBody>
      </p:sp>
    </p:spTree>
  </p:cSld>
  <p:clrMapOvr>
    <a:masterClrMapping/>
  </p:clrMapOvr>
  <p:transition xmlns:ns1="http://schemas.openxmlformats.org/markup-compatibility/2006" spd="fast" ns1:Ignorable="p14">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Kinds of Container in One Pod Spec</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rows. If you can reproduce this table you have the whole multi-container section of the syllabus.</a:t>
            </a:r>
          </a:p>
        </p:txBody>
      </p:sp>
      <p:sp>
        <p:nvSpPr>
          <p:cNvPr id="7" name="Rectangle 6"/>
          <p:cNvSpPr/>
          <p:nvPr/>
        </p:nvSpPr>
        <p:spPr>
          <a:xfrm>
            <a:off x="777240" y="2200046"/>
            <a:ext cx="210727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5124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Property</a:t>
            </a:r>
          </a:p>
        </p:txBody>
      </p:sp>
      <p:sp>
        <p:nvSpPr>
          <p:cNvPr id="9" name="Rectangle 8"/>
          <p:cNvSpPr/>
          <p:nvPr/>
        </p:nvSpPr>
        <p:spPr>
          <a:xfrm>
            <a:off x="2884516" y="2200046"/>
            <a:ext cx="2917767"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12532" y="2300630"/>
            <a:ext cx="266173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Classic init container</a:t>
            </a:r>
          </a:p>
        </p:txBody>
      </p:sp>
      <p:sp>
        <p:nvSpPr>
          <p:cNvPr id="11" name="Rectangle 10"/>
          <p:cNvSpPr/>
          <p:nvPr/>
        </p:nvSpPr>
        <p:spPr>
          <a:xfrm>
            <a:off x="5802283" y="2200046"/>
            <a:ext cx="3079865"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930299" y="2300630"/>
            <a:ext cx="282383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Native sidecar</a:t>
            </a:r>
          </a:p>
        </p:txBody>
      </p:sp>
      <p:sp>
        <p:nvSpPr>
          <p:cNvPr id="13" name="Rectangle 12"/>
          <p:cNvSpPr/>
          <p:nvPr/>
        </p:nvSpPr>
        <p:spPr>
          <a:xfrm>
            <a:off x="8882149" y="2200046"/>
            <a:ext cx="259357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9010165" y="2300630"/>
            <a:ext cx="233753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Regular container</a:t>
            </a:r>
          </a:p>
        </p:txBody>
      </p:sp>
      <p:sp>
        <p:nvSpPr>
          <p:cNvPr id="15" name="Rectangle 14"/>
          <p:cNvSpPr/>
          <p:nvPr/>
        </p:nvSpPr>
        <p:spPr>
          <a:xfrm>
            <a:off x="777240" y="2620670"/>
            <a:ext cx="2107276"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Field</a:t>
            </a:r>
          </a:p>
        </p:txBody>
      </p:sp>
      <p:sp>
        <p:nvSpPr>
          <p:cNvPr id="17" name="Rectangle 16"/>
          <p:cNvSpPr/>
          <p:nvPr/>
        </p:nvSpPr>
        <p:spPr>
          <a:xfrm>
            <a:off x="2884516" y="2620670"/>
            <a:ext cx="2917767"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012532" y="2702966"/>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initContainers[]</a:t>
            </a:r>
          </a:p>
        </p:txBody>
      </p:sp>
      <p:sp>
        <p:nvSpPr>
          <p:cNvPr id="19" name="Rectangle 18"/>
          <p:cNvSpPr/>
          <p:nvPr/>
        </p:nvSpPr>
        <p:spPr>
          <a:xfrm>
            <a:off x="5802283" y="2620670"/>
            <a:ext cx="3079865" cy="459333"/>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930299" y="2702966"/>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initContainers[] + restartPolicy: Always</a:t>
            </a:r>
          </a:p>
        </p:txBody>
      </p:sp>
      <p:sp>
        <p:nvSpPr>
          <p:cNvPr id="21" name="Rectangle 20"/>
          <p:cNvSpPr/>
          <p:nvPr/>
        </p:nvSpPr>
        <p:spPr>
          <a:xfrm>
            <a:off x="8882149" y="2620670"/>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010165" y="2702966"/>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containers[]</a:t>
            </a:r>
          </a:p>
        </p:txBody>
      </p:sp>
      <p:sp>
        <p:nvSpPr>
          <p:cNvPr id="23" name="Rectangle 22"/>
          <p:cNvSpPr/>
          <p:nvPr/>
        </p:nvSpPr>
        <p:spPr>
          <a:xfrm>
            <a:off x="777240" y="3080004"/>
            <a:ext cx="2107276"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162299"/>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Must exit</a:t>
            </a:r>
          </a:p>
        </p:txBody>
      </p:sp>
      <p:sp>
        <p:nvSpPr>
          <p:cNvPr id="25" name="Rectangle 24"/>
          <p:cNvSpPr/>
          <p:nvPr/>
        </p:nvSpPr>
        <p:spPr>
          <a:xfrm>
            <a:off x="2884516" y="3080004"/>
            <a:ext cx="2917767" cy="459333"/>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012532" y="3162299"/>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with 0</a:t>
            </a:r>
          </a:p>
        </p:txBody>
      </p:sp>
      <p:sp>
        <p:nvSpPr>
          <p:cNvPr id="27" name="Rectangle 26"/>
          <p:cNvSpPr/>
          <p:nvPr/>
        </p:nvSpPr>
        <p:spPr>
          <a:xfrm>
            <a:off x="5802283" y="3080004"/>
            <a:ext cx="3079865" cy="459333"/>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930299" y="3162299"/>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29" name="Rectangle 28"/>
          <p:cNvSpPr/>
          <p:nvPr/>
        </p:nvSpPr>
        <p:spPr>
          <a:xfrm>
            <a:off x="8882149" y="3080004"/>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9010165" y="3162299"/>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31" name="Rectangle 30"/>
          <p:cNvSpPr/>
          <p:nvPr/>
        </p:nvSpPr>
        <p:spPr>
          <a:xfrm>
            <a:off x="777240" y="3539337"/>
            <a:ext cx="2107276" cy="459333"/>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621633"/>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Start order</a:t>
            </a:r>
          </a:p>
        </p:txBody>
      </p:sp>
      <p:sp>
        <p:nvSpPr>
          <p:cNvPr id="33" name="Rectangle 32"/>
          <p:cNvSpPr/>
          <p:nvPr/>
        </p:nvSpPr>
        <p:spPr>
          <a:xfrm>
            <a:off x="2884516" y="3539337"/>
            <a:ext cx="2917767" cy="459333"/>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012532" y="3621633"/>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Before everything, in list order</a:t>
            </a:r>
          </a:p>
        </p:txBody>
      </p:sp>
      <p:sp>
        <p:nvSpPr>
          <p:cNvPr id="35" name="Rectangle 34"/>
          <p:cNvSpPr/>
          <p:nvPr/>
        </p:nvSpPr>
        <p:spPr>
          <a:xfrm>
            <a:off x="5802283" y="3539337"/>
            <a:ext cx="3079865" cy="459333"/>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930299" y="3621633"/>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Before regular containers, in list order</a:t>
            </a:r>
          </a:p>
        </p:txBody>
      </p:sp>
      <p:sp>
        <p:nvSpPr>
          <p:cNvPr id="37" name="Rectangle 36"/>
          <p:cNvSpPr/>
          <p:nvPr/>
        </p:nvSpPr>
        <p:spPr>
          <a:xfrm>
            <a:off x="8882149" y="3539337"/>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10165" y="3621633"/>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guarantee among peers</a:t>
            </a:r>
          </a:p>
        </p:txBody>
      </p:sp>
      <p:sp>
        <p:nvSpPr>
          <p:cNvPr id="39" name="Rectangle 38"/>
          <p:cNvSpPr/>
          <p:nvPr/>
        </p:nvSpPr>
        <p:spPr>
          <a:xfrm>
            <a:off x="777240" y="3998671"/>
            <a:ext cx="2107276" cy="459333"/>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080967"/>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Counted in READY n/m</a:t>
            </a:r>
          </a:p>
        </p:txBody>
      </p:sp>
      <p:sp>
        <p:nvSpPr>
          <p:cNvPr id="41" name="Rectangle 40"/>
          <p:cNvSpPr/>
          <p:nvPr/>
        </p:nvSpPr>
        <p:spPr>
          <a:xfrm>
            <a:off x="2884516" y="3998671"/>
            <a:ext cx="2917767" cy="459333"/>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012532" y="4080967"/>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43" name="Rectangle 42"/>
          <p:cNvSpPr/>
          <p:nvPr/>
        </p:nvSpPr>
        <p:spPr>
          <a:xfrm>
            <a:off x="5802283" y="3998671"/>
            <a:ext cx="3079865"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930299" y="4080967"/>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45" name="Rectangle 44"/>
          <p:cNvSpPr/>
          <p:nvPr/>
        </p:nvSpPr>
        <p:spPr>
          <a:xfrm>
            <a:off x="8882149" y="3998671"/>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9010165" y="4080967"/>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a:t>
            </a:r>
          </a:p>
        </p:txBody>
      </p:sp>
      <p:sp>
        <p:nvSpPr>
          <p:cNvPr id="47" name="Rectangle 46"/>
          <p:cNvSpPr/>
          <p:nvPr/>
        </p:nvSpPr>
        <p:spPr>
          <a:xfrm>
            <a:off x="777240" y="4458004"/>
            <a:ext cx="2107276" cy="459333"/>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540300"/>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Blocks Job completion</a:t>
            </a:r>
          </a:p>
        </p:txBody>
      </p:sp>
      <p:sp>
        <p:nvSpPr>
          <p:cNvPr id="49" name="Rectangle 48"/>
          <p:cNvSpPr/>
          <p:nvPr/>
        </p:nvSpPr>
        <p:spPr>
          <a:xfrm>
            <a:off x="2884516" y="4458004"/>
            <a:ext cx="2917767" cy="459333"/>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012532" y="4540300"/>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51" name="Rectangle 50"/>
          <p:cNvSpPr/>
          <p:nvPr/>
        </p:nvSpPr>
        <p:spPr>
          <a:xfrm>
            <a:off x="5802283" y="4458004"/>
            <a:ext cx="3079865" cy="459333"/>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930299" y="4540300"/>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53" name="Rectangle 52"/>
          <p:cNvSpPr/>
          <p:nvPr/>
        </p:nvSpPr>
        <p:spPr>
          <a:xfrm>
            <a:off x="8882149" y="4458004"/>
            <a:ext cx="2593570" cy="459333"/>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9010165" y="4540300"/>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a:t>
            </a:r>
          </a:p>
        </p:txBody>
      </p:sp>
      <p:sp>
        <p:nvSpPr>
          <p:cNvPr id="55" name="Rectangle 54"/>
          <p:cNvSpPr/>
          <p:nvPr/>
        </p:nvSpPr>
        <p:spPr>
          <a:xfrm>
            <a:off x="777240" y="4917338"/>
            <a:ext cx="2107276" cy="459333"/>
          </a:xfrm>
          <a:prstGeom prst="rect">
            <a:avLst/>
          </a:prstGeom>
          <a:solidFill>
            <a:srgbClr val="F6F8FA"/>
          </a:solidFill>
          <a:ln w="9525">
            <a:solidFill>
              <a:srgbClr val="E2E8F0"/>
            </a:solidFill>
          </a:ln>
          <a:effectLst/>
        </p:spPr>
        <p:txBody>
          <a:bodyPr rtlCol="0" anchor="ctr" wrap="square"/>
          <a:lstStyle/>
          <a:p>
            <a:pPr algn="ctr"/>
          </a:p>
        </p:txBody>
      </p:sp>
      <p:sp>
        <p:nvSpPr>
          <p:cNvPr id="56" name="TextBox 55"/>
          <p:cNvSpPr txBox="1"/>
          <p:nvPr/>
        </p:nvSpPr>
        <p:spPr>
          <a:xfrm>
            <a:off x="905256" y="4999634"/>
            <a:ext cx="185124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Available since</a:t>
            </a:r>
          </a:p>
        </p:txBody>
      </p:sp>
      <p:sp>
        <p:nvSpPr>
          <p:cNvPr id="57" name="Rectangle 56"/>
          <p:cNvSpPr/>
          <p:nvPr/>
        </p:nvSpPr>
        <p:spPr>
          <a:xfrm>
            <a:off x="2884516" y="4917338"/>
            <a:ext cx="2917767" cy="459333"/>
          </a:xfrm>
          <a:prstGeom prst="rect">
            <a:avLst/>
          </a:prstGeom>
          <a:solidFill>
            <a:srgbClr val="F6F8FA"/>
          </a:solidFill>
          <a:ln w="9525">
            <a:solidFill>
              <a:srgbClr val="E2E8F0"/>
            </a:solidFill>
          </a:ln>
          <a:effectLst/>
        </p:spPr>
        <p:txBody>
          <a:bodyPr rtlCol="0" anchor="ctr" wrap="square"/>
          <a:lstStyle/>
          <a:p>
            <a:pPr algn="ctr"/>
          </a:p>
        </p:txBody>
      </p:sp>
      <p:sp>
        <p:nvSpPr>
          <p:cNvPr id="58" name="TextBox 57"/>
          <p:cNvSpPr txBox="1"/>
          <p:nvPr/>
        </p:nvSpPr>
        <p:spPr>
          <a:xfrm>
            <a:off x="3012532" y="4999634"/>
            <a:ext cx="266173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v1.0</a:t>
            </a:r>
          </a:p>
        </p:txBody>
      </p:sp>
      <p:sp>
        <p:nvSpPr>
          <p:cNvPr id="59" name="Rectangle 58"/>
          <p:cNvSpPr/>
          <p:nvPr/>
        </p:nvSpPr>
        <p:spPr>
          <a:xfrm>
            <a:off x="5802283" y="4917338"/>
            <a:ext cx="3079865" cy="459333"/>
          </a:xfrm>
          <a:prstGeom prst="rect">
            <a:avLst/>
          </a:prstGeom>
          <a:solidFill>
            <a:srgbClr val="F6F8FA"/>
          </a:solidFill>
          <a:ln w="9525">
            <a:solidFill>
              <a:srgbClr val="E2E8F0"/>
            </a:solidFill>
          </a:ln>
          <a:effectLst/>
        </p:spPr>
        <p:txBody>
          <a:bodyPr rtlCol="0" anchor="ctr" wrap="square"/>
          <a:lstStyle/>
          <a:p>
            <a:pPr algn="ctr"/>
          </a:p>
        </p:txBody>
      </p:sp>
      <p:sp>
        <p:nvSpPr>
          <p:cNvPr id="60" name="TextBox 59"/>
          <p:cNvSpPr txBox="1"/>
          <p:nvPr/>
        </p:nvSpPr>
        <p:spPr>
          <a:xfrm>
            <a:off x="5930299" y="4999634"/>
            <a:ext cx="2823833"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v1.29, GA v1.33</a:t>
            </a:r>
          </a:p>
        </p:txBody>
      </p:sp>
      <p:sp>
        <p:nvSpPr>
          <p:cNvPr id="61" name="Rectangle 60"/>
          <p:cNvSpPr/>
          <p:nvPr/>
        </p:nvSpPr>
        <p:spPr>
          <a:xfrm>
            <a:off x="8882149" y="4917338"/>
            <a:ext cx="2593570" cy="459333"/>
          </a:xfrm>
          <a:prstGeom prst="rect">
            <a:avLst/>
          </a:prstGeom>
          <a:solidFill>
            <a:srgbClr val="F6F8FA"/>
          </a:solidFill>
          <a:ln w="9525">
            <a:solidFill>
              <a:srgbClr val="E2E8F0"/>
            </a:solidFill>
          </a:ln>
          <a:effectLst/>
        </p:spPr>
        <p:txBody>
          <a:bodyPr rtlCol="0" anchor="ctr" wrap="square"/>
          <a:lstStyle/>
          <a:p>
            <a:pPr algn="ctr"/>
          </a:p>
        </p:txBody>
      </p:sp>
      <p:sp>
        <p:nvSpPr>
          <p:cNvPr id="62" name="TextBox 61"/>
          <p:cNvSpPr txBox="1"/>
          <p:nvPr/>
        </p:nvSpPr>
        <p:spPr>
          <a:xfrm>
            <a:off x="9010165" y="4999634"/>
            <a:ext cx="233753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v1.0</a:t>
            </a:r>
          </a:p>
        </p:txBody>
      </p:sp>
      <p:sp>
        <p:nvSpPr>
          <p:cNvPr id="63" name="Rectangle 6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64" name="Rectangle 6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65" name="TextBox 6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66" name="TextBox 6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Use a native sidecar whenever the helper must be up before the app, must outlive start-up, or runs inside a Job.</a:t>
            </a:r>
          </a:p>
        </p:txBody>
      </p:sp>
      <p:sp>
        <p:nvSpPr>
          <p:cNvPr id="67" name="TextBox 6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Sidecar Containers: kubernetes.io/docs/concepts/workloads/pods/sidecar-containers/. Captured in courseware/labs/lab-04-multi-container-patterns on the training cluster, Kubernetes v1.37.0.</a:t>
            </a:r>
          </a:p>
        </p:txBody>
      </p:sp>
      <p:sp>
        <p:nvSpPr>
          <p:cNvPr id="68" name="TextBox 6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9" name="TextBox 6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0" name="TextBox 6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116</a:t>
            </a:r>
          </a:p>
        </p:txBody>
      </p:sp>
    </p:spTree>
  </p:cSld>
  <p:clrMapOvr>
    <a:masterClrMapping/>
  </p:clrMapOvr>
  <p:transition xmlns:ns1="http://schemas.openxmlformats.org/markup-compatibility/2006" spd="fast" ns1:Ignorable="p14">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'But They're in the Same Pod!' — Mounts Are Per Container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does referential integrity inside an object and not between objects. That single rule predicts both behaviours.</a:t>
            </a:r>
          </a:p>
        </p:txBody>
      </p:sp>
      <p:sp>
        <p:nvSpPr>
          <p:cNvPr id="7" name="Rectangle 6"/>
          <p:cNvSpPr/>
          <p:nvPr/>
        </p:nvSpPr>
        <p:spPr>
          <a:xfrm>
            <a:off x="777240" y="2208885"/>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8885"/>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72893"/>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74061"/>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sidecar manifest is rejected outright at admission; no Pod is created and there is nothing to describe.</a:t>
            </a:r>
          </a:p>
        </p:txBody>
      </p:sp>
      <p:sp>
        <p:nvSpPr>
          <p:cNvPr id="11" name="Rectangle 10"/>
          <p:cNvSpPr/>
          <p:nvPr/>
        </p:nvSpPr>
        <p:spPr>
          <a:xfrm>
            <a:off x="777240" y="2922117"/>
            <a:ext cx="6172200" cy="1879091"/>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50133"/>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42741"/>
            <a:ext cx="5879592" cy="1312163"/>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manifests/90-sidecar-broken-volume.yaml</a:t>
            </a:r>
          </a:p>
          <a:p>
            <a:pPr>
              <a:lnSpc>
                <a:spcPts val="1476"/>
              </a:lnSpc>
              <a:spcAft>
                <a:spcPts val="0"/>
              </a:spcAft>
            </a:pPr>
            <a:r>
              <a:rPr sz="950">
                <a:solidFill>
                  <a:srgbClr val="E6EDF3"/>
                </a:solidFill>
                <a:latin typeface="Consolas"/>
              </a:rPr>
              <a:t>The Pod "depot-sidecar-broken" is invalid:</a:t>
            </a:r>
          </a:p>
          <a:p>
            <a:pPr>
              <a:lnSpc>
                <a:spcPts val="1476"/>
              </a:lnSpc>
              <a:spcAft>
                <a:spcPts val="0"/>
              </a:spcAft>
            </a:pPr>
            <a:r>
              <a:rPr sz="950">
                <a:solidFill>
                  <a:srgbClr val="E6EDF3"/>
                </a:solidFill>
                <a:latin typeface="Consolas"/>
              </a:rPr>
              <a:t>  spec.containers[1].volumeMounts[0].name:</a:t>
            </a:r>
          </a:p>
          <a:p>
            <a:pPr>
              <a:lnSpc>
                <a:spcPts val="1476"/>
              </a:lnSpc>
              <a:spcAft>
                <a:spcPts val="0"/>
              </a:spcAft>
            </a:pPr>
            <a:r>
              <a:rPr sz="950">
                <a:solidFill>
                  <a:srgbClr val="E6EDF3"/>
                </a:solidFill>
                <a:latin typeface="Consolas"/>
              </a:rPr>
              <a:t>    Not found: "applogs"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kcna-lab04 get pod depot-sidecar-broken</a:t>
            </a:r>
          </a:p>
          <a:p>
            <a:pPr>
              <a:lnSpc>
                <a:spcPts val="1476"/>
              </a:lnSpc>
              <a:spcAft>
                <a:spcPts val="0"/>
              </a:spcAft>
            </a:pPr>
            <a:r>
              <a:rPr sz="950">
                <a:solidFill>
                  <a:srgbClr val="E6EDF3"/>
                </a:solidFill>
                <a:latin typeface="Consolas"/>
              </a:rPr>
              <a:t>Error from server (NotFound): pods "depot-sidecar-broken" not found</a:t>
            </a:r>
          </a:p>
        </p:txBody>
      </p:sp>
      <p:sp>
        <p:nvSpPr>
          <p:cNvPr id="14" name="Rectangle 13"/>
          <p:cNvSpPr/>
          <p:nvPr/>
        </p:nvSpPr>
        <p:spPr>
          <a:xfrm>
            <a:off x="7205472" y="2922117"/>
            <a:ext cx="4270247" cy="106075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22117"/>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5869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9589"/>
            <a:ext cx="3904487" cy="658418"/>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app mounts a volume named varlog; the shipper mounts applogs, which is never declared in spec.volumes. A volumeMounts name is an intra-object reference, so the API server can check it immediately.</a:t>
            </a:r>
          </a:p>
        </p:txBody>
      </p:sp>
      <p:sp>
        <p:nvSpPr>
          <p:cNvPr id="18" name="Rectangle 17"/>
          <p:cNvSpPr/>
          <p:nvPr/>
        </p:nvSpPr>
        <p:spPr>
          <a:xfrm>
            <a:off x="7205472" y="4092600"/>
            <a:ext cx="4270247" cy="156122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92600"/>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129176"/>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40072"/>
            <a:ext cx="3904487" cy="115889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index: containers[1] is the second container, the shipper</a:t>
            </a:r>
          </a:p>
          <a:p>
            <a:pPr>
              <a:lnSpc>
                <a:spcPct val="112000"/>
              </a:lnSpc>
              <a:spcAft>
                <a:spcPts val="200"/>
              </a:spcAft>
            </a:pPr>
            <a:r>
              <a:rPr sz="950">
                <a:solidFill>
                  <a:srgbClr val="94A3B8"/>
                </a:solidFill>
                <a:latin typeface="Arial"/>
              </a:rPr>
              <a:t>•  </a:t>
            </a:r>
            <a:r>
              <a:rPr sz="950">
                <a:solidFill>
                  <a:srgbClr val="5B6372"/>
                </a:solidFill>
                <a:latin typeface="Arial"/>
              </a:rPr>
              <a:t>Contrast with a missing ConfigMap — an inter-object reference the API server does not verify, which fails later at the kubelet</a:t>
            </a:r>
          </a:p>
          <a:p>
            <a:pPr>
              <a:lnSpc>
                <a:spcPct val="112000"/>
              </a:lnSpc>
              <a:spcAft>
                <a:spcPts val="200"/>
              </a:spcAft>
            </a:pPr>
            <a:r>
              <a:rPr sz="950">
                <a:solidFill>
                  <a:srgbClr val="94A3B8"/>
                </a:solidFill>
                <a:latin typeface="Arial"/>
              </a:rPr>
              <a:t>•  </a:t>
            </a:r>
            <a:r>
              <a:rPr sz="950">
                <a:solidFill>
                  <a:srgbClr val="5B6372"/>
                </a:solidFill>
                <a:latin typeface="Arial"/>
              </a:rPr>
              <a:t>Nothing was created, so there is no state to clean up</a:t>
            </a:r>
          </a:p>
          <a:p>
            <a:pPr>
              <a:lnSpc>
                <a:spcPct val="112000"/>
              </a:lnSpc>
              <a:spcAft>
                <a:spcPts val="200"/>
              </a:spcAft>
            </a:pPr>
            <a:r>
              <a:rPr sz="950">
                <a:solidFill>
                  <a:srgbClr val="94A3B8"/>
                </a:solidFill>
                <a:latin typeface="Arial"/>
              </a:rPr>
              <a:t>•  </a:t>
            </a:r>
            <a:r>
              <a:rPr sz="950">
                <a:solidFill>
                  <a:srgbClr val="5B6372"/>
                </a:solidFill>
                <a:latin typeface="Arial"/>
              </a:rPr>
              <a:t>The silent version is worse: the right volume at the wrong mountPath is perfectly valid and simply tails nothing</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apply --dry-run=server accepts the corrected manifest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courseware/labs/lab-04-multi-container-patterns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117</a:t>
            </a:r>
          </a:p>
        </p:txBody>
      </p:sp>
    </p:spTree>
  </p:cSld>
  <p:clrMapOvr>
    <a:masterClrMapping/>
  </p:clrMapOvr>
  <p:transition xmlns:ns1="http://schemas.openxmlformats.org/markup-compatibility/2006" spd="fast" ns1:Ignorable="p14">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JUDGEMENT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One Pod With Two Containers, or Two Pods?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wrong answer here shows up months later as a deployment that cannot be scaled without collateral damage.</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Must the two processes share a lifecycle, a node and an IP — and always scale together?</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One Pod, two containers</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helper that is useless without this specific instance</a:t>
            </a:r>
          </a:p>
          <a:p>
            <a:pPr>
              <a:lnSpc>
                <a:spcPct val="112000"/>
              </a:lnSpc>
              <a:spcAft>
                <a:spcPts val="500"/>
              </a:spcAft>
            </a:pPr>
            <a:r>
              <a:rPr sz="1100">
                <a:solidFill>
                  <a:srgbClr val="94A3B8"/>
                </a:solidFill>
                <a:latin typeface="Arial"/>
              </a:rPr>
              <a:t>•  </a:t>
            </a:r>
            <a:r>
              <a:rPr sz="1100">
                <a:solidFill>
                  <a:srgbClr val="5B6372"/>
                </a:solidFill>
                <a:latin typeface="Arial"/>
              </a:rPr>
              <a:t>Communication over localhost or a shared scratch volume</a:t>
            </a:r>
          </a:p>
          <a:p>
            <a:pPr>
              <a:lnSpc>
                <a:spcPct val="112000"/>
              </a:lnSpc>
              <a:spcAft>
                <a:spcPts val="500"/>
              </a:spcAft>
            </a:pPr>
            <a:r>
              <a:rPr sz="1100">
                <a:solidFill>
                  <a:srgbClr val="94A3B8"/>
                </a:solidFill>
                <a:latin typeface="Arial"/>
              </a:rPr>
              <a:t>•  </a:t>
            </a:r>
            <a:r>
              <a:rPr sz="1100">
                <a:solidFill>
                  <a:srgbClr val="5B6372"/>
                </a:solidFill>
                <a:latin typeface="Arial"/>
              </a:rPr>
              <a:t>Restarting one without the other makes no sense</a:t>
            </a:r>
          </a:p>
          <a:p>
            <a:pPr>
              <a:lnSpc>
                <a:spcPct val="112000"/>
              </a:lnSpc>
              <a:spcAft>
                <a:spcPts val="500"/>
              </a:spcAft>
            </a:pPr>
            <a:r>
              <a:rPr sz="1100">
                <a:solidFill>
                  <a:srgbClr val="94A3B8"/>
                </a:solidFill>
                <a:latin typeface="Arial"/>
              </a:rPr>
              <a:t>•  </a:t>
            </a:r>
            <a:r>
              <a:rPr sz="1100">
                <a:solidFill>
                  <a:srgbClr val="5B6372"/>
                </a:solidFill>
                <a:latin typeface="Arial"/>
              </a:rPr>
              <a:t>Sidecar, adapter and ambassador all live here</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Two Pods, joined by a Service</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Each side scales on its own demand curve</a:t>
            </a:r>
          </a:p>
          <a:p>
            <a:pPr>
              <a:lnSpc>
                <a:spcPct val="112000"/>
              </a:lnSpc>
              <a:spcAft>
                <a:spcPts val="500"/>
              </a:spcAft>
            </a:pPr>
            <a:r>
              <a:rPr sz="1100">
                <a:solidFill>
                  <a:srgbClr val="94A3B8"/>
                </a:solidFill>
                <a:latin typeface="Arial"/>
              </a:rPr>
              <a:t>•  </a:t>
            </a:r>
            <a:r>
              <a:rPr sz="1100">
                <a:solidFill>
                  <a:srgbClr val="5B6372"/>
                </a:solidFill>
                <a:latin typeface="Arial"/>
              </a:rPr>
              <a:t>Different teams release them on different cadences</a:t>
            </a:r>
          </a:p>
          <a:p>
            <a:pPr>
              <a:lnSpc>
                <a:spcPct val="112000"/>
              </a:lnSpc>
              <a:spcAft>
                <a:spcPts val="500"/>
              </a:spcAft>
            </a:pPr>
            <a:r>
              <a:rPr sz="1100">
                <a:solidFill>
                  <a:srgbClr val="94A3B8"/>
                </a:solidFill>
                <a:latin typeface="Arial"/>
              </a:rPr>
              <a:t>•  </a:t>
            </a:r>
            <a:r>
              <a:rPr sz="1100">
                <a:solidFill>
                  <a:srgbClr val="5B6372"/>
                </a:solidFill>
                <a:latin typeface="Arial"/>
              </a:rPr>
              <a:t>One is a shared dependency for many clients</a:t>
            </a:r>
          </a:p>
          <a:p>
            <a:pPr>
              <a:lnSpc>
                <a:spcPct val="112000"/>
              </a:lnSpc>
              <a:spcAft>
                <a:spcPts val="500"/>
              </a:spcAft>
            </a:pPr>
            <a:r>
              <a:rPr sz="1100">
                <a:solidFill>
                  <a:srgbClr val="94A3B8"/>
                </a:solidFill>
                <a:latin typeface="Arial"/>
              </a:rPr>
              <a:t>•  </a:t>
            </a:r>
            <a:r>
              <a:rPr sz="1100">
                <a:solidFill>
                  <a:srgbClr val="5B6372"/>
                </a:solidFill>
                <a:latin typeface="Arial"/>
              </a:rPr>
              <a:t>Failure of one should not take out the other</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Pods and Pod lifecycle: kubernetes.io/docs/concepts/workloads/pods/.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118</a:t>
            </a:r>
          </a:p>
        </p:txBody>
      </p:sp>
    </p:spTree>
  </p:cSld>
  <p:clrMapOvr>
    <a:masterClrMapping/>
  </p:clrMapOvr>
  <p:transition xmlns:ns3="http://schemas.openxmlformats.org/markup-compatibility/2006" spd="fast" ns3:Ignorable="p14">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400" b="1" i="0">
                <a:solidFill>
                  <a:srgbClr val="161B26"/>
                </a:solidFill>
                <a:latin typeface="Arial"/>
              </a:rPr>
              <a:t>Lab 04 — Multi-Container Pod Patterns: Sidecar, Adapter, Ambassador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Build and read the three classic multi-container Pod patterns — sidecar, adapter and ambassador — plus a v1.29+ native sidecar, and prove what containers in a Pod really share: one network namespace and named volumes, nothing else.</a:t>
            </a:r>
          </a:p>
        </p:txBody>
      </p:sp>
      <p:sp>
        <p:nvSpPr>
          <p:cNvPr id="10" name="Rectangle 9"/>
          <p:cNvSpPr/>
          <p:nvPr/>
        </p:nvSpPr>
        <p:spPr>
          <a:xfrm>
            <a:off x="777240"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Four running Pods (sidecar, adapter, ambassador, native sidecar) that all consume data/access-seed.log and data/tariff-quote.json</a:t>
            </a:r>
          </a:p>
          <a:p>
            <a:pPr>
              <a:lnSpc>
                <a:spcPct val="112000"/>
              </a:lnSpc>
              <a:spcAft>
                <a:spcPts val="500"/>
              </a:spcAft>
            </a:pPr>
            <a:r>
              <a:rPr sz="1050">
                <a:solidFill>
                  <a:srgbClr val="94A3B8"/>
                </a:solidFill>
                <a:latin typeface="Arial"/>
              </a:rPr>
              <a:t>•  </a:t>
            </a:r>
            <a:r>
              <a:rPr sz="1050">
                <a:solidFill>
                  <a:srgbClr val="5B6372"/>
                </a:solidFill>
                <a:latin typeface="Arial"/>
              </a:rPr>
              <a:t>Prometheus-format metrics produced by an adapter container from a proprietary key=value log it did not write</a:t>
            </a:r>
          </a:p>
          <a:p>
            <a:pPr>
              <a:lnSpc>
                <a:spcPct val="112000"/>
              </a:lnSpc>
              <a:spcAft>
                <a:spcPts val="500"/>
              </a:spcAft>
            </a:pPr>
            <a:r>
              <a:rPr sz="1050">
                <a:solidFill>
                  <a:srgbClr val="94A3B8"/>
                </a:solidFill>
                <a:latin typeface="Arial"/>
              </a:rPr>
              <a:t>•  </a:t>
            </a:r>
            <a:r>
              <a:rPr sz="1050">
                <a:solidFill>
                  <a:srgbClr val="5B6372"/>
                </a:solidFill>
                <a:latin typeface="Arial"/>
              </a:rPr>
              <a:t>An admission-time validation error proving that each container has its own independent volumeMounts list</a:t>
            </a:r>
          </a:p>
        </p:txBody>
      </p:sp>
      <p:sp>
        <p:nvSpPr>
          <p:cNvPr id="14" name="Rectangle 13"/>
          <p:cNvSpPr/>
          <p:nvPr/>
        </p:nvSpPr>
        <p:spPr>
          <a:xfrm>
            <a:off x="6276441"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Containers in a Pod share the network namespace and volumes, not the filesystem root or PID namespace</a:t>
            </a:r>
          </a:p>
          <a:p>
            <a:pPr>
              <a:lnSpc>
                <a:spcPct val="112000"/>
              </a:lnSpc>
              <a:spcAft>
                <a:spcPts val="500"/>
              </a:spcAft>
            </a:pPr>
            <a:r>
              <a:rPr sz="1050">
                <a:solidFill>
                  <a:srgbClr val="94A3B8"/>
                </a:solidFill>
                <a:latin typeface="Arial"/>
              </a:rPr>
              <a:t>•  </a:t>
            </a:r>
            <a:r>
              <a:rPr sz="1050">
                <a:solidFill>
                  <a:srgbClr val="5B6372"/>
                </a:solidFill>
                <a:latin typeface="Arial"/>
              </a:rPr>
              <a:t>Sidecar adds a capability, adapter reshapes an output, ambassador owns the outbound connection</a:t>
            </a:r>
          </a:p>
          <a:p>
            <a:pPr>
              <a:lnSpc>
                <a:spcPct val="112000"/>
              </a:lnSpc>
              <a:spcAft>
                <a:spcPts val="500"/>
              </a:spcAft>
            </a:pPr>
            <a:r>
              <a:rPr sz="1050">
                <a:solidFill>
                  <a:srgbClr val="94A3B8"/>
                </a:solidFill>
                <a:latin typeface="Arial"/>
              </a:rPr>
              <a:t>•  </a:t>
            </a:r>
            <a:r>
              <a:rPr sz="1050">
                <a:solidFill>
                  <a:srgbClr val="5B6372"/>
                </a:solidFill>
                <a:latin typeface="Arial"/>
              </a:rPr>
              <a:t>kubectl logs -c &lt;container&gt; and the error you get when you forget it</a:t>
            </a:r>
          </a:p>
          <a:p>
            <a:pPr>
              <a:lnSpc>
                <a:spcPct val="112000"/>
              </a:lnSpc>
              <a:spcAft>
                <a:spcPts val="500"/>
              </a:spcAft>
            </a:pPr>
            <a:r>
              <a:rPr sz="1050">
                <a:solidFill>
                  <a:srgbClr val="94A3B8"/>
                </a:solidFill>
                <a:latin typeface="Arial"/>
              </a:rPr>
              <a:t>•  </a:t>
            </a:r>
            <a:r>
              <a:rPr sz="1050">
                <a:solidFill>
                  <a:srgbClr val="5B6372"/>
                </a:solidFill>
                <a:latin typeface="Arial"/>
              </a:rPr>
              <a:t>Native sidecars: initContainers with restartPolicy: Always (v1.29+, GA v1.33) give ordering guarantees</a:t>
            </a:r>
          </a:p>
        </p:txBody>
      </p:sp>
      <p:sp>
        <p:nvSpPr>
          <p:cNvPr id="18" name="Rectangle 17"/>
          <p:cNvSpPr/>
          <p:nvPr/>
        </p:nvSpPr>
        <p:spPr>
          <a:xfrm>
            <a:off x="777240"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6053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2454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04</a:t>
            </a:r>
          </a:p>
        </p:txBody>
      </p:sp>
      <p:sp>
        <p:nvSpPr>
          <p:cNvPr id="22" name="Rectangle 21"/>
          <p:cNvSpPr/>
          <p:nvPr/>
        </p:nvSpPr>
        <p:spPr>
          <a:xfrm>
            <a:off x="3488436"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6053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2454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kcna-lab04</a:t>
            </a:r>
          </a:p>
        </p:txBody>
      </p:sp>
      <p:sp>
        <p:nvSpPr>
          <p:cNvPr id="26" name="Rectangle 25"/>
          <p:cNvSpPr/>
          <p:nvPr/>
        </p:nvSpPr>
        <p:spPr>
          <a:xfrm>
            <a:off x="6199631"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6053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2454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LO1 · A1 · K1</a:t>
            </a:r>
          </a:p>
        </p:txBody>
      </p:sp>
      <p:sp>
        <p:nvSpPr>
          <p:cNvPr id="30" name="Rectangle 29"/>
          <p:cNvSpPr/>
          <p:nvPr/>
        </p:nvSpPr>
        <p:spPr>
          <a:xfrm>
            <a:off x="8910828"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6053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2454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60061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courseware/labs/lab-04-multi-container-patterns/README.md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119</a:t>
            </a:r>
          </a:p>
        </p:txBody>
      </p:sp>
    </p:spTree>
  </p:cSld>
  <p:clrMapOvr>
    <a:masterClrMapping/>
  </p:clrMapOvr>
  <p:transition xmlns:ns1="http://schemas.openxmlformats.org/markup-compatibility/2006" spd="fast" ns1:Ignorable="p14">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07</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MODULE 7 · IMAGES, REGISTRIES AND THE PULL PATH</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Naming Bytes You Can Prove</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Reference anatomy, silent defaults, digests versus tags, imagePullPolicy and what the kubelet actually asks for.</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120</a:t>
            </a:r>
          </a:p>
        </p:txBody>
      </p:sp>
    </p:spTree>
  </p:cSld>
  <p:clrMapOvr>
    <a:masterClrMapping/>
  </p:clrMapOvr>
  <p:transition xmlns:ns1="http://schemas.openxmlformats.org/markup-compatibility/2006" spd="med" ns1:Ignorable="p14">
    <p:push dir="l"/>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Anatomy of an Image Reference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image reference you have ever written was rewritten before it left the node. Know what was added.</a:t>
            </a:r>
          </a:p>
        </p:txBody>
      </p:sp>
      <p:sp>
        <p:nvSpPr>
          <p:cNvPr id="7" name="Rectangle 6"/>
          <p:cNvSpPr/>
          <p:nvPr/>
        </p:nvSpPr>
        <p:spPr>
          <a:xfrm>
            <a:off x="777240" y="2200046"/>
            <a:ext cx="635508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reference normalisation (Lab 05 data/reference-forms.tsv)</a:t>
            </a:r>
          </a:p>
        </p:txBody>
      </p:sp>
      <p:sp>
        <p:nvSpPr>
          <p:cNvPr id="9" name="TextBox 8"/>
          <p:cNvSpPr txBox="1"/>
          <p:nvPr/>
        </p:nvSpPr>
        <p:spPr>
          <a:xfrm>
            <a:off x="923544" y="2620670"/>
            <a:ext cx="6062472" cy="2436876"/>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[REGISTRY[:PORT]/]REPOSITORY[:TAG][@DIGEST]</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 docker.io / library/nginx : 1.27-alpine @ sha256:3d69...</a:t>
            </a:r>
          </a:p>
          <a:p>
            <a:pPr>
              <a:lnSpc>
                <a:spcPts val="1476"/>
              </a:lnSpc>
              <a:spcAft>
                <a:spcPts val="0"/>
              </a:spcAft>
            </a:pPr>
            <a:r>
              <a:rPr sz="1050">
                <a:solidFill>
                  <a:srgbClr val="E6EDF3"/>
                </a:solidFill>
                <a:latin typeface="Consolas"/>
              </a:rPr>
              <a:t> |            |              |            |</a:t>
            </a:r>
          </a:p>
          <a:p>
            <a:pPr>
              <a:lnSpc>
                <a:spcPts val="1476"/>
              </a:lnSpc>
              <a:spcAft>
                <a:spcPts val="0"/>
              </a:spcAft>
            </a:pPr>
            <a:r>
              <a:rPr sz="1050">
                <a:solidFill>
                  <a:srgbClr val="E6EDF3"/>
                </a:solidFill>
                <a:latin typeface="Consolas"/>
              </a:rPr>
              <a:t> registry     repository     tag          digest</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what you write        # what the runtime resolves</a:t>
            </a:r>
          </a:p>
          <a:p>
            <a:pPr>
              <a:lnSpc>
                <a:spcPts val="1476"/>
              </a:lnSpc>
              <a:spcAft>
                <a:spcPts val="0"/>
              </a:spcAft>
            </a:pPr>
            <a:r>
              <a:rPr sz="1050">
                <a:solidFill>
                  <a:srgbClr val="E6EDF3"/>
                </a:solidFill>
                <a:latin typeface="Consolas"/>
              </a:rPr>
              <a:t>nginx                   docker.io/library/nginx:latest</a:t>
            </a:r>
          </a:p>
          <a:p>
            <a:pPr>
              <a:lnSpc>
                <a:spcPts val="1476"/>
              </a:lnSpc>
              <a:spcAft>
                <a:spcPts val="0"/>
              </a:spcAft>
            </a:pPr>
            <a:r>
              <a:rPr sz="1050">
                <a:solidFill>
                  <a:srgbClr val="E6EDF3"/>
                </a:solidFill>
                <a:latin typeface="Consolas"/>
              </a:rPr>
              <a:t>nginx:1.27-alpine       docker.io/library/nginx:1.27-alpine</a:t>
            </a:r>
          </a:p>
          <a:p>
            <a:pPr>
              <a:lnSpc>
                <a:spcPts val="1476"/>
              </a:lnSpc>
              <a:spcAft>
                <a:spcPts val="0"/>
              </a:spcAft>
            </a:pPr>
            <a:r>
              <a:rPr sz="1050">
                <a:solidFill>
                  <a:srgbClr val="E6EDF3"/>
                </a:solidFill>
                <a:latin typeface="Consolas"/>
              </a:rPr>
              <a:t>library/nginx:1.27      docker.io/library/nginx:1.27</a:t>
            </a:r>
          </a:p>
          <a:p>
            <a:pPr>
              <a:lnSpc>
                <a:spcPts val="1476"/>
              </a:lnSpc>
              <a:spcAft>
                <a:spcPts val="0"/>
              </a:spcAft>
            </a:pPr>
            <a:r>
              <a:rPr sz="1050">
                <a:solidFill>
                  <a:srgbClr val="E6EDF3"/>
                </a:solidFill>
                <a:latin typeface="Consolas"/>
              </a:rPr>
              <a:t>registry.k8s.io/pause:3.10   (unchanged - no library/)</a:t>
            </a:r>
          </a:p>
          <a:p>
            <a:pPr>
              <a:lnSpc>
                <a:spcPts val="1476"/>
              </a:lnSpc>
              <a:spcAft>
                <a:spcPts val="0"/>
              </a:spcAft>
            </a:pPr>
            <a:r>
              <a:rPr sz="1050">
                <a:solidFill>
                  <a:srgbClr val="E6EDF3"/>
                </a:solidFill>
                <a:latin typeface="Consolas"/>
              </a:rPr>
              <a:t>ghcr.io/meridian/api:2.4.1   (unchanged)</a:t>
            </a:r>
          </a:p>
          <a:p>
            <a:pPr>
              <a:lnSpc>
                <a:spcPts val="1476"/>
              </a:lnSpc>
              <a:spcAft>
                <a:spcPts val="0"/>
              </a:spcAft>
            </a:pPr>
            <a:r>
              <a:rPr sz="1050">
                <a:solidFill>
                  <a:srgbClr val="E6EDF3"/>
                </a:solidFill>
                <a:latin typeface="Consolas"/>
              </a:rPr>
              <a:t>localhost:5000/api:dev  (host:port means REGISTRY, not repo)</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defaults are applied silently</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missing registry becomes docker.io — and a single-segment repository also gains library/. A missing tag becomes :latest.</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library/ is a Docker Hub convention</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registry.k8s.io/pause gets no library/ prefix. The rule is not universal, which is exactly why it surprises people.</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:latest is not 'the newest'</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just the default tag name. It may be years old, or may not exist in the repository at all.</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colon in the first segment means a port</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localhost:5000/api:dev is registry localhost:5000, repository api, tag dev — not a repository called localhost.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Images: kubernetes.io/docs/concepts/containers/images/. Captured in courseware/labs/lab-05-container-images-oci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121</a:t>
            </a:r>
          </a:p>
        </p:txBody>
      </p:sp>
    </p:spTree>
  </p:cSld>
  <p:clrMapOvr>
    <a:masterClrMapping/>
  </p:clrMapOvr>
  <p:transition xmlns:ns1="http://schemas.openxmlformats.org/markup-compatibility/2006" spd="fast" ns1:Ignorable="p14">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Happens When the kubelet Needs an Image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stages between 'image: nginx' and a process. Each one produces a distinguishable error message.</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Policy check</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imagePullPolicy decides whether to contact a registry at all: Always, IfNotPresent against the local store, or Never.</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Resolve</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runtime normalises the reference and asks the registry's distribution-spec API for the manifest — an index first if the image is multi-platform.</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Fetch layers</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Missing blobs are pulled by digest and verified against it. Layers already in the content store are reused, not re-fetched.</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Unpack</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snapshotter extracts layers and prepares the overlay mount that becomes the container's rootfs.</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Record</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resolved digest is reported back as status.containerStatuses[].imageID.</a:t>
            </a:r>
          </a:p>
        </p:txBody>
      </p:sp>
      <p:sp>
        <p:nvSpPr>
          <p:cNvPr id="36" name="Rectangle 35"/>
          <p:cNvSpPr/>
          <p:nvPr/>
        </p:nvSpPr>
        <p:spPr>
          <a:xfrm>
            <a:off x="777240" y="4821326"/>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Authentication failures appear at Resolve, network and corruption failures at Fetch, and disk-pressure failures at Unpack. The stage tells you where to look.</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Images: kubernetes.io/docs/concepts/containers/images/. Open Container Initiative Distribution Specification — github.com/opencontainers/distribution-spec. Kubernetes documentation — Container Runtime Interface: kubernetes.io/docs/concepts/architecture/cri/.</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122</a:t>
            </a:r>
          </a:p>
        </p:txBody>
      </p:sp>
    </p:spTree>
  </p:cSld>
  <p:clrMapOvr>
    <a:masterClrMapping/>
  </p:clrMapOvr>
  <p:transition xmlns:ns5="http://schemas.openxmlformats.org/markup-compatibility/2006" spd="fast" ns5:Ignorable="p14">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Tag Versus Digest — the Reproducibility Trade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05's scenario is a real one: the same tag pulled six weeks apart gave two environments two different images.</a:t>
            </a:r>
          </a:p>
        </p:txBody>
      </p:sp>
      <p:sp>
        <p:nvSpPr>
          <p:cNvPr id="7" name="Rectangle 6"/>
          <p:cNvSpPr/>
          <p:nvPr/>
        </p:nvSpPr>
        <p:spPr>
          <a:xfrm>
            <a:off x="777240" y="2200046"/>
            <a:ext cx="2252311"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99627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Property</a:t>
            </a:r>
          </a:p>
        </p:txBody>
      </p:sp>
      <p:sp>
        <p:nvSpPr>
          <p:cNvPr id="9" name="Rectangle 8"/>
          <p:cNvSpPr/>
          <p:nvPr/>
        </p:nvSpPr>
        <p:spPr>
          <a:xfrm>
            <a:off x="3029551" y="2200046"/>
            <a:ext cx="4129237"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157567" y="2300630"/>
            <a:ext cx="387320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Tag (nginx:1.27-alpine)</a:t>
            </a:r>
          </a:p>
        </p:txBody>
      </p:sp>
      <p:sp>
        <p:nvSpPr>
          <p:cNvPr id="11" name="Rectangle 10"/>
          <p:cNvSpPr/>
          <p:nvPr/>
        </p:nvSpPr>
        <p:spPr>
          <a:xfrm>
            <a:off x="7158789" y="2200046"/>
            <a:ext cx="431693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286805" y="2300630"/>
            <a:ext cx="406089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Digest (nginx@sha256:…)</a:t>
            </a:r>
          </a:p>
        </p:txBody>
      </p:sp>
      <p:sp>
        <p:nvSpPr>
          <p:cNvPr id="13" name="Rectangle 12"/>
          <p:cNvSpPr/>
          <p:nvPr/>
        </p:nvSpPr>
        <p:spPr>
          <a:xfrm>
            <a:off x="777240" y="2620670"/>
            <a:ext cx="2252311"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it names</a:t>
            </a:r>
          </a:p>
        </p:txBody>
      </p:sp>
      <p:sp>
        <p:nvSpPr>
          <p:cNvPr id="15" name="Rectangle 14"/>
          <p:cNvSpPr/>
          <p:nvPr/>
        </p:nvSpPr>
        <p:spPr>
          <a:xfrm>
            <a:off x="3029551" y="2620670"/>
            <a:ext cx="4129237"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157567" y="2702966"/>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mutable pointer the publisher can re-aim</a:t>
            </a:r>
          </a:p>
        </p:txBody>
      </p:sp>
      <p:sp>
        <p:nvSpPr>
          <p:cNvPr id="17" name="Rectangle 16"/>
          <p:cNvSpPr/>
          <p:nvPr/>
        </p:nvSpPr>
        <p:spPr>
          <a:xfrm>
            <a:off x="7158789" y="2620670"/>
            <a:ext cx="431693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286805" y="2702966"/>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content itself — the sha256 of the manifest</a:t>
            </a:r>
          </a:p>
        </p:txBody>
      </p:sp>
      <p:sp>
        <p:nvSpPr>
          <p:cNvPr id="19" name="Rectangle 18"/>
          <p:cNvSpPr/>
          <p:nvPr/>
        </p:nvSpPr>
        <p:spPr>
          <a:xfrm>
            <a:off x="777240" y="3080004"/>
            <a:ext cx="2252311"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 the bytes change</a:t>
            </a:r>
          </a:p>
        </p:txBody>
      </p:sp>
      <p:sp>
        <p:nvSpPr>
          <p:cNvPr id="21" name="Rectangle 20"/>
          <p:cNvSpPr/>
          <p:nvPr/>
        </p:nvSpPr>
        <p:spPr>
          <a:xfrm>
            <a:off x="3029551" y="3080004"/>
            <a:ext cx="4129237"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157567" y="3162299"/>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silently, at any time</a:t>
            </a:r>
          </a:p>
        </p:txBody>
      </p:sp>
      <p:sp>
        <p:nvSpPr>
          <p:cNvPr id="23" name="Rectangle 22"/>
          <p:cNvSpPr/>
          <p:nvPr/>
        </p:nvSpPr>
        <p:spPr>
          <a:xfrm>
            <a:off x="7158789" y="3080004"/>
            <a:ext cx="431693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286805" y="3162299"/>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Different bytes produce a different digest</a:t>
            </a:r>
          </a:p>
        </p:txBody>
      </p:sp>
      <p:sp>
        <p:nvSpPr>
          <p:cNvPr id="25" name="Rectangle 24"/>
          <p:cNvSpPr/>
          <p:nvPr/>
        </p:nvSpPr>
        <p:spPr>
          <a:xfrm>
            <a:off x="777240" y="3539337"/>
            <a:ext cx="2252311"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mode</a:t>
            </a:r>
          </a:p>
        </p:txBody>
      </p:sp>
      <p:sp>
        <p:nvSpPr>
          <p:cNvPr id="27" name="Rectangle 26"/>
          <p:cNvSpPr/>
          <p:nvPr/>
        </p:nvSpPr>
        <p:spPr>
          <a:xfrm>
            <a:off x="3029551" y="3539337"/>
            <a:ext cx="4129237"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157567" y="3621633"/>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Succeeds quietly with different content</a:t>
            </a:r>
          </a:p>
        </p:txBody>
      </p:sp>
      <p:sp>
        <p:nvSpPr>
          <p:cNvPr id="29" name="Rectangle 28"/>
          <p:cNvSpPr/>
          <p:nvPr/>
        </p:nvSpPr>
        <p:spPr>
          <a:xfrm>
            <a:off x="7158789" y="3539337"/>
            <a:ext cx="4316930"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286805" y="3621633"/>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Fails loudly: 'failed to resolve reference … not found'</a:t>
            </a:r>
          </a:p>
        </p:txBody>
      </p:sp>
      <p:sp>
        <p:nvSpPr>
          <p:cNvPr id="31" name="Rectangle 30"/>
          <p:cNvSpPr/>
          <p:nvPr/>
        </p:nvSpPr>
        <p:spPr>
          <a:xfrm>
            <a:off x="777240" y="3998671"/>
            <a:ext cx="2252311"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Multi-platform</a:t>
            </a:r>
          </a:p>
        </p:txBody>
      </p:sp>
      <p:sp>
        <p:nvSpPr>
          <p:cNvPr id="33" name="Rectangle 32"/>
          <p:cNvSpPr/>
          <p:nvPr/>
        </p:nvSpPr>
        <p:spPr>
          <a:xfrm>
            <a:off x="3029551" y="3998671"/>
            <a:ext cx="4129237"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157567" y="4080967"/>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index picks the right manifest per node architecture</a:t>
            </a:r>
          </a:p>
        </p:txBody>
      </p:sp>
      <p:sp>
        <p:nvSpPr>
          <p:cNvPr id="35" name="Rectangle 34"/>
          <p:cNvSpPr/>
          <p:nvPr/>
        </p:nvSpPr>
        <p:spPr>
          <a:xfrm>
            <a:off x="7158789" y="3998671"/>
            <a:ext cx="4316930"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286805" y="4080967"/>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Pin the index digest, not a platform manifest, or arm64 nodes will fail</a:t>
            </a:r>
          </a:p>
        </p:txBody>
      </p:sp>
      <p:sp>
        <p:nvSpPr>
          <p:cNvPr id="37" name="Rectangle 36"/>
          <p:cNvSpPr/>
          <p:nvPr/>
        </p:nvSpPr>
        <p:spPr>
          <a:xfrm>
            <a:off x="777240" y="4458004"/>
            <a:ext cx="2252311"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Readability</a:t>
            </a:r>
          </a:p>
        </p:txBody>
      </p:sp>
      <p:sp>
        <p:nvSpPr>
          <p:cNvPr id="39" name="Rectangle 38"/>
          <p:cNvSpPr/>
          <p:nvPr/>
        </p:nvSpPr>
        <p:spPr>
          <a:xfrm>
            <a:off x="3029551" y="4458004"/>
            <a:ext cx="4129237"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157567" y="4540300"/>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Human-meaningful; good in a changelog</a:t>
            </a:r>
          </a:p>
        </p:txBody>
      </p:sp>
      <p:sp>
        <p:nvSpPr>
          <p:cNvPr id="41" name="Rectangle 40"/>
          <p:cNvSpPr/>
          <p:nvPr/>
        </p:nvSpPr>
        <p:spPr>
          <a:xfrm>
            <a:off x="7158789" y="4458004"/>
            <a:ext cx="4316930"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286805" y="4540300"/>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Opaque; needs tooling or an annotation to explain it</a:t>
            </a:r>
          </a:p>
        </p:txBody>
      </p:sp>
      <p:sp>
        <p:nvSpPr>
          <p:cNvPr id="43" name="Rectangle 42"/>
          <p:cNvSpPr/>
          <p:nvPr/>
        </p:nvSpPr>
        <p:spPr>
          <a:xfrm>
            <a:off x="777240" y="4917338"/>
            <a:ext cx="2252311"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1996279"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Where each belongs</a:t>
            </a:r>
          </a:p>
        </p:txBody>
      </p:sp>
      <p:sp>
        <p:nvSpPr>
          <p:cNvPr id="45" name="Rectangle 44"/>
          <p:cNvSpPr/>
          <p:nvPr/>
        </p:nvSpPr>
        <p:spPr>
          <a:xfrm>
            <a:off x="3029551" y="4917338"/>
            <a:ext cx="4129237"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3157567" y="4999634"/>
            <a:ext cx="3873205"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Development and local iteration</a:t>
            </a:r>
          </a:p>
        </p:txBody>
      </p:sp>
      <p:sp>
        <p:nvSpPr>
          <p:cNvPr id="47" name="Rectangle 46"/>
          <p:cNvSpPr/>
          <p:nvPr/>
        </p:nvSpPr>
        <p:spPr>
          <a:xfrm>
            <a:off x="7158789" y="4917338"/>
            <a:ext cx="4316930"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7286805" y="4999634"/>
            <a:ext cx="406089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Anything you must be able to reproduce or attest</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Tag for humans, digest for machines. Record the resolved imageID at every release even if you deploy by tag.</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Images: kubernetes.io/docs/concepts/containers/images/. Open Container Initiative Image Format Specification — github.com/opencontainers/image-spec. Captured in courseware/labs/lab-05-container-images-oci on the training cluster, Kubernetes v1.37.0.</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123</a:t>
            </a:r>
          </a:p>
        </p:txBody>
      </p:sp>
    </p:spTree>
  </p:cSld>
  <p:clrMapOvr>
    <a:masterClrMapping/>
  </p:clrMapOvr>
  <p:transition xmlns:ns1="http://schemas.openxmlformats.org/markup-compatibility/2006" spd="fast" ns1:Ignorable="p14">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Fields, Three Different Answers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If you can only remember one image fact from today, make it this: spec is the request, status.imageID is the answer.</a:t>
            </a:r>
          </a:p>
        </p:txBody>
      </p:sp>
      <p:sp>
        <p:nvSpPr>
          <p:cNvPr id="7" name="Rectangle 6"/>
          <p:cNvSpPr/>
          <p:nvPr/>
        </p:nvSpPr>
        <p:spPr>
          <a:xfrm>
            <a:off x="777240" y="2208885"/>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Lab 05 on the training cluster</a:t>
            </a:r>
          </a:p>
        </p:txBody>
      </p:sp>
      <p:sp>
        <p:nvSpPr>
          <p:cNvPr id="9" name="TextBox 8"/>
          <p:cNvSpPr txBox="1"/>
          <p:nvPr/>
        </p:nvSpPr>
        <p:spPr>
          <a:xfrm>
            <a:off x="923544" y="2629509"/>
            <a:ext cx="6611112" cy="2436876"/>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kcna-lab05 get pod image-catalog -o jsonpath=\</a:t>
            </a:r>
          </a:p>
          <a:p>
            <a:pPr>
              <a:lnSpc>
                <a:spcPts val="1476"/>
              </a:lnSpc>
              <a:spcAft>
                <a:spcPts val="0"/>
              </a:spcAft>
            </a:pPr>
            <a:r>
              <a:rPr sz="1000">
                <a:solidFill>
                  <a:srgbClr val="E6EDF3"/>
                </a:solidFill>
                <a:latin typeface="Consolas"/>
              </a:rPr>
              <a:t>  '{.spec.containers[0].image}{"\n"}\</a:t>
            </a:r>
          </a:p>
          <a:p>
            <a:pPr>
              <a:lnSpc>
                <a:spcPts val="1476"/>
              </a:lnSpc>
              <a:spcAft>
                <a:spcPts val="0"/>
              </a:spcAft>
            </a:pPr>
            <a:r>
              <a:rPr sz="1000">
                <a:solidFill>
                  <a:srgbClr val="E6EDF3"/>
                </a:solidFill>
                <a:latin typeface="Consolas"/>
              </a:rPr>
              <a:t>   {.status.containerStatuses[0].image}{"\n"}\</a:t>
            </a:r>
          </a:p>
          <a:p>
            <a:pPr>
              <a:lnSpc>
                <a:spcPts val="1476"/>
              </a:lnSpc>
              <a:spcAft>
                <a:spcPts val="0"/>
              </a:spcAft>
            </a:pPr>
            <a:r>
              <a:rPr sz="1000">
                <a:solidFill>
                  <a:srgbClr val="E6EDF3"/>
                </a:solidFill>
                <a:latin typeface="Consolas"/>
              </a:rPr>
              <a:t>   {.status.containerStatuses[0].imageID}{"\n"}'</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nginx:1.27-alpine</a:t>
            </a:r>
          </a:p>
          <a:p>
            <a:pPr>
              <a:lnSpc>
                <a:spcPts val="1476"/>
              </a:lnSpc>
              <a:spcAft>
                <a:spcPts val="0"/>
              </a:spcAft>
            </a:pPr>
            <a:r>
              <a:rPr sz="1000">
                <a:solidFill>
                  <a:srgbClr val="E6EDF3"/>
                </a:solidFill>
                <a:latin typeface="Consolas"/>
              </a:rPr>
              <a:t>docker.io/library/nginx:1.27-alpine</a:t>
            </a:r>
          </a:p>
          <a:p>
            <a:pPr>
              <a:lnSpc>
                <a:spcPts val="1476"/>
              </a:lnSpc>
              <a:spcAft>
                <a:spcPts val="0"/>
              </a:spcAft>
            </a:pPr>
            <a:r>
              <a:rPr sz="1000">
                <a:solidFill>
                  <a:srgbClr val="E6EDF3"/>
                </a:solidFill>
                <a:latin typeface="Consolas"/>
              </a:rPr>
              <a:t>docker.io/library/nginx@sha256:3d696e8357051647b844d8c7cf4a...</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and the runtime that resolved it:</a:t>
            </a:r>
          </a:p>
          <a:p>
            <a:pPr>
              <a:lnSpc>
                <a:spcPts val="1476"/>
              </a:lnSpc>
              <a:spcAft>
                <a:spcPts val="0"/>
              </a:spcAft>
            </a:pPr>
            <a:r>
              <a:rPr sz="1000">
                <a:solidFill>
                  <a:srgbClr val="7EE787"/>
                </a:solidFill>
                <a:latin typeface="Consolas"/>
              </a:rPr>
              <a:t>$ kubectl get nodes -o jsonpath=\</a:t>
            </a:r>
          </a:p>
          <a:p>
            <a:pPr>
              <a:lnSpc>
                <a:spcPts val="1476"/>
              </a:lnSpc>
              <a:spcAft>
                <a:spcPts val="0"/>
              </a:spcAft>
            </a:pPr>
            <a:r>
              <a:rPr sz="1000">
                <a:solidFill>
                  <a:srgbClr val="E6EDF3"/>
                </a:solidFill>
                <a:latin typeface="Consolas"/>
              </a:rPr>
              <a:t>  '{.items[0].status.nodeInfo.containerRuntimeVersion}'</a:t>
            </a:r>
          </a:p>
          <a:p>
            <a:pPr>
              <a:lnSpc>
                <a:spcPts val="1476"/>
              </a:lnSpc>
              <a:spcAft>
                <a:spcPts val="0"/>
              </a:spcAft>
            </a:pPr>
            <a:r>
              <a:rPr sz="1000">
                <a:solidFill>
                  <a:srgbClr val="E6EDF3"/>
                </a:solidFill>
                <a:latin typeface="Consolas"/>
              </a:rPr>
              <a:t>containerd://2.3.4</a:t>
            </a:r>
          </a:p>
        </p:txBody>
      </p:sp>
      <p:sp>
        <p:nvSpPr>
          <p:cNvPr id="10" name="Rectangle 9"/>
          <p:cNvSpPr/>
          <p:nvPr/>
        </p:nvSpPr>
        <p:spPr>
          <a:xfrm>
            <a:off x="7936992" y="2208885"/>
            <a:ext cx="3538727" cy="3807866"/>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8885"/>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54605"/>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56941"/>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9509"/>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spec.image is what you asked for</a:t>
            </a:r>
          </a:p>
        </p:txBody>
      </p:sp>
      <p:sp>
        <p:nvSpPr>
          <p:cNvPr id="15" name="TextBox 14"/>
          <p:cNvSpPr txBox="1"/>
          <p:nvPr/>
        </p:nvSpPr>
        <p:spPr>
          <a:xfrm>
            <a:off x="8439912" y="2839821"/>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Kubernetes never rewrites it. It is the record of your intent, unchanged.</a:t>
            </a:r>
          </a:p>
        </p:txBody>
      </p:sp>
      <p:sp>
        <p:nvSpPr>
          <p:cNvPr id="16" name="Oval 15"/>
          <p:cNvSpPr/>
          <p:nvPr/>
        </p:nvSpPr>
        <p:spPr>
          <a:xfrm>
            <a:off x="8119871" y="3388461"/>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61029"/>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status…image is the normalised form</a:t>
            </a:r>
          </a:p>
        </p:txBody>
      </p:sp>
      <p:sp>
        <p:nvSpPr>
          <p:cNvPr id="18" name="TextBox 17"/>
          <p:cNvSpPr txBox="1"/>
          <p:nvPr/>
        </p:nvSpPr>
        <p:spPr>
          <a:xfrm>
            <a:off x="8439912" y="3571341"/>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runtime's expansion of your short name — this is where the silent docker.io/library/ default becomes visible.</a:t>
            </a:r>
          </a:p>
        </p:txBody>
      </p:sp>
      <p:sp>
        <p:nvSpPr>
          <p:cNvPr id="19" name="Oval 18"/>
          <p:cNvSpPr/>
          <p:nvPr/>
        </p:nvSpPr>
        <p:spPr>
          <a:xfrm>
            <a:off x="8119871" y="4119981"/>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92549"/>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status…imageID is what ran</a:t>
            </a:r>
          </a:p>
        </p:txBody>
      </p:sp>
      <p:sp>
        <p:nvSpPr>
          <p:cNvPr id="21" name="TextBox 20"/>
          <p:cNvSpPr txBox="1"/>
          <p:nvPr/>
        </p:nvSpPr>
        <p:spPr>
          <a:xfrm>
            <a:off x="8439912" y="4302861"/>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digest of the bytes on this node. This is the field you record at every release.</a:t>
            </a:r>
          </a:p>
        </p:txBody>
      </p:sp>
      <p:sp>
        <p:nvSpPr>
          <p:cNvPr id="22" name="Oval 21"/>
          <p:cNvSpPr/>
          <p:nvPr/>
        </p:nvSpPr>
        <p:spPr>
          <a:xfrm>
            <a:off x="8119871" y="4851501"/>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24069"/>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runtime is reported too</a:t>
            </a:r>
          </a:p>
        </p:txBody>
      </p:sp>
      <p:sp>
        <p:nvSpPr>
          <p:cNvPr id="24" name="TextBox 23"/>
          <p:cNvSpPr txBox="1"/>
          <p:nvPr/>
        </p:nvSpPr>
        <p:spPr>
          <a:xfrm>
            <a:off x="8439912" y="5034381"/>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containerd://2.3.4 on this cluster. Everything before :// is the CRI implementation.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courseware/labs/lab-05-container-images-oci on the training cluster, Kubernetes v1.37.0. Measured on the course training cluster: kind, Kubernetes v1.37.0, containerd 2.3.4, linux/arm64, 5 Sep 2026.</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124</a:t>
            </a:r>
          </a:p>
        </p:txBody>
      </p:sp>
    </p:spTree>
  </p:cSld>
  <p:clrMapOvr>
    <a:masterClrMapping/>
  </p:clrMapOvr>
  <p:transition xmlns:ns1="http://schemas.openxmlformats.org/markup-compatibility/2006" spd="fast" ns1:Ignorable="p14">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imagePullPolicy — Three Values and Their Defaults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fourth row is the one that catches people: changing the tag also changes the pull behaviour.</a:t>
            </a:r>
          </a:p>
        </p:txBody>
      </p:sp>
      <p:sp>
        <p:nvSpPr>
          <p:cNvPr id="7" name="Rectangle 6"/>
          <p:cNvSpPr/>
          <p:nvPr/>
        </p:nvSpPr>
        <p:spPr>
          <a:xfrm>
            <a:off x="777240" y="2200046"/>
            <a:ext cx="1834025"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57799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Policy</a:t>
            </a:r>
          </a:p>
        </p:txBody>
      </p:sp>
      <p:sp>
        <p:nvSpPr>
          <p:cNvPr id="9" name="Rectangle 8"/>
          <p:cNvSpPr/>
          <p:nvPr/>
        </p:nvSpPr>
        <p:spPr>
          <a:xfrm>
            <a:off x="2611265" y="2200046"/>
            <a:ext cx="3209544"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739281" y="2300630"/>
            <a:ext cx="295351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Behaviour</a:t>
            </a:r>
          </a:p>
        </p:txBody>
      </p:sp>
      <p:sp>
        <p:nvSpPr>
          <p:cNvPr id="11" name="Rectangle 10"/>
          <p:cNvSpPr/>
          <p:nvPr/>
        </p:nvSpPr>
        <p:spPr>
          <a:xfrm>
            <a:off x="5820809" y="2200046"/>
            <a:ext cx="259820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948825" y="2300630"/>
            <a:ext cx="234217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Use when</a:t>
            </a:r>
          </a:p>
        </p:txBody>
      </p:sp>
      <p:sp>
        <p:nvSpPr>
          <p:cNvPr id="13" name="Rectangle 12"/>
          <p:cNvSpPr/>
          <p:nvPr/>
        </p:nvSpPr>
        <p:spPr>
          <a:xfrm>
            <a:off x="8419011" y="2200046"/>
            <a:ext cx="3056708"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547027" y="2300630"/>
            <a:ext cx="280067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Failure it produces</a:t>
            </a:r>
          </a:p>
        </p:txBody>
      </p:sp>
      <p:sp>
        <p:nvSpPr>
          <p:cNvPr id="15" name="Rectangle 14"/>
          <p:cNvSpPr/>
          <p:nvPr/>
        </p:nvSpPr>
        <p:spPr>
          <a:xfrm>
            <a:off x="777240" y="2620670"/>
            <a:ext cx="1834025"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57799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Always</a:t>
            </a:r>
          </a:p>
        </p:txBody>
      </p:sp>
      <p:sp>
        <p:nvSpPr>
          <p:cNvPr id="17" name="Rectangle 16"/>
          <p:cNvSpPr/>
          <p:nvPr/>
        </p:nvSpPr>
        <p:spPr>
          <a:xfrm>
            <a:off x="2611265" y="2620670"/>
            <a:ext cx="3209544"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739281" y="2702966"/>
            <a:ext cx="295351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Contact the registry on every container start and re-resolve the reference</a:t>
            </a:r>
          </a:p>
        </p:txBody>
      </p:sp>
      <p:sp>
        <p:nvSpPr>
          <p:cNvPr id="19" name="Rectangle 18"/>
          <p:cNvSpPr/>
          <p:nvPr/>
        </p:nvSpPr>
        <p:spPr>
          <a:xfrm>
            <a:off x="5820809" y="2620670"/>
            <a:ext cx="2598202"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948825" y="2702966"/>
            <a:ext cx="23421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Mutable tags, or when freshness must be guaranteed</a:t>
            </a:r>
          </a:p>
        </p:txBody>
      </p:sp>
      <p:sp>
        <p:nvSpPr>
          <p:cNvPr id="21" name="Rectangle 20"/>
          <p:cNvSpPr/>
          <p:nvPr/>
        </p:nvSpPr>
        <p:spPr>
          <a:xfrm>
            <a:off x="8419011" y="2620670"/>
            <a:ext cx="3056708"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547027" y="2702966"/>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ErrImagePull if the registry is unreachable — even though the node has a copy</a:t>
            </a:r>
          </a:p>
        </p:txBody>
      </p:sp>
      <p:sp>
        <p:nvSpPr>
          <p:cNvPr id="23" name="Rectangle 22"/>
          <p:cNvSpPr/>
          <p:nvPr/>
        </p:nvSpPr>
        <p:spPr>
          <a:xfrm>
            <a:off x="777240" y="3187598"/>
            <a:ext cx="1834025"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157799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IfNotPresent</a:t>
            </a:r>
          </a:p>
        </p:txBody>
      </p:sp>
      <p:sp>
        <p:nvSpPr>
          <p:cNvPr id="25" name="Rectangle 24"/>
          <p:cNvSpPr/>
          <p:nvPr/>
        </p:nvSpPr>
        <p:spPr>
          <a:xfrm>
            <a:off x="2611265" y="3187598"/>
            <a:ext cx="3209544"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739281" y="3269894"/>
            <a:ext cx="295351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Use the node's copy if that reference is already present</a:t>
            </a:r>
          </a:p>
        </p:txBody>
      </p:sp>
      <p:sp>
        <p:nvSpPr>
          <p:cNvPr id="27" name="Rectangle 26"/>
          <p:cNvSpPr/>
          <p:nvPr/>
        </p:nvSpPr>
        <p:spPr>
          <a:xfrm>
            <a:off x="5820809" y="3187598"/>
            <a:ext cx="2598202"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948825" y="3269894"/>
            <a:ext cx="23421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Fixed tags and digests — the normal production choice</a:t>
            </a:r>
          </a:p>
        </p:txBody>
      </p:sp>
      <p:sp>
        <p:nvSpPr>
          <p:cNvPr id="29" name="Rectangle 28"/>
          <p:cNvSpPr/>
          <p:nvPr/>
        </p:nvSpPr>
        <p:spPr>
          <a:xfrm>
            <a:off x="8419011" y="3187598"/>
            <a:ext cx="3056708"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547027" y="3269894"/>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Only fails if the image is absent and cannot be pulled</a:t>
            </a:r>
          </a:p>
        </p:txBody>
      </p:sp>
      <p:sp>
        <p:nvSpPr>
          <p:cNvPr id="31" name="Rectangle 30"/>
          <p:cNvSpPr/>
          <p:nvPr/>
        </p:nvSpPr>
        <p:spPr>
          <a:xfrm>
            <a:off x="777240" y="3754526"/>
            <a:ext cx="1834025"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157799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Never</a:t>
            </a:r>
          </a:p>
        </p:txBody>
      </p:sp>
      <p:sp>
        <p:nvSpPr>
          <p:cNvPr id="33" name="Rectangle 32"/>
          <p:cNvSpPr/>
          <p:nvPr/>
        </p:nvSpPr>
        <p:spPr>
          <a:xfrm>
            <a:off x="2611265" y="3754526"/>
            <a:ext cx="3209544"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739281" y="3836822"/>
            <a:ext cx="295351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Never contact a registry under any circumstances</a:t>
            </a:r>
          </a:p>
        </p:txBody>
      </p:sp>
      <p:sp>
        <p:nvSpPr>
          <p:cNvPr id="35" name="Rectangle 34"/>
          <p:cNvSpPr/>
          <p:nvPr/>
        </p:nvSpPr>
        <p:spPr>
          <a:xfrm>
            <a:off x="5820809" y="3754526"/>
            <a:ext cx="2598202"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948825" y="3836822"/>
            <a:ext cx="23421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Air-gapped nodes and pre-loaded images</a:t>
            </a:r>
          </a:p>
        </p:txBody>
      </p:sp>
      <p:sp>
        <p:nvSpPr>
          <p:cNvPr id="37" name="Rectangle 36"/>
          <p:cNvSpPr/>
          <p:nvPr/>
        </p:nvSpPr>
        <p:spPr>
          <a:xfrm>
            <a:off x="8419011" y="3754526"/>
            <a:ext cx="3056708"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547027" y="3836822"/>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ErrImageNeverPull if the image is not already on the node</a:t>
            </a:r>
          </a:p>
        </p:txBody>
      </p:sp>
      <p:sp>
        <p:nvSpPr>
          <p:cNvPr id="39" name="Rectangle 38"/>
          <p:cNvSpPr/>
          <p:nvPr/>
        </p:nvSpPr>
        <p:spPr>
          <a:xfrm>
            <a:off x="777240" y="4321454"/>
            <a:ext cx="1834025"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157799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Omitted (default)</a:t>
            </a:r>
          </a:p>
        </p:txBody>
      </p:sp>
      <p:sp>
        <p:nvSpPr>
          <p:cNvPr id="41" name="Rectangle 40"/>
          <p:cNvSpPr/>
          <p:nvPr/>
        </p:nvSpPr>
        <p:spPr>
          <a:xfrm>
            <a:off x="2611265" y="4321454"/>
            <a:ext cx="3209544"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739281" y="4403750"/>
            <a:ext cx="295351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:latest or no tag → Always; any other tag or a digest → IfNotPresent</a:t>
            </a:r>
          </a:p>
        </p:txBody>
      </p:sp>
      <p:sp>
        <p:nvSpPr>
          <p:cNvPr id="43" name="Rectangle 42"/>
          <p:cNvSpPr/>
          <p:nvPr/>
        </p:nvSpPr>
        <p:spPr>
          <a:xfrm>
            <a:off x="5820809" y="4321454"/>
            <a:ext cx="2598202"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948825" y="4403750"/>
            <a:ext cx="23421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Never rely on this — state the policy explicitly</a:t>
            </a:r>
          </a:p>
        </p:txBody>
      </p:sp>
      <p:sp>
        <p:nvSpPr>
          <p:cNvPr id="45" name="Rectangle 44"/>
          <p:cNvSpPr/>
          <p:nvPr/>
        </p:nvSpPr>
        <p:spPr>
          <a:xfrm>
            <a:off x="8419011" y="4321454"/>
            <a:ext cx="3056708"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547027" y="4403750"/>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default silently changes when someone edits the tag</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Write the policy down. A reviewer should not have to recall a defaulting table to know what your manifest does.</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Images: kubernetes.io/docs/concepts/containers/images/. Captured in courseware/labs/lab-05-container-images-oci on the training cluster, Kubernetes v1.37.0.</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125</a:t>
            </a:r>
          </a:p>
        </p:txBody>
      </p:sp>
    </p:spTree>
  </p:cSld>
  <p:clrMapOvr>
    <a:masterClrMapping/>
  </p:clrMapOvr>
  <p:transition xmlns:ns1="http://schemas.openxmlformats.org/markup-compatibility/2006" spd="fast" ns1:Ignorable="p14">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ErrImageNeverPull Is Not ErrImagePull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similar-looking reasons, three completely different root causes. Read the whole string.</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Pod sits in Pending. No registry was contacted, so there is no network problem to investigate.</a:t>
            </a:r>
          </a:p>
        </p:txBody>
      </p:sp>
      <p:sp>
        <p:nvSpPr>
          <p:cNvPr id="11" name="Rectangle 10"/>
          <p:cNvSpPr/>
          <p:nvPr/>
        </p:nvSpPr>
        <p:spPr>
          <a:xfrm>
            <a:off x="777240" y="2913278"/>
            <a:ext cx="6172200" cy="2441448"/>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874519"/>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kcna-lab05 get pod pp-never</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pp-never   0/1    ErrImageNeverPull   0         19s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kcna-lab05 describe pod pp-never | tail -4</a:t>
            </a:r>
          </a:p>
          <a:p>
            <a:pPr>
              <a:lnSpc>
                <a:spcPts val="1476"/>
              </a:lnSpc>
              <a:spcAft>
                <a:spcPts val="0"/>
              </a:spcAft>
            </a:pPr>
            <a:r>
              <a:rPr sz="950">
                <a:solidFill>
                  <a:srgbClr val="E6EDF3"/>
                </a:solidFill>
                <a:latin typeface="Consolas"/>
              </a:rPr>
              <a:t>Events:</a:t>
            </a:r>
          </a:p>
          <a:p>
            <a:pPr>
              <a:lnSpc>
                <a:spcPts val="1476"/>
              </a:lnSpc>
              <a:spcAft>
                <a:spcPts val="0"/>
              </a:spcAft>
            </a:pPr>
            <a:r>
              <a:rPr sz="950">
                <a:solidFill>
                  <a:srgbClr val="E6EDF3"/>
                </a:solidFill>
                <a:latin typeface="Consolas"/>
              </a:rPr>
              <a:t>  Type     Reason             Age               From     Message</a:t>
            </a:r>
          </a:p>
          <a:p>
            <a:pPr>
              <a:lnSpc>
                <a:spcPts val="1476"/>
              </a:lnSpc>
              <a:spcAft>
                <a:spcPts val="0"/>
              </a:spcAft>
            </a:pPr>
            <a:r>
              <a:rPr sz="950">
                <a:solidFill>
                  <a:srgbClr val="E6EDF3"/>
                </a:solidFill>
                <a:latin typeface="Consolas"/>
              </a:rPr>
              <a:t>  Warning  ErrImageNeverPull  6s (x3 over 21s)  kubelet</a:t>
            </a:r>
          </a:p>
          <a:p>
            <a:pPr>
              <a:lnSpc>
                <a:spcPts val="1476"/>
              </a:lnSpc>
              <a:spcAft>
                <a:spcPts val="0"/>
              </a:spcAft>
            </a:pPr>
            <a:r>
              <a:rPr sz="950">
                <a:solidFill>
                  <a:srgbClr val="E6EDF3"/>
                </a:solidFill>
                <a:latin typeface="Consolas"/>
              </a:rPr>
              <a:t>    Container image "meridianfreight.example.com/depot-portal/</a:t>
            </a:r>
          </a:p>
          <a:p>
            <a:pPr>
              <a:lnSpc>
                <a:spcPts val="1476"/>
              </a:lnSpc>
              <a:spcAft>
                <a:spcPts val="0"/>
              </a:spcAft>
            </a:pPr>
            <a:r>
              <a:rPr sz="950">
                <a:solidFill>
                  <a:srgbClr val="E6EDF3"/>
                </a:solidFill>
                <a:latin typeface="Consolas"/>
              </a:rPr>
              <a:t>    depot-api:0.1.0-poc" is not present with pull policy of Never</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imagePullPolicy: Never and the image was never loaded onto this node. The kubelet is doing exactly what it was told; the mistake is in the assumption that the image was pre-staged.</a:t>
            </a:r>
          </a:p>
        </p:txBody>
      </p:sp>
      <p:sp>
        <p:nvSpPr>
          <p:cNvPr id="18" name="Rectangle 17"/>
          <p:cNvSpPr/>
          <p:nvPr/>
        </p:nvSpPr>
        <p:spPr>
          <a:xfrm>
            <a:off x="7205472" y="3927157"/>
            <a:ext cx="4270247" cy="140177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99943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Distinguish the three: ErrImagePull (registry said no), ImagePullBackOff (retrying), ErrImageNeverPull (never asked)</a:t>
            </a:r>
          </a:p>
          <a:p>
            <a:pPr>
              <a:lnSpc>
                <a:spcPct val="112000"/>
              </a:lnSpc>
              <a:spcAft>
                <a:spcPts val="200"/>
              </a:spcAft>
            </a:pPr>
            <a:r>
              <a:rPr sz="950">
                <a:solidFill>
                  <a:srgbClr val="94A3B8"/>
                </a:solidFill>
                <a:latin typeface="Arial"/>
              </a:rPr>
              <a:t>•  </a:t>
            </a:r>
            <a:r>
              <a:rPr sz="950">
                <a:solidFill>
                  <a:srgbClr val="5B6372"/>
                </a:solidFill>
                <a:latin typeface="Arial"/>
              </a:rPr>
              <a:t>Check the node's content store through Node.status.images</a:t>
            </a:r>
          </a:p>
          <a:p>
            <a:pPr>
              <a:lnSpc>
                <a:spcPct val="112000"/>
              </a:lnSpc>
              <a:spcAft>
                <a:spcPts val="200"/>
              </a:spcAft>
            </a:pPr>
            <a:r>
              <a:rPr sz="950">
                <a:solidFill>
                  <a:srgbClr val="94A3B8"/>
                </a:solidFill>
                <a:latin typeface="Arial"/>
              </a:rPr>
              <a:t>•  </a:t>
            </a:r>
            <a:r>
              <a:rPr sz="950">
                <a:solidFill>
                  <a:srgbClr val="5B6372"/>
                </a:solidFill>
                <a:latin typeface="Arial"/>
              </a:rPr>
              <a:t>Pre-load the image, or change the policy to IfNotPresent</a:t>
            </a:r>
          </a:p>
          <a:p>
            <a:pPr>
              <a:lnSpc>
                <a:spcPct val="112000"/>
              </a:lnSpc>
              <a:spcAft>
                <a:spcPts val="200"/>
              </a:spcAft>
            </a:pPr>
            <a:r>
              <a:rPr sz="950">
                <a:solidFill>
                  <a:srgbClr val="94A3B8"/>
                </a:solidFill>
                <a:latin typeface="Arial"/>
              </a:rPr>
              <a:t>•  </a:t>
            </a:r>
            <a:r>
              <a:rPr sz="950">
                <a:solidFill>
                  <a:srgbClr val="5B6372"/>
                </a:solidFill>
                <a:latin typeface="Arial"/>
              </a:rPr>
              <a:t>Never is legitimate — for air-gapped clusters and kind load</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The Pod leaves Pending once the image is present on the node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Captured in courseware/labs/lab-05-container-images-oci on the training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126</a:t>
            </a:r>
          </a:p>
        </p:txBody>
      </p:sp>
    </p:spTree>
  </p:cSld>
  <p:clrMapOvr>
    <a:masterClrMapping/>
  </p:clrMapOvr>
  <p:transition xmlns:ns1="http://schemas.openxmlformats.org/markup-compatibility/2006" spd="fast" ns1:Ignorable="p14">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REGISTRIES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Registry Is, and What It Owes You</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Almost every image failure is a registry conversation you cannot see. The event text tells you which half failed.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an HTTP API</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distribution-spec defines /v2/ endpoints for manifests and blobs. Any conformant implementation will do.</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Content-addressed storage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Blobs are stored and fetched by digest, so a corrupted or substituted layer cannot be silently accepted.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Tags are a mutable index</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registry maps a tag to a manifest digest, and the publisher may re-point it whenever they like.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Authentication is per registry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supplies credentials with imagePullSecrets on the Pod or the ServiceAccount; 401 in the event text means this.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registry.k8s.io is a redirector</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own images are served through it; k8s.gcr.io is frozen and should not be used for new work.</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Rate limits are real</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Anonymous Docker Hub pulls are throttled. A cluster that pulls on every start will eventually be told to wait.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 Container Initiative Distribution Specification — github.com/opencontainers/distribution-spec. Kubernetes documentation — Images: kubernetes.io/docs/concepts/containers/images/.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127</a:t>
            </a:r>
          </a:p>
        </p:txBody>
      </p:sp>
    </p:spTree>
  </p:cSld>
  <p:clrMapOvr>
    <a:masterClrMapping/>
  </p:clrMapOvr>
  <p:transition xmlns:ns1="http://schemas.openxmlformats.org/markup-compatibility/2006" spd="fast" ns1:Ignorable="p14">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05 — Container Images, OCI and the Runtime Interface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Take apart what an image reference really means — registry, repository, tag, digest and OCI manifest — see how the kubelet hands it to a CRI runtime, and prove why a moved tag breaks reproducibility while a digest cannot.</a:t>
            </a:r>
          </a:p>
        </p:txBody>
      </p:sp>
      <p:sp>
        <p:nvSpPr>
          <p:cNvPr id="10" name="Rectangle 9"/>
          <p:cNvSpPr/>
          <p:nvPr/>
        </p:nvSpPr>
        <p:spPr>
          <a:xfrm>
            <a:off x="777240"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An image-catalog Pod serving data/image-inventory.csv and data/reference-forms.tsv, with its resolved status.imageID captured</a:t>
            </a:r>
          </a:p>
          <a:p>
            <a:pPr>
              <a:lnSpc>
                <a:spcPct val="112000"/>
              </a:lnSpc>
              <a:spcAft>
                <a:spcPts val="500"/>
              </a:spcAft>
            </a:pPr>
            <a:r>
              <a:rPr sz="1050">
                <a:solidFill>
                  <a:srgbClr val="94A3B8"/>
                </a:solidFill>
                <a:latin typeface="Arial"/>
              </a:rPr>
              <a:t>•  </a:t>
            </a:r>
            <a:r>
              <a:rPr sz="1050">
                <a:solidFill>
                  <a:srgbClr val="5B6372"/>
                </a:solidFill>
                <a:latin typeface="Arial"/>
              </a:rPr>
              <a:t>A digest-pinned Pod repaired from a stale sha256 reference to the digest this cluster actually resolved</a:t>
            </a:r>
          </a:p>
          <a:p>
            <a:pPr>
              <a:lnSpc>
                <a:spcPct val="112000"/>
              </a:lnSpc>
              <a:spcAft>
                <a:spcPts val="500"/>
              </a:spcAft>
            </a:pPr>
            <a:r>
              <a:rPr sz="1050">
                <a:solidFill>
                  <a:srgbClr val="94A3B8"/>
                </a:solidFill>
                <a:latin typeface="Arial"/>
              </a:rPr>
              <a:t>•  </a:t>
            </a:r>
            <a:r>
              <a:rPr sz="1050">
                <a:solidFill>
                  <a:srgbClr val="5B6372"/>
                </a:solidFill>
                <a:latin typeface="Arial"/>
              </a:rPr>
              <a:t>An imagePullPolicy matrix showing Always, IfNotPresent and an ErrImageNeverPull for a Never-policy image</a:t>
            </a:r>
          </a:p>
        </p:txBody>
      </p:sp>
      <p:sp>
        <p:nvSpPr>
          <p:cNvPr id="14" name="Rectangle 13"/>
          <p:cNvSpPr/>
          <p:nvPr/>
        </p:nvSpPr>
        <p:spPr>
          <a:xfrm>
            <a:off x="6276441"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Image reference anatomy and the implicit docker.io/library/ + :latest defaults</a:t>
            </a:r>
          </a:p>
          <a:p>
            <a:pPr>
              <a:lnSpc>
                <a:spcPct val="112000"/>
              </a:lnSpc>
              <a:spcAft>
                <a:spcPts val="500"/>
              </a:spcAft>
            </a:pPr>
            <a:r>
              <a:rPr sz="1050">
                <a:solidFill>
                  <a:srgbClr val="94A3B8"/>
                </a:solidFill>
                <a:latin typeface="Arial"/>
              </a:rPr>
              <a:t>•  </a:t>
            </a:r>
            <a:r>
              <a:rPr sz="1050">
                <a:solidFill>
                  <a:srgbClr val="5B6372"/>
                </a:solidFill>
                <a:latin typeface="Arial"/>
              </a:rPr>
              <a:t>OCI image spec: index -&gt; manifest -&gt; config + content-addressed layers</a:t>
            </a:r>
          </a:p>
          <a:p>
            <a:pPr>
              <a:lnSpc>
                <a:spcPct val="112000"/>
              </a:lnSpc>
              <a:spcAft>
                <a:spcPts val="500"/>
              </a:spcAft>
            </a:pPr>
            <a:r>
              <a:rPr sz="1050">
                <a:solidFill>
                  <a:srgbClr val="94A3B8"/>
                </a:solidFill>
                <a:latin typeface="Arial"/>
              </a:rPr>
              <a:t>•  </a:t>
            </a:r>
            <a:r>
              <a:rPr sz="1050">
                <a:solidFill>
                  <a:srgbClr val="5B6372"/>
                </a:solidFill>
                <a:latin typeface="Arial"/>
              </a:rPr>
              <a:t>spec.image is what you asked for; status.imageID is what the runtime resolved</a:t>
            </a:r>
          </a:p>
          <a:p>
            <a:pPr>
              <a:lnSpc>
                <a:spcPct val="112000"/>
              </a:lnSpc>
              <a:spcAft>
                <a:spcPts val="500"/>
              </a:spcAft>
            </a:pPr>
            <a:r>
              <a:rPr sz="1050">
                <a:solidFill>
                  <a:srgbClr val="94A3B8"/>
                </a:solidFill>
                <a:latin typeface="Arial"/>
              </a:rPr>
              <a:t>•  </a:t>
            </a:r>
            <a:r>
              <a:rPr sz="1050">
                <a:solidFill>
                  <a:srgbClr val="5B6372"/>
                </a:solidFill>
                <a:latin typeface="Arial"/>
              </a:rPr>
              <a:t>imagePullPolicy semantics and defaults; CRI is the kubelet-to-containerd boundary</a:t>
            </a:r>
          </a:p>
        </p:txBody>
      </p:sp>
      <p:sp>
        <p:nvSpPr>
          <p:cNvPr id="18" name="Rectangle 17"/>
          <p:cNvSpPr/>
          <p:nvPr/>
        </p:nvSpPr>
        <p:spPr>
          <a:xfrm>
            <a:off x="777240"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54219"/>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18227"/>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05</a:t>
            </a:r>
          </a:p>
        </p:txBody>
      </p:sp>
      <p:sp>
        <p:nvSpPr>
          <p:cNvPr id="22" name="Rectangle 21"/>
          <p:cNvSpPr/>
          <p:nvPr/>
        </p:nvSpPr>
        <p:spPr>
          <a:xfrm>
            <a:off x="3488436"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54219"/>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18227"/>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kcna-lab05</a:t>
            </a:r>
          </a:p>
        </p:txBody>
      </p:sp>
      <p:sp>
        <p:nvSpPr>
          <p:cNvPr id="26" name="Rectangle 25"/>
          <p:cNvSpPr/>
          <p:nvPr/>
        </p:nvSpPr>
        <p:spPr>
          <a:xfrm>
            <a:off x="6199631"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54219"/>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18227"/>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LO1 · A1 · K1</a:t>
            </a:r>
          </a:p>
        </p:txBody>
      </p:sp>
      <p:sp>
        <p:nvSpPr>
          <p:cNvPr id="30" name="Rectangle 29"/>
          <p:cNvSpPr/>
          <p:nvPr/>
        </p:nvSpPr>
        <p:spPr>
          <a:xfrm>
            <a:off x="8910828"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54219"/>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18227"/>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40 min</a:t>
            </a:r>
          </a:p>
        </p:txBody>
      </p:sp>
      <p:sp>
        <p:nvSpPr>
          <p:cNvPr id="34" name="TextBox 33"/>
          <p:cNvSpPr txBox="1"/>
          <p:nvPr/>
        </p:nvSpPr>
        <p:spPr>
          <a:xfrm>
            <a:off x="777240" y="5594299"/>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courseware/labs/lab-05-container-images-oci/README.md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128</a:t>
            </a:r>
          </a:p>
        </p:txBody>
      </p:sp>
    </p:spTree>
  </p:cSld>
  <p:clrMapOvr>
    <a:masterClrMapping/>
  </p:clrMapOvr>
  <p:transition xmlns:ns1="http://schemas.openxmlformats.org/markup-compatibility/2006" spd="fast" ns1:Ignorable="p14">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HOW TODAY WAS SPENT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1 Hands-On Time, Lab by Lab</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220 of today's 480 instructional minutes — 46% — are hands-on lab time. Breaks are excluded from both figures.</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minutes</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Five labs, 220 minutes</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Every registered sub-topic in Topic 1 has a lab that produces evidence for it.</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 04 is the longest at 50 minutes</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Four Pods, four patterns, plus an admission-time failure injection to diagnose.</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Labs 01 and 02 are the foundation</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45 minutes each. Everything from Day 2 onward assumes both are complete.</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remaining 260 minutes</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Lecture, demonstration and didactic questioning across the four sessions in today's schedule.</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course_data.LABS and the Day 1 Lesson Plan schedule (8.0 h instructional, breaks excluded).</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129</a:t>
            </a:r>
          </a:p>
        </p:txBody>
      </p:sp>
    </p:spTree>
  </p:cSld>
  <p:clrMapOvr>
    <a:masterClrMapping/>
  </p:clrMapOvr>
  <p:transition xmlns:ns1="http://schemas.openxmlformats.org/markup-compatibility/2006" spd="fast" ns1:Ignorable="p14">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RECAP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Can Now Do, and What You Can Now Show</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LO1 asks for an architectural proof of concept. Column two is the start of that evidence file.</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YOU CAN EXPLAIN</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Why orchestration exists, and what containers did and did not solve</a:t>
            </a:r>
          </a:p>
          <a:p>
            <a:pPr>
              <a:lnSpc>
                <a:spcPct val="112000"/>
              </a:lnSpc>
              <a:spcAft>
                <a:spcPts val="700"/>
              </a:spcAft>
            </a:pPr>
            <a:r>
              <a:rPr sz="1150">
                <a:solidFill>
                  <a:srgbClr val="94A3B8"/>
                </a:solidFill>
                <a:latin typeface="Arial"/>
              </a:rPr>
              <a:t>•  </a:t>
            </a:r>
            <a:r>
              <a:rPr sz="1150">
                <a:solidFill>
                  <a:srgbClr val="5B6372"/>
                </a:solidFill>
                <a:latin typeface="Arial"/>
              </a:rPr>
              <a:t>What a container is at the Linux level: namespaces, cgroups, overlay layers</a:t>
            </a:r>
          </a:p>
          <a:p>
            <a:pPr>
              <a:lnSpc>
                <a:spcPct val="112000"/>
              </a:lnSpc>
              <a:spcAft>
                <a:spcPts val="700"/>
              </a:spcAft>
            </a:pPr>
            <a:r>
              <a:rPr sz="1150">
                <a:solidFill>
                  <a:srgbClr val="94A3B8"/>
                </a:solidFill>
                <a:latin typeface="Arial"/>
              </a:rPr>
              <a:t>•  </a:t>
            </a:r>
            <a:r>
              <a:rPr sz="1150">
                <a:solidFill>
                  <a:srgbClr val="5B6372"/>
                </a:solidFill>
                <a:latin typeface="Arial"/>
              </a:rPr>
              <a:t>The three OCI specifications and how CRI differs from all of them</a:t>
            </a:r>
          </a:p>
          <a:p>
            <a:pPr>
              <a:lnSpc>
                <a:spcPct val="112000"/>
              </a:lnSpc>
              <a:spcAft>
                <a:spcPts val="700"/>
              </a:spcAft>
            </a:pPr>
            <a:r>
              <a:rPr sz="1150">
                <a:solidFill>
                  <a:srgbClr val="94A3B8"/>
                </a:solidFill>
                <a:latin typeface="Arial"/>
              </a:rPr>
              <a:t>•  </a:t>
            </a:r>
            <a:r>
              <a:rPr sz="1150">
                <a:solidFill>
                  <a:srgbClr val="5B6372"/>
                </a:solidFill>
                <a:latin typeface="Arial"/>
              </a:rPr>
              <a:t>How a request travels: admission → etcd → scheduler → kubelet</a:t>
            </a:r>
          </a:p>
          <a:p>
            <a:pPr>
              <a:lnSpc>
                <a:spcPct val="112000"/>
              </a:lnSpc>
              <a:spcAft>
                <a:spcPts val="700"/>
              </a:spcAft>
            </a:pPr>
            <a:r>
              <a:rPr sz="1150">
                <a:solidFill>
                  <a:srgbClr val="94A3B8"/>
                </a:solidFill>
                <a:latin typeface="Arial"/>
              </a:rPr>
              <a:t>•  </a:t>
            </a:r>
            <a:r>
              <a:rPr sz="1150">
                <a:solidFill>
                  <a:srgbClr val="5B6372"/>
                </a:solidFill>
                <a:latin typeface="Arial"/>
              </a:rPr>
              <a:t>Why the Pod is the unit of scheduling and what its containers share</a:t>
            </a:r>
          </a:p>
          <a:p>
            <a:pPr>
              <a:lnSpc>
                <a:spcPct val="112000"/>
              </a:lnSpc>
              <a:spcAft>
                <a:spcPts val="700"/>
              </a:spcAft>
            </a:pPr>
            <a:r>
              <a:rPr sz="1150">
                <a:solidFill>
                  <a:srgbClr val="94A3B8"/>
                </a:solidFill>
                <a:latin typeface="Arial"/>
              </a:rPr>
              <a:t>•  </a:t>
            </a:r>
            <a:r>
              <a:rPr sz="1150">
                <a:solidFill>
                  <a:srgbClr val="5B6372"/>
                </a:solidFill>
                <a:latin typeface="Arial"/>
              </a:rPr>
              <a:t>The difference between spec, status, phase, conditions and container state</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YOU CAN SHOW</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A reconnaissance record of a cluster you had never seen (Lab 01)</a:t>
            </a:r>
          </a:p>
          <a:p>
            <a:pPr>
              <a:lnSpc>
                <a:spcPct val="112000"/>
              </a:lnSpc>
              <a:spcAft>
                <a:spcPts val="700"/>
              </a:spcAft>
            </a:pPr>
            <a:r>
              <a:rPr sz="1150">
                <a:solidFill>
                  <a:srgbClr val="94A3B8"/>
                </a:solidFill>
                <a:latin typeface="Arial"/>
              </a:rPr>
              <a:t>•  </a:t>
            </a:r>
            <a:r>
              <a:rPr sz="1150">
                <a:solidFill>
                  <a:srgbClr val="5B6372"/>
                </a:solidFill>
                <a:latin typeface="Arial"/>
              </a:rPr>
              <a:t>A Pod manifest you wrote by hand that survives --dry-run=server (Lab 02)</a:t>
            </a:r>
          </a:p>
          <a:p>
            <a:pPr>
              <a:lnSpc>
                <a:spcPct val="112000"/>
              </a:lnSpc>
              <a:spcAft>
                <a:spcPts val="700"/>
              </a:spcAft>
            </a:pPr>
            <a:r>
              <a:rPr sz="1150">
                <a:solidFill>
                  <a:srgbClr val="94A3B8"/>
                </a:solidFill>
                <a:latin typeface="Arial"/>
              </a:rPr>
              <a:t>•  </a:t>
            </a:r>
            <a:r>
              <a:rPr sz="1150">
                <a:solidFill>
                  <a:srgbClr val="5B6372"/>
                </a:solidFill>
                <a:latin typeface="Arial"/>
              </a:rPr>
              <a:t>Evidence for all four rows of the command/args matrix (Lab 03)</a:t>
            </a:r>
          </a:p>
          <a:p>
            <a:pPr>
              <a:lnSpc>
                <a:spcPct val="112000"/>
              </a:lnSpc>
              <a:spcAft>
                <a:spcPts val="700"/>
              </a:spcAft>
            </a:pPr>
            <a:r>
              <a:rPr sz="1150">
                <a:solidFill>
                  <a:srgbClr val="94A3B8"/>
                </a:solidFill>
                <a:latin typeface="Arial"/>
              </a:rPr>
              <a:t>•  </a:t>
            </a:r>
            <a:r>
              <a:rPr sz="1150">
                <a:solidFill>
                  <a:srgbClr val="5B6372"/>
                </a:solidFill>
                <a:latin typeface="Arial"/>
              </a:rPr>
              <a:t>Sidecar, adapter, ambassador and a native sidecar, running (Lab 04)</a:t>
            </a:r>
          </a:p>
          <a:p>
            <a:pPr>
              <a:lnSpc>
                <a:spcPct val="112000"/>
              </a:lnSpc>
              <a:spcAft>
                <a:spcPts val="700"/>
              </a:spcAft>
            </a:pPr>
            <a:r>
              <a:rPr sz="1150">
                <a:solidFill>
                  <a:srgbClr val="94A3B8"/>
                </a:solidFill>
                <a:latin typeface="Arial"/>
              </a:rPr>
              <a:t>•  </a:t>
            </a:r>
            <a:r>
              <a:rPr sz="1150">
                <a:solidFill>
                  <a:srgbClr val="5B6372"/>
                </a:solidFill>
                <a:latin typeface="Arial"/>
              </a:rPr>
              <a:t>A digest-pinned Pod and the imageID this cluster resolved (Lab 05)</a:t>
            </a:r>
          </a:p>
          <a:p>
            <a:pPr>
              <a:lnSpc>
                <a:spcPct val="112000"/>
              </a:lnSpc>
              <a:spcAft>
                <a:spcPts val="700"/>
              </a:spcAft>
            </a:pPr>
            <a:r>
              <a:rPr sz="1150">
                <a:solidFill>
                  <a:srgbClr val="94A3B8"/>
                </a:solidFill>
                <a:latin typeface="Arial"/>
              </a:rPr>
              <a:t>•  </a:t>
            </a:r>
            <a:r>
              <a:rPr sz="1150">
                <a:solidFill>
                  <a:srgbClr val="5B6372"/>
                </a:solidFill>
                <a:latin typeface="Arial"/>
              </a:rPr>
              <a:t>Six diagnosed failures with the exact event text for each</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course_data.LABS and the Day 1 Lesson Plan schedule (8.0 h instructional, breaks excluded).</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130</a:t>
            </a:r>
          </a:p>
        </p:txBody>
      </p:sp>
    </p:spTree>
  </p:cSld>
  <p:clrMapOvr>
    <a:masterClrMapping/>
  </p:clrMapOvr>
  <p:transition xmlns:ns1="http://schemas.openxmlformats.org/markup-compatibility/2006" spd="fast" ns1:Ignorable="p14">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FOCUS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1 Facts KCNA Asks About Directly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statements. If any of them is unfamiliar, revisit that module's lab before tomorrow.</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Core group path</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/api/v1/... — named groups use /apis/&lt;group&gt;/&lt;version&gt;/...</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Five universal fields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apiVersion, kind, metadata, spec, status</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Namespaced or not</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Nodes, PersistentVolumes, StorageClasses and CRDs are cluster-scoped</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Pause container</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Holds the Pod's network and IPC namespaces open; created by RunPodSandbox</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command / args</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command → ENTRYPOINT, args → CMD; command alone discards CMD</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Native sidecar</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initContainers entry with restartPolicy: Always; v1.29, GA v1.33</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imagePullPolicy default</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:latest or no tag → Always; any other tag or a digest → IfNotPresent</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CRI vs OCI</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CRI is kubelet↔runtime gRPC; OCI is image, runtime and distribution formats</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Maturity levels</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Sandbox → Incubating → Graduated; Archived is retirement</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Endpoints</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v1 Endpoints deprecated in v1.33 — use discovery.k8s.io/v1 EndpointSlice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 kubernetes.io/blog/2025/04/24/endpoints-deprecation/ — v1 Endpoints deprecated in v1.33; prefer discovery.k8s.io/v1.</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131</a:t>
            </a:r>
          </a:p>
        </p:txBody>
      </p:sp>
    </p:spTree>
  </p:cSld>
  <p:clrMapOvr>
    <a:masterClrMapping/>
  </p:clrMapOvr>
  <p:transition xmlns:ns1="http://schemas.openxmlformats.org/markup-compatibility/2006" spd="fast" ns1:Ignorable="p14">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FOCUS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Six Distinctions That Decide Exam Questions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Each of these has appeared today with real evidence attached. Recall the evidence, not the sentence.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Running is not Ready</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Running means containers were created. Ready means the readiness probe passed and the Pod is a Service backend.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ErrImagePull is not ImagePullBackOff</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first is one failed attempt; the second is the kubelet pausing between retries. ErrImageNeverPull is neither.</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CrashLoopBackOff is a waiting reason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diagnosis is in lastState.terminated.exitCode and in logs --previous, never in the status column.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Admission failure is not a runtime failure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'is invalid:' means nothing was created. Read the field path and stop looking at nodes.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containerPort declares nothing</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names a port. Reachability comes from the process listening and from the Pod network.</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Namespace is not isolation</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scopes names and attaches policy. Traffic isolation requires NetworkPolicy — Day 3.</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132</a:t>
            </a:r>
          </a:p>
        </p:txBody>
      </p:sp>
    </p:spTree>
  </p:cSld>
  <p:clrMapOvr>
    <a:masterClrMapping/>
  </p:clrMapOvr>
  <p:transition xmlns:ns1="http://schemas.openxmlformats.org/markup-compatibility/2006" spd="fast" ns1:Ignorable="p14">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TOMORROW</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2 — Workloads, Scheduling &amp; Container Orchestration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Day 2 is 44%-domain territory too: Kubernetes Fundamentals covers scheduling and administration as well as core concepts.</a:t>
            </a:r>
          </a:p>
        </p:txBody>
      </p:sp>
      <p:sp>
        <p:nvSpPr>
          <p:cNvPr id="7" name="Rectangle 6"/>
          <p:cNvSpPr/>
          <p:nvPr/>
        </p:nvSpPr>
        <p:spPr>
          <a:xfrm>
            <a:off x="777240"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WE BUILD ON TODAY</a:t>
            </a:r>
          </a:p>
        </p:txBody>
      </p:sp>
      <p:sp>
        <p:nvSpPr>
          <p:cNvPr id="10" name="TextBox 9"/>
          <p:cNvSpPr txBox="1"/>
          <p:nvPr/>
        </p:nvSpPr>
        <p:spPr>
          <a:xfrm>
            <a:off x="996695"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Labels and selectors become the binding mechanism for ReplicaSets</a:t>
            </a:r>
          </a:p>
          <a:p>
            <a:pPr>
              <a:lnSpc>
                <a:spcPct val="112000"/>
              </a:lnSpc>
              <a:spcAft>
                <a:spcPts val="700"/>
              </a:spcAft>
            </a:pPr>
            <a:r>
              <a:rPr sz="1150">
                <a:solidFill>
                  <a:srgbClr val="94A3B8"/>
                </a:solidFill>
                <a:latin typeface="Arial"/>
              </a:rPr>
              <a:t>•  </a:t>
            </a:r>
            <a:r>
              <a:rPr sz="1150">
                <a:solidFill>
                  <a:srgbClr val="5B6372"/>
                </a:solidFill>
                <a:latin typeface="Arial"/>
              </a:rPr>
              <a:t>The reconciliation loop becomes rollout, rollback and revision history</a:t>
            </a:r>
          </a:p>
          <a:p>
            <a:pPr>
              <a:lnSpc>
                <a:spcPct val="112000"/>
              </a:lnSpc>
              <a:spcAft>
                <a:spcPts val="700"/>
              </a:spcAft>
            </a:pPr>
            <a:r>
              <a:rPr sz="1150">
                <a:solidFill>
                  <a:srgbClr val="94A3B8"/>
                </a:solidFill>
                <a:latin typeface="Arial"/>
              </a:rPr>
              <a:t>•  </a:t>
            </a:r>
            <a:r>
              <a:rPr sz="1150">
                <a:solidFill>
                  <a:srgbClr val="5B6372"/>
                </a:solidFill>
                <a:latin typeface="Arial"/>
              </a:rPr>
              <a:t>'Never manage bare Pods' becomes Deployment, DaemonSet, Job and CronJob</a:t>
            </a:r>
          </a:p>
          <a:p>
            <a:pPr>
              <a:lnSpc>
                <a:spcPct val="112000"/>
              </a:lnSpc>
              <a:spcAft>
                <a:spcPts val="700"/>
              </a:spcAft>
            </a:pPr>
            <a:r>
              <a:rPr sz="1150">
                <a:solidFill>
                  <a:srgbClr val="94A3B8"/>
                </a:solidFill>
                <a:latin typeface="Arial"/>
              </a:rPr>
              <a:t>•  </a:t>
            </a:r>
            <a:r>
              <a:rPr sz="1150">
                <a:solidFill>
                  <a:srgbClr val="5B6372"/>
                </a:solidFill>
                <a:latin typeface="Arial"/>
              </a:rPr>
              <a:t>Node allocatable becomes requests, limits, QoS class and eviction</a:t>
            </a:r>
          </a:p>
        </p:txBody>
      </p:sp>
      <p:sp>
        <p:nvSpPr>
          <p:cNvPr id="11" name="Rectangle 10"/>
          <p:cNvSpPr/>
          <p:nvPr/>
        </p:nvSpPr>
        <p:spPr>
          <a:xfrm>
            <a:off x="6276441"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8885"/>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IS NEW</a:t>
            </a:r>
          </a:p>
        </p:txBody>
      </p:sp>
      <p:sp>
        <p:nvSpPr>
          <p:cNvPr id="14" name="TextBox 13"/>
          <p:cNvSpPr txBox="1"/>
          <p:nvPr/>
        </p:nvSpPr>
        <p:spPr>
          <a:xfrm>
            <a:off x="6495897"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apps/v1 controllers and how ownership chains actually work</a:t>
            </a:r>
          </a:p>
          <a:p>
            <a:pPr>
              <a:lnSpc>
                <a:spcPct val="112000"/>
              </a:lnSpc>
              <a:spcAft>
                <a:spcPts val="700"/>
              </a:spcAft>
            </a:pPr>
            <a:r>
              <a:rPr sz="1150">
                <a:solidFill>
                  <a:srgbClr val="94A3B8"/>
                </a:solidFill>
                <a:latin typeface="Arial"/>
              </a:rPr>
              <a:t>•  </a:t>
            </a:r>
            <a:r>
              <a:rPr sz="1150">
                <a:solidFill>
                  <a:srgbClr val="5B6372"/>
                </a:solidFill>
                <a:latin typeface="Arial"/>
              </a:rPr>
              <a:t>The scheduler's filter-and-score cycle, nodeSelector and affinity</a:t>
            </a:r>
          </a:p>
          <a:p>
            <a:pPr>
              <a:lnSpc>
                <a:spcPct val="112000"/>
              </a:lnSpc>
              <a:spcAft>
                <a:spcPts val="700"/>
              </a:spcAft>
            </a:pPr>
            <a:r>
              <a:rPr sz="1150">
                <a:solidFill>
                  <a:srgbClr val="94A3B8"/>
                </a:solidFill>
                <a:latin typeface="Arial"/>
              </a:rPr>
              <a:t>•  </a:t>
            </a:r>
            <a:r>
              <a:rPr sz="1150">
                <a:solidFill>
                  <a:srgbClr val="5B6372"/>
                </a:solidFill>
                <a:latin typeface="Arial"/>
              </a:rPr>
              <a:t>Taints, tolerations and why a Pod can be rejected by every node</a:t>
            </a:r>
          </a:p>
          <a:p>
            <a:pPr>
              <a:lnSpc>
                <a:spcPct val="112000"/>
              </a:lnSpc>
              <a:spcAft>
                <a:spcPts val="700"/>
              </a:spcAft>
            </a:pPr>
            <a:r>
              <a:rPr sz="1150">
                <a:solidFill>
                  <a:srgbClr val="94A3B8"/>
                </a:solidFill>
                <a:latin typeface="Arial"/>
              </a:rPr>
              <a:t>•  </a:t>
            </a:r>
            <a:r>
              <a:rPr sz="1150">
                <a:solidFill>
                  <a:srgbClr val="5B6372"/>
                </a:solidFill>
                <a:latin typeface="Arial"/>
              </a:rPr>
              <a:t>Autoscaling: HorizontalPodAutoscaler against real metrics</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133</a:t>
            </a:r>
          </a:p>
        </p:txBody>
      </p:sp>
    </p:spTree>
  </p:cSld>
  <p:clrMapOvr>
    <a:masterClrMapping/>
  </p:clrMapOvr>
  <p:transition xmlns:ns1="http://schemas.openxmlformats.org/markup-compatibility/2006" spd="fast" ns1:Ignorable="p14">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07</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KCNA DOMAIN · CONTAINER ORCHESTRATION (28%)</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Container Orchestration Fundamentals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Desired state, controllers and the reconciliation loop — the one idea every workload object on Day 2 is built from.</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134</a:t>
            </a:r>
          </a:p>
        </p:txBody>
      </p:sp>
    </p:spTree>
  </p:cSld>
  <p:clrMapOvr>
    <a:masterClrMapping/>
  </p:clrMapOvr>
  <p:transition xmlns:ns1="http://schemas.openxmlformats.org/markup-compatibility/2006" spd="med" ns1:Ignorable="p14">
    <p:push dir="l"/>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2 ROADMAP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Today Goes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modules, five labs, one continuous argument: declare the shape, let a controller close the gap.</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Orchestration fundamentals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Desired state, the reconciliation loop, owner references and cascading deletion. The mechanism under every controller.</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Labels, selectors, ReplicaSets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only binding between a controller and the Pods it owns. Lab 06 proves adoption and orphaning by relabelling.</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Deployments and rollouts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RollingUpdate arithmetic, revision history, rollback, progressDeadlineSeconds. Lab 07 wedges a rollout on purpose.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workload family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DaemonSet, Job, CronJob, StatefulSet preview — and the adapter pattern as a Pod-level composition. Lab 08.</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scheduler</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Filter, score, bind. nodeSelector, node affinity, taints and tolerations, static Pods and nodeName. Lab 09.</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Resources and autoscaling</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requests vs limits, the three QoS classes, LimitRange, ResourceQuota, HPA/VPA/Cluster Autoscaler/KEDA. Lab 10.</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135</a:t>
            </a:r>
          </a:p>
        </p:txBody>
      </p:sp>
    </p:spTree>
  </p:cSld>
  <p:clrMapOvr>
    <a:masterClrMapping/>
  </p:clrMapOvr>
  <p:transition xmlns:ns1="http://schemas.openxmlformats.org/markup-compatibility/2006" spd="fast" ns1:Ignorable="p14">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BRIDGING DAY 1</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Day 1 Gave You, What Day 2 Adds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Day 1 was one Pod on one node. Day 2 is many Pods across many nodes, with something deciding where and how many.</a:t>
            </a:r>
          </a:p>
        </p:txBody>
      </p:sp>
      <p:sp>
        <p:nvSpPr>
          <p:cNvPr id="7" name="Rectangle 6"/>
          <p:cNvSpPr/>
          <p:nvPr/>
        </p:nvSpPr>
        <p:spPr>
          <a:xfrm>
            <a:off x="777240"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 1 ESTABLISHED</a:t>
            </a:r>
          </a:p>
        </p:txBody>
      </p:sp>
      <p:sp>
        <p:nvSpPr>
          <p:cNvPr id="10" name="TextBox 9"/>
          <p:cNvSpPr txBox="1"/>
          <p:nvPr/>
        </p:nvSpPr>
        <p:spPr>
          <a:xfrm>
            <a:off x="996695"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A Pod is the smallest schedulable unit and it is mortal — it is never rescheduled, only replaced.</a:t>
            </a:r>
          </a:p>
          <a:p>
            <a:pPr>
              <a:lnSpc>
                <a:spcPct val="112000"/>
              </a:lnSpc>
              <a:spcAft>
                <a:spcPts val="700"/>
              </a:spcAft>
            </a:pPr>
            <a:r>
              <a:rPr sz="1150">
                <a:solidFill>
                  <a:srgbClr val="94A3B8"/>
                </a:solidFill>
                <a:latin typeface="Arial"/>
              </a:rPr>
              <a:t>•  </a:t>
            </a:r>
            <a:r>
              <a:rPr sz="1150">
                <a:solidFill>
                  <a:srgbClr val="5B6372"/>
                </a:solidFill>
                <a:latin typeface="Arial"/>
              </a:rPr>
              <a:t>The API server is the only writer to etcd; every component reads and writes desired state through it.</a:t>
            </a:r>
          </a:p>
          <a:p>
            <a:pPr>
              <a:lnSpc>
                <a:spcPct val="112000"/>
              </a:lnSpc>
              <a:spcAft>
                <a:spcPts val="700"/>
              </a:spcAft>
            </a:pPr>
            <a:r>
              <a:rPr sz="1150">
                <a:solidFill>
                  <a:srgbClr val="94A3B8"/>
                </a:solidFill>
                <a:latin typeface="Arial"/>
              </a:rPr>
              <a:t>•  </a:t>
            </a:r>
            <a:r>
              <a:rPr sz="1150">
                <a:solidFill>
                  <a:srgbClr val="5B6372"/>
                </a:solidFill>
                <a:latin typeface="Arial"/>
              </a:rPr>
              <a:t>kubelet runs containers on one node via the CRI; it does not decide which node.</a:t>
            </a:r>
          </a:p>
          <a:p>
            <a:pPr>
              <a:lnSpc>
                <a:spcPct val="112000"/>
              </a:lnSpc>
              <a:spcAft>
                <a:spcPts val="700"/>
              </a:spcAft>
            </a:pPr>
            <a:r>
              <a:rPr sz="1150">
                <a:solidFill>
                  <a:srgbClr val="94A3B8"/>
                </a:solidFill>
                <a:latin typeface="Arial"/>
              </a:rPr>
              <a:t>•  </a:t>
            </a:r>
            <a:r>
              <a:rPr sz="1150">
                <a:solidFill>
                  <a:srgbClr val="5B6372"/>
                </a:solidFill>
                <a:latin typeface="Arial"/>
              </a:rPr>
              <a:t>Multi-container patterns (sidecar, adapter, ambassador) compose behaviour inside a single Pod.</a:t>
            </a:r>
          </a:p>
          <a:p>
            <a:pPr>
              <a:lnSpc>
                <a:spcPct val="112000"/>
              </a:lnSpc>
              <a:spcAft>
                <a:spcPts val="700"/>
              </a:spcAft>
            </a:pPr>
            <a:r>
              <a:rPr sz="1150">
                <a:solidFill>
                  <a:srgbClr val="94A3B8"/>
                </a:solidFill>
                <a:latin typeface="Arial"/>
              </a:rPr>
              <a:t>•  </a:t>
            </a:r>
            <a:r>
              <a:rPr sz="1150">
                <a:solidFill>
                  <a:srgbClr val="5B6372"/>
                </a:solidFill>
                <a:latin typeface="Arial"/>
              </a:rPr>
              <a:t>Manifests are declarations, not commands.</a:t>
            </a:r>
          </a:p>
        </p:txBody>
      </p:sp>
      <p:sp>
        <p:nvSpPr>
          <p:cNvPr id="11" name="Rectangle 10"/>
          <p:cNvSpPr/>
          <p:nvPr/>
        </p:nvSpPr>
        <p:spPr>
          <a:xfrm>
            <a:off x="6276441"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8885"/>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 2 ADDS</a:t>
            </a:r>
          </a:p>
        </p:txBody>
      </p:sp>
      <p:sp>
        <p:nvSpPr>
          <p:cNvPr id="14" name="TextBox 13"/>
          <p:cNvSpPr txBox="1"/>
          <p:nvPr/>
        </p:nvSpPr>
        <p:spPr>
          <a:xfrm>
            <a:off x="6495897"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Controllers that keep a *set* of Pods at a declared count, shape and version.</a:t>
            </a:r>
          </a:p>
          <a:p>
            <a:pPr>
              <a:lnSpc>
                <a:spcPct val="112000"/>
              </a:lnSpc>
              <a:spcAft>
                <a:spcPts val="700"/>
              </a:spcAft>
            </a:pPr>
            <a:r>
              <a:rPr sz="1150">
                <a:solidFill>
                  <a:srgbClr val="94A3B8"/>
                </a:solidFill>
                <a:latin typeface="Arial"/>
              </a:rPr>
              <a:t>•  </a:t>
            </a:r>
            <a:r>
              <a:rPr sz="1150">
                <a:solidFill>
                  <a:srgbClr val="5B6372"/>
                </a:solidFill>
                <a:latin typeface="Arial"/>
              </a:rPr>
              <a:t>The scheduler as a separate, replaceable decision engine that only writes .spec.nodeName.</a:t>
            </a:r>
          </a:p>
          <a:p>
            <a:pPr>
              <a:lnSpc>
                <a:spcPct val="112000"/>
              </a:lnSpc>
              <a:spcAft>
                <a:spcPts val="700"/>
              </a:spcAft>
            </a:pPr>
            <a:r>
              <a:rPr sz="1150">
                <a:solidFill>
                  <a:srgbClr val="94A3B8"/>
                </a:solidFill>
                <a:latin typeface="Arial"/>
              </a:rPr>
              <a:t>•  </a:t>
            </a:r>
            <a:r>
              <a:rPr sz="1150">
                <a:solidFill>
                  <a:srgbClr val="5B6372"/>
                </a:solidFill>
                <a:latin typeface="Arial"/>
              </a:rPr>
              <a:t>Rollout mechanics: two ReplicaSets, an availability floor and a capacity ceiling.</a:t>
            </a:r>
          </a:p>
          <a:p>
            <a:pPr>
              <a:lnSpc>
                <a:spcPct val="112000"/>
              </a:lnSpc>
              <a:spcAft>
                <a:spcPts val="700"/>
              </a:spcAft>
            </a:pPr>
            <a:r>
              <a:rPr sz="1150">
                <a:solidFill>
                  <a:srgbClr val="94A3B8"/>
                </a:solidFill>
                <a:latin typeface="Arial"/>
              </a:rPr>
              <a:t>•  </a:t>
            </a:r>
            <a:r>
              <a:rPr sz="1150">
                <a:solidFill>
                  <a:srgbClr val="5B6372"/>
                </a:solidFill>
                <a:latin typeface="Arial"/>
              </a:rPr>
              <a:t>Resource accounting — the contract between what you asked for and what the node can give.</a:t>
            </a:r>
          </a:p>
          <a:p>
            <a:pPr>
              <a:lnSpc>
                <a:spcPct val="112000"/>
              </a:lnSpc>
              <a:spcAft>
                <a:spcPts val="700"/>
              </a:spcAft>
            </a:pPr>
            <a:r>
              <a:rPr sz="1150">
                <a:solidFill>
                  <a:srgbClr val="94A3B8"/>
                </a:solidFill>
                <a:latin typeface="Arial"/>
              </a:rPr>
              <a:t>•  </a:t>
            </a:r>
            <a:r>
              <a:rPr sz="1150">
                <a:solidFill>
                  <a:srgbClr val="5B6372"/>
                </a:solidFill>
                <a:latin typeface="Arial"/>
              </a:rPr>
              <a:t>Autoscaling as a second-order controller over the first.</a:t>
            </a:r>
          </a:p>
        </p:txBody>
      </p:sp>
      <p:sp>
        <p:nvSpPr>
          <p:cNvPr id="15" name="TextBox 1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6" name="TextBox 1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7" name="TextBox 1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136</a:t>
            </a:r>
          </a:p>
        </p:txBody>
      </p:sp>
    </p:spTree>
  </p:cSld>
  <p:clrMapOvr>
    <a:masterClrMapping/>
  </p:clrMapOvr>
  <p:transition xmlns:ns1="http://schemas.openxmlformats.org/markup-compatibility/2006" spd="fast" ns1:Ignorable="p14">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7C3AED"/>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7C3AED"/>
                </a:solidFill>
                <a:latin typeface="Arial"/>
              </a:rPr>
              <a:t>THE CENTRAL IDEA</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Kubernetes does not run your application. It runs a loop that keeps reality equal to your declaration.</a:t>
            </a:r>
          </a:p>
        </p:txBody>
      </p:sp>
      <p:sp>
        <p:nvSpPr>
          <p:cNvPr id="6" name="Rectangle 5"/>
          <p:cNvSpPr/>
          <p:nvPr/>
        </p:nvSpPr>
        <p:spPr>
          <a:xfrm>
            <a:off x="1143000" y="4187952"/>
            <a:ext cx="2194560" cy="32004"/>
          </a:xfrm>
          <a:prstGeom prst="rect">
            <a:avLst/>
          </a:prstGeom>
          <a:solidFill>
            <a:srgbClr val="7C3AED"/>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Every object on Day 2 — ReplicaSet, Deployment, DaemonSet, Job, HPA — is the same loop with a different definition of "equal". Learn the loop once.</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137</a:t>
            </a:r>
          </a:p>
        </p:txBody>
      </p:sp>
    </p:spTree>
  </p:cSld>
  <p:clrMapOvr>
    <a:masterClrMapping/>
  </p:clrMapOvr>
  <p:transition xmlns:ns1="http://schemas.openxmlformats.org/markup-compatibility/2006" spd="fast" ns1:Ignorable="p14">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Reconciliation Loop, Stage by Stage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 step in this loop is a one-shot command. Each pass recomputes the whole difference from scratch.</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Declare</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You PUT desired state into the API server. It is validated, defaulted, admitted and persisted to etcd.</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Observe</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controller's informer holds a cached view of current state, kept warm by a watch on the API server.</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Diff</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controller compares .spec (desired) with .status plus the live objects it owns. The gap is the work.</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Act</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It issues create / update / delete calls back through the API server. It never talks to a kubelet directly.</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Report</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It writes observed reality into .status and emits Events. The loop then runs again — forever, not once.</a:t>
            </a:r>
          </a:p>
        </p:txBody>
      </p:sp>
      <p:sp>
        <p:nvSpPr>
          <p:cNvPr id="36" name="Rectangle 35"/>
          <p:cNvSpPr/>
          <p:nvPr/>
        </p:nvSpPr>
        <p:spPr>
          <a:xfrm>
            <a:off x="777240" y="4656480"/>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controller is not told what changed. It is told what should be true, and it recomputes the difference every time. That is why it is safe to run it repeatedly.</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kubernetes.io/docs/concepts/architecture/controller/</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138</a:t>
            </a:r>
          </a:p>
        </p:txBody>
      </p:sp>
    </p:spTree>
  </p:cSld>
  <p:clrMapOvr>
    <a:masterClrMapping/>
  </p:clrMapOvr>
  <p:transition xmlns:ns5="http://schemas.openxmlformats.org/markup-compatibility/2006" spd="fast" ns5:Ignorable="p14">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Inside kube-controller-manager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7" name="Rectangle 6"/>
          <p:cNvSpPr/>
          <p:nvPr/>
        </p:nvSpPr>
        <p:spPr>
          <a:xfrm>
            <a:off x="777240" y="1737360"/>
            <a:ext cx="50292" cy="126492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920240"/>
            <a:ext cx="1261872" cy="935736"/>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SHARED MACHINERY</a:t>
            </a:r>
          </a:p>
        </p:txBody>
      </p:sp>
      <p:sp>
        <p:nvSpPr>
          <p:cNvPr id="9" name="Rounded Rectangle 8"/>
          <p:cNvSpPr/>
          <p:nvPr/>
        </p:nvSpPr>
        <p:spPr>
          <a:xfrm>
            <a:off x="2258568" y="18105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0" name="TextBox 9"/>
          <p:cNvSpPr txBox="1"/>
          <p:nvPr/>
        </p:nvSpPr>
        <p:spPr>
          <a:xfrm>
            <a:off x="2350008"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Shared informer</a:t>
            </a:r>
          </a:p>
        </p:txBody>
      </p:sp>
      <p:sp>
        <p:nvSpPr>
          <p:cNvPr id="11" name="TextBox 10"/>
          <p:cNvSpPr txBox="1"/>
          <p:nvPr/>
        </p:nvSpPr>
        <p:spPr>
          <a:xfrm>
            <a:off x="2350008"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watch per resource type, cached and fanned out to every controller that needs it</a:t>
            </a:r>
          </a:p>
        </p:txBody>
      </p:sp>
      <p:sp>
        <p:nvSpPr>
          <p:cNvPr id="12" name="Rounded Rectangle 11"/>
          <p:cNvSpPr/>
          <p:nvPr/>
        </p:nvSpPr>
        <p:spPr>
          <a:xfrm>
            <a:off x="5318760" y="18105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3" name="TextBox 12"/>
          <p:cNvSpPr txBox="1"/>
          <p:nvPr/>
        </p:nvSpPr>
        <p:spPr>
          <a:xfrm>
            <a:off x="5410199"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Work queue</a:t>
            </a:r>
          </a:p>
        </p:txBody>
      </p:sp>
      <p:sp>
        <p:nvSpPr>
          <p:cNvPr id="14" name="TextBox 13"/>
          <p:cNvSpPr txBox="1"/>
          <p:nvPr/>
        </p:nvSpPr>
        <p:spPr>
          <a:xfrm>
            <a:off x="5410199"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Rate-limited, de-duplicating queue of object keys awaiting reconciliation</a:t>
            </a:r>
          </a:p>
        </p:txBody>
      </p:sp>
      <p:sp>
        <p:nvSpPr>
          <p:cNvPr id="15" name="Rounded Rectangle 14"/>
          <p:cNvSpPr/>
          <p:nvPr/>
        </p:nvSpPr>
        <p:spPr>
          <a:xfrm>
            <a:off x="8378951" y="18105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6" name="TextBox 15"/>
          <p:cNvSpPr txBox="1"/>
          <p:nvPr/>
        </p:nvSpPr>
        <p:spPr>
          <a:xfrm>
            <a:off x="8470391"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Reflector / lister</a:t>
            </a:r>
          </a:p>
        </p:txBody>
      </p:sp>
      <p:sp>
        <p:nvSpPr>
          <p:cNvPr id="17" name="TextBox 16"/>
          <p:cNvSpPr txBox="1"/>
          <p:nvPr/>
        </p:nvSpPr>
        <p:spPr>
          <a:xfrm>
            <a:off x="8470391"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Keeps the local store in sync; listers answer reads without hitting the API server</a:t>
            </a:r>
          </a:p>
        </p:txBody>
      </p:sp>
      <p:sp>
        <p:nvSpPr>
          <p:cNvPr id="18" name="Rectangle 17"/>
          <p:cNvSpPr/>
          <p:nvPr/>
        </p:nvSpPr>
        <p:spPr>
          <a:xfrm>
            <a:off x="777240" y="31851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19" name="Rectangle 18"/>
          <p:cNvSpPr/>
          <p:nvPr/>
        </p:nvSpPr>
        <p:spPr>
          <a:xfrm>
            <a:off x="777240" y="3185160"/>
            <a:ext cx="50292" cy="12649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941832" y="3368040"/>
            <a:ext cx="1261872" cy="935736"/>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WORKLOAD CONTROLLERS</a:t>
            </a:r>
          </a:p>
        </p:txBody>
      </p:sp>
      <p:sp>
        <p:nvSpPr>
          <p:cNvPr id="21" name="Rounded Rectangle 20"/>
          <p:cNvSpPr/>
          <p:nvPr/>
        </p:nvSpPr>
        <p:spPr>
          <a:xfrm>
            <a:off x="2258568" y="3258312"/>
            <a:ext cx="2130551"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2" name="TextBox 21"/>
          <p:cNvSpPr txBox="1"/>
          <p:nvPr/>
        </p:nvSpPr>
        <p:spPr>
          <a:xfrm>
            <a:off x="2350008" y="3313176"/>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Deployment ctrl</a:t>
            </a:r>
          </a:p>
        </p:txBody>
      </p:sp>
      <p:sp>
        <p:nvSpPr>
          <p:cNvPr id="23" name="TextBox 22"/>
          <p:cNvSpPr txBox="1"/>
          <p:nvPr/>
        </p:nvSpPr>
        <p:spPr>
          <a:xfrm>
            <a:off x="2350008" y="3546348"/>
            <a:ext cx="1947671"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Owns ReplicaSets; drives rollouts and revision history</a:t>
            </a:r>
          </a:p>
        </p:txBody>
      </p:sp>
      <p:sp>
        <p:nvSpPr>
          <p:cNvPr id="24" name="Rounded Rectangle 23"/>
          <p:cNvSpPr/>
          <p:nvPr/>
        </p:nvSpPr>
        <p:spPr>
          <a:xfrm>
            <a:off x="4553712" y="3258312"/>
            <a:ext cx="2130551"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5" name="TextBox 24"/>
          <p:cNvSpPr txBox="1"/>
          <p:nvPr/>
        </p:nvSpPr>
        <p:spPr>
          <a:xfrm>
            <a:off x="4645151" y="3313176"/>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ReplicaSet ctrl</a:t>
            </a:r>
          </a:p>
        </p:txBody>
      </p:sp>
      <p:sp>
        <p:nvSpPr>
          <p:cNvPr id="26" name="TextBox 25"/>
          <p:cNvSpPr txBox="1"/>
          <p:nvPr/>
        </p:nvSpPr>
        <p:spPr>
          <a:xfrm>
            <a:off x="4645151" y="3546348"/>
            <a:ext cx="1947671"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Owns Pods; creates and deletes to reach .spec.replicas</a:t>
            </a:r>
          </a:p>
        </p:txBody>
      </p:sp>
      <p:sp>
        <p:nvSpPr>
          <p:cNvPr id="27" name="Rounded Rectangle 26"/>
          <p:cNvSpPr/>
          <p:nvPr/>
        </p:nvSpPr>
        <p:spPr>
          <a:xfrm>
            <a:off x="6848855" y="3258312"/>
            <a:ext cx="2130551"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8" name="TextBox 27"/>
          <p:cNvSpPr txBox="1"/>
          <p:nvPr/>
        </p:nvSpPr>
        <p:spPr>
          <a:xfrm>
            <a:off x="6940295" y="3313176"/>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Job / CronJob ctrl</a:t>
            </a:r>
          </a:p>
        </p:txBody>
      </p:sp>
      <p:sp>
        <p:nvSpPr>
          <p:cNvPr id="29" name="TextBox 28"/>
          <p:cNvSpPr txBox="1"/>
          <p:nvPr/>
        </p:nvSpPr>
        <p:spPr>
          <a:xfrm>
            <a:off x="6940295" y="3546348"/>
            <a:ext cx="1947671"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Runs Pods to completion; CronJob creates Jobs on schedule</a:t>
            </a:r>
          </a:p>
        </p:txBody>
      </p:sp>
      <p:sp>
        <p:nvSpPr>
          <p:cNvPr id="30" name="Rounded Rectangle 29"/>
          <p:cNvSpPr/>
          <p:nvPr/>
        </p:nvSpPr>
        <p:spPr>
          <a:xfrm>
            <a:off x="9143999" y="3258312"/>
            <a:ext cx="2130551"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1" name="TextBox 30"/>
          <p:cNvSpPr txBox="1"/>
          <p:nvPr/>
        </p:nvSpPr>
        <p:spPr>
          <a:xfrm>
            <a:off x="9235439" y="3313176"/>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DaemonSet ctrl</a:t>
            </a:r>
          </a:p>
        </p:txBody>
      </p:sp>
      <p:sp>
        <p:nvSpPr>
          <p:cNvPr id="32" name="TextBox 31"/>
          <p:cNvSpPr txBox="1"/>
          <p:nvPr/>
        </p:nvSpPr>
        <p:spPr>
          <a:xfrm>
            <a:off x="9235439" y="3546348"/>
            <a:ext cx="1947671"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Pod per matching node; reacts to node add and remove</a:t>
            </a:r>
          </a:p>
        </p:txBody>
      </p:sp>
      <p:sp>
        <p:nvSpPr>
          <p:cNvPr id="33" name="Rectangle 32"/>
          <p:cNvSpPr/>
          <p:nvPr/>
        </p:nvSpPr>
        <p:spPr>
          <a:xfrm>
            <a:off x="777240" y="46329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34" name="Rectangle 33"/>
          <p:cNvSpPr/>
          <p:nvPr/>
        </p:nvSpPr>
        <p:spPr>
          <a:xfrm>
            <a:off x="777240" y="4632960"/>
            <a:ext cx="50292" cy="1264920"/>
          </a:xfrm>
          <a:prstGeom prst="rect">
            <a:avLst/>
          </a:prstGeom>
          <a:solidFill>
            <a:srgbClr val="7C3AED"/>
          </a:solidFill>
          <a:ln>
            <a:noFill/>
          </a:ln>
          <a:effectLst/>
        </p:spPr>
        <p:txBody>
          <a:bodyPr rtlCol="0" anchor="ctr" wrap="square"/>
          <a:lstStyle/>
          <a:p>
            <a:pPr algn="ctr"/>
          </a:p>
        </p:txBody>
      </p:sp>
      <p:sp>
        <p:nvSpPr>
          <p:cNvPr id="35" name="TextBox 34"/>
          <p:cNvSpPr txBox="1"/>
          <p:nvPr/>
        </p:nvSpPr>
        <p:spPr>
          <a:xfrm>
            <a:off x="941832" y="4815840"/>
            <a:ext cx="1261872" cy="935736"/>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CLUSTER CONTROLLERS</a:t>
            </a:r>
          </a:p>
        </p:txBody>
      </p:sp>
      <p:sp>
        <p:nvSpPr>
          <p:cNvPr id="36" name="Rounded Rectangle 35"/>
          <p:cNvSpPr/>
          <p:nvPr/>
        </p:nvSpPr>
        <p:spPr>
          <a:xfrm>
            <a:off x="2258568"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7" name="TextBox 36"/>
          <p:cNvSpPr txBox="1"/>
          <p:nvPr/>
        </p:nvSpPr>
        <p:spPr>
          <a:xfrm>
            <a:off x="2350008"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 lifecycle</a:t>
            </a:r>
          </a:p>
        </p:txBody>
      </p:sp>
      <p:sp>
        <p:nvSpPr>
          <p:cNvPr id="38" name="TextBox 37"/>
          <p:cNvSpPr txBox="1"/>
          <p:nvPr/>
        </p:nvSpPr>
        <p:spPr>
          <a:xfrm>
            <a:off x="2350008"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Marks NotReady nodes, applies NoExecute taints, triggers eviction</a:t>
            </a:r>
          </a:p>
        </p:txBody>
      </p:sp>
      <p:sp>
        <p:nvSpPr>
          <p:cNvPr id="39" name="Rounded Rectangle 38"/>
          <p:cNvSpPr/>
          <p:nvPr/>
        </p:nvSpPr>
        <p:spPr>
          <a:xfrm>
            <a:off x="5318760"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40" name="TextBox 39"/>
          <p:cNvSpPr txBox="1"/>
          <p:nvPr/>
        </p:nvSpPr>
        <p:spPr>
          <a:xfrm>
            <a:off x="5410199"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Endpoint / EndpointSlice</a:t>
            </a:r>
          </a:p>
        </p:txBody>
      </p:sp>
      <p:sp>
        <p:nvSpPr>
          <p:cNvPr id="41" name="TextBox 40"/>
          <p:cNvSpPr txBox="1"/>
          <p:nvPr/>
        </p:nvSpPr>
        <p:spPr>
          <a:xfrm>
            <a:off x="5410199"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Keeps Service backends in step with Pod readiness</a:t>
            </a:r>
          </a:p>
        </p:txBody>
      </p:sp>
      <p:sp>
        <p:nvSpPr>
          <p:cNvPr id="42" name="Rounded Rectangle 41"/>
          <p:cNvSpPr/>
          <p:nvPr/>
        </p:nvSpPr>
        <p:spPr>
          <a:xfrm>
            <a:off x="8378951"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43" name="TextBox 42"/>
          <p:cNvSpPr txBox="1"/>
          <p:nvPr/>
        </p:nvSpPr>
        <p:spPr>
          <a:xfrm>
            <a:off x="8470391"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Garbage collector</a:t>
            </a:r>
          </a:p>
        </p:txBody>
      </p:sp>
      <p:sp>
        <p:nvSpPr>
          <p:cNvPr id="44" name="TextBox 43"/>
          <p:cNvSpPr txBox="1"/>
          <p:nvPr/>
        </p:nvSpPr>
        <p:spPr>
          <a:xfrm>
            <a:off x="8470391"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Deletes dependents whose owner is gone, per propagation policy</a:t>
            </a:r>
          </a:p>
        </p:txBody>
      </p:sp>
      <p:sp>
        <p:nvSpPr>
          <p:cNvPr id="45" name="TextBox 4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kubernetes.io/docs/concepts/architecture/controller/</a:t>
            </a:r>
          </a:p>
        </p:txBody>
      </p:sp>
      <p:sp>
        <p:nvSpPr>
          <p:cNvPr id="46" name="TextBox 4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7" name="TextBox 4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8" name="TextBox 4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139</a:t>
            </a:r>
          </a:p>
        </p:txBody>
      </p:sp>
    </p:spTree>
  </p:cSld>
  <p:clrMapOvr>
    <a:masterClrMapping/>
  </p:clrMapOvr>
  <p:transition xmlns:ns1="http://schemas.openxmlformats.org/markup-compatibility/2006" spd="fast" ns1:Ignorable="p14">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 DISTINCTION THAT MATTERS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Level-Triggered vs Edge-Triggered Control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controllers are level-triggered. This single design choice is why the system self-heals rather than drifts.</a:t>
            </a:r>
          </a:p>
        </p:txBody>
      </p:sp>
      <p:sp>
        <p:nvSpPr>
          <p:cNvPr id="7" name="Rectangle 6"/>
          <p:cNvSpPr/>
          <p:nvPr/>
        </p:nvSpPr>
        <p:spPr>
          <a:xfrm>
            <a:off x="777240" y="2208885"/>
            <a:ext cx="250745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2514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Property</a:t>
            </a:r>
          </a:p>
        </p:txBody>
      </p:sp>
      <p:sp>
        <p:nvSpPr>
          <p:cNvPr id="9" name="Rectangle 8"/>
          <p:cNvSpPr/>
          <p:nvPr/>
        </p:nvSpPr>
        <p:spPr>
          <a:xfrm>
            <a:off x="3284696" y="2208885"/>
            <a:ext cx="3844766"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412712" y="2309469"/>
            <a:ext cx="358873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Edge-triggered (event-driven)</a:t>
            </a:r>
          </a:p>
        </p:txBody>
      </p:sp>
      <p:sp>
        <p:nvSpPr>
          <p:cNvPr id="11" name="Rectangle 10"/>
          <p:cNvSpPr/>
          <p:nvPr/>
        </p:nvSpPr>
        <p:spPr>
          <a:xfrm>
            <a:off x="7129462" y="2208885"/>
            <a:ext cx="4346257"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257478" y="2309469"/>
            <a:ext cx="409022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Level-triggered (Kubernetes)</a:t>
            </a:r>
          </a:p>
        </p:txBody>
      </p:sp>
      <p:sp>
        <p:nvSpPr>
          <p:cNvPr id="13" name="Rectangle 12"/>
          <p:cNvSpPr/>
          <p:nvPr/>
        </p:nvSpPr>
        <p:spPr>
          <a:xfrm>
            <a:off x="777240" y="2629509"/>
            <a:ext cx="2507456" cy="549432"/>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11805"/>
            <a:ext cx="2251424"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Input</a:t>
            </a:r>
          </a:p>
        </p:txBody>
      </p:sp>
      <p:sp>
        <p:nvSpPr>
          <p:cNvPr id="15" name="Rectangle 14"/>
          <p:cNvSpPr/>
          <p:nvPr/>
        </p:nvSpPr>
        <p:spPr>
          <a:xfrm>
            <a:off x="3284696" y="2629509"/>
            <a:ext cx="3844766"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412712" y="2711805"/>
            <a:ext cx="358873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change event itself</a:t>
            </a:r>
          </a:p>
        </p:txBody>
      </p:sp>
      <p:sp>
        <p:nvSpPr>
          <p:cNvPr id="17" name="Rectangle 16"/>
          <p:cNvSpPr/>
          <p:nvPr/>
        </p:nvSpPr>
        <p:spPr>
          <a:xfrm>
            <a:off x="7129462" y="2629509"/>
            <a:ext cx="4346257"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257478" y="2711805"/>
            <a:ext cx="409022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current value of desired and observed state</a:t>
            </a:r>
          </a:p>
        </p:txBody>
      </p:sp>
      <p:sp>
        <p:nvSpPr>
          <p:cNvPr id="19" name="Rectangle 18"/>
          <p:cNvSpPr/>
          <p:nvPr/>
        </p:nvSpPr>
        <p:spPr>
          <a:xfrm>
            <a:off x="777240" y="3178942"/>
            <a:ext cx="2507456" cy="549432"/>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61238"/>
            <a:ext cx="2251424"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Missed event</a:t>
            </a:r>
          </a:p>
        </p:txBody>
      </p:sp>
      <p:sp>
        <p:nvSpPr>
          <p:cNvPr id="21" name="Rectangle 20"/>
          <p:cNvSpPr/>
          <p:nvPr/>
        </p:nvSpPr>
        <p:spPr>
          <a:xfrm>
            <a:off x="3284696" y="3178942"/>
            <a:ext cx="3844766" cy="549432"/>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412712" y="3261238"/>
            <a:ext cx="358873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Work is lost; the system is now permanently wrong</a:t>
            </a:r>
          </a:p>
        </p:txBody>
      </p:sp>
      <p:sp>
        <p:nvSpPr>
          <p:cNvPr id="23" name="Rectangle 22"/>
          <p:cNvSpPr/>
          <p:nvPr/>
        </p:nvSpPr>
        <p:spPr>
          <a:xfrm>
            <a:off x="7129462" y="3178942"/>
            <a:ext cx="4346257"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257478" y="3261238"/>
            <a:ext cx="409022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Next resync recomputes the same difference and fixes it</a:t>
            </a:r>
          </a:p>
        </p:txBody>
      </p:sp>
      <p:sp>
        <p:nvSpPr>
          <p:cNvPr id="25" name="Rectangle 24"/>
          <p:cNvSpPr/>
          <p:nvPr/>
        </p:nvSpPr>
        <p:spPr>
          <a:xfrm>
            <a:off x="777240" y="3728374"/>
            <a:ext cx="2507456" cy="549432"/>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10670"/>
            <a:ext cx="2251424"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Restart of controller</a:t>
            </a:r>
          </a:p>
        </p:txBody>
      </p:sp>
      <p:sp>
        <p:nvSpPr>
          <p:cNvPr id="27" name="Rectangle 26"/>
          <p:cNvSpPr/>
          <p:nvPr/>
        </p:nvSpPr>
        <p:spPr>
          <a:xfrm>
            <a:off x="3284696" y="3728374"/>
            <a:ext cx="3844766" cy="549432"/>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412712" y="3810670"/>
            <a:ext cx="358873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History is gone; needs replay or a rebuild</a:t>
            </a:r>
          </a:p>
        </p:txBody>
      </p:sp>
      <p:sp>
        <p:nvSpPr>
          <p:cNvPr id="29" name="Rectangle 28"/>
          <p:cNvSpPr/>
          <p:nvPr/>
        </p:nvSpPr>
        <p:spPr>
          <a:xfrm>
            <a:off x="7129462" y="3728374"/>
            <a:ext cx="4346257" cy="549432"/>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257478" y="3810670"/>
            <a:ext cx="409022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Relists everything and carries on — no replay needed</a:t>
            </a:r>
          </a:p>
        </p:txBody>
      </p:sp>
      <p:sp>
        <p:nvSpPr>
          <p:cNvPr id="31" name="Rectangle 30"/>
          <p:cNvSpPr/>
          <p:nvPr/>
        </p:nvSpPr>
        <p:spPr>
          <a:xfrm>
            <a:off x="777240" y="4277807"/>
            <a:ext cx="2507456" cy="549432"/>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60103"/>
            <a:ext cx="2251424"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Duplicate delivery</a:t>
            </a:r>
          </a:p>
        </p:txBody>
      </p:sp>
      <p:sp>
        <p:nvSpPr>
          <p:cNvPr id="33" name="Rectangle 32"/>
          <p:cNvSpPr/>
          <p:nvPr/>
        </p:nvSpPr>
        <p:spPr>
          <a:xfrm>
            <a:off x="3284696" y="4277807"/>
            <a:ext cx="3844766" cy="549432"/>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412712" y="4360103"/>
            <a:ext cx="358873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Risks double-applying the action</a:t>
            </a:r>
          </a:p>
        </p:txBody>
      </p:sp>
      <p:sp>
        <p:nvSpPr>
          <p:cNvPr id="35" name="Rectangle 34"/>
          <p:cNvSpPr/>
          <p:nvPr/>
        </p:nvSpPr>
        <p:spPr>
          <a:xfrm>
            <a:off x="7129462" y="4277807"/>
            <a:ext cx="4346257" cy="549432"/>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257478" y="4360103"/>
            <a:ext cx="409022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Second pass finds no difference and does nothing</a:t>
            </a:r>
          </a:p>
        </p:txBody>
      </p:sp>
      <p:sp>
        <p:nvSpPr>
          <p:cNvPr id="37" name="Rectangle 36"/>
          <p:cNvSpPr/>
          <p:nvPr/>
        </p:nvSpPr>
        <p:spPr>
          <a:xfrm>
            <a:off x="777240" y="4827239"/>
            <a:ext cx="2507456"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9535"/>
            <a:ext cx="2251424"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mode</a:t>
            </a:r>
          </a:p>
        </p:txBody>
      </p:sp>
      <p:sp>
        <p:nvSpPr>
          <p:cNvPr id="39" name="Rectangle 38"/>
          <p:cNvSpPr/>
          <p:nvPr/>
        </p:nvSpPr>
        <p:spPr>
          <a:xfrm>
            <a:off x="3284696" y="4827239"/>
            <a:ext cx="3844766" cy="549432"/>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412712" y="4909535"/>
            <a:ext cx="3588734"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Silent divergence you only find by inspection</a:t>
            </a:r>
          </a:p>
        </p:txBody>
      </p:sp>
      <p:sp>
        <p:nvSpPr>
          <p:cNvPr id="41" name="Rectangle 40"/>
          <p:cNvSpPr/>
          <p:nvPr/>
        </p:nvSpPr>
        <p:spPr>
          <a:xfrm>
            <a:off x="7129462" y="4827239"/>
            <a:ext cx="4346257" cy="549432"/>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257478" y="4909535"/>
            <a:ext cx="409022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Slow convergence, visible in .status and Events</a:t>
            </a:r>
          </a:p>
        </p:txBody>
      </p:sp>
      <p:sp>
        <p:nvSpPr>
          <p:cNvPr id="43" name="Rectangle 42"/>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Level-triggered with edge-triggered hints: the watch makes it fast, the periodic resync makes it correct.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kubernetes.io/docs/concepts/architecture/controller/</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140</a:t>
            </a:r>
          </a:p>
        </p:txBody>
      </p:sp>
    </p:spTree>
  </p:cSld>
  <p:clrMapOvr>
    <a:masterClrMapping/>
  </p:clrMapOvr>
  <p:transition xmlns:ns1="http://schemas.openxmlformats.org/markup-compatibility/2006" spd="fast" ns1:Ignorable="p14">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PROPERTIES YOU CAN RELY 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the Loop Buys You — and What It Costs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Self-healing is a consequence of the loop, not a separate feature that can be switched on.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Idempotence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Applying the same manifest twice changes nothing the second time. Re-running a GitOps sync is safe by construction.</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Eventual consistency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There is no instant in which the cluster is guaranteed correct — only a guarantee that it is converging.</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Self-healing without supervision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Delete a Pod owned by a ReplicaSet and a replacement appears with no human, script or alarm involved.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Explainability through .status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Conditions such as Available, Progressing and PodScheduled are the controller telling you what it currently believes.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Fight-with-yourself risk</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Two controllers owning the same field oscillate. This is why an HPA and a hard-coded .spec.replicas conflict.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Convergence is not instant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minReadySeconds, backoff timers and stabilisation windows all deliberately slow the loop to keep it stable.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kubernetes.io/docs/concepts/architecture/controller/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141</a:t>
            </a:r>
          </a:p>
        </p:txBody>
      </p:sp>
    </p:spTree>
  </p:cSld>
  <p:clrMapOvr>
    <a:masterClrMapping/>
  </p:clrMapOvr>
  <p:transition xmlns:ns1="http://schemas.openxmlformats.org/markup-compatibility/2006" spd="fast" ns1:Ignorable="p14">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API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Owner References: How the Graph Is Wired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Ownership is the data structure behind adoption, cascading deletion and every 'who created this?' question.</a:t>
            </a:r>
          </a:p>
        </p:txBody>
      </p:sp>
      <p:sp>
        <p:nvSpPr>
          <p:cNvPr id="7" name="Rectangle 6"/>
          <p:cNvSpPr/>
          <p:nvPr/>
        </p:nvSpPr>
        <p:spPr>
          <a:xfrm>
            <a:off x="777240" y="2200046"/>
            <a:ext cx="635508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kubectl get pod tracking-api-4m2ql -o yaml (extract)</a:t>
            </a:r>
          </a:p>
        </p:txBody>
      </p:sp>
      <p:sp>
        <p:nvSpPr>
          <p:cNvPr id="9" name="TextBox 8"/>
          <p:cNvSpPr txBox="1"/>
          <p:nvPr/>
        </p:nvSpPr>
        <p:spPr>
          <a:xfrm>
            <a:off x="923544" y="2620670"/>
            <a:ext cx="6062472" cy="2436876"/>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tracking-api-4m2ql</a:t>
            </a:r>
          </a:p>
          <a:p>
            <a:pPr>
              <a:lnSpc>
                <a:spcPts val="1476"/>
              </a:lnSpc>
              <a:spcAft>
                <a:spcPts val="0"/>
              </a:spcAft>
            </a:pPr>
            <a:r>
              <a:rPr sz="1050">
                <a:solidFill>
                  <a:srgbClr val="E6EDF3"/>
                </a:solidFill>
                <a:latin typeface="Consolas"/>
              </a:rPr>
              <a:t>  namespace: kcna-lab06</a:t>
            </a:r>
          </a:p>
          <a:p>
            <a:pPr>
              <a:lnSpc>
                <a:spcPts val="1476"/>
              </a:lnSpc>
              <a:spcAft>
                <a:spcPts val="0"/>
              </a:spcAft>
            </a:pPr>
            <a:r>
              <a:rPr sz="1050">
                <a:solidFill>
                  <a:srgbClr val="E6EDF3"/>
                </a:solidFill>
                <a:latin typeface="Consolas"/>
              </a:rPr>
              <a:t>  labels:</a:t>
            </a:r>
          </a:p>
          <a:p>
            <a:pPr>
              <a:lnSpc>
                <a:spcPts val="1476"/>
              </a:lnSpc>
              <a:spcAft>
                <a:spcPts val="0"/>
              </a:spcAft>
            </a:pPr>
            <a:r>
              <a:rPr sz="1050">
                <a:solidFill>
                  <a:srgbClr val="E6EDF3"/>
                </a:solidFill>
                <a:latin typeface="Consolas"/>
              </a:rPr>
              <a:t>    app: tracking-api</a:t>
            </a:r>
          </a:p>
          <a:p>
            <a:pPr>
              <a:lnSpc>
                <a:spcPts val="1476"/>
              </a:lnSpc>
              <a:spcAft>
                <a:spcPts val="0"/>
              </a:spcAft>
            </a:pPr>
            <a:r>
              <a:rPr sz="1050">
                <a:solidFill>
                  <a:srgbClr val="E6EDF3"/>
                </a:solidFill>
                <a:latin typeface="Consolas"/>
              </a:rPr>
              <a:t>    tier: edge</a:t>
            </a:r>
          </a:p>
          <a:p>
            <a:pPr>
              <a:lnSpc>
                <a:spcPts val="1476"/>
              </a:lnSpc>
              <a:spcAft>
                <a:spcPts val="0"/>
              </a:spcAft>
            </a:pPr>
            <a:r>
              <a:rPr sz="1050">
                <a:solidFill>
                  <a:srgbClr val="E6EDF3"/>
                </a:solidFill>
                <a:latin typeface="Consolas"/>
              </a:rPr>
              <a:t>  ownerReferences:</a:t>
            </a:r>
          </a:p>
          <a:p>
            <a:pPr>
              <a:lnSpc>
                <a:spcPts val="1476"/>
              </a:lnSpc>
              <a:spcAft>
                <a:spcPts val="0"/>
              </a:spcAft>
            </a:pPr>
            <a:r>
              <a:rPr sz="1050">
                <a:solidFill>
                  <a:srgbClr val="E6EDF3"/>
                </a:solidFill>
                <a:latin typeface="Consolas"/>
              </a:rPr>
              <a:t>  - apiVersion: apps/v1</a:t>
            </a:r>
          </a:p>
          <a:p>
            <a:pPr>
              <a:lnSpc>
                <a:spcPts val="1476"/>
              </a:lnSpc>
              <a:spcAft>
                <a:spcPts val="0"/>
              </a:spcAft>
            </a:pPr>
            <a:r>
              <a:rPr sz="1050">
                <a:solidFill>
                  <a:srgbClr val="E6EDF3"/>
                </a:solidFill>
                <a:latin typeface="Consolas"/>
              </a:rPr>
              <a:t>    kind: ReplicaSet</a:t>
            </a:r>
          </a:p>
          <a:p>
            <a:pPr>
              <a:lnSpc>
                <a:spcPts val="1476"/>
              </a:lnSpc>
              <a:spcAft>
                <a:spcPts val="0"/>
              </a:spcAft>
            </a:pPr>
            <a:r>
              <a:rPr sz="1050">
                <a:solidFill>
                  <a:srgbClr val="E6EDF3"/>
                </a:solidFill>
                <a:latin typeface="Consolas"/>
              </a:rPr>
              <a:t>    name: tracking-api</a:t>
            </a:r>
          </a:p>
          <a:p>
            <a:pPr>
              <a:lnSpc>
                <a:spcPts val="1476"/>
              </a:lnSpc>
              <a:spcAft>
                <a:spcPts val="0"/>
              </a:spcAft>
            </a:pPr>
            <a:r>
              <a:rPr sz="1050">
                <a:solidFill>
                  <a:srgbClr val="E6EDF3"/>
                </a:solidFill>
                <a:latin typeface="Consolas"/>
              </a:rPr>
              <a:t>    uid: 6f1c9e5a-...</a:t>
            </a:r>
          </a:p>
          <a:p>
            <a:pPr>
              <a:lnSpc>
                <a:spcPts val="1476"/>
              </a:lnSpc>
              <a:spcAft>
                <a:spcPts val="0"/>
              </a:spcAft>
            </a:pPr>
            <a:r>
              <a:rPr sz="1050">
                <a:solidFill>
                  <a:srgbClr val="E6EDF3"/>
                </a:solidFill>
                <a:latin typeface="Consolas"/>
              </a:rPr>
              <a:t>    controller: true</a:t>
            </a:r>
          </a:p>
          <a:p>
            <a:pPr>
              <a:lnSpc>
                <a:spcPts val="1476"/>
              </a:lnSpc>
              <a:spcAft>
                <a:spcPts val="0"/>
              </a:spcAft>
            </a:pPr>
            <a:r>
              <a:rPr sz="1050">
                <a:solidFill>
                  <a:srgbClr val="E6EDF3"/>
                </a:solidFill>
                <a:latin typeface="Consolas"/>
              </a:rPr>
              <a:t>    blockOwnerDeletion: true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ownerReferences is on the dependent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Pod points up at its owner. The ReplicaSet does not keep a list of Pod names anywhere.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controller: true names the manager</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Exactly one owner may be the controller. That is the loop allowed to create and delete this Pod.</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uid, not just name</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ReplicaSet deleted and recreated with the same name is a different uid, so old Pods are not re-adopted.</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blockOwnerDeletion: true</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Foreground deletion of the owner waits in the API server until this dependent is gone.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kubernetes.io/docs/concepts/architecture/garbage-collection/</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142</a:t>
            </a:r>
          </a:p>
        </p:txBody>
      </p:sp>
    </p:spTree>
  </p:cSld>
  <p:clrMapOvr>
    <a:masterClrMapping/>
  </p:clrMapOvr>
  <p:transition xmlns:ns1="http://schemas.openxmlformats.org/markup-compatibility/2006" spd="fast" ns1:Ignorable="p14">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CASCADING DELETION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Propagation Policies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Deleting a Deployment does not delete Pods directly — it deletes an owner and lets the garbage collector follow the ownerReferences graph.</a:t>
            </a:r>
          </a:p>
        </p:txBody>
      </p:sp>
      <p:sp>
        <p:nvSpPr>
          <p:cNvPr id="7" name="Rectangle 6"/>
          <p:cNvSpPr/>
          <p:nvPr/>
        </p:nvSpPr>
        <p:spPr>
          <a:xfrm>
            <a:off x="777240" y="2208885"/>
            <a:ext cx="25548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2988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Policy</a:t>
            </a:r>
          </a:p>
        </p:txBody>
      </p:sp>
      <p:sp>
        <p:nvSpPr>
          <p:cNvPr id="9" name="Rectangle 8"/>
          <p:cNvSpPr/>
          <p:nvPr/>
        </p:nvSpPr>
        <p:spPr>
          <a:xfrm>
            <a:off x="3332100" y="2208885"/>
            <a:ext cx="4630685"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460116" y="2309469"/>
            <a:ext cx="437465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the API server does</a:t>
            </a:r>
          </a:p>
        </p:txBody>
      </p:sp>
      <p:sp>
        <p:nvSpPr>
          <p:cNvPr id="11" name="Rectangle 10"/>
          <p:cNvSpPr/>
          <p:nvPr/>
        </p:nvSpPr>
        <p:spPr>
          <a:xfrm>
            <a:off x="7962786" y="2208885"/>
            <a:ext cx="3512933"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0802" y="2309469"/>
            <a:ext cx="325690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When you want it</a:t>
            </a:r>
          </a:p>
        </p:txBody>
      </p:sp>
      <p:sp>
        <p:nvSpPr>
          <p:cNvPr id="13" name="Rectangle 12"/>
          <p:cNvSpPr/>
          <p:nvPr/>
        </p:nvSpPr>
        <p:spPr>
          <a:xfrm>
            <a:off x="777240" y="2629509"/>
            <a:ext cx="2554860" cy="566928"/>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11805"/>
            <a:ext cx="22988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Background (default for most kubectl deletes)</a:t>
            </a:r>
          </a:p>
        </p:txBody>
      </p:sp>
      <p:sp>
        <p:nvSpPr>
          <p:cNvPr id="15" name="Rectangle 14"/>
          <p:cNvSpPr/>
          <p:nvPr/>
        </p:nvSpPr>
        <p:spPr>
          <a:xfrm>
            <a:off x="3332100" y="2629509"/>
            <a:ext cx="4630685"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460116" y="2711805"/>
            <a:ext cx="437465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Owner is deleted immediately; the garbage collector removes dependents afterwards, asynchronously</a:t>
            </a:r>
          </a:p>
        </p:txBody>
      </p:sp>
      <p:sp>
        <p:nvSpPr>
          <p:cNvPr id="17" name="Rectangle 16"/>
          <p:cNvSpPr/>
          <p:nvPr/>
        </p:nvSpPr>
        <p:spPr>
          <a:xfrm>
            <a:off x="7962786" y="2629509"/>
            <a:ext cx="3512933"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90802" y="2711805"/>
            <a:ext cx="32569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Normal cleanup where you do not need to wait</a:t>
            </a:r>
          </a:p>
        </p:txBody>
      </p:sp>
      <p:sp>
        <p:nvSpPr>
          <p:cNvPr id="19" name="Rectangle 18"/>
          <p:cNvSpPr/>
          <p:nvPr/>
        </p:nvSpPr>
        <p:spPr>
          <a:xfrm>
            <a:off x="777240" y="3196437"/>
            <a:ext cx="2554860" cy="566928"/>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78733"/>
            <a:ext cx="22988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Foreground</a:t>
            </a:r>
          </a:p>
        </p:txBody>
      </p:sp>
      <p:sp>
        <p:nvSpPr>
          <p:cNvPr id="21" name="Rectangle 20"/>
          <p:cNvSpPr/>
          <p:nvPr/>
        </p:nvSpPr>
        <p:spPr>
          <a:xfrm>
            <a:off x="3332100" y="3196437"/>
            <a:ext cx="4630685" cy="566928"/>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460116" y="3278733"/>
            <a:ext cx="437465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Owner gets a foregroundDeletion finalizer and stays visible until every blocking dependent is deleted</a:t>
            </a:r>
          </a:p>
        </p:txBody>
      </p:sp>
      <p:sp>
        <p:nvSpPr>
          <p:cNvPr id="23" name="Rectangle 22"/>
          <p:cNvSpPr/>
          <p:nvPr/>
        </p:nvSpPr>
        <p:spPr>
          <a:xfrm>
            <a:off x="7962786" y="3196437"/>
            <a:ext cx="3512933"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90802" y="3278733"/>
            <a:ext cx="32569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Ordered teardown; you must know children are really gone</a:t>
            </a:r>
          </a:p>
        </p:txBody>
      </p:sp>
      <p:sp>
        <p:nvSpPr>
          <p:cNvPr id="25" name="Rectangle 24"/>
          <p:cNvSpPr/>
          <p:nvPr/>
        </p:nvSpPr>
        <p:spPr>
          <a:xfrm>
            <a:off x="777240" y="3763365"/>
            <a:ext cx="2554860" cy="566928"/>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45661"/>
            <a:ext cx="22988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Orphan</a:t>
            </a:r>
          </a:p>
        </p:txBody>
      </p:sp>
      <p:sp>
        <p:nvSpPr>
          <p:cNvPr id="27" name="Rectangle 26"/>
          <p:cNvSpPr/>
          <p:nvPr/>
        </p:nvSpPr>
        <p:spPr>
          <a:xfrm>
            <a:off x="3332100" y="3763365"/>
            <a:ext cx="4630685" cy="566928"/>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460116" y="3845661"/>
            <a:ext cx="437465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ownerReferences are stripped from the dependents; the children survive the parent</a:t>
            </a:r>
          </a:p>
        </p:txBody>
      </p:sp>
      <p:sp>
        <p:nvSpPr>
          <p:cNvPr id="29" name="Rectangle 28"/>
          <p:cNvSpPr/>
          <p:nvPr/>
        </p:nvSpPr>
        <p:spPr>
          <a:xfrm>
            <a:off x="7962786" y="3763365"/>
            <a:ext cx="3512933" cy="566928"/>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90802" y="3845661"/>
            <a:ext cx="32569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Migrating Pods between controllers, or keeping a ReplicaSet's Pods while replacing the Deployment</a:t>
            </a:r>
          </a:p>
        </p:txBody>
      </p:sp>
      <p:sp>
        <p:nvSpPr>
          <p:cNvPr id="31" name="Rectangle 30"/>
          <p:cNvSpPr/>
          <p:nvPr/>
        </p:nvSpPr>
        <p:spPr>
          <a:xfrm>
            <a:off x="777240" y="4513173"/>
            <a:ext cx="10698480" cy="566928"/>
          </a:xfrm>
          <a:prstGeom prst="rect">
            <a:avLst/>
          </a:prstGeom>
          <a:solidFill>
            <a:srgbClr val="E8F7EE"/>
          </a:solidFill>
          <a:ln>
            <a:noFill/>
          </a:ln>
          <a:effectLst/>
        </p:spPr>
        <p:txBody>
          <a:bodyPr rtlCol="0" anchor="ctr" wrap="square"/>
          <a:lstStyle/>
          <a:p>
            <a:pPr algn="ctr"/>
          </a:p>
        </p:txBody>
      </p:sp>
      <p:sp>
        <p:nvSpPr>
          <p:cNvPr id="32" name="Rectangle 31"/>
          <p:cNvSpPr/>
          <p:nvPr/>
        </p:nvSpPr>
        <p:spPr>
          <a:xfrm>
            <a:off x="777240" y="4513173"/>
            <a:ext cx="50292" cy="566928"/>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996695" y="4568037"/>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34" name="TextBox 33"/>
          <p:cNvSpPr txBox="1"/>
          <p:nvPr/>
        </p:nvSpPr>
        <p:spPr>
          <a:xfrm>
            <a:off x="996695" y="4769205"/>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Foreground when order matters, orphan when you are re-parenting, background otherwise.</a:t>
            </a:r>
          </a:p>
        </p:txBody>
      </p:sp>
      <p:sp>
        <p:nvSpPr>
          <p:cNvPr id="35" name="TextBox 3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kubernetes.io/docs/concepts/architecture/garbage-collection/</a:t>
            </a:r>
          </a:p>
        </p:txBody>
      </p:sp>
      <p:sp>
        <p:nvSpPr>
          <p:cNvPr id="36" name="TextBox 3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7" name="TextBox 3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8" name="TextBox 3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143</a:t>
            </a:r>
          </a:p>
        </p:txBody>
      </p:sp>
    </p:spTree>
  </p:cSld>
  <p:clrMapOvr>
    <a:masterClrMapping/>
  </p:clrMapOvr>
  <p:transition xmlns:ns1="http://schemas.openxmlformats.org/markup-compatibility/2006" spd="fast" ns1:Ignorable="p14">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VOCABULARY YOU WILL BE EXAMINED 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Orchestration Terms, Precisely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Desired state</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.spec — what you declared through the API server</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Observed state</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.status — what a controller reports it currently sees</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Reconciliation</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pass of diffing spec against status and acting</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Controller</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loop owning one resource kind and its dependents</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Operator</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controller for a CustomResource, encoding domain operational knowledge</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Informer</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Cached watch + local index shared across controllers</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Work queue</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Rate-limited, de-duplicated queue of keys to reconcile</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Owner reference</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Pointer from dependent to owner, used by the GC</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Finalizer</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String that blocks deletion until a controller clears it</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Self-healing</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Convergence after an unplanned change — not a feature flag</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Declarative</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state the end shape; the system computes the steps</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Imperative</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state the steps; nothing re-applies them later</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kubernetes.io/docs/concepts/architecture/controller/</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144</a:t>
            </a:r>
          </a:p>
        </p:txBody>
      </p:sp>
    </p:spTree>
  </p:cSld>
  <p:clrMapOvr>
    <a:masterClrMapping/>
  </p:clrMapOvr>
  <p:transition xmlns:ns1="http://schemas.openxmlformats.org/markup-compatibility/2006" spd="fast" ns1:Ignorable="p14">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Which Workload Controller Is Correct?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questions decide it. Everything else is a detail of the manifest you generate afterwards.</a:t>
            </a:r>
          </a:p>
        </p:txBody>
      </p:sp>
      <p:sp>
        <p:nvSpPr>
          <p:cNvPr id="7" name="Diamond 6"/>
          <p:cNvSpPr/>
          <p:nvPr/>
        </p:nvSpPr>
        <p:spPr>
          <a:xfrm>
            <a:off x="4206240" y="2092919"/>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the work finish on its own,
and does each replica need a stable identity?</a:t>
            </a:r>
          </a:p>
        </p:txBody>
      </p:sp>
      <p:sp>
        <p:nvSpPr>
          <p:cNvPr id="8" name="Rounded Rectangle 7"/>
          <p:cNvSpPr/>
          <p:nvPr/>
        </p:nvSpPr>
        <p:spPr>
          <a:xfrm>
            <a:off x="777240" y="3729695"/>
            <a:ext cx="5199278" cy="2250480"/>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3729695"/>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3775415"/>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RUN-TO-COMPLETION WORK</a:t>
            </a:r>
          </a:p>
        </p:txBody>
      </p:sp>
      <p:sp>
        <p:nvSpPr>
          <p:cNvPr id="11" name="TextBox 10"/>
          <p:cNvSpPr txBox="1"/>
          <p:nvPr/>
        </p:nvSpPr>
        <p:spPr>
          <a:xfrm>
            <a:off x="1014983" y="4205183"/>
            <a:ext cx="4723790" cy="166526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Job — a fixed number of successful completions, then done. Use completions and parallelism.</a:t>
            </a:r>
          </a:p>
          <a:p>
            <a:pPr>
              <a:lnSpc>
                <a:spcPct val="112000"/>
              </a:lnSpc>
              <a:spcAft>
                <a:spcPts val="500"/>
              </a:spcAft>
            </a:pPr>
            <a:r>
              <a:rPr sz="1100">
                <a:solidFill>
                  <a:srgbClr val="94A3B8"/>
                </a:solidFill>
                <a:latin typeface="Arial"/>
              </a:rPr>
              <a:t>•  </a:t>
            </a:r>
            <a:r>
              <a:rPr sz="1100">
                <a:solidFill>
                  <a:srgbClr val="5B6372"/>
                </a:solidFill>
                <a:latin typeface="Arial"/>
              </a:rPr>
              <a:t>CronJob — a Job factory on a cron schedule, with concurrencyPolicy to control overlap.</a:t>
            </a:r>
          </a:p>
          <a:p>
            <a:pPr>
              <a:lnSpc>
                <a:spcPct val="112000"/>
              </a:lnSpc>
              <a:spcAft>
                <a:spcPts val="500"/>
              </a:spcAft>
            </a:pPr>
            <a:r>
              <a:rPr sz="1100">
                <a:solidFill>
                  <a:srgbClr val="94A3B8"/>
                </a:solidFill>
                <a:latin typeface="Arial"/>
              </a:rPr>
              <a:t>•  </a:t>
            </a:r>
            <a:r>
              <a:rPr sz="1100">
                <a:solidFill>
                  <a:srgbClr val="5B6372"/>
                </a:solidFill>
                <a:latin typeface="Arial"/>
              </a:rPr>
              <a:t>restartPolicy must be Never or OnFailure; Always is rejected by the API server for Jobs.</a:t>
            </a:r>
          </a:p>
          <a:p>
            <a:pPr>
              <a:lnSpc>
                <a:spcPct val="112000"/>
              </a:lnSpc>
              <a:spcAft>
                <a:spcPts val="500"/>
              </a:spcAft>
            </a:pPr>
            <a:r>
              <a:rPr sz="1100">
                <a:solidFill>
                  <a:srgbClr val="94A3B8"/>
                </a:solidFill>
                <a:latin typeface="Arial"/>
              </a:rPr>
              <a:t>•  </a:t>
            </a:r>
            <a:r>
              <a:rPr sz="1100">
                <a:solidFill>
                  <a:srgbClr val="5B6372"/>
                </a:solidFill>
                <a:latin typeface="Arial"/>
              </a:rPr>
              <a:t>Never model a long-running server as a Job to 'restart it'.</a:t>
            </a:r>
          </a:p>
        </p:txBody>
      </p:sp>
      <p:cxnSp>
        <p:nvCxnSpPr>
          <p:cNvPr id="12" name="Connector 11"/>
          <p:cNvCxnSpPr/>
          <p:nvPr/>
        </p:nvCxnSpPr>
        <p:spPr>
          <a:xfrm flipH="1">
            <a:off x="3376879" y="2998175"/>
            <a:ext cx="1766621" cy="694944"/>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345647"/>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3729695"/>
            <a:ext cx="5199278" cy="2250480"/>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3729695"/>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3775415"/>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LONG-RUNNING SERVICE</a:t>
            </a:r>
          </a:p>
        </p:txBody>
      </p:sp>
      <p:sp>
        <p:nvSpPr>
          <p:cNvPr id="17" name="TextBox 16"/>
          <p:cNvSpPr txBox="1"/>
          <p:nvPr/>
        </p:nvSpPr>
        <p:spPr>
          <a:xfrm>
            <a:off x="6514185" y="4205183"/>
            <a:ext cx="4723790" cy="166526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Deployment — interchangeable, stateless replicas; the default answer for a web or API tier.</a:t>
            </a:r>
          </a:p>
          <a:p>
            <a:pPr>
              <a:lnSpc>
                <a:spcPct val="112000"/>
              </a:lnSpc>
              <a:spcAft>
                <a:spcPts val="500"/>
              </a:spcAft>
            </a:pPr>
            <a:r>
              <a:rPr sz="1100">
                <a:solidFill>
                  <a:srgbClr val="94A3B8"/>
                </a:solidFill>
                <a:latin typeface="Arial"/>
              </a:rPr>
              <a:t>•  </a:t>
            </a:r>
            <a:r>
              <a:rPr sz="1100">
                <a:solidFill>
                  <a:srgbClr val="5B6372"/>
                </a:solidFill>
                <a:latin typeface="Arial"/>
              </a:rPr>
              <a:t>StatefulSet — ordered, stable network identity and stable per-replica storage (Day 4).</a:t>
            </a:r>
          </a:p>
          <a:p>
            <a:pPr>
              <a:lnSpc>
                <a:spcPct val="112000"/>
              </a:lnSpc>
              <a:spcAft>
                <a:spcPts val="500"/>
              </a:spcAft>
            </a:pPr>
            <a:r>
              <a:rPr sz="1100">
                <a:solidFill>
                  <a:srgbClr val="94A3B8"/>
                </a:solidFill>
                <a:latin typeface="Arial"/>
              </a:rPr>
              <a:t>•  </a:t>
            </a:r>
            <a:r>
              <a:rPr sz="1100">
                <a:solidFill>
                  <a:srgbClr val="5B6372"/>
                </a:solidFill>
                <a:latin typeface="Arial"/>
              </a:rPr>
              <a:t>DaemonSet — exactly one Pod per matching node; scale is a property of the cluster, not of you.</a:t>
            </a:r>
          </a:p>
          <a:p>
            <a:pPr>
              <a:lnSpc>
                <a:spcPct val="112000"/>
              </a:lnSpc>
              <a:spcAft>
                <a:spcPts val="500"/>
              </a:spcAft>
            </a:pPr>
            <a:r>
              <a:rPr sz="1100">
                <a:solidFill>
                  <a:srgbClr val="94A3B8"/>
                </a:solidFill>
                <a:latin typeface="Arial"/>
              </a:rPr>
              <a:t>•  </a:t>
            </a:r>
            <a:r>
              <a:rPr sz="1100">
                <a:solidFill>
                  <a:srgbClr val="5B6372"/>
                </a:solidFill>
                <a:latin typeface="Arial"/>
              </a:rPr>
              <a:t>Bare Pod — only for a one-off diagnostic; nothing will replace it.</a:t>
            </a:r>
          </a:p>
        </p:txBody>
      </p:sp>
      <p:cxnSp>
        <p:nvCxnSpPr>
          <p:cNvPr id="18" name="Connector 17"/>
          <p:cNvCxnSpPr/>
          <p:nvPr/>
        </p:nvCxnSpPr>
        <p:spPr>
          <a:xfrm>
            <a:off x="7018019" y="2998175"/>
            <a:ext cx="1858061" cy="694944"/>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345647"/>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kubernetes.io/docs/concepts/workloads/controllers/job/</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145</a:t>
            </a:r>
          </a:p>
        </p:txBody>
      </p:sp>
    </p:spTree>
  </p:cSld>
  <p:clrMapOvr>
    <a:masterClrMapping/>
  </p:clrMapOvr>
  <p:transition xmlns:ns3="http://schemas.openxmlformats.org/markup-compatibility/2006" spd="fast" ns3:Ignorable="p14">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DaemonSet Scale Is Not Your Decision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arithmetic model, not measured data — Pod count is derived from node count. Only the 1-node column is a measured lab observation.</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Pods created by one manifest</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model is definitional</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 DaemonSet has no .spec.replicas field at all; the count equals the number of nodes that pass its node selection.</a:t>
            </a:r>
          </a:p>
        </p:txBody>
      </p:sp>
      <p:sp>
        <p:nvSpPr>
          <p:cNvPr id="14" name="Rectangle 13"/>
          <p:cNvSpPr/>
          <p:nvPr/>
        </p:nvSpPr>
        <p:spPr>
          <a:xfrm>
            <a:off x="7927848" y="3470856"/>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5256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 08 measures the leftmost bar</a:t>
            </a:r>
          </a:p>
        </p:txBody>
      </p:sp>
      <p:sp>
        <p:nvSpPr>
          <p:cNvPr id="16" name="TextBox 15"/>
          <p:cNvSpPr txBox="1"/>
          <p:nvPr/>
        </p:nvSpPr>
        <p:spPr>
          <a:xfrm>
            <a:off x="8092440" y="367202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On the single-node kind cluster the DaemonSet reports DESIRED 1 / READY 1 — the same manifest, a different cluster.</a:t>
            </a:r>
          </a:p>
        </p:txBody>
      </p:sp>
      <p:sp>
        <p:nvSpPr>
          <p:cNvPr id="17" name="Rectangle 16"/>
          <p:cNvSpPr/>
          <p:nvPr/>
        </p:nvSpPr>
        <p:spPr>
          <a:xfrm>
            <a:off x="7927848" y="4257339"/>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239051"/>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Deployment is flat</a:t>
            </a:r>
          </a:p>
        </p:txBody>
      </p:sp>
      <p:sp>
        <p:nvSpPr>
          <p:cNvPr id="19" name="TextBox 18"/>
          <p:cNvSpPr txBox="1"/>
          <p:nvPr/>
        </p:nvSpPr>
        <p:spPr>
          <a:xfrm>
            <a:off x="8092440" y="4458507"/>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replicas: 4 stays 4 on 50 nodes. Adding capacity does not add copies unless an autoscaler asks for them.</a:t>
            </a:r>
          </a:p>
        </p:txBody>
      </p:sp>
      <p:sp>
        <p:nvSpPr>
          <p:cNvPr id="20" name="Rectangle 19"/>
          <p:cNvSpPr/>
          <p:nvPr/>
        </p:nvSpPr>
        <p:spPr>
          <a:xfrm>
            <a:off x="7927848" y="4952283"/>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93399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Budget the difference</a:t>
            </a:r>
          </a:p>
        </p:txBody>
      </p:sp>
      <p:sp>
        <p:nvSpPr>
          <p:cNvPr id="22" name="TextBox 21"/>
          <p:cNvSpPr txBox="1"/>
          <p:nvPr/>
        </p:nvSpPr>
        <p:spPr>
          <a:xfrm>
            <a:off x="8092440" y="515345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 100 MiB agent costs 100 MiB on a laptop cluster and 5 GiB across 50 nodes. Node-scaled cost is easy to miss.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kubernetes.io/docs/concepts/workloads/controllers/daemonset/</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146</a:t>
            </a:r>
          </a:p>
        </p:txBody>
      </p:sp>
    </p:spTree>
  </p:cSld>
  <p:clrMapOvr>
    <a:masterClrMapping/>
  </p:clrMapOvr>
  <p:transition xmlns:ns1="http://schemas.openxmlformats.org/markup-compatibility/2006" spd="fast" ns1:Ignorable="p14">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08</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2 · WORKLOADS &amp; SCHEDULING</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Labels, Selectors and ReplicaSets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Labels are not documentation. They are the only wire between a controller and the Pods it manages.</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147</a:t>
            </a:r>
          </a:p>
        </p:txBody>
      </p:sp>
    </p:spTree>
  </p:cSld>
  <p:clrMapOvr>
    <a:masterClrMapping/>
  </p:clrMapOvr>
  <p:transition xmlns:ns1="http://schemas.openxmlformats.org/markup-compatibility/2006" spd="med" ns1:Ignorable="p14">
    <p:push dir="l"/>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PRIMITIVE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Label Actually Is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controller-to-Pod relationship in this deck is a label query evaluated continuously.</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key/value pair on metadata</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Attached to any object, not just Pods. Indexed by the API server so selector queries are cheap at cluster scale.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Key = optional prefix + name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 is up to 63 characters of alphanumerics, '-', '_', '.'. The optional prefix is a DNS subdomain plus '/'.</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Prefixes are namespaced by convention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kubernetes.io/ and k8s.io/ are reserved for core components. Use your own domain: mfs.io/zone, app.kubernetes.io/name.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Values are constrained too</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At most 63 characters, may be empty, must start and end alphanumeric. A label value cannot hold a JSON blob.</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Labels are for selection, annotations are not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you will never query on it, it is an annotation. Annotations have no length limit and no selector support.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Mutable at any time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label --overwrite changes ownership consequences immediately — Lab 06 orphans a Pod exactly this way.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kubernetes.io/docs/concepts/overview/working-with-objects/labels/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148</a:t>
            </a:r>
          </a:p>
        </p:txBody>
      </p:sp>
    </p:spTree>
  </p:cSld>
  <p:clrMapOvr>
    <a:masterClrMapping/>
  </p:clrMapOvr>
  <p:transition xmlns:ns1="http://schemas.openxmlformats.org/markup-compatibility/2006" spd="fast" ns1:Ignorable="p14">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ReplicaSet Selector,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exact ReplicaSet from Lab 06. Read the selector first, the template second — the selector is the contract.</a:t>
            </a:r>
          </a:p>
        </p:txBody>
      </p:sp>
      <p:sp>
        <p:nvSpPr>
          <p:cNvPr id="7" name="Rectangle 6"/>
          <p:cNvSpPr/>
          <p:nvPr/>
        </p:nvSpPr>
        <p:spPr>
          <a:xfrm>
            <a:off x="777240" y="2208885"/>
            <a:ext cx="6355080" cy="378957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labs/lab-06/manifests/30-replicaset-berth-status.yaml</a:t>
            </a:r>
          </a:p>
        </p:txBody>
      </p:sp>
      <p:sp>
        <p:nvSpPr>
          <p:cNvPr id="9" name="TextBox 8"/>
          <p:cNvSpPr txBox="1"/>
          <p:nvPr/>
        </p:nvSpPr>
        <p:spPr>
          <a:xfrm>
            <a:off x="923544" y="2629509"/>
            <a:ext cx="6062472" cy="3222650"/>
          </a:xfrm>
          <a:prstGeom prst="rect">
            <a:avLst/>
          </a:prstGeom>
          <a:noFill/>
        </p:spPr>
        <p:txBody>
          <a:bodyPr wrap="none" lIns="0" rIns="0" tIns="0" bIns="0">
            <a:spAutoFit/>
          </a:bodyPr>
          <a:lstStyle/>
          <a:p>
            <a:pPr>
              <a:lnSpc>
                <a:spcPts val="1335"/>
              </a:lnSpc>
              <a:spcAft>
                <a:spcPts val="0"/>
              </a:spcAft>
            </a:pPr>
            <a:r>
              <a:rPr sz="1050">
                <a:solidFill>
                  <a:srgbClr val="E6EDF3"/>
                </a:solidFill>
                <a:latin typeface="Consolas"/>
              </a:rPr>
              <a:t>apiVersion: apps/v1</a:t>
            </a:r>
          </a:p>
          <a:p>
            <a:pPr>
              <a:lnSpc>
                <a:spcPts val="1335"/>
              </a:lnSpc>
              <a:spcAft>
                <a:spcPts val="0"/>
              </a:spcAft>
            </a:pPr>
            <a:r>
              <a:rPr sz="1050">
                <a:solidFill>
                  <a:srgbClr val="E6EDF3"/>
                </a:solidFill>
                <a:latin typeface="Consolas"/>
              </a:rPr>
              <a:t>kind: ReplicaSet</a:t>
            </a:r>
          </a:p>
          <a:p>
            <a:pPr>
              <a:lnSpc>
                <a:spcPts val="1335"/>
              </a:lnSpc>
              <a:spcAft>
                <a:spcPts val="0"/>
              </a:spcAft>
            </a:pPr>
            <a:r>
              <a:rPr sz="1050">
                <a:solidFill>
                  <a:srgbClr val="E6EDF3"/>
                </a:solidFill>
                <a:latin typeface="Consolas"/>
              </a:rPr>
              <a:t>metadata:</a:t>
            </a:r>
          </a:p>
          <a:p>
            <a:pPr>
              <a:lnSpc>
                <a:spcPts val="1335"/>
              </a:lnSpc>
              <a:spcAft>
                <a:spcPts val="0"/>
              </a:spcAft>
            </a:pPr>
            <a:r>
              <a:rPr sz="1050">
                <a:solidFill>
                  <a:srgbClr val="E6EDF3"/>
                </a:solidFill>
                <a:latin typeface="Consolas"/>
              </a:rPr>
              <a:t>  name: berth-status</a:t>
            </a:r>
          </a:p>
          <a:p>
            <a:pPr>
              <a:lnSpc>
                <a:spcPts val="1335"/>
              </a:lnSpc>
              <a:spcAft>
                <a:spcPts val="0"/>
              </a:spcAft>
            </a:pPr>
            <a:r>
              <a:rPr sz="1050">
                <a:solidFill>
                  <a:srgbClr val="E6EDF3"/>
                </a:solidFill>
                <a:latin typeface="Consolas"/>
              </a:rPr>
              <a:t>spec:</a:t>
            </a:r>
          </a:p>
          <a:p>
            <a:pPr>
              <a:lnSpc>
                <a:spcPts val="1335"/>
              </a:lnSpc>
              <a:spcAft>
                <a:spcPts val="0"/>
              </a:spcAft>
            </a:pPr>
            <a:r>
              <a:rPr sz="1050">
                <a:solidFill>
                  <a:srgbClr val="E6EDF3"/>
                </a:solidFill>
                <a:latin typeface="Consolas"/>
              </a:rPr>
              <a:t>  replicas: 2</a:t>
            </a:r>
          </a:p>
          <a:p>
            <a:pPr>
              <a:lnSpc>
                <a:spcPts val="1335"/>
              </a:lnSpc>
              <a:spcAft>
                <a:spcPts val="0"/>
              </a:spcAft>
            </a:pPr>
            <a:r>
              <a:rPr sz="1050">
                <a:solidFill>
                  <a:srgbClr val="E6EDF3"/>
                </a:solidFill>
                <a:latin typeface="Consolas"/>
              </a:rPr>
              <a:t>  selector:</a:t>
            </a:r>
          </a:p>
          <a:p>
            <a:pPr>
              <a:lnSpc>
                <a:spcPts val="1335"/>
              </a:lnSpc>
              <a:spcAft>
                <a:spcPts val="0"/>
              </a:spcAft>
            </a:pPr>
            <a:r>
              <a:rPr sz="1050">
                <a:solidFill>
                  <a:srgbClr val="E6EDF3"/>
                </a:solidFill>
                <a:latin typeface="Consolas"/>
              </a:rPr>
              <a:t>    matchLabels:</a:t>
            </a:r>
          </a:p>
          <a:p>
            <a:pPr>
              <a:lnSpc>
                <a:spcPts val="1335"/>
              </a:lnSpc>
              <a:spcAft>
                <a:spcPts val="0"/>
              </a:spcAft>
            </a:pPr>
            <a:r>
              <a:rPr sz="1050">
                <a:solidFill>
                  <a:srgbClr val="E6EDF3"/>
                </a:solidFill>
                <a:latin typeface="Consolas"/>
              </a:rPr>
              <a:t>      app: berth-status</a:t>
            </a:r>
          </a:p>
          <a:p>
            <a:pPr>
              <a:lnSpc>
                <a:spcPts val="1335"/>
              </a:lnSpc>
              <a:spcAft>
                <a:spcPts val="0"/>
              </a:spcAft>
            </a:pPr>
            <a:r>
              <a:rPr sz="1050">
                <a:solidFill>
                  <a:srgbClr val="E6EDF3"/>
                </a:solidFill>
                <a:latin typeface="Consolas"/>
              </a:rPr>
              <a:t>    matchExpressions:</a:t>
            </a:r>
          </a:p>
          <a:p>
            <a:pPr>
              <a:lnSpc>
                <a:spcPts val="1335"/>
              </a:lnSpc>
              <a:spcAft>
                <a:spcPts val="0"/>
              </a:spcAft>
            </a:pPr>
            <a:r>
              <a:rPr sz="1050">
                <a:solidFill>
                  <a:srgbClr val="E6EDF3"/>
                </a:solidFill>
                <a:latin typeface="Consolas"/>
              </a:rPr>
              <a:t>    - {key: tier, operator: NotIn,</a:t>
            </a:r>
          </a:p>
          <a:p>
            <a:pPr>
              <a:lnSpc>
                <a:spcPts val="1335"/>
              </a:lnSpc>
              <a:spcAft>
                <a:spcPts val="0"/>
              </a:spcAft>
            </a:pPr>
            <a:r>
              <a:rPr sz="1050">
                <a:solidFill>
                  <a:srgbClr val="E6EDF3"/>
                </a:solidFill>
                <a:latin typeface="Consolas"/>
              </a:rPr>
              <a:t>       values: [experimental]}</a:t>
            </a:r>
          </a:p>
          <a:p>
            <a:pPr>
              <a:lnSpc>
                <a:spcPts val="1335"/>
              </a:lnSpc>
              <a:spcAft>
                <a:spcPts val="0"/>
              </a:spcAft>
            </a:pPr>
            <a:r>
              <a:rPr sz="1050">
                <a:solidFill>
                  <a:srgbClr val="E6EDF3"/>
                </a:solidFill>
                <a:latin typeface="Consolas"/>
              </a:rPr>
              <a:t>    - {key: release, operator: Exists}</a:t>
            </a:r>
          </a:p>
          <a:p>
            <a:pPr>
              <a:lnSpc>
                <a:spcPts val="1335"/>
              </a:lnSpc>
              <a:spcAft>
                <a:spcPts val="0"/>
              </a:spcAft>
            </a:pPr>
            <a:r>
              <a:rPr sz="1050">
                <a:solidFill>
                  <a:srgbClr val="E6EDF3"/>
                </a:solidFill>
                <a:latin typeface="Consolas"/>
              </a:rPr>
              <a:t>  template:</a:t>
            </a:r>
          </a:p>
          <a:p>
            <a:pPr>
              <a:lnSpc>
                <a:spcPts val="1335"/>
              </a:lnSpc>
              <a:spcAft>
                <a:spcPts val="0"/>
              </a:spcAft>
            </a:pPr>
            <a:r>
              <a:rPr sz="1050">
                <a:solidFill>
                  <a:srgbClr val="E6EDF3"/>
                </a:solidFill>
                <a:latin typeface="Consolas"/>
              </a:rPr>
              <a:t>    metadata:</a:t>
            </a:r>
          </a:p>
          <a:p>
            <a:pPr>
              <a:lnSpc>
                <a:spcPts val="1335"/>
              </a:lnSpc>
              <a:spcAft>
                <a:spcPts val="0"/>
              </a:spcAft>
            </a:pPr>
            <a:r>
              <a:rPr sz="1050">
                <a:solidFill>
                  <a:srgbClr val="E6EDF3"/>
                </a:solidFill>
                <a:latin typeface="Consolas"/>
              </a:rPr>
              <a:t>      labels:</a:t>
            </a:r>
          </a:p>
          <a:p>
            <a:pPr>
              <a:lnSpc>
                <a:spcPts val="1335"/>
              </a:lnSpc>
              <a:spcAft>
                <a:spcPts val="0"/>
              </a:spcAft>
            </a:pPr>
            <a:r>
              <a:rPr sz="1050">
                <a:solidFill>
                  <a:srgbClr val="E6EDF3"/>
                </a:solidFill>
                <a:latin typeface="Consolas"/>
              </a:rPr>
              <a:t>        app: berth-status</a:t>
            </a:r>
          </a:p>
          <a:p>
            <a:pPr>
              <a:lnSpc>
                <a:spcPts val="1335"/>
              </a:lnSpc>
              <a:spcAft>
                <a:spcPts val="0"/>
              </a:spcAft>
            </a:pPr>
            <a:r>
              <a:rPr sz="1050">
                <a:solidFill>
                  <a:srgbClr val="E6EDF3"/>
                </a:solidFill>
                <a:latin typeface="Consolas"/>
              </a:rPr>
              <a:t>        tier: edge</a:t>
            </a:r>
          </a:p>
          <a:p>
            <a:pPr>
              <a:lnSpc>
                <a:spcPts val="1335"/>
              </a:lnSpc>
              <a:spcAft>
                <a:spcPts val="0"/>
              </a:spcAft>
            </a:pPr>
            <a:r>
              <a:rPr sz="1050">
                <a:solidFill>
                  <a:srgbClr val="E6EDF3"/>
                </a:solidFill>
                <a:latin typeface="Consolas"/>
              </a:rPr>
              <a:t>        release: r24</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matchLabels and matchExpressions are ANDed</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All of them must hold. There is no OR at this level — you get OR only inside an In operator's value list.</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Exists takes no values</a:t>
            </a:r>
          </a:p>
        </p:txBody>
      </p:sp>
      <p:sp>
        <p:nvSpPr>
          <p:cNvPr id="17" name="TextBox 16"/>
          <p:cNvSpPr txBox="1"/>
          <p:nvPr/>
        </p:nvSpPr>
        <p:spPr>
          <a:xfrm>
            <a:off x="7973567" y="3612916"/>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release key must be present; its content is irrelevant. DoesNotExist is the complement and also takes no values.</a:t>
            </a:r>
          </a:p>
        </p:txBody>
      </p:sp>
      <p:sp>
        <p:nvSpPr>
          <p:cNvPr id="18" name="Oval 17"/>
          <p:cNvSpPr/>
          <p:nvPr/>
        </p:nvSpPr>
        <p:spPr>
          <a:xfrm>
            <a:off x="7626096" y="4279925"/>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6163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template labels must satisfy the selector</a:t>
            </a:r>
          </a:p>
        </p:txBody>
      </p:sp>
      <p:sp>
        <p:nvSpPr>
          <p:cNvPr id="20" name="TextBox 19"/>
          <p:cNvSpPr txBox="1"/>
          <p:nvPr/>
        </p:nvSpPr>
        <p:spPr>
          <a:xfrm>
            <a:off x="7973567" y="447842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Not the reverse. The selector may be a strict subset; a template missing 'release' would be rejected.</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.spec.selector is immutable on Deployments</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settable once. Getting the selector wrong is a delete-and-recreate, not an edit.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kubernetes.io/docs/concepts/workloads/controllers/replicaset/</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149</a:t>
            </a:r>
          </a:p>
        </p:txBody>
      </p:sp>
    </p:spTree>
  </p:cSld>
  <p:clrMapOvr>
    <a:masterClrMapping/>
  </p:clrMapOvr>
  <p:transition xmlns:ns1="http://schemas.openxmlformats.org/markup-compatibility/2006" spd="fast" ns1:Ignorable="p14">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TWO SELECTOR GRAMMARS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Equality-Based vs Set-Based Selection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2269374" cy="42062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905256" y="1837943"/>
            <a:ext cx="201334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8" name="Rectangle 7"/>
          <p:cNvSpPr/>
          <p:nvPr/>
        </p:nvSpPr>
        <p:spPr>
          <a:xfrm>
            <a:off x="3046614" y="1737360"/>
            <a:ext cx="3890356" cy="42062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3174630" y="1837943"/>
            <a:ext cx="36343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Equality-based</a:t>
            </a:r>
          </a:p>
        </p:txBody>
      </p:sp>
      <p:sp>
        <p:nvSpPr>
          <p:cNvPr id="10" name="Rectangle 9"/>
          <p:cNvSpPr/>
          <p:nvPr/>
        </p:nvSpPr>
        <p:spPr>
          <a:xfrm>
            <a:off x="6936970" y="1737360"/>
            <a:ext cx="4538749" cy="420624"/>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7064986" y="1837943"/>
            <a:ext cx="428271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Set-based</a:t>
            </a:r>
          </a:p>
        </p:txBody>
      </p:sp>
      <p:sp>
        <p:nvSpPr>
          <p:cNvPr id="12" name="Rectangle 11"/>
          <p:cNvSpPr/>
          <p:nvPr/>
        </p:nvSpPr>
        <p:spPr>
          <a:xfrm>
            <a:off x="777240" y="2157984"/>
            <a:ext cx="2269374" cy="566928"/>
          </a:xfrm>
          <a:prstGeom prst="rect">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905256" y="2240279"/>
            <a:ext cx="201334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Syntax on the CLI</a:t>
            </a:r>
          </a:p>
        </p:txBody>
      </p:sp>
      <p:sp>
        <p:nvSpPr>
          <p:cNvPr id="14" name="Rectangle 13"/>
          <p:cNvSpPr/>
          <p:nvPr/>
        </p:nvSpPr>
        <p:spPr>
          <a:xfrm>
            <a:off x="3046614" y="2157984"/>
            <a:ext cx="3890356" cy="566928"/>
          </a:xfrm>
          <a:prstGeom prst="rect">
            <a:avLst/>
          </a:prstGeom>
          <a:solidFill>
            <a:srgbClr val="FFFFFF"/>
          </a:solidFill>
          <a:ln w="9525">
            <a:solidFill>
              <a:srgbClr val="E2E8F0"/>
            </a:solidFill>
          </a:ln>
          <a:effectLst/>
        </p:spPr>
        <p:txBody>
          <a:bodyPr rtlCol="0" anchor="ctr" wrap="square"/>
          <a:lstStyle/>
          <a:p>
            <a:pPr algn="ctr"/>
          </a:p>
        </p:txBody>
      </p:sp>
      <p:sp>
        <p:nvSpPr>
          <p:cNvPr id="15" name="TextBox 14"/>
          <p:cNvSpPr txBox="1"/>
          <p:nvPr/>
        </p:nvSpPr>
        <p:spPr>
          <a:xfrm>
            <a:off x="3174630" y="2240279"/>
            <a:ext cx="36343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 app=tracking-api, -l env!=prod</a:t>
            </a:r>
          </a:p>
        </p:txBody>
      </p:sp>
      <p:sp>
        <p:nvSpPr>
          <p:cNvPr id="16" name="Rectangle 15"/>
          <p:cNvSpPr/>
          <p:nvPr/>
        </p:nvSpPr>
        <p:spPr>
          <a:xfrm>
            <a:off x="6936970" y="2157984"/>
            <a:ext cx="4538749" cy="566928"/>
          </a:xfrm>
          <a:prstGeom prst="rect">
            <a:avLst/>
          </a:prstGeom>
          <a:solidFill>
            <a:srgbClr val="FFFFFF"/>
          </a:solidFill>
          <a:ln w="9525">
            <a:solidFill>
              <a:srgbClr val="E2E8F0"/>
            </a:solidFill>
          </a:ln>
          <a:effectLst/>
        </p:spPr>
        <p:txBody>
          <a:bodyPr rtlCol="0" anchor="ctr" wrap="square"/>
          <a:lstStyle/>
          <a:p>
            <a:pPr algn="ctr"/>
          </a:p>
        </p:txBody>
      </p:sp>
      <p:sp>
        <p:nvSpPr>
          <p:cNvPr id="17" name="TextBox 16"/>
          <p:cNvSpPr txBox="1"/>
          <p:nvPr/>
        </p:nvSpPr>
        <p:spPr>
          <a:xfrm>
            <a:off x="7064986" y="2240279"/>
            <a:ext cx="428271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 'app in (a,b)', -l 'tier notin (experimental)', -l 'release', -l '!provenance'</a:t>
            </a:r>
          </a:p>
        </p:txBody>
      </p:sp>
      <p:sp>
        <p:nvSpPr>
          <p:cNvPr id="18" name="Rectangle 17"/>
          <p:cNvSpPr/>
          <p:nvPr/>
        </p:nvSpPr>
        <p:spPr>
          <a:xfrm>
            <a:off x="777240" y="2724912"/>
            <a:ext cx="2269374" cy="566928"/>
          </a:xfrm>
          <a:prstGeom prst="rect">
            <a:avLst/>
          </a:prstGeom>
          <a:solidFill>
            <a:srgbClr val="F6F8FA"/>
          </a:solidFill>
          <a:ln w="9525">
            <a:solidFill>
              <a:srgbClr val="E2E8F0"/>
            </a:solidFill>
          </a:ln>
          <a:effectLst/>
        </p:spPr>
        <p:txBody>
          <a:bodyPr rtlCol="0" anchor="ctr" wrap="square"/>
          <a:lstStyle/>
          <a:p>
            <a:pPr algn="ctr"/>
          </a:p>
        </p:txBody>
      </p:sp>
      <p:sp>
        <p:nvSpPr>
          <p:cNvPr id="19" name="TextBox 18"/>
          <p:cNvSpPr txBox="1"/>
          <p:nvPr/>
        </p:nvSpPr>
        <p:spPr>
          <a:xfrm>
            <a:off x="905256" y="2807208"/>
            <a:ext cx="201334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Operators</a:t>
            </a:r>
          </a:p>
        </p:txBody>
      </p:sp>
      <p:sp>
        <p:nvSpPr>
          <p:cNvPr id="20" name="Rectangle 19"/>
          <p:cNvSpPr/>
          <p:nvPr/>
        </p:nvSpPr>
        <p:spPr>
          <a:xfrm>
            <a:off x="3046614" y="2724912"/>
            <a:ext cx="3890356" cy="566928"/>
          </a:xfrm>
          <a:prstGeom prst="rect">
            <a:avLst/>
          </a:prstGeom>
          <a:solidFill>
            <a:srgbClr val="F6F8FA"/>
          </a:solidFill>
          <a:ln w="9525">
            <a:solidFill>
              <a:srgbClr val="E2E8F0"/>
            </a:solidFill>
          </a:ln>
          <a:effectLst/>
        </p:spPr>
        <p:txBody>
          <a:bodyPr rtlCol="0" anchor="ctr" wrap="square"/>
          <a:lstStyle/>
          <a:p>
            <a:pPr algn="ctr"/>
          </a:p>
        </p:txBody>
      </p:sp>
      <p:sp>
        <p:nvSpPr>
          <p:cNvPr id="21" name="TextBox 20"/>
          <p:cNvSpPr txBox="1"/>
          <p:nvPr/>
        </p:nvSpPr>
        <p:spPr>
          <a:xfrm>
            <a:off x="3174630" y="2807208"/>
            <a:ext cx="36343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 , == , !=</a:t>
            </a:r>
          </a:p>
        </p:txBody>
      </p:sp>
      <p:sp>
        <p:nvSpPr>
          <p:cNvPr id="22" name="Rectangle 21"/>
          <p:cNvSpPr/>
          <p:nvPr/>
        </p:nvSpPr>
        <p:spPr>
          <a:xfrm>
            <a:off x="6936970" y="2724912"/>
            <a:ext cx="4538749" cy="566928"/>
          </a:xfrm>
          <a:prstGeom prst="rect">
            <a:avLst/>
          </a:prstGeom>
          <a:solidFill>
            <a:srgbClr val="F6F8FA"/>
          </a:solidFill>
          <a:ln w="9525">
            <a:solidFill>
              <a:srgbClr val="E2E8F0"/>
            </a:solidFill>
          </a:ln>
          <a:effectLst/>
        </p:spPr>
        <p:txBody>
          <a:bodyPr rtlCol="0" anchor="ctr" wrap="square"/>
          <a:lstStyle/>
          <a:p>
            <a:pPr algn="ctr"/>
          </a:p>
        </p:txBody>
      </p:sp>
      <p:sp>
        <p:nvSpPr>
          <p:cNvPr id="23" name="TextBox 22"/>
          <p:cNvSpPr txBox="1"/>
          <p:nvPr/>
        </p:nvSpPr>
        <p:spPr>
          <a:xfrm>
            <a:off x="7064986" y="2807208"/>
            <a:ext cx="428271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 NotIn, Exists, DoesNotExist</a:t>
            </a:r>
          </a:p>
        </p:txBody>
      </p:sp>
      <p:sp>
        <p:nvSpPr>
          <p:cNvPr id="24" name="Rectangle 23"/>
          <p:cNvSpPr/>
          <p:nvPr/>
        </p:nvSpPr>
        <p:spPr>
          <a:xfrm>
            <a:off x="777240" y="3291839"/>
            <a:ext cx="2269374" cy="566928"/>
          </a:xfrm>
          <a:prstGeom prst="rect">
            <a:avLst/>
          </a:prstGeom>
          <a:solidFill>
            <a:srgbClr val="FFFFFF"/>
          </a:solidFill>
          <a:ln w="9525">
            <a:solidFill>
              <a:srgbClr val="E2E8F0"/>
            </a:solidFill>
          </a:ln>
          <a:effectLst/>
        </p:spPr>
        <p:txBody>
          <a:bodyPr rtlCol="0" anchor="ctr" wrap="square"/>
          <a:lstStyle/>
          <a:p>
            <a:pPr algn="ctr"/>
          </a:p>
        </p:txBody>
      </p:sp>
      <p:sp>
        <p:nvSpPr>
          <p:cNvPr id="25" name="TextBox 24"/>
          <p:cNvSpPr txBox="1"/>
          <p:nvPr/>
        </p:nvSpPr>
        <p:spPr>
          <a:xfrm>
            <a:off x="905256" y="3374135"/>
            <a:ext cx="201334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In API objects</a:t>
            </a:r>
          </a:p>
        </p:txBody>
      </p:sp>
      <p:sp>
        <p:nvSpPr>
          <p:cNvPr id="26" name="Rectangle 25"/>
          <p:cNvSpPr/>
          <p:nvPr/>
        </p:nvSpPr>
        <p:spPr>
          <a:xfrm>
            <a:off x="3046614" y="3291839"/>
            <a:ext cx="3890356" cy="566928"/>
          </a:xfrm>
          <a:prstGeom prst="rect">
            <a:avLst/>
          </a:prstGeom>
          <a:solidFill>
            <a:srgbClr val="FFFFFF"/>
          </a:solidFill>
          <a:ln w="9525">
            <a:solidFill>
              <a:srgbClr val="E2E8F0"/>
            </a:solidFill>
          </a:ln>
          <a:effectLst/>
        </p:spPr>
        <p:txBody>
          <a:bodyPr rtlCol="0" anchor="ctr" wrap="square"/>
          <a:lstStyle/>
          <a:p>
            <a:pPr algn="ctr"/>
          </a:p>
        </p:txBody>
      </p:sp>
      <p:sp>
        <p:nvSpPr>
          <p:cNvPr id="27" name="TextBox 26"/>
          <p:cNvSpPr txBox="1"/>
          <p:nvPr/>
        </p:nvSpPr>
        <p:spPr>
          <a:xfrm>
            <a:off x="3174630" y="3374135"/>
            <a:ext cx="36343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matchLabels — a plain map</a:t>
            </a:r>
          </a:p>
        </p:txBody>
      </p:sp>
      <p:sp>
        <p:nvSpPr>
          <p:cNvPr id="28" name="Rectangle 27"/>
          <p:cNvSpPr/>
          <p:nvPr/>
        </p:nvSpPr>
        <p:spPr>
          <a:xfrm>
            <a:off x="6936970" y="3291839"/>
            <a:ext cx="4538749" cy="566928"/>
          </a:xfrm>
          <a:prstGeom prst="rect">
            <a:avLst/>
          </a:prstGeom>
          <a:solidFill>
            <a:srgbClr val="FFFFFF"/>
          </a:solidFill>
          <a:ln w="9525">
            <a:solidFill>
              <a:srgbClr val="E2E8F0"/>
            </a:solidFill>
          </a:ln>
          <a:effectLst/>
        </p:spPr>
        <p:txBody>
          <a:bodyPr rtlCol="0" anchor="ctr" wrap="square"/>
          <a:lstStyle/>
          <a:p>
            <a:pPr algn="ctr"/>
          </a:p>
        </p:txBody>
      </p:sp>
      <p:sp>
        <p:nvSpPr>
          <p:cNvPr id="29" name="TextBox 28"/>
          <p:cNvSpPr txBox="1"/>
          <p:nvPr/>
        </p:nvSpPr>
        <p:spPr>
          <a:xfrm>
            <a:off x="7064986" y="3374135"/>
            <a:ext cx="428271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matchExpressions — a list of {key, operator, values}</a:t>
            </a:r>
          </a:p>
        </p:txBody>
      </p:sp>
      <p:sp>
        <p:nvSpPr>
          <p:cNvPr id="30" name="Rectangle 29"/>
          <p:cNvSpPr/>
          <p:nvPr/>
        </p:nvSpPr>
        <p:spPr>
          <a:xfrm>
            <a:off x="777240" y="3858768"/>
            <a:ext cx="2269374" cy="566928"/>
          </a:xfrm>
          <a:prstGeom prst="rect">
            <a:avLst/>
          </a:prstGeom>
          <a:solidFill>
            <a:srgbClr val="F6F8FA"/>
          </a:solidFill>
          <a:ln w="9525">
            <a:solidFill>
              <a:srgbClr val="E2E8F0"/>
            </a:solidFill>
          </a:ln>
          <a:effectLst/>
        </p:spPr>
        <p:txBody>
          <a:bodyPr rtlCol="0" anchor="ctr" wrap="square"/>
          <a:lstStyle/>
          <a:p>
            <a:pPr algn="ctr"/>
          </a:p>
        </p:txBody>
      </p:sp>
      <p:sp>
        <p:nvSpPr>
          <p:cNvPr id="31" name="TextBox 30"/>
          <p:cNvSpPr txBox="1"/>
          <p:nvPr/>
        </p:nvSpPr>
        <p:spPr>
          <a:xfrm>
            <a:off x="905256" y="3941063"/>
            <a:ext cx="201334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Supported by</a:t>
            </a:r>
          </a:p>
        </p:txBody>
      </p:sp>
      <p:sp>
        <p:nvSpPr>
          <p:cNvPr id="32" name="Rectangle 31"/>
          <p:cNvSpPr/>
          <p:nvPr/>
        </p:nvSpPr>
        <p:spPr>
          <a:xfrm>
            <a:off x="3046614" y="3858768"/>
            <a:ext cx="3890356" cy="566928"/>
          </a:xfrm>
          <a:prstGeom prst="rect">
            <a:avLst/>
          </a:prstGeom>
          <a:solidFill>
            <a:srgbClr val="F6F8FA"/>
          </a:solidFill>
          <a:ln w="9525">
            <a:solidFill>
              <a:srgbClr val="E2E8F0"/>
            </a:solidFill>
          </a:ln>
          <a:effectLst/>
        </p:spPr>
        <p:txBody>
          <a:bodyPr rtlCol="0" anchor="ctr" wrap="square"/>
          <a:lstStyle/>
          <a:p>
            <a:pPr algn="ctr"/>
          </a:p>
        </p:txBody>
      </p:sp>
      <p:sp>
        <p:nvSpPr>
          <p:cNvPr id="33" name="TextBox 32"/>
          <p:cNvSpPr txBox="1"/>
          <p:nvPr/>
        </p:nvSpPr>
        <p:spPr>
          <a:xfrm>
            <a:off x="3174630" y="3941063"/>
            <a:ext cx="36343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Everything, including legacy .spec.selector maps on Service and ReplicationController</a:t>
            </a:r>
          </a:p>
        </p:txBody>
      </p:sp>
      <p:sp>
        <p:nvSpPr>
          <p:cNvPr id="34" name="Rectangle 33"/>
          <p:cNvSpPr/>
          <p:nvPr/>
        </p:nvSpPr>
        <p:spPr>
          <a:xfrm>
            <a:off x="6936970" y="3858768"/>
            <a:ext cx="4538749" cy="566928"/>
          </a:xfrm>
          <a:prstGeom prst="rect">
            <a:avLst/>
          </a:prstGeom>
          <a:solidFill>
            <a:srgbClr val="F6F8FA"/>
          </a:solidFill>
          <a:ln w="9525">
            <a:solidFill>
              <a:srgbClr val="E2E8F0"/>
            </a:solidFill>
          </a:ln>
          <a:effectLst/>
        </p:spPr>
        <p:txBody>
          <a:bodyPr rtlCol="0" anchor="ctr" wrap="square"/>
          <a:lstStyle/>
          <a:p>
            <a:pPr algn="ctr"/>
          </a:p>
        </p:txBody>
      </p:sp>
      <p:sp>
        <p:nvSpPr>
          <p:cNvPr id="35" name="TextBox 34"/>
          <p:cNvSpPr txBox="1"/>
          <p:nvPr/>
        </p:nvSpPr>
        <p:spPr>
          <a:xfrm>
            <a:off x="7064986" y="3941063"/>
            <a:ext cx="428271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Job, Deployment, ReplicaSet, DaemonSet, NetworkPolicy — not by Service selectors</a:t>
            </a:r>
          </a:p>
        </p:txBody>
      </p:sp>
      <p:sp>
        <p:nvSpPr>
          <p:cNvPr id="36" name="Rectangle 35"/>
          <p:cNvSpPr/>
          <p:nvPr/>
        </p:nvSpPr>
        <p:spPr>
          <a:xfrm>
            <a:off x="777240" y="4425696"/>
            <a:ext cx="2269374" cy="566928"/>
          </a:xfrm>
          <a:prstGeom prst="rect">
            <a:avLst/>
          </a:prstGeom>
          <a:solidFill>
            <a:srgbClr val="FFFFFF"/>
          </a:solidFill>
          <a:ln w="9525">
            <a:solidFill>
              <a:srgbClr val="E2E8F0"/>
            </a:solidFill>
          </a:ln>
          <a:effectLst/>
        </p:spPr>
        <p:txBody>
          <a:bodyPr rtlCol="0" anchor="ctr" wrap="square"/>
          <a:lstStyle/>
          <a:p>
            <a:pPr algn="ctr"/>
          </a:p>
        </p:txBody>
      </p:sp>
      <p:sp>
        <p:nvSpPr>
          <p:cNvPr id="37" name="TextBox 36"/>
          <p:cNvSpPr txBox="1"/>
          <p:nvPr/>
        </p:nvSpPr>
        <p:spPr>
          <a:xfrm>
            <a:off x="905256" y="4507992"/>
            <a:ext cx="2013342"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Shell trap</a:t>
            </a:r>
          </a:p>
        </p:txBody>
      </p:sp>
      <p:sp>
        <p:nvSpPr>
          <p:cNvPr id="38" name="Rectangle 37"/>
          <p:cNvSpPr/>
          <p:nvPr/>
        </p:nvSpPr>
        <p:spPr>
          <a:xfrm>
            <a:off x="3046614" y="4425696"/>
            <a:ext cx="3890356" cy="566928"/>
          </a:xfrm>
          <a:prstGeom prst="rect">
            <a:avLst/>
          </a:prstGeom>
          <a:solidFill>
            <a:srgbClr val="FFFFFF"/>
          </a:solidFill>
          <a:ln w="9525">
            <a:solidFill>
              <a:srgbClr val="E2E8F0"/>
            </a:solidFill>
          </a:ln>
          <a:effectLst/>
        </p:spPr>
        <p:txBody>
          <a:bodyPr rtlCol="0" anchor="ctr" wrap="square"/>
          <a:lstStyle/>
          <a:p>
            <a:pPr algn="ctr"/>
          </a:p>
        </p:txBody>
      </p:sp>
      <p:sp>
        <p:nvSpPr>
          <p:cNvPr id="39" name="TextBox 38"/>
          <p:cNvSpPr txBox="1"/>
          <p:nvPr/>
        </p:nvSpPr>
        <p:spPr>
          <a:xfrm>
            <a:off x="3174630" y="4507992"/>
            <a:ext cx="3634324"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Usually safe unquoted</a:t>
            </a:r>
          </a:p>
        </p:txBody>
      </p:sp>
      <p:sp>
        <p:nvSpPr>
          <p:cNvPr id="40" name="Rectangle 39"/>
          <p:cNvSpPr/>
          <p:nvPr/>
        </p:nvSpPr>
        <p:spPr>
          <a:xfrm>
            <a:off x="6936970" y="4425696"/>
            <a:ext cx="4538749" cy="566928"/>
          </a:xfrm>
          <a:prstGeom prst="rect">
            <a:avLst/>
          </a:prstGeom>
          <a:solidFill>
            <a:srgbClr val="FFFFFF"/>
          </a:solidFill>
          <a:ln w="9525">
            <a:solidFill>
              <a:srgbClr val="E2E8F0"/>
            </a:solidFill>
          </a:ln>
          <a:effectLst/>
        </p:spPr>
        <p:txBody>
          <a:bodyPr rtlCol="0" anchor="ctr" wrap="square"/>
          <a:lstStyle/>
          <a:p>
            <a:pPr algn="ctr"/>
          </a:p>
        </p:txBody>
      </p:sp>
      <p:sp>
        <p:nvSpPr>
          <p:cNvPr id="41" name="TextBox 40"/>
          <p:cNvSpPr txBox="1"/>
          <p:nvPr/>
        </p:nvSpPr>
        <p:spPr>
          <a:xfrm>
            <a:off x="7064986" y="4507992"/>
            <a:ext cx="428271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Must be single-quoted: the shell eats ( ) and !</a:t>
            </a:r>
          </a:p>
        </p:txBody>
      </p:sp>
      <p:sp>
        <p:nvSpPr>
          <p:cNvPr id="42" name="Rectangle 41"/>
          <p:cNvSpPr/>
          <p:nvPr/>
        </p:nvSpPr>
        <p:spPr>
          <a:xfrm>
            <a:off x="777240" y="5175504"/>
            <a:ext cx="10698480" cy="566928"/>
          </a:xfrm>
          <a:prstGeom prst="rect">
            <a:avLst/>
          </a:prstGeom>
          <a:solidFill>
            <a:srgbClr val="E8F7EE"/>
          </a:solidFill>
          <a:ln>
            <a:noFill/>
          </a:ln>
          <a:effectLst/>
        </p:spPr>
        <p:txBody>
          <a:bodyPr rtlCol="0" anchor="ctr" wrap="square"/>
          <a:lstStyle/>
          <a:p>
            <a:pPr algn="ctr"/>
          </a:p>
        </p:txBody>
      </p:sp>
      <p:sp>
        <p:nvSpPr>
          <p:cNvPr id="43" name="Rectangle 42"/>
          <p:cNvSpPr/>
          <p:nvPr/>
        </p:nvSpPr>
        <p:spPr>
          <a:xfrm>
            <a:off x="777240" y="5175504"/>
            <a:ext cx="50292" cy="566928"/>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996695" y="523036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5" name="TextBox 44"/>
          <p:cNvSpPr txBox="1"/>
          <p:nvPr/>
        </p:nvSpPr>
        <p:spPr>
          <a:xfrm>
            <a:off x="996695" y="54315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Set-based when you need absence, ranges or exclusion; equality-based for the common single-key case.</a:t>
            </a:r>
          </a:p>
        </p:txBody>
      </p:sp>
      <p:sp>
        <p:nvSpPr>
          <p:cNvPr id="46" name="TextBox 4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kubernetes.io/docs/concepts/overview/working-with-objects/labels/</a:t>
            </a:r>
          </a:p>
        </p:txBody>
      </p:sp>
      <p:sp>
        <p:nvSpPr>
          <p:cNvPr id="47" name="TextBox 4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8" name="TextBox 4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9" name="TextBox 4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150</a:t>
            </a:r>
          </a:p>
        </p:txBody>
      </p:sp>
    </p:spTree>
  </p:cSld>
  <p:clrMapOvr>
    <a:masterClrMapping/>
  </p:clrMapOvr>
  <p:transition xmlns:ns1="http://schemas.openxmlformats.org/markup-compatibility/2006" spd="fast" ns1:Ignorable="p14">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Adoption Made Visible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Nothing here was configured to be adopted. The label query alone decided it.</a:t>
            </a:r>
          </a:p>
        </p:txBody>
      </p:sp>
      <p:sp>
        <p:nvSpPr>
          <p:cNvPr id="7" name="Rectangle 6"/>
          <p:cNvSpPr/>
          <p:nvPr/>
        </p:nvSpPr>
        <p:spPr>
          <a:xfrm>
            <a:off x="777240" y="2200046"/>
            <a:ext cx="690372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06 — captured on the isolated kind cluster</a:t>
            </a:r>
          </a:p>
        </p:txBody>
      </p:sp>
      <p:sp>
        <p:nvSpPr>
          <p:cNvPr id="9" name="TextBox 8"/>
          <p:cNvSpPr txBox="1"/>
          <p:nvPr/>
        </p:nvSpPr>
        <p:spPr>
          <a:xfrm>
            <a:off x="923544" y="2620670"/>
            <a:ext cx="6611112" cy="224942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pods -n kcna-lab06 -l app=tracking-api \</a:t>
            </a:r>
          </a:p>
          <a:p>
            <a:pPr>
              <a:lnSpc>
                <a:spcPts val="1476"/>
              </a:lnSpc>
              <a:spcAft>
                <a:spcPts val="0"/>
              </a:spcAft>
            </a:pPr>
            <a:r>
              <a:rPr sz="1000">
                <a:solidFill>
                  <a:srgbClr val="E6EDF3"/>
                </a:solidFill>
                <a:latin typeface="Consolas"/>
              </a:rPr>
              <a:t>    -L provenance,tier,release</a:t>
            </a:r>
          </a:p>
          <a:p>
            <a:pPr>
              <a:lnSpc>
                <a:spcPts val="1476"/>
              </a:lnSpc>
              <a:spcAft>
                <a:spcPts val="0"/>
              </a:spcAft>
            </a:pPr>
            <a:r>
              <a:rPr sz="1000">
                <a:solidFill>
                  <a:srgbClr val="E6EDF3"/>
                </a:solidFill>
                <a:latin typeface="Consolas"/>
              </a:rPr>
              <a:t>NAME                   READY  STATUS   AGE  PROVENANCE     TIER  RELEASE</a:t>
            </a:r>
          </a:p>
          <a:p>
            <a:pPr>
              <a:lnSpc>
                <a:spcPts val="1476"/>
              </a:lnSpc>
              <a:spcAft>
                <a:spcPts val="0"/>
              </a:spcAft>
            </a:pPr>
            <a:r>
              <a:rPr sz="1000">
                <a:solidFill>
                  <a:srgbClr val="E6EDF3"/>
                </a:solidFill>
                <a:latin typeface="Consolas"/>
              </a:rPr>
              <a:t>tracking-api-4m2ql     1/1    Running  41s  replicaset     edge  r24</a:t>
            </a:r>
          </a:p>
          <a:p>
            <a:pPr>
              <a:lnSpc>
                <a:spcPts val="1476"/>
              </a:lnSpc>
              <a:spcAft>
                <a:spcPts val="0"/>
              </a:spcAft>
            </a:pPr>
            <a:r>
              <a:rPr sz="1000">
                <a:solidFill>
                  <a:srgbClr val="E6EDF3"/>
                </a:solidFill>
                <a:latin typeface="Consolas"/>
              </a:rPr>
              <a:t>tracking-api-legacy    1/1    Running  3m   hand-created   edge  r24</a:t>
            </a:r>
          </a:p>
          <a:p>
            <a:pPr>
              <a:lnSpc>
                <a:spcPts val="1476"/>
              </a:lnSpc>
              <a:spcAft>
                <a:spcPts val="0"/>
              </a:spcAft>
            </a:pPr>
            <a:r>
              <a:rPr sz="1000">
                <a:solidFill>
                  <a:srgbClr val="E6EDF3"/>
                </a:solidFill>
                <a:latin typeface="Consolas"/>
              </a:rPr>
              <a:t>tracking-api-x7ntb     1/1    Running  41s  replicaset     edge  r24</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 tracking-api-legacy -n kcna-lab06 \</a:t>
            </a:r>
          </a:p>
          <a:p>
            <a:pPr>
              <a:lnSpc>
                <a:spcPts val="1476"/>
              </a:lnSpc>
              <a:spcAft>
                <a:spcPts val="0"/>
              </a:spcAft>
            </a:pPr>
            <a:r>
              <a:rPr sz="1000">
                <a:solidFill>
                  <a:srgbClr val="E6EDF3"/>
                </a:solidFill>
                <a:latin typeface="Consolas"/>
              </a:rPr>
              <a:t>    -o jsonpath='{.metadata.ownerReferences[0].kind}/'\</a:t>
            </a:r>
          </a:p>
          <a:p>
            <a:pPr>
              <a:lnSpc>
                <a:spcPts val="1476"/>
              </a:lnSpc>
              <a:spcAft>
                <a:spcPts val="0"/>
              </a:spcAft>
            </a:pPr>
            <a:r>
              <a:rPr sz="1000">
                <a:solidFill>
                  <a:srgbClr val="E6EDF3"/>
                </a:solidFill>
                <a:latin typeface="Consolas"/>
              </a:rPr>
              <a:t>'{.metadata.ownerReferences[0].name} '\</a:t>
            </a:r>
          </a:p>
          <a:p>
            <a:pPr>
              <a:lnSpc>
                <a:spcPts val="1476"/>
              </a:lnSpc>
              <a:spcAft>
                <a:spcPts val="0"/>
              </a:spcAft>
            </a:pPr>
            <a:r>
              <a:rPr sz="1000">
                <a:solidFill>
                  <a:srgbClr val="E6EDF3"/>
                </a:solidFill>
                <a:latin typeface="Consolas"/>
              </a:rPr>
              <a:t>'controller={.metadata.ownerReferences[0].controller}'</a:t>
            </a:r>
          </a:p>
          <a:p>
            <a:pPr>
              <a:lnSpc>
                <a:spcPts val="1476"/>
              </a:lnSpc>
              <a:spcAft>
                <a:spcPts val="0"/>
              </a:spcAft>
            </a:pPr>
            <a:r>
              <a:rPr sz="1000">
                <a:solidFill>
                  <a:srgbClr val="E6EDF3"/>
                </a:solidFill>
                <a:latin typeface="Consolas"/>
              </a:rPr>
              <a:t>ReplicaSet/tracking-api controller=true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replicas: 3 created only two Pods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hand-made Pod already matched the selector, so the controller counted it and made up the difference.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 prints a label as a column</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provenance was set by hand on the legacy Pod and by the template on the other two. Same selector, different origin.</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Adoption rewrites ownerReferences</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pre-existing Pod now has controller=true pointing at the ReplicaSet. Nothing about the Pod's spec changed.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Consequence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Any Pod that matches an active selector will be claimed. A careless label is a production incident.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151</a:t>
            </a:r>
          </a:p>
        </p:txBody>
      </p:sp>
    </p:spTree>
  </p:cSld>
  <p:clrMapOvr>
    <a:masterClrMapping/>
  </p:clrMapOvr>
  <p:transition xmlns:ns1="http://schemas.openxmlformats.org/markup-compatibility/2006" spd="fast" ns1:Ignorable="p14">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ReplicaSet Closes the Gap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steps, repeated forever. Step two is the one people forget exists.</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List by selector</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Query the Pod cache for everything matching .spec.selector in this namespace — regardless of who created it.</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Claim or release</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Matching orphans are adopted (ownerReference added). Owned Pods that no longer match are released.</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Count active</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Pods being deleted, or already Failed/Succeeded, do not count toward the replica total.</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Create or delete</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Too few: create from .spec.template. Too many: delete, preferring Pods that are unready, newer or on crowded nodes.</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 ReplicaSet never tracks Pods by name. It re-runs the label query every pass, which is precisely why relabelling a Pod out of the selector triggers a replacement.</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kubernetes.io/docs/concepts/workloads/controllers/replicaset/</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152</a:t>
            </a:r>
          </a:p>
        </p:txBody>
      </p:sp>
    </p:spTree>
  </p:cSld>
  <p:clrMapOvr>
    <a:masterClrMapping/>
  </p:clrMapOvr>
  <p:transition xmlns:ns4="http://schemas.openxmlformats.org/markup-compatibility/2006" spd="fast" ns4:Ignorable="p14">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Orphaning by Relabelling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kubectl label command, two consequences: a Pod leaves the controller's world and a new Pod enters it.</a:t>
            </a:r>
          </a:p>
        </p:txBody>
      </p:sp>
      <p:sp>
        <p:nvSpPr>
          <p:cNvPr id="7" name="Rectangle 6"/>
          <p:cNvSpPr/>
          <p:nvPr/>
        </p:nvSpPr>
        <p:spPr>
          <a:xfrm>
            <a:off x="777240" y="2200046"/>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06 — captured on the isolated kind cluster</a:t>
            </a:r>
          </a:p>
        </p:txBody>
      </p:sp>
      <p:sp>
        <p:nvSpPr>
          <p:cNvPr id="9" name="TextBox 8"/>
          <p:cNvSpPr txBox="1"/>
          <p:nvPr/>
        </p:nvSpPr>
        <p:spPr>
          <a:xfrm>
            <a:off x="923544" y="2620670"/>
            <a:ext cx="6611112" cy="2436876"/>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label pod tracking-api-legacy -n kcna-lab06 \</a:t>
            </a:r>
          </a:p>
          <a:p>
            <a:pPr>
              <a:lnSpc>
                <a:spcPts val="1476"/>
              </a:lnSpc>
              <a:spcAft>
                <a:spcPts val="0"/>
              </a:spcAft>
            </a:pPr>
            <a:r>
              <a:rPr sz="1000">
                <a:solidFill>
                  <a:srgbClr val="E6EDF3"/>
                </a:solidFill>
                <a:latin typeface="Consolas"/>
              </a:rPr>
              <a:t>    tier=quarantine --overwrite</a:t>
            </a:r>
          </a:p>
          <a:p>
            <a:pPr>
              <a:lnSpc>
                <a:spcPts val="1476"/>
              </a:lnSpc>
              <a:spcAft>
                <a:spcPts val="0"/>
              </a:spcAft>
            </a:pPr>
            <a:r>
              <a:rPr sz="1000">
                <a:solidFill>
                  <a:srgbClr val="E6EDF3"/>
                </a:solidFill>
                <a:latin typeface="Consolas"/>
              </a:rPr>
              <a:t>pod/tracking-api-legacy labeled</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 tracking-api-legacy -n kcna-lab06 \</a:t>
            </a:r>
          </a:p>
          <a:p>
            <a:pPr>
              <a:lnSpc>
                <a:spcPts val="1476"/>
              </a:lnSpc>
              <a:spcAft>
                <a:spcPts val="0"/>
              </a:spcAft>
            </a:pPr>
            <a:r>
              <a:rPr sz="1000">
                <a:solidFill>
                  <a:srgbClr val="E6EDF3"/>
                </a:solidFill>
                <a:latin typeface="Consolas"/>
              </a:rPr>
              <a:t>    -o jsonpath='{.metadata.ownerReferences}'</a:t>
            </a:r>
          </a:p>
          <a:p>
            <a:pPr>
              <a:lnSpc>
                <a:spcPts val="1476"/>
              </a:lnSpc>
              <a:spcAft>
                <a:spcPts val="0"/>
              </a:spcAft>
            </a:pPr>
            <a:r>
              <a:rPr sz="1000">
                <a:solidFill>
                  <a:srgbClr val="E6EDF3"/>
                </a:solidFill>
                <a:latin typeface="Consolas"/>
              </a:rPr>
              <a: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pods -n kcna-lab06 -l app=tracking-api</a:t>
            </a:r>
          </a:p>
          <a:p>
            <a:pPr>
              <a:lnSpc>
                <a:spcPts val="1476"/>
              </a:lnSpc>
              <a:spcAft>
                <a:spcPts val="0"/>
              </a:spcAft>
            </a:pPr>
            <a:r>
              <a:rPr sz="1000">
                <a:solidFill>
                  <a:srgbClr val="E6EDF3"/>
                </a:solidFill>
                <a:latin typeface="Consolas"/>
              </a:rPr>
              <a:t>NAME                  READY   STATUS    RESTARTS   AGE</a:t>
            </a:r>
          </a:p>
          <a:p>
            <a:pPr>
              <a:lnSpc>
                <a:spcPts val="1476"/>
              </a:lnSpc>
              <a:spcAft>
                <a:spcPts val="0"/>
              </a:spcAft>
            </a:pPr>
            <a:r>
              <a:rPr sz="1000">
                <a:solidFill>
                  <a:srgbClr val="E6EDF3"/>
                </a:solidFill>
                <a:latin typeface="Consolas"/>
              </a:rPr>
              <a:t>tracking-api-4m2ql    1/1     Running   0          4m</a:t>
            </a:r>
          </a:p>
          <a:p>
            <a:pPr>
              <a:lnSpc>
                <a:spcPts val="1476"/>
              </a:lnSpc>
              <a:spcAft>
                <a:spcPts val="0"/>
              </a:spcAft>
            </a:pPr>
            <a:r>
              <a:rPr sz="1000">
                <a:solidFill>
                  <a:srgbClr val="E6EDF3"/>
                </a:solidFill>
                <a:latin typeface="Consolas"/>
              </a:rPr>
              <a:t>tracking-api-9kdd8    1/1     Running   0          2s</a:t>
            </a:r>
          </a:p>
          <a:p>
            <a:pPr>
              <a:lnSpc>
                <a:spcPts val="1476"/>
              </a:lnSpc>
              <a:spcAft>
                <a:spcPts val="0"/>
              </a:spcAft>
            </a:pPr>
            <a:r>
              <a:rPr sz="1000">
                <a:solidFill>
                  <a:srgbClr val="E6EDF3"/>
                </a:solidFill>
                <a:latin typeface="Consolas"/>
              </a:rPr>
              <a:t>tracking-api-x7ntb    1/1     Running   0          4m</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ownerReferences is now []</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Pod stopped matching {app, tier=edge}, so the controller released it rather than deleting it.</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released Pod keeps running</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Release is not eviction. tracking-api-legacy is still Running — it is simply unmanaged now.</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 replacement appeared in 2 seconds</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count of matching Pods fell to 2 against replicas: 3, so the loop created tracking-api-9kdd8.</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Both effects come from one edit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One label change caused both an orphan and a creation. This is the whole labels-are-load-bearing lesson.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153</a:t>
            </a:r>
          </a:p>
        </p:txBody>
      </p:sp>
    </p:spTree>
  </p:cSld>
  <p:clrMapOvr>
    <a:masterClrMapping/>
  </p:clrMapOvr>
  <p:transition xmlns:ns1="http://schemas.openxmlformats.org/markup-compatibility/2006" spd="fast" ns1:Ignorable="p14">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Selector and Template Labels That Disagree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API server refuses to create a controller that could never converge. This is a guard rail, not a bug.</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kubectl apply is rejected outright — no ReplicaSet is created and no Pod is ever attempted.</a:t>
            </a:r>
          </a:p>
        </p:txBody>
      </p:sp>
      <p:sp>
        <p:nvSpPr>
          <p:cNvPr id="11" name="Rectangle 10"/>
          <p:cNvSpPr/>
          <p:nvPr/>
        </p:nvSpPr>
        <p:spPr>
          <a:xfrm>
            <a:off x="777240" y="2913278"/>
            <a:ext cx="6172200" cy="1879091"/>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312163"/>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50-replicaset-broken-selector.yaml</a:t>
            </a:r>
          </a:p>
          <a:p>
            <a:pPr>
              <a:lnSpc>
                <a:spcPts val="1476"/>
              </a:lnSpc>
              <a:spcAft>
                <a:spcPts val="0"/>
              </a:spcAft>
            </a:pPr>
            <a:r>
              <a:rPr sz="950">
                <a:solidFill>
                  <a:srgbClr val="E6EDF3"/>
                </a:solidFill>
                <a:latin typeface="Consolas"/>
              </a:rPr>
              <a:t>The ReplicaSet "cargo-manifest-broken" is invalid:</a:t>
            </a:r>
          </a:p>
          <a:p>
            <a:pPr>
              <a:lnSpc>
                <a:spcPts val="1476"/>
              </a:lnSpc>
              <a:spcAft>
                <a:spcPts val="0"/>
              </a:spcAft>
            </a:pPr>
            <a:r>
              <a:rPr sz="950">
                <a:solidFill>
                  <a:srgbClr val="E6EDF3"/>
                </a:solidFill>
                <a:latin typeface="Consolas"/>
              </a:rPr>
              <a:t>spec.template.metadata.labels: Invalid value:</a:t>
            </a:r>
          </a:p>
          <a:p>
            <a:pPr>
              <a:lnSpc>
                <a:spcPts val="1476"/>
              </a:lnSpc>
              <a:spcAft>
                <a:spcPts val="0"/>
              </a:spcAft>
            </a:pPr>
            <a:r>
              <a:rPr sz="950">
                <a:solidFill>
                  <a:srgbClr val="E6EDF3"/>
                </a:solidFill>
                <a:latin typeface="Consolas"/>
              </a:rPr>
              <a:t>map[string]string{"app":"cargo-manifest",</a:t>
            </a:r>
          </a:p>
          <a:p>
            <a:pPr>
              <a:lnSpc>
                <a:spcPts val="1476"/>
              </a:lnSpc>
              <a:spcAft>
                <a:spcPts val="0"/>
              </a:spcAft>
            </a:pPr>
            <a:r>
              <a:rPr sz="950">
                <a:solidFill>
                  <a:srgbClr val="E6EDF3"/>
                </a:solidFill>
                <a:latin typeface="Consolas"/>
              </a:rPr>
              <a:t>"env":"staging", "release":"r24",</a:t>
            </a:r>
          </a:p>
          <a:p>
            <a:pPr>
              <a:lnSpc>
                <a:spcPts val="1476"/>
              </a:lnSpc>
              <a:spcAft>
                <a:spcPts val="0"/>
              </a:spcAft>
            </a:pPr>
            <a:r>
              <a:rPr sz="950">
                <a:solidFill>
                  <a:srgbClr val="E6EDF3"/>
                </a:solidFill>
                <a:latin typeface="Consolas"/>
              </a:rPr>
              <a:t>"tier":"internal"}: `selector` does not match</a:t>
            </a:r>
          </a:p>
          <a:p>
            <a:pPr>
              <a:lnSpc>
                <a:spcPts val="1476"/>
              </a:lnSpc>
              <a:spcAft>
                <a:spcPts val="0"/>
              </a:spcAft>
            </a:pPr>
            <a:r>
              <a:rPr sz="950">
                <a:solidFill>
                  <a:srgbClr val="E6EDF3"/>
                </a:solidFill>
                <a:latin typeface="Consolas"/>
              </a:rPr>
              <a:t>template `labels`</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selector required tier=edge but the template stamps tier=internal onto every Pod it makes.</a:t>
            </a:r>
          </a:p>
          <a:p>
            <a:pPr>
              <a:lnSpc>
                <a:spcPct val="112000"/>
              </a:lnSpc>
              <a:spcAft>
                <a:spcPts val="200"/>
              </a:spcAft>
            </a:pPr>
            <a:r>
              <a:rPr sz="950">
                <a:solidFill>
                  <a:srgbClr val="94A3B8"/>
                </a:solidFill>
                <a:latin typeface="Arial"/>
              </a:rPr>
              <a:t>•  </a:t>
            </a:r>
            <a:r>
              <a:rPr sz="950">
                <a:solidFill>
                  <a:srgbClr val="5B6372"/>
                </a:solidFill>
                <a:latin typeface="Arial"/>
              </a:rPr>
              <a:t>Without the guard the ReplicaSet would create a Pod, fail to see it, create another — an infinite Pod loop.</a:t>
            </a:r>
          </a:p>
          <a:p>
            <a:pPr>
              <a:lnSpc>
                <a:spcPct val="112000"/>
              </a:lnSpc>
              <a:spcAft>
                <a:spcPts val="200"/>
              </a:spcAft>
            </a:pPr>
            <a:r>
              <a:rPr sz="950">
                <a:solidFill>
                  <a:srgbClr val="94A3B8"/>
                </a:solidFill>
                <a:latin typeface="Arial"/>
              </a:rPr>
              <a:t>•  </a:t>
            </a:r>
            <a:r>
              <a:rPr sz="950">
                <a:solidFill>
                  <a:srgbClr val="5B6372"/>
                </a:solidFill>
                <a:latin typeface="Arial"/>
              </a:rPr>
              <a:t>Validation is synchronous in the API server, so nothing is partially created.</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Make the selector a subset of the template labels — every selector key must appear with the same value in the template.</a:t>
            </a:r>
          </a:p>
          <a:p>
            <a:pPr>
              <a:lnSpc>
                <a:spcPct val="112000"/>
              </a:lnSpc>
              <a:spcAft>
                <a:spcPts val="200"/>
              </a:spcAft>
            </a:pPr>
            <a:r>
              <a:rPr sz="950">
                <a:solidFill>
                  <a:srgbClr val="94A3B8"/>
                </a:solidFill>
                <a:latin typeface="Arial"/>
              </a:rPr>
              <a:t>•  </a:t>
            </a:r>
            <a:r>
              <a:rPr sz="950">
                <a:solidFill>
                  <a:srgbClr val="5B6372"/>
                </a:solidFill>
                <a:latin typeface="Arial"/>
              </a:rPr>
              <a:t>Read the message backwards: it prints the *template* labels and tells you the selector does not match them.</a:t>
            </a:r>
          </a:p>
          <a:p>
            <a:pPr>
              <a:lnSpc>
                <a:spcPct val="112000"/>
              </a:lnSpc>
              <a:spcAft>
                <a:spcPts val="200"/>
              </a:spcAft>
            </a:pPr>
            <a:r>
              <a:rPr sz="950">
                <a:solidFill>
                  <a:srgbClr val="94A3B8"/>
                </a:solidFill>
                <a:latin typeface="Arial"/>
              </a:rPr>
              <a:t>•  </a:t>
            </a:r>
            <a:r>
              <a:rPr sz="950">
                <a:solidFill>
                  <a:srgbClr val="5B6372"/>
                </a:solidFill>
                <a:latin typeface="Arial"/>
              </a:rPr>
              <a:t>Generate the pair with kubectl create ... --dry-run=client -o yaml so they cannot drift by hand.</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apply --dry-run=server catches this before it reaches a real cluster</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154</a:t>
            </a:r>
          </a:p>
        </p:txBody>
      </p:sp>
    </p:spTree>
  </p:cSld>
  <p:clrMapOvr>
    <a:masterClrMapping/>
  </p:clrMapOvr>
  <p:transition xmlns:ns1="http://schemas.openxmlformats.org/markup-compatibility/2006" spd="fast" ns1:Ignorable="p14">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CONVENTION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Recommended Labels — and Why They Exist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app.kubernetes.io/name</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application itself, e.g. freight-portal</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app.kubernetes.io/instance</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unique name for this deployment of it</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app.kubernetes.io/version</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current app version or image tag</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app.kubernetes.io/component</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Role within the architecture, e.g. database, cache</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app.kubernetes.io/part-of</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higher-level product this belongs to</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app.kubernetes.io/managed-by</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Tool driving the change, e.g. Helm, Flux, Argo CD</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pod-template-hash</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Added by the Deployment controller — do not set it yourself</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kubernetes.io/metadata.name</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Auto-added to every Namespace; used by NetworkPolicy on Day 3</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controller-revision-hash</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Added by DaemonSet and StatefulSet for revision tracking</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Why standardise</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Dashboards, cost tooling and policy engines query these keys across teams</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What not to encode</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Anything over 63 characters, or that changes per request</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Sanity rule</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If a human will never select on it, make it an annotation</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kubernetes.io/docs/concepts/overview/working-with-objects/labels/</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155</a:t>
            </a:r>
          </a:p>
        </p:txBody>
      </p:sp>
    </p:spTree>
  </p:cSld>
  <p:clrMapOvr>
    <a:masterClrMapping/>
  </p:clrMapOvr>
  <p:transition xmlns:ns1="http://schemas.openxmlformats.org/markup-compatibility/2006" spd="fast" ns1:Ignorable="p14">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06 — Labels, Selectors and ReplicaSets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Use labels and selectors as the binding mechanism between controllers and Pods, and prove it by watching a ReplicaSet adopt a hand-created Pod and replace one you relabel out of its selector.</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tracking-api ReplicaSet (matchLabels) that adopts an existing Pod instead of creating a third replica</a:t>
            </a:r>
          </a:p>
          <a:p>
            <a:pPr>
              <a:lnSpc>
                <a:spcPct val="112000"/>
              </a:lnSpc>
              <a:spcAft>
                <a:spcPts val="500"/>
              </a:spcAft>
            </a:pPr>
            <a:r>
              <a:rPr sz="1050">
                <a:solidFill>
                  <a:srgbClr val="94A3B8"/>
                </a:solidFill>
                <a:latin typeface="Arial"/>
              </a:rPr>
              <a:t>•  </a:t>
            </a:r>
            <a:r>
              <a:rPr sz="1050">
                <a:solidFill>
                  <a:srgbClr val="5B6372"/>
                </a:solidFill>
                <a:latin typeface="Arial"/>
              </a:rPr>
              <a:t>A berth-status ReplicaSet driven by matchExpressions using In, NotIn and Exists</a:t>
            </a:r>
          </a:p>
          <a:p>
            <a:pPr>
              <a:lnSpc>
                <a:spcPct val="112000"/>
              </a:lnSpc>
              <a:spcAft>
                <a:spcPts val="500"/>
              </a:spcAft>
            </a:pPr>
            <a:r>
              <a:rPr sz="1050">
                <a:solidFill>
                  <a:srgbClr val="94A3B8"/>
                </a:solidFill>
                <a:latin typeface="Arial"/>
              </a:rPr>
              <a:t>•  </a:t>
            </a:r>
            <a:r>
              <a:rPr sz="1050">
                <a:solidFill>
                  <a:srgbClr val="5B6372"/>
                </a:solidFill>
                <a:latin typeface="Arial"/>
              </a:rPr>
              <a:t>A label-audit Pod that reads the MFS service inventory and prints the standard label set</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Labels are the only binding between a controller and its Pods - there are no object references</a:t>
            </a:r>
          </a:p>
          <a:p>
            <a:pPr>
              <a:lnSpc>
                <a:spcPct val="112000"/>
              </a:lnSpc>
              <a:spcAft>
                <a:spcPts val="500"/>
              </a:spcAft>
            </a:pPr>
            <a:r>
              <a:rPr sz="1050">
                <a:solidFill>
                  <a:srgbClr val="94A3B8"/>
                </a:solidFill>
                <a:latin typeface="Arial"/>
              </a:rPr>
              <a:t>•  </a:t>
            </a:r>
            <a:r>
              <a:rPr sz="1050">
                <a:solidFill>
                  <a:srgbClr val="5B6372"/>
                </a:solidFill>
                <a:latin typeface="Arial"/>
              </a:rPr>
              <a:t>matchLabels is equality-based AND; matchExpressions adds In, NotIn, Exists and DoesNotExist</a:t>
            </a:r>
          </a:p>
          <a:p>
            <a:pPr>
              <a:lnSpc>
                <a:spcPct val="112000"/>
              </a:lnSpc>
              <a:spcAft>
                <a:spcPts val="500"/>
              </a:spcAft>
            </a:pPr>
            <a:r>
              <a:rPr sz="1050">
                <a:solidFill>
                  <a:srgbClr val="94A3B8"/>
                </a:solidFill>
                <a:latin typeface="Arial"/>
              </a:rPr>
              <a:t>•  </a:t>
            </a:r>
            <a:r>
              <a:rPr sz="1050">
                <a:solidFill>
                  <a:srgbClr val="5B6372"/>
                </a:solidFill>
                <a:latin typeface="Arial"/>
              </a:rPr>
              <a:t>Adoption and orphaning: ownerReferences are added or released purely on label match</a:t>
            </a:r>
          </a:p>
          <a:p>
            <a:pPr>
              <a:lnSpc>
                <a:spcPct val="112000"/>
              </a:lnSpc>
              <a:spcAft>
                <a:spcPts val="500"/>
              </a:spcAft>
            </a:pPr>
            <a:r>
              <a:rPr sz="1050">
                <a:solidFill>
                  <a:srgbClr val="94A3B8"/>
                </a:solidFill>
                <a:latin typeface="Arial"/>
              </a:rPr>
              <a:t>•  </a:t>
            </a:r>
            <a:r>
              <a:rPr sz="1050">
                <a:solidFill>
                  <a:srgbClr val="5B6372"/>
                </a:solidFill>
                <a:latin typeface="Arial"/>
              </a:rPr>
              <a:t>A ReplicaSet selector must be a subset of the template labels or the API server rejects it</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06</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kcna-lab06</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LO2 · A3 · K3</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courseware/labs/lab-06-labels-selectors-replicasets/README.md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156</a:t>
            </a:r>
          </a:p>
        </p:txBody>
      </p:sp>
    </p:spTree>
  </p:cSld>
  <p:clrMapOvr>
    <a:masterClrMapping/>
  </p:clrMapOvr>
  <p:transition xmlns:ns1="http://schemas.openxmlformats.org/markup-compatibility/2006" spd="fast" ns1:Ignorable="p14">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Morning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11:00 – 11:10 AM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157</a:t>
            </a:r>
          </a:p>
        </p:txBody>
      </p:sp>
    </p:spTree>
  </p:cSld>
  <p:clrMapOvr>
    <a:masterClrMapping/>
  </p:clrMapOvr>
  <p:transition xmlns:ns1="http://schemas.openxmlformats.org/markup-compatibility/2006" spd="fast" ns1:Ignorable="p14">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09</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2 · WORKLOADS &amp; SCHEDULING</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Deployments, Rollout Strategy and Rollback</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A Deployment does not manage Pods. It manages ReplicaSets, and a rollout is arithmetic on two of them at once.</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158</a:t>
            </a:r>
          </a:p>
        </p:txBody>
      </p:sp>
    </p:spTree>
  </p:cSld>
  <p:clrMapOvr>
    <a:masterClrMapping/>
  </p:clrMapOvr>
  <p:transition xmlns:ns1="http://schemas.openxmlformats.org/markup-compatibility/2006" spd="med" ns1:Ignorable="p14">
    <p:push dir="l"/>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Three-Level Ownership Chain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7" name="Rectangle 6"/>
          <p:cNvSpPr/>
          <p:nvPr/>
        </p:nvSpPr>
        <p:spPr>
          <a:xfrm>
            <a:off x="777240" y="1737360"/>
            <a:ext cx="50292" cy="126492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920240"/>
            <a:ext cx="1261872" cy="935736"/>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YOU DECLARE</a:t>
            </a:r>
          </a:p>
        </p:txBody>
      </p:sp>
      <p:sp>
        <p:nvSpPr>
          <p:cNvPr id="9" name="Rounded Rectangle 8"/>
          <p:cNvSpPr/>
          <p:nvPr/>
        </p:nvSpPr>
        <p:spPr>
          <a:xfrm>
            <a:off x="2258568" y="1810512"/>
            <a:ext cx="4425695"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0" name="TextBox 9"/>
          <p:cNvSpPr txBox="1"/>
          <p:nvPr/>
        </p:nvSpPr>
        <p:spPr>
          <a:xfrm>
            <a:off x="2350008" y="1865376"/>
            <a:ext cx="4242815"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Deployment</a:t>
            </a:r>
          </a:p>
        </p:txBody>
      </p:sp>
      <p:sp>
        <p:nvSpPr>
          <p:cNvPr id="11" name="TextBox 10"/>
          <p:cNvSpPr txBox="1"/>
          <p:nvPr/>
        </p:nvSpPr>
        <p:spPr>
          <a:xfrm>
            <a:off x="2350008" y="2098548"/>
            <a:ext cx="4242815"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apps/v1 · holds the Pod template, the strategy and the revision history</a:t>
            </a:r>
          </a:p>
        </p:txBody>
      </p:sp>
      <p:sp>
        <p:nvSpPr>
          <p:cNvPr id="12" name="Rounded Rectangle 11"/>
          <p:cNvSpPr/>
          <p:nvPr/>
        </p:nvSpPr>
        <p:spPr>
          <a:xfrm>
            <a:off x="6848855" y="1810512"/>
            <a:ext cx="4425695"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3" name="TextBox 12"/>
          <p:cNvSpPr txBox="1"/>
          <p:nvPr/>
        </p:nvSpPr>
        <p:spPr>
          <a:xfrm>
            <a:off x="6940295" y="1865376"/>
            <a:ext cx="4242815"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kubectl apply</a:t>
            </a:r>
          </a:p>
        </p:txBody>
      </p:sp>
      <p:sp>
        <p:nvSpPr>
          <p:cNvPr id="14" name="TextBox 13"/>
          <p:cNvSpPr txBox="1"/>
          <p:nvPr/>
        </p:nvSpPr>
        <p:spPr>
          <a:xfrm>
            <a:off x="6940295" y="2098548"/>
            <a:ext cx="4242815"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Writes .spec; every later change is a diff against what is stored</a:t>
            </a:r>
          </a:p>
        </p:txBody>
      </p:sp>
      <p:sp>
        <p:nvSpPr>
          <p:cNvPr id="15" name="Rectangle 14"/>
          <p:cNvSpPr/>
          <p:nvPr/>
        </p:nvSpPr>
        <p:spPr>
          <a:xfrm>
            <a:off x="777240" y="31851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16" name="Rectangle 15"/>
          <p:cNvSpPr/>
          <p:nvPr/>
        </p:nvSpPr>
        <p:spPr>
          <a:xfrm>
            <a:off x="777240" y="3185160"/>
            <a:ext cx="50292" cy="1264920"/>
          </a:xfrm>
          <a:prstGeom prst="rect">
            <a:avLst/>
          </a:prstGeom>
          <a:solidFill>
            <a:srgbClr val="10B981"/>
          </a:solidFill>
          <a:ln>
            <a:noFill/>
          </a:ln>
          <a:effectLst/>
        </p:spPr>
        <p:txBody>
          <a:bodyPr rtlCol="0" anchor="ctr" wrap="square"/>
          <a:lstStyle/>
          <a:p>
            <a:pPr algn="ctr"/>
          </a:p>
        </p:txBody>
      </p:sp>
      <p:sp>
        <p:nvSpPr>
          <p:cNvPr id="17" name="TextBox 16"/>
          <p:cNvSpPr txBox="1"/>
          <p:nvPr/>
        </p:nvSpPr>
        <p:spPr>
          <a:xfrm>
            <a:off x="941832" y="3368040"/>
            <a:ext cx="1261872" cy="935736"/>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CONTROLLER CREATES</a:t>
            </a:r>
          </a:p>
        </p:txBody>
      </p:sp>
      <p:sp>
        <p:nvSpPr>
          <p:cNvPr id="18" name="Rounded Rectangle 17"/>
          <p:cNvSpPr/>
          <p:nvPr/>
        </p:nvSpPr>
        <p:spPr>
          <a:xfrm>
            <a:off x="2258568" y="32583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9" name="TextBox 18"/>
          <p:cNvSpPr txBox="1"/>
          <p:nvPr/>
        </p:nvSpPr>
        <p:spPr>
          <a:xfrm>
            <a:off x="2350008"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ReplicaSet (new)</a:t>
            </a:r>
          </a:p>
        </p:txBody>
      </p:sp>
      <p:sp>
        <p:nvSpPr>
          <p:cNvPr id="20" name="TextBox 19"/>
          <p:cNvSpPr txBox="1"/>
          <p:nvPr/>
        </p:nvSpPr>
        <p:spPr>
          <a:xfrm>
            <a:off x="2350008"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per distinct Pod template hash; scaled up during a rollout</a:t>
            </a:r>
          </a:p>
        </p:txBody>
      </p:sp>
      <p:sp>
        <p:nvSpPr>
          <p:cNvPr id="21" name="Rounded Rectangle 20"/>
          <p:cNvSpPr/>
          <p:nvPr/>
        </p:nvSpPr>
        <p:spPr>
          <a:xfrm>
            <a:off x="5318760" y="32583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2" name="TextBox 21"/>
          <p:cNvSpPr txBox="1"/>
          <p:nvPr/>
        </p:nvSpPr>
        <p:spPr>
          <a:xfrm>
            <a:off x="5410199"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ReplicaSet (old)</a:t>
            </a:r>
          </a:p>
        </p:txBody>
      </p:sp>
      <p:sp>
        <p:nvSpPr>
          <p:cNvPr id="23" name="TextBox 22"/>
          <p:cNvSpPr txBox="1"/>
          <p:nvPr/>
        </p:nvSpPr>
        <p:spPr>
          <a:xfrm>
            <a:off x="5410199"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Kept at 0 replicas as the revision record, up to revisionHistoryLimit</a:t>
            </a:r>
          </a:p>
        </p:txBody>
      </p:sp>
      <p:sp>
        <p:nvSpPr>
          <p:cNvPr id="24" name="Rounded Rectangle 23"/>
          <p:cNvSpPr/>
          <p:nvPr/>
        </p:nvSpPr>
        <p:spPr>
          <a:xfrm>
            <a:off x="8378951" y="32583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5" name="TextBox 24"/>
          <p:cNvSpPr txBox="1"/>
          <p:nvPr/>
        </p:nvSpPr>
        <p:spPr>
          <a:xfrm>
            <a:off x="8470391"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pod-template-hash</a:t>
            </a:r>
          </a:p>
        </p:txBody>
      </p:sp>
      <p:sp>
        <p:nvSpPr>
          <p:cNvPr id="26" name="TextBox 25"/>
          <p:cNvSpPr txBox="1"/>
          <p:nvPr/>
        </p:nvSpPr>
        <p:spPr>
          <a:xfrm>
            <a:off x="8470391"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Label the Deployment controller adds so the two ReplicaSets never fight over Pods</a:t>
            </a:r>
          </a:p>
        </p:txBody>
      </p:sp>
      <p:sp>
        <p:nvSpPr>
          <p:cNvPr id="27" name="Rectangle 26"/>
          <p:cNvSpPr/>
          <p:nvPr/>
        </p:nvSpPr>
        <p:spPr>
          <a:xfrm>
            <a:off x="777240" y="46329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28" name="Rectangle 27"/>
          <p:cNvSpPr/>
          <p:nvPr/>
        </p:nvSpPr>
        <p:spPr>
          <a:xfrm>
            <a:off x="777240" y="4632960"/>
            <a:ext cx="50292" cy="1264920"/>
          </a:xfrm>
          <a:prstGeom prst="rect">
            <a:avLst/>
          </a:prstGeom>
          <a:solidFill>
            <a:srgbClr val="7C3AED"/>
          </a:solidFill>
          <a:ln>
            <a:noFill/>
          </a:ln>
          <a:effectLst/>
        </p:spPr>
        <p:txBody>
          <a:bodyPr rtlCol="0" anchor="ctr" wrap="square"/>
          <a:lstStyle/>
          <a:p>
            <a:pPr algn="ctr"/>
          </a:p>
        </p:txBody>
      </p:sp>
      <p:sp>
        <p:nvSpPr>
          <p:cNvPr id="29" name="TextBox 28"/>
          <p:cNvSpPr txBox="1"/>
          <p:nvPr/>
        </p:nvSpPr>
        <p:spPr>
          <a:xfrm>
            <a:off x="941832" y="4815840"/>
            <a:ext cx="1261872" cy="935736"/>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CLUSTER RUNS</a:t>
            </a:r>
          </a:p>
        </p:txBody>
      </p:sp>
      <p:sp>
        <p:nvSpPr>
          <p:cNvPr id="30" name="Rounded Rectangle 29"/>
          <p:cNvSpPr/>
          <p:nvPr/>
        </p:nvSpPr>
        <p:spPr>
          <a:xfrm>
            <a:off x="2258568"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1" name="TextBox 30"/>
          <p:cNvSpPr txBox="1"/>
          <p:nvPr/>
        </p:nvSpPr>
        <p:spPr>
          <a:xfrm>
            <a:off x="2350008"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Pods (new template)</a:t>
            </a:r>
          </a:p>
        </p:txBody>
      </p:sp>
      <p:sp>
        <p:nvSpPr>
          <p:cNvPr id="32" name="TextBox 31"/>
          <p:cNvSpPr txBox="1"/>
          <p:nvPr/>
        </p:nvSpPr>
        <p:spPr>
          <a:xfrm>
            <a:off x="2350008"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Counted as UPDATED; must pass readiness plus minReadySeconds to be AVAILABLE</a:t>
            </a:r>
          </a:p>
        </p:txBody>
      </p:sp>
      <p:sp>
        <p:nvSpPr>
          <p:cNvPr id="33" name="Rounded Rectangle 32"/>
          <p:cNvSpPr/>
          <p:nvPr/>
        </p:nvSpPr>
        <p:spPr>
          <a:xfrm>
            <a:off x="5318760"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4" name="TextBox 33"/>
          <p:cNvSpPr txBox="1"/>
          <p:nvPr/>
        </p:nvSpPr>
        <p:spPr>
          <a:xfrm>
            <a:off x="5410199"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Pods (old template)</a:t>
            </a:r>
          </a:p>
        </p:txBody>
      </p:sp>
      <p:sp>
        <p:nvSpPr>
          <p:cNvPr id="35" name="TextBox 34"/>
          <p:cNvSpPr txBox="1"/>
          <p:nvPr/>
        </p:nvSpPr>
        <p:spPr>
          <a:xfrm>
            <a:off x="5410199"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Deleted only as the availability floor allows</a:t>
            </a:r>
          </a:p>
        </p:txBody>
      </p:sp>
      <p:sp>
        <p:nvSpPr>
          <p:cNvPr id="36" name="Rounded Rectangle 35"/>
          <p:cNvSpPr/>
          <p:nvPr/>
        </p:nvSpPr>
        <p:spPr>
          <a:xfrm>
            <a:off x="8378951" y="4706112"/>
            <a:ext cx="2895599" cy="1118616"/>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7" name="TextBox 36"/>
          <p:cNvSpPr txBox="1"/>
          <p:nvPr/>
        </p:nvSpPr>
        <p:spPr>
          <a:xfrm>
            <a:off x="8470391"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a:t>
            </a:r>
          </a:p>
        </p:txBody>
      </p:sp>
      <p:sp>
        <p:nvSpPr>
          <p:cNvPr id="38" name="TextBox 37"/>
          <p:cNvSpPr txBox="1"/>
          <p:nvPr/>
        </p:nvSpPr>
        <p:spPr>
          <a:xfrm>
            <a:off x="8470391"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Never sees the Deployment at all — it only ever sees Pods</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159</a:t>
            </a:r>
          </a:p>
        </p:txBody>
      </p:sp>
    </p:spTree>
  </p:cSld>
  <p:clrMapOvr>
    <a:masterClrMapping/>
  </p:clrMapOvr>
  <p:transition xmlns:ns1="http://schemas.openxmlformats.org/markup-compatibility/2006" spd="fast" ns1:Ignorable="p14">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Strategy Block,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number in this block is a promise about capacity during the change, not about the steady state.</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labs/lab-07/manifests/20-deployment-r24-2.yaml</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apps/v1</a:t>
            </a:r>
          </a:p>
          <a:p>
            <a:pPr>
              <a:lnSpc>
                <a:spcPts val="1476"/>
              </a:lnSpc>
              <a:spcAft>
                <a:spcPts val="0"/>
              </a:spcAft>
            </a:pPr>
            <a:r>
              <a:rPr sz="1050">
                <a:solidFill>
                  <a:srgbClr val="E6EDF3"/>
                </a:solidFill>
                <a:latin typeface="Consolas"/>
              </a:rPr>
              <a:t>kind: Deployment</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freight-portal</a:t>
            </a:r>
          </a:p>
          <a:p>
            <a:pPr>
              <a:lnSpc>
                <a:spcPts val="1476"/>
              </a:lnSpc>
              <a:spcAft>
                <a:spcPts val="0"/>
              </a:spcAft>
            </a:pPr>
            <a:r>
              <a:rPr sz="1050">
                <a:solidFill>
                  <a:srgbClr val="E6EDF3"/>
                </a:solidFill>
                <a:latin typeface="Consolas"/>
              </a:rPr>
              <a:t>  annotations:</a:t>
            </a:r>
          </a:p>
          <a:p>
            <a:pPr>
              <a:lnSpc>
                <a:spcPts val="1476"/>
              </a:lnSpc>
              <a:spcAft>
                <a:spcPts val="0"/>
              </a:spcAft>
            </a:pPr>
            <a:r>
              <a:rPr sz="1050">
                <a:solidFill>
                  <a:srgbClr val="E6EDF3"/>
                </a:solidFill>
                <a:latin typeface="Consolas"/>
              </a:rPr>
              <a:t>    kubernetes.io/change-cause: &gt;-</a:t>
            </a:r>
          </a:p>
          <a:p>
            <a:pPr>
              <a:lnSpc>
                <a:spcPts val="1476"/>
              </a:lnSpc>
              <a:spcAft>
                <a:spcPts val="0"/>
              </a:spcAft>
            </a:pPr>
            <a:r>
              <a:rPr sz="1050">
                <a:solidFill>
                  <a:srgbClr val="E6EDF3"/>
                </a:solidFill>
                <a:latin typeface="Consolas"/>
              </a:rPr>
              <a:t>      r24.2 - customs banner rollout</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replicas: 4</a:t>
            </a:r>
          </a:p>
          <a:p>
            <a:pPr>
              <a:lnSpc>
                <a:spcPts val="1476"/>
              </a:lnSpc>
              <a:spcAft>
                <a:spcPts val="0"/>
              </a:spcAft>
            </a:pPr>
            <a:r>
              <a:rPr sz="1050">
                <a:solidFill>
                  <a:srgbClr val="E6EDF3"/>
                </a:solidFill>
                <a:latin typeface="Consolas"/>
              </a:rPr>
              <a:t>  revisionHistoryLimit: 3</a:t>
            </a:r>
          </a:p>
          <a:p>
            <a:pPr>
              <a:lnSpc>
                <a:spcPts val="1476"/>
              </a:lnSpc>
              <a:spcAft>
                <a:spcPts val="0"/>
              </a:spcAft>
            </a:pPr>
            <a:r>
              <a:rPr sz="1050">
                <a:solidFill>
                  <a:srgbClr val="E6EDF3"/>
                </a:solidFill>
                <a:latin typeface="Consolas"/>
              </a:rPr>
              <a:t>  minReadySeconds: 2</a:t>
            </a:r>
          </a:p>
          <a:p>
            <a:pPr>
              <a:lnSpc>
                <a:spcPts val="1476"/>
              </a:lnSpc>
              <a:spcAft>
                <a:spcPts val="0"/>
              </a:spcAft>
            </a:pPr>
            <a:r>
              <a:rPr sz="1050">
                <a:solidFill>
                  <a:srgbClr val="E6EDF3"/>
                </a:solidFill>
                <a:latin typeface="Consolas"/>
              </a:rPr>
              <a:t>  progressDeadlineSeconds: 120</a:t>
            </a:r>
          </a:p>
          <a:p>
            <a:pPr>
              <a:lnSpc>
                <a:spcPts val="1476"/>
              </a:lnSpc>
              <a:spcAft>
                <a:spcPts val="0"/>
              </a:spcAft>
            </a:pPr>
            <a:r>
              <a:rPr sz="1050">
                <a:solidFill>
                  <a:srgbClr val="E6EDF3"/>
                </a:solidFill>
                <a:latin typeface="Consolas"/>
              </a:rPr>
              <a:t>  strategy:</a:t>
            </a:r>
          </a:p>
          <a:p>
            <a:pPr>
              <a:lnSpc>
                <a:spcPts val="1476"/>
              </a:lnSpc>
              <a:spcAft>
                <a:spcPts val="0"/>
              </a:spcAft>
            </a:pPr>
            <a:r>
              <a:rPr sz="1050">
                <a:solidFill>
                  <a:srgbClr val="E6EDF3"/>
                </a:solidFill>
                <a:latin typeface="Consolas"/>
              </a:rPr>
              <a:t>    type: RollingUpdate</a:t>
            </a:r>
          </a:p>
          <a:p>
            <a:pPr>
              <a:lnSpc>
                <a:spcPts val="1476"/>
              </a:lnSpc>
              <a:spcAft>
                <a:spcPts val="0"/>
              </a:spcAft>
            </a:pPr>
            <a:r>
              <a:rPr sz="1050">
                <a:solidFill>
                  <a:srgbClr val="E6EDF3"/>
                </a:solidFill>
                <a:latin typeface="Consolas"/>
              </a:rPr>
              <a:t>    rollingUpdate:</a:t>
            </a:r>
          </a:p>
          <a:p>
            <a:pPr>
              <a:lnSpc>
                <a:spcPts val="1476"/>
              </a:lnSpc>
              <a:spcAft>
                <a:spcPts val="0"/>
              </a:spcAft>
            </a:pPr>
            <a:r>
              <a:rPr sz="1050">
                <a:solidFill>
                  <a:srgbClr val="E6EDF3"/>
                </a:solidFill>
                <a:latin typeface="Consolas"/>
              </a:rPr>
              <a:t>      maxSurge: 1</a:t>
            </a:r>
          </a:p>
          <a:p>
            <a:pPr>
              <a:lnSpc>
                <a:spcPts val="1476"/>
              </a:lnSpc>
              <a:spcAft>
                <a:spcPts val="0"/>
              </a:spcAft>
            </a:pPr>
            <a:r>
              <a:rPr sz="1050">
                <a:solidFill>
                  <a:srgbClr val="E6EDF3"/>
                </a:solidFill>
                <a:latin typeface="Consolas"/>
              </a:rPr>
              <a:t>      maxUnavailable: 0</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maxSurge sets the ceiling</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Total Pods may reach replicas + maxSurge = 5. This is the extra capacity the rollout is allowed to borrow.</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maxUnavailable sets the floor</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Available Pods may not drop below replicas - maxUnavailable = 4. Zero here means no capacity loss at all.</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They may not both be zero</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API server rejects it — the rollout would have no room to move in either direction.</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minReadySeconds delays 'Available'</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Pod must stay Ready for 2 seconds before it counts, so a crash-on-start image cannot fake progress.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160</a:t>
            </a:r>
          </a:p>
        </p:txBody>
      </p:sp>
    </p:spTree>
  </p:cSld>
  <p:clrMapOvr>
    <a:masterClrMapping/>
  </p:clrMapOvr>
  <p:transition xmlns:ns1="http://schemas.openxmlformats.org/markup-compatibility/2006" spd="fast" ns1:Ignorable="p14">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TWO STRATEGIES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RollingUpdate vs Recreate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2468880" cy="42062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905256" y="1837943"/>
            <a:ext cx="221284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8" name="Rectangle 7"/>
          <p:cNvSpPr/>
          <p:nvPr/>
        </p:nvSpPr>
        <p:spPr>
          <a:xfrm>
            <a:off x="3246120" y="1737360"/>
            <a:ext cx="4279392" cy="42062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3374136" y="1837943"/>
            <a:ext cx="402335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RollingUpdate (default)</a:t>
            </a:r>
          </a:p>
        </p:txBody>
      </p:sp>
      <p:sp>
        <p:nvSpPr>
          <p:cNvPr id="10" name="Rectangle 9"/>
          <p:cNvSpPr/>
          <p:nvPr/>
        </p:nvSpPr>
        <p:spPr>
          <a:xfrm>
            <a:off x="7525512" y="1737360"/>
            <a:ext cx="3950207" cy="420624"/>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7653528" y="1837943"/>
            <a:ext cx="369417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Recreate</a:t>
            </a:r>
          </a:p>
        </p:txBody>
      </p:sp>
      <p:sp>
        <p:nvSpPr>
          <p:cNvPr id="12" name="Rectangle 11"/>
          <p:cNvSpPr/>
          <p:nvPr/>
        </p:nvSpPr>
        <p:spPr>
          <a:xfrm>
            <a:off x="777240" y="2157984"/>
            <a:ext cx="2468880" cy="566928"/>
          </a:xfrm>
          <a:prstGeom prst="rect">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905256" y="2240279"/>
            <a:ext cx="221284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Order of operations</a:t>
            </a:r>
          </a:p>
        </p:txBody>
      </p:sp>
      <p:sp>
        <p:nvSpPr>
          <p:cNvPr id="14" name="Rectangle 13"/>
          <p:cNvSpPr/>
          <p:nvPr/>
        </p:nvSpPr>
        <p:spPr>
          <a:xfrm>
            <a:off x="3246120" y="2157984"/>
            <a:ext cx="4279392" cy="566928"/>
          </a:xfrm>
          <a:prstGeom prst="rect">
            <a:avLst/>
          </a:prstGeom>
          <a:solidFill>
            <a:srgbClr val="FFFFFF"/>
          </a:solidFill>
          <a:ln w="9525">
            <a:solidFill>
              <a:srgbClr val="E2E8F0"/>
            </a:solidFill>
          </a:ln>
          <a:effectLst/>
        </p:spPr>
        <p:txBody>
          <a:bodyPr rtlCol="0" anchor="ctr" wrap="square"/>
          <a:lstStyle/>
          <a:p>
            <a:pPr algn="ctr"/>
          </a:p>
        </p:txBody>
      </p:sp>
      <p:sp>
        <p:nvSpPr>
          <p:cNvPr id="15" name="TextBox 14"/>
          <p:cNvSpPr txBox="1"/>
          <p:nvPr/>
        </p:nvSpPr>
        <p:spPr>
          <a:xfrm>
            <a:off x="3374136" y="2240279"/>
            <a:ext cx="402335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Add new Pods and remove old ones incrementally, respecting the ceiling and floor</a:t>
            </a:r>
          </a:p>
        </p:txBody>
      </p:sp>
      <p:sp>
        <p:nvSpPr>
          <p:cNvPr id="16" name="Rectangle 15"/>
          <p:cNvSpPr/>
          <p:nvPr/>
        </p:nvSpPr>
        <p:spPr>
          <a:xfrm>
            <a:off x="7525512" y="2157984"/>
            <a:ext cx="3950207" cy="566928"/>
          </a:xfrm>
          <a:prstGeom prst="rect">
            <a:avLst/>
          </a:prstGeom>
          <a:solidFill>
            <a:srgbClr val="FFFFFF"/>
          </a:solidFill>
          <a:ln w="9525">
            <a:solidFill>
              <a:srgbClr val="E2E8F0"/>
            </a:solidFill>
          </a:ln>
          <a:effectLst/>
        </p:spPr>
        <p:txBody>
          <a:bodyPr rtlCol="0" anchor="ctr" wrap="square"/>
          <a:lstStyle/>
          <a:p>
            <a:pPr algn="ctr"/>
          </a:p>
        </p:txBody>
      </p:sp>
      <p:sp>
        <p:nvSpPr>
          <p:cNvPr id="17" name="TextBox 16"/>
          <p:cNvSpPr txBox="1"/>
          <p:nvPr/>
        </p:nvSpPr>
        <p:spPr>
          <a:xfrm>
            <a:off x="7653528" y="2240279"/>
            <a:ext cx="369417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Terminate every old Pod first, then start the new ones</a:t>
            </a:r>
          </a:p>
        </p:txBody>
      </p:sp>
      <p:sp>
        <p:nvSpPr>
          <p:cNvPr id="18" name="Rectangle 17"/>
          <p:cNvSpPr/>
          <p:nvPr/>
        </p:nvSpPr>
        <p:spPr>
          <a:xfrm>
            <a:off x="777240" y="2724912"/>
            <a:ext cx="2468880" cy="566928"/>
          </a:xfrm>
          <a:prstGeom prst="rect">
            <a:avLst/>
          </a:prstGeom>
          <a:solidFill>
            <a:srgbClr val="F6F8FA"/>
          </a:solidFill>
          <a:ln w="9525">
            <a:solidFill>
              <a:srgbClr val="E2E8F0"/>
            </a:solidFill>
          </a:ln>
          <a:effectLst/>
        </p:spPr>
        <p:txBody>
          <a:bodyPr rtlCol="0" anchor="ctr" wrap="square"/>
          <a:lstStyle/>
          <a:p>
            <a:pPr algn="ctr"/>
          </a:p>
        </p:txBody>
      </p:sp>
      <p:sp>
        <p:nvSpPr>
          <p:cNvPr id="19" name="TextBox 18"/>
          <p:cNvSpPr txBox="1"/>
          <p:nvPr/>
        </p:nvSpPr>
        <p:spPr>
          <a:xfrm>
            <a:off x="905256" y="2807208"/>
            <a:ext cx="221284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Downtime</a:t>
            </a:r>
          </a:p>
        </p:txBody>
      </p:sp>
      <p:sp>
        <p:nvSpPr>
          <p:cNvPr id="20" name="Rectangle 19"/>
          <p:cNvSpPr/>
          <p:nvPr/>
        </p:nvSpPr>
        <p:spPr>
          <a:xfrm>
            <a:off x="3246120" y="2724912"/>
            <a:ext cx="4279392" cy="566928"/>
          </a:xfrm>
          <a:prstGeom prst="rect">
            <a:avLst/>
          </a:prstGeom>
          <a:solidFill>
            <a:srgbClr val="F6F8FA"/>
          </a:solidFill>
          <a:ln w="9525">
            <a:solidFill>
              <a:srgbClr val="E2E8F0"/>
            </a:solidFill>
          </a:ln>
          <a:effectLst/>
        </p:spPr>
        <p:txBody>
          <a:bodyPr rtlCol="0" anchor="ctr" wrap="square"/>
          <a:lstStyle/>
          <a:p>
            <a:pPr algn="ctr"/>
          </a:p>
        </p:txBody>
      </p:sp>
      <p:sp>
        <p:nvSpPr>
          <p:cNvPr id="21" name="TextBox 20"/>
          <p:cNvSpPr txBox="1"/>
          <p:nvPr/>
        </p:nvSpPr>
        <p:spPr>
          <a:xfrm>
            <a:off x="3374136" y="2807208"/>
            <a:ext cx="402335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if maxUnavailable is 0 and readiness is honest</a:t>
            </a:r>
          </a:p>
        </p:txBody>
      </p:sp>
      <p:sp>
        <p:nvSpPr>
          <p:cNvPr id="22" name="Rectangle 21"/>
          <p:cNvSpPr/>
          <p:nvPr/>
        </p:nvSpPr>
        <p:spPr>
          <a:xfrm>
            <a:off x="7525512" y="2724912"/>
            <a:ext cx="3950207" cy="566928"/>
          </a:xfrm>
          <a:prstGeom prst="rect">
            <a:avLst/>
          </a:prstGeom>
          <a:solidFill>
            <a:srgbClr val="F6F8FA"/>
          </a:solidFill>
          <a:ln w="9525">
            <a:solidFill>
              <a:srgbClr val="E2E8F0"/>
            </a:solidFill>
          </a:ln>
          <a:effectLst/>
        </p:spPr>
        <p:txBody>
          <a:bodyPr rtlCol="0" anchor="ctr" wrap="square"/>
          <a:lstStyle/>
          <a:p>
            <a:pPr algn="ctr"/>
          </a:p>
        </p:txBody>
      </p:sp>
      <p:sp>
        <p:nvSpPr>
          <p:cNvPr id="23" name="TextBox 22"/>
          <p:cNvSpPr txBox="1"/>
          <p:nvPr/>
        </p:nvSpPr>
        <p:spPr>
          <a:xfrm>
            <a:off x="7653528" y="2807208"/>
            <a:ext cx="369417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full outage for the duration of the change</a:t>
            </a:r>
          </a:p>
        </p:txBody>
      </p:sp>
      <p:sp>
        <p:nvSpPr>
          <p:cNvPr id="24" name="Rectangle 23"/>
          <p:cNvSpPr/>
          <p:nvPr/>
        </p:nvSpPr>
        <p:spPr>
          <a:xfrm>
            <a:off x="777240" y="3291839"/>
            <a:ext cx="2468880" cy="566928"/>
          </a:xfrm>
          <a:prstGeom prst="rect">
            <a:avLst/>
          </a:prstGeom>
          <a:solidFill>
            <a:srgbClr val="FFFFFF"/>
          </a:solidFill>
          <a:ln w="9525">
            <a:solidFill>
              <a:srgbClr val="E2E8F0"/>
            </a:solidFill>
          </a:ln>
          <a:effectLst/>
        </p:spPr>
        <p:txBody>
          <a:bodyPr rtlCol="0" anchor="ctr" wrap="square"/>
          <a:lstStyle/>
          <a:p>
            <a:pPr algn="ctr"/>
          </a:p>
        </p:txBody>
      </p:sp>
      <p:sp>
        <p:nvSpPr>
          <p:cNvPr id="25" name="TextBox 24"/>
          <p:cNvSpPr txBox="1"/>
          <p:nvPr/>
        </p:nvSpPr>
        <p:spPr>
          <a:xfrm>
            <a:off x="905256" y="3374135"/>
            <a:ext cx="221284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Versions running together</a:t>
            </a:r>
          </a:p>
        </p:txBody>
      </p:sp>
      <p:sp>
        <p:nvSpPr>
          <p:cNvPr id="26" name="Rectangle 25"/>
          <p:cNvSpPr/>
          <p:nvPr/>
        </p:nvSpPr>
        <p:spPr>
          <a:xfrm>
            <a:off x="3246120" y="3291839"/>
            <a:ext cx="4279392" cy="566928"/>
          </a:xfrm>
          <a:prstGeom prst="rect">
            <a:avLst/>
          </a:prstGeom>
          <a:solidFill>
            <a:srgbClr val="FFFFFF"/>
          </a:solidFill>
          <a:ln w="9525">
            <a:solidFill>
              <a:srgbClr val="E2E8F0"/>
            </a:solidFill>
          </a:ln>
          <a:effectLst/>
        </p:spPr>
        <p:txBody>
          <a:bodyPr rtlCol="0" anchor="ctr" wrap="square"/>
          <a:lstStyle/>
          <a:p>
            <a:pPr algn="ctr"/>
          </a:p>
        </p:txBody>
      </p:sp>
      <p:sp>
        <p:nvSpPr>
          <p:cNvPr id="27" name="TextBox 26"/>
          <p:cNvSpPr txBox="1"/>
          <p:nvPr/>
        </p:nvSpPr>
        <p:spPr>
          <a:xfrm>
            <a:off x="3374136" y="3374135"/>
            <a:ext cx="402335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Two versions serve traffic simultaneously — your API and schema must tolerate it</a:t>
            </a:r>
          </a:p>
        </p:txBody>
      </p:sp>
      <p:sp>
        <p:nvSpPr>
          <p:cNvPr id="28" name="Rectangle 27"/>
          <p:cNvSpPr/>
          <p:nvPr/>
        </p:nvSpPr>
        <p:spPr>
          <a:xfrm>
            <a:off x="7525512" y="3291839"/>
            <a:ext cx="3950207" cy="566928"/>
          </a:xfrm>
          <a:prstGeom prst="rect">
            <a:avLst/>
          </a:prstGeom>
          <a:solidFill>
            <a:srgbClr val="FFFFFF"/>
          </a:solidFill>
          <a:ln w="9525">
            <a:solidFill>
              <a:srgbClr val="E2E8F0"/>
            </a:solidFill>
          </a:ln>
          <a:effectLst/>
        </p:spPr>
        <p:txBody>
          <a:bodyPr rtlCol="0" anchor="ctr" wrap="square"/>
          <a:lstStyle/>
          <a:p>
            <a:pPr algn="ctr"/>
          </a:p>
        </p:txBody>
      </p:sp>
      <p:sp>
        <p:nvSpPr>
          <p:cNvPr id="29" name="TextBox 28"/>
          <p:cNvSpPr txBox="1"/>
          <p:nvPr/>
        </p:nvSpPr>
        <p:spPr>
          <a:xfrm>
            <a:off x="7653528" y="3374135"/>
            <a:ext cx="369417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Never more than one version at a time</a:t>
            </a:r>
          </a:p>
        </p:txBody>
      </p:sp>
      <p:sp>
        <p:nvSpPr>
          <p:cNvPr id="30" name="Rectangle 29"/>
          <p:cNvSpPr/>
          <p:nvPr/>
        </p:nvSpPr>
        <p:spPr>
          <a:xfrm>
            <a:off x="777240" y="3858768"/>
            <a:ext cx="2468880" cy="566928"/>
          </a:xfrm>
          <a:prstGeom prst="rect">
            <a:avLst/>
          </a:prstGeom>
          <a:solidFill>
            <a:srgbClr val="F6F8FA"/>
          </a:solidFill>
          <a:ln w="9525">
            <a:solidFill>
              <a:srgbClr val="E2E8F0"/>
            </a:solidFill>
          </a:ln>
          <a:effectLst/>
        </p:spPr>
        <p:txBody>
          <a:bodyPr rtlCol="0" anchor="ctr" wrap="square"/>
          <a:lstStyle/>
          <a:p>
            <a:pPr algn="ctr"/>
          </a:p>
        </p:txBody>
      </p:sp>
      <p:sp>
        <p:nvSpPr>
          <p:cNvPr id="31" name="TextBox 30"/>
          <p:cNvSpPr txBox="1"/>
          <p:nvPr/>
        </p:nvSpPr>
        <p:spPr>
          <a:xfrm>
            <a:off x="905256" y="3941063"/>
            <a:ext cx="221284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Correct when</a:t>
            </a:r>
          </a:p>
        </p:txBody>
      </p:sp>
      <p:sp>
        <p:nvSpPr>
          <p:cNvPr id="32" name="Rectangle 31"/>
          <p:cNvSpPr/>
          <p:nvPr/>
        </p:nvSpPr>
        <p:spPr>
          <a:xfrm>
            <a:off x="3246120" y="3858768"/>
            <a:ext cx="4279392" cy="566928"/>
          </a:xfrm>
          <a:prstGeom prst="rect">
            <a:avLst/>
          </a:prstGeom>
          <a:solidFill>
            <a:srgbClr val="F6F8FA"/>
          </a:solidFill>
          <a:ln w="9525">
            <a:solidFill>
              <a:srgbClr val="E2E8F0"/>
            </a:solidFill>
          </a:ln>
          <a:effectLst/>
        </p:spPr>
        <p:txBody>
          <a:bodyPr rtlCol="0" anchor="ctr" wrap="square"/>
          <a:lstStyle/>
          <a:p>
            <a:pPr algn="ctr"/>
          </a:p>
        </p:txBody>
      </p:sp>
      <p:sp>
        <p:nvSpPr>
          <p:cNvPr id="33" name="TextBox 32"/>
          <p:cNvSpPr txBox="1"/>
          <p:nvPr/>
        </p:nvSpPr>
        <p:spPr>
          <a:xfrm>
            <a:off x="3374136" y="3941063"/>
            <a:ext cx="402335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Stateless, backward-compatible services — almost everything</a:t>
            </a:r>
          </a:p>
        </p:txBody>
      </p:sp>
      <p:sp>
        <p:nvSpPr>
          <p:cNvPr id="34" name="Rectangle 33"/>
          <p:cNvSpPr/>
          <p:nvPr/>
        </p:nvSpPr>
        <p:spPr>
          <a:xfrm>
            <a:off x="7525512" y="3858768"/>
            <a:ext cx="3950207" cy="566928"/>
          </a:xfrm>
          <a:prstGeom prst="rect">
            <a:avLst/>
          </a:prstGeom>
          <a:solidFill>
            <a:srgbClr val="F6F8FA"/>
          </a:solidFill>
          <a:ln w="9525">
            <a:solidFill>
              <a:srgbClr val="E2E8F0"/>
            </a:solidFill>
          </a:ln>
          <a:effectLst/>
        </p:spPr>
        <p:txBody>
          <a:bodyPr rtlCol="0" anchor="ctr" wrap="square"/>
          <a:lstStyle/>
          <a:p>
            <a:pPr algn="ctr"/>
          </a:p>
        </p:txBody>
      </p:sp>
      <p:sp>
        <p:nvSpPr>
          <p:cNvPr id="35" name="TextBox 34"/>
          <p:cNvSpPr txBox="1"/>
          <p:nvPr/>
        </p:nvSpPr>
        <p:spPr>
          <a:xfrm>
            <a:off x="7653528" y="3941063"/>
            <a:ext cx="369417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Exclusive locks, singleton writers, or a schema migration that cannot run mixed</a:t>
            </a:r>
          </a:p>
        </p:txBody>
      </p:sp>
      <p:sp>
        <p:nvSpPr>
          <p:cNvPr id="36" name="Rectangle 35"/>
          <p:cNvSpPr/>
          <p:nvPr/>
        </p:nvSpPr>
        <p:spPr>
          <a:xfrm>
            <a:off x="777240" y="4425696"/>
            <a:ext cx="2468880" cy="566928"/>
          </a:xfrm>
          <a:prstGeom prst="rect">
            <a:avLst/>
          </a:prstGeom>
          <a:solidFill>
            <a:srgbClr val="FFFFFF"/>
          </a:solidFill>
          <a:ln w="9525">
            <a:solidFill>
              <a:srgbClr val="E2E8F0"/>
            </a:solidFill>
          </a:ln>
          <a:effectLst/>
        </p:spPr>
        <p:txBody>
          <a:bodyPr rtlCol="0" anchor="ctr" wrap="square"/>
          <a:lstStyle/>
          <a:p>
            <a:pPr algn="ctr"/>
          </a:p>
        </p:txBody>
      </p:sp>
      <p:sp>
        <p:nvSpPr>
          <p:cNvPr id="37" name="TextBox 36"/>
          <p:cNvSpPr txBox="1"/>
          <p:nvPr/>
        </p:nvSpPr>
        <p:spPr>
          <a:xfrm>
            <a:off x="905256" y="4507992"/>
            <a:ext cx="221284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Tuning fields</a:t>
            </a:r>
          </a:p>
        </p:txBody>
      </p:sp>
      <p:sp>
        <p:nvSpPr>
          <p:cNvPr id="38" name="Rectangle 37"/>
          <p:cNvSpPr/>
          <p:nvPr/>
        </p:nvSpPr>
        <p:spPr>
          <a:xfrm>
            <a:off x="3246120" y="4425696"/>
            <a:ext cx="4279392" cy="566928"/>
          </a:xfrm>
          <a:prstGeom prst="rect">
            <a:avLst/>
          </a:prstGeom>
          <a:solidFill>
            <a:srgbClr val="FFFFFF"/>
          </a:solidFill>
          <a:ln w="9525">
            <a:solidFill>
              <a:srgbClr val="E2E8F0"/>
            </a:solidFill>
          </a:ln>
          <a:effectLst/>
        </p:spPr>
        <p:txBody>
          <a:bodyPr rtlCol="0" anchor="ctr" wrap="square"/>
          <a:lstStyle/>
          <a:p>
            <a:pPr algn="ctr"/>
          </a:p>
        </p:txBody>
      </p:sp>
      <p:sp>
        <p:nvSpPr>
          <p:cNvPr id="39" name="TextBox 38"/>
          <p:cNvSpPr txBox="1"/>
          <p:nvPr/>
        </p:nvSpPr>
        <p:spPr>
          <a:xfrm>
            <a:off x="3374136" y="4507992"/>
            <a:ext cx="402335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maxSurge, maxUnavailable, minReadySeconds</a:t>
            </a:r>
          </a:p>
        </p:txBody>
      </p:sp>
      <p:sp>
        <p:nvSpPr>
          <p:cNvPr id="40" name="Rectangle 39"/>
          <p:cNvSpPr/>
          <p:nvPr/>
        </p:nvSpPr>
        <p:spPr>
          <a:xfrm>
            <a:off x="7525512" y="4425696"/>
            <a:ext cx="3950207" cy="566928"/>
          </a:xfrm>
          <a:prstGeom prst="rect">
            <a:avLst/>
          </a:prstGeom>
          <a:solidFill>
            <a:srgbClr val="FFFFFF"/>
          </a:solidFill>
          <a:ln w="9525">
            <a:solidFill>
              <a:srgbClr val="E2E8F0"/>
            </a:solidFill>
          </a:ln>
          <a:effectLst/>
        </p:spPr>
        <p:txBody>
          <a:bodyPr rtlCol="0" anchor="ctr" wrap="square"/>
          <a:lstStyle/>
          <a:p>
            <a:pPr algn="ctr"/>
          </a:p>
        </p:txBody>
      </p:sp>
      <p:sp>
        <p:nvSpPr>
          <p:cNvPr id="41" name="TextBox 40"/>
          <p:cNvSpPr txBox="1"/>
          <p:nvPr/>
        </p:nvSpPr>
        <p:spPr>
          <a:xfrm>
            <a:off x="7653528" y="4507992"/>
            <a:ext cx="369417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 the strategy has no sub-fields</a:t>
            </a:r>
          </a:p>
        </p:txBody>
      </p:sp>
      <p:sp>
        <p:nvSpPr>
          <p:cNvPr id="42" name="Rectangle 41"/>
          <p:cNvSpPr/>
          <p:nvPr/>
        </p:nvSpPr>
        <p:spPr>
          <a:xfrm>
            <a:off x="777240" y="5175504"/>
            <a:ext cx="10698480" cy="566928"/>
          </a:xfrm>
          <a:prstGeom prst="rect">
            <a:avLst/>
          </a:prstGeom>
          <a:solidFill>
            <a:srgbClr val="E8F7EE"/>
          </a:solidFill>
          <a:ln>
            <a:noFill/>
          </a:ln>
          <a:effectLst/>
        </p:spPr>
        <p:txBody>
          <a:bodyPr rtlCol="0" anchor="ctr" wrap="square"/>
          <a:lstStyle/>
          <a:p>
            <a:pPr algn="ctr"/>
          </a:p>
        </p:txBody>
      </p:sp>
      <p:sp>
        <p:nvSpPr>
          <p:cNvPr id="43" name="Rectangle 42"/>
          <p:cNvSpPr/>
          <p:nvPr/>
        </p:nvSpPr>
        <p:spPr>
          <a:xfrm>
            <a:off x="777240" y="5175504"/>
            <a:ext cx="50292" cy="566928"/>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996695" y="523036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5" name="TextBox 44"/>
          <p:cNvSpPr txBox="1"/>
          <p:nvPr/>
        </p:nvSpPr>
        <p:spPr>
          <a:xfrm>
            <a:off x="996695" y="54315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RollingUpdate unless two versions of your code cannot safely coexist for sixty seconds.</a:t>
            </a:r>
          </a:p>
        </p:txBody>
      </p:sp>
      <p:sp>
        <p:nvSpPr>
          <p:cNvPr id="46" name="TextBox 4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47" name="TextBox 4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8" name="TextBox 4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9" name="TextBox 4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161</a:t>
            </a:r>
          </a:p>
        </p:txBody>
      </p:sp>
    </p:spTree>
  </p:cSld>
  <p:clrMapOvr>
    <a:masterClrMapping/>
  </p:clrMapOvr>
  <p:transition xmlns:ns1="http://schemas.openxmlformats.org/markup-compatibility/2006" spd="fast" ns1:Ignorable="p14">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CAPACITY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maxSurge and maxUnavailable at replicas = 10</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arithmetic model — computed from the documented rounding rules, not measured. Verify it yourself against any Deployment you own.</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Pods (worked model, replicas = 10)</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arithmetic is fixed</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Ceiling = replicas + maxSurge. Floor = replicas - maxUnavailable. Nothing else moves these two numbers.</a:t>
            </a:r>
          </a:p>
        </p:txBody>
      </p:sp>
      <p:sp>
        <p:nvSpPr>
          <p:cNvPr id="14" name="Rectangle 13"/>
          <p:cNvSpPr/>
          <p:nvPr/>
        </p:nvSpPr>
        <p:spPr>
          <a:xfrm>
            <a:off x="7927848" y="3470856"/>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5256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Percentages round in opposite directions</a:t>
            </a:r>
          </a:p>
        </p:txBody>
      </p:sp>
      <p:sp>
        <p:nvSpPr>
          <p:cNvPr id="16" name="TextBox 15"/>
          <p:cNvSpPr txBox="1"/>
          <p:nvPr/>
        </p:nvSpPr>
        <p:spPr>
          <a:xfrm>
            <a:off x="8092440" y="367202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maxSurge rounds up, maxUnavailable rounds down. At 10 replicas the 25% defaults give surge 3, unavailable 2.</a:t>
            </a:r>
          </a:p>
        </p:txBody>
      </p:sp>
      <p:sp>
        <p:nvSpPr>
          <p:cNvPr id="17" name="Rectangle 16"/>
          <p:cNvSpPr/>
          <p:nvPr/>
        </p:nvSpPr>
        <p:spPr>
          <a:xfrm>
            <a:off x="7927848" y="4165800"/>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1475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Zero unavailable costs capacity</a:t>
            </a:r>
          </a:p>
        </p:txBody>
      </p:sp>
      <p:sp>
        <p:nvSpPr>
          <p:cNvPr id="19" name="TextBox 18"/>
          <p:cNvSpPr txBox="1"/>
          <p:nvPr/>
        </p:nvSpPr>
        <p:spPr>
          <a:xfrm>
            <a:off x="8092440" y="43669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You must have headroom for the extra Pods, and quota to admit them, or the rollout simply stalls.</a:t>
            </a:r>
          </a:p>
        </p:txBody>
      </p:sp>
      <p:sp>
        <p:nvSpPr>
          <p:cNvPr id="20" name="Rectangle 19"/>
          <p:cNvSpPr/>
          <p:nvPr/>
        </p:nvSpPr>
        <p:spPr>
          <a:xfrm>
            <a:off x="7927848" y="4860744"/>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424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Recreate has no floor</a:t>
            </a:r>
          </a:p>
        </p:txBody>
      </p:sp>
      <p:sp>
        <p:nvSpPr>
          <p:cNvPr id="22" name="TextBox 21"/>
          <p:cNvSpPr txBox="1"/>
          <p:nvPr/>
        </p:nvSpPr>
        <p:spPr>
          <a:xfrm>
            <a:off x="8092440" y="50619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is plotted here to show the contrast: available Pods reach 0 by design.</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162</a:t>
            </a:r>
          </a:p>
        </p:txBody>
      </p:sp>
    </p:spTree>
  </p:cSld>
  <p:clrMapOvr>
    <a:masterClrMapping/>
  </p:clrMapOvr>
  <p:transition xmlns:ns1="http://schemas.openxmlformats.org/markup-compatibility/2006" spd="fast" ns1:Ignorable="p14">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FINE PRINT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Percentages, Rounding and Edge Cases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These rules are why two Deployments with the same percentages behave differently at different replica counts.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Both fields accept an int or a percentage string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maxSurge: 1 and maxSurge: "25%" are both valid. The string form is resolved against .spec.replicas at rollout time.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maxSurge rounds up</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25% of 10 is 2.5, which becomes 3. The ceiling is generous so a rollout can always start.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maxUnavailable rounds down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25% of 10 is 2.5, which becomes 2. The floor is conservative so availability is protected.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Both zero is rejected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spec.strategy.rollingUpdate.maxUnavailable: Invalid value: may not be 0 when maxSurge is 0.</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Percentages plus scaling interact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Change replicas mid-rollout and the effective integers change with it. Prefer explicit integers for predictable behaviour.</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maxUnavailable can exceed the deficit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maxUnavailable greater than or equal to replicas makes the rollout behave close to Recreate while still using two ReplicaSets.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163</a:t>
            </a:r>
          </a:p>
        </p:txBody>
      </p:sp>
    </p:spTree>
  </p:cSld>
  <p:clrMapOvr>
    <a:masterClrMapping/>
  </p:clrMapOvr>
  <p:transition xmlns:ns1="http://schemas.openxmlformats.org/markup-compatibility/2006" spd="fast" ns1:Ignorable="p14">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MEASURED LAB OBSERVATION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Real Rollout at replicas 4, maxSurge 1, maxUnavailable 0</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These seven rows are captured cluster output, not a simulation. Compare them against the previous slide's model.</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Pod count (captured during rollout)</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Measured, not modelled</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Successive samples of kubectl get deploy -w during Lab 07 on the isolated kind cluster.</a:t>
            </a:r>
          </a:p>
        </p:txBody>
      </p:sp>
      <p:sp>
        <p:nvSpPr>
          <p:cNvPr id="14" name="Rectangle 13"/>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TOTAL never exceeds 5</a:t>
            </a:r>
          </a:p>
        </p:txBody>
      </p:sp>
      <p:sp>
        <p:nvSpPr>
          <p:cNvPr id="16" name="TextBox 15"/>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That is the ceiling, 4 + maxSurge 1. The controller refuses to create a sixth Pod even to go faster.</a:t>
            </a:r>
          </a:p>
        </p:txBody>
      </p:sp>
      <p:sp>
        <p:nvSpPr>
          <p:cNvPr id="17" name="Rectangle 16"/>
          <p:cNvSpPr/>
          <p:nvPr/>
        </p:nvSpPr>
        <p:spPr>
          <a:xfrm>
            <a:off x="7927848" y="40742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559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AVAILABLE never drops below 4</a:t>
            </a:r>
          </a:p>
        </p:txBody>
      </p:sp>
      <p:sp>
        <p:nvSpPr>
          <p:cNvPr id="19" name="TextBox 18"/>
          <p:cNvSpPr txBox="1"/>
          <p:nvPr/>
        </p:nvSpPr>
        <p:spPr>
          <a:xfrm>
            <a:off x="8092440" y="42754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That is the floor, 4 - maxUnavailable 0. Serving capacity is preserved for the whole change.</a:t>
            </a:r>
          </a:p>
        </p:txBody>
      </p:sp>
      <p:sp>
        <p:nvSpPr>
          <p:cNvPr id="20" name="Rectangle 19"/>
          <p:cNvSpPr/>
          <p:nvPr/>
        </p:nvSpPr>
        <p:spPr>
          <a:xfrm>
            <a:off x="7927848" y="47692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509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UPDATED is the progress bar</a:t>
            </a:r>
          </a:p>
        </p:txBody>
      </p:sp>
      <p:sp>
        <p:nvSpPr>
          <p:cNvPr id="22" name="TextBox 21"/>
          <p:cNvSpPr txBox="1"/>
          <p:nvPr/>
        </p:nvSpPr>
        <p:spPr>
          <a:xfrm>
            <a:off x="8092440" y="49703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climbs 1, 2, 3, 4 as new Pods pass readiness and minReadySeconds; TOTAL falls back to 4 at the end.</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164</a:t>
            </a:r>
          </a:p>
        </p:txBody>
      </p:sp>
    </p:spTree>
  </p:cSld>
  <p:clrMapOvr>
    <a:masterClrMapping/>
  </p:clrMapOvr>
  <p:transition xmlns:ns1="http://schemas.openxmlformats.org/markup-compatibility/2006" spd="fast" ns1:Ignorable="p14">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REVISIONS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Creates a Revision — and What Does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Rollback is only possible because the old ReplicaSet object still exists. Understand that and rollback stops being magic.</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Any change to .spec.template creates one</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Image, command, env, resources, labels, annotations inside the template — all of it hashes into a new ReplicaSet.</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Changing .spec.replicas does NOT</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Scaling is not a new Pod template, so no revision is cut and no new ReplicaSet appears.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Revision numbers live on the ReplicaSet</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deployment.kubernetes.io/revision is an annotation on each ReplicaSet, not a field on the Deployment.</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CHANGE-CAUSE comes from an annotation you set</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kubernetes.io/change-cause on the Deployment. If you never set it, the history column reads &lt;none&gt;.</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revisionHistoryLimit prunes old ReplicaSets</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Default is 10. Old ReplicaSets are kept at 0 replicas purely so you can roll back to them.</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There is no snapshot store</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History is the surviving ReplicaSet objects. Prune them and the corresponding rollback target is gone forever.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165</a:t>
            </a:r>
          </a:p>
        </p:txBody>
      </p:sp>
    </p:spTree>
  </p:cSld>
  <p:clrMapOvr>
    <a:masterClrMapping/>
  </p:clrMapOvr>
  <p:transition xmlns:ns1="http://schemas.openxmlformats.org/markup-compatibility/2006" spd="fast" ns1:Ignorable="p14">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rollout history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Revision history is not a log. It is a set of live objects you can inspect and scale.</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07 — captured on the isolated kind cluster</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rollout history deployment/freight-portal \</a:t>
            </a:r>
          </a:p>
          <a:p>
            <a:pPr>
              <a:lnSpc>
                <a:spcPts val="1476"/>
              </a:lnSpc>
              <a:spcAft>
                <a:spcPts val="0"/>
              </a:spcAft>
            </a:pPr>
            <a:r>
              <a:rPr sz="1000">
                <a:solidFill>
                  <a:srgbClr val="E6EDF3"/>
                </a:solidFill>
                <a:latin typeface="Consolas"/>
              </a:rPr>
              <a:t>    -n kcna-lab07</a:t>
            </a:r>
          </a:p>
          <a:p>
            <a:pPr>
              <a:lnSpc>
                <a:spcPts val="1476"/>
              </a:lnSpc>
              <a:spcAft>
                <a:spcPts val="0"/>
              </a:spcAft>
            </a:pPr>
            <a:r>
              <a:rPr sz="1000">
                <a:solidFill>
                  <a:srgbClr val="E6EDF3"/>
                </a:solidFill>
                <a:latin typeface="Consolas"/>
              </a:rPr>
              <a:t>deployment.apps/freight-portal</a:t>
            </a:r>
          </a:p>
          <a:p>
            <a:pPr>
              <a:lnSpc>
                <a:spcPts val="1476"/>
              </a:lnSpc>
              <a:spcAft>
                <a:spcPts val="0"/>
              </a:spcAft>
            </a:pPr>
            <a:r>
              <a:rPr sz="1000">
                <a:solidFill>
                  <a:srgbClr val="E6EDF3"/>
                </a:solidFill>
                <a:latin typeface="Consolas"/>
              </a:rPr>
              <a:t>REVISION  CHANGE-CAUSE</a:t>
            </a:r>
          </a:p>
          <a:p>
            <a:pPr>
              <a:lnSpc>
                <a:spcPts val="1476"/>
              </a:lnSpc>
              <a:spcAft>
                <a:spcPts val="0"/>
              </a:spcAft>
            </a:pPr>
            <a:r>
              <a:rPr sz="1000">
                <a:solidFill>
                  <a:srgbClr val="E6EDF3"/>
                </a:solidFill>
                <a:latin typeface="Consolas"/>
              </a:rPr>
              <a:t>1         r24.1 - initial portal release</a:t>
            </a:r>
          </a:p>
          <a:p>
            <a:pPr>
              <a:lnSpc>
                <a:spcPts val="1476"/>
              </a:lnSpc>
              <a:spcAft>
                <a:spcPts val="0"/>
              </a:spcAft>
            </a:pPr>
            <a:r>
              <a:rPr sz="1000">
                <a:solidFill>
                  <a:srgbClr val="E6EDF3"/>
                </a:solidFill>
                <a:latin typeface="Consolas"/>
              </a:rPr>
              <a:t>2         r24.2 - customs banner, zero-unavailable rollout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rs -n kcna-lab07 -o custom-columns=\</a:t>
            </a:r>
          </a:p>
          <a:p>
            <a:pPr>
              <a:lnSpc>
                <a:spcPts val="1476"/>
              </a:lnSpc>
              <a:spcAft>
                <a:spcPts val="0"/>
              </a:spcAft>
            </a:pPr>
            <a:r>
              <a:rPr sz="1000">
                <a:solidFill>
                  <a:srgbClr val="E6EDF3"/>
                </a:solidFill>
                <a:latin typeface="Consolas"/>
              </a:rPr>
              <a:t>NAME:.metadata.name,\</a:t>
            </a:r>
          </a:p>
          <a:p>
            <a:pPr>
              <a:lnSpc>
                <a:spcPts val="1476"/>
              </a:lnSpc>
              <a:spcAft>
                <a:spcPts val="0"/>
              </a:spcAft>
            </a:pPr>
            <a:r>
              <a:rPr sz="1000">
                <a:solidFill>
                  <a:srgbClr val="E6EDF3"/>
                </a:solidFill>
                <a:latin typeface="Consolas"/>
              </a:rPr>
              <a:t>REVISION:.metadata.annotations.'deployment\.kubernetes\.io/revision',\</a:t>
            </a:r>
          </a:p>
          <a:p>
            <a:pPr>
              <a:lnSpc>
                <a:spcPts val="1476"/>
              </a:lnSpc>
              <a:spcAft>
                <a:spcPts val="0"/>
              </a:spcAft>
            </a:pPr>
            <a:r>
              <a:rPr sz="1000">
                <a:solidFill>
                  <a:srgbClr val="E6EDF3"/>
                </a:solidFill>
                <a:latin typeface="Consolas"/>
              </a:rPr>
              <a:t>DESIRED:.spec.replicas</a:t>
            </a:r>
          </a:p>
          <a:p>
            <a:pPr>
              <a:lnSpc>
                <a:spcPts val="1476"/>
              </a:lnSpc>
              <a:spcAft>
                <a:spcPts val="0"/>
              </a:spcAft>
            </a:pPr>
            <a:r>
              <a:rPr sz="1000">
                <a:solidFill>
                  <a:srgbClr val="E6EDF3"/>
                </a:solidFill>
                <a:latin typeface="Consolas"/>
              </a:rPr>
              <a:t>NAME                        REVISION   DESIRED</a:t>
            </a:r>
          </a:p>
          <a:p>
            <a:pPr>
              <a:lnSpc>
                <a:spcPts val="1476"/>
              </a:lnSpc>
              <a:spcAft>
                <a:spcPts val="0"/>
              </a:spcAft>
            </a:pPr>
            <a:r>
              <a:rPr sz="1000">
                <a:solidFill>
                  <a:srgbClr val="E6EDF3"/>
                </a:solidFill>
                <a:latin typeface="Consolas"/>
              </a:rPr>
              <a:t>freight-portal-6c9f4b8d57   1          0</a:t>
            </a:r>
          </a:p>
          <a:p>
            <a:pPr>
              <a:lnSpc>
                <a:spcPts val="1476"/>
              </a:lnSpc>
              <a:spcAft>
                <a:spcPts val="0"/>
              </a:spcAft>
            </a:pPr>
            <a:r>
              <a:rPr sz="1000">
                <a:solidFill>
                  <a:srgbClr val="E6EDF3"/>
                </a:solidFill>
                <a:latin typeface="Consolas"/>
              </a:rPr>
              <a:t>freight-portal-7d84c65f9b   2          4</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revisions, two ReplicaSets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history command is a rendering of the ReplicaSet objects that still exist. It reads nothing else.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Revision 1 sits at DESIRED 0</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old ReplicaSet is retained but scaled to zero. It costs one API object and no compute.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CHANGE-CAUSE is your text</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copied from the kubernetes.io/change-cause annotation. Discipline here is the difference between a usable history and a list of numbers.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hash suffix is pod-template-hash</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6c9f4b8d57 identifies the template, so an identical template always maps back to the same ReplicaSet.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166</a:t>
            </a:r>
          </a:p>
        </p:txBody>
      </p:sp>
    </p:spTree>
  </p:cSld>
  <p:clrMapOvr>
    <a:masterClrMapping/>
  </p:clrMapOvr>
  <p:transition xmlns:ns1="http://schemas.openxmlformats.org/markup-compatibility/2006" spd="fast" ns1:Ignorable="p14">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Inspecting One Revision's Pod Template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Before you roll back, read what you are rolling back to. The revision carries far more than an image tag.</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07 — captured on the isolated kind cluster</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rollout history deployment/freight-portal \</a:t>
            </a:r>
          </a:p>
          <a:p>
            <a:pPr>
              <a:lnSpc>
                <a:spcPts val="1413"/>
              </a:lnSpc>
              <a:spcAft>
                <a:spcPts val="0"/>
              </a:spcAft>
            </a:pPr>
            <a:r>
              <a:rPr sz="1000">
                <a:solidFill>
                  <a:srgbClr val="E6EDF3"/>
                </a:solidFill>
                <a:latin typeface="Consolas"/>
              </a:rPr>
              <a:t>    --revision=1 -n kcna-lab07</a:t>
            </a:r>
          </a:p>
          <a:p>
            <a:pPr>
              <a:lnSpc>
                <a:spcPts val="1413"/>
              </a:lnSpc>
              <a:spcAft>
                <a:spcPts val="0"/>
              </a:spcAft>
            </a:pPr>
            <a:r>
              <a:rPr sz="1000">
                <a:solidFill>
                  <a:srgbClr val="E6EDF3"/>
                </a:solidFill>
                <a:latin typeface="Consolas"/>
              </a:rPr>
              <a:t>deployment.apps/freight-portal with revision #1</a:t>
            </a:r>
          </a:p>
          <a:p>
            <a:pPr>
              <a:lnSpc>
                <a:spcPts val="1413"/>
              </a:lnSpc>
              <a:spcAft>
                <a:spcPts val="0"/>
              </a:spcAft>
            </a:pPr>
            <a:r>
              <a:rPr sz="1000">
                <a:solidFill>
                  <a:srgbClr val="E6EDF3"/>
                </a:solidFill>
                <a:latin typeface="Consolas"/>
              </a:rPr>
              <a:t>Pod Template:</a:t>
            </a:r>
          </a:p>
          <a:p>
            <a:pPr>
              <a:lnSpc>
                <a:spcPts val="1413"/>
              </a:lnSpc>
              <a:spcAft>
                <a:spcPts val="0"/>
              </a:spcAft>
            </a:pPr>
            <a:r>
              <a:rPr sz="1000">
                <a:solidFill>
                  <a:srgbClr val="E6EDF3"/>
                </a:solidFill>
                <a:latin typeface="Consolas"/>
              </a:rPr>
              <a:t>  Labels:  app=freight-portal</a:t>
            </a:r>
          </a:p>
          <a:p>
            <a:pPr>
              <a:lnSpc>
                <a:spcPts val="1413"/>
              </a:lnSpc>
              <a:spcAft>
                <a:spcPts val="0"/>
              </a:spcAft>
            </a:pPr>
            <a:r>
              <a:rPr sz="1000">
                <a:solidFill>
                  <a:srgbClr val="E6EDF3"/>
                </a:solidFill>
                <a:latin typeface="Consolas"/>
              </a:rPr>
              <a:t>           pod-template-hash=6c9f4b8d57</a:t>
            </a:r>
          </a:p>
          <a:p>
            <a:pPr>
              <a:lnSpc>
                <a:spcPts val="1413"/>
              </a:lnSpc>
              <a:spcAft>
                <a:spcPts val="0"/>
              </a:spcAft>
            </a:pPr>
            <a:r>
              <a:rPr sz="1000">
                <a:solidFill>
                  <a:srgbClr val="E6EDF3"/>
                </a:solidFill>
                <a:latin typeface="Consolas"/>
              </a:rPr>
              <a:t>           release=r24.1</a:t>
            </a:r>
          </a:p>
          <a:p>
            <a:pPr>
              <a:lnSpc>
                <a:spcPts val="1413"/>
              </a:lnSpc>
              <a:spcAft>
                <a:spcPts val="0"/>
              </a:spcAft>
            </a:pPr>
            <a:r>
              <a:rPr sz="1000">
                <a:solidFill>
                  <a:srgbClr val="E6EDF3"/>
                </a:solidFill>
                <a:latin typeface="Consolas"/>
              </a:rPr>
              <a:t>           tier=edge</a:t>
            </a:r>
          </a:p>
          <a:p>
            <a:pPr>
              <a:lnSpc>
                <a:spcPts val="1413"/>
              </a:lnSpc>
              <a:spcAft>
                <a:spcPts val="0"/>
              </a:spcAft>
            </a:pPr>
            <a:r>
              <a:rPr sz="1000">
                <a:solidFill>
                  <a:srgbClr val="E6EDF3"/>
                </a:solidFill>
                <a:latin typeface="Consolas"/>
              </a:rPr>
              <a:t>  Annotations:  kubernetes.io/change-cause:</a:t>
            </a:r>
          </a:p>
          <a:p>
            <a:pPr>
              <a:lnSpc>
                <a:spcPts val="1413"/>
              </a:lnSpc>
              <a:spcAft>
                <a:spcPts val="0"/>
              </a:spcAft>
            </a:pPr>
            <a:r>
              <a:rPr sz="1000">
                <a:solidFill>
                  <a:srgbClr val="E6EDF3"/>
                </a:solidFill>
                <a:latin typeface="Consolas"/>
              </a:rPr>
              <a:t>                r24.1 - initial portal release</a:t>
            </a:r>
          </a:p>
          <a:p>
            <a:pPr>
              <a:lnSpc>
                <a:spcPts val="1413"/>
              </a:lnSpc>
              <a:spcAft>
                <a:spcPts val="0"/>
              </a:spcAft>
            </a:pPr>
            <a:r>
              <a:rPr sz="1000">
                <a:solidFill>
                  <a:srgbClr val="E6EDF3"/>
                </a:solidFill>
                <a:latin typeface="Consolas"/>
              </a:rPr>
              <a:t>  Containers:</a:t>
            </a:r>
          </a:p>
          <a:p>
            <a:pPr>
              <a:lnSpc>
                <a:spcPts val="1413"/>
              </a:lnSpc>
              <a:spcAft>
                <a:spcPts val="0"/>
              </a:spcAft>
            </a:pPr>
            <a:r>
              <a:rPr sz="1000">
                <a:solidFill>
                  <a:srgbClr val="E6EDF3"/>
                </a:solidFill>
                <a:latin typeface="Consolas"/>
              </a:rPr>
              <a:t>   web:</a:t>
            </a:r>
          </a:p>
          <a:p>
            <a:pPr>
              <a:lnSpc>
                <a:spcPts val="1413"/>
              </a:lnSpc>
              <a:spcAft>
                <a:spcPts val="0"/>
              </a:spcAft>
            </a:pPr>
            <a:r>
              <a:rPr sz="1000">
                <a:solidFill>
                  <a:srgbClr val="E6EDF3"/>
                </a:solidFill>
                <a:latin typeface="Consolas"/>
              </a:rPr>
              <a:t>    Image:  nginx:1.27-alpine</a:t>
            </a:r>
          </a:p>
          <a:p>
            <a:pPr>
              <a:lnSpc>
                <a:spcPts val="1413"/>
              </a:lnSpc>
              <a:spcAft>
                <a:spcPts val="0"/>
              </a:spcAft>
            </a:pPr>
            <a:r>
              <a:rPr sz="1000">
                <a:solidFill>
                  <a:srgbClr val="E6EDF3"/>
                </a:solidFill>
                <a:latin typeface="Consolas"/>
              </a:rPr>
              <a:t>    Limits:    cpu: 200m   memory: 128Mi</a:t>
            </a:r>
          </a:p>
          <a:p>
            <a:pPr>
              <a:lnSpc>
                <a:spcPts val="1413"/>
              </a:lnSpc>
              <a:spcAft>
                <a:spcPts val="0"/>
              </a:spcAft>
            </a:pPr>
            <a:r>
              <a:rPr sz="1000">
                <a:solidFill>
                  <a:srgbClr val="E6EDF3"/>
                </a:solidFill>
                <a:latin typeface="Consolas"/>
              </a:rPr>
              <a:t>    Requests:  cpu: 50m    memory: 64Mi</a:t>
            </a:r>
          </a:p>
          <a:p>
            <a:pPr>
              <a:lnSpc>
                <a:spcPts val="1413"/>
              </a:lnSpc>
              <a:spcAft>
                <a:spcPts val="0"/>
              </a:spcAft>
            </a:pPr>
            <a:r>
              <a:rPr sz="1000">
                <a:solidFill>
                  <a:srgbClr val="E6EDF3"/>
                </a:solidFill>
                <a:latin typeface="Consolas"/>
              </a:rPr>
              <a:t>    Readiness: http-get http://:http/index.html</a:t>
            </a:r>
          </a:p>
          <a:p>
            <a:pPr>
              <a:lnSpc>
                <a:spcPts val="1413"/>
              </a:lnSpc>
              <a:spcAft>
                <a:spcPts val="0"/>
              </a:spcAft>
            </a:pPr>
            <a:r>
              <a:rPr sz="1000">
                <a:solidFill>
                  <a:srgbClr val="E6EDF3"/>
                </a:solidFill>
                <a:latin typeface="Consolas"/>
              </a:rPr>
              <a:t>               delay=2s timeout=1s period=3s</a:t>
            </a:r>
          </a:p>
          <a:p>
            <a:pPr>
              <a:lnSpc>
                <a:spcPts val="1413"/>
              </a:lnSpc>
              <a:spcAft>
                <a:spcPts val="0"/>
              </a:spcAft>
            </a:pPr>
            <a:r>
              <a:rPr sz="1000">
                <a:solidFill>
                  <a:srgbClr val="7D8A99"/>
                </a:solidFill>
                <a:latin typeface="Consolas"/>
              </a:rPr>
              <a:t>               #success=1 #failure=3</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This is the whole template, not a diff</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--revision renders the stored Pod template of that ReplicaSet. Diff two revisions by rendering both.</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pod-template-hash is inside the labels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controller injected it. You never write this label, and editing it breaks ownership.</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Resources travel with the revision</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rollback restores the old requests and limits too, which can change the Pod's QoS class.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Readiness settings are part of the contract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Roll back and you also roll back the probe timings that define what AVAILABLE means.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167</a:t>
            </a:r>
          </a:p>
        </p:txBody>
      </p:sp>
    </p:spTree>
  </p:cSld>
  <p:clrMapOvr>
    <a:masterClrMapping/>
  </p:clrMapOvr>
  <p:transition xmlns:ns1="http://schemas.openxmlformats.org/markup-compatibility/2006" spd="fast" ns1:Ignorable="p14">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`kubectl rollout undo` Actually Does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There is no restore-from-backup step anywhere in this sequence.</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Locate the target ReplicaSet</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Either the previous revision, or the one named by --to-revision. It must still exist.</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Copy its template back</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Deployment's .spec.template is overwritten with the stored template from that ReplicaSet.</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Run a normal rollout</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same RollingUpdate arithmetic applies. Rollback is not a special fast path — it is a forward rollout to an old shape.</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Re-stamp the revision number</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revived ReplicaSet receives the next revision number. The number it used to hold disappears from the history.</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Rollback is a forward change that happens to point backwards. That is why it obeys maxSurge, maxUnavailable and progressDeadlineSeconds exactly like any other rollout.</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168</a:t>
            </a:r>
          </a:p>
        </p:txBody>
      </p:sp>
    </p:spTree>
  </p:cSld>
  <p:clrMapOvr>
    <a:masterClrMapping/>
  </p:clrMapOvr>
  <p:transition xmlns:ns4="http://schemas.openxmlformats.org/markup-compatibility/2006" spd="fast" ns4:Ignorable="p14">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History After a Rollback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revision numbering after an undo surprises almost everyone the first time. Read it carefully.</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07 — captured on the isolated kind cluster</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rollout undo deployment/freight-portal \</a:t>
            </a:r>
          </a:p>
          <a:p>
            <a:pPr>
              <a:lnSpc>
                <a:spcPts val="1476"/>
              </a:lnSpc>
              <a:spcAft>
                <a:spcPts val="0"/>
              </a:spcAft>
            </a:pPr>
            <a:r>
              <a:rPr sz="1000">
                <a:solidFill>
                  <a:srgbClr val="E6EDF3"/>
                </a:solidFill>
                <a:latin typeface="Consolas"/>
              </a:rPr>
              <a:t>    -n kcna-lab07</a:t>
            </a:r>
          </a:p>
          <a:p>
            <a:pPr>
              <a:lnSpc>
                <a:spcPts val="1476"/>
              </a:lnSpc>
              <a:spcAft>
                <a:spcPts val="0"/>
              </a:spcAft>
            </a:pPr>
            <a:r>
              <a:rPr sz="1000">
                <a:solidFill>
                  <a:srgbClr val="E6EDF3"/>
                </a:solidFill>
                <a:latin typeface="Consolas"/>
              </a:rPr>
              <a:t>deployment.apps/freight-portal rolled back</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rollout history deployment/freight-portal \</a:t>
            </a:r>
          </a:p>
          <a:p>
            <a:pPr>
              <a:lnSpc>
                <a:spcPts val="1476"/>
              </a:lnSpc>
              <a:spcAft>
                <a:spcPts val="0"/>
              </a:spcAft>
            </a:pPr>
            <a:r>
              <a:rPr sz="1000">
                <a:solidFill>
                  <a:srgbClr val="E6EDF3"/>
                </a:solidFill>
                <a:latin typeface="Consolas"/>
              </a:rPr>
              <a:t>    -n kcna-lab07</a:t>
            </a:r>
          </a:p>
          <a:p>
            <a:pPr>
              <a:lnSpc>
                <a:spcPts val="1476"/>
              </a:lnSpc>
              <a:spcAft>
                <a:spcPts val="0"/>
              </a:spcAft>
            </a:pPr>
            <a:r>
              <a:rPr sz="1000">
                <a:solidFill>
                  <a:srgbClr val="E6EDF3"/>
                </a:solidFill>
                <a:latin typeface="Consolas"/>
              </a:rPr>
              <a:t>deployment.apps/freight-portal</a:t>
            </a:r>
          </a:p>
          <a:p>
            <a:pPr>
              <a:lnSpc>
                <a:spcPts val="1476"/>
              </a:lnSpc>
              <a:spcAft>
                <a:spcPts val="0"/>
              </a:spcAft>
            </a:pPr>
            <a:r>
              <a:rPr sz="1000">
                <a:solidFill>
                  <a:srgbClr val="E6EDF3"/>
                </a:solidFill>
                <a:latin typeface="Consolas"/>
              </a:rPr>
              <a:t>REVISION  CHANGE-CAUSE</a:t>
            </a:r>
          </a:p>
          <a:p>
            <a:pPr>
              <a:lnSpc>
                <a:spcPts val="1476"/>
              </a:lnSpc>
              <a:spcAft>
                <a:spcPts val="0"/>
              </a:spcAft>
            </a:pPr>
            <a:r>
              <a:rPr sz="1000">
                <a:solidFill>
                  <a:srgbClr val="E6EDF3"/>
                </a:solidFill>
                <a:latin typeface="Consolas"/>
              </a:rPr>
              <a:t>1         r24.1 - initial portal release</a:t>
            </a:r>
          </a:p>
          <a:p>
            <a:pPr>
              <a:lnSpc>
                <a:spcPts val="1476"/>
              </a:lnSpc>
              <a:spcAft>
                <a:spcPts val="0"/>
              </a:spcAft>
            </a:pPr>
            <a:r>
              <a:rPr sz="1000">
                <a:solidFill>
                  <a:srgbClr val="E6EDF3"/>
                </a:solidFill>
                <a:latin typeface="Consolas"/>
              </a:rPr>
              <a:t>3         r24.3 - BROKEN image tag (deliberate)</a:t>
            </a:r>
          </a:p>
          <a:p>
            <a:pPr>
              <a:lnSpc>
                <a:spcPts val="1476"/>
              </a:lnSpc>
              <a:spcAft>
                <a:spcPts val="0"/>
              </a:spcAft>
            </a:pPr>
            <a:r>
              <a:rPr sz="1000">
                <a:solidFill>
                  <a:srgbClr val="E6EDF3"/>
                </a:solidFill>
                <a:latin typeface="Consolas"/>
              </a:rPr>
              <a:t>4         r24.2 - customs banner, zero-unavailable rollout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NAME                        REVISION   DESIRED   IMAGE</a:t>
            </a:r>
          </a:p>
          <a:p>
            <a:pPr>
              <a:lnSpc>
                <a:spcPts val="1476"/>
              </a:lnSpc>
              <a:spcAft>
                <a:spcPts val="0"/>
              </a:spcAft>
            </a:pPr>
            <a:r>
              <a:rPr sz="1000">
                <a:solidFill>
                  <a:srgbClr val="E6EDF3"/>
                </a:solidFill>
                <a:latin typeface="Consolas"/>
              </a:rPr>
              <a:t>freight-portal-5f7b9c4d68   3          0         nginx:1.27-alpine-mfs-hotfix</a:t>
            </a:r>
          </a:p>
          <a:p>
            <a:pPr>
              <a:lnSpc>
                <a:spcPts val="1476"/>
              </a:lnSpc>
              <a:spcAft>
                <a:spcPts val="0"/>
              </a:spcAft>
            </a:pPr>
            <a:r>
              <a:rPr sz="1000">
                <a:solidFill>
                  <a:srgbClr val="E6EDF3"/>
                </a:solidFill>
                <a:latin typeface="Consolas"/>
              </a:rPr>
              <a:t>freight-portal-6c9f4b8d57   1          0         nginx:1.27-alpine</a:t>
            </a:r>
          </a:p>
          <a:p>
            <a:pPr>
              <a:lnSpc>
                <a:spcPts val="1476"/>
              </a:lnSpc>
              <a:spcAft>
                <a:spcPts val="0"/>
              </a:spcAft>
            </a:pPr>
            <a:r>
              <a:rPr sz="1000">
                <a:solidFill>
                  <a:srgbClr val="E6EDF3"/>
                </a:solidFill>
                <a:latin typeface="Consolas"/>
              </a:rPr>
              <a:t>freight-portal-7d84c65f9b   4          4         nginx:1.27-alpine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Revision 2 has vanished</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Its ReplicaSet was re-stamped as revision 4. The object is the same; only the annotation changed.</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broken revision 3 is still listed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Rollback does not delete the bad revision. It stays at DESIRED 0 as a record until history is pruned.</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Only one ReplicaSet has DESIRED 4</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Exactly one revision is live at a time. The others exist purely as rollback targets.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Numbers are not stable identities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Never script against a revision number. Script against the image or the change-cause you control.</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169</a:t>
            </a:r>
          </a:p>
        </p:txBody>
      </p:sp>
    </p:spTree>
  </p:cSld>
  <p:clrMapOvr>
    <a:masterClrMapping/>
  </p:clrMapOvr>
  <p:transition xmlns:ns1="http://schemas.openxmlformats.org/markup-compatibility/2006" spd="fast" ns1:Ignorable="p14">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Rollout Wedged by a Bad Image — ProgressDeadlineExceeded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single most valuable failure on Day 2: a safe stall, not an outage. The strategy did its job.</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rollout stops at one updated Pod and never finishes; the old version keeps serving traffic the whole time.</a:t>
            </a:r>
          </a:p>
        </p:txBody>
      </p:sp>
      <p:sp>
        <p:nvSpPr>
          <p:cNvPr id="11" name="Rectangle 10"/>
          <p:cNvSpPr/>
          <p:nvPr/>
        </p:nvSpPr>
        <p:spPr>
          <a:xfrm>
            <a:off x="777240" y="2913278"/>
            <a:ext cx="6172200" cy="3003804"/>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436876"/>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rollout status deployment/freight-portal</a:t>
            </a:r>
          </a:p>
          <a:p>
            <a:pPr>
              <a:lnSpc>
                <a:spcPts val="1476"/>
              </a:lnSpc>
              <a:spcAft>
                <a:spcPts val="0"/>
              </a:spcAft>
            </a:pPr>
            <a:r>
              <a:rPr sz="950">
                <a:solidFill>
                  <a:srgbClr val="E6EDF3"/>
                </a:solidFill>
                <a:latin typeface="Consolas"/>
              </a:rPr>
              <a:t>Waiting for deployment "freight-portal" rollout to</a:t>
            </a:r>
          </a:p>
          <a:p>
            <a:pPr>
              <a:lnSpc>
                <a:spcPts val="1476"/>
              </a:lnSpc>
              <a:spcAft>
                <a:spcPts val="0"/>
              </a:spcAft>
            </a:pPr>
            <a:r>
              <a:rPr sz="950">
                <a:solidFill>
                  <a:srgbClr val="E6EDF3"/>
                </a:solidFill>
                <a:latin typeface="Consolas"/>
              </a:rPr>
              <a:t>finish: 1 out of 4 new replicas have been updated...</a:t>
            </a:r>
          </a:p>
          <a:p>
            <a:pPr>
              <a:lnSpc>
                <a:spcPts val="1476"/>
              </a:lnSpc>
              <a:spcAft>
                <a:spcPts val="0"/>
              </a:spcAft>
            </a:pPr>
            <a:r>
              <a:rPr sz="950">
                <a:solidFill>
                  <a:srgbClr val="E6EDF3"/>
                </a:solidFill>
                <a:latin typeface="Consolas"/>
              </a:rPr>
              <a:t>error: deployment "freight-portal" exceeded its</a:t>
            </a:r>
          </a:p>
          <a:p>
            <a:pPr>
              <a:lnSpc>
                <a:spcPts val="1476"/>
              </a:lnSpc>
              <a:spcAft>
                <a:spcPts val="0"/>
              </a:spcAft>
            </a:pPr>
            <a:r>
              <a:rPr sz="950">
                <a:solidFill>
                  <a:srgbClr val="E6EDF3"/>
                </a:solidFill>
                <a:latin typeface="Consolas"/>
              </a:rPr>
              <a:t>progress deadline</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Warning  Failed   41s (x4)  kubelet  Failed to pull image</a:t>
            </a:r>
          </a:p>
          <a:p>
            <a:pPr>
              <a:lnSpc>
                <a:spcPts val="1476"/>
              </a:lnSpc>
              <a:spcAft>
                <a:spcPts val="0"/>
              </a:spcAft>
            </a:pPr>
            <a:r>
              <a:rPr sz="950">
                <a:solidFill>
                  <a:srgbClr val="E6EDF3"/>
                </a:solidFill>
                <a:latin typeface="Consolas"/>
              </a:rPr>
              <a:t>  "nginx:1.27-alpine-mfs-hotfix": ... not found</a:t>
            </a:r>
          </a:p>
          <a:p>
            <a:pPr>
              <a:lnSpc>
                <a:spcPts val="1476"/>
              </a:lnSpc>
              <a:spcAft>
                <a:spcPts val="0"/>
              </a:spcAft>
            </a:pPr>
            <a:r>
              <a:rPr sz="950">
                <a:solidFill>
                  <a:srgbClr val="E6EDF3"/>
                </a:solidFill>
                <a:latin typeface="Consolas"/>
              </a:rPr>
              <a:t>Warning  Failed   41s (x4)  kubelet  Error: ErrImagePull</a:t>
            </a:r>
          </a:p>
          <a:p>
            <a:pPr>
              <a:lnSpc>
                <a:spcPts val="1476"/>
              </a:lnSpc>
              <a:spcAft>
                <a:spcPts val="0"/>
              </a:spcAft>
            </a:pPr>
            <a:r>
              <a:rPr sz="950">
                <a:solidFill>
                  <a:srgbClr val="E6EDF3"/>
                </a:solidFill>
                <a:latin typeface="Consolas"/>
              </a:rPr>
              <a:t>Warning  Failed   5s  (x7)  kubelet  Error: ImagePullBackOff</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Available=True    reason=MinimumReplicasAvailable</a:t>
            </a:r>
          </a:p>
          <a:p>
            <a:pPr>
              <a:lnSpc>
                <a:spcPts val="1476"/>
              </a:lnSpc>
              <a:spcAft>
                <a:spcPts val="0"/>
              </a:spcAft>
            </a:pPr>
            <a:r>
              <a:rPr sz="950">
                <a:solidFill>
                  <a:srgbClr val="E6EDF3"/>
                </a:solidFill>
                <a:latin typeface="Consolas"/>
              </a:rPr>
              <a:t>Progressing=False reason=ProgressDeadlineExceeded</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new image tag does not exist in the registry, so the new Pod never becomes Ready.</a:t>
            </a:r>
          </a:p>
          <a:p>
            <a:pPr>
              <a:lnSpc>
                <a:spcPct val="112000"/>
              </a:lnSpc>
              <a:spcAft>
                <a:spcPts val="200"/>
              </a:spcAft>
            </a:pPr>
            <a:r>
              <a:rPr sz="950">
                <a:solidFill>
                  <a:srgbClr val="94A3B8"/>
                </a:solidFill>
                <a:latin typeface="Arial"/>
              </a:rPr>
              <a:t>•  </a:t>
            </a:r>
            <a:r>
              <a:rPr sz="950">
                <a:solidFill>
                  <a:srgbClr val="5B6372"/>
                </a:solidFill>
                <a:latin typeface="Arial"/>
              </a:rPr>
              <a:t>maxUnavailable: 0 forbids deleting any old Pod until a new one is Available — so the rollout correctly refuses to proceed.</a:t>
            </a:r>
          </a:p>
          <a:p>
            <a:pPr>
              <a:lnSpc>
                <a:spcPct val="112000"/>
              </a:lnSpc>
              <a:spcAft>
                <a:spcPts val="200"/>
              </a:spcAft>
            </a:pPr>
            <a:r>
              <a:rPr sz="950">
                <a:solidFill>
                  <a:srgbClr val="94A3B8"/>
                </a:solidFill>
                <a:latin typeface="Arial"/>
              </a:rPr>
              <a:t>•  </a:t>
            </a:r>
            <a:r>
              <a:rPr sz="950">
                <a:solidFill>
                  <a:srgbClr val="5B6372"/>
                </a:solidFill>
                <a:latin typeface="Arial"/>
              </a:rPr>
              <a:t>progressDeadlineSeconds: 120 elapsed with no progress, so the controller set Progressing=False.</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kubectl rollout undo to return to the last good revision — the wedge is safe to sit in while you decide.</a:t>
            </a:r>
          </a:p>
          <a:p>
            <a:pPr>
              <a:lnSpc>
                <a:spcPct val="112000"/>
              </a:lnSpc>
              <a:spcAft>
                <a:spcPts val="200"/>
              </a:spcAft>
            </a:pPr>
            <a:r>
              <a:rPr sz="950">
                <a:solidFill>
                  <a:srgbClr val="94A3B8"/>
                </a:solidFill>
                <a:latin typeface="Arial"/>
              </a:rPr>
              <a:t>•  </a:t>
            </a:r>
            <a:r>
              <a:rPr sz="950">
                <a:solidFill>
                  <a:srgbClr val="5B6372"/>
                </a:solidFill>
                <a:latin typeface="Arial"/>
              </a:rPr>
              <a:t>Read both conditions: Available=True means users are fine; Progressing=False means the change is not.</a:t>
            </a:r>
          </a:p>
          <a:p>
            <a:pPr>
              <a:lnSpc>
                <a:spcPct val="112000"/>
              </a:lnSpc>
              <a:spcAft>
                <a:spcPts val="200"/>
              </a:spcAft>
            </a:pPr>
            <a:r>
              <a:rPr sz="950">
                <a:solidFill>
                  <a:srgbClr val="94A3B8"/>
                </a:solidFill>
                <a:latin typeface="Arial"/>
              </a:rPr>
              <a:t>•  </a:t>
            </a:r>
            <a:r>
              <a:rPr sz="950">
                <a:solidFill>
                  <a:srgbClr val="5B6372"/>
                </a:solidFill>
                <a:latin typeface="Arial"/>
              </a:rPr>
              <a:t>Pin real digests or verified tags in CI so a typo cannot reach the cluster.</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170</a:t>
            </a:r>
          </a:p>
        </p:txBody>
      </p:sp>
    </p:spTree>
  </p:cSld>
  <p:clrMapOvr>
    <a:masterClrMapping/>
  </p:clrMapOvr>
  <p:transition xmlns:ns1="http://schemas.openxmlformats.org/markup-compatibility/2006" spd="fast" ns1:Ignorable="p14">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Deployment Status Fields and Conditions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.status.replicas</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Total Pods owned across all its ReplicaSets</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.status.updatedReplicas</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 already running the current template</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.status.readyReplicas</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 whose readiness probes currently pass</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.status.availableReplicas</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Ready for at least minReadySeconds — the number the floor is measured against</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.status.unavailableReplicas</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Desired minus available; drives the maxUnavailable check</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.status.observedGeneration</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Which .metadata.generation the controller has processed</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Available</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True when availableReplicas meets the minimum — this is about users</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Progressing</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True while the rollout is advancing — this is about the change</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ReplicaFailure</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True when Pod creation is being refused, e.g. by quota</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reason=NewReplicaSetAvailable</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healthy terminal reason on Progressing</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reason=ProgressDeadlineExceeded</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 progress within progressDeadlineSeconds</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Rule of thumb</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Available answers 'is the service up?'; Progressing answers 'is my change landing?'</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171</a:t>
            </a:r>
          </a:p>
        </p:txBody>
      </p:sp>
    </p:spTree>
  </p:cSld>
  <p:clrMapOvr>
    <a:masterClrMapping/>
  </p:clrMapOvr>
  <p:transition xmlns:ns1="http://schemas.openxmlformats.org/markup-compatibility/2006" spd="fast" ns1:Ignorable="p14">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Editing an Immutable Selector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Immutability here is protecting you from an orphaned fleet, but it means selector design is a one-way door.</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label-scheme cleanup is rejected on apply; the Deployment cannot be edited into the new shape at all.</a:t>
            </a:r>
          </a:p>
        </p:txBody>
      </p:sp>
      <p:sp>
        <p:nvSpPr>
          <p:cNvPr id="11" name="Rectangle 10"/>
          <p:cNvSpPr/>
          <p:nvPr/>
        </p:nvSpPr>
        <p:spPr>
          <a:xfrm>
            <a:off x="777240" y="2913278"/>
            <a:ext cx="6172200" cy="1879091"/>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312163"/>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40-deployment-selector-change.yaml</a:t>
            </a:r>
          </a:p>
          <a:p>
            <a:pPr>
              <a:lnSpc>
                <a:spcPts val="1476"/>
              </a:lnSpc>
              <a:spcAft>
                <a:spcPts val="0"/>
              </a:spcAft>
            </a:pPr>
            <a:r>
              <a:rPr sz="950">
                <a:solidFill>
                  <a:srgbClr val="E6EDF3"/>
                </a:solidFill>
                <a:latin typeface="Consolas"/>
              </a:rPr>
              <a:t>The Deployment "freight-portal" is invalid:</a:t>
            </a:r>
          </a:p>
          <a:p>
            <a:pPr>
              <a:lnSpc>
                <a:spcPts val="1476"/>
              </a:lnSpc>
              <a:spcAft>
                <a:spcPts val="0"/>
              </a:spcAft>
            </a:pPr>
            <a:r>
              <a:rPr sz="950">
                <a:solidFill>
                  <a:srgbClr val="E6EDF3"/>
                </a:solidFill>
                <a:latin typeface="Consolas"/>
              </a:rPr>
              <a:t>spec.selector: Invalid value: v1.LabelSelector{</a:t>
            </a:r>
          </a:p>
          <a:p>
            <a:pPr>
              <a:lnSpc>
                <a:spcPts val="1476"/>
              </a:lnSpc>
              <a:spcAft>
                <a:spcPts val="0"/>
              </a:spcAft>
            </a:pPr>
            <a:r>
              <a:rPr sz="950">
                <a:solidFill>
                  <a:srgbClr val="E6EDF3"/>
                </a:solidFill>
                <a:latin typeface="Consolas"/>
              </a:rPr>
              <a:t>MatchLabels:map[string]string{</a:t>
            </a:r>
          </a:p>
          <a:p>
            <a:pPr>
              <a:lnSpc>
                <a:spcPts val="1476"/>
              </a:lnSpc>
              <a:spcAft>
                <a:spcPts val="0"/>
              </a:spcAft>
            </a:pPr>
            <a:r>
              <a:rPr sz="950">
                <a:solidFill>
                  <a:srgbClr val="E6EDF3"/>
                </a:solidFill>
                <a:latin typeface="Consolas"/>
              </a:rPr>
              <a:t>"app":"freight-portal", "tier":"frontend"},</a:t>
            </a:r>
          </a:p>
          <a:p>
            <a:pPr>
              <a:lnSpc>
                <a:spcPts val="1476"/>
              </a:lnSpc>
              <a:spcAft>
                <a:spcPts val="0"/>
              </a:spcAft>
            </a:pPr>
            <a:r>
              <a:rPr sz="950">
                <a:solidFill>
                  <a:srgbClr val="E6EDF3"/>
                </a:solidFill>
                <a:latin typeface="Consolas"/>
              </a:rPr>
              <a:t>MatchExpressions:[]v1.LabelSelectorRequirement(nil)}:</a:t>
            </a:r>
          </a:p>
          <a:p>
            <a:pPr>
              <a:lnSpc>
                <a:spcPts val="1476"/>
              </a:lnSpc>
              <a:spcAft>
                <a:spcPts val="0"/>
              </a:spcAft>
            </a:pPr>
            <a:r>
              <a:rPr sz="950">
                <a:solidFill>
                  <a:srgbClr val="E6EDF3"/>
                </a:solidFill>
                <a:latin typeface="Consolas"/>
              </a:rPr>
              <a:t>field is immutable</a:t>
            </a:r>
          </a:p>
        </p:txBody>
      </p:sp>
      <p:sp>
        <p:nvSpPr>
          <p:cNvPr id="14" name="Rectangle 13"/>
          <p:cNvSpPr/>
          <p:nvPr/>
        </p:nvSpPr>
        <p:spPr>
          <a:xfrm>
            <a:off x="7205472" y="2913278"/>
            <a:ext cx="4270247" cy="119406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79172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A Deployment's .spec.selector is settable once, at creation.</a:t>
            </a:r>
          </a:p>
          <a:p>
            <a:pPr>
              <a:lnSpc>
                <a:spcPct val="112000"/>
              </a:lnSpc>
              <a:spcAft>
                <a:spcPts val="200"/>
              </a:spcAft>
            </a:pPr>
            <a:r>
              <a:rPr sz="950">
                <a:solidFill>
                  <a:srgbClr val="94A3B8"/>
                </a:solidFill>
                <a:latin typeface="Arial"/>
              </a:rPr>
              <a:t>•  </a:t>
            </a:r>
            <a:r>
              <a:rPr sz="950">
                <a:solidFill>
                  <a:srgbClr val="5B6372"/>
                </a:solidFill>
                <a:latin typeface="Arial"/>
              </a:rPr>
              <a:t>Changing it would strand every existing ReplicaSet and Pod outside the new selector with no owner.</a:t>
            </a:r>
          </a:p>
          <a:p>
            <a:pPr>
              <a:lnSpc>
                <a:spcPct val="112000"/>
              </a:lnSpc>
              <a:spcAft>
                <a:spcPts val="200"/>
              </a:spcAft>
            </a:pPr>
            <a:r>
              <a:rPr sz="950">
                <a:solidFill>
                  <a:srgbClr val="94A3B8"/>
                </a:solidFill>
                <a:latin typeface="Arial"/>
              </a:rPr>
              <a:t>•  </a:t>
            </a:r>
            <a:r>
              <a:rPr sz="950">
                <a:solidFill>
                  <a:srgbClr val="5B6372"/>
                </a:solidFill>
                <a:latin typeface="Arial"/>
              </a:rPr>
              <a:t>The template labels may change freely — only the selector is frozen.</a:t>
            </a:r>
          </a:p>
        </p:txBody>
      </p:sp>
      <p:sp>
        <p:nvSpPr>
          <p:cNvPr id="18" name="Rectangle 17"/>
          <p:cNvSpPr/>
          <p:nvPr/>
        </p:nvSpPr>
        <p:spPr>
          <a:xfrm>
            <a:off x="7205472" y="4217070"/>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217070"/>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253646"/>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564542"/>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Create a new Deployment with the new selector, shift traffic at the Service, then delete the old one.</a:t>
            </a:r>
          </a:p>
          <a:p>
            <a:pPr>
              <a:lnSpc>
                <a:spcPct val="112000"/>
              </a:lnSpc>
              <a:spcAft>
                <a:spcPts val="200"/>
              </a:spcAft>
            </a:pPr>
            <a:r>
              <a:rPr sz="950">
                <a:solidFill>
                  <a:srgbClr val="94A3B8"/>
                </a:solidFill>
                <a:latin typeface="Arial"/>
              </a:rPr>
              <a:t>•  </a:t>
            </a:r>
            <a:r>
              <a:rPr sz="950">
                <a:solidFill>
                  <a:srgbClr val="5B6372"/>
                </a:solidFill>
                <a:latin typeface="Arial"/>
              </a:rPr>
              <a:t>Or delete the Deployment with --cascade=orphan, then adopt the surviving Pods with the replacement.</a:t>
            </a:r>
          </a:p>
          <a:p>
            <a:pPr>
              <a:lnSpc>
                <a:spcPct val="112000"/>
              </a:lnSpc>
              <a:spcAft>
                <a:spcPts val="200"/>
              </a:spcAft>
            </a:pPr>
            <a:r>
              <a:rPr sz="950">
                <a:solidFill>
                  <a:srgbClr val="94A3B8"/>
                </a:solidFill>
                <a:latin typeface="Arial"/>
              </a:rPr>
              <a:t>•  </a:t>
            </a:r>
            <a:r>
              <a:rPr sz="950">
                <a:solidFill>
                  <a:srgbClr val="5B6372"/>
                </a:solidFill>
                <a:latin typeface="Arial"/>
              </a:rPr>
              <a:t>Design the label scheme before the first apply; treat the selector as part of the object's identity.</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apply --dry-run=server surfaces this without touching the running Deployment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172</a:t>
            </a:r>
          </a:p>
        </p:txBody>
      </p:sp>
    </p:spTree>
  </p:cSld>
  <p:clrMapOvr>
    <a:masterClrMapping/>
  </p:clrMapOvr>
  <p:transition xmlns:ns1="http://schemas.openxmlformats.org/markup-compatibility/2006" spd="fast" ns1:Ignorable="p14">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DELIVERY PATTERNS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Blue/Green and Canary Are Built On These Primitives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ships one strategy field. Everything else in the release-engineering vocabulary is composed from Deployments, Services and labels.</a:t>
            </a:r>
          </a:p>
        </p:txBody>
      </p:sp>
      <p:sp>
        <p:nvSpPr>
          <p:cNvPr id="7" name="Rectangle 6"/>
          <p:cNvSpPr/>
          <p:nvPr/>
        </p:nvSpPr>
        <p:spPr>
          <a:xfrm>
            <a:off x="777240"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Rolling update</a:t>
            </a:r>
          </a:p>
        </p:txBody>
      </p:sp>
      <p:sp>
        <p:nvSpPr>
          <p:cNvPr id="10" name="TextBox 9"/>
          <p:cNvSpPr txBox="1"/>
          <p:nvPr/>
        </p:nvSpPr>
        <p:spPr>
          <a:xfrm>
            <a:off x="1033271"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Native to the Deployment object — one strategy field.</a:t>
            </a:r>
          </a:p>
          <a:p>
            <a:pPr>
              <a:lnSpc>
                <a:spcPct val="112000"/>
              </a:lnSpc>
              <a:spcAft>
                <a:spcPts val="500"/>
              </a:spcAft>
            </a:pPr>
            <a:r>
              <a:rPr sz="1100">
                <a:solidFill>
                  <a:srgbClr val="94A3B8"/>
                </a:solidFill>
                <a:latin typeface="Arial"/>
              </a:rPr>
              <a:t>•  </a:t>
            </a:r>
            <a:r>
              <a:rPr sz="1100">
                <a:solidFill>
                  <a:srgbClr val="5B6372"/>
                </a:solidFill>
                <a:latin typeface="Arial"/>
              </a:rPr>
              <a:t>Two ReplicaSets, gradual replacement, automatic.</a:t>
            </a:r>
          </a:p>
          <a:p>
            <a:pPr>
              <a:lnSpc>
                <a:spcPct val="112000"/>
              </a:lnSpc>
              <a:spcAft>
                <a:spcPts val="500"/>
              </a:spcAft>
            </a:pPr>
            <a:r>
              <a:rPr sz="1100">
                <a:solidFill>
                  <a:srgbClr val="94A3B8"/>
                </a:solidFill>
                <a:latin typeface="Arial"/>
              </a:rPr>
              <a:t>•  </a:t>
            </a:r>
            <a:r>
              <a:rPr sz="1100">
                <a:solidFill>
                  <a:srgbClr val="5B6372"/>
                </a:solidFill>
                <a:latin typeface="Arial"/>
              </a:rPr>
              <a:t>Traffic split follows Pod counts, not policy.</a:t>
            </a:r>
          </a:p>
          <a:p>
            <a:pPr>
              <a:lnSpc>
                <a:spcPct val="112000"/>
              </a:lnSpc>
              <a:spcAft>
                <a:spcPts val="500"/>
              </a:spcAft>
            </a:pPr>
            <a:r>
              <a:rPr sz="1100">
                <a:solidFill>
                  <a:srgbClr val="94A3B8"/>
                </a:solidFill>
                <a:latin typeface="Arial"/>
              </a:rPr>
              <a:t>•  </a:t>
            </a:r>
            <a:r>
              <a:rPr sz="1100">
                <a:solidFill>
                  <a:srgbClr val="5B6372"/>
                </a:solidFill>
                <a:latin typeface="Arial"/>
              </a:rPr>
              <a:t>Rollback is kubectl rollout undo.</a:t>
            </a:r>
          </a:p>
          <a:p>
            <a:pPr>
              <a:lnSpc>
                <a:spcPct val="112000"/>
              </a:lnSpc>
              <a:spcAft>
                <a:spcPts val="500"/>
              </a:spcAft>
            </a:pPr>
            <a:r>
              <a:rPr sz="1100">
                <a:solidFill>
                  <a:srgbClr val="94A3B8"/>
                </a:solidFill>
                <a:latin typeface="Arial"/>
              </a:rPr>
              <a:t>•  </a:t>
            </a:r>
            <a:r>
              <a:rPr sz="1100">
                <a:solidFill>
                  <a:srgbClr val="5B6372"/>
                </a:solidFill>
                <a:latin typeface="Arial"/>
              </a:rPr>
              <a:t>Cost: two versions live simultaneously.</a:t>
            </a:r>
          </a:p>
        </p:txBody>
      </p:sp>
      <p:sp>
        <p:nvSpPr>
          <p:cNvPr id="11" name="Rounded Rectangle 10"/>
          <p:cNvSpPr/>
          <p:nvPr/>
        </p:nvSpPr>
        <p:spPr>
          <a:xfrm>
            <a:off x="1033271" y="5532119"/>
            <a:ext cx="10744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strategy.type</a:t>
            </a:r>
          </a:p>
        </p:txBody>
      </p:sp>
      <p:sp>
        <p:nvSpPr>
          <p:cNvPr id="12" name="Rounded Rectangle 11"/>
          <p:cNvSpPr/>
          <p:nvPr/>
        </p:nvSpPr>
        <p:spPr>
          <a:xfrm>
            <a:off x="2199132" y="5532119"/>
            <a:ext cx="7315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maxSurge</a:t>
            </a:r>
          </a:p>
        </p:txBody>
      </p:sp>
      <p:sp>
        <p:nvSpPr>
          <p:cNvPr id="13" name="Rounded Rectangle 12"/>
          <p:cNvSpPr/>
          <p:nvPr/>
        </p:nvSpPr>
        <p:spPr>
          <a:xfrm>
            <a:off x="3022092" y="5532119"/>
            <a:ext cx="7315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built-in</a:t>
            </a:r>
          </a:p>
        </p:txBody>
      </p:sp>
      <p:sp>
        <p:nvSpPr>
          <p:cNvPr id="14" name="Rectangle 13"/>
          <p:cNvSpPr/>
          <p:nvPr/>
        </p:nvSpPr>
        <p:spPr>
          <a:xfrm>
            <a:off x="4483303"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4483303" y="2208885"/>
            <a:ext cx="3286353" cy="10972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4739335"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Blue/green</a:t>
            </a:r>
          </a:p>
        </p:txBody>
      </p:sp>
      <p:sp>
        <p:nvSpPr>
          <p:cNvPr id="17" name="TextBox 16"/>
          <p:cNvSpPr txBox="1"/>
          <p:nvPr/>
        </p:nvSpPr>
        <p:spPr>
          <a:xfrm>
            <a:off x="4739335"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Two complete Deployments, blue and green, both running.</a:t>
            </a:r>
          </a:p>
          <a:p>
            <a:pPr>
              <a:lnSpc>
                <a:spcPct val="112000"/>
              </a:lnSpc>
              <a:spcAft>
                <a:spcPts val="500"/>
              </a:spcAft>
            </a:pPr>
            <a:r>
              <a:rPr sz="1100">
                <a:solidFill>
                  <a:srgbClr val="94A3B8"/>
                </a:solidFill>
                <a:latin typeface="Arial"/>
              </a:rPr>
              <a:t>•  </a:t>
            </a:r>
            <a:r>
              <a:rPr sz="1100">
                <a:solidFill>
                  <a:srgbClr val="5B6372"/>
                </a:solidFill>
                <a:latin typeface="Arial"/>
              </a:rPr>
              <a:t>A Service selector edit cuts all traffic at once.</a:t>
            </a:r>
          </a:p>
          <a:p>
            <a:pPr>
              <a:lnSpc>
                <a:spcPct val="112000"/>
              </a:lnSpc>
              <a:spcAft>
                <a:spcPts val="500"/>
              </a:spcAft>
            </a:pPr>
            <a:r>
              <a:rPr sz="1100">
                <a:solidFill>
                  <a:srgbClr val="94A3B8"/>
                </a:solidFill>
                <a:latin typeface="Arial"/>
              </a:rPr>
              <a:t>•  </a:t>
            </a:r>
            <a:r>
              <a:rPr sz="1100">
                <a:solidFill>
                  <a:srgbClr val="5B6372"/>
                </a:solidFill>
                <a:latin typeface="Arial"/>
              </a:rPr>
              <a:t>Rollback is instantaneous — flip the selector back.</a:t>
            </a:r>
          </a:p>
          <a:p>
            <a:pPr>
              <a:lnSpc>
                <a:spcPct val="112000"/>
              </a:lnSpc>
              <a:spcAft>
                <a:spcPts val="500"/>
              </a:spcAft>
            </a:pPr>
            <a:r>
              <a:rPr sz="1100">
                <a:solidFill>
                  <a:srgbClr val="94A3B8"/>
                </a:solidFill>
                <a:latin typeface="Arial"/>
              </a:rPr>
              <a:t>•  </a:t>
            </a:r>
            <a:r>
              <a:rPr sz="1100">
                <a:solidFill>
                  <a:srgbClr val="5B6372"/>
                </a:solidFill>
                <a:latin typeface="Arial"/>
              </a:rPr>
              <a:t>Cost: double the capacity for the overlap window.</a:t>
            </a:r>
          </a:p>
          <a:p>
            <a:pPr>
              <a:lnSpc>
                <a:spcPct val="112000"/>
              </a:lnSpc>
              <a:spcAft>
                <a:spcPts val="500"/>
              </a:spcAft>
            </a:pPr>
            <a:r>
              <a:rPr sz="1100">
                <a:solidFill>
                  <a:srgbClr val="94A3B8"/>
                </a:solidFill>
                <a:latin typeface="Arial"/>
              </a:rPr>
              <a:t>•  </a:t>
            </a:r>
            <a:r>
              <a:rPr sz="1100">
                <a:solidFill>
                  <a:srgbClr val="5B6372"/>
                </a:solidFill>
                <a:latin typeface="Arial"/>
              </a:rPr>
              <a:t>Not a Kubernetes object; you assemble it.</a:t>
            </a:r>
          </a:p>
        </p:txBody>
      </p:sp>
      <p:sp>
        <p:nvSpPr>
          <p:cNvPr id="18" name="Rounded Rectangle 17"/>
          <p:cNvSpPr/>
          <p:nvPr/>
        </p:nvSpPr>
        <p:spPr>
          <a:xfrm>
            <a:off x="4739335" y="5532119"/>
            <a:ext cx="107442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2 Deployments</a:t>
            </a:r>
          </a:p>
        </p:txBody>
      </p:sp>
      <p:sp>
        <p:nvSpPr>
          <p:cNvPr id="19" name="Rounded Rectangle 18"/>
          <p:cNvSpPr/>
          <p:nvPr/>
        </p:nvSpPr>
        <p:spPr>
          <a:xfrm>
            <a:off x="5905195" y="5532119"/>
            <a:ext cx="128016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Service selector</a:t>
            </a:r>
          </a:p>
        </p:txBody>
      </p:sp>
      <p:sp>
        <p:nvSpPr>
          <p:cNvPr id="20" name="Rounded Rectangle 19"/>
          <p:cNvSpPr/>
          <p:nvPr/>
        </p:nvSpPr>
        <p:spPr>
          <a:xfrm>
            <a:off x="7276795" y="5532119"/>
            <a:ext cx="8001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assembled</a:t>
            </a:r>
          </a:p>
        </p:txBody>
      </p:sp>
      <p:sp>
        <p:nvSpPr>
          <p:cNvPr id="21" name="Rectangle 20"/>
          <p:cNvSpPr/>
          <p:nvPr/>
        </p:nvSpPr>
        <p:spPr>
          <a:xfrm>
            <a:off x="8189366"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22" name="Rectangle 21"/>
          <p:cNvSpPr/>
          <p:nvPr/>
        </p:nvSpPr>
        <p:spPr>
          <a:xfrm>
            <a:off x="8189366" y="2208885"/>
            <a:ext cx="3286353" cy="109728"/>
          </a:xfrm>
          <a:prstGeom prst="rect">
            <a:avLst/>
          </a:prstGeom>
          <a:solidFill>
            <a:srgbClr val="7C3AED"/>
          </a:solidFill>
          <a:ln>
            <a:noFill/>
          </a:ln>
          <a:effectLst/>
        </p:spPr>
        <p:txBody>
          <a:bodyPr rtlCol="0" anchor="ctr" wrap="square"/>
          <a:lstStyle/>
          <a:p>
            <a:pPr algn="ctr"/>
          </a:p>
        </p:txBody>
      </p:sp>
      <p:sp>
        <p:nvSpPr>
          <p:cNvPr id="23" name="TextBox 22"/>
          <p:cNvSpPr txBox="1"/>
          <p:nvPr/>
        </p:nvSpPr>
        <p:spPr>
          <a:xfrm>
            <a:off x="8445398"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Canary</a:t>
            </a:r>
          </a:p>
        </p:txBody>
      </p:sp>
      <p:sp>
        <p:nvSpPr>
          <p:cNvPr id="24" name="TextBox 23"/>
          <p:cNvSpPr txBox="1"/>
          <p:nvPr/>
        </p:nvSpPr>
        <p:spPr>
          <a:xfrm>
            <a:off x="8445398"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Small second Deployment sharing the Service selector.</a:t>
            </a:r>
          </a:p>
          <a:p>
            <a:pPr>
              <a:lnSpc>
                <a:spcPct val="112000"/>
              </a:lnSpc>
              <a:spcAft>
                <a:spcPts val="500"/>
              </a:spcAft>
            </a:pPr>
            <a:r>
              <a:rPr sz="1100">
                <a:solidFill>
                  <a:srgbClr val="94A3B8"/>
                </a:solidFill>
                <a:latin typeface="Arial"/>
              </a:rPr>
              <a:t>•  </a:t>
            </a:r>
            <a:r>
              <a:rPr sz="1100">
                <a:solidFill>
                  <a:srgbClr val="5B6372"/>
                </a:solidFill>
                <a:latin typeface="Arial"/>
              </a:rPr>
              <a:t>Split is by replica ratio, e.g. 1 canary to 9 stable.</a:t>
            </a:r>
          </a:p>
          <a:p>
            <a:pPr>
              <a:lnSpc>
                <a:spcPct val="112000"/>
              </a:lnSpc>
              <a:spcAft>
                <a:spcPts val="500"/>
              </a:spcAft>
            </a:pPr>
            <a:r>
              <a:rPr sz="1100">
                <a:solidFill>
                  <a:srgbClr val="94A3B8"/>
                </a:solidFill>
                <a:latin typeface="Arial"/>
              </a:rPr>
              <a:t>•  </a:t>
            </a:r>
            <a:r>
              <a:rPr sz="1100">
                <a:solidFill>
                  <a:srgbClr val="5B6372"/>
                </a:solidFill>
                <a:latin typeface="Arial"/>
              </a:rPr>
              <a:t>Promote by scaling up; abort by scaling to zero.</a:t>
            </a:r>
          </a:p>
          <a:p>
            <a:pPr>
              <a:lnSpc>
                <a:spcPct val="112000"/>
              </a:lnSpc>
              <a:spcAft>
                <a:spcPts val="500"/>
              </a:spcAft>
            </a:pPr>
            <a:r>
              <a:rPr sz="1100">
                <a:solidFill>
                  <a:srgbClr val="94A3B8"/>
                </a:solidFill>
                <a:latin typeface="Arial"/>
              </a:rPr>
              <a:t>•  </a:t>
            </a:r>
            <a:r>
              <a:rPr sz="1100">
                <a:solidFill>
                  <a:srgbClr val="5B6372"/>
                </a:solidFill>
                <a:latin typeface="Arial"/>
              </a:rPr>
              <a:t>Finer, weighted splits need a mesh or Gateway API.</a:t>
            </a:r>
          </a:p>
          <a:p>
            <a:pPr>
              <a:lnSpc>
                <a:spcPct val="112000"/>
              </a:lnSpc>
              <a:spcAft>
                <a:spcPts val="500"/>
              </a:spcAft>
            </a:pPr>
            <a:r>
              <a:rPr sz="1100">
                <a:solidFill>
                  <a:srgbClr val="94A3B8"/>
                </a:solidFill>
                <a:latin typeface="Arial"/>
              </a:rPr>
              <a:t>•  </a:t>
            </a:r>
            <a:r>
              <a:rPr sz="1100">
                <a:solidFill>
                  <a:srgbClr val="5B6372"/>
                </a:solidFill>
                <a:latin typeface="Arial"/>
              </a:rPr>
              <a:t>Argo Rollouts and Flagger automate the judgement.</a:t>
            </a:r>
          </a:p>
        </p:txBody>
      </p:sp>
      <p:sp>
        <p:nvSpPr>
          <p:cNvPr id="25" name="Rounded Rectangle 24"/>
          <p:cNvSpPr/>
          <p:nvPr/>
        </p:nvSpPr>
        <p:spPr>
          <a:xfrm>
            <a:off x="8445398" y="5532119"/>
            <a:ext cx="10744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replica ratio</a:t>
            </a:r>
          </a:p>
        </p:txBody>
      </p:sp>
      <p:sp>
        <p:nvSpPr>
          <p:cNvPr id="26" name="Rounded Rectangle 25"/>
          <p:cNvSpPr/>
          <p:nvPr/>
        </p:nvSpPr>
        <p:spPr>
          <a:xfrm>
            <a:off x="9611258" y="5532119"/>
            <a:ext cx="10744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Argo Rollouts</a:t>
            </a:r>
          </a:p>
        </p:txBody>
      </p:sp>
      <p:sp>
        <p:nvSpPr>
          <p:cNvPr id="27" name="Rounded Rectangle 26"/>
          <p:cNvSpPr/>
          <p:nvPr/>
        </p:nvSpPr>
        <p:spPr>
          <a:xfrm>
            <a:off x="10777118" y="5532119"/>
            <a:ext cx="66294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Flagger</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173</a:t>
            </a:r>
          </a:p>
        </p:txBody>
      </p:sp>
    </p:spTree>
  </p:cSld>
  <p:clrMapOvr>
    <a:masterClrMapping/>
  </p:clrMapOvr>
  <p:transition xmlns:ns1="http://schemas.openxmlformats.org/markup-compatibility/2006" spd="fast" ns1:Ignorable="p14">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CHOOSING A RELEASE PATTERN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Cost, Blast Radius and Rollback Speed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2223060" cy="42062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905256" y="1837943"/>
            <a:ext cx="19670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Pattern</a:t>
            </a:r>
          </a:p>
        </p:txBody>
      </p:sp>
      <p:sp>
        <p:nvSpPr>
          <p:cNvPr id="8" name="Rectangle 7"/>
          <p:cNvSpPr/>
          <p:nvPr/>
        </p:nvSpPr>
        <p:spPr>
          <a:xfrm>
            <a:off x="3000300" y="1737360"/>
            <a:ext cx="2639884" cy="42062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3128316" y="1837943"/>
            <a:ext cx="238385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Extra capacity</a:t>
            </a:r>
          </a:p>
        </p:txBody>
      </p:sp>
      <p:sp>
        <p:nvSpPr>
          <p:cNvPr id="10" name="Rectangle 9"/>
          <p:cNvSpPr/>
          <p:nvPr/>
        </p:nvSpPr>
        <p:spPr>
          <a:xfrm>
            <a:off x="5640185" y="1737360"/>
            <a:ext cx="2917767" cy="420624"/>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5768201" y="1837943"/>
            <a:ext cx="266173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Rollback</a:t>
            </a:r>
          </a:p>
        </p:txBody>
      </p:sp>
      <p:sp>
        <p:nvSpPr>
          <p:cNvPr id="12" name="Rectangle 11"/>
          <p:cNvSpPr/>
          <p:nvPr/>
        </p:nvSpPr>
        <p:spPr>
          <a:xfrm>
            <a:off x="8557952" y="1737360"/>
            <a:ext cx="2917767" cy="420624"/>
          </a:xfrm>
          <a:prstGeom prst="rect">
            <a:avLst/>
          </a:prstGeom>
          <a:solidFill>
            <a:srgbClr val="1F6FEB"/>
          </a:solidFill>
          <a:ln>
            <a:noFill/>
          </a:ln>
          <a:effectLst/>
        </p:spPr>
        <p:txBody>
          <a:bodyPr rtlCol="0" anchor="ctr" wrap="square"/>
          <a:lstStyle/>
          <a:p>
            <a:pPr algn="ctr"/>
          </a:p>
        </p:txBody>
      </p:sp>
      <p:sp>
        <p:nvSpPr>
          <p:cNvPr id="13" name="TextBox 12"/>
          <p:cNvSpPr txBox="1"/>
          <p:nvPr/>
        </p:nvSpPr>
        <p:spPr>
          <a:xfrm>
            <a:off x="8685968" y="1837943"/>
            <a:ext cx="266173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Blast radius</a:t>
            </a:r>
          </a:p>
        </p:txBody>
      </p:sp>
      <p:sp>
        <p:nvSpPr>
          <p:cNvPr id="14" name="Rectangle 13"/>
          <p:cNvSpPr/>
          <p:nvPr/>
        </p:nvSpPr>
        <p:spPr>
          <a:xfrm>
            <a:off x="777240" y="2157984"/>
            <a:ext cx="2223060" cy="566928"/>
          </a:xfrm>
          <a:prstGeom prst="rect">
            <a:avLst/>
          </a:prstGeom>
          <a:solidFill>
            <a:srgbClr val="FFFFFF"/>
          </a:solidFill>
          <a:ln w="9525">
            <a:solidFill>
              <a:srgbClr val="E2E8F0"/>
            </a:solidFill>
          </a:ln>
          <a:effectLst/>
        </p:spPr>
        <p:txBody>
          <a:bodyPr rtlCol="0" anchor="ctr" wrap="square"/>
          <a:lstStyle/>
          <a:p>
            <a:pPr algn="ctr"/>
          </a:p>
        </p:txBody>
      </p:sp>
      <p:sp>
        <p:nvSpPr>
          <p:cNvPr id="15" name="TextBox 14"/>
          <p:cNvSpPr txBox="1"/>
          <p:nvPr/>
        </p:nvSpPr>
        <p:spPr>
          <a:xfrm>
            <a:off x="905256" y="2240279"/>
            <a:ext cx="19670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RollingUpdate</a:t>
            </a:r>
          </a:p>
        </p:txBody>
      </p:sp>
      <p:sp>
        <p:nvSpPr>
          <p:cNvPr id="16" name="Rectangle 15"/>
          <p:cNvSpPr/>
          <p:nvPr/>
        </p:nvSpPr>
        <p:spPr>
          <a:xfrm>
            <a:off x="3000300" y="2157984"/>
            <a:ext cx="2639884" cy="566928"/>
          </a:xfrm>
          <a:prstGeom prst="rect">
            <a:avLst/>
          </a:prstGeom>
          <a:solidFill>
            <a:srgbClr val="FFFFFF"/>
          </a:solidFill>
          <a:ln w="9525">
            <a:solidFill>
              <a:srgbClr val="E2E8F0"/>
            </a:solidFill>
          </a:ln>
          <a:effectLst/>
        </p:spPr>
        <p:txBody>
          <a:bodyPr rtlCol="0" anchor="ctr" wrap="square"/>
          <a:lstStyle/>
          <a:p>
            <a:pPr algn="ctr"/>
          </a:p>
        </p:txBody>
      </p:sp>
      <p:sp>
        <p:nvSpPr>
          <p:cNvPr id="17" name="TextBox 16"/>
          <p:cNvSpPr txBox="1"/>
          <p:nvPr/>
        </p:nvSpPr>
        <p:spPr>
          <a:xfrm>
            <a:off x="3128316" y="2240279"/>
            <a:ext cx="23838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maxSurge only (e.g. +25%)</a:t>
            </a:r>
          </a:p>
        </p:txBody>
      </p:sp>
      <p:sp>
        <p:nvSpPr>
          <p:cNvPr id="18" name="Rectangle 17"/>
          <p:cNvSpPr/>
          <p:nvPr/>
        </p:nvSpPr>
        <p:spPr>
          <a:xfrm>
            <a:off x="5640185" y="2157984"/>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19" name="TextBox 18"/>
          <p:cNvSpPr txBox="1"/>
          <p:nvPr/>
        </p:nvSpPr>
        <p:spPr>
          <a:xfrm>
            <a:off x="5768201" y="2240279"/>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Another full rollout, minutes</a:t>
            </a:r>
          </a:p>
        </p:txBody>
      </p:sp>
      <p:sp>
        <p:nvSpPr>
          <p:cNvPr id="20" name="Rectangle 19"/>
          <p:cNvSpPr/>
          <p:nvPr/>
        </p:nvSpPr>
        <p:spPr>
          <a:xfrm>
            <a:off x="8557952" y="2157984"/>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21" name="TextBox 20"/>
          <p:cNvSpPr txBox="1"/>
          <p:nvPr/>
        </p:nvSpPr>
        <p:spPr>
          <a:xfrm>
            <a:off x="8685968" y="2240279"/>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Grows gradually as Pods are replaced</a:t>
            </a:r>
          </a:p>
        </p:txBody>
      </p:sp>
      <p:sp>
        <p:nvSpPr>
          <p:cNvPr id="22" name="Rectangle 21"/>
          <p:cNvSpPr/>
          <p:nvPr/>
        </p:nvSpPr>
        <p:spPr>
          <a:xfrm>
            <a:off x="777240" y="2724912"/>
            <a:ext cx="2223060" cy="566928"/>
          </a:xfrm>
          <a:prstGeom prst="rect">
            <a:avLst/>
          </a:prstGeom>
          <a:solidFill>
            <a:srgbClr val="F6F8FA"/>
          </a:solidFill>
          <a:ln w="9525">
            <a:solidFill>
              <a:srgbClr val="E2E8F0"/>
            </a:solidFill>
          </a:ln>
          <a:effectLst/>
        </p:spPr>
        <p:txBody>
          <a:bodyPr rtlCol="0" anchor="ctr" wrap="square"/>
          <a:lstStyle/>
          <a:p>
            <a:pPr algn="ctr"/>
          </a:p>
        </p:txBody>
      </p:sp>
      <p:sp>
        <p:nvSpPr>
          <p:cNvPr id="23" name="TextBox 22"/>
          <p:cNvSpPr txBox="1"/>
          <p:nvPr/>
        </p:nvSpPr>
        <p:spPr>
          <a:xfrm>
            <a:off x="905256" y="2807208"/>
            <a:ext cx="19670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Recreate</a:t>
            </a:r>
          </a:p>
        </p:txBody>
      </p:sp>
      <p:sp>
        <p:nvSpPr>
          <p:cNvPr id="24" name="Rectangle 23"/>
          <p:cNvSpPr/>
          <p:nvPr/>
        </p:nvSpPr>
        <p:spPr>
          <a:xfrm>
            <a:off x="3000300" y="2724912"/>
            <a:ext cx="2639884" cy="566928"/>
          </a:xfrm>
          <a:prstGeom prst="rect">
            <a:avLst/>
          </a:prstGeom>
          <a:solidFill>
            <a:srgbClr val="F6F8FA"/>
          </a:solidFill>
          <a:ln w="9525">
            <a:solidFill>
              <a:srgbClr val="E2E8F0"/>
            </a:solidFill>
          </a:ln>
          <a:effectLst/>
        </p:spPr>
        <p:txBody>
          <a:bodyPr rtlCol="0" anchor="ctr" wrap="square"/>
          <a:lstStyle/>
          <a:p>
            <a:pPr algn="ctr"/>
          </a:p>
        </p:txBody>
      </p:sp>
      <p:sp>
        <p:nvSpPr>
          <p:cNvPr id="25" name="TextBox 24"/>
          <p:cNvSpPr txBox="1"/>
          <p:nvPr/>
        </p:nvSpPr>
        <p:spPr>
          <a:xfrm>
            <a:off x="3128316" y="2807208"/>
            <a:ext cx="23838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a:t>
            </a:r>
          </a:p>
        </p:txBody>
      </p:sp>
      <p:sp>
        <p:nvSpPr>
          <p:cNvPr id="26" name="Rectangle 25"/>
          <p:cNvSpPr/>
          <p:nvPr/>
        </p:nvSpPr>
        <p:spPr>
          <a:xfrm>
            <a:off x="5640185" y="2724912"/>
            <a:ext cx="2917767" cy="566928"/>
          </a:xfrm>
          <a:prstGeom prst="rect">
            <a:avLst/>
          </a:prstGeom>
          <a:solidFill>
            <a:srgbClr val="F6F8FA"/>
          </a:solidFill>
          <a:ln w="9525">
            <a:solidFill>
              <a:srgbClr val="E2E8F0"/>
            </a:solidFill>
          </a:ln>
          <a:effectLst/>
        </p:spPr>
        <p:txBody>
          <a:bodyPr rtlCol="0" anchor="ctr" wrap="square"/>
          <a:lstStyle/>
          <a:p>
            <a:pPr algn="ctr"/>
          </a:p>
        </p:txBody>
      </p:sp>
      <p:sp>
        <p:nvSpPr>
          <p:cNvPr id="27" name="TextBox 26"/>
          <p:cNvSpPr txBox="1"/>
          <p:nvPr/>
        </p:nvSpPr>
        <p:spPr>
          <a:xfrm>
            <a:off x="5768201" y="2807208"/>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Another full rollout, plus a second outage</a:t>
            </a:r>
          </a:p>
        </p:txBody>
      </p:sp>
      <p:sp>
        <p:nvSpPr>
          <p:cNvPr id="28" name="Rectangle 27"/>
          <p:cNvSpPr/>
          <p:nvPr/>
        </p:nvSpPr>
        <p:spPr>
          <a:xfrm>
            <a:off x="8557952" y="2724912"/>
            <a:ext cx="2917767" cy="566928"/>
          </a:xfrm>
          <a:prstGeom prst="rect">
            <a:avLst/>
          </a:prstGeom>
          <a:solidFill>
            <a:srgbClr val="F6F8FA"/>
          </a:solidFill>
          <a:ln w="9525">
            <a:solidFill>
              <a:srgbClr val="E2E8F0"/>
            </a:solidFill>
          </a:ln>
          <a:effectLst/>
        </p:spPr>
        <p:txBody>
          <a:bodyPr rtlCol="0" anchor="ctr" wrap="square"/>
          <a:lstStyle/>
          <a:p>
            <a:pPr algn="ctr"/>
          </a:p>
        </p:txBody>
      </p:sp>
      <p:sp>
        <p:nvSpPr>
          <p:cNvPr id="29" name="TextBox 28"/>
          <p:cNvSpPr txBox="1"/>
          <p:nvPr/>
        </p:nvSpPr>
        <p:spPr>
          <a:xfrm>
            <a:off x="8685968" y="2807208"/>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Total for the duration</a:t>
            </a:r>
          </a:p>
        </p:txBody>
      </p:sp>
      <p:sp>
        <p:nvSpPr>
          <p:cNvPr id="30" name="Rectangle 29"/>
          <p:cNvSpPr/>
          <p:nvPr/>
        </p:nvSpPr>
        <p:spPr>
          <a:xfrm>
            <a:off x="777240" y="3291839"/>
            <a:ext cx="2223060" cy="566928"/>
          </a:xfrm>
          <a:prstGeom prst="rect">
            <a:avLst/>
          </a:prstGeom>
          <a:solidFill>
            <a:srgbClr val="FFFFFF"/>
          </a:solidFill>
          <a:ln w="9525">
            <a:solidFill>
              <a:srgbClr val="E2E8F0"/>
            </a:solidFill>
          </a:ln>
          <a:effectLst/>
        </p:spPr>
        <p:txBody>
          <a:bodyPr rtlCol="0" anchor="ctr" wrap="square"/>
          <a:lstStyle/>
          <a:p>
            <a:pPr algn="ctr"/>
          </a:p>
        </p:txBody>
      </p:sp>
      <p:sp>
        <p:nvSpPr>
          <p:cNvPr id="31" name="TextBox 30"/>
          <p:cNvSpPr txBox="1"/>
          <p:nvPr/>
        </p:nvSpPr>
        <p:spPr>
          <a:xfrm>
            <a:off x="905256" y="3374135"/>
            <a:ext cx="19670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Blue/green</a:t>
            </a:r>
          </a:p>
        </p:txBody>
      </p:sp>
      <p:sp>
        <p:nvSpPr>
          <p:cNvPr id="32" name="Rectangle 31"/>
          <p:cNvSpPr/>
          <p:nvPr/>
        </p:nvSpPr>
        <p:spPr>
          <a:xfrm>
            <a:off x="3000300" y="3291839"/>
            <a:ext cx="2639884" cy="566928"/>
          </a:xfrm>
          <a:prstGeom prst="rect">
            <a:avLst/>
          </a:prstGeom>
          <a:solidFill>
            <a:srgbClr val="FFFFFF"/>
          </a:solidFill>
          <a:ln w="9525">
            <a:solidFill>
              <a:srgbClr val="E2E8F0"/>
            </a:solidFill>
          </a:ln>
          <a:effectLst/>
        </p:spPr>
        <p:txBody>
          <a:bodyPr rtlCol="0" anchor="ctr" wrap="square"/>
          <a:lstStyle/>
          <a:p>
            <a:pPr algn="ctr"/>
          </a:p>
        </p:txBody>
      </p:sp>
      <p:sp>
        <p:nvSpPr>
          <p:cNvPr id="33" name="TextBox 32"/>
          <p:cNvSpPr txBox="1"/>
          <p:nvPr/>
        </p:nvSpPr>
        <p:spPr>
          <a:xfrm>
            <a:off x="3128316" y="3374135"/>
            <a:ext cx="23838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100% — both stacks run</a:t>
            </a:r>
          </a:p>
        </p:txBody>
      </p:sp>
      <p:sp>
        <p:nvSpPr>
          <p:cNvPr id="34" name="Rectangle 33"/>
          <p:cNvSpPr/>
          <p:nvPr/>
        </p:nvSpPr>
        <p:spPr>
          <a:xfrm>
            <a:off x="5640185" y="3291839"/>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35" name="TextBox 34"/>
          <p:cNvSpPr txBox="1"/>
          <p:nvPr/>
        </p:nvSpPr>
        <p:spPr>
          <a:xfrm>
            <a:off x="5768201" y="3374135"/>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Seconds: revert one Service selector</a:t>
            </a:r>
          </a:p>
        </p:txBody>
      </p:sp>
      <p:sp>
        <p:nvSpPr>
          <p:cNvPr id="36" name="Rectangle 35"/>
          <p:cNvSpPr/>
          <p:nvPr/>
        </p:nvSpPr>
        <p:spPr>
          <a:xfrm>
            <a:off x="8557952" y="3291839"/>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37" name="TextBox 36"/>
          <p:cNvSpPr txBox="1"/>
          <p:nvPr/>
        </p:nvSpPr>
        <p:spPr>
          <a:xfrm>
            <a:off x="8685968" y="3374135"/>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All users at once, at the moment of the flip</a:t>
            </a:r>
          </a:p>
        </p:txBody>
      </p:sp>
      <p:sp>
        <p:nvSpPr>
          <p:cNvPr id="38" name="Rectangle 37"/>
          <p:cNvSpPr/>
          <p:nvPr/>
        </p:nvSpPr>
        <p:spPr>
          <a:xfrm>
            <a:off x="777240" y="3858768"/>
            <a:ext cx="2223060" cy="566928"/>
          </a:xfrm>
          <a:prstGeom prst="rect">
            <a:avLst/>
          </a:prstGeom>
          <a:solidFill>
            <a:srgbClr val="F6F8FA"/>
          </a:solidFill>
          <a:ln w="9525">
            <a:solidFill>
              <a:srgbClr val="E2E8F0"/>
            </a:solidFill>
          </a:ln>
          <a:effectLst/>
        </p:spPr>
        <p:txBody>
          <a:bodyPr rtlCol="0" anchor="ctr" wrap="square"/>
          <a:lstStyle/>
          <a:p>
            <a:pPr algn="ctr"/>
          </a:p>
        </p:txBody>
      </p:sp>
      <p:sp>
        <p:nvSpPr>
          <p:cNvPr id="39" name="TextBox 38"/>
          <p:cNvSpPr txBox="1"/>
          <p:nvPr/>
        </p:nvSpPr>
        <p:spPr>
          <a:xfrm>
            <a:off x="905256" y="3941063"/>
            <a:ext cx="19670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Canary (replica ratio)</a:t>
            </a:r>
          </a:p>
        </p:txBody>
      </p:sp>
      <p:sp>
        <p:nvSpPr>
          <p:cNvPr id="40" name="Rectangle 39"/>
          <p:cNvSpPr/>
          <p:nvPr/>
        </p:nvSpPr>
        <p:spPr>
          <a:xfrm>
            <a:off x="3000300" y="3858768"/>
            <a:ext cx="2639884" cy="566928"/>
          </a:xfrm>
          <a:prstGeom prst="rect">
            <a:avLst/>
          </a:prstGeom>
          <a:solidFill>
            <a:srgbClr val="F6F8FA"/>
          </a:solidFill>
          <a:ln w="9525">
            <a:solidFill>
              <a:srgbClr val="E2E8F0"/>
            </a:solidFill>
          </a:ln>
          <a:effectLst/>
        </p:spPr>
        <p:txBody>
          <a:bodyPr rtlCol="0" anchor="ctr" wrap="square"/>
          <a:lstStyle/>
          <a:p>
            <a:pPr algn="ctr"/>
          </a:p>
        </p:txBody>
      </p:sp>
      <p:sp>
        <p:nvSpPr>
          <p:cNvPr id="41" name="TextBox 40"/>
          <p:cNvSpPr txBox="1"/>
          <p:nvPr/>
        </p:nvSpPr>
        <p:spPr>
          <a:xfrm>
            <a:off x="3128316" y="3941063"/>
            <a:ext cx="23838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or two extra Pods</a:t>
            </a:r>
          </a:p>
        </p:txBody>
      </p:sp>
      <p:sp>
        <p:nvSpPr>
          <p:cNvPr id="42" name="Rectangle 41"/>
          <p:cNvSpPr/>
          <p:nvPr/>
        </p:nvSpPr>
        <p:spPr>
          <a:xfrm>
            <a:off x="5640185" y="3858768"/>
            <a:ext cx="2917767" cy="566928"/>
          </a:xfrm>
          <a:prstGeom prst="rect">
            <a:avLst/>
          </a:prstGeom>
          <a:solidFill>
            <a:srgbClr val="F6F8FA"/>
          </a:solidFill>
          <a:ln w="9525">
            <a:solidFill>
              <a:srgbClr val="E2E8F0"/>
            </a:solidFill>
          </a:ln>
          <a:effectLst/>
        </p:spPr>
        <p:txBody>
          <a:bodyPr rtlCol="0" anchor="ctr" wrap="square"/>
          <a:lstStyle/>
          <a:p>
            <a:pPr algn="ctr"/>
          </a:p>
        </p:txBody>
      </p:sp>
      <p:sp>
        <p:nvSpPr>
          <p:cNvPr id="43" name="TextBox 42"/>
          <p:cNvSpPr txBox="1"/>
          <p:nvPr/>
        </p:nvSpPr>
        <p:spPr>
          <a:xfrm>
            <a:off x="5768201" y="3941063"/>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Seconds: scale the canary to 0</a:t>
            </a:r>
          </a:p>
        </p:txBody>
      </p:sp>
      <p:sp>
        <p:nvSpPr>
          <p:cNvPr id="44" name="Rectangle 43"/>
          <p:cNvSpPr/>
          <p:nvPr/>
        </p:nvSpPr>
        <p:spPr>
          <a:xfrm>
            <a:off x="8557952" y="3858768"/>
            <a:ext cx="2917767" cy="566928"/>
          </a:xfrm>
          <a:prstGeom prst="rect">
            <a:avLst/>
          </a:prstGeom>
          <a:solidFill>
            <a:srgbClr val="F6F8FA"/>
          </a:solidFill>
          <a:ln w="9525">
            <a:solidFill>
              <a:srgbClr val="E2E8F0"/>
            </a:solidFill>
          </a:ln>
          <a:effectLst/>
        </p:spPr>
        <p:txBody>
          <a:bodyPr rtlCol="0" anchor="ctr" wrap="square"/>
          <a:lstStyle/>
          <a:p>
            <a:pPr algn="ctr"/>
          </a:p>
        </p:txBody>
      </p:sp>
      <p:sp>
        <p:nvSpPr>
          <p:cNvPr id="45" name="TextBox 44"/>
          <p:cNvSpPr txBox="1"/>
          <p:nvPr/>
        </p:nvSpPr>
        <p:spPr>
          <a:xfrm>
            <a:off x="8685968" y="3941063"/>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Roughly the canary's share of replicas</a:t>
            </a:r>
          </a:p>
        </p:txBody>
      </p:sp>
      <p:sp>
        <p:nvSpPr>
          <p:cNvPr id="46" name="Rectangle 45"/>
          <p:cNvSpPr/>
          <p:nvPr/>
        </p:nvSpPr>
        <p:spPr>
          <a:xfrm>
            <a:off x="777240" y="4425696"/>
            <a:ext cx="2223060" cy="566928"/>
          </a:xfrm>
          <a:prstGeom prst="rect">
            <a:avLst/>
          </a:prstGeom>
          <a:solidFill>
            <a:srgbClr val="FFFFFF"/>
          </a:solidFill>
          <a:ln w="9525">
            <a:solidFill>
              <a:srgbClr val="E2E8F0"/>
            </a:solidFill>
          </a:ln>
          <a:effectLst/>
        </p:spPr>
        <p:txBody>
          <a:bodyPr rtlCol="0" anchor="ctr" wrap="square"/>
          <a:lstStyle/>
          <a:p>
            <a:pPr algn="ctr"/>
          </a:p>
        </p:txBody>
      </p:sp>
      <p:sp>
        <p:nvSpPr>
          <p:cNvPr id="47" name="TextBox 46"/>
          <p:cNvSpPr txBox="1"/>
          <p:nvPr/>
        </p:nvSpPr>
        <p:spPr>
          <a:xfrm>
            <a:off x="905256" y="4507992"/>
            <a:ext cx="1967028"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Canary (mesh-weighted)</a:t>
            </a:r>
          </a:p>
        </p:txBody>
      </p:sp>
      <p:sp>
        <p:nvSpPr>
          <p:cNvPr id="48" name="Rectangle 47"/>
          <p:cNvSpPr/>
          <p:nvPr/>
        </p:nvSpPr>
        <p:spPr>
          <a:xfrm>
            <a:off x="3000300" y="4425696"/>
            <a:ext cx="2639884" cy="566928"/>
          </a:xfrm>
          <a:prstGeom prst="rect">
            <a:avLst/>
          </a:prstGeom>
          <a:solidFill>
            <a:srgbClr val="FFFFFF"/>
          </a:solidFill>
          <a:ln w="9525">
            <a:solidFill>
              <a:srgbClr val="E2E8F0"/>
            </a:solidFill>
          </a:ln>
          <a:effectLst/>
        </p:spPr>
        <p:txBody>
          <a:bodyPr rtlCol="0" anchor="ctr" wrap="square"/>
          <a:lstStyle/>
          <a:p>
            <a:pPr algn="ctr"/>
          </a:p>
        </p:txBody>
      </p:sp>
      <p:sp>
        <p:nvSpPr>
          <p:cNvPr id="49" name="TextBox 48"/>
          <p:cNvSpPr txBox="1"/>
          <p:nvPr/>
        </p:nvSpPr>
        <p:spPr>
          <a:xfrm>
            <a:off x="3128316" y="4507992"/>
            <a:ext cx="23838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or two extra Pods</a:t>
            </a:r>
          </a:p>
        </p:txBody>
      </p:sp>
      <p:sp>
        <p:nvSpPr>
          <p:cNvPr id="50" name="Rectangle 49"/>
          <p:cNvSpPr/>
          <p:nvPr/>
        </p:nvSpPr>
        <p:spPr>
          <a:xfrm>
            <a:off x="5640185" y="4425696"/>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51" name="TextBox 50"/>
          <p:cNvSpPr txBox="1"/>
          <p:nvPr/>
        </p:nvSpPr>
        <p:spPr>
          <a:xfrm>
            <a:off x="5768201" y="4507992"/>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Seconds: set the route weight to 0</a:t>
            </a:r>
          </a:p>
        </p:txBody>
      </p:sp>
      <p:sp>
        <p:nvSpPr>
          <p:cNvPr id="52" name="Rectangle 51"/>
          <p:cNvSpPr/>
          <p:nvPr/>
        </p:nvSpPr>
        <p:spPr>
          <a:xfrm>
            <a:off x="8557952" y="4425696"/>
            <a:ext cx="2917767" cy="566928"/>
          </a:xfrm>
          <a:prstGeom prst="rect">
            <a:avLst/>
          </a:prstGeom>
          <a:solidFill>
            <a:srgbClr val="FFFFFF"/>
          </a:solidFill>
          <a:ln w="9525">
            <a:solidFill>
              <a:srgbClr val="E2E8F0"/>
            </a:solidFill>
          </a:ln>
          <a:effectLst/>
        </p:spPr>
        <p:txBody>
          <a:bodyPr rtlCol="0" anchor="ctr" wrap="square"/>
          <a:lstStyle/>
          <a:p>
            <a:pPr algn="ctr"/>
          </a:p>
        </p:txBody>
      </p:sp>
      <p:sp>
        <p:nvSpPr>
          <p:cNvPr id="53" name="TextBox 52"/>
          <p:cNvSpPr txBox="1"/>
          <p:nvPr/>
        </p:nvSpPr>
        <p:spPr>
          <a:xfrm>
            <a:off x="8685968" y="4507992"/>
            <a:ext cx="26617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Exactly the configured traffic percentage</a:t>
            </a:r>
          </a:p>
        </p:txBody>
      </p:sp>
      <p:sp>
        <p:nvSpPr>
          <p:cNvPr id="54" name="Rectangle 53"/>
          <p:cNvSpPr/>
          <p:nvPr/>
        </p:nvSpPr>
        <p:spPr>
          <a:xfrm>
            <a:off x="777240" y="5175504"/>
            <a:ext cx="10698480" cy="566928"/>
          </a:xfrm>
          <a:prstGeom prst="rect">
            <a:avLst/>
          </a:prstGeom>
          <a:solidFill>
            <a:srgbClr val="E8F7EE"/>
          </a:solidFill>
          <a:ln>
            <a:noFill/>
          </a:ln>
          <a:effectLst/>
        </p:spPr>
        <p:txBody>
          <a:bodyPr rtlCol="0" anchor="ctr" wrap="square"/>
          <a:lstStyle/>
          <a:p>
            <a:pPr algn="ctr"/>
          </a:p>
        </p:txBody>
      </p:sp>
      <p:sp>
        <p:nvSpPr>
          <p:cNvPr id="55" name="Rectangle 54"/>
          <p:cNvSpPr/>
          <p:nvPr/>
        </p:nvSpPr>
        <p:spPr>
          <a:xfrm>
            <a:off x="777240" y="5175504"/>
            <a:ext cx="50292" cy="566928"/>
          </a:xfrm>
          <a:prstGeom prst="rect">
            <a:avLst/>
          </a:prstGeom>
          <a:solidFill>
            <a:srgbClr val="10B981"/>
          </a:solidFill>
          <a:ln>
            <a:noFill/>
          </a:ln>
          <a:effectLst/>
        </p:spPr>
        <p:txBody>
          <a:bodyPr rtlCol="0" anchor="ctr" wrap="square"/>
          <a:lstStyle/>
          <a:p>
            <a:pPr algn="ctr"/>
          </a:p>
        </p:txBody>
      </p:sp>
      <p:sp>
        <p:nvSpPr>
          <p:cNvPr id="56" name="TextBox 55"/>
          <p:cNvSpPr txBox="1"/>
          <p:nvPr/>
        </p:nvSpPr>
        <p:spPr>
          <a:xfrm>
            <a:off x="996695" y="523036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7" name="TextBox 56"/>
          <p:cNvSpPr txBox="1"/>
          <p:nvPr/>
        </p:nvSpPr>
        <p:spPr>
          <a:xfrm>
            <a:off x="996695" y="54315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Rolling for routine change; canary when the risk is unknown; blue/green when rollback must be instant.</a:t>
            </a:r>
          </a:p>
        </p:txBody>
      </p:sp>
      <p:sp>
        <p:nvSpPr>
          <p:cNvPr id="58" name="TextBox 5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59" name="TextBox 5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0" name="TextBox 5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1" name="TextBox 6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174</a:t>
            </a:r>
          </a:p>
        </p:txBody>
      </p:sp>
    </p:spTree>
  </p:cSld>
  <p:clrMapOvr>
    <a:masterClrMapping/>
  </p:clrMapOvr>
  <p:transition xmlns:ns1="http://schemas.openxmlformats.org/markup-compatibility/2006" spd="fast" ns1:Ignorable="p14">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GENERATING MANIFESTS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the CLI Writes For You</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Hand-writing apiVersion, kind and a matching selector is wasted keystrokes and a common source of error.</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kubectl create deployment ... --dry-run=client -o 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apiVersion: apps/v1</a:t>
            </a:r>
          </a:p>
          <a:p>
            <a:pPr>
              <a:lnSpc>
                <a:spcPts val="1339"/>
              </a:lnSpc>
              <a:spcAft>
                <a:spcPts val="0"/>
              </a:spcAft>
            </a:pPr>
            <a:r>
              <a:rPr sz="1050">
                <a:solidFill>
                  <a:srgbClr val="E6EDF3"/>
                </a:solidFill>
                <a:latin typeface="Consolas"/>
              </a:rPr>
              <a:t>kind: Deployment</a:t>
            </a:r>
          </a:p>
          <a:p>
            <a:pPr>
              <a:lnSpc>
                <a:spcPts val="1339"/>
              </a:lnSpc>
              <a:spcAft>
                <a:spcPts val="0"/>
              </a:spcAft>
            </a:pPr>
            <a:r>
              <a:rPr sz="1050">
                <a:solidFill>
                  <a:srgbClr val="E6EDF3"/>
                </a:solidFill>
                <a:latin typeface="Consolas"/>
              </a:rPr>
              <a:t>metadata:</a:t>
            </a:r>
          </a:p>
          <a:p>
            <a:pPr>
              <a:lnSpc>
                <a:spcPts val="1339"/>
              </a:lnSpc>
              <a:spcAft>
                <a:spcPts val="0"/>
              </a:spcAft>
            </a:pPr>
            <a:r>
              <a:rPr sz="1050">
                <a:solidFill>
                  <a:srgbClr val="E6EDF3"/>
                </a:solidFill>
                <a:latin typeface="Consolas"/>
              </a:rPr>
              <a:t>  labels:</a:t>
            </a:r>
          </a:p>
          <a:p>
            <a:pPr>
              <a:lnSpc>
                <a:spcPts val="1339"/>
              </a:lnSpc>
              <a:spcAft>
                <a:spcPts val="0"/>
              </a:spcAft>
            </a:pPr>
            <a:r>
              <a:rPr sz="1050">
                <a:solidFill>
                  <a:srgbClr val="E6EDF3"/>
                </a:solidFill>
                <a:latin typeface="Consolas"/>
              </a:rPr>
              <a:t>    app: freight-portal</a:t>
            </a:r>
          </a:p>
          <a:p>
            <a:pPr>
              <a:lnSpc>
                <a:spcPts val="1339"/>
              </a:lnSpc>
              <a:spcAft>
                <a:spcPts val="0"/>
              </a:spcAft>
            </a:pPr>
            <a:r>
              <a:rPr sz="1050">
                <a:solidFill>
                  <a:srgbClr val="E6EDF3"/>
                </a:solidFill>
                <a:latin typeface="Consolas"/>
              </a:rPr>
              <a:t>  name: freight-portal</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replicas: 4</a:t>
            </a:r>
          </a:p>
          <a:p>
            <a:pPr>
              <a:lnSpc>
                <a:spcPts val="1339"/>
              </a:lnSpc>
              <a:spcAft>
                <a:spcPts val="0"/>
              </a:spcAft>
            </a:pPr>
            <a:r>
              <a:rPr sz="1050">
                <a:solidFill>
                  <a:srgbClr val="E6EDF3"/>
                </a:solidFill>
                <a:latin typeface="Consolas"/>
              </a:rPr>
              <a:t>  selector:</a:t>
            </a:r>
          </a:p>
          <a:p>
            <a:pPr>
              <a:lnSpc>
                <a:spcPts val="1339"/>
              </a:lnSpc>
              <a:spcAft>
                <a:spcPts val="0"/>
              </a:spcAft>
            </a:pPr>
            <a:r>
              <a:rPr sz="1050">
                <a:solidFill>
                  <a:srgbClr val="E6EDF3"/>
                </a:solidFill>
                <a:latin typeface="Consolas"/>
              </a:rPr>
              <a:t>    matchLabels:</a:t>
            </a:r>
          </a:p>
          <a:p>
            <a:pPr>
              <a:lnSpc>
                <a:spcPts val="1339"/>
              </a:lnSpc>
              <a:spcAft>
                <a:spcPts val="0"/>
              </a:spcAft>
            </a:pPr>
            <a:r>
              <a:rPr sz="1050">
                <a:solidFill>
                  <a:srgbClr val="E6EDF3"/>
                </a:solidFill>
                <a:latin typeface="Consolas"/>
              </a:rPr>
              <a:t>      app: freight-portal</a:t>
            </a:r>
          </a:p>
          <a:p>
            <a:pPr>
              <a:lnSpc>
                <a:spcPts val="1339"/>
              </a:lnSpc>
              <a:spcAft>
                <a:spcPts val="0"/>
              </a:spcAft>
            </a:pPr>
            <a:r>
              <a:rPr sz="1050">
                <a:solidFill>
                  <a:srgbClr val="E6EDF3"/>
                </a:solidFill>
                <a:latin typeface="Consolas"/>
              </a:rPr>
              <a:t>  template:</a:t>
            </a:r>
          </a:p>
          <a:p>
            <a:pPr>
              <a:lnSpc>
                <a:spcPts val="1339"/>
              </a:lnSpc>
              <a:spcAft>
                <a:spcPts val="0"/>
              </a:spcAft>
            </a:pPr>
            <a:r>
              <a:rPr sz="1050">
                <a:solidFill>
                  <a:srgbClr val="E6EDF3"/>
                </a:solidFill>
                <a:latin typeface="Consolas"/>
              </a:rPr>
              <a:t>    metadata:</a:t>
            </a:r>
          </a:p>
          <a:p>
            <a:pPr>
              <a:lnSpc>
                <a:spcPts val="1339"/>
              </a:lnSpc>
              <a:spcAft>
                <a:spcPts val="0"/>
              </a:spcAft>
            </a:pPr>
            <a:r>
              <a:rPr sz="1050">
                <a:solidFill>
                  <a:srgbClr val="E6EDF3"/>
                </a:solidFill>
                <a:latin typeface="Consolas"/>
              </a:rPr>
              <a:t>      labels:</a:t>
            </a:r>
          </a:p>
          <a:p>
            <a:pPr>
              <a:lnSpc>
                <a:spcPts val="1339"/>
              </a:lnSpc>
              <a:spcAft>
                <a:spcPts val="0"/>
              </a:spcAft>
            </a:pPr>
            <a:r>
              <a:rPr sz="1050">
                <a:solidFill>
                  <a:srgbClr val="E6EDF3"/>
                </a:solidFill>
                <a:latin typeface="Consolas"/>
              </a:rPr>
              <a:t>        app: freight-portal</a:t>
            </a:r>
          </a:p>
          <a:p>
            <a:pPr>
              <a:lnSpc>
                <a:spcPts val="1339"/>
              </a:lnSpc>
              <a:spcAft>
                <a:spcPts val="0"/>
              </a:spcAft>
            </a:pPr>
            <a:r>
              <a:rPr sz="1050">
                <a:solidFill>
                  <a:srgbClr val="E6EDF3"/>
                </a:solidFill>
                <a:latin typeface="Consolas"/>
              </a:rPr>
              <a:t>    spec:</a:t>
            </a:r>
          </a:p>
          <a:p>
            <a:pPr>
              <a:lnSpc>
                <a:spcPts val="1339"/>
              </a:lnSpc>
              <a:spcAft>
                <a:spcPts val="0"/>
              </a:spcAft>
            </a:pPr>
            <a:r>
              <a:rPr sz="1050">
                <a:solidFill>
                  <a:srgbClr val="E6EDF3"/>
                </a:solidFill>
                <a:latin typeface="Consolas"/>
              </a:rPr>
              <a:t>      containers:</a:t>
            </a:r>
          </a:p>
          <a:p>
            <a:pPr>
              <a:lnSpc>
                <a:spcPts val="1339"/>
              </a:lnSpc>
              <a:spcAft>
                <a:spcPts val="0"/>
              </a:spcAft>
            </a:pPr>
            <a:r>
              <a:rPr sz="1050">
                <a:solidFill>
                  <a:srgbClr val="E6EDF3"/>
                </a:solidFill>
                <a:latin typeface="Consolas"/>
              </a:rPr>
              <a:t>      - image: nginx:1.27-alpine</a:t>
            </a:r>
          </a:p>
          <a:p>
            <a:pPr>
              <a:lnSpc>
                <a:spcPts val="1339"/>
              </a:lnSpc>
              <a:spcAft>
                <a:spcPts val="0"/>
              </a:spcAft>
            </a:pPr>
            <a:r>
              <a:rPr sz="1050">
                <a:solidFill>
                  <a:srgbClr val="E6EDF3"/>
                </a:solidFill>
                <a:latin typeface="Consolas"/>
              </a:rPr>
              <a:t>        name: nginx</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--dry-run=client renders without sending</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Nothing reaches the API server. --dry-run=server validates against admission but still creates nothing.</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33756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selector and template labels agree by construction</a:t>
            </a:r>
          </a:p>
        </p:txBody>
      </p:sp>
      <p:sp>
        <p:nvSpPr>
          <p:cNvPr id="17" name="TextBox 16"/>
          <p:cNvSpPr txBox="1"/>
          <p:nvPr/>
        </p:nvSpPr>
        <p:spPr>
          <a:xfrm>
            <a:off x="7973567" y="37614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This is the reliable cure for the 'selector does not match template labels' rejection two modules ago.</a:t>
            </a:r>
          </a:p>
        </p:txBody>
      </p:sp>
      <p:sp>
        <p:nvSpPr>
          <p:cNvPr id="18" name="Oval 17"/>
          <p:cNvSpPr/>
          <p:nvPr/>
        </p:nvSpPr>
        <p:spPr>
          <a:xfrm>
            <a:off x="7626096" y="4274682"/>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639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What it will not generate</a:t>
            </a:r>
          </a:p>
        </p:txBody>
      </p:sp>
      <p:sp>
        <p:nvSpPr>
          <p:cNvPr id="20" name="TextBox 19"/>
          <p:cNvSpPr txBox="1"/>
          <p:nvPr/>
        </p:nvSpPr>
        <p:spPr>
          <a:xfrm>
            <a:off x="7973567" y="447318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 strategy block, no resources, no probes, no change-cause. Those are yours to add.</a:t>
            </a:r>
          </a:p>
        </p:txBody>
      </p:sp>
      <p:sp>
        <p:nvSpPr>
          <p:cNvPr id="21" name="Oval 20"/>
          <p:cNvSpPr/>
          <p:nvPr/>
        </p:nvSpPr>
        <p:spPr>
          <a:xfrm>
            <a:off x="7626096" y="4986436"/>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814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Use it as a skeleton, not an answer</a:t>
            </a:r>
          </a:p>
        </p:txBody>
      </p:sp>
      <p:sp>
        <p:nvSpPr>
          <p:cNvPr id="23" name="TextBox 22"/>
          <p:cNvSpPr txBox="1"/>
          <p:nvPr/>
        </p:nvSpPr>
        <p:spPr>
          <a:xfrm>
            <a:off x="7973567" y="518493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Generate, then edit in the fields that make it production-worthy, then commit the file.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175</a:t>
            </a:r>
          </a:p>
        </p:txBody>
      </p:sp>
    </p:spTree>
  </p:cSld>
  <p:clrMapOvr>
    <a:masterClrMapping/>
  </p:clrMapOvr>
  <p:transition xmlns:ns1="http://schemas.openxmlformats.org/markup-compatibility/2006" spd="fast" ns1:Ignorable="p14">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07 — Deployments, Rollout Strategy and Rollback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Drive a Deployment through three revisions of the MFS Freight Portal, make maxSurge and maxUnavailable arithmetic visible during the update, then wedge the rollout with a bad image and recover with rollout undo.</a:t>
            </a:r>
          </a:p>
        </p:txBody>
      </p:sp>
      <p:sp>
        <p:nvSpPr>
          <p:cNvPr id="10" name="Rectangle 9"/>
          <p:cNvSpPr/>
          <p:nvPr/>
        </p:nvSpPr>
        <p:spPr>
          <a:xfrm>
            <a:off x="777240"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freight-portal Deployment at revision 2 serving the r24.2 page, with a readable rollout history and change-cause column</a:t>
            </a:r>
          </a:p>
          <a:p>
            <a:pPr>
              <a:lnSpc>
                <a:spcPct val="112000"/>
              </a:lnSpc>
              <a:spcAft>
                <a:spcPts val="500"/>
              </a:spcAft>
            </a:pPr>
            <a:r>
              <a:rPr sz="1050">
                <a:solidFill>
                  <a:srgbClr val="94A3B8"/>
                </a:solidFill>
                <a:latin typeface="Arial"/>
              </a:rPr>
              <a:t>•  </a:t>
            </a:r>
            <a:r>
              <a:rPr sz="1050">
                <a:solidFill>
                  <a:srgbClr val="5B6372"/>
                </a:solidFill>
                <a:latin typeface="Arial"/>
              </a:rPr>
              <a:t>A wedged revision 3 stuck in ImagePullBackOff while the old ReplicaSet keeps 4 Pods Available</a:t>
            </a:r>
          </a:p>
          <a:p>
            <a:pPr>
              <a:lnSpc>
                <a:spcPct val="112000"/>
              </a:lnSpc>
              <a:spcAft>
                <a:spcPts val="500"/>
              </a:spcAft>
            </a:pPr>
            <a:r>
              <a:rPr sz="1050">
                <a:solidFill>
                  <a:srgbClr val="94A3B8"/>
                </a:solidFill>
                <a:latin typeface="Arial"/>
              </a:rPr>
              <a:t>•  </a:t>
            </a:r>
            <a:r>
              <a:rPr sz="1050">
                <a:solidFill>
                  <a:srgbClr val="5B6372"/>
                </a:solidFill>
                <a:latin typeface="Arial"/>
              </a:rPr>
              <a:t>A verified rollback to revision 2 confirmed by curl through the ClusterIP Service</a:t>
            </a:r>
          </a:p>
        </p:txBody>
      </p:sp>
      <p:sp>
        <p:nvSpPr>
          <p:cNvPr id="14" name="Rectangle 13"/>
          <p:cNvSpPr/>
          <p:nvPr/>
        </p:nvSpPr>
        <p:spPr>
          <a:xfrm>
            <a:off x="6276441"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Deployment owns ReplicaSets; a ReplicaSet owns Pods - rollouts are ReplicaSet scaling, not Pod mutation</a:t>
            </a:r>
          </a:p>
          <a:p>
            <a:pPr>
              <a:lnSpc>
                <a:spcPct val="112000"/>
              </a:lnSpc>
              <a:spcAft>
                <a:spcPts val="500"/>
              </a:spcAft>
            </a:pPr>
            <a:r>
              <a:rPr sz="1050">
                <a:solidFill>
                  <a:srgbClr val="94A3B8"/>
                </a:solidFill>
                <a:latin typeface="Arial"/>
              </a:rPr>
              <a:t>•  </a:t>
            </a:r>
            <a:r>
              <a:rPr sz="1050">
                <a:solidFill>
                  <a:srgbClr val="5B6372"/>
                </a:solidFill>
                <a:latin typeface="Arial"/>
              </a:rPr>
              <a:t>maxSurge sets the ceiling (replicas + surge) and maxUnavailable sets the floor (replicas - unavailable)</a:t>
            </a:r>
          </a:p>
          <a:p>
            <a:pPr>
              <a:lnSpc>
                <a:spcPct val="112000"/>
              </a:lnSpc>
              <a:spcAft>
                <a:spcPts val="500"/>
              </a:spcAft>
            </a:pPr>
            <a:r>
              <a:rPr sz="1050">
                <a:solidFill>
                  <a:srgbClr val="94A3B8"/>
                </a:solidFill>
                <a:latin typeface="Arial"/>
              </a:rPr>
              <a:t>•  </a:t>
            </a:r>
            <a:r>
              <a:rPr sz="1050">
                <a:solidFill>
                  <a:srgbClr val="5B6372"/>
                </a:solidFill>
                <a:latin typeface="Arial"/>
              </a:rPr>
              <a:t>rollout status / history / undo, kubernetes.io/change-cause and revisionHistoryLimit</a:t>
            </a:r>
          </a:p>
          <a:p>
            <a:pPr>
              <a:lnSpc>
                <a:spcPct val="112000"/>
              </a:lnSpc>
              <a:spcAft>
                <a:spcPts val="500"/>
              </a:spcAft>
            </a:pPr>
            <a:r>
              <a:rPr sz="1050">
                <a:solidFill>
                  <a:srgbClr val="94A3B8"/>
                </a:solidFill>
                <a:latin typeface="Arial"/>
              </a:rPr>
              <a:t>•  </a:t>
            </a:r>
            <a:r>
              <a:rPr sz="1050">
                <a:solidFill>
                  <a:srgbClr val="5B6372"/>
                </a:solidFill>
                <a:latin typeface="Arial"/>
              </a:rPr>
              <a:t>.spec.selector is immutable on an existing Deployment</a:t>
            </a:r>
          </a:p>
        </p:txBody>
      </p:sp>
      <p:sp>
        <p:nvSpPr>
          <p:cNvPr id="18" name="Rectangle 17"/>
          <p:cNvSpPr/>
          <p:nvPr/>
        </p:nvSpPr>
        <p:spPr>
          <a:xfrm>
            <a:off x="777240"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6053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2454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07</a:t>
            </a:r>
          </a:p>
        </p:txBody>
      </p:sp>
      <p:sp>
        <p:nvSpPr>
          <p:cNvPr id="22" name="Rectangle 21"/>
          <p:cNvSpPr/>
          <p:nvPr/>
        </p:nvSpPr>
        <p:spPr>
          <a:xfrm>
            <a:off x="3488436"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6053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2454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kcna-lab07</a:t>
            </a:r>
          </a:p>
        </p:txBody>
      </p:sp>
      <p:sp>
        <p:nvSpPr>
          <p:cNvPr id="26" name="Rectangle 25"/>
          <p:cNvSpPr/>
          <p:nvPr/>
        </p:nvSpPr>
        <p:spPr>
          <a:xfrm>
            <a:off x="6199631"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6053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2454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LO2 · A3 · K3</a:t>
            </a:r>
          </a:p>
        </p:txBody>
      </p:sp>
      <p:sp>
        <p:nvSpPr>
          <p:cNvPr id="30" name="Rectangle 29"/>
          <p:cNvSpPr/>
          <p:nvPr/>
        </p:nvSpPr>
        <p:spPr>
          <a:xfrm>
            <a:off x="8910828"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6053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2454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560061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courseware/labs/lab-07-deployments-rollout-rollback/README.md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176</a:t>
            </a:r>
          </a:p>
        </p:txBody>
      </p:sp>
    </p:spTree>
  </p:cSld>
  <p:clrMapOvr>
    <a:masterClrMapping/>
  </p:clrMapOvr>
  <p:transition xmlns:ns1="http://schemas.openxmlformats.org/markup-compatibility/2006" spd="fast" ns1:Ignorable="p14">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Lunch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 – 1:50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177</a:t>
            </a:r>
          </a:p>
        </p:txBody>
      </p:sp>
    </p:spTree>
  </p:cSld>
  <p:clrMapOvr>
    <a:masterClrMapping/>
  </p:clrMapOvr>
  <p:transition xmlns:ns1="http://schemas.openxmlformats.org/markup-compatibility/2006" spd="fast" ns1:Ignorable="p14">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10</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2 · WORKLOADS &amp; SCHEDULING</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DaemonSets, Jobs, CronJobs and the Adapter Pattern</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Five controllers, five different definitions of "correct". Choosing the wrong one is the most expensive mistake here.</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178</a:t>
            </a:r>
          </a:p>
        </p:txBody>
      </p:sp>
    </p:spTree>
  </p:cSld>
  <p:clrMapOvr>
    <a:masterClrMapping/>
  </p:clrMapOvr>
  <p:transition xmlns:ns1="http://schemas.openxmlformats.org/markup-compatibility/2006" spd="med" ns1:Ignorable="p14">
    <p:push dir="l"/>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WHOLE FAMILY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Five Controllers, Compared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third column first. It is the only column that actually decides which object you should be writing.</a:t>
            </a:r>
          </a:p>
        </p:txBody>
      </p:sp>
      <p:sp>
        <p:nvSpPr>
          <p:cNvPr id="7" name="Rectangle 6"/>
          <p:cNvSpPr/>
          <p:nvPr/>
        </p:nvSpPr>
        <p:spPr>
          <a:xfrm>
            <a:off x="777240" y="2200046"/>
            <a:ext cx="2045297"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78926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Controller</a:t>
            </a:r>
          </a:p>
        </p:txBody>
      </p:sp>
      <p:sp>
        <p:nvSpPr>
          <p:cNvPr id="9" name="Rectangle 8"/>
          <p:cNvSpPr/>
          <p:nvPr/>
        </p:nvSpPr>
        <p:spPr>
          <a:xfrm>
            <a:off x="2822537" y="2200046"/>
            <a:ext cx="1573305"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50553" y="2300630"/>
            <a:ext cx="131727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API group</a:t>
            </a:r>
          </a:p>
        </p:txBody>
      </p:sp>
      <p:sp>
        <p:nvSpPr>
          <p:cNvPr id="11" name="Rectangle 10"/>
          <p:cNvSpPr/>
          <p:nvPr/>
        </p:nvSpPr>
        <p:spPr>
          <a:xfrm>
            <a:off x="4395843" y="2200046"/>
            <a:ext cx="4090595"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4523859" y="2300630"/>
            <a:ext cx="383456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Defines correct as</a:t>
            </a:r>
          </a:p>
        </p:txBody>
      </p:sp>
      <p:sp>
        <p:nvSpPr>
          <p:cNvPr id="13" name="Rectangle 12"/>
          <p:cNvSpPr/>
          <p:nvPr/>
        </p:nvSpPr>
        <p:spPr>
          <a:xfrm>
            <a:off x="8486438" y="2200046"/>
            <a:ext cx="2989281"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614454" y="2300630"/>
            <a:ext cx="27332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Scale is set by</a:t>
            </a:r>
          </a:p>
        </p:txBody>
      </p:sp>
      <p:sp>
        <p:nvSpPr>
          <p:cNvPr id="15" name="Rectangle 14"/>
          <p:cNvSpPr/>
          <p:nvPr/>
        </p:nvSpPr>
        <p:spPr>
          <a:xfrm>
            <a:off x="777240" y="2620670"/>
            <a:ext cx="2045297"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Deployment</a:t>
            </a:r>
          </a:p>
        </p:txBody>
      </p:sp>
      <p:sp>
        <p:nvSpPr>
          <p:cNvPr id="17" name="Rectangle 16"/>
          <p:cNvSpPr/>
          <p:nvPr/>
        </p:nvSpPr>
        <p:spPr>
          <a:xfrm>
            <a:off x="2822537" y="2620670"/>
            <a:ext cx="1573305"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950553" y="2702966"/>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apps/v1</a:t>
            </a:r>
          </a:p>
        </p:txBody>
      </p:sp>
      <p:sp>
        <p:nvSpPr>
          <p:cNvPr id="19" name="Rectangle 18"/>
          <p:cNvSpPr/>
          <p:nvPr/>
        </p:nvSpPr>
        <p:spPr>
          <a:xfrm>
            <a:off x="4395843" y="2620670"/>
            <a:ext cx="4090595"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4523859" y="2702966"/>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 interchangeable Pods on the current template</a:t>
            </a:r>
          </a:p>
        </p:txBody>
      </p:sp>
      <p:sp>
        <p:nvSpPr>
          <p:cNvPr id="21" name="Rectangle 20"/>
          <p:cNvSpPr/>
          <p:nvPr/>
        </p:nvSpPr>
        <p:spPr>
          <a:xfrm>
            <a:off x="8486438" y="2620670"/>
            <a:ext cx="2989281"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614454" y="2702966"/>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.spec.replicas, or an HPA</a:t>
            </a:r>
          </a:p>
        </p:txBody>
      </p:sp>
      <p:sp>
        <p:nvSpPr>
          <p:cNvPr id="23" name="Rectangle 22"/>
          <p:cNvSpPr/>
          <p:nvPr/>
        </p:nvSpPr>
        <p:spPr>
          <a:xfrm>
            <a:off x="777240" y="3187598"/>
            <a:ext cx="2045297"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ReplicaSet</a:t>
            </a:r>
          </a:p>
        </p:txBody>
      </p:sp>
      <p:sp>
        <p:nvSpPr>
          <p:cNvPr id="25" name="Rectangle 24"/>
          <p:cNvSpPr/>
          <p:nvPr/>
        </p:nvSpPr>
        <p:spPr>
          <a:xfrm>
            <a:off x="2822537" y="3187598"/>
            <a:ext cx="1573305"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950553" y="3269894"/>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apps/v1</a:t>
            </a:r>
          </a:p>
        </p:txBody>
      </p:sp>
      <p:sp>
        <p:nvSpPr>
          <p:cNvPr id="27" name="Rectangle 26"/>
          <p:cNvSpPr/>
          <p:nvPr/>
        </p:nvSpPr>
        <p:spPr>
          <a:xfrm>
            <a:off x="4395843" y="3187598"/>
            <a:ext cx="4090595"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4523859" y="3269894"/>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 Pods matching a selector</a:t>
            </a:r>
          </a:p>
        </p:txBody>
      </p:sp>
      <p:sp>
        <p:nvSpPr>
          <p:cNvPr id="29" name="Rectangle 28"/>
          <p:cNvSpPr/>
          <p:nvPr/>
        </p:nvSpPr>
        <p:spPr>
          <a:xfrm>
            <a:off x="8486438" y="3187598"/>
            <a:ext cx="2989281"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614454" y="3269894"/>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.spec.replicas — usually owned by a Deployment</a:t>
            </a:r>
          </a:p>
        </p:txBody>
      </p:sp>
      <p:sp>
        <p:nvSpPr>
          <p:cNvPr id="31" name="Rectangle 30"/>
          <p:cNvSpPr/>
          <p:nvPr/>
        </p:nvSpPr>
        <p:spPr>
          <a:xfrm>
            <a:off x="777240" y="3754526"/>
            <a:ext cx="2045297"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StatefulSet</a:t>
            </a:r>
          </a:p>
        </p:txBody>
      </p:sp>
      <p:sp>
        <p:nvSpPr>
          <p:cNvPr id="33" name="Rectangle 32"/>
          <p:cNvSpPr/>
          <p:nvPr/>
        </p:nvSpPr>
        <p:spPr>
          <a:xfrm>
            <a:off x="2822537" y="3754526"/>
            <a:ext cx="1573305"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950553" y="3836822"/>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apps/v1</a:t>
            </a:r>
          </a:p>
        </p:txBody>
      </p:sp>
      <p:sp>
        <p:nvSpPr>
          <p:cNvPr id="35" name="Rectangle 34"/>
          <p:cNvSpPr/>
          <p:nvPr/>
        </p:nvSpPr>
        <p:spPr>
          <a:xfrm>
            <a:off x="4395843" y="3754526"/>
            <a:ext cx="4090595"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4523859" y="3836822"/>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 ordered Pods with stable names and stable storage</a:t>
            </a:r>
          </a:p>
        </p:txBody>
      </p:sp>
      <p:sp>
        <p:nvSpPr>
          <p:cNvPr id="37" name="Rectangle 36"/>
          <p:cNvSpPr/>
          <p:nvPr/>
        </p:nvSpPr>
        <p:spPr>
          <a:xfrm>
            <a:off x="8486438" y="3754526"/>
            <a:ext cx="2989281"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614454" y="3836822"/>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.spec.replicas, applied in ordinal order</a:t>
            </a:r>
          </a:p>
        </p:txBody>
      </p:sp>
      <p:sp>
        <p:nvSpPr>
          <p:cNvPr id="39" name="Rectangle 38"/>
          <p:cNvSpPr/>
          <p:nvPr/>
        </p:nvSpPr>
        <p:spPr>
          <a:xfrm>
            <a:off x="777240" y="4321454"/>
            <a:ext cx="2045297"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DaemonSet</a:t>
            </a:r>
          </a:p>
        </p:txBody>
      </p:sp>
      <p:sp>
        <p:nvSpPr>
          <p:cNvPr id="41" name="Rectangle 40"/>
          <p:cNvSpPr/>
          <p:nvPr/>
        </p:nvSpPr>
        <p:spPr>
          <a:xfrm>
            <a:off x="2822537" y="4321454"/>
            <a:ext cx="1573305"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950553" y="4403750"/>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apps/v1</a:t>
            </a:r>
          </a:p>
        </p:txBody>
      </p:sp>
      <p:sp>
        <p:nvSpPr>
          <p:cNvPr id="43" name="Rectangle 42"/>
          <p:cNvSpPr/>
          <p:nvPr/>
        </p:nvSpPr>
        <p:spPr>
          <a:xfrm>
            <a:off x="4395843" y="4321454"/>
            <a:ext cx="4090595"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4523859" y="4403750"/>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Pod on every node that passes node selection</a:t>
            </a:r>
          </a:p>
        </p:txBody>
      </p:sp>
      <p:sp>
        <p:nvSpPr>
          <p:cNvPr id="45" name="Rectangle 44"/>
          <p:cNvSpPr/>
          <p:nvPr/>
        </p:nvSpPr>
        <p:spPr>
          <a:xfrm>
            <a:off x="8486438" y="4321454"/>
            <a:ext cx="2989281"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614454" y="4403750"/>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cluster — there is no replicas field</a:t>
            </a:r>
          </a:p>
        </p:txBody>
      </p:sp>
      <p:sp>
        <p:nvSpPr>
          <p:cNvPr id="47" name="Rectangle 46"/>
          <p:cNvSpPr/>
          <p:nvPr/>
        </p:nvSpPr>
        <p:spPr>
          <a:xfrm>
            <a:off x="777240" y="4888382"/>
            <a:ext cx="2045297" cy="566928"/>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70678"/>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Job</a:t>
            </a:r>
          </a:p>
        </p:txBody>
      </p:sp>
      <p:sp>
        <p:nvSpPr>
          <p:cNvPr id="49" name="Rectangle 48"/>
          <p:cNvSpPr/>
          <p:nvPr/>
        </p:nvSpPr>
        <p:spPr>
          <a:xfrm>
            <a:off x="2822537" y="4888382"/>
            <a:ext cx="1573305" cy="566928"/>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950553" y="4970678"/>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batch/v1</a:t>
            </a:r>
          </a:p>
        </p:txBody>
      </p:sp>
      <p:sp>
        <p:nvSpPr>
          <p:cNvPr id="51" name="Rectangle 50"/>
          <p:cNvSpPr/>
          <p:nvPr/>
        </p:nvSpPr>
        <p:spPr>
          <a:xfrm>
            <a:off x="4395843" y="4888382"/>
            <a:ext cx="4090595" cy="566928"/>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4523859" y="4970678"/>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.spec.completions successful Pod terminations</a:t>
            </a:r>
          </a:p>
        </p:txBody>
      </p:sp>
      <p:sp>
        <p:nvSpPr>
          <p:cNvPr id="53" name="Rectangle 52"/>
          <p:cNvSpPr/>
          <p:nvPr/>
        </p:nvSpPr>
        <p:spPr>
          <a:xfrm>
            <a:off x="8486438" y="4888382"/>
            <a:ext cx="2989281" cy="566928"/>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614454" y="4970678"/>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completions and parallelism</a:t>
            </a:r>
          </a:p>
        </p:txBody>
      </p:sp>
      <p:sp>
        <p:nvSpPr>
          <p:cNvPr id="55" name="Rectangle 54"/>
          <p:cNvSpPr/>
          <p:nvPr/>
        </p:nvSpPr>
        <p:spPr>
          <a:xfrm>
            <a:off x="777240" y="5455310"/>
            <a:ext cx="2045297" cy="566928"/>
          </a:xfrm>
          <a:prstGeom prst="rect">
            <a:avLst/>
          </a:prstGeom>
          <a:solidFill>
            <a:srgbClr val="F6F8FA"/>
          </a:solidFill>
          <a:ln w="9525">
            <a:solidFill>
              <a:srgbClr val="E2E8F0"/>
            </a:solidFill>
          </a:ln>
          <a:effectLst/>
        </p:spPr>
        <p:txBody>
          <a:bodyPr rtlCol="0" anchor="ctr" wrap="square"/>
          <a:lstStyle/>
          <a:p>
            <a:pPr algn="ctr"/>
          </a:p>
        </p:txBody>
      </p:sp>
      <p:sp>
        <p:nvSpPr>
          <p:cNvPr id="56" name="TextBox 55"/>
          <p:cNvSpPr txBox="1"/>
          <p:nvPr/>
        </p:nvSpPr>
        <p:spPr>
          <a:xfrm>
            <a:off x="905256" y="5537606"/>
            <a:ext cx="1789265"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CronJob</a:t>
            </a:r>
          </a:p>
        </p:txBody>
      </p:sp>
      <p:sp>
        <p:nvSpPr>
          <p:cNvPr id="57" name="Rectangle 56"/>
          <p:cNvSpPr/>
          <p:nvPr/>
        </p:nvSpPr>
        <p:spPr>
          <a:xfrm>
            <a:off x="2822537" y="5455310"/>
            <a:ext cx="1573305" cy="566928"/>
          </a:xfrm>
          <a:prstGeom prst="rect">
            <a:avLst/>
          </a:prstGeom>
          <a:solidFill>
            <a:srgbClr val="F6F8FA"/>
          </a:solidFill>
          <a:ln w="9525">
            <a:solidFill>
              <a:srgbClr val="E2E8F0"/>
            </a:solidFill>
          </a:ln>
          <a:effectLst/>
        </p:spPr>
        <p:txBody>
          <a:bodyPr rtlCol="0" anchor="ctr" wrap="square"/>
          <a:lstStyle/>
          <a:p>
            <a:pPr algn="ctr"/>
          </a:p>
        </p:txBody>
      </p:sp>
      <p:sp>
        <p:nvSpPr>
          <p:cNvPr id="58" name="TextBox 57"/>
          <p:cNvSpPr txBox="1"/>
          <p:nvPr/>
        </p:nvSpPr>
        <p:spPr>
          <a:xfrm>
            <a:off x="2950553" y="5537606"/>
            <a:ext cx="131727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batch/v1</a:t>
            </a:r>
          </a:p>
        </p:txBody>
      </p:sp>
      <p:sp>
        <p:nvSpPr>
          <p:cNvPr id="59" name="Rectangle 58"/>
          <p:cNvSpPr/>
          <p:nvPr/>
        </p:nvSpPr>
        <p:spPr>
          <a:xfrm>
            <a:off x="4395843" y="5455310"/>
            <a:ext cx="4090595" cy="566928"/>
          </a:xfrm>
          <a:prstGeom prst="rect">
            <a:avLst/>
          </a:prstGeom>
          <a:solidFill>
            <a:srgbClr val="F6F8FA"/>
          </a:solidFill>
          <a:ln w="9525">
            <a:solidFill>
              <a:srgbClr val="E2E8F0"/>
            </a:solidFill>
          </a:ln>
          <a:effectLst/>
        </p:spPr>
        <p:txBody>
          <a:bodyPr rtlCol="0" anchor="ctr" wrap="square"/>
          <a:lstStyle/>
          <a:p>
            <a:pPr algn="ctr"/>
          </a:p>
        </p:txBody>
      </p:sp>
      <p:sp>
        <p:nvSpPr>
          <p:cNvPr id="60" name="TextBox 59"/>
          <p:cNvSpPr txBox="1"/>
          <p:nvPr/>
        </p:nvSpPr>
        <p:spPr>
          <a:xfrm>
            <a:off x="4523859" y="5537606"/>
            <a:ext cx="383456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Job created at each scheduled time</a:t>
            </a:r>
          </a:p>
        </p:txBody>
      </p:sp>
      <p:sp>
        <p:nvSpPr>
          <p:cNvPr id="61" name="Rectangle 60"/>
          <p:cNvSpPr/>
          <p:nvPr/>
        </p:nvSpPr>
        <p:spPr>
          <a:xfrm>
            <a:off x="8486438" y="5455310"/>
            <a:ext cx="2989281" cy="566928"/>
          </a:xfrm>
          <a:prstGeom prst="rect">
            <a:avLst/>
          </a:prstGeom>
          <a:solidFill>
            <a:srgbClr val="F6F8FA"/>
          </a:solidFill>
          <a:ln w="9525">
            <a:solidFill>
              <a:srgbClr val="E2E8F0"/>
            </a:solidFill>
          </a:ln>
          <a:effectLst/>
        </p:spPr>
        <p:txBody>
          <a:bodyPr rtlCol="0" anchor="ctr" wrap="square"/>
          <a:lstStyle/>
          <a:p>
            <a:pPr algn="ctr"/>
          </a:p>
        </p:txBody>
      </p:sp>
      <p:sp>
        <p:nvSpPr>
          <p:cNvPr id="62" name="TextBox 61"/>
          <p:cNvSpPr txBox="1"/>
          <p:nvPr/>
        </p:nvSpPr>
        <p:spPr>
          <a:xfrm>
            <a:off x="8614454" y="5537606"/>
            <a:ext cx="27332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schedule, bounded by concurrencyPolicy</a:t>
            </a:r>
          </a:p>
        </p:txBody>
      </p:sp>
      <p:sp>
        <p:nvSpPr>
          <p:cNvPr id="63" name="TextBox 6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kubernetes.io/docs/concepts/workloads/controllers/job/</a:t>
            </a:r>
          </a:p>
        </p:txBody>
      </p:sp>
      <p:sp>
        <p:nvSpPr>
          <p:cNvPr id="64" name="TextBox 6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5" name="TextBox 6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6" name="TextBox 6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179</a:t>
            </a:r>
          </a:p>
        </p:txBody>
      </p:sp>
    </p:spTree>
  </p:cSld>
  <p:clrMapOvr>
    <a:masterClrMapping/>
  </p:clrMapOvr>
  <p:transition xmlns:ns1="http://schemas.openxmlformats.org/markup-compatibility/2006" spd="fast" ns1:Ignorable="p14">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NODE-SCOPED WORKLOADS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DaemonSet Mechanics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If the right number of copies is 'however many nodes there are', a Deployment is the wrong object.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One Pod per eligible node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controller watches Node objects. A node joining the cluster gets a Pod; a node leaving takes its Pod with it.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Eligibility is normal scheduling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nodeSelector and node affinity in the template narrow the set. The default scheduler places DaemonSet Pods like any other Pod.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Tolerations are usually required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To land on control-plane nodes a DaemonSet must tolerate node-role.kubernetes.io/control-plane:NoSchedule.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Default tolerations are added automatically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DaemonSet controller adds tolerations for node pressure and unschedulable taints so agents survive node trouble.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Its own rolling update strategy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updateStrategy RollingUpdate with maxUnavailable, or OnDelete where Pods are only replaced when you delete them.</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Classic uses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CNI agents, kube-proxy, log shippers, node exporters, storage plugins, security agents — infrastructure, not apps.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kubernetes.io/docs/concepts/workloads/controllers/daemonset/</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180</a:t>
            </a:r>
          </a:p>
        </p:txBody>
      </p:sp>
    </p:spTree>
  </p:cSld>
  <p:clrMapOvr>
    <a:masterClrMapping/>
  </p:clrMapOvr>
  <p:transition xmlns:ns1="http://schemas.openxmlformats.org/markup-compatibility/2006" spd="fast" ns1:Ignorable="p14">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DaemonSet Agent,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node agent needs two things the average Deployment does not: a toleration and knowledge of its own node.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labs/lab-08/manifests/10-daemonset-berth-agent.yaml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kind: DaemonSet</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selector:</a:t>
            </a:r>
          </a:p>
          <a:p>
            <a:pPr>
              <a:lnSpc>
                <a:spcPts val="1413"/>
              </a:lnSpc>
              <a:spcAft>
                <a:spcPts val="0"/>
              </a:spcAft>
            </a:pPr>
            <a:r>
              <a:rPr sz="1050">
                <a:solidFill>
                  <a:srgbClr val="E6EDF3"/>
                </a:solidFill>
                <a:latin typeface="Consolas"/>
              </a:rPr>
              <a:t>    matchLabels: {app: berth-agent}</a:t>
            </a:r>
          </a:p>
          <a:p>
            <a:pPr>
              <a:lnSpc>
                <a:spcPts val="1413"/>
              </a:lnSpc>
              <a:spcAft>
                <a:spcPts val="0"/>
              </a:spcAft>
            </a:pPr>
            <a:r>
              <a:rPr sz="1050">
                <a:solidFill>
                  <a:srgbClr val="E6EDF3"/>
                </a:solidFill>
                <a:latin typeface="Consolas"/>
              </a:rPr>
              <a:t>  template:</a:t>
            </a:r>
          </a:p>
          <a:p>
            <a:pPr>
              <a:lnSpc>
                <a:spcPts val="1413"/>
              </a:lnSpc>
              <a:spcAft>
                <a:spcPts val="0"/>
              </a:spcAft>
            </a:pPr>
            <a:r>
              <a:rPr sz="1050">
                <a:solidFill>
                  <a:srgbClr val="E6EDF3"/>
                </a:solidFill>
                <a:latin typeface="Consolas"/>
              </a:rPr>
              <a:t>    spec:</a:t>
            </a:r>
          </a:p>
          <a:p>
            <a:pPr>
              <a:lnSpc>
                <a:spcPts val="1413"/>
              </a:lnSpc>
              <a:spcAft>
                <a:spcPts val="0"/>
              </a:spcAft>
            </a:pPr>
            <a:r>
              <a:rPr sz="1050">
                <a:solidFill>
                  <a:srgbClr val="E6EDF3"/>
                </a:solidFill>
                <a:latin typeface="Consolas"/>
              </a:rPr>
              <a:t>      tolerations:</a:t>
            </a:r>
          </a:p>
          <a:p>
            <a:pPr>
              <a:lnSpc>
                <a:spcPts val="1413"/>
              </a:lnSpc>
              <a:spcAft>
                <a:spcPts val="0"/>
              </a:spcAft>
            </a:pPr>
            <a:r>
              <a:rPr sz="1050">
                <a:solidFill>
                  <a:srgbClr val="E6EDF3"/>
                </a:solidFill>
                <a:latin typeface="Consolas"/>
              </a:rPr>
              <a:t>      - key: node-role.kubernetes.io/control-plane</a:t>
            </a:r>
          </a:p>
          <a:p>
            <a:pPr>
              <a:lnSpc>
                <a:spcPts val="1413"/>
              </a:lnSpc>
              <a:spcAft>
                <a:spcPts val="0"/>
              </a:spcAft>
            </a:pPr>
            <a:r>
              <a:rPr sz="1050">
                <a:solidFill>
                  <a:srgbClr val="E6EDF3"/>
                </a:solidFill>
                <a:latin typeface="Consolas"/>
              </a:rPr>
              <a:t>        operator: Exists</a:t>
            </a:r>
          </a:p>
          <a:p>
            <a:pPr>
              <a:lnSpc>
                <a:spcPts val="1413"/>
              </a:lnSpc>
              <a:spcAft>
                <a:spcPts val="0"/>
              </a:spcAft>
            </a:pPr>
            <a:r>
              <a:rPr sz="1050">
                <a:solidFill>
                  <a:srgbClr val="E6EDF3"/>
                </a:solidFill>
                <a:latin typeface="Consolas"/>
              </a:rPr>
              <a:t>        effect: NoSchedule</a:t>
            </a:r>
          </a:p>
          <a:p>
            <a:pPr>
              <a:lnSpc>
                <a:spcPts val="1413"/>
              </a:lnSpc>
              <a:spcAft>
                <a:spcPts val="0"/>
              </a:spcAft>
            </a:pPr>
            <a:r>
              <a:rPr sz="1050">
                <a:solidFill>
                  <a:srgbClr val="E6EDF3"/>
                </a:solidFill>
                <a:latin typeface="Consolas"/>
              </a:rPr>
              <a:t>      containers:</a:t>
            </a:r>
          </a:p>
          <a:p>
            <a:pPr>
              <a:lnSpc>
                <a:spcPts val="1413"/>
              </a:lnSpc>
              <a:spcAft>
                <a:spcPts val="0"/>
              </a:spcAft>
            </a:pPr>
            <a:r>
              <a:rPr sz="1050">
                <a:solidFill>
                  <a:srgbClr val="E6EDF3"/>
                </a:solidFill>
                <a:latin typeface="Consolas"/>
              </a:rPr>
              <a:t>      - name: agent</a:t>
            </a:r>
          </a:p>
          <a:p>
            <a:pPr>
              <a:lnSpc>
                <a:spcPts val="1413"/>
              </a:lnSpc>
              <a:spcAft>
                <a:spcPts val="0"/>
              </a:spcAft>
            </a:pPr>
            <a:r>
              <a:rPr sz="1050">
                <a:solidFill>
                  <a:srgbClr val="E6EDF3"/>
                </a:solidFill>
                <a:latin typeface="Consolas"/>
              </a:rPr>
              <a:t>        image: busybox:1.36</a:t>
            </a:r>
          </a:p>
          <a:p>
            <a:pPr>
              <a:lnSpc>
                <a:spcPts val="1413"/>
              </a:lnSpc>
              <a:spcAft>
                <a:spcPts val="0"/>
              </a:spcAft>
            </a:pPr>
            <a:r>
              <a:rPr sz="1050">
                <a:solidFill>
                  <a:srgbClr val="E6EDF3"/>
                </a:solidFill>
                <a:latin typeface="Consolas"/>
              </a:rPr>
              <a:t>        env:</a:t>
            </a:r>
          </a:p>
          <a:p>
            <a:pPr>
              <a:lnSpc>
                <a:spcPts val="1413"/>
              </a:lnSpc>
              <a:spcAft>
                <a:spcPts val="0"/>
              </a:spcAft>
            </a:pPr>
            <a:r>
              <a:rPr sz="1050">
                <a:solidFill>
                  <a:srgbClr val="E6EDF3"/>
                </a:solidFill>
                <a:latin typeface="Consolas"/>
              </a:rPr>
              <a:t>        - name: NODE_NAME</a:t>
            </a:r>
          </a:p>
          <a:p>
            <a:pPr>
              <a:lnSpc>
                <a:spcPts val="1413"/>
              </a:lnSpc>
              <a:spcAft>
                <a:spcPts val="0"/>
              </a:spcAft>
            </a:pPr>
            <a:r>
              <a:rPr sz="1050">
                <a:solidFill>
                  <a:srgbClr val="E6EDF3"/>
                </a:solidFill>
                <a:latin typeface="Consolas"/>
              </a:rPr>
              <a:t>          valueFrom:</a:t>
            </a:r>
          </a:p>
          <a:p>
            <a:pPr>
              <a:lnSpc>
                <a:spcPts val="1413"/>
              </a:lnSpc>
              <a:spcAft>
                <a:spcPts val="0"/>
              </a:spcAft>
            </a:pPr>
            <a:r>
              <a:rPr sz="1050">
                <a:solidFill>
                  <a:srgbClr val="E6EDF3"/>
                </a:solidFill>
                <a:latin typeface="Consolas"/>
              </a:rPr>
              <a:t>            fieldRef:</a:t>
            </a:r>
          </a:p>
          <a:p>
            <a:pPr>
              <a:lnSpc>
                <a:spcPts val="1413"/>
              </a:lnSpc>
              <a:spcAft>
                <a:spcPts val="0"/>
              </a:spcAft>
            </a:pPr>
            <a:r>
              <a:rPr sz="1050">
                <a:solidFill>
                  <a:srgbClr val="E6EDF3"/>
                </a:solidFill>
                <a:latin typeface="Consolas"/>
              </a:rPr>
              <a:t>              fieldPath: spec.nodeName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 replicas field exists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jsonpath for .spec.replicas returns nothing. The desired count is derived from the node set, every pass.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toleration uses Exists, not Equal</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tolerates the control-plane taint whatever its value. This is the standard idiom for role taints.</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fieldRef spec.nodeName is the downward API</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agent learns which node it is on without an API call and without credentials.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33756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kind removes the control-plane taint on single-node clusters</a:t>
            </a:r>
          </a:p>
        </p:txBody>
      </p:sp>
      <p:sp>
        <p:nvSpPr>
          <p:cNvPr id="23" name="TextBox 22"/>
          <p:cNvSpPr txBox="1"/>
          <p:nvPr/>
        </p:nvSpPr>
        <p:spPr>
          <a:xfrm>
            <a:off x="7973567" y="518493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So Lab 08 sees DESIRED 1 either way — check the node's taints rather than assuming.</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kubernetes.io/docs/concepts/workloads/controllers/daemonset/</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181</a:t>
            </a:r>
          </a:p>
        </p:txBody>
      </p:sp>
    </p:spTree>
  </p:cSld>
  <p:clrMapOvr>
    <a:masterClrMapping/>
  </p:clrMapOvr>
  <p:transition xmlns:ns1="http://schemas.openxmlformats.org/markup-compatibility/2006" spd="fast" ns1:Ignorable="p14">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RUN-TO-COMPLETION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Job Semantics You Must Know</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Job is the only workload where 'the Pod exited' is the success condition rather than the failure condition.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completions and parallelism</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completions is how many successes are needed in total; parallelism is how many Pods may run at once. They are independent numbers.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completionMode: Indexed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Pod gets a unique index 0..completions-1 in an annotation, an env var and its hostname — for sharded work.</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backoffLimit counts Pod failures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backoffLimit: 2 means one initial attempt plus two retries. Exceeding it sets Failed with BackoffLimitExceeded.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Retry backoff is exponential</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Roughly 10s, 20s, 40s, doubling and capped at six minutes — so a fast-failing Job still slows down.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restartPolicy must be Never or OnFailure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Always is rejected. OnFailure restarts the container in place; Never creates a fresh Pod for each attempt.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ttlSecondsAfterFinished cleans up</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TTL controller deletes the finished Job and its Pods after the given time. Without it, Jobs accumulate forever.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kubernetes.io/docs/concepts/workloads/controllers/job/</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182</a:t>
            </a:r>
          </a:p>
        </p:txBody>
      </p:sp>
    </p:spTree>
  </p:cSld>
  <p:clrMapOvr>
    <a:masterClrMapping/>
  </p:clrMapOvr>
  <p:transition xmlns:ns1="http://schemas.openxmlformats.org/markup-compatibility/2006" spd="fast" ns1:Ignorable="p14">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Indexed Job,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completions and parallelism together: they describe the shape of the work, not the size of the cluster.</a:t>
            </a:r>
          </a:p>
        </p:txBody>
      </p:sp>
      <p:sp>
        <p:nvSpPr>
          <p:cNvPr id="7" name="Rectangle 6"/>
          <p:cNvSpPr/>
          <p:nvPr/>
        </p:nvSpPr>
        <p:spPr>
          <a:xfrm>
            <a:off x="777240" y="2200046"/>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labs/lab-08/manifests/20-job-manifest-reconcile.yaml</a:t>
            </a:r>
          </a:p>
        </p:txBody>
      </p:sp>
      <p:sp>
        <p:nvSpPr>
          <p:cNvPr id="9" name="TextBox 8"/>
          <p:cNvSpPr txBox="1"/>
          <p:nvPr/>
        </p:nvSpPr>
        <p:spPr>
          <a:xfrm>
            <a:off x="923544" y="2620670"/>
            <a:ext cx="6062472" cy="2999232"/>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batch/v1</a:t>
            </a:r>
          </a:p>
          <a:p>
            <a:pPr>
              <a:lnSpc>
                <a:spcPts val="1476"/>
              </a:lnSpc>
              <a:spcAft>
                <a:spcPts val="0"/>
              </a:spcAft>
            </a:pPr>
            <a:r>
              <a:rPr sz="1050">
                <a:solidFill>
                  <a:srgbClr val="E6EDF3"/>
                </a:solidFill>
                <a:latin typeface="Consolas"/>
              </a:rPr>
              <a:t>kind: Job</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manifest-reconcile</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completions: 6</a:t>
            </a:r>
          </a:p>
          <a:p>
            <a:pPr>
              <a:lnSpc>
                <a:spcPts val="1476"/>
              </a:lnSpc>
              <a:spcAft>
                <a:spcPts val="0"/>
              </a:spcAft>
            </a:pPr>
            <a:r>
              <a:rPr sz="1050">
                <a:solidFill>
                  <a:srgbClr val="E6EDF3"/>
                </a:solidFill>
                <a:latin typeface="Consolas"/>
              </a:rPr>
              <a:t>  parallelism: 2</a:t>
            </a:r>
          </a:p>
          <a:p>
            <a:pPr>
              <a:lnSpc>
                <a:spcPts val="1476"/>
              </a:lnSpc>
              <a:spcAft>
                <a:spcPts val="0"/>
              </a:spcAft>
            </a:pPr>
            <a:r>
              <a:rPr sz="1050">
                <a:solidFill>
                  <a:srgbClr val="E6EDF3"/>
                </a:solidFill>
                <a:latin typeface="Consolas"/>
              </a:rPr>
              <a:t>  completionMode: Indexed</a:t>
            </a:r>
          </a:p>
          <a:p>
            <a:pPr>
              <a:lnSpc>
                <a:spcPts val="1476"/>
              </a:lnSpc>
              <a:spcAft>
                <a:spcPts val="0"/>
              </a:spcAft>
            </a:pPr>
            <a:r>
              <a:rPr sz="1050">
                <a:solidFill>
                  <a:srgbClr val="E6EDF3"/>
                </a:solidFill>
                <a:latin typeface="Consolas"/>
              </a:rPr>
              <a:t>  backoffLimit: 2</a:t>
            </a:r>
          </a:p>
          <a:p>
            <a:pPr>
              <a:lnSpc>
                <a:spcPts val="1476"/>
              </a:lnSpc>
              <a:spcAft>
                <a:spcPts val="0"/>
              </a:spcAft>
            </a:pPr>
            <a:r>
              <a:rPr sz="1050">
                <a:solidFill>
                  <a:srgbClr val="E6EDF3"/>
                </a:solidFill>
                <a:latin typeface="Consolas"/>
              </a:rPr>
              <a:t>  ttlSecondsAfterFinished: 1800</a:t>
            </a:r>
          </a:p>
          <a:p>
            <a:pPr>
              <a:lnSpc>
                <a:spcPts val="1476"/>
              </a:lnSpc>
              <a:spcAft>
                <a:spcPts val="0"/>
              </a:spcAft>
            </a:pPr>
            <a:r>
              <a:rPr sz="1050">
                <a:solidFill>
                  <a:srgbClr val="E6EDF3"/>
                </a:solidFill>
                <a:latin typeface="Consolas"/>
              </a:rPr>
              <a:t>  template:</a:t>
            </a:r>
          </a:p>
          <a:p>
            <a:pPr>
              <a:lnSpc>
                <a:spcPts val="1476"/>
              </a:lnSpc>
              <a:spcAft>
                <a:spcPts val="0"/>
              </a:spcAft>
            </a:pPr>
            <a:r>
              <a:rPr sz="1050">
                <a:solidFill>
                  <a:srgbClr val="E6EDF3"/>
                </a:solidFill>
                <a:latin typeface="Consolas"/>
              </a:rPr>
              <a:t>    spec:</a:t>
            </a:r>
          </a:p>
          <a:p>
            <a:pPr>
              <a:lnSpc>
                <a:spcPts val="1476"/>
              </a:lnSpc>
              <a:spcAft>
                <a:spcPts val="0"/>
              </a:spcAft>
            </a:pPr>
            <a:r>
              <a:rPr sz="1050">
                <a:solidFill>
                  <a:srgbClr val="E6EDF3"/>
                </a:solidFill>
                <a:latin typeface="Consolas"/>
              </a:rPr>
              <a:t>      restartPolicy: Never</a:t>
            </a:r>
          </a:p>
          <a:p>
            <a:pPr>
              <a:lnSpc>
                <a:spcPts val="1476"/>
              </a:lnSpc>
              <a:spcAft>
                <a:spcPts val="0"/>
              </a:spcAft>
            </a:pPr>
            <a:r>
              <a:rPr sz="1050">
                <a:solidFill>
                  <a:srgbClr val="E6EDF3"/>
                </a:solidFill>
                <a:latin typeface="Consolas"/>
              </a:rPr>
              <a:t>      containers:</a:t>
            </a:r>
          </a:p>
          <a:p>
            <a:pPr>
              <a:lnSpc>
                <a:spcPts val="1476"/>
              </a:lnSpc>
              <a:spcAft>
                <a:spcPts val="0"/>
              </a:spcAft>
            </a:pPr>
            <a:r>
              <a:rPr sz="1050">
                <a:solidFill>
                  <a:srgbClr val="E6EDF3"/>
                </a:solidFill>
                <a:latin typeface="Consolas"/>
              </a:rPr>
              <a:t>      - name: reconcile</a:t>
            </a:r>
          </a:p>
          <a:p>
            <a:pPr>
              <a:lnSpc>
                <a:spcPts val="1476"/>
              </a:lnSpc>
              <a:spcAft>
                <a:spcPts val="0"/>
              </a:spcAft>
            </a:pPr>
            <a:r>
              <a:rPr sz="1050">
                <a:solidFill>
                  <a:srgbClr val="E6EDF3"/>
                </a:solidFill>
                <a:latin typeface="Consolas"/>
              </a:rPr>
              <a:t>        image: busybox:1.36</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Six successes, two at a time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controller keeps two Pods in flight until six have succeeded — three waves on this configuration.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Indexed gives each Pod a shard</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Index 0-5 is exposed as JOB_COMPLETION_INDEX and appears in the Pod name, so work can be partitioned without a queue.</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33756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backoffLimit: 2 permits three Pods per failure path</a:t>
            </a:r>
          </a:p>
        </p:txBody>
      </p:sp>
      <p:sp>
        <p:nvSpPr>
          <p:cNvPr id="20" name="TextBox 19"/>
          <p:cNvSpPr txBox="1"/>
          <p:nvPr/>
        </p:nvSpPr>
        <p:spPr>
          <a:xfrm>
            <a:off x="7973567" y="46269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attempt plus two retries. Lab 08 observes exactly three Pods created before BackoffLimitExceeded.</a:t>
            </a:r>
          </a:p>
        </p:txBody>
      </p:sp>
      <p:sp>
        <p:nvSpPr>
          <p:cNvPr id="21" name="Oval 20"/>
          <p:cNvSpPr/>
          <p:nvPr/>
        </p:nvSpPr>
        <p:spPr>
          <a:xfrm>
            <a:off x="7626096" y="5140192"/>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12190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template is immutable once created</a:t>
            </a:r>
          </a:p>
        </p:txBody>
      </p:sp>
      <p:sp>
        <p:nvSpPr>
          <p:cNvPr id="23" name="TextBox 22"/>
          <p:cNvSpPr txBox="1"/>
          <p:nvPr/>
        </p:nvSpPr>
        <p:spPr>
          <a:xfrm>
            <a:off x="7973567" y="533869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cannot edit a running Job's container. Delete and recreate — which is why the TTL matters.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kubernetes.io/docs/concepts/workloads/controllers/job/</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183</a:t>
            </a:r>
          </a:p>
        </p:txBody>
      </p:sp>
    </p:spTree>
  </p:cSld>
  <p:clrMapOvr>
    <a:masterClrMapping/>
  </p:clrMapOvr>
  <p:transition xmlns:ns1="http://schemas.openxmlformats.org/markup-compatibility/2006" spd="fast" ns1:Ignorable="p14">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Completed Indexed Job</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signals agree here: the Job status, the index range and the Pod names.</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08 — captured on the isolated kind cluster</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job manifest-reconcile -n kcna-lab08</a:t>
            </a:r>
          </a:p>
          <a:p>
            <a:pPr>
              <a:lnSpc>
                <a:spcPts val="1476"/>
              </a:lnSpc>
              <a:spcAft>
                <a:spcPts val="0"/>
              </a:spcAft>
            </a:pPr>
            <a:r>
              <a:rPr sz="1000">
                <a:solidFill>
                  <a:srgbClr val="E6EDF3"/>
                </a:solidFill>
                <a:latin typeface="Consolas"/>
              </a:rPr>
              <a:t>NAME                 STATUS     COMPLETIONS  DURATION  AGE</a:t>
            </a:r>
          </a:p>
          <a:p>
            <a:pPr>
              <a:lnSpc>
                <a:spcPts val="1476"/>
              </a:lnSpc>
              <a:spcAft>
                <a:spcPts val="0"/>
              </a:spcAft>
            </a:pPr>
            <a:r>
              <a:rPr sz="1000">
                <a:solidFill>
                  <a:srgbClr val="E6EDF3"/>
                </a:solidFill>
                <a:latin typeface="Consolas"/>
              </a:rPr>
              <a:t>manifest-reconcile   Complete   6/6          26s       30s</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job manifest-reconcile -n kcna-lab08 \</a:t>
            </a:r>
          </a:p>
          <a:p>
            <a:pPr>
              <a:lnSpc>
                <a:spcPts val="1476"/>
              </a:lnSpc>
              <a:spcAft>
                <a:spcPts val="0"/>
              </a:spcAft>
            </a:pPr>
            <a:r>
              <a:rPr sz="1000">
                <a:solidFill>
                  <a:srgbClr val="E6EDF3"/>
                </a:solidFill>
                <a:latin typeface="Consolas"/>
              </a:rPr>
              <a:t>    -o jsonpath='completed={.status.completedIndexes} '\</a:t>
            </a:r>
          </a:p>
          <a:p>
            <a:pPr>
              <a:lnSpc>
                <a:spcPts val="1476"/>
              </a:lnSpc>
              <a:spcAft>
                <a:spcPts val="0"/>
              </a:spcAft>
            </a:pPr>
            <a:r>
              <a:rPr sz="1000">
                <a:solidFill>
                  <a:srgbClr val="E6EDF3"/>
                </a:solidFill>
                <a:latin typeface="Consolas"/>
              </a:rPr>
              <a:t>'succeeded={.status.succeeded}'</a:t>
            </a:r>
          </a:p>
          <a:p>
            <a:pPr>
              <a:lnSpc>
                <a:spcPts val="1476"/>
              </a:lnSpc>
              <a:spcAft>
                <a:spcPts val="0"/>
              </a:spcAft>
            </a:pPr>
            <a:r>
              <a:rPr sz="1000">
                <a:solidFill>
                  <a:srgbClr val="E6EDF3"/>
                </a:solidFill>
                <a:latin typeface="Consolas"/>
              </a:rPr>
              <a:t>completed=0-5 succeeded=6</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pods -n kcna-lab08 -l job-name=manifest-reconcile</a:t>
            </a:r>
          </a:p>
          <a:p>
            <a:pPr>
              <a:lnSpc>
                <a:spcPts val="1476"/>
              </a:lnSpc>
              <a:spcAft>
                <a:spcPts val="0"/>
              </a:spcAft>
            </a:pPr>
            <a:r>
              <a:rPr sz="1000">
                <a:solidFill>
                  <a:srgbClr val="E6EDF3"/>
                </a:solidFill>
                <a:latin typeface="Consolas"/>
              </a:rPr>
              <a:t>NAME                          READY  STATUS      AGE</a:t>
            </a:r>
          </a:p>
          <a:p>
            <a:pPr>
              <a:lnSpc>
                <a:spcPts val="1476"/>
              </a:lnSpc>
              <a:spcAft>
                <a:spcPts val="0"/>
              </a:spcAft>
            </a:pPr>
            <a:r>
              <a:rPr sz="1000">
                <a:solidFill>
                  <a:srgbClr val="E6EDF3"/>
                </a:solidFill>
                <a:latin typeface="Consolas"/>
              </a:rPr>
              <a:t>manifest-reconcile-0-4k9tp    0/1    Completed   30s</a:t>
            </a:r>
          </a:p>
          <a:p>
            <a:pPr>
              <a:lnSpc>
                <a:spcPts val="1476"/>
              </a:lnSpc>
              <a:spcAft>
                <a:spcPts val="0"/>
              </a:spcAft>
            </a:pPr>
            <a:r>
              <a:rPr sz="1000">
                <a:solidFill>
                  <a:srgbClr val="E6EDF3"/>
                </a:solidFill>
                <a:latin typeface="Consolas"/>
              </a:rPr>
              <a:t>manifest-reconcile-1-lq7d2    0/1    Completed   30s</a:t>
            </a:r>
          </a:p>
          <a:p>
            <a:pPr>
              <a:lnSpc>
                <a:spcPts val="1476"/>
              </a:lnSpc>
              <a:spcAft>
                <a:spcPts val="0"/>
              </a:spcAft>
            </a:pPr>
            <a:r>
              <a:rPr sz="1000">
                <a:solidFill>
                  <a:srgbClr val="E6EDF3"/>
                </a:solidFill>
                <a:latin typeface="Consolas"/>
              </a:rPr>
              <a:t>manifest-reconcile-5-t8vzn    0/1    Completed   12s</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STATUS Complete, COMPLETIONS 6/6</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Job object reports its own terminal state; you do not have to count Pods yourself.</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completedIndexes is a compressed range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0-5 means every index finished. A gap such as 0-2,4 tells you exactly which shard is missing.</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index is in the Pod name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manifest-reconcile-0-4k9tp is index 0. Under Indexed mode the shard is visible without reading logs.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READY 0/1 with STATUS Completed is correct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container has exited. A Job Pod that stays 1/1 Ready forever is a Job that will never finish.</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184</a:t>
            </a:r>
          </a:p>
        </p:txBody>
      </p:sp>
    </p:spTree>
  </p:cSld>
  <p:clrMapOvr>
    <a:masterClrMapping/>
  </p:clrMapOvr>
  <p:transition xmlns:ns1="http://schemas.openxmlformats.org/markup-compatibility/2006" spd="fast" ns1:Ignorable="p14">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Job That Exhausts Its backoffLimit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Pods, one root cause. The retry count is a policy you chose, not a diagnosis.</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Job never completes; three Pods are created in turn and each exits non-zero for the same reason.</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get job customs-export -n kcna-lab08</a:t>
            </a:r>
          </a:p>
          <a:p>
            <a:pPr>
              <a:lnSpc>
                <a:spcPts val="1476"/>
              </a:lnSpc>
              <a:spcAft>
                <a:spcPts val="0"/>
              </a:spcAft>
            </a:pPr>
            <a:r>
              <a:rPr sz="950">
                <a:solidFill>
                  <a:srgbClr val="E6EDF3"/>
                </a:solidFill>
                <a:latin typeface="Consolas"/>
              </a:rPr>
              <a:t>NAME             STATUS   COMPLETIONS   DURATION   AGE</a:t>
            </a:r>
          </a:p>
          <a:p>
            <a:pPr>
              <a:lnSpc>
                <a:spcPts val="1476"/>
              </a:lnSpc>
              <a:spcAft>
                <a:spcPts val="0"/>
              </a:spcAft>
            </a:pPr>
            <a:r>
              <a:rPr sz="950">
                <a:solidFill>
                  <a:srgbClr val="E6EDF3"/>
                </a:solidFill>
                <a:latin typeface="Consolas"/>
              </a:rPr>
              <a:t>customs-export   Failed   0/1           41s        2m</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Normal   SuccessfulCreate  2m10s  job-controller</a:t>
            </a:r>
          </a:p>
          <a:p>
            <a:pPr>
              <a:lnSpc>
                <a:spcPts val="1476"/>
              </a:lnSpc>
              <a:spcAft>
                <a:spcPts val="0"/>
              </a:spcAft>
            </a:pPr>
            <a:r>
              <a:rPr sz="950">
                <a:solidFill>
                  <a:srgbClr val="E6EDF3"/>
                </a:solidFill>
                <a:latin typeface="Consolas"/>
              </a:rPr>
              <a:t>  Created pod: customs-export-9wq4k</a:t>
            </a:r>
          </a:p>
          <a:p>
            <a:pPr>
              <a:lnSpc>
                <a:spcPts val="1476"/>
              </a:lnSpc>
              <a:spcAft>
                <a:spcPts val="0"/>
              </a:spcAft>
            </a:pPr>
            <a:r>
              <a:rPr sz="950">
                <a:solidFill>
                  <a:srgbClr val="E6EDF3"/>
                </a:solidFill>
                <a:latin typeface="Consolas"/>
              </a:rPr>
              <a:t>Normal   SuccessfulCreate  2m     job-controller</a:t>
            </a:r>
          </a:p>
          <a:p>
            <a:pPr>
              <a:lnSpc>
                <a:spcPts val="1476"/>
              </a:lnSpc>
              <a:spcAft>
                <a:spcPts val="0"/>
              </a:spcAft>
            </a:pPr>
            <a:r>
              <a:rPr sz="950">
                <a:solidFill>
                  <a:srgbClr val="E6EDF3"/>
                </a:solidFill>
                <a:latin typeface="Consolas"/>
              </a:rPr>
              <a:t>  Created pod: customs-export-cn2xr</a:t>
            </a:r>
          </a:p>
          <a:p>
            <a:pPr>
              <a:lnSpc>
                <a:spcPts val="1476"/>
              </a:lnSpc>
              <a:spcAft>
                <a:spcPts val="0"/>
              </a:spcAft>
            </a:pPr>
            <a:r>
              <a:rPr sz="950">
                <a:solidFill>
                  <a:srgbClr val="E6EDF3"/>
                </a:solidFill>
                <a:latin typeface="Consolas"/>
              </a:rPr>
              <a:t>Normal   SuccessfulCreate  95s    job-controller</a:t>
            </a:r>
          </a:p>
          <a:p>
            <a:pPr>
              <a:lnSpc>
                <a:spcPts val="1476"/>
              </a:lnSpc>
              <a:spcAft>
                <a:spcPts val="0"/>
              </a:spcAft>
            </a:pPr>
            <a:r>
              <a:rPr sz="950">
                <a:solidFill>
                  <a:srgbClr val="E6EDF3"/>
                </a:solidFill>
                <a:latin typeface="Consolas"/>
              </a:rPr>
              <a:t>  Created pod: customs-export-4tbvz</a:t>
            </a:r>
          </a:p>
          <a:p>
            <a:pPr>
              <a:lnSpc>
                <a:spcPts val="1476"/>
              </a:lnSpc>
              <a:spcAft>
                <a:spcPts val="0"/>
              </a:spcAft>
            </a:pPr>
            <a:r>
              <a:rPr sz="950">
                <a:solidFill>
                  <a:srgbClr val="E6EDF3"/>
                </a:solidFill>
                <a:latin typeface="Consolas"/>
              </a:rPr>
              <a:t>Warning  BackoffLimitExceeded  89s  job-controller</a:t>
            </a:r>
          </a:p>
          <a:p>
            <a:pPr>
              <a:lnSpc>
                <a:spcPts val="1476"/>
              </a:lnSpc>
              <a:spcAft>
                <a:spcPts val="0"/>
              </a:spcAft>
            </a:pPr>
            <a:r>
              <a:rPr sz="950">
                <a:solidFill>
                  <a:srgbClr val="E6EDF3"/>
                </a:solidFill>
                <a:latin typeface="Consolas"/>
              </a:rPr>
              <a:t>  Job has reached the specified backoff limit</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container cannot find its input file and exits non-zero: "wc: /data/customs-export.csv: No such file or directory".</a:t>
            </a:r>
          </a:p>
          <a:p>
            <a:pPr>
              <a:lnSpc>
                <a:spcPct val="112000"/>
              </a:lnSpc>
              <a:spcAft>
                <a:spcPts val="200"/>
              </a:spcAft>
            </a:pPr>
            <a:r>
              <a:rPr sz="950">
                <a:solidFill>
                  <a:srgbClr val="94A3B8"/>
                </a:solidFill>
                <a:latin typeface="Arial"/>
              </a:rPr>
              <a:t>•  </a:t>
            </a:r>
            <a:r>
              <a:rPr sz="950">
                <a:solidFill>
                  <a:srgbClr val="5B6372"/>
                </a:solidFill>
                <a:latin typeface="Arial"/>
              </a:rPr>
              <a:t>backoffLimit: 2 permits one attempt plus two retries, so exactly three Pods were created.</a:t>
            </a:r>
          </a:p>
          <a:p>
            <a:pPr>
              <a:lnSpc>
                <a:spcPct val="112000"/>
              </a:lnSpc>
              <a:spcAft>
                <a:spcPts val="200"/>
              </a:spcAft>
            </a:pPr>
            <a:r>
              <a:rPr sz="950">
                <a:solidFill>
                  <a:srgbClr val="94A3B8"/>
                </a:solidFill>
                <a:latin typeface="Arial"/>
              </a:rPr>
              <a:t>•  </a:t>
            </a:r>
            <a:r>
              <a:rPr sz="950">
                <a:solidFill>
                  <a:srgbClr val="5B6372"/>
                </a:solidFill>
                <a:latin typeface="Arial"/>
              </a:rPr>
              <a:t>restartPolicy: Never means each attempt is a new Pod, which is why the failures are visible as separate objects.</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last Pod's logs, not the Job's events, for the actual application error.</a:t>
            </a:r>
          </a:p>
          <a:p>
            <a:pPr>
              <a:lnSpc>
                <a:spcPct val="112000"/>
              </a:lnSpc>
              <a:spcAft>
                <a:spcPts val="200"/>
              </a:spcAft>
            </a:pPr>
            <a:r>
              <a:rPr sz="950">
                <a:solidFill>
                  <a:srgbClr val="94A3B8"/>
                </a:solidFill>
                <a:latin typeface="Arial"/>
              </a:rPr>
              <a:t>•  </a:t>
            </a:r>
            <a:r>
              <a:rPr sz="950">
                <a:solidFill>
                  <a:srgbClr val="5B6372"/>
                </a:solidFill>
                <a:latin typeface="Arial"/>
              </a:rPr>
              <a:t>Fix the input path or mount, then delete and re-create the Job — its template is immutable.</a:t>
            </a:r>
          </a:p>
          <a:p>
            <a:pPr>
              <a:lnSpc>
                <a:spcPct val="112000"/>
              </a:lnSpc>
              <a:spcAft>
                <a:spcPts val="200"/>
              </a:spcAft>
            </a:pPr>
            <a:r>
              <a:rPr sz="950">
                <a:solidFill>
                  <a:srgbClr val="94A3B8"/>
                </a:solidFill>
                <a:latin typeface="Arial"/>
              </a:rPr>
              <a:t>•  </a:t>
            </a:r>
            <a:r>
              <a:rPr sz="950">
                <a:solidFill>
                  <a:srgbClr val="5B6372"/>
                </a:solidFill>
                <a:latin typeface="Arial"/>
              </a:rPr>
              <a:t>Set a realistic backoffLimit: retrying a missing file twice buys nothing but noise.</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STATUS returns to Complete with COMPLETIONS 1/1 once the source path is corrected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185</a:t>
            </a:r>
          </a:p>
        </p:txBody>
      </p:sp>
    </p:spTree>
  </p:cSld>
  <p:clrMapOvr>
    <a:masterClrMapping/>
  </p:clrMapOvr>
  <p:transition xmlns:ns1="http://schemas.openxmlformats.org/markup-compatibility/2006" spd="fast" ns1:Ignorable="p14">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CronJob,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CronJob is a Job factory. Everything about the work itself lives one level down, inside jobTemplate.</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labs/lab-08/manifests/40-cronjob-tariff-sync.yaml</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batch/v1</a:t>
            </a:r>
          </a:p>
          <a:p>
            <a:pPr>
              <a:lnSpc>
                <a:spcPts val="1476"/>
              </a:lnSpc>
              <a:spcAft>
                <a:spcPts val="0"/>
              </a:spcAft>
            </a:pPr>
            <a:r>
              <a:rPr sz="1050">
                <a:solidFill>
                  <a:srgbClr val="E6EDF3"/>
                </a:solidFill>
                <a:latin typeface="Consolas"/>
              </a:rPr>
              <a:t>kind: CronJob</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tariff-sync</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schedule: "*/2 * * * *"</a:t>
            </a:r>
          </a:p>
          <a:p>
            <a:pPr>
              <a:lnSpc>
                <a:spcPts val="1476"/>
              </a:lnSpc>
              <a:spcAft>
                <a:spcPts val="0"/>
              </a:spcAft>
            </a:pPr>
            <a:r>
              <a:rPr sz="1050">
                <a:solidFill>
                  <a:srgbClr val="E6EDF3"/>
                </a:solidFill>
                <a:latin typeface="Consolas"/>
              </a:rPr>
              <a:t>  timeZone: "Asia/Singapore"</a:t>
            </a:r>
          </a:p>
          <a:p>
            <a:pPr>
              <a:lnSpc>
                <a:spcPts val="1476"/>
              </a:lnSpc>
              <a:spcAft>
                <a:spcPts val="0"/>
              </a:spcAft>
            </a:pPr>
            <a:r>
              <a:rPr sz="1050">
                <a:solidFill>
                  <a:srgbClr val="E6EDF3"/>
                </a:solidFill>
                <a:latin typeface="Consolas"/>
              </a:rPr>
              <a:t>  concurrencyPolicy: Forbid</a:t>
            </a:r>
          </a:p>
          <a:p>
            <a:pPr>
              <a:lnSpc>
                <a:spcPts val="1476"/>
              </a:lnSpc>
              <a:spcAft>
                <a:spcPts val="0"/>
              </a:spcAft>
            </a:pPr>
            <a:r>
              <a:rPr sz="1050">
                <a:solidFill>
                  <a:srgbClr val="E6EDF3"/>
                </a:solidFill>
                <a:latin typeface="Consolas"/>
              </a:rPr>
              <a:t>  startingDeadlineSeconds: 60</a:t>
            </a:r>
          </a:p>
          <a:p>
            <a:pPr>
              <a:lnSpc>
                <a:spcPts val="1476"/>
              </a:lnSpc>
              <a:spcAft>
                <a:spcPts val="0"/>
              </a:spcAft>
            </a:pPr>
            <a:r>
              <a:rPr sz="1050">
                <a:solidFill>
                  <a:srgbClr val="E6EDF3"/>
                </a:solidFill>
                <a:latin typeface="Consolas"/>
              </a:rPr>
              <a:t>  successfulJobsHistoryLimit: 3</a:t>
            </a:r>
          </a:p>
          <a:p>
            <a:pPr>
              <a:lnSpc>
                <a:spcPts val="1476"/>
              </a:lnSpc>
              <a:spcAft>
                <a:spcPts val="0"/>
              </a:spcAft>
            </a:pPr>
            <a:r>
              <a:rPr sz="1050">
                <a:solidFill>
                  <a:srgbClr val="E6EDF3"/>
                </a:solidFill>
                <a:latin typeface="Consolas"/>
              </a:rPr>
              <a:t>  failedJobsHistoryLimit: 1</a:t>
            </a:r>
          </a:p>
          <a:p>
            <a:pPr>
              <a:lnSpc>
                <a:spcPts val="1476"/>
              </a:lnSpc>
              <a:spcAft>
                <a:spcPts val="0"/>
              </a:spcAft>
            </a:pPr>
            <a:r>
              <a:rPr sz="1050">
                <a:solidFill>
                  <a:srgbClr val="E6EDF3"/>
                </a:solidFill>
                <a:latin typeface="Consolas"/>
              </a:rPr>
              <a:t>  jobTemplate:</a:t>
            </a:r>
          </a:p>
          <a:p>
            <a:pPr>
              <a:lnSpc>
                <a:spcPts val="1476"/>
              </a:lnSpc>
              <a:spcAft>
                <a:spcPts val="0"/>
              </a:spcAft>
            </a:pPr>
            <a:r>
              <a:rPr sz="1050">
                <a:solidFill>
                  <a:srgbClr val="E6EDF3"/>
                </a:solidFill>
                <a:latin typeface="Consolas"/>
              </a:rPr>
              <a:t>    spec:</a:t>
            </a:r>
          </a:p>
          <a:p>
            <a:pPr>
              <a:lnSpc>
                <a:spcPts val="1476"/>
              </a:lnSpc>
              <a:spcAft>
                <a:spcPts val="0"/>
              </a:spcAft>
            </a:pPr>
            <a:r>
              <a:rPr sz="1050">
                <a:solidFill>
                  <a:srgbClr val="E6EDF3"/>
                </a:solidFill>
                <a:latin typeface="Consolas"/>
              </a:rPr>
              <a:t>      backoffLimit: 1</a:t>
            </a:r>
          </a:p>
          <a:p>
            <a:pPr>
              <a:lnSpc>
                <a:spcPts val="1476"/>
              </a:lnSpc>
              <a:spcAft>
                <a:spcPts val="0"/>
              </a:spcAft>
            </a:pPr>
            <a:r>
              <a:rPr sz="1050">
                <a:solidFill>
                  <a:srgbClr val="E6EDF3"/>
                </a:solidFill>
                <a:latin typeface="Consolas"/>
              </a:rPr>
              <a:t>      template:</a:t>
            </a:r>
          </a:p>
          <a:p>
            <a:pPr>
              <a:lnSpc>
                <a:spcPts val="1476"/>
              </a:lnSpc>
              <a:spcAft>
                <a:spcPts val="0"/>
              </a:spcAft>
            </a:pPr>
            <a:r>
              <a:rPr sz="1050">
                <a:solidFill>
                  <a:srgbClr val="E6EDF3"/>
                </a:solidFill>
                <a:latin typeface="Consolas"/>
              </a:rPr>
              <a:t>        spec:</a:t>
            </a:r>
          </a:p>
          <a:p>
            <a:pPr>
              <a:lnSpc>
                <a:spcPts val="1476"/>
              </a:lnSpc>
              <a:spcAft>
                <a:spcPts val="0"/>
              </a:spcAft>
            </a:pPr>
            <a:r>
              <a:rPr sz="1050">
                <a:solidFill>
                  <a:srgbClr val="E6EDF3"/>
                </a:solidFill>
                <a:latin typeface="Consolas"/>
              </a:rPr>
              <a:t>          restartPolicy: OnFailure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schedule is standard five-field cron</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minute, hour, day-of-month, month, day-of-week. "*/2" in the first field means every second minute.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timeZone is a real field, not a comment</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Stable since Kubernetes v1.27. Without it the schedule is interpreted in the controller manager's own time zone.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concurrencyPolicy governs overlap</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Forbid skips the run if the previous Job is still going; Replace kills it; Allow (the default) lets both run.</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history limits, not one</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Three successful and one failed Job are retained. This is how you keep evidence without unbounded growth.</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kubernetes.io/docs/concepts/workloads/controllers/cron-jobs/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186</a:t>
            </a:r>
          </a:p>
        </p:txBody>
      </p:sp>
    </p:spTree>
  </p:cSld>
  <p:clrMapOvr>
    <a:masterClrMapping/>
  </p:clrMapOvr>
  <p:transition xmlns:ns1="http://schemas.openxmlformats.org/markup-compatibility/2006" spd="fast" ns1:Ignorable="p14">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Cron Fields and CronJob Behaviour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Field order</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minute (0-59) hour (0-23) day-of-month (1-31) month (1-12) day-of-week (0-6)</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Every n units of that field</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a-b</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Inclusive range; a,b is an explicit list</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@hourly / @daily</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Shorthand macros, also accepted</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concurrencyPolicy: Allow</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Default. Overlapping Jobs run in parallel</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concurrencyPolicy: Forbid</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Skip this occurrence if the previous Job is still active</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concurrencyPolicy: Replace</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Delete the running Job and start the new one</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startingDeadlineSeconds</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Give up on a missed occurrence after this many seconds</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suspend: true</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Stop creating new Jobs; running Jobs are unaffected</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Missed-schedule limit</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More than 100 missed start times and the controller stops and reports an error</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Guarantee level</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At-least-once in practice — a Job may occasionally be created twice, so make the work idempotent</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Manual fire</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kubectl create job &lt;name&gt; --from=cronjob/&lt;name&gt; for an out-of-band run</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kubernetes.io/docs/concepts/workloads/controllers/cron-jobs/</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187</a:t>
            </a:r>
          </a:p>
        </p:txBody>
      </p:sp>
    </p:spTree>
  </p:cSld>
  <p:clrMapOvr>
    <a:masterClrMapping/>
  </p:clrMapOvr>
  <p:transition xmlns:ns1="http://schemas.openxmlformats.org/markup-compatibility/2006" spd="fast" ns1:Ignorable="p14">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PREVIEW OF DAY 4</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StatefulSet Is a Different Animal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You will build one in Lab 19. Today you only need to recognise the three guarantees that make it the right choice.</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Stable identity</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Pods are named &lt;sts&gt;-0, &lt;sts&gt;-1, ... not random.</a:t>
            </a:r>
          </a:p>
          <a:p>
            <a:pPr>
              <a:lnSpc>
                <a:spcPct val="112000"/>
              </a:lnSpc>
              <a:spcAft>
                <a:spcPts val="500"/>
              </a:spcAft>
            </a:pPr>
            <a:r>
              <a:rPr sz="1100">
                <a:solidFill>
                  <a:srgbClr val="94A3B8"/>
                </a:solidFill>
                <a:latin typeface="Arial"/>
              </a:rPr>
              <a:t>•  </a:t>
            </a:r>
            <a:r>
              <a:rPr sz="1100">
                <a:solidFill>
                  <a:srgbClr val="5B6372"/>
                </a:solidFill>
                <a:latin typeface="Arial"/>
              </a:rPr>
              <a:t>The name survives rescheduling to another node.</a:t>
            </a:r>
          </a:p>
          <a:p>
            <a:pPr>
              <a:lnSpc>
                <a:spcPct val="112000"/>
              </a:lnSpc>
              <a:spcAft>
                <a:spcPts val="500"/>
              </a:spcAft>
            </a:pPr>
            <a:r>
              <a:rPr sz="1100">
                <a:solidFill>
                  <a:srgbClr val="94A3B8"/>
                </a:solidFill>
                <a:latin typeface="Arial"/>
              </a:rPr>
              <a:t>•  </a:t>
            </a:r>
            <a:r>
              <a:rPr sz="1100">
                <a:solidFill>
                  <a:srgbClr val="5B6372"/>
                </a:solidFill>
                <a:latin typeface="Arial"/>
              </a:rPr>
              <a:t>A headless Service gives each Pod its own DNS name.</a:t>
            </a:r>
          </a:p>
          <a:p>
            <a:pPr>
              <a:lnSpc>
                <a:spcPct val="112000"/>
              </a:lnSpc>
              <a:spcAft>
                <a:spcPts val="500"/>
              </a:spcAft>
            </a:pPr>
            <a:r>
              <a:rPr sz="1100">
                <a:solidFill>
                  <a:srgbClr val="94A3B8"/>
                </a:solidFill>
                <a:latin typeface="Arial"/>
              </a:rPr>
              <a:t>•  </a:t>
            </a:r>
            <a:r>
              <a:rPr sz="1100">
                <a:solidFill>
                  <a:srgbClr val="5B6372"/>
                </a:solidFill>
                <a:latin typeface="Arial"/>
              </a:rPr>
              <a:t>Peers can therefore find each other by name.</a:t>
            </a:r>
          </a:p>
          <a:p>
            <a:pPr>
              <a:lnSpc>
                <a:spcPct val="112000"/>
              </a:lnSpc>
              <a:spcAft>
                <a:spcPts val="500"/>
              </a:spcAft>
            </a:pPr>
            <a:r>
              <a:rPr sz="1100">
                <a:solidFill>
                  <a:srgbClr val="94A3B8"/>
                </a:solidFill>
                <a:latin typeface="Arial"/>
              </a:rPr>
              <a:t>•  </a:t>
            </a:r>
            <a:r>
              <a:rPr sz="1100">
                <a:solidFill>
                  <a:srgbClr val="5B6372"/>
                </a:solidFill>
                <a:latin typeface="Arial"/>
              </a:rPr>
              <a:t>A Deployment can promise none of this.</a:t>
            </a:r>
          </a:p>
        </p:txBody>
      </p:sp>
      <p:sp>
        <p:nvSpPr>
          <p:cNvPr id="11" name="Rounded Rectangle 10"/>
          <p:cNvSpPr/>
          <p:nvPr/>
        </p:nvSpPr>
        <p:spPr>
          <a:xfrm>
            <a:off x="1033271" y="5532120"/>
            <a:ext cx="107442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ordinal names</a:t>
            </a:r>
          </a:p>
        </p:txBody>
      </p:sp>
      <p:sp>
        <p:nvSpPr>
          <p:cNvPr id="12" name="Rounded Rectangle 11"/>
          <p:cNvSpPr/>
          <p:nvPr/>
        </p:nvSpPr>
        <p:spPr>
          <a:xfrm>
            <a:off x="2199132" y="5532120"/>
            <a:ext cx="128016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headless Service</a:t>
            </a:r>
          </a:p>
        </p:txBody>
      </p:sp>
      <p:sp>
        <p:nvSpPr>
          <p:cNvPr id="13" name="Rectangle 12"/>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Stable storage</a:t>
            </a:r>
          </a:p>
        </p:txBody>
      </p:sp>
      <p:sp>
        <p:nvSpPr>
          <p:cNvPr id="16" name="TextBox 15"/>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volumeClaimTemplates create one PVC per ordinal.</a:t>
            </a:r>
          </a:p>
          <a:p>
            <a:pPr>
              <a:lnSpc>
                <a:spcPct val="112000"/>
              </a:lnSpc>
              <a:spcAft>
                <a:spcPts val="500"/>
              </a:spcAft>
            </a:pPr>
            <a:r>
              <a:rPr sz="1100">
                <a:solidFill>
                  <a:srgbClr val="94A3B8"/>
                </a:solidFill>
                <a:latin typeface="Arial"/>
              </a:rPr>
              <a:t>•  </a:t>
            </a:r>
            <a:r>
              <a:rPr sz="1100">
                <a:solidFill>
                  <a:srgbClr val="5B6372"/>
                </a:solidFill>
                <a:latin typeface="Arial"/>
              </a:rPr>
              <a:t>Pod 2 always reattaches to the same PVC.</a:t>
            </a:r>
          </a:p>
          <a:p>
            <a:pPr>
              <a:lnSpc>
                <a:spcPct val="112000"/>
              </a:lnSpc>
              <a:spcAft>
                <a:spcPts val="500"/>
              </a:spcAft>
            </a:pPr>
            <a:r>
              <a:rPr sz="1100">
                <a:solidFill>
                  <a:srgbClr val="94A3B8"/>
                </a:solidFill>
                <a:latin typeface="Arial"/>
              </a:rPr>
              <a:t>•  </a:t>
            </a:r>
            <a:r>
              <a:rPr sz="1100">
                <a:solidFill>
                  <a:srgbClr val="5B6372"/>
                </a:solidFill>
                <a:latin typeface="Arial"/>
              </a:rPr>
              <a:t>PVCs deliberately outlive the Pods that used them.</a:t>
            </a:r>
          </a:p>
          <a:p>
            <a:pPr>
              <a:lnSpc>
                <a:spcPct val="112000"/>
              </a:lnSpc>
              <a:spcAft>
                <a:spcPts val="500"/>
              </a:spcAft>
            </a:pPr>
            <a:r>
              <a:rPr sz="1100">
                <a:solidFill>
                  <a:srgbClr val="94A3B8"/>
                </a:solidFill>
                <a:latin typeface="Arial"/>
              </a:rPr>
              <a:t>•  </a:t>
            </a:r>
            <a:r>
              <a:rPr sz="1100">
                <a:solidFill>
                  <a:srgbClr val="5B6372"/>
                </a:solidFill>
                <a:latin typeface="Arial"/>
              </a:rPr>
              <a:t>Deleting the StatefulSet does not delete the claims.</a:t>
            </a:r>
          </a:p>
          <a:p>
            <a:pPr>
              <a:lnSpc>
                <a:spcPct val="112000"/>
              </a:lnSpc>
              <a:spcAft>
                <a:spcPts val="500"/>
              </a:spcAft>
            </a:pPr>
            <a:r>
              <a:rPr sz="1100">
                <a:solidFill>
                  <a:srgbClr val="94A3B8"/>
                </a:solidFill>
                <a:latin typeface="Arial"/>
              </a:rPr>
              <a:t>•  </a:t>
            </a:r>
            <a:r>
              <a:rPr sz="1100">
                <a:solidFill>
                  <a:srgbClr val="5B6372"/>
                </a:solidFill>
                <a:latin typeface="Arial"/>
              </a:rPr>
              <a:t>Covered properly in Day 4 with PV/PVC and CSI.</a:t>
            </a:r>
          </a:p>
        </p:txBody>
      </p:sp>
      <p:sp>
        <p:nvSpPr>
          <p:cNvPr id="17" name="Rounded Rectangle 16"/>
          <p:cNvSpPr/>
          <p:nvPr/>
        </p:nvSpPr>
        <p:spPr>
          <a:xfrm>
            <a:off x="4739335" y="5532120"/>
            <a:ext cx="15544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volumeClaimTemplates</a:t>
            </a:r>
          </a:p>
        </p:txBody>
      </p:sp>
      <p:sp>
        <p:nvSpPr>
          <p:cNvPr id="18" name="Rounded Rectangle 17"/>
          <p:cNvSpPr/>
          <p:nvPr/>
        </p:nvSpPr>
        <p:spPr>
          <a:xfrm>
            <a:off x="6385255" y="5532120"/>
            <a:ext cx="12115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per-ordinal PVC</a:t>
            </a:r>
          </a:p>
        </p:txBody>
      </p:sp>
      <p:sp>
        <p:nvSpPr>
          <p:cNvPr id="19" name="Rectangle 18"/>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Ordered operations</a:t>
            </a:r>
          </a:p>
        </p:txBody>
      </p:sp>
      <p:sp>
        <p:nvSpPr>
          <p:cNvPr id="22" name="TextBox 21"/>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Scale-up proceeds 0, 1, 2 and waits for Ready.</a:t>
            </a:r>
          </a:p>
          <a:p>
            <a:pPr>
              <a:lnSpc>
                <a:spcPct val="112000"/>
              </a:lnSpc>
              <a:spcAft>
                <a:spcPts val="500"/>
              </a:spcAft>
            </a:pPr>
            <a:r>
              <a:rPr sz="1100">
                <a:solidFill>
                  <a:srgbClr val="94A3B8"/>
                </a:solidFill>
                <a:latin typeface="Arial"/>
              </a:rPr>
              <a:t>•  </a:t>
            </a:r>
            <a:r>
              <a:rPr sz="1100">
                <a:solidFill>
                  <a:srgbClr val="5B6372"/>
                </a:solidFill>
                <a:latin typeface="Arial"/>
              </a:rPr>
              <a:t>Scale-down and rolling updates go in reverse order.</a:t>
            </a:r>
          </a:p>
          <a:p>
            <a:pPr>
              <a:lnSpc>
                <a:spcPct val="112000"/>
              </a:lnSpc>
              <a:spcAft>
                <a:spcPts val="500"/>
              </a:spcAft>
            </a:pPr>
            <a:r>
              <a:rPr sz="1100">
                <a:solidFill>
                  <a:srgbClr val="94A3B8"/>
                </a:solidFill>
                <a:latin typeface="Arial"/>
              </a:rPr>
              <a:t>•  </a:t>
            </a:r>
            <a:r>
              <a:rPr sz="1100">
                <a:solidFill>
                  <a:srgbClr val="5B6372"/>
                </a:solidFill>
                <a:latin typeface="Arial"/>
              </a:rPr>
              <a:t>podManagementPolicy: Parallel opts out of the wait.</a:t>
            </a:r>
          </a:p>
          <a:p>
            <a:pPr>
              <a:lnSpc>
                <a:spcPct val="112000"/>
              </a:lnSpc>
              <a:spcAft>
                <a:spcPts val="500"/>
              </a:spcAft>
            </a:pPr>
            <a:r>
              <a:rPr sz="1100">
                <a:solidFill>
                  <a:srgbClr val="94A3B8"/>
                </a:solidFill>
                <a:latin typeface="Arial"/>
              </a:rPr>
              <a:t>•  </a:t>
            </a:r>
            <a:r>
              <a:rPr sz="1100">
                <a:solidFill>
                  <a:srgbClr val="5B6372"/>
                </a:solidFill>
                <a:latin typeface="Arial"/>
              </a:rPr>
              <a:t>partition in updateStrategy gates a staged rollout.</a:t>
            </a:r>
          </a:p>
          <a:p>
            <a:pPr>
              <a:lnSpc>
                <a:spcPct val="112000"/>
              </a:lnSpc>
              <a:spcAft>
                <a:spcPts val="500"/>
              </a:spcAft>
            </a:pPr>
            <a:r>
              <a:rPr sz="1100">
                <a:solidFill>
                  <a:srgbClr val="94A3B8"/>
                </a:solidFill>
                <a:latin typeface="Arial"/>
              </a:rPr>
              <a:t>•  </a:t>
            </a:r>
            <a:r>
              <a:rPr sz="1100">
                <a:solidFill>
                  <a:srgbClr val="5B6372"/>
                </a:solidFill>
                <a:latin typeface="Arial"/>
              </a:rPr>
              <a:t>The cost is that rollouts are slower by design.</a:t>
            </a:r>
          </a:p>
        </p:txBody>
      </p:sp>
      <p:sp>
        <p:nvSpPr>
          <p:cNvPr id="23" name="Rounded Rectangle 22"/>
          <p:cNvSpPr/>
          <p:nvPr/>
        </p:nvSpPr>
        <p:spPr>
          <a:xfrm>
            <a:off x="8445398" y="5532120"/>
            <a:ext cx="10744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ordered ready</a:t>
            </a:r>
          </a:p>
        </p:txBody>
      </p:sp>
      <p:sp>
        <p:nvSpPr>
          <p:cNvPr id="24" name="Rounded Rectangle 23"/>
          <p:cNvSpPr/>
          <p:nvPr/>
        </p:nvSpPr>
        <p:spPr>
          <a:xfrm>
            <a:off x="9611258" y="5532120"/>
            <a:ext cx="8001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partition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kubernetes.io/docs/concepts/workloads/controllers/statefulset/</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188</a:t>
            </a:r>
          </a:p>
        </p:txBody>
      </p:sp>
    </p:spTree>
  </p:cSld>
  <p:clrMapOvr>
    <a:masterClrMapping/>
  </p:clrMapOvr>
  <p:transition xmlns:ns1="http://schemas.openxmlformats.org/markup-compatibility/2006" spd="fast" ns1:Ignorable="p14">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COMPOSITION PATTERN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Adapter Pattern Inside One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Registered Topic 2 names the adapter pattern explicitly — it is the workload-composition counterpart to the controller patterns in this module.</a:t>
            </a:r>
          </a:p>
        </p:txBody>
      </p:sp>
      <p:sp>
        <p:nvSpPr>
          <p:cNvPr id="7" name="Rounded Rectangle 6"/>
          <p:cNvSpPr/>
          <p:nvPr/>
        </p:nvSpPr>
        <p:spPr>
          <a:xfrm>
            <a:off x="777240" y="2391765"/>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91765"/>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9197"/>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94101"/>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Application container</a:t>
            </a:r>
          </a:p>
        </p:txBody>
      </p:sp>
      <p:sp>
        <p:nvSpPr>
          <p:cNvPr id="11" name="TextBox 10"/>
          <p:cNvSpPr txBox="1"/>
          <p:nvPr/>
        </p:nvSpPr>
        <p:spPr>
          <a:xfrm>
            <a:off x="923544" y="3342741"/>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Emits whatever format it already emits — a legacy status page, a bespoke log line, a proprietary counter. Unchanged.</a:t>
            </a:r>
          </a:p>
        </p:txBody>
      </p:sp>
      <p:cxnSp>
        <p:nvCxnSpPr>
          <p:cNvPr id="12" name="Connector 11"/>
          <p:cNvCxnSpPr/>
          <p:nvPr/>
        </p:nvCxnSpPr>
        <p:spPr>
          <a:xfrm>
            <a:off x="3264408" y="3290671"/>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91765"/>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91765"/>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9197"/>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94101"/>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Shared Pod scope</a:t>
            </a:r>
          </a:p>
        </p:txBody>
      </p:sp>
      <p:sp>
        <p:nvSpPr>
          <p:cNvPr id="17" name="TextBox 16"/>
          <p:cNvSpPr txBox="1"/>
          <p:nvPr/>
        </p:nvSpPr>
        <p:spPr>
          <a:xfrm>
            <a:off x="3675887" y="3342741"/>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Both containers share the network namespace and can share an emptyDir volume. localhost and a file path are the interface.</a:t>
            </a:r>
          </a:p>
        </p:txBody>
      </p:sp>
      <p:cxnSp>
        <p:nvCxnSpPr>
          <p:cNvPr id="18" name="Connector 17"/>
          <p:cNvCxnSpPr/>
          <p:nvPr/>
        </p:nvCxnSpPr>
        <p:spPr>
          <a:xfrm>
            <a:off x="6016751" y="3290671"/>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91765"/>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91765"/>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9197"/>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94101"/>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Adapter container</a:t>
            </a:r>
          </a:p>
        </p:txBody>
      </p:sp>
      <p:sp>
        <p:nvSpPr>
          <p:cNvPr id="23" name="TextBox 22"/>
          <p:cNvSpPr txBox="1"/>
          <p:nvPr/>
        </p:nvSpPr>
        <p:spPr>
          <a:xfrm>
            <a:off x="6428231" y="3342741"/>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Reads the native format and republishes it in the shape the platform expects — for example Prometheus text exposition.</a:t>
            </a:r>
          </a:p>
        </p:txBody>
      </p:sp>
      <p:cxnSp>
        <p:nvCxnSpPr>
          <p:cNvPr id="24" name="Connector 23"/>
          <p:cNvCxnSpPr/>
          <p:nvPr/>
        </p:nvCxnSpPr>
        <p:spPr>
          <a:xfrm>
            <a:off x="8769096" y="3290671"/>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91765"/>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91765"/>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9197"/>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94101"/>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Uniform consumer</a:t>
            </a:r>
          </a:p>
        </p:txBody>
      </p:sp>
      <p:sp>
        <p:nvSpPr>
          <p:cNvPr id="29" name="TextBox 28"/>
          <p:cNvSpPr txBox="1"/>
          <p:nvPr/>
        </p:nvSpPr>
        <p:spPr>
          <a:xfrm>
            <a:off x="9180576" y="3342741"/>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scraper, log pipeline or health checker sees one standard interface and never learns about the legacy format.</a:t>
            </a:r>
          </a:p>
        </p:txBody>
      </p:sp>
      <p:sp>
        <p:nvSpPr>
          <p:cNvPr id="30" name="Rectangle 29"/>
          <p:cNvSpPr/>
          <p:nvPr/>
        </p:nvSpPr>
        <p:spPr>
          <a:xfrm>
            <a:off x="777240" y="4500473"/>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500473"/>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82769"/>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11369"/>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adapter normalises output for the outside world. Contrast: a sidecar adds capability to the app, and an ambassador normalises the app's outbound connections.</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kubernetes.io/blog/2015/06/the-distributed-system-toolkit-patterns/</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189</a:t>
            </a:r>
          </a:p>
        </p:txBody>
      </p:sp>
    </p:spTree>
  </p:cSld>
  <p:clrMapOvr>
    <a:masterClrMapping/>
  </p:clrMapOvr>
  <p:transition xmlns:ns4="http://schemas.openxmlformats.org/markup-compatibility/2006" spd="fast" ns4:Ignorable="p14">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TELLING THEM APART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Sidecar, Adapter and Ambassador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All three are just extra containers in one Pod. The distinction is intent, and intent is what an exam question tests.</a:t>
            </a:r>
          </a:p>
        </p:txBody>
      </p:sp>
      <p:sp>
        <p:nvSpPr>
          <p:cNvPr id="7" name="Rectangle 6"/>
          <p:cNvSpPr/>
          <p:nvPr/>
        </p:nvSpPr>
        <p:spPr>
          <a:xfrm>
            <a:off x="777240" y="2200046"/>
            <a:ext cx="1667295"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41126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Pattern</a:t>
            </a:r>
          </a:p>
        </p:txBody>
      </p:sp>
      <p:sp>
        <p:nvSpPr>
          <p:cNvPr id="9" name="Rectangle 8"/>
          <p:cNvSpPr/>
          <p:nvPr/>
        </p:nvSpPr>
        <p:spPr>
          <a:xfrm>
            <a:off x="2444535" y="2200046"/>
            <a:ext cx="2362002"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572551" y="2300630"/>
            <a:ext cx="210597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Direction</a:t>
            </a:r>
          </a:p>
        </p:txBody>
      </p:sp>
      <p:sp>
        <p:nvSpPr>
          <p:cNvPr id="11" name="Rectangle 10"/>
          <p:cNvSpPr/>
          <p:nvPr/>
        </p:nvSpPr>
        <p:spPr>
          <a:xfrm>
            <a:off x="4806537" y="2200046"/>
            <a:ext cx="3056708"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4934553" y="2300630"/>
            <a:ext cx="280067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normalises</a:t>
            </a:r>
          </a:p>
        </p:txBody>
      </p:sp>
      <p:sp>
        <p:nvSpPr>
          <p:cNvPr id="13" name="Rectangle 12"/>
          <p:cNvSpPr/>
          <p:nvPr/>
        </p:nvSpPr>
        <p:spPr>
          <a:xfrm>
            <a:off x="7863246" y="2200046"/>
            <a:ext cx="3612473"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7991262" y="2300630"/>
            <a:ext cx="335644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Concrete example</a:t>
            </a:r>
          </a:p>
        </p:txBody>
      </p:sp>
      <p:sp>
        <p:nvSpPr>
          <p:cNvPr id="15" name="Rectangle 14"/>
          <p:cNvSpPr/>
          <p:nvPr/>
        </p:nvSpPr>
        <p:spPr>
          <a:xfrm>
            <a:off x="777240" y="2620670"/>
            <a:ext cx="1667295"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41126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Sidecar</a:t>
            </a:r>
          </a:p>
        </p:txBody>
      </p:sp>
      <p:sp>
        <p:nvSpPr>
          <p:cNvPr id="17" name="Rectangle 16"/>
          <p:cNvSpPr/>
          <p:nvPr/>
        </p:nvSpPr>
        <p:spPr>
          <a:xfrm>
            <a:off x="2444535" y="2620670"/>
            <a:ext cx="2362002"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572551" y="2702966"/>
            <a:ext cx="21059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Alongside the app</a:t>
            </a:r>
          </a:p>
        </p:txBody>
      </p:sp>
      <p:sp>
        <p:nvSpPr>
          <p:cNvPr id="19" name="Rectangle 18"/>
          <p:cNvSpPr/>
          <p:nvPr/>
        </p:nvSpPr>
        <p:spPr>
          <a:xfrm>
            <a:off x="4806537" y="2620670"/>
            <a:ext cx="3056708"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4934553" y="2702966"/>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it adds a capability the app lacks</a:t>
            </a:r>
          </a:p>
        </p:txBody>
      </p:sp>
      <p:sp>
        <p:nvSpPr>
          <p:cNvPr id="21" name="Rectangle 20"/>
          <p:cNvSpPr/>
          <p:nvPr/>
        </p:nvSpPr>
        <p:spPr>
          <a:xfrm>
            <a:off x="7863246" y="2620670"/>
            <a:ext cx="3612473"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7991262" y="2702966"/>
            <a:ext cx="33564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Log shipper, config reloader, certificate refresher</a:t>
            </a:r>
          </a:p>
        </p:txBody>
      </p:sp>
      <p:sp>
        <p:nvSpPr>
          <p:cNvPr id="23" name="Rectangle 22"/>
          <p:cNvSpPr/>
          <p:nvPr/>
        </p:nvSpPr>
        <p:spPr>
          <a:xfrm>
            <a:off x="777240" y="3187598"/>
            <a:ext cx="1667295"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141126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Adapter</a:t>
            </a:r>
          </a:p>
        </p:txBody>
      </p:sp>
      <p:sp>
        <p:nvSpPr>
          <p:cNvPr id="25" name="Rectangle 24"/>
          <p:cNvSpPr/>
          <p:nvPr/>
        </p:nvSpPr>
        <p:spPr>
          <a:xfrm>
            <a:off x="2444535" y="3187598"/>
            <a:ext cx="2362002"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572551" y="3269894"/>
            <a:ext cx="21059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Outbound, app to platform</a:t>
            </a:r>
          </a:p>
        </p:txBody>
      </p:sp>
      <p:sp>
        <p:nvSpPr>
          <p:cNvPr id="27" name="Rectangle 26"/>
          <p:cNvSpPr/>
          <p:nvPr/>
        </p:nvSpPr>
        <p:spPr>
          <a:xfrm>
            <a:off x="4806537" y="3187598"/>
            <a:ext cx="3056708"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4934553" y="3269894"/>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app's output format</a:t>
            </a:r>
          </a:p>
        </p:txBody>
      </p:sp>
      <p:sp>
        <p:nvSpPr>
          <p:cNvPr id="29" name="Rectangle 28"/>
          <p:cNvSpPr/>
          <p:nvPr/>
        </p:nvSpPr>
        <p:spPr>
          <a:xfrm>
            <a:off x="7863246" y="3187598"/>
            <a:ext cx="3612473"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7991262" y="3269894"/>
            <a:ext cx="33564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Exporter turning a bespoke status page into Prometheus metrics</a:t>
            </a:r>
          </a:p>
        </p:txBody>
      </p:sp>
      <p:sp>
        <p:nvSpPr>
          <p:cNvPr id="31" name="Rectangle 30"/>
          <p:cNvSpPr/>
          <p:nvPr/>
        </p:nvSpPr>
        <p:spPr>
          <a:xfrm>
            <a:off x="777240" y="3754526"/>
            <a:ext cx="1667295"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141126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Ambassador</a:t>
            </a:r>
          </a:p>
        </p:txBody>
      </p:sp>
      <p:sp>
        <p:nvSpPr>
          <p:cNvPr id="33" name="Rectangle 32"/>
          <p:cNvSpPr/>
          <p:nvPr/>
        </p:nvSpPr>
        <p:spPr>
          <a:xfrm>
            <a:off x="2444535" y="3754526"/>
            <a:ext cx="2362002"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572551" y="3836822"/>
            <a:ext cx="21059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Outbound, app to network</a:t>
            </a:r>
          </a:p>
        </p:txBody>
      </p:sp>
      <p:sp>
        <p:nvSpPr>
          <p:cNvPr id="35" name="Rectangle 34"/>
          <p:cNvSpPr/>
          <p:nvPr/>
        </p:nvSpPr>
        <p:spPr>
          <a:xfrm>
            <a:off x="4806537" y="3754526"/>
            <a:ext cx="3056708"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4934553" y="3836822"/>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app's outbound connections</a:t>
            </a:r>
          </a:p>
        </p:txBody>
      </p:sp>
      <p:sp>
        <p:nvSpPr>
          <p:cNvPr id="37" name="Rectangle 36"/>
          <p:cNvSpPr/>
          <p:nvPr/>
        </p:nvSpPr>
        <p:spPr>
          <a:xfrm>
            <a:off x="7863246" y="3754526"/>
            <a:ext cx="3612473"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7991262" y="3836822"/>
            <a:ext cx="33564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Local proxy so the app dials localhost and the proxy handles sharding or TLS</a:t>
            </a:r>
          </a:p>
        </p:txBody>
      </p:sp>
      <p:sp>
        <p:nvSpPr>
          <p:cNvPr id="39" name="Rectangle 38"/>
          <p:cNvSpPr/>
          <p:nvPr/>
        </p:nvSpPr>
        <p:spPr>
          <a:xfrm>
            <a:off x="777240" y="4321454"/>
            <a:ext cx="1667295"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1411263"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Init container</a:t>
            </a:r>
          </a:p>
        </p:txBody>
      </p:sp>
      <p:sp>
        <p:nvSpPr>
          <p:cNvPr id="41" name="Rectangle 40"/>
          <p:cNvSpPr/>
          <p:nvPr/>
        </p:nvSpPr>
        <p:spPr>
          <a:xfrm>
            <a:off x="2444535" y="4321454"/>
            <a:ext cx="2362002"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572551" y="4403750"/>
            <a:ext cx="210597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Before the app starts</a:t>
            </a:r>
          </a:p>
        </p:txBody>
      </p:sp>
      <p:sp>
        <p:nvSpPr>
          <p:cNvPr id="43" name="Rectangle 42"/>
          <p:cNvSpPr/>
          <p:nvPr/>
        </p:nvSpPr>
        <p:spPr>
          <a:xfrm>
            <a:off x="4806537" y="4321454"/>
            <a:ext cx="3056708"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4934553" y="4403750"/>
            <a:ext cx="280067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it establishes preconditions</a:t>
            </a:r>
          </a:p>
        </p:txBody>
      </p:sp>
      <p:sp>
        <p:nvSpPr>
          <p:cNvPr id="45" name="Rectangle 44"/>
          <p:cNvSpPr/>
          <p:nvPr/>
        </p:nvSpPr>
        <p:spPr>
          <a:xfrm>
            <a:off x="7863246" y="4321454"/>
            <a:ext cx="3612473"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7991262" y="4403750"/>
            <a:ext cx="335644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Schema migration, waiting for a dependency, fetching config</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Ask which direction data flows and who is being spared a change — that names the pattern.</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kubernetes.io/blog/2015/06/the-distributed-system-toolkit-patterns/</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190</a:t>
            </a:r>
          </a:p>
        </p:txBody>
      </p:sp>
    </p:spTree>
  </p:cSld>
  <p:clrMapOvr>
    <a:masterClrMapping/>
  </p:clrMapOvr>
  <p:transition xmlns:ns1="http://schemas.openxmlformats.org/markup-compatibility/2006" spd="fast" ns1:Ignorable="p14">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08 — DaemonSets, Jobs and CronJobs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Run the three non-Deployment workload controllers against real MFS port data: a per-node DaemonSet agent, an Indexed Job that splits a work queue across parallel Pods, and a CronJob on a schedule - then fail a Job past its backoffLimit and read the reason.</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berth-agent DaemonSet reporting DESIRED=CURRENT=1 on the single-node kind cluster, reading berth-readings.csv</a:t>
            </a:r>
          </a:p>
          <a:p>
            <a:pPr>
              <a:lnSpc>
                <a:spcPct val="112000"/>
              </a:lnSpc>
              <a:spcAft>
                <a:spcPts val="500"/>
              </a:spcAft>
            </a:pPr>
            <a:r>
              <a:rPr sz="1050">
                <a:solidFill>
                  <a:srgbClr val="94A3B8"/>
                </a:solidFill>
                <a:latin typeface="Arial"/>
              </a:rPr>
              <a:t>•  </a:t>
            </a:r>
            <a:r>
              <a:rPr sz="1050">
                <a:solidFill>
                  <a:srgbClr val="5B6372"/>
                </a:solidFill>
                <a:latin typeface="Arial"/>
              </a:rPr>
              <a:t>A completed Indexed Job (completions 6, parallelism 2) whose six Pods each processed a distinct queue line</a:t>
            </a:r>
          </a:p>
          <a:p>
            <a:pPr>
              <a:lnSpc>
                <a:spcPct val="112000"/>
              </a:lnSpc>
              <a:spcAft>
                <a:spcPts val="500"/>
              </a:spcAft>
            </a:pPr>
            <a:r>
              <a:rPr sz="1050">
                <a:solidFill>
                  <a:srgbClr val="94A3B8"/>
                </a:solidFill>
                <a:latin typeface="Arial"/>
              </a:rPr>
              <a:t>•  </a:t>
            </a:r>
            <a:r>
              <a:rPr sz="1050">
                <a:solidFill>
                  <a:srgbClr val="5B6372"/>
                </a:solidFill>
                <a:latin typeface="Arial"/>
              </a:rPr>
              <a:t>A tariff-sync CronJob with concurrencyPolicy Forbid and a retained Job history</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DaemonSet replica count is derived from the node set, never from a replicas field</a:t>
            </a:r>
          </a:p>
          <a:p>
            <a:pPr>
              <a:lnSpc>
                <a:spcPct val="112000"/>
              </a:lnSpc>
              <a:spcAft>
                <a:spcPts val="500"/>
              </a:spcAft>
            </a:pPr>
            <a:r>
              <a:rPr sz="1050">
                <a:solidFill>
                  <a:srgbClr val="94A3B8"/>
                </a:solidFill>
                <a:latin typeface="Arial"/>
              </a:rPr>
              <a:t>•  </a:t>
            </a:r>
            <a:r>
              <a:rPr sz="1050">
                <a:solidFill>
                  <a:srgbClr val="5B6372"/>
                </a:solidFill>
                <a:latin typeface="Arial"/>
              </a:rPr>
              <a:t>completions vs parallelism vs backoffLimit, and Indexed completion mode with JOB_COMPLETION_INDEX</a:t>
            </a:r>
          </a:p>
          <a:p>
            <a:pPr>
              <a:lnSpc>
                <a:spcPct val="112000"/>
              </a:lnSpc>
              <a:spcAft>
                <a:spcPts val="500"/>
              </a:spcAft>
            </a:pPr>
            <a:r>
              <a:rPr sz="1050">
                <a:solidFill>
                  <a:srgbClr val="94A3B8"/>
                </a:solidFill>
                <a:latin typeface="Arial"/>
              </a:rPr>
              <a:t>•  </a:t>
            </a:r>
            <a:r>
              <a:rPr sz="1050">
                <a:solidFill>
                  <a:srgbClr val="5B6372"/>
                </a:solidFill>
                <a:latin typeface="Arial"/>
              </a:rPr>
              <a:t>CronJob schedule, timeZone, concurrencyPolicy and the successful/failed Job history limits</a:t>
            </a:r>
          </a:p>
          <a:p>
            <a:pPr>
              <a:lnSpc>
                <a:spcPct val="112000"/>
              </a:lnSpc>
              <a:spcAft>
                <a:spcPts val="500"/>
              </a:spcAft>
            </a:pPr>
            <a:r>
              <a:rPr sz="1050">
                <a:solidFill>
                  <a:srgbClr val="94A3B8"/>
                </a:solidFill>
                <a:latin typeface="Arial"/>
              </a:rPr>
              <a:t>•  </a:t>
            </a:r>
            <a:r>
              <a:rPr sz="1050">
                <a:solidFill>
                  <a:srgbClr val="5B6372"/>
                </a:solidFill>
                <a:latin typeface="Arial"/>
              </a:rPr>
              <a:t>A Job that exhausts backoffLimit is marked Failed with reason BackoffLimitExceeded and stops retrying</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08</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kcna-lab08</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LO2 · A3 · K3</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courseware/labs/lab-08-daemonsets-jobs-cronjobs/README.md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191</a:t>
            </a:r>
          </a:p>
        </p:txBody>
      </p:sp>
    </p:spTree>
  </p:cSld>
  <p:clrMapOvr>
    <a:masterClrMapping/>
  </p:clrMapOvr>
  <p:transition xmlns:ns1="http://schemas.openxmlformats.org/markup-compatibility/2006" spd="fast" ns1:Ignorable="p14">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11</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KCNA · KUBERNETES FUNDAMENTALS — SCHEDULING</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The Scheduler: Filter, Score, Bind</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kube-scheduler writes exactly one field. Everything else in this module is about how it decides what to write there.</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192</a:t>
            </a:r>
          </a:p>
        </p:txBody>
      </p:sp>
    </p:spTree>
  </p:cSld>
  <p:clrMapOvr>
    <a:masterClrMapping/>
  </p:clrMapOvr>
  <p:transition xmlns:ns1="http://schemas.openxmlformats.org/markup-compatibility/2006" spd="med" ns1:Ignorable="p14">
    <p:push dir="l"/>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10B981"/>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10B981"/>
                </a:solidFill>
                <a:latin typeface="Arial"/>
              </a:rPr>
              <a:t>THE SCHEDULER'S JOB</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A Pod with an empty .spec.nodeName is the scheduler's entire input queue.</a:t>
            </a:r>
          </a:p>
        </p:txBody>
      </p:sp>
      <p:sp>
        <p:nvSpPr>
          <p:cNvPr id="6" name="Rectangle 5"/>
          <p:cNvSpPr/>
          <p:nvPr/>
        </p:nvSpPr>
        <p:spPr>
          <a:xfrm>
            <a:off x="1143000" y="4187952"/>
            <a:ext cx="2194560" cy="32004"/>
          </a:xfrm>
          <a:prstGeom prst="rect">
            <a:avLst/>
          </a:prstGeom>
          <a:solidFill>
            <a:srgbClr val="10B981"/>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Binding is one API write. Placement policy, affinity, taints, priority and spread constraints all exist only to influence that single field.</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193</a:t>
            </a:r>
          </a:p>
        </p:txBody>
      </p:sp>
    </p:spTree>
  </p:cSld>
  <p:clrMapOvr>
    <a:masterClrMapping/>
  </p:clrMapOvr>
  <p:transition xmlns:ns1="http://schemas.openxmlformats.org/markup-compatibility/2006" spd="fast" ns1:Ignorable="p14">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Scheduling Framework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cycles. The scheduling cycle is serialised for correctness; the binding cycle is asynchronous for speed.</a:t>
            </a:r>
          </a:p>
        </p:txBody>
      </p:sp>
      <p:sp>
        <p:nvSpPr>
          <p:cNvPr id="7" name="Rectangle 6"/>
          <p:cNvSpPr/>
          <p:nvPr/>
        </p:nvSpPr>
        <p:spPr>
          <a:xfrm>
            <a:off x="777240" y="2200046"/>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428292"/>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1099108"/>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SCHEDULING CYCLE — ONE POD AT A TIME</a:t>
            </a:r>
          </a:p>
        </p:txBody>
      </p:sp>
      <p:sp>
        <p:nvSpPr>
          <p:cNvPr id="10" name="Rounded Rectangle 9"/>
          <p:cNvSpPr/>
          <p:nvPr/>
        </p:nvSpPr>
        <p:spPr>
          <a:xfrm>
            <a:off x="2258568" y="2273198"/>
            <a:ext cx="2130551"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PreFilter</a:t>
            </a:r>
          </a:p>
        </p:txBody>
      </p:sp>
      <p:sp>
        <p:nvSpPr>
          <p:cNvPr id="12" name="TextBox 11"/>
          <p:cNvSpPr txBox="1"/>
          <p:nvPr/>
        </p:nvSpPr>
        <p:spPr>
          <a:xfrm>
            <a:off x="2350008" y="2561234"/>
            <a:ext cx="1947671"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Cheap precomputation and early rejection before any node is examined</a:t>
            </a:r>
          </a:p>
        </p:txBody>
      </p:sp>
      <p:sp>
        <p:nvSpPr>
          <p:cNvPr id="13" name="Rounded Rectangle 12"/>
          <p:cNvSpPr/>
          <p:nvPr/>
        </p:nvSpPr>
        <p:spPr>
          <a:xfrm>
            <a:off x="4553712" y="2273198"/>
            <a:ext cx="2130551"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645151"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Filter (predicates)</a:t>
            </a:r>
          </a:p>
        </p:txBody>
      </p:sp>
      <p:sp>
        <p:nvSpPr>
          <p:cNvPr id="15" name="TextBox 14"/>
          <p:cNvSpPr txBox="1"/>
          <p:nvPr/>
        </p:nvSpPr>
        <p:spPr>
          <a:xfrm>
            <a:off x="4645151" y="2561234"/>
            <a:ext cx="1947671"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Each node is kept or discarded: fit, taints, affinity, volume topology, node conditions</a:t>
            </a:r>
          </a:p>
        </p:txBody>
      </p:sp>
      <p:sp>
        <p:nvSpPr>
          <p:cNvPr id="16" name="Rounded Rectangle 15"/>
          <p:cNvSpPr/>
          <p:nvPr/>
        </p:nvSpPr>
        <p:spPr>
          <a:xfrm>
            <a:off x="6848855" y="2273198"/>
            <a:ext cx="2130551"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940295"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Score (priorities)</a:t>
            </a:r>
          </a:p>
        </p:txBody>
      </p:sp>
      <p:sp>
        <p:nvSpPr>
          <p:cNvPr id="18" name="TextBox 17"/>
          <p:cNvSpPr txBox="1"/>
          <p:nvPr/>
        </p:nvSpPr>
        <p:spPr>
          <a:xfrm>
            <a:off x="6940295" y="2561234"/>
            <a:ext cx="1947671"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Every surviving node scored 0-100 per plugin, then combined using plugin weights</a:t>
            </a:r>
          </a:p>
        </p:txBody>
      </p:sp>
      <p:sp>
        <p:nvSpPr>
          <p:cNvPr id="19" name="Rounded Rectangle 18"/>
          <p:cNvSpPr/>
          <p:nvPr/>
        </p:nvSpPr>
        <p:spPr>
          <a:xfrm>
            <a:off x="9143999" y="2273198"/>
            <a:ext cx="2130551"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9235439"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Reserve / Permit</a:t>
            </a:r>
          </a:p>
        </p:txBody>
      </p:sp>
      <p:sp>
        <p:nvSpPr>
          <p:cNvPr id="21" name="TextBox 20"/>
          <p:cNvSpPr txBox="1"/>
          <p:nvPr/>
        </p:nvSpPr>
        <p:spPr>
          <a:xfrm>
            <a:off x="9235439" y="2561234"/>
            <a:ext cx="1947671"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Provisionally claim resources; extension point where plugins may delay or reject</a:t>
            </a:r>
          </a:p>
        </p:txBody>
      </p:sp>
      <p:sp>
        <p:nvSpPr>
          <p:cNvPr id="22" name="Rectangle 21"/>
          <p:cNvSpPr/>
          <p:nvPr/>
        </p:nvSpPr>
        <p:spPr>
          <a:xfrm>
            <a:off x="777240" y="3811219"/>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811219"/>
            <a:ext cx="50292" cy="1428292"/>
          </a:xfrm>
          <a:prstGeom prst="rect">
            <a:avLst/>
          </a:prstGeom>
          <a:solidFill>
            <a:srgbClr val="7C3AED"/>
          </a:solidFill>
          <a:ln>
            <a:noFill/>
          </a:ln>
          <a:effectLst/>
        </p:spPr>
        <p:txBody>
          <a:bodyPr rtlCol="0" anchor="ctr" wrap="square"/>
          <a:lstStyle/>
          <a:p>
            <a:pPr algn="ctr"/>
          </a:p>
        </p:txBody>
      </p:sp>
      <p:sp>
        <p:nvSpPr>
          <p:cNvPr id="24" name="TextBox 23"/>
          <p:cNvSpPr txBox="1"/>
          <p:nvPr/>
        </p:nvSpPr>
        <p:spPr>
          <a:xfrm>
            <a:off x="941832" y="3994099"/>
            <a:ext cx="1261872" cy="1099108"/>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BINDING CYCLE — MAY RUN IN PARALLEL</a:t>
            </a:r>
          </a:p>
        </p:txBody>
      </p:sp>
      <p:sp>
        <p:nvSpPr>
          <p:cNvPr id="25" name="Rounded Rectangle 24"/>
          <p:cNvSpPr/>
          <p:nvPr/>
        </p:nvSpPr>
        <p:spPr>
          <a:xfrm>
            <a:off x="2258568" y="3884371"/>
            <a:ext cx="2895599"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2350008"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PreBind</a:t>
            </a:r>
          </a:p>
        </p:txBody>
      </p:sp>
      <p:sp>
        <p:nvSpPr>
          <p:cNvPr id="27" name="TextBox 26"/>
          <p:cNvSpPr txBox="1"/>
          <p:nvPr/>
        </p:nvSpPr>
        <p:spPr>
          <a:xfrm>
            <a:off x="2350008"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Work that must complete first, typically volume attachment and provisioning</a:t>
            </a:r>
          </a:p>
        </p:txBody>
      </p:sp>
      <p:sp>
        <p:nvSpPr>
          <p:cNvPr id="28" name="Rounded Rectangle 27"/>
          <p:cNvSpPr/>
          <p:nvPr/>
        </p:nvSpPr>
        <p:spPr>
          <a:xfrm>
            <a:off x="5318760" y="3884371"/>
            <a:ext cx="2895599"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5410199"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Bind</a:t>
            </a:r>
          </a:p>
        </p:txBody>
      </p:sp>
      <p:sp>
        <p:nvSpPr>
          <p:cNvPr id="30" name="TextBox 29"/>
          <p:cNvSpPr txBox="1"/>
          <p:nvPr/>
        </p:nvSpPr>
        <p:spPr>
          <a:xfrm>
            <a:off x="5410199"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POST to the Pod's binding subresource, which sets .spec.nodeName</a:t>
            </a:r>
          </a:p>
        </p:txBody>
      </p:sp>
      <p:sp>
        <p:nvSpPr>
          <p:cNvPr id="31" name="Rounded Rectangle 30"/>
          <p:cNvSpPr/>
          <p:nvPr/>
        </p:nvSpPr>
        <p:spPr>
          <a:xfrm>
            <a:off x="8378951" y="3884371"/>
            <a:ext cx="2895599"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2" name="TextBox 31"/>
          <p:cNvSpPr txBox="1"/>
          <p:nvPr/>
        </p:nvSpPr>
        <p:spPr>
          <a:xfrm>
            <a:off x="8470391"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PostBind</a:t>
            </a:r>
          </a:p>
        </p:txBody>
      </p:sp>
      <p:sp>
        <p:nvSpPr>
          <p:cNvPr id="33" name="TextBox 32"/>
          <p:cNvSpPr txBox="1"/>
          <p:nvPr/>
        </p:nvSpPr>
        <p:spPr>
          <a:xfrm>
            <a:off x="8470391"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Cleanup and notification; the kubelet on that node now sees the Pod on its watch</a:t>
            </a:r>
          </a:p>
        </p:txBody>
      </p:sp>
      <p:sp>
        <p:nvSpPr>
          <p:cNvPr id="34" name="Rectangle 33"/>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35" name="Rectangle 34"/>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36" name="TextBox 35"/>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37" name="TextBox 36"/>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If no node survives Filter the Pod stays Pending and a FailedScheduling Event is emitted — the scheduler retries with backoff, forever, until something changes.</a:t>
            </a:r>
          </a:p>
        </p:txBody>
      </p:sp>
      <p:sp>
        <p:nvSpPr>
          <p:cNvPr id="38" name="TextBox 3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kubernetes.io/docs/concepts/scheduling-eviction/kube-scheduler/</a:t>
            </a:r>
          </a:p>
        </p:txBody>
      </p:sp>
      <p:sp>
        <p:nvSpPr>
          <p:cNvPr id="39" name="TextBox 3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0" name="TextBox 3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1" name="TextBox 4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194</a:t>
            </a:r>
          </a:p>
        </p:txBody>
      </p:sp>
    </p:spTree>
  </p:cSld>
  <p:clrMapOvr>
    <a:masterClrMapping/>
  </p:clrMapOvr>
  <p:transition xmlns:ns1="http://schemas.openxmlformats.org/markup-compatibility/2006" spd="fast" ns1:Ignorable="p14">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From Pending to Running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Learn this order. Almost every scheduling question resolves to 'was that a filter or a score?'.</a:t>
            </a:r>
          </a:p>
        </p:txBody>
      </p:sp>
      <p:sp>
        <p:nvSpPr>
          <p:cNvPr id="7" name="Rounded Rectangle 6"/>
          <p:cNvSpPr/>
          <p:nvPr/>
        </p:nvSpPr>
        <p:spPr>
          <a:xfrm>
            <a:off x="777240" y="2382926"/>
            <a:ext cx="2441448"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Pod created</a:t>
            </a:r>
          </a:p>
        </p:txBody>
      </p:sp>
      <p:sp>
        <p:nvSpPr>
          <p:cNvPr id="11" name="TextBox 10"/>
          <p:cNvSpPr txBox="1"/>
          <p:nvPr/>
        </p:nvSpPr>
        <p:spPr>
          <a:xfrm>
            <a:off x="923544"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API server persists it with .spec.nodeName empty. The Pod is Pending and belongs to nobody.</a:t>
            </a:r>
          </a:p>
        </p:txBody>
      </p:sp>
      <p:cxnSp>
        <p:nvCxnSpPr>
          <p:cNvPr id="12" name="Connector 11"/>
          <p:cNvCxnSpPr/>
          <p:nvPr/>
        </p:nvCxnSpPr>
        <p:spPr>
          <a:xfrm>
            <a:off x="3264408"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Filter</a:t>
            </a:r>
          </a:p>
        </p:txBody>
      </p:sp>
      <p:sp>
        <p:nvSpPr>
          <p:cNvPr id="17" name="TextBox 16"/>
          <p:cNvSpPr txBox="1"/>
          <p:nvPr/>
        </p:nvSpPr>
        <p:spPr>
          <a:xfrm>
            <a:off x="3675887"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Nodes that cannot possibly work are removed: not enough allocatable capacity, untolerated taints, unmatched affinity, wrong volume zone.</a:t>
            </a:r>
          </a:p>
        </p:txBody>
      </p:sp>
      <p:cxnSp>
        <p:nvCxnSpPr>
          <p:cNvPr id="18" name="Connector 17"/>
          <p:cNvCxnSpPr/>
          <p:nvPr/>
        </p:nvCxnSpPr>
        <p:spPr>
          <a:xfrm>
            <a:off x="6016751"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Score</a:t>
            </a:r>
          </a:p>
        </p:txBody>
      </p:sp>
      <p:sp>
        <p:nvSpPr>
          <p:cNvPr id="23" name="TextBox 22"/>
          <p:cNvSpPr txBox="1"/>
          <p:nvPr/>
        </p:nvSpPr>
        <p:spPr>
          <a:xfrm>
            <a:off x="6428231"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Survivors are ranked. Least-allocated, image locality, inter-pod affinity, topology spread and node affinity preferences all contribute weighted points.</a:t>
            </a:r>
          </a:p>
        </p:txBody>
      </p:sp>
      <p:cxnSp>
        <p:nvCxnSpPr>
          <p:cNvPr id="24" name="Connector 23"/>
          <p:cNvCxnSpPr/>
          <p:nvPr/>
        </p:nvCxnSpPr>
        <p:spPr>
          <a:xfrm>
            <a:off x="8769096" y="3364255"/>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Bind</a:t>
            </a:r>
          </a:p>
        </p:txBody>
      </p:sp>
      <p:sp>
        <p:nvSpPr>
          <p:cNvPr id="29" name="TextBox 28"/>
          <p:cNvSpPr txBox="1"/>
          <p:nvPr/>
        </p:nvSpPr>
        <p:spPr>
          <a:xfrm>
            <a:off x="9180576" y="3333902"/>
            <a:ext cx="2148840"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Highest score wins; ties broken at random. .spec.nodeName is written and the kubelet on that node takes over.</a:t>
            </a:r>
          </a:p>
        </p:txBody>
      </p:sp>
      <p:sp>
        <p:nvSpPr>
          <p:cNvPr id="30" name="Rectangle 29"/>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Filter answers 'can it run here?'. Score answers 'where is it best?'. Only Filter can leave a Pod Pending — a low score never blocks scheduling.</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kubernetes.io/docs/concepts/scheduling-eviction/kube-scheduler/</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195</a:t>
            </a:r>
          </a:p>
        </p:txBody>
      </p:sp>
    </p:spTree>
  </p:cSld>
  <p:clrMapOvr>
    <a:masterClrMapping/>
  </p:clrMapOvr>
  <p:transition xmlns:ns4="http://schemas.openxmlformats.org/markup-compatibility/2006" spd="fast" ns4:Ignorable="p14">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FILTERING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Can Eliminate a Node Outright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one of these produces a distinct clause in the FailedScheduling message — which is why that message is worth reading word by word.</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Insufficient allocatable resources</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Sum of requests of existing Pods plus this Pod's requests must fit within the node's Allocatable. Limits are ignored here.</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Untolerated NoSchedule or NoExecute taints</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node repels the Pod unless the Pod carries a matching toleration. PreferNoSchedule does not filter, it only scores.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Unmatched required node affinity or nodeSelector</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requiredDuringSchedulingIgnoredDuringExecution and nodeSelector are both hard filters.</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 conditions and unschedulability</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cordoned node carries node.kubernetes.io/unschedulable; memory or disk pressure taints filter too.</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Volume constraints</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 volume limits, zone of an already-bound PersistentVolume, and CSI topology all restrict the node set.</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Ports and hostname</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hostPort collisions and required hostname or OS/architecture labels remove nodes before scoring begins.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kubernetes.io/docs/concepts/scheduling-eviction/kube-scheduler/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196</a:t>
            </a:r>
          </a:p>
        </p:txBody>
      </p:sp>
    </p:spTree>
  </p:cSld>
  <p:clrMapOvr>
    <a:masterClrMapping/>
  </p:clrMapOvr>
  <p:transition xmlns:ns1="http://schemas.openxmlformats.org/markup-compatibility/2006" spd="fast" ns1:Ignorable="p14">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Scoring Plugins and What They Reward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NodeResourcesFit</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By default LeastAllocated — spread load across nodes</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MostAllocated (opt-in)</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Bin-packing instead; better for autoscaler-driven cost reduction</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ImageLocality</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Nodes that already hold the image start the Pod faster</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InterPodAffinity</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Rewards or penalises co-location with matching Pods</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NodeAffinity</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Applies the weights from preferredDuringScheduling terms</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PodTopologySpread</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Rewards nodes that reduce skew across a topology domain</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TaintToleration</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Penalises nodes with tolerated PreferNoSchedule taints</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NodeResourcesBalancedAllocation</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Prefers nodes where CPU and memory usage stay proportional</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Weights are configurable</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KubeSchedulerConfiguration profiles set per-plugin weights</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Multiple profiles</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scheduler binary can expose several named profiles</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schedulerName</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Pod selects a profile or a wholly custom scheduler by name</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Score never blocks</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score of zero still schedules if the node passed Filter</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kubernetes.io/docs/concepts/scheduling-eviction/kube-scheduler/</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197</a:t>
            </a:r>
          </a:p>
        </p:txBody>
      </p:sp>
    </p:spTree>
  </p:cSld>
  <p:clrMapOvr>
    <a:masterClrMapping/>
  </p:clrMapOvr>
  <p:transition xmlns:ns1="http://schemas.openxmlformats.org/markup-compatibility/2006" spd="fast" ns1:Ignorable="p14">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SELECTION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nodeSelector vs Node Affinity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are evaluated in the same Filter stage. Affinity is strictly more expressive; nodeSelector is strictly shorter.</a:t>
            </a:r>
          </a:p>
        </p:txBody>
      </p:sp>
      <p:sp>
        <p:nvSpPr>
          <p:cNvPr id="7" name="Rectangle 6"/>
          <p:cNvSpPr/>
          <p:nvPr/>
        </p:nvSpPr>
        <p:spPr>
          <a:xfrm>
            <a:off x="777240" y="2200046"/>
            <a:ext cx="210727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5124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2884516" y="2200046"/>
            <a:ext cx="3890356"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12532" y="2300630"/>
            <a:ext cx="36343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nodeSelector</a:t>
            </a:r>
          </a:p>
        </p:txBody>
      </p:sp>
      <p:sp>
        <p:nvSpPr>
          <p:cNvPr id="11" name="Rectangle 10"/>
          <p:cNvSpPr/>
          <p:nvPr/>
        </p:nvSpPr>
        <p:spPr>
          <a:xfrm>
            <a:off x="6774872" y="2200046"/>
            <a:ext cx="4700847"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902888" y="2300630"/>
            <a:ext cx="444481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nodeAffinity</a:t>
            </a:r>
          </a:p>
        </p:txBody>
      </p:sp>
      <p:sp>
        <p:nvSpPr>
          <p:cNvPr id="13" name="Rectangle 12"/>
          <p:cNvSpPr/>
          <p:nvPr/>
        </p:nvSpPr>
        <p:spPr>
          <a:xfrm>
            <a:off x="777240" y="2620670"/>
            <a:ext cx="2107276"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85124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Location</a:t>
            </a:r>
          </a:p>
        </p:txBody>
      </p:sp>
      <p:sp>
        <p:nvSpPr>
          <p:cNvPr id="15" name="Rectangle 14"/>
          <p:cNvSpPr/>
          <p:nvPr/>
        </p:nvSpPr>
        <p:spPr>
          <a:xfrm>
            <a:off x="2884516" y="2620670"/>
            <a:ext cx="3890356"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012532" y="2702966"/>
            <a:ext cx="36343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.spec.nodeSelector — a flat map of labels</a:t>
            </a:r>
          </a:p>
        </p:txBody>
      </p:sp>
      <p:sp>
        <p:nvSpPr>
          <p:cNvPr id="17" name="Rectangle 16"/>
          <p:cNvSpPr/>
          <p:nvPr/>
        </p:nvSpPr>
        <p:spPr>
          <a:xfrm>
            <a:off x="6774872" y="2620670"/>
            <a:ext cx="4700847"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6902888" y="2702966"/>
            <a:ext cx="444481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.spec.affinity.nodeAffinity — nested terms</a:t>
            </a:r>
          </a:p>
        </p:txBody>
      </p:sp>
      <p:sp>
        <p:nvSpPr>
          <p:cNvPr id="19" name="Rectangle 18"/>
          <p:cNvSpPr/>
          <p:nvPr/>
        </p:nvSpPr>
        <p:spPr>
          <a:xfrm>
            <a:off x="777240" y="3171870"/>
            <a:ext cx="2107276"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185124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Match logic</a:t>
            </a:r>
          </a:p>
        </p:txBody>
      </p:sp>
      <p:sp>
        <p:nvSpPr>
          <p:cNvPr id="21" name="Rectangle 20"/>
          <p:cNvSpPr/>
          <p:nvPr/>
        </p:nvSpPr>
        <p:spPr>
          <a:xfrm>
            <a:off x="2884516" y="3171870"/>
            <a:ext cx="3890356"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012532" y="3254166"/>
            <a:ext cx="36343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 key/value must match exactly; equality only</a:t>
            </a:r>
          </a:p>
        </p:txBody>
      </p:sp>
      <p:sp>
        <p:nvSpPr>
          <p:cNvPr id="23" name="Rectangle 22"/>
          <p:cNvSpPr/>
          <p:nvPr/>
        </p:nvSpPr>
        <p:spPr>
          <a:xfrm>
            <a:off x="6774872" y="3171870"/>
            <a:ext cx="4700847"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6902888" y="3254166"/>
            <a:ext cx="444481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 NotIn, Exists, DoesNotExist, Gt, Lt</a:t>
            </a:r>
          </a:p>
        </p:txBody>
      </p:sp>
      <p:sp>
        <p:nvSpPr>
          <p:cNvPr id="25" name="Rectangle 24"/>
          <p:cNvSpPr/>
          <p:nvPr/>
        </p:nvSpPr>
        <p:spPr>
          <a:xfrm>
            <a:off x="777240" y="3723071"/>
            <a:ext cx="2107276"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185124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Soft option</a:t>
            </a:r>
          </a:p>
        </p:txBody>
      </p:sp>
      <p:sp>
        <p:nvSpPr>
          <p:cNvPr id="27" name="Rectangle 26"/>
          <p:cNvSpPr/>
          <p:nvPr/>
        </p:nvSpPr>
        <p:spPr>
          <a:xfrm>
            <a:off x="2884516" y="3723071"/>
            <a:ext cx="3890356"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012532" y="3805367"/>
            <a:ext cx="36343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 it is always a hard requirement</a:t>
            </a:r>
          </a:p>
        </p:txBody>
      </p:sp>
      <p:sp>
        <p:nvSpPr>
          <p:cNvPr id="29" name="Rectangle 28"/>
          <p:cNvSpPr/>
          <p:nvPr/>
        </p:nvSpPr>
        <p:spPr>
          <a:xfrm>
            <a:off x="6774872" y="3723071"/>
            <a:ext cx="4700847"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6902888" y="3805367"/>
            <a:ext cx="444481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preferredDuringSchedulingIgnoredDuringExecution with weights 1-100</a:t>
            </a:r>
          </a:p>
        </p:txBody>
      </p:sp>
      <p:sp>
        <p:nvSpPr>
          <p:cNvPr id="31" name="Rectangle 30"/>
          <p:cNvSpPr/>
          <p:nvPr/>
        </p:nvSpPr>
        <p:spPr>
          <a:xfrm>
            <a:off x="777240" y="4274271"/>
            <a:ext cx="2107276"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185124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Multiple alternatives</a:t>
            </a:r>
          </a:p>
        </p:txBody>
      </p:sp>
      <p:sp>
        <p:nvSpPr>
          <p:cNvPr id="33" name="Rectangle 32"/>
          <p:cNvSpPr/>
          <p:nvPr/>
        </p:nvSpPr>
        <p:spPr>
          <a:xfrm>
            <a:off x="2884516" y="4274271"/>
            <a:ext cx="3890356"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012532" y="4356567"/>
            <a:ext cx="36343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Impossible — you cannot express 'ssd OR nvme'</a:t>
            </a:r>
          </a:p>
        </p:txBody>
      </p:sp>
      <p:sp>
        <p:nvSpPr>
          <p:cNvPr id="35" name="Rectangle 34"/>
          <p:cNvSpPr/>
          <p:nvPr/>
        </p:nvSpPr>
        <p:spPr>
          <a:xfrm>
            <a:off x="6774872" y="4274271"/>
            <a:ext cx="4700847"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6902888" y="4356567"/>
            <a:ext cx="444481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nodeSelectorTerms are ORed; matchExpressions within a term are ANDed</a:t>
            </a:r>
          </a:p>
        </p:txBody>
      </p:sp>
      <p:sp>
        <p:nvSpPr>
          <p:cNvPr id="37" name="Rectangle 36"/>
          <p:cNvSpPr/>
          <p:nvPr/>
        </p:nvSpPr>
        <p:spPr>
          <a:xfrm>
            <a:off x="777240" y="4825471"/>
            <a:ext cx="2107276"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185124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When to use</a:t>
            </a:r>
          </a:p>
        </p:txBody>
      </p:sp>
      <p:sp>
        <p:nvSpPr>
          <p:cNvPr id="39" name="Rectangle 38"/>
          <p:cNvSpPr/>
          <p:nvPr/>
        </p:nvSpPr>
        <p:spPr>
          <a:xfrm>
            <a:off x="2884516" y="4825471"/>
            <a:ext cx="3890356"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012532" y="4907767"/>
            <a:ext cx="363432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obvious label, no fallback wanted</a:t>
            </a:r>
          </a:p>
        </p:txBody>
      </p:sp>
      <p:sp>
        <p:nvSpPr>
          <p:cNvPr id="41" name="Rectangle 40"/>
          <p:cNvSpPr/>
          <p:nvPr/>
        </p:nvSpPr>
        <p:spPr>
          <a:xfrm>
            <a:off x="6774872" y="4825471"/>
            <a:ext cx="4700847"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6902888" y="4907767"/>
            <a:ext cx="444481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Anything with alternatives, negation or a preference</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nodeSelector for the trivial case; nodeAffinity the moment you need OR, NOT or a soft preference.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198</a:t>
            </a:r>
          </a:p>
        </p:txBody>
      </p:sp>
    </p:spTree>
  </p:cSld>
  <p:clrMapOvr>
    <a:masterClrMapping/>
  </p:clrMapOvr>
  <p:transition xmlns:ns1="http://schemas.openxmlformats.org/markup-compatibility/2006" spd="fast" ns1:Ignorable="p14">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requiredDuringSchedulingIgnoredDuringExecution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field name is long because it encodes two independent promises. Learners who read it as one word get the semantics wrong.</a:t>
            </a:r>
          </a:p>
        </p:txBody>
      </p:sp>
      <p:sp>
        <p:nvSpPr>
          <p:cNvPr id="7" name="Rectangle 6"/>
          <p:cNvSpPr/>
          <p:nvPr/>
        </p:nvSpPr>
        <p:spPr>
          <a:xfrm>
            <a:off x="777240" y="2208885"/>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labs/lab-09/manifests/20-pod-affinity-required.yaml</a:t>
            </a:r>
          </a:p>
        </p:txBody>
      </p:sp>
      <p:sp>
        <p:nvSpPr>
          <p:cNvPr id="9" name="TextBox 8"/>
          <p:cNvSpPr txBox="1"/>
          <p:nvPr/>
        </p:nvSpPr>
        <p:spPr>
          <a:xfrm>
            <a:off x="923544" y="2629509"/>
            <a:ext cx="6062472" cy="2624327"/>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affinity:</a:t>
            </a:r>
          </a:p>
          <a:p>
            <a:pPr>
              <a:lnSpc>
                <a:spcPts val="1476"/>
              </a:lnSpc>
              <a:spcAft>
                <a:spcPts val="0"/>
              </a:spcAft>
            </a:pPr>
            <a:r>
              <a:rPr sz="1050">
                <a:solidFill>
                  <a:srgbClr val="E6EDF3"/>
                </a:solidFill>
                <a:latin typeface="Consolas"/>
              </a:rPr>
              <a:t>    nodeAffinity:</a:t>
            </a:r>
          </a:p>
          <a:p>
            <a:pPr>
              <a:lnSpc>
                <a:spcPts val="1476"/>
              </a:lnSpc>
              <a:spcAft>
                <a:spcPts val="0"/>
              </a:spcAft>
            </a:pPr>
            <a:r>
              <a:rPr sz="1050">
                <a:solidFill>
                  <a:srgbClr val="E6EDF3"/>
                </a:solidFill>
                <a:latin typeface="Consolas"/>
              </a:rPr>
              <a:t>      requiredDuringSchedulingIgnored\</a:t>
            </a:r>
          </a:p>
          <a:p>
            <a:pPr>
              <a:lnSpc>
                <a:spcPts val="1476"/>
              </a:lnSpc>
              <a:spcAft>
                <a:spcPts val="0"/>
              </a:spcAft>
            </a:pPr>
            <a:r>
              <a:rPr sz="1050">
                <a:solidFill>
                  <a:srgbClr val="E6EDF3"/>
                </a:solidFill>
                <a:latin typeface="Consolas"/>
              </a:rPr>
              <a:t>DuringExecution:</a:t>
            </a:r>
          </a:p>
          <a:p>
            <a:pPr>
              <a:lnSpc>
                <a:spcPts val="1476"/>
              </a:lnSpc>
              <a:spcAft>
                <a:spcPts val="0"/>
              </a:spcAft>
            </a:pPr>
            <a:r>
              <a:rPr sz="1050">
                <a:solidFill>
                  <a:srgbClr val="E6EDF3"/>
                </a:solidFill>
                <a:latin typeface="Consolas"/>
              </a:rPr>
              <a:t>        nodeSelectorTerms:</a:t>
            </a:r>
          </a:p>
          <a:p>
            <a:pPr>
              <a:lnSpc>
                <a:spcPts val="1476"/>
              </a:lnSpc>
              <a:spcAft>
                <a:spcPts val="0"/>
              </a:spcAft>
            </a:pPr>
            <a:r>
              <a:rPr sz="1050">
                <a:solidFill>
                  <a:srgbClr val="E6EDF3"/>
                </a:solidFill>
                <a:latin typeface="Consolas"/>
              </a:rPr>
              <a:t>        - matchExpressions:</a:t>
            </a:r>
          </a:p>
          <a:p>
            <a:pPr>
              <a:lnSpc>
                <a:spcPts val="1476"/>
              </a:lnSpc>
              <a:spcAft>
                <a:spcPts val="0"/>
              </a:spcAft>
            </a:pPr>
            <a:r>
              <a:rPr sz="1050">
                <a:solidFill>
                  <a:srgbClr val="E6EDF3"/>
                </a:solidFill>
                <a:latin typeface="Consolas"/>
              </a:rPr>
              <a:t>          - key: mfs.io/disk</a:t>
            </a:r>
          </a:p>
          <a:p>
            <a:pPr>
              <a:lnSpc>
                <a:spcPts val="1476"/>
              </a:lnSpc>
              <a:spcAft>
                <a:spcPts val="0"/>
              </a:spcAft>
            </a:pPr>
            <a:r>
              <a:rPr sz="1050">
                <a:solidFill>
                  <a:srgbClr val="E6EDF3"/>
                </a:solidFill>
                <a:latin typeface="Consolas"/>
              </a:rPr>
              <a:t>            operator: In</a:t>
            </a:r>
          </a:p>
          <a:p>
            <a:pPr>
              <a:lnSpc>
                <a:spcPts val="1476"/>
              </a:lnSpc>
              <a:spcAft>
                <a:spcPts val="0"/>
              </a:spcAft>
            </a:pPr>
            <a:r>
              <a:rPr sz="1050">
                <a:solidFill>
                  <a:srgbClr val="E6EDF3"/>
                </a:solidFill>
                <a:latin typeface="Consolas"/>
              </a:rPr>
              <a:t>            values:</a:t>
            </a:r>
          </a:p>
          <a:p>
            <a:pPr>
              <a:lnSpc>
                <a:spcPts val="1476"/>
              </a:lnSpc>
              <a:spcAft>
                <a:spcPts val="0"/>
              </a:spcAft>
            </a:pPr>
            <a:r>
              <a:rPr sz="1050">
                <a:solidFill>
                  <a:srgbClr val="E6EDF3"/>
                </a:solidFill>
                <a:latin typeface="Consolas"/>
              </a:rPr>
              <a:t>            - ssd</a:t>
            </a:r>
          </a:p>
          <a:p>
            <a:pPr>
              <a:lnSpc>
                <a:spcPts val="1476"/>
              </a:lnSpc>
              <a:spcAft>
                <a:spcPts val="0"/>
              </a:spcAft>
            </a:pPr>
            <a:r>
              <a:rPr sz="1050">
                <a:solidFill>
                  <a:srgbClr val="E6EDF3"/>
                </a:solidFill>
                <a:latin typeface="Consolas"/>
              </a:rPr>
              <a:t>            - nvme</a:t>
            </a:r>
          </a:p>
          <a:p>
            <a:pPr>
              <a:lnSpc>
                <a:spcPts val="1476"/>
              </a:lnSpc>
              <a:spcAft>
                <a:spcPts val="0"/>
              </a:spcAft>
            </a:pPr>
            <a:r>
              <a:rPr sz="1050">
                <a:solidFill>
                  <a:srgbClr val="E6EDF3"/>
                </a:solidFill>
                <a:latin typeface="Consolas"/>
              </a:rPr>
              <a:t>          - key: mfs.io/decommission</a:t>
            </a:r>
          </a:p>
          <a:p>
            <a:pPr>
              <a:lnSpc>
                <a:spcPts val="1476"/>
              </a:lnSpc>
              <a:spcAft>
                <a:spcPts val="0"/>
              </a:spcAft>
            </a:pPr>
            <a:r>
              <a:rPr sz="1050">
                <a:solidFill>
                  <a:srgbClr val="E6EDF3"/>
                </a:solidFill>
                <a:latin typeface="Consolas"/>
              </a:rPr>
              <a:t>            operator: DoesNotExist</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Read the name as two halves</a:t>
            </a:r>
          </a:p>
        </p:txBody>
      </p:sp>
      <p:sp>
        <p:nvSpPr>
          <p:cNvPr id="14" name="TextBox 13"/>
          <p:cNvSpPr txBox="1"/>
          <p:nvPr/>
        </p:nvSpPr>
        <p:spPr>
          <a:xfrm>
            <a:off x="7973567" y="2901162"/>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requiredDuringScheduling: a hard filter now. IgnoredDuringExecution: if the node's labels later change, the running Pod is not evicted.</a:t>
            </a:r>
          </a:p>
        </p:txBody>
      </p:sp>
      <p:sp>
        <p:nvSpPr>
          <p:cNvPr id="15" name="Oval 14"/>
          <p:cNvSpPr/>
          <p:nvPr/>
        </p:nvSpPr>
        <p:spPr>
          <a:xfrm>
            <a:off x="7626096" y="3568171"/>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988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nodeSelectorTerms is a list — OR</a:t>
            </a:r>
          </a:p>
        </p:txBody>
      </p:sp>
      <p:sp>
        <p:nvSpPr>
          <p:cNvPr id="17" name="TextBox 16"/>
          <p:cNvSpPr txBox="1"/>
          <p:nvPr/>
        </p:nvSpPr>
        <p:spPr>
          <a:xfrm>
            <a:off x="7973567" y="376667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node matching any one term passes. Add a second term to express a genuine alternative.</a:t>
            </a:r>
          </a:p>
        </p:txBody>
      </p:sp>
      <p:sp>
        <p:nvSpPr>
          <p:cNvPr id="18" name="Oval 17"/>
          <p:cNvSpPr/>
          <p:nvPr/>
        </p:nvSpPr>
        <p:spPr>
          <a:xfrm>
            <a:off x="7626096" y="4279925"/>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6163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matchExpressions within a term is AND</a:t>
            </a:r>
          </a:p>
        </p:txBody>
      </p:sp>
      <p:sp>
        <p:nvSpPr>
          <p:cNvPr id="20" name="TextBox 19"/>
          <p:cNvSpPr txBox="1"/>
          <p:nvPr/>
        </p:nvSpPr>
        <p:spPr>
          <a:xfrm>
            <a:off x="7973567" y="447842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This node must have disk in {ssd, nvme} AND must not carry the decommission key at all.</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DoesNotExist takes no values</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the clean way to express 'not being drained'. Supplying values with it is a validation error.</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199</a:t>
            </a:r>
          </a:p>
        </p:txBody>
      </p:sp>
    </p:spTree>
  </p:cSld>
  <p:clrMapOvr>
    <a:masterClrMapping/>
  </p:clrMapOvr>
  <p:transition xmlns:ns1="http://schemas.openxmlformats.org/markup-compatibility/2006" spd="fast" ns1:Ignorable="p14">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Preferred Affinity and Its Weights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Lab 09 applies this Pod without ever creating the sg-tuas label — and it still reaches Running. That is the whole point of 'preferred'.</a:t>
            </a:r>
          </a:p>
        </p:txBody>
      </p:sp>
      <p:sp>
        <p:nvSpPr>
          <p:cNvPr id="7" name="Rectangle 6"/>
          <p:cNvSpPr/>
          <p:nvPr/>
        </p:nvSpPr>
        <p:spPr>
          <a:xfrm>
            <a:off x="777240" y="2208885"/>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labs/lab-09/manifests/30-pod-affinity-preferred.yaml</a:t>
            </a:r>
          </a:p>
        </p:txBody>
      </p:sp>
      <p:sp>
        <p:nvSpPr>
          <p:cNvPr id="9" name="TextBox 8"/>
          <p:cNvSpPr txBox="1"/>
          <p:nvPr/>
        </p:nvSpPr>
        <p:spPr>
          <a:xfrm>
            <a:off x="923544" y="2629509"/>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affinity:</a:t>
            </a:r>
          </a:p>
          <a:p>
            <a:pPr>
              <a:lnSpc>
                <a:spcPts val="1476"/>
              </a:lnSpc>
              <a:spcAft>
                <a:spcPts val="0"/>
              </a:spcAft>
            </a:pPr>
            <a:r>
              <a:rPr sz="1050">
                <a:solidFill>
                  <a:srgbClr val="E6EDF3"/>
                </a:solidFill>
                <a:latin typeface="Consolas"/>
              </a:rPr>
              <a:t>    nodeAffinity:</a:t>
            </a:r>
          </a:p>
          <a:p>
            <a:pPr>
              <a:lnSpc>
                <a:spcPts val="1476"/>
              </a:lnSpc>
              <a:spcAft>
                <a:spcPts val="0"/>
              </a:spcAft>
            </a:pPr>
            <a:r>
              <a:rPr sz="1050">
                <a:solidFill>
                  <a:srgbClr val="E6EDF3"/>
                </a:solidFill>
                <a:latin typeface="Consolas"/>
              </a:rPr>
              <a:t>      preferredDuringSchedulingIgnored\</a:t>
            </a:r>
          </a:p>
          <a:p>
            <a:pPr>
              <a:lnSpc>
                <a:spcPts val="1476"/>
              </a:lnSpc>
              <a:spcAft>
                <a:spcPts val="0"/>
              </a:spcAft>
            </a:pPr>
            <a:r>
              <a:rPr sz="1050">
                <a:solidFill>
                  <a:srgbClr val="E6EDF3"/>
                </a:solidFill>
                <a:latin typeface="Consolas"/>
              </a:rPr>
              <a:t>DuringExecution:</a:t>
            </a:r>
          </a:p>
          <a:p>
            <a:pPr>
              <a:lnSpc>
                <a:spcPts val="1476"/>
              </a:lnSpc>
              <a:spcAft>
                <a:spcPts val="0"/>
              </a:spcAft>
            </a:pPr>
            <a:r>
              <a:rPr sz="1050">
                <a:solidFill>
                  <a:srgbClr val="E6EDF3"/>
                </a:solidFill>
                <a:latin typeface="Consolas"/>
              </a:rPr>
              <a:t>      - weight: 80</a:t>
            </a:r>
          </a:p>
          <a:p>
            <a:pPr>
              <a:lnSpc>
                <a:spcPts val="1476"/>
              </a:lnSpc>
              <a:spcAft>
                <a:spcPts val="0"/>
              </a:spcAft>
            </a:pPr>
            <a:r>
              <a:rPr sz="1050">
                <a:solidFill>
                  <a:srgbClr val="E6EDF3"/>
                </a:solidFill>
                <a:latin typeface="Consolas"/>
              </a:rPr>
              <a:t>        preference:</a:t>
            </a:r>
          </a:p>
          <a:p>
            <a:pPr>
              <a:lnSpc>
                <a:spcPts val="1476"/>
              </a:lnSpc>
              <a:spcAft>
                <a:spcPts val="0"/>
              </a:spcAft>
            </a:pPr>
            <a:r>
              <a:rPr sz="1050">
                <a:solidFill>
                  <a:srgbClr val="E6EDF3"/>
                </a:solidFill>
                <a:latin typeface="Consolas"/>
              </a:rPr>
              <a:t>          matchExpressions:</a:t>
            </a:r>
          </a:p>
          <a:p>
            <a:pPr>
              <a:lnSpc>
                <a:spcPts val="1476"/>
              </a:lnSpc>
              <a:spcAft>
                <a:spcPts val="0"/>
              </a:spcAft>
            </a:pPr>
            <a:r>
              <a:rPr sz="1050">
                <a:solidFill>
                  <a:srgbClr val="E6EDF3"/>
                </a:solidFill>
                <a:latin typeface="Consolas"/>
              </a:rPr>
              <a:t>          - key: mfs.io/zone</a:t>
            </a:r>
          </a:p>
          <a:p>
            <a:pPr>
              <a:lnSpc>
                <a:spcPts val="1476"/>
              </a:lnSpc>
              <a:spcAft>
                <a:spcPts val="0"/>
              </a:spcAft>
            </a:pPr>
            <a:r>
              <a:rPr sz="1050">
                <a:solidFill>
                  <a:srgbClr val="E6EDF3"/>
                </a:solidFill>
                <a:latin typeface="Consolas"/>
              </a:rPr>
              <a:t>            operator: In</a:t>
            </a:r>
          </a:p>
          <a:p>
            <a:pPr>
              <a:lnSpc>
                <a:spcPts val="1476"/>
              </a:lnSpc>
              <a:spcAft>
                <a:spcPts val="0"/>
              </a:spcAft>
            </a:pPr>
            <a:r>
              <a:rPr sz="1050">
                <a:solidFill>
                  <a:srgbClr val="E6EDF3"/>
                </a:solidFill>
                <a:latin typeface="Consolas"/>
              </a:rPr>
              <a:t>            values: [sg-tuas]</a:t>
            </a:r>
          </a:p>
          <a:p>
            <a:pPr>
              <a:lnSpc>
                <a:spcPts val="1476"/>
              </a:lnSpc>
              <a:spcAft>
                <a:spcPts val="0"/>
              </a:spcAft>
            </a:pPr>
            <a:r>
              <a:rPr sz="1050">
                <a:solidFill>
                  <a:srgbClr val="E6EDF3"/>
                </a:solidFill>
                <a:latin typeface="Consolas"/>
              </a:rPr>
              <a:t>      - weight: 20</a:t>
            </a:r>
          </a:p>
          <a:p>
            <a:pPr>
              <a:lnSpc>
                <a:spcPts val="1476"/>
              </a:lnSpc>
              <a:spcAft>
                <a:spcPts val="0"/>
              </a:spcAft>
            </a:pPr>
            <a:r>
              <a:rPr sz="1050">
                <a:solidFill>
                  <a:srgbClr val="E6EDF3"/>
                </a:solidFill>
                <a:latin typeface="Consolas"/>
              </a:rPr>
              <a:t>        preference:</a:t>
            </a:r>
          </a:p>
          <a:p>
            <a:pPr>
              <a:lnSpc>
                <a:spcPts val="1476"/>
              </a:lnSpc>
              <a:spcAft>
                <a:spcPts val="0"/>
              </a:spcAft>
            </a:pPr>
            <a:r>
              <a:rPr sz="1050">
                <a:solidFill>
                  <a:srgbClr val="E6EDF3"/>
                </a:solidFill>
                <a:latin typeface="Consolas"/>
              </a:rPr>
              <a:t>          matchExpressions:</a:t>
            </a:r>
          </a:p>
          <a:p>
            <a:pPr>
              <a:lnSpc>
                <a:spcPts val="1476"/>
              </a:lnSpc>
              <a:spcAft>
                <a:spcPts val="0"/>
              </a:spcAft>
            </a:pPr>
            <a:r>
              <a:rPr sz="1050">
                <a:solidFill>
                  <a:srgbClr val="E6EDF3"/>
                </a:solidFill>
                <a:latin typeface="Consolas"/>
              </a:rPr>
              <a:t>          - key: mfs.io/disk</a:t>
            </a:r>
          </a:p>
          <a:p>
            <a:pPr>
              <a:lnSpc>
                <a:spcPts val="1476"/>
              </a:lnSpc>
              <a:spcAft>
                <a:spcPts val="0"/>
              </a:spcAft>
            </a:pPr>
            <a:r>
              <a:rPr sz="1050">
                <a:solidFill>
                  <a:srgbClr val="E6EDF3"/>
                </a:solidFill>
                <a:latin typeface="Consolas"/>
              </a:rPr>
              <a:t>            operator: In</a:t>
            </a:r>
          </a:p>
          <a:p>
            <a:pPr>
              <a:lnSpc>
                <a:spcPts val="1476"/>
              </a:lnSpc>
              <a:spcAft>
                <a:spcPts val="0"/>
              </a:spcAft>
            </a:pPr>
            <a:r>
              <a:rPr sz="1050">
                <a:solidFill>
                  <a:srgbClr val="E6EDF3"/>
                </a:solidFill>
                <a:latin typeface="Consolas"/>
              </a:rPr>
              <a:t>            values: [ssd, nvme]</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This is a list of weighted preferences</a:t>
            </a:r>
          </a:p>
        </p:txBody>
      </p:sp>
      <p:sp>
        <p:nvSpPr>
          <p:cNvPr id="14" name="TextBox 13"/>
          <p:cNvSpPr txBox="1"/>
          <p:nvPr/>
        </p:nvSpPr>
        <p:spPr>
          <a:xfrm>
            <a:off x="7973567" y="2901162"/>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Each entry pairs a weight of 1-100 with a preference. The structure differs from the required form — note 'preference', not 'nodeSelectorTerms'.</a:t>
            </a:r>
          </a:p>
        </p:txBody>
      </p:sp>
      <p:sp>
        <p:nvSpPr>
          <p:cNvPr id="15" name="Oval 14"/>
          <p:cNvSpPr/>
          <p:nvPr/>
        </p:nvSpPr>
        <p:spPr>
          <a:xfrm>
            <a:off x="7626096" y="3568171"/>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988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Weights are summed into the node's score</a:t>
            </a:r>
          </a:p>
        </p:txBody>
      </p:sp>
      <p:sp>
        <p:nvSpPr>
          <p:cNvPr id="17" name="TextBox 16"/>
          <p:cNvSpPr txBox="1"/>
          <p:nvPr/>
        </p:nvSpPr>
        <p:spPr>
          <a:xfrm>
            <a:off x="7973567" y="376667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node in sg-tuas with an SSD earns 100 from this plugin; one with only the SSD earns 20.</a:t>
            </a:r>
          </a:p>
        </p:txBody>
      </p:sp>
      <p:sp>
        <p:nvSpPr>
          <p:cNvPr id="18" name="Oval 17"/>
          <p:cNvSpPr/>
          <p:nvPr/>
        </p:nvSpPr>
        <p:spPr>
          <a:xfrm>
            <a:off x="7626096" y="4279925"/>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6163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Nothing here can make a Pod Pending</a:t>
            </a:r>
          </a:p>
        </p:txBody>
      </p:sp>
      <p:sp>
        <p:nvSpPr>
          <p:cNvPr id="20" name="TextBox 19"/>
          <p:cNvSpPr txBox="1"/>
          <p:nvPr/>
        </p:nvSpPr>
        <p:spPr>
          <a:xfrm>
            <a:off x="7973567" y="447842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If no node matches any preference the Pod still schedules — it simply lands wherever else scored highest.</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Weight is relative, not absolute</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competes with every other scoring plugin, so 80 does not guarantee the outcome.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200</a:t>
            </a:r>
          </a:p>
        </p:txBody>
      </p:sp>
    </p:spTree>
  </p:cSld>
  <p:clrMapOvr>
    <a:masterClrMapping/>
  </p:clrMapOvr>
  <p:transition xmlns:ns1="http://schemas.openxmlformats.org/markup-compatibility/2006" spd="fast" ns1:Ignorable="p14">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DECODING THE NAMES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Affinity Suffixes, Two Questions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independent axes — hard versus soft, and scheduling time versus run time — produce the four long names.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requiredDuringScheduling...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Hard. Evaluated in Filter. No matching node means the Pod stays Pending indefinitely.</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preferredDuringScheduling...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Soft. Evaluated in Score. Influences ranking only; never blocks placement.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...IgnoredDuringExecution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only execution behaviour that exists today for node affinity: label changes do not disturb running Pods.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...RequiredDuringExecution</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Would evict a running Pod when the node stops matching. Still not implemented — do not claim it in an exam answer.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 affinity vs pod affinity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 affinity matches node labels. Pod affinity matches labels on other Pods, then generalises via topologyKey.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Taints are the mirror image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Affinity is the Pod choosing nodes. Taints are the node rejecting Pods. Both are enforced in Filter.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201</a:t>
            </a:r>
          </a:p>
        </p:txBody>
      </p:sp>
    </p:spTree>
  </p:cSld>
  <p:clrMapOvr>
    <a:masterClrMapping/>
  </p:clrMapOvr>
  <p:transition xmlns:ns1="http://schemas.openxmlformats.org/markup-compatibility/2006" spd="fast" ns1:Ignorable="p14">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Pending: Unsatisfiable Node Affinity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two halves separately: the filter clause tells you why, the preemption clause tells you it is not a capacity problem.</a:t>
            </a:r>
          </a:p>
        </p:txBody>
      </p:sp>
      <p:sp>
        <p:nvSpPr>
          <p:cNvPr id="7" name="Rectangle 6"/>
          <p:cNvSpPr/>
          <p:nvPr/>
        </p:nvSpPr>
        <p:spPr>
          <a:xfrm>
            <a:off x="777240" y="2208885"/>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8885"/>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72893"/>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74061"/>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draft-optimiser never leaves Pending; no container is ever created and no image is ever pulled.</a:t>
            </a:r>
          </a:p>
        </p:txBody>
      </p:sp>
      <p:sp>
        <p:nvSpPr>
          <p:cNvPr id="11" name="Rectangle 10"/>
          <p:cNvSpPr/>
          <p:nvPr/>
        </p:nvSpPr>
        <p:spPr>
          <a:xfrm>
            <a:off x="777240" y="2922117"/>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50133"/>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42741"/>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describe pod draft-optimiser -n kcna-lab09</a:t>
            </a:r>
          </a:p>
          <a:p>
            <a:pPr>
              <a:lnSpc>
                <a:spcPts val="1476"/>
              </a:lnSpc>
              <a:spcAft>
                <a:spcPts val="0"/>
              </a:spcAft>
            </a:pPr>
            <a:r>
              <a:rPr sz="950">
                <a:solidFill>
                  <a:srgbClr val="E6EDF3"/>
                </a:solidFill>
                <a:latin typeface="Consolas"/>
              </a:rPr>
              <a:t>Events:</a:t>
            </a:r>
          </a:p>
          <a:p>
            <a:pPr>
              <a:lnSpc>
                <a:spcPts val="1476"/>
              </a:lnSpc>
              <a:spcAft>
                <a:spcPts val="0"/>
              </a:spcAft>
            </a:pPr>
            <a:r>
              <a:rPr sz="950">
                <a:solidFill>
                  <a:srgbClr val="E6EDF3"/>
                </a:solidFill>
                <a:latin typeface="Consolas"/>
              </a:rPr>
              <a:t>  Type     Reason            Age   From</a:t>
            </a:r>
          </a:p>
          <a:p>
            <a:pPr>
              <a:lnSpc>
                <a:spcPts val="1476"/>
              </a:lnSpc>
              <a:spcAft>
                <a:spcPts val="0"/>
              </a:spcAft>
            </a:pPr>
            <a:r>
              <a:rPr sz="950">
                <a:solidFill>
                  <a:srgbClr val="E6EDF3"/>
                </a:solidFill>
                <a:latin typeface="Consolas"/>
              </a:rPr>
              <a:t>  Warning  FailedScheduling  63s   default-scheduler</a:t>
            </a:r>
          </a:p>
          <a:p>
            <a:pPr>
              <a:lnSpc>
                <a:spcPts val="1476"/>
              </a:lnSpc>
              <a:spcAft>
                <a:spcPts val="0"/>
              </a:spcAft>
            </a:pPr>
            <a:r>
              <a:rPr sz="950">
                <a:solidFill>
                  <a:srgbClr val="E6EDF3"/>
                </a:solidFill>
                <a:latin typeface="Consolas"/>
              </a:rPr>
              <a:t>    0/1 nodes are available: 1 node(s) didn't match</a:t>
            </a:r>
          </a:p>
          <a:p>
            <a:pPr>
              <a:lnSpc>
                <a:spcPts val="1476"/>
              </a:lnSpc>
              <a:spcAft>
                <a:spcPts val="0"/>
              </a:spcAft>
            </a:pPr>
            <a:r>
              <a:rPr sz="950">
                <a:solidFill>
                  <a:srgbClr val="E6EDF3"/>
                </a:solidFill>
                <a:latin typeface="Consolas"/>
              </a:rPr>
              <a:t>    Pod's node affinity/selector. preemption: 0/1</a:t>
            </a:r>
          </a:p>
          <a:p>
            <a:pPr>
              <a:lnSpc>
                <a:spcPts val="1476"/>
              </a:lnSpc>
              <a:spcAft>
                <a:spcPts val="0"/>
              </a:spcAft>
            </a:pPr>
            <a:r>
              <a:rPr sz="950">
                <a:solidFill>
                  <a:srgbClr val="E6EDF3"/>
                </a:solidFill>
                <a:latin typeface="Consolas"/>
              </a:rPr>
              <a:t>    nodes are available: 1 Preemption is not helpful</a:t>
            </a:r>
          </a:p>
          <a:p>
            <a:pPr>
              <a:lnSpc>
                <a:spcPts val="1476"/>
              </a:lnSpc>
              <a:spcAft>
                <a:spcPts val="0"/>
              </a:spcAft>
            </a:pPr>
            <a:r>
              <a:rPr sz="950">
                <a:solidFill>
                  <a:srgbClr val="E6EDF3"/>
                </a:solidFill>
                <a:latin typeface="Consolas"/>
              </a:rPr>
              <a:t>    for scheduling.</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PodScheduled=False  reason=Unschedulable</a:t>
            </a:r>
          </a:p>
          <a:p>
            <a:pPr>
              <a:lnSpc>
                <a:spcPts val="1476"/>
              </a:lnSpc>
              <a:spcAft>
                <a:spcPts val="0"/>
              </a:spcAft>
            </a:pPr>
            <a:r>
              <a:rPr sz="950">
                <a:solidFill>
                  <a:srgbClr val="E6EDF3"/>
                </a:solidFill>
                <a:latin typeface="Consolas"/>
              </a:rPr>
              <a:t>spec.nodeName: []</a:t>
            </a:r>
          </a:p>
        </p:txBody>
      </p:sp>
      <p:sp>
        <p:nvSpPr>
          <p:cNvPr id="14" name="Rectangle 13"/>
          <p:cNvSpPr/>
          <p:nvPr/>
        </p:nvSpPr>
        <p:spPr>
          <a:xfrm>
            <a:off x="7205472" y="2922117"/>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22117"/>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5869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9589"/>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Pod requires mfs.io/hardware=gpu-a100 as a requiredDuringScheduling term and no node carries that label.</a:t>
            </a:r>
          </a:p>
          <a:p>
            <a:pPr>
              <a:lnSpc>
                <a:spcPct val="112000"/>
              </a:lnSpc>
              <a:spcAft>
                <a:spcPts val="200"/>
              </a:spcAft>
            </a:pPr>
            <a:r>
              <a:rPr sz="950">
                <a:solidFill>
                  <a:srgbClr val="94A3B8"/>
                </a:solidFill>
                <a:latin typeface="Arial"/>
              </a:rPr>
              <a:t>•  </a:t>
            </a:r>
            <a:r>
              <a:rPr sz="950">
                <a:solidFill>
                  <a:srgbClr val="5B6372"/>
                </a:solidFill>
                <a:latin typeface="Arial"/>
              </a:rPr>
              <a:t>Every node was removed in the Filter stage, so scoring never ran and nothing was bound.</a:t>
            </a:r>
          </a:p>
          <a:p>
            <a:pPr>
              <a:lnSpc>
                <a:spcPct val="112000"/>
              </a:lnSpc>
              <a:spcAft>
                <a:spcPts val="200"/>
              </a:spcAft>
            </a:pPr>
            <a:r>
              <a:rPr sz="950">
                <a:solidFill>
                  <a:srgbClr val="94A3B8"/>
                </a:solidFill>
                <a:latin typeface="Arial"/>
              </a:rPr>
              <a:t>•  </a:t>
            </a:r>
            <a:r>
              <a:rPr sz="950">
                <a:solidFill>
                  <a:srgbClr val="5B6372"/>
                </a:solidFill>
                <a:latin typeface="Arial"/>
              </a:rPr>
              <a:t>"Preemption is not helpful" means evicting lower-priority Pods would not help — the node is wrong, not full.</a:t>
            </a:r>
          </a:p>
        </p:txBody>
      </p:sp>
      <p:sp>
        <p:nvSpPr>
          <p:cNvPr id="18" name="Rectangle 17"/>
          <p:cNvSpPr/>
          <p:nvPr/>
        </p:nvSpPr>
        <p:spPr>
          <a:xfrm>
            <a:off x="7205472" y="4544811"/>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44811"/>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81387"/>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92283"/>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Confirm the label really is absent: kubectl get nodes -l mfs.io/hardware=gpu-a100 returns No resources found.</a:t>
            </a:r>
          </a:p>
          <a:p>
            <a:pPr>
              <a:lnSpc>
                <a:spcPct val="112000"/>
              </a:lnSpc>
              <a:spcAft>
                <a:spcPts val="200"/>
              </a:spcAft>
            </a:pPr>
            <a:r>
              <a:rPr sz="950">
                <a:solidFill>
                  <a:srgbClr val="94A3B8"/>
                </a:solidFill>
                <a:latin typeface="Arial"/>
              </a:rPr>
              <a:t>•  </a:t>
            </a:r>
            <a:r>
              <a:rPr sz="950">
                <a:solidFill>
                  <a:srgbClr val="5B6372"/>
                </a:solidFill>
                <a:latin typeface="Arial"/>
              </a:rPr>
              <a:t>Either label a node that genuinely has the hardware, or downgrade the term to preferred if it was only a wish.</a:t>
            </a:r>
          </a:p>
          <a:p>
            <a:pPr>
              <a:lnSpc>
                <a:spcPct val="112000"/>
              </a:lnSpc>
              <a:spcAft>
                <a:spcPts val="200"/>
              </a:spcAft>
            </a:pPr>
            <a:r>
              <a:rPr sz="950">
                <a:solidFill>
                  <a:srgbClr val="94A3B8"/>
                </a:solidFill>
                <a:latin typeface="Arial"/>
              </a:rPr>
              <a:t>•  </a:t>
            </a:r>
            <a:r>
              <a:rPr sz="950">
                <a:solidFill>
                  <a:srgbClr val="5B6372"/>
                </a:solidFill>
                <a:latin typeface="Arial"/>
              </a:rPr>
              <a:t>Never 'fix' this by deleting the Pod — it will recur on the next apply.</a:t>
            </a:r>
          </a:p>
        </p:txBody>
      </p:sp>
      <p:sp>
        <p:nvSpPr>
          <p:cNvPr id="22" name="Rectangle 21"/>
          <p:cNvSpPr/>
          <p:nvPr/>
        </p:nvSpPr>
        <p:spPr>
          <a:xfrm>
            <a:off x="777240" y="5697321"/>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807049"/>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PodScheduled flips to True within seconds of the correct node label being applied — no restart needed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202</a:t>
            </a:r>
          </a:p>
        </p:txBody>
      </p:sp>
    </p:spTree>
  </p:cSld>
  <p:clrMapOvr>
    <a:masterClrMapping/>
  </p:clrMapOvr>
  <p:transition xmlns:ns1="http://schemas.openxmlformats.org/markup-compatibility/2006" spd="fast" ns1:Ignorable="p14">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REPULSION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Taints and Their Three Effects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Taints are how a cluster reserves nodes for a purpose without needing every workload author to cooperate.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taint lives on the Node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key=value:effect. It repels every Pod that does not carry a matching toleration. It is cluster-scoped state, not namespaced.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NoSchedule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New Pods without a toleration are filtered out. Pods already running on the node are untouched.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PreferNoSchedule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scoring penalty only. The Pod will still land there if nothing better exists.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NoExecute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Filters new Pods and evicts running ones that do not tolerate it. tolerationSeconds gives a grace period before eviction.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Kubernetes taints nodes itself</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node.kubernetes.io/not-ready, unreachable, memory-pressure, disk-pressure, pid-pressure and unschedulable are applied automatically.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 labels and taints survive namespaces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Deleting the lab namespace does not remove them — Lab 09 explicitly reverts the taint and both labels at cleanup.</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kubernetes.io/docs/concepts/scheduling-eviction/taint-and-toleration/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203</a:t>
            </a:r>
          </a:p>
        </p:txBody>
      </p:sp>
    </p:spTree>
  </p:cSld>
  <p:clrMapOvr>
    <a:masterClrMapping/>
  </p:clrMapOvr>
  <p:transition xmlns:ns1="http://schemas.openxmlformats.org/markup-compatibility/2006" spd="fast" ns1:Ignorable="p14">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Toleration,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Pair this with the previous slide: the node repels, the Pod carries the exemption. Neither side alone decides placement.</a:t>
            </a:r>
          </a:p>
        </p:txBody>
      </p:sp>
      <p:sp>
        <p:nvSpPr>
          <p:cNvPr id="7" name="Rectangle 6"/>
          <p:cNvSpPr/>
          <p:nvPr/>
        </p:nvSpPr>
        <p:spPr>
          <a:xfrm>
            <a:off x="777240" y="2208885"/>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labs/lab-09/manifests/60-pod-toleration.yaml</a:t>
            </a:r>
          </a:p>
        </p:txBody>
      </p:sp>
      <p:sp>
        <p:nvSpPr>
          <p:cNvPr id="9" name="TextBox 8"/>
          <p:cNvSpPr txBox="1"/>
          <p:nvPr/>
        </p:nvSpPr>
        <p:spPr>
          <a:xfrm>
            <a:off x="923544" y="2629509"/>
            <a:ext cx="6062472" cy="2624327"/>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node side, applied by the administrator</a:t>
            </a:r>
          </a:p>
          <a:p>
            <a:pPr>
              <a:lnSpc>
                <a:spcPts val="1476"/>
              </a:lnSpc>
              <a:spcAft>
                <a:spcPts val="0"/>
              </a:spcAft>
            </a:pPr>
            <a:r>
              <a:rPr sz="1050">
                <a:solidFill>
                  <a:srgbClr val="7D8A99"/>
                </a:solidFill>
                <a:latin typeface="Consolas"/>
              </a:rPr>
              <a:t># taint: mfs.io/maintenance=window:NoSchedule</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tolerations:</a:t>
            </a:r>
          </a:p>
          <a:p>
            <a:pPr>
              <a:lnSpc>
                <a:spcPts val="1476"/>
              </a:lnSpc>
              <a:spcAft>
                <a:spcPts val="0"/>
              </a:spcAft>
            </a:pPr>
            <a:r>
              <a:rPr sz="1050">
                <a:solidFill>
                  <a:srgbClr val="E6EDF3"/>
                </a:solidFill>
                <a:latin typeface="Consolas"/>
              </a:rPr>
              <a:t>  - key: mfs.io/maintenance</a:t>
            </a:r>
          </a:p>
          <a:p>
            <a:pPr>
              <a:lnSpc>
                <a:spcPts val="1476"/>
              </a:lnSpc>
              <a:spcAft>
                <a:spcPts val="0"/>
              </a:spcAft>
            </a:pPr>
            <a:r>
              <a:rPr sz="1050">
                <a:solidFill>
                  <a:srgbClr val="E6EDF3"/>
                </a:solidFill>
                <a:latin typeface="Consolas"/>
              </a:rPr>
              <a:t>    operator: Equal</a:t>
            </a:r>
          </a:p>
          <a:p>
            <a:pPr>
              <a:lnSpc>
                <a:spcPts val="1476"/>
              </a:lnSpc>
              <a:spcAft>
                <a:spcPts val="0"/>
              </a:spcAft>
            </a:pPr>
            <a:r>
              <a:rPr sz="1050">
                <a:solidFill>
                  <a:srgbClr val="E6EDF3"/>
                </a:solidFill>
                <a:latin typeface="Consolas"/>
              </a:rPr>
              <a:t>    value: window</a:t>
            </a:r>
          </a:p>
          <a:p>
            <a:pPr>
              <a:lnSpc>
                <a:spcPts val="1476"/>
              </a:lnSpc>
              <a:spcAft>
                <a:spcPts val="0"/>
              </a:spcAft>
            </a:pPr>
            <a:r>
              <a:rPr sz="1050">
                <a:solidFill>
                  <a:srgbClr val="E6EDF3"/>
                </a:solidFill>
                <a:latin typeface="Consolas"/>
              </a:rPr>
              <a:t>    effect: NoSchedule</a:t>
            </a:r>
          </a:p>
          <a:p>
            <a:pPr>
              <a:lnSpc>
                <a:spcPts val="1476"/>
              </a:lnSpc>
              <a:spcAft>
                <a:spcPts val="0"/>
              </a:spcAft>
            </a:pPr>
            <a:r>
              <a:rPr sz="1050">
                <a:solidFill>
                  <a:srgbClr val="7D8A99"/>
                </a:solidFill>
                <a:latin typeface="Consolas"/>
              </a:rPr>
              <a:t>  # eviction grace period, NoExecute only:</a:t>
            </a:r>
          </a:p>
          <a:p>
            <a:pPr>
              <a:lnSpc>
                <a:spcPts val="1476"/>
              </a:lnSpc>
              <a:spcAft>
                <a:spcPts val="0"/>
              </a:spcAft>
            </a:pPr>
            <a:r>
              <a:rPr sz="1050">
                <a:solidFill>
                  <a:srgbClr val="7D8A99"/>
                </a:solidFill>
                <a:latin typeface="Consolas"/>
              </a:rPr>
              <a:t>  # - key: node.kubernetes.io/not-ready</a:t>
            </a:r>
          </a:p>
          <a:p>
            <a:pPr>
              <a:lnSpc>
                <a:spcPts val="1476"/>
              </a:lnSpc>
              <a:spcAft>
                <a:spcPts val="0"/>
              </a:spcAft>
            </a:pPr>
            <a:r>
              <a:rPr sz="1050">
                <a:solidFill>
                  <a:srgbClr val="7D8A99"/>
                </a:solidFill>
                <a:latin typeface="Consolas"/>
              </a:rPr>
              <a:t>  #   operator: Exists</a:t>
            </a:r>
          </a:p>
          <a:p>
            <a:pPr>
              <a:lnSpc>
                <a:spcPts val="1476"/>
              </a:lnSpc>
              <a:spcAft>
                <a:spcPts val="0"/>
              </a:spcAft>
            </a:pPr>
            <a:r>
              <a:rPr sz="1050">
                <a:solidFill>
                  <a:srgbClr val="7D8A99"/>
                </a:solidFill>
                <a:latin typeface="Consolas"/>
              </a:rPr>
              <a:t>  #   effect: NoExecute</a:t>
            </a:r>
          </a:p>
          <a:p>
            <a:pPr>
              <a:lnSpc>
                <a:spcPts val="1476"/>
              </a:lnSpc>
              <a:spcAft>
                <a:spcPts val="0"/>
              </a:spcAft>
            </a:pPr>
            <a:r>
              <a:rPr sz="1050">
                <a:solidFill>
                  <a:srgbClr val="7D8A99"/>
                </a:solidFill>
                <a:latin typeface="Consolas"/>
              </a:rPr>
              <a:t>  #   tolerationSeconds: 300</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toleration permits, it does not attract</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Tolerating the maintenance taint lets this Pod land on that node. It does not make the scheduler prefer it.</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Equal needs a value; Exists must not have one</a:t>
            </a:r>
          </a:p>
        </p:txBody>
      </p:sp>
      <p:sp>
        <p:nvSpPr>
          <p:cNvPr id="17" name="TextBox 16"/>
          <p:cNvSpPr txBox="1"/>
          <p:nvPr/>
        </p:nvSpPr>
        <p:spPr>
          <a:xfrm>
            <a:off x="7973567" y="361291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operator: Exists with no key at all tolerates every taint — powerful and easy to abuse.</a:t>
            </a:r>
          </a:p>
        </p:txBody>
      </p:sp>
      <p:sp>
        <p:nvSpPr>
          <p:cNvPr id="18" name="Oval 17"/>
          <p:cNvSpPr/>
          <p:nvPr/>
        </p:nvSpPr>
        <p:spPr>
          <a:xfrm>
            <a:off x="7626096" y="412616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10788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Omitting effect widens the toleration</a:t>
            </a:r>
          </a:p>
        </p:txBody>
      </p:sp>
      <p:sp>
        <p:nvSpPr>
          <p:cNvPr id="20" name="TextBox 19"/>
          <p:cNvSpPr txBox="1"/>
          <p:nvPr/>
        </p:nvSpPr>
        <p:spPr>
          <a:xfrm>
            <a:off x="7973567" y="432467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With no effect field the toleration matches all three effects for that key.</a:t>
            </a:r>
          </a:p>
        </p:txBody>
      </p:sp>
      <p:sp>
        <p:nvSpPr>
          <p:cNvPr id="21" name="Oval 20"/>
          <p:cNvSpPr/>
          <p:nvPr/>
        </p:nvSpPr>
        <p:spPr>
          <a:xfrm>
            <a:off x="7626096" y="4837922"/>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9634"/>
            <a:ext cx="3246119" cy="33756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tolerationSeconds only means anything for NoExecute</a:t>
            </a:r>
          </a:p>
        </p:txBody>
      </p:sp>
      <p:sp>
        <p:nvSpPr>
          <p:cNvPr id="23" name="TextBox 22"/>
          <p:cNvSpPr txBox="1"/>
          <p:nvPr/>
        </p:nvSpPr>
        <p:spPr>
          <a:xfrm>
            <a:off x="7973567" y="5193776"/>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DefaultTolerationSeconds admission controller adds not-ready and unreachable tolerations of 300 seconds, which is why a Pod is not evicted the instant a node blips.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kubernetes.io/docs/concepts/scheduling-eviction/taint-and-toleration/</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204</a:t>
            </a:r>
          </a:p>
        </p:txBody>
      </p:sp>
    </p:spTree>
  </p:cSld>
  <p:clrMapOvr>
    <a:masterClrMapping/>
  </p:clrMapOvr>
  <p:transition xmlns:ns1="http://schemas.openxmlformats.org/markup-compatibility/2006" spd="fast" ns1:Ignorable="p14">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Pending: Untolerated Taint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Pods, one node, one difference. This is the cleanest demonstration of Filter-stage rejection in the course.</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yard-report sits Pending on a cluster that has ample free CPU and memory.</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describe pod yard-report -n kcna-lab09</a:t>
            </a:r>
          </a:p>
          <a:p>
            <a:pPr>
              <a:lnSpc>
                <a:spcPts val="1476"/>
              </a:lnSpc>
              <a:spcAft>
                <a:spcPts val="0"/>
              </a:spcAft>
            </a:pPr>
            <a:r>
              <a:rPr sz="950">
                <a:solidFill>
                  <a:srgbClr val="E6EDF3"/>
                </a:solidFill>
                <a:latin typeface="Consolas"/>
              </a:rPr>
              <a:t>Events:</a:t>
            </a:r>
          </a:p>
          <a:p>
            <a:pPr>
              <a:lnSpc>
                <a:spcPts val="1476"/>
              </a:lnSpc>
              <a:spcAft>
                <a:spcPts val="0"/>
              </a:spcAft>
            </a:pPr>
            <a:r>
              <a:rPr sz="950">
                <a:solidFill>
                  <a:srgbClr val="E6EDF3"/>
                </a:solidFill>
                <a:latin typeface="Consolas"/>
              </a:rPr>
              <a:t>  Type     Reason            Age  From</a:t>
            </a:r>
          </a:p>
          <a:p>
            <a:pPr>
              <a:lnSpc>
                <a:spcPts val="1476"/>
              </a:lnSpc>
              <a:spcAft>
                <a:spcPts val="0"/>
              </a:spcAft>
            </a:pPr>
            <a:r>
              <a:rPr sz="950">
                <a:solidFill>
                  <a:srgbClr val="E6EDF3"/>
                </a:solidFill>
                <a:latin typeface="Consolas"/>
              </a:rPr>
              <a:t>  Warning  FailedScheduling  12s  default-scheduler</a:t>
            </a:r>
          </a:p>
          <a:p>
            <a:pPr>
              <a:lnSpc>
                <a:spcPts val="1476"/>
              </a:lnSpc>
              <a:spcAft>
                <a:spcPts val="0"/>
              </a:spcAft>
            </a:pPr>
            <a:r>
              <a:rPr sz="950">
                <a:solidFill>
                  <a:srgbClr val="E6EDF3"/>
                </a:solidFill>
                <a:latin typeface="Consolas"/>
              </a:rPr>
              <a:t>    0/1 nodes are available: 1 node(s) had untolerated</a:t>
            </a:r>
          </a:p>
          <a:p>
            <a:pPr>
              <a:lnSpc>
                <a:spcPts val="1476"/>
              </a:lnSpc>
              <a:spcAft>
                <a:spcPts val="0"/>
              </a:spcAft>
            </a:pPr>
            <a:r>
              <a:rPr sz="950">
                <a:solidFill>
                  <a:srgbClr val="E6EDF3"/>
                </a:solidFill>
                <a:latin typeface="Consolas"/>
              </a:rPr>
              <a:t>    taint {mfs.io/maintenance: window}. preemption:</a:t>
            </a:r>
          </a:p>
          <a:p>
            <a:pPr>
              <a:lnSpc>
                <a:spcPts val="1476"/>
              </a:lnSpc>
              <a:spcAft>
                <a:spcPts val="0"/>
              </a:spcAft>
            </a:pPr>
            <a:r>
              <a:rPr sz="950">
                <a:solidFill>
                  <a:srgbClr val="E6EDF3"/>
                </a:solidFill>
                <a:latin typeface="Consolas"/>
              </a:rPr>
              <a:t>    0/1 nodes are available: 1 Preemption is not</a:t>
            </a:r>
          </a:p>
          <a:p>
            <a:pPr>
              <a:lnSpc>
                <a:spcPts val="1476"/>
              </a:lnSpc>
              <a:spcAft>
                <a:spcPts val="0"/>
              </a:spcAft>
            </a:pPr>
            <a:r>
              <a:rPr sz="950">
                <a:solidFill>
                  <a:srgbClr val="E6EDF3"/>
                </a:solidFill>
                <a:latin typeface="Consolas"/>
              </a:rPr>
              <a:t>    helpful for scheduling.</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pods -n kcna-lab09 -o wide</a:t>
            </a:r>
          </a:p>
          <a:p>
            <a:pPr>
              <a:lnSpc>
                <a:spcPts val="1476"/>
              </a:lnSpc>
              <a:spcAft>
                <a:spcPts val="0"/>
              </a:spcAft>
            </a:pPr>
            <a:r>
              <a:rPr sz="950">
                <a:solidFill>
                  <a:srgbClr val="E6EDF3"/>
                </a:solidFill>
                <a:latin typeface="Consolas"/>
              </a:rPr>
              <a:t>crane-controller   Running   kind-control-plane</a:t>
            </a:r>
          </a:p>
          <a:p>
            <a:pPr>
              <a:lnSpc>
                <a:spcPts val="1476"/>
              </a:lnSpc>
              <a:spcAft>
                <a:spcPts val="0"/>
              </a:spcAft>
            </a:pPr>
            <a:r>
              <a:rPr sz="950">
                <a:solidFill>
                  <a:srgbClr val="E6EDF3"/>
                </a:solidFill>
                <a:latin typeface="Consolas"/>
              </a:rPr>
              <a:t>yard-report        Pending   &lt;none&gt;</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only node carries mfs.io/maintenance=window:NoSchedule and this Pod declares no toleration.</a:t>
            </a:r>
          </a:p>
          <a:p>
            <a:pPr>
              <a:lnSpc>
                <a:spcPct val="112000"/>
              </a:lnSpc>
              <a:spcAft>
                <a:spcPts val="200"/>
              </a:spcAft>
            </a:pPr>
            <a:r>
              <a:rPr sz="950">
                <a:solidFill>
                  <a:srgbClr val="94A3B8"/>
                </a:solidFill>
                <a:latin typeface="Arial"/>
              </a:rPr>
              <a:t>•  </a:t>
            </a:r>
            <a:r>
              <a:rPr sz="950">
                <a:solidFill>
                  <a:srgbClr val="5B6372"/>
                </a:solidFill>
                <a:latin typeface="Arial"/>
              </a:rPr>
              <a:t>crane-controller, an otherwise identical Pod, is Running purely because it carries the matching toleration.</a:t>
            </a:r>
          </a:p>
          <a:p>
            <a:pPr>
              <a:lnSpc>
                <a:spcPct val="112000"/>
              </a:lnSpc>
              <a:spcAft>
                <a:spcPts val="200"/>
              </a:spcAft>
            </a:pPr>
            <a:r>
              <a:rPr sz="950">
                <a:solidFill>
                  <a:srgbClr val="94A3B8"/>
                </a:solidFill>
                <a:latin typeface="Arial"/>
              </a:rPr>
              <a:t>•  </a:t>
            </a:r>
            <a:r>
              <a:rPr sz="950">
                <a:solidFill>
                  <a:srgbClr val="5B6372"/>
                </a:solidFill>
                <a:latin typeface="Arial"/>
              </a:rPr>
              <a:t>Free capacity is irrelevant — TaintToleration runs in Filter, before any capacity scoring.</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Add the matching toleration if the Pod genuinely belongs on maintenance-marked nodes.</a:t>
            </a:r>
          </a:p>
          <a:p>
            <a:pPr>
              <a:lnSpc>
                <a:spcPct val="112000"/>
              </a:lnSpc>
              <a:spcAft>
                <a:spcPts val="200"/>
              </a:spcAft>
            </a:pPr>
            <a:r>
              <a:rPr sz="950">
                <a:solidFill>
                  <a:srgbClr val="94A3B8"/>
                </a:solidFill>
                <a:latin typeface="Arial"/>
              </a:rPr>
              <a:t>•  </a:t>
            </a:r>
            <a:r>
              <a:rPr sz="950">
                <a:solidFill>
                  <a:srgbClr val="5B6372"/>
                </a:solidFill>
                <a:latin typeface="Arial"/>
              </a:rPr>
              <a:t>Or remove the taint with a trailing dash: kubectl taint node &lt;node&gt; mfs.io/maintenance=window:NoSchedule-</a:t>
            </a:r>
          </a:p>
          <a:p>
            <a:pPr>
              <a:lnSpc>
                <a:spcPct val="112000"/>
              </a:lnSpc>
              <a:spcAft>
                <a:spcPts val="200"/>
              </a:spcAft>
            </a:pPr>
            <a:r>
              <a:rPr sz="950">
                <a:solidFill>
                  <a:srgbClr val="94A3B8"/>
                </a:solidFill>
                <a:latin typeface="Arial"/>
              </a:rPr>
              <a:t>•  </a:t>
            </a:r>
            <a:r>
              <a:rPr sz="950">
                <a:solidFill>
                  <a:srgbClr val="5B6372"/>
                </a:solidFill>
                <a:latin typeface="Arial"/>
              </a:rPr>
              <a:t>Distinguish the messages: 'untolerated taint' is policy, 'Insufficient cpu' is capacity.</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The same Pod schedules immediately once the taint is removed or the toleration is added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205</a:t>
            </a:r>
          </a:p>
        </p:txBody>
      </p:sp>
    </p:spTree>
  </p:cSld>
  <p:clrMapOvr>
    <a:masterClrMapping/>
  </p:clrMapOvr>
  <p:transition xmlns:ns1="http://schemas.openxmlformats.org/markup-compatibility/2006" spd="fast" ns1:Ignorable="p14">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DIRECTION OF CONTROL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Affinity, nodeSelector, Taints and Spread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Placement is a negotiation between two parties. Knowing which party owns each field tells you who to talk to when a Pod will not schedule.</a:t>
            </a:r>
          </a:p>
        </p:txBody>
      </p:sp>
      <p:sp>
        <p:nvSpPr>
          <p:cNvPr id="7" name="Rectangle 6"/>
          <p:cNvSpPr/>
          <p:nvPr/>
        </p:nvSpPr>
        <p:spPr>
          <a:xfrm>
            <a:off x="777240" y="2208885"/>
            <a:ext cx="2393081"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1370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Mechanism</a:t>
            </a:r>
          </a:p>
        </p:txBody>
      </p:sp>
      <p:sp>
        <p:nvSpPr>
          <p:cNvPr id="9" name="Rectangle 8"/>
          <p:cNvSpPr/>
          <p:nvPr/>
        </p:nvSpPr>
        <p:spPr>
          <a:xfrm>
            <a:off x="3170321" y="2208885"/>
            <a:ext cx="2393081"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298337" y="2309469"/>
            <a:ext cx="21370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Who declares it</a:t>
            </a:r>
          </a:p>
        </p:txBody>
      </p:sp>
      <p:sp>
        <p:nvSpPr>
          <p:cNvPr id="11" name="Rectangle 10"/>
          <p:cNvSpPr/>
          <p:nvPr/>
        </p:nvSpPr>
        <p:spPr>
          <a:xfrm>
            <a:off x="5563402" y="2208885"/>
            <a:ext cx="4223084"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691418" y="2309469"/>
            <a:ext cx="396705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Effect</a:t>
            </a:r>
          </a:p>
        </p:txBody>
      </p:sp>
      <p:sp>
        <p:nvSpPr>
          <p:cNvPr id="13" name="Rectangle 12"/>
          <p:cNvSpPr/>
          <p:nvPr/>
        </p:nvSpPr>
        <p:spPr>
          <a:xfrm>
            <a:off x="9786486" y="2208885"/>
            <a:ext cx="1689233"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9914502" y="2309469"/>
            <a:ext cx="143320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Stage</a:t>
            </a:r>
          </a:p>
        </p:txBody>
      </p:sp>
      <p:sp>
        <p:nvSpPr>
          <p:cNvPr id="15" name="Rectangle 14"/>
          <p:cNvSpPr/>
          <p:nvPr/>
        </p:nvSpPr>
        <p:spPr>
          <a:xfrm>
            <a:off x="777240" y="2629509"/>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nodeSelector</a:t>
            </a:r>
          </a:p>
        </p:txBody>
      </p:sp>
      <p:sp>
        <p:nvSpPr>
          <p:cNvPr id="17" name="Rectangle 16"/>
          <p:cNvSpPr/>
          <p:nvPr/>
        </p:nvSpPr>
        <p:spPr>
          <a:xfrm>
            <a:off x="3170321" y="2629509"/>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298337" y="2711805"/>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author</a:t>
            </a:r>
          </a:p>
        </p:txBody>
      </p:sp>
      <p:sp>
        <p:nvSpPr>
          <p:cNvPr id="19" name="Rectangle 18"/>
          <p:cNvSpPr/>
          <p:nvPr/>
        </p:nvSpPr>
        <p:spPr>
          <a:xfrm>
            <a:off x="5563402" y="2629509"/>
            <a:ext cx="4223084"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691418" y="2711805"/>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insists on nodes with these labels</a:t>
            </a:r>
          </a:p>
        </p:txBody>
      </p:sp>
      <p:sp>
        <p:nvSpPr>
          <p:cNvPr id="21" name="Rectangle 20"/>
          <p:cNvSpPr/>
          <p:nvPr/>
        </p:nvSpPr>
        <p:spPr>
          <a:xfrm>
            <a:off x="9786486" y="2629509"/>
            <a:ext cx="1689233"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914502" y="2711805"/>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Filter</a:t>
            </a:r>
          </a:p>
        </p:txBody>
      </p:sp>
      <p:sp>
        <p:nvSpPr>
          <p:cNvPr id="23" name="Rectangle 22"/>
          <p:cNvSpPr/>
          <p:nvPr/>
        </p:nvSpPr>
        <p:spPr>
          <a:xfrm>
            <a:off x="777240" y="3196437"/>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78733"/>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required nodeAffinity</a:t>
            </a:r>
          </a:p>
        </p:txBody>
      </p:sp>
      <p:sp>
        <p:nvSpPr>
          <p:cNvPr id="25" name="Rectangle 24"/>
          <p:cNvSpPr/>
          <p:nvPr/>
        </p:nvSpPr>
        <p:spPr>
          <a:xfrm>
            <a:off x="3170321" y="3196437"/>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298337" y="3278733"/>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author</a:t>
            </a:r>
          </a:p>
        </p:txBody>
      </p:sp>
      <p:sp>
        <p:nvSpPr>
          <p:cNvPr id="27" name="Rectangle 26"/>
          <p:cNvSpPr/>
          <p:nvPr/>
        </p:nvSpPr>
        <p:spPr>
          <a:xfrm>
            <a:off x="5563402" y="3196437"/>
            <a:ext cx="4223084"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691418" y="3278733"/>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Same, with richer operators and OR</a:t>
            </a:r>
          </a:p>
        </p:txBody>
      </p:sp>
      <p:sp>
        <p:nvSpPr>
          <p:cNvPr id="29" name="Rectangle 28"/>
          <p:cNvSpPr/>
          <p:nvPr/>
        </p:nvSpPr>
        <p:spPr>
          <a:xfrm>
            <a:off x="9786486" y="3196437"/>
            <a:ext cx="1689233"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9914502" y="3278733"/>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Filter</a:t>
            </a:r>
          </a:p>
        </p:txBody>
      </p:sp>
      <p:sp>
        <p:nvSpPr>
          <p:cNvPr id="31" name="Rectangle 30"/>
          <p:cNvSpPr/>
          <p:nvPr/>
        </p:nvSpPr>
        <p:spPr>
          <a:xfrm>
            <a:off x="777240" y="3763365"/>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45661"/>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preferred nodeAffinity</a:t>
            </a:r>
          </a:p>
        </p:txBody>
      </p:sp>
      <p:sp>
        <p:nvSpPr>
          <p:cNvPr id="33" name="Rectangle 32"/>
          <p:cNvSpPr/>
          <p:nvPr/>
        </p:nvSpPr>
        <p:spPr>
          <a:xfrm>
            <a:off x="3170321" y="3763365"/>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298337" y="3845661"/>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author</a:t>
            </a:r>
          </a:p>
        </p:txBody>
      </p:sp>
      <p:sp>
        <p:nvSpPr>
          <p:cNvPr id="35" name="Rectangle 34"/>
          <p:cNvSpPr/>
          <p:nvPr/>
        </p:nvSpPr>
        <p:spPr>
          <a:xfrm>
            <a:off x="5563402" y="3763365"/>
            <a:ext cx="4223084"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691418" y="3845661"/>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nudges the ranking</a:t>
            </a:r>
          </a:p>
        </p:txBody>
      </p:sp>
      <p:sp>
        <p:nvSpPr>
          <p:cNvPr id="37" name="Rectangle 36"/>
          <p:cNvSpPr/>
          <p:nvPr/>
        </p:nvSpPr>
        <p:spPr>
          <a:xfrm>
            <a:off x="9786486" y="3763365"/>
            <a:ext cx="1689233"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914502" y="3845661"/>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Score</a:t>
            </a:r>
          </a:p>
        </p:txBody>
      </p:sp>
      <p:sp>
        <p:nvSpPr>
          <p:cNvPr id="39" name="Rectangle 38"/>
          <p:cNvSpPr/>
          <p:nvPr/>
        </p:nvSpPr>
        <p:spPr>
          <a:xfrm>
            <a:off x="777240" y="4330293"/>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12589"/>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Taint (NoSchedule)</a:t>
            </a:r>
          </a:p>
        </p:txBody>
      </p:sp>
      <p:sp>
        <p:nvSpPr>
          <p:cNvPr id="41" name="Rectangle 40"/>
          <p:cNvSpPr/>
          <p:nvPr/>
        </p:nvSpPr>
        <p:spPr>
          <a:xfrm>
            <a:off x="3170321" y="4330293"/>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298337" y="4412589"/>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Cluster administrator</a:t>
            </a:r>
          </a:p>
        </p:txBody>
      </p:sp>
      <p:sp>
        <p:nvSpPr>
          <p:cNvPr id="43" name="Rectangle 42"/>
          <p:cNvSpPr/>
          <p:nvPr/>
        </p:nvSpPr>
        <p:spPr>
          <a:xfrm>
            <a:off x="5563402" y="4330293"/>
            <a:ext cx="4223084"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691418" y="4412589"/>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Node rejects Pods that lack a toleration</a:t>
            </a:r>
          </a:p>
        </p:txBody>
      </p:sp>
      <p:sp>
        <p:nvSpPr>
          <p:cNvPr id="45" name="Rectangle 44"/>
          <p:cNvSpPr/>
          <p:nvPr/>
        </p:nvSpPr>
        <p:spPr>
          <a:xfrm>
            <a:off x="9786486" y="4330293"/>
            <a:ext cx="1689233"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9914502" y="4412589"/>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Filter</a:t>
            </a:r>
          </a:p>
        </p:txBody>
      </p:sp>
      <p:sp>
        <p:nvSpPr>
          <p:cNvPr id="47" name="Rectangle 46"/>
          <p:cNvSpPr/>
          <p:nvPr/>
        </p:nvSpPr>
        <p:spPr>
          <a:xfrm>
            <a:off x="777240" y="4897221"/>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79517"/>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Toleration</a:t>
            </a:r>
          </a:p>
        </p:txBody>
      </p:sp>
      <p:sp>
        <p:nvSpPr>
          <p:cNvPr id="49" name="Rectangle 48"/>
          <p:cNvSpPr/>
          <p:nvPr/>
        </p:nvSpPr>
        <p:spPr>
          <a:xfrm>
            <a:off x="3170321" y="4897221"/>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298337" y="4979517"/>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author</a:t>
            </a:r>
          </a:p>
        </p:txBody>
      </p:sp>
      <p:sp>
        <p:nvSpPr>
          <p:cNvPr id="51" name="Rectangle 50"/>
          <p:cNvSpPr/>
          <p:nvPr/>
        </p:nvSpPr>
        <p:spPr>
          <a:xfrm>
            <a:off x="5563402" y="4897221"/>
            <a:ext cx="4223084" cy="566928"/>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691418" y="4979517"/>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is exempted from a taint — permission, not attraction</a:t>
            </a:r>
          </a:p>
        </p:txBody>
      </p:sp>
      <p:sp>
        <p:nvSpPr>
          <p:cNvPr id="53" name="Rectangle 52"/>
          <p:cNvSpPr/>
          <p:nvPr/>
        </p:nvSpPr>
        <p:spPr>
          <a:xfrm>
            <a:off x="9786486" y="4897221"/>
            <a:ext cx="1689233" cy="566928"/>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9914502" y="4979517"/>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Filter</a:t>
            </a:r>
          </a:p>
        </p:txBody>
      </p:sp>
      <p:sp>
        <p:nvSpPr>
          <p:cNvPr id="55" name="Rectangle 54"/>
          <p:cNvSpPr/>
          <p:nvPr/>
        </p:nvSpPr>
        <p:spPr>
          <a:xfrm>
            <a:off x="777240" y="5464149"/>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56" name="TextBox 55"/>
          <p:cNvSpPr txBox="1"/>
          <p:nvPr/>
        </p:nvSpPr>
        <p:spPr>
          <a:xfrm>
            <a:off x="905256" y="5546445"/>
            <a:ext cx="213704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Topology spread</a:t>
            </a:r>
          </a:p>
        </p:txBody>
      </p:sp>
      <p:sp>
        <p:nvSpPr>
          <p:cNvPr id="57" name="Rectangle 56"/>
          <p:cNvSpPr/>
          <p:nvPr/>
        </p:nvSpPr>
        <p:spPr>
          <a:xfrm>
            <a:off x="3170321" y="5464149"/>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58" name="TextBox 57"/>
          <p:cNvSpPr txBox="1"/>
          <p:nvPr/>
        </p:nvSpPr>
        <p:spPr>
          <a:xfrm>
            <a:off x="3298337" y="5546445"/>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author</a:t>
            </a:r>
          </a:p>
        </p:txBody>
      </p:sp>
      <p:sp>
        <p:nvSpPr>
          <p:cNvPr id="59" name="Rectangle 58"/>
          <p:cNvSpPr/>
          <p:nvPr/>
        </p:nvSpPr>
        <p:spPr>
          <a:xfrm>
            <a:off x="5563402" y="5464149"/>
            <a:ext cx="4223084" cy="566928"/>
          </a:xfrm>
          <a:prstGeom prst="rect">
            <a:avLst/>
          </a:prstGeom>
          <a:solidFill>
            <a:srgbClr val="F6F8FA"/>
          </a:solidFill>
          <a:ln w="9525">
            <a:solidFill>
              <a:srgbClr val="E2E8F0"/>
            </a:solidFill>
          </a:ln>
          <a:effectLst/>
        </p:spPr>
        <p:txBody>
          <a:bodyPr rtlCol="0" anchor="ctr" wrap="square"/>
          <a:lstStyle/>
          <a:p>
            <a:pPr algn="ctr"/>
          </a:p>
        </p:txBody>
      </p:sp>
      <p:sp>
        <p:nvSpPr>
          <p:cNvPr id="60" name="TextBox 59"/>
          <p:cNvSpPr txBox="1"/>
          <p:nvPr/>
        </p:nvSpPr>
        <p:spPr>
          <a:xfrm>
            <a:off x="5691418" y="5546445"/>
            <a:ext cx="396705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Limits skew across zones or nodes; hard or soft by whenUnsatisfiable</a:t>
            </a:r>
          </a:p>
        </p:txBody>
      </p:sp>
      <p:sp>
        <p:nvSpPr>
          <p:cNvPr id="61" name="Rectangle 60"/>
          <p:cNvSpPr/>
          <p:nvPr/>
        </p:nvSpPr>
        <p:spPr>
          <a:xfrm>
            <a:off x="9786486" y="5464149"/>
            <a:ext cx="1689233" cy="566928"/>
          </a:xfrm>
          <a:prstGeom prst="rect">
            <a:avLst/>
          </a:prstGeom>
          <a:solidFill>
            <a:srgbClr val="F6F8FA"/>
          </a:solidFill>
          <a:ln w="9525">
            <a:solidFill>
              <a:srgbClr val="E2E8F0"/>
            </a:solidFill>
          </a:ln>
          <a:effectLst/>
        </p:spPr>
        <p:txBody>
          <a:bodyPr rtlCol="0" anchor="ctr" wrap="square"/>
          <a:lstStyle/>
          <a:p>
            <a:pPr algn="ctr"/>
          </a:p>
        </p:txBody>
      </p:sp>
      <p:sp>
        <p:nvSpPr>
          <p:cNvPr id="62" name="TextBox 61"/>
          <p:cNvSpPr txBox="1"/>
          <p:nvPr/>
        </p:nvSpPr>
        <p:spPr>
          <a:xfrm>
            <a:off x="9914502" y="5546445"/>
            <a:ext cx="143320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Filter or Score</a:t>
            </a:r>
          </a:p>
        </p:txBody>
      </p:sp>
      <p:sp>
        <p:nvSpPr>
          <p:cNvPr id="63" name="TextBox 6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64" name="TextBox 6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5" name="TextBox 6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6" name="TextBox 6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206</a:t>
            </a:r>
          </a:p>
        </p:txBody>
      </p:sp>
    </p:spTree>
  </p:cSld>
  <p:clrMapOvr>
    <a:masterClrMapping/>
  </p:clrMapOvr>
  <p:transition xmlns:ns1="http://schemas.openxmlformats.org/markup-compatibility/2006" spd="fast" ns1:Ignorable="p14">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POD-RELATIVE PLACEMENT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Affinity, Anti-Affinity and topologyKey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Node affinity asks about the machine. Pod affinity asks about the neighbours — and topologyKey defines what 'neighbour' means.</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Match Pods, then generalise to a domain</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labelSelector picks Pods; topologyKey names the node label whose value defines the domain to co-locate within or spread across.</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topologyKey is the whole idea</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kubernetes.io/hostname means per-node. topology.kubernetes.io/zone means per-zone. Same rule, different blast radius.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podAffinity co-locates</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Put the cache in the same zone as the app to cut cross-zone latency and egress cost.</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podAntiAffinity separates</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Required anti-affinity on hostname is the classic 'never two replicas on one node' rule.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expensive at scale</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Evaluating these rules is O(Pods x nodes); the documentation warns against them on clusters of many hundreds of nodes.</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namespaceSelector widens the scope</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By default only Pods in the same namespace are considered; namespaces or namespaceSelector extends the match.</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kubernetes.io/docs/concepts/scheduling-eviction/assign-pod-node/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207</a:t>
            </a:r>
          </a:p>
        </p:txBody>
      </p:sp>
    </p:spTree>
  </p:cSld>
  <p:clrMapOvr>
    <a:masterClrMapping/>
  </p:clrMapOvr>
  <p:transition xmlns:ns1="http://schemas.openxmlformats.org/markup-compatibility/2006" spd="fast" ns1:Ignorable="p14">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Topology Spread Constraints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modern answer to 'spread my replicas out'. It is quantitative where podAntiAffinity is binary.</a:t>
            </a:r>
          </a:p>
        </p:txBody>
      </p:sp>
      <p:sp>
        <p:nvSpPr>
          <p:cNvPr id="7" name="Rectangle 6"/>
          <p:cNvSpPr/>
          <p:nvPr/>
        </p:nvSpPr>
        <p:spPr>
          <a:xfrm>
            <a:off x="777240" y="2200046"/>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topologySpreadConstraints — HA across zones and nodes</a:t>
            </a:r>
          </a:p>
        </p:txBody>
      </p:sp>
      <p:sp>
        <p:nvSpPr>
          <p:cNvPr id="9" name="TextBox 8"/>
          <p:cNvSpPr txBox="1"/>
          <p:nvPr/>
        </p:nvSpPr>
        <p:spPr>
          <a:xfrm>
            <a:off x="923544" y="2620670"/>
            <a:ext cx="6062472" cy="2624327"/>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topologySpreadConstraints:</a:t>
            </a:r>
          </a:p>
          <a:p>
            <a:pPr>
              <a:lnSpc>
                <a:spcPts val="1476"/>
              </a:lnSpc>
              <a:spcAft>
                <a:spcPts val="0"/>
              </a:spcAft>
            </a:pPr>
            <a:r>
              <a:rPr sz="1050">
                <a:solidFill>
                  <a:srgbClr val="E6EDF3"/>
                </a:solidFill>
                <a:latin typeface="Consolas"/>
              </a:rPr>
              <a:t>  - maxSkew: 1</a:t>
            </a:r>
          </a:p>
          <a:p>
            <a:pPr>
              <a:lnSpc>
                <a:spcPts val="1476"/>
              </a:lnSpc>
              <a:spcAft>
                <a:spcPts val="0"/>
              </a:spcAft>
            </a:pPr>
            <a:r>
              <a:rPr sz="1050">
                <a:solidFill>
                  <a:srgbClr val="E6EDF3"/>
                </a:solidFill>
                <a:latin typeface="Consolas"/>
              </a:rPr>
              <a:t>    topologyKey: topology.kubernetes.io/zone</a:t>
            </a:r>
          </a:p>
          <a:p>
            <a:pPr>
              <a:lnSpc>
                <a:spcPts val="1476"/>
              </a:lnSpc>
              <a:spcAft>
                <a:spcPts val="0"/>
              </a:spcAft>
            </a:pPr>
            <a:r>
              <a:rPr sz="1050">
                <a:solidFill>
                  <a:srgbClr val="E6EDF3"/>
                </a:solidFill>
                <a:latin typeface="Consolas"/>
              </a:rPr>
              <a:t>    whenUnsatisfiable: DoNotSchedule</a:t>
            </a:r>
          </a:p>
          <a:p>
            <a:pPr>
              <a:lnSpc>
                <a:spcPts val="1476"/>
              </a:lnSpc>
              <a:spcAft>
                <a:spcPts val="0"/>
              </a:spcAft>
            </a:pPr>
            <a:r>
              <a:rPr sz="1050">
                <a:solidFill>
                  <a:srgbClr val="E6EDF3"/>
                </a:solidFill>
                <a:latin typeface="Consolas"/>
              </a:rPr>
              <a:t>    labelSelector:</a:t>
            </a:r>
          </a:p>
          <a:p>
            <a:pPr>
              <a:lnSpc>
                <a:spcPts val="1476"/>
              </a:lnSpc>
              <a:spcAft>
                <a:spcPts val="0"/>
              </a:spcAft>
            </a:pPr>
            <a:r>
              <a:rPr sz="1050">
                <a:solidFill>
                  <a:srgbClr val="E6EDF3"/>
                </a:solidFill>
                <a:latin typeface="Consolas"/>
              </a:rPr>
              <a:t>      matchLabels:</a:t>
            </a:r>
          </a:p>
          <a:p>
            <a:pPr>
              <a:lnSpc>
                <a:spcPts val="1476"/>
              </a:lnSpc>
              <a:spcAft>
                <a:spcPts val="0"/>
              </a:spcAft>
            </a:pPr>
            <a:r>
              <a:rPr sz="1050">
                <a:solidFill>
                  <a:srgbClr val="E6EDF3"/>
                </a:solidFill>
                <a:latin typeface="Consolas"/>
              </a:rPr>
              <a:t>        app: freight-portal</a:t>
            </a:r>
          </a:p>
          <a:p>
            <a:pPr>
              <a:lnSpc>
                <a:spcPts val="1476"/>
              </a:lnSpc>
              <a:spcAft>
                <a:spcPts val="0"/>
              </a:spcAft>
            </a:pPr>
            <a:r>
              <a:rPr sz="1050">
                <a:solidFill>
                  <a:srgbClr val="E6EDF3"/>
                </a:solidFill>
                <a:latin typeface="Consolas"/>
              </a:rPr>
              <a:t>  - maxSkew: 2</a:t>
            </a:r>
          </a:p>
          <a:p>
            <a:pPr>
              <a:lnSpc>
                <a:spcPts val="1476"/>
              </a:lnSpc>
              <a:spcAft>
                <a:spcPts val="0"/>
              </a:spcAft>
            </a:pPr>
            <a:r>
              <a:rPr sz="1050">
                <a:solidFill>
                  <a:srgbClr val="E6EDF3"/>
                </a:solidFill>
                <a:latin typeface="Consolas"/>
              </a:rPr>
              <a:t>    topologyKey: kubernetes.io/hostname</a:t>
            </a:r>
          </a:p>
          <a:p>
            <a:pPr>
              <a:lnSpc>
                <a:spcPts val="1476"/>
              </a:lnSpc>
              <a:spcAft>
                <a:spcPts val="0"/>
              </a:spcAft>
            </a:pPr>
            <a:r>
              <a:rPr sz="1050">
                <a:solidFill>
                  <a:srgbClr val="E6EDF3"/>
                </a:solidFill>
                <a:latin typeface="Consolas"/>
              </a:rPr>
              <a:t>    whenUnsatisfiable: ScheduleAnyway</a:t>
            </a:r>
          </a:p>
          <a:p>
            <a:pPr>
              <a:lnSpc>
                <a:spcPts val="1476"/>
              </a:lnSpc>
              <a:spcAft>
                <a:spcPts val="0"/>
              </a:spcAft>
            </a:pPr>
            <a:r>
              <a:rPr sz="1050">
                <a:solidFill>
                  <a:srgbClr val="E6EDF3"/>
                </a:solidFill>
                <a:latin typeface="Consolas"/>
              </a:rPr>
              <a:t>    labelSelector:</a:t>
            </a:r>
          </a:p>
          <a:p>
            <a:pPr>
              <a:lnSpc>
                <a:spcPts val="1476"/>
              </a:lnSpc>
              <a:spcAft>
                <a:spcPts val="0"/>
              </a:spcAft>
            </a:pPr>
            <a:r>
              <a:rPr sz="1050">
                <a:solidFill>
                  <a:srgbClr val="E6EDF3"/>
                </a:solidFill>
                <a:latin typeface="Consolas"/>
              </a:rPr>
              <a:t>      matchLabels:</a:t>
            </a:r>
          </a:p>
          <a:p>
            <a:pPr>
              <a:lnSpc>
                <a:spcPts val="1476"/>
              </a:lnSpc>
              <a:spcAft>
                <a:spcPts val="0"/>
              </a:spcAft>
            </a:pPr>
            <a:r>
              <a:rPr sz="1050">
                <a:solidFill>
                  <a:srgbClr val="E6EDF3"/>
                </a:solidFill>
                <a:latin typeface="Consolas"/>
              </a:rPr>
              <a:t>        app: freight-portal</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maxSkew bounds the difference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gap between the most and least populated domain may not exceed this number for the selected Pods.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whenUnsatisfiable picks the stage</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DoNotSchedule makes it a Filter rule — the Pod can go Pending. ScheduleAnyway demotes it to a Score preference.</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constraints are ANDed</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Spread evenly across zones and loosely across nodes at the same time. This is the standard HA shape.</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More precise than anti-affinity</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Anti-affinity is all-or-nothing per domain; spread lets you say 'balanced to within one'.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kubernetes.io/docs/concepts/scheduling-eviction/topology-spread-constraints/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208</a:t>
            </a:r>
          </a:p>
        </p:txBody>
      </p:sp>
    </p:spTree>
  </p:cSld>
  <p:clrMapOvr>
    <a:masterClrMapping/>
  </p:clrMapOvr>
  <p:transition xmlns:ns1="http://schemas.openxmlformats.org/markup-compatibility/2006" spd="fast" ns1:Ignorable="p14">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WHEN THE CLUSTER IS FULL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PriorityClass, Preemption and Scheduling Gates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Priority changes who wins a contested node. Scheduling gates change when the contest happens at all.</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PriorityClass is a cluster-scoped object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maps a name to an integer value. Pods reference it by .spec.priorityClassName; admission stamps .spec.priority.</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globalDefault applies to Pods that name nothing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Only one PriorityClass may set it. Without one, unlabelled Pods get priority 0.</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Preemption evicts lower-priority Pods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a pending high-priority Pod would fit after evicting lower-priority victims, the scheduler removes them and reserves the space.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preemptionPolicy: Never opts out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Pod still enjoys higher scheduling priority in the queue but never causes an eviction.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System classes are reserved</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system-cluster-critical and system-node-critical protect control-plane and node add-ons from eviction.</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Scheduling gates hold a Pod before Filter</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.spec.schedulingGates keeps the Pod SchedulingGated; an external controller clears the list when its precondition is met.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kubernetes.io/docs/concepts/scheduling-eviction/pod-priority-preemption/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209</a:t>
            </a:r>
          </a:p>
        </p:txBody>
      </p:sp>
    </p:spTree>
  </p:cSld>
  <p:clrMapOvr>
    <a:masterClrMapping/>
  </p:clrMapOvr>
  <p:transition xmlns:ns1="http://schemas.openxmlformats.org/markup-compatibility/2006" spd="fast" ns1:Ignorable="p14">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REGISTERED TOPIC ITEM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Scheduling a Pod Without the Scheduler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ways to get a Pod onto a node without the scheduler choosing — and one that only looks like it.</a:t>
            </a:r>
          </a:p>
        </p:txBody>
      </p:sp>
      <p:sp>
        <p:nvSpPr>
          <p:cNvPr id="7" name="Rectangle 6"/>
          <p:cNvSpPr/>
          <p:nvPr/>
        </p:nvSpPr>
        <p:spPr>
          <a:xfrm>
            <a:off x="777240" y="2200046"/>
            <a:ext cx="203135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7753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Route</a:t>
            </a:r>
          </a:p>
        </p:txBody>
      </p:sp>
      <p:sp>
        <p:nvSpPr>
          <p:cNvPr id="9" name="Rectangle 8"/>
          <p:cNvSpPr/>
          <p:nvPr/>
        </p:nvSpPr>
        <p:spPr>
          <a:xfrm>
            <a:off x="2808596" y="2200046"/>
            <a:ext cx="3521018"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36612" y="2300630"/>
            <a:ext cx="326498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How placement happens</a:t>
            </a:r>
          </a:p>
        </p:txBody>
      </p:sp>
      <p:sp>
        <p:nvSpPr>
          <p:cNvPr id="11" name="Rectangle 10"/>
          <p:cNvSpPr/>
          <p:nvPr/>
        </p:nvSpPr>
        <p:spPr>
          <a:xfrm>
            <a:off x="6329615" y="2200046"/>
            <a:ext cx="2437628"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457631" y="2300630"/>
            <a:ext cx="218159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Who owns the Pod object</a:t>
            </a:r>
          </a:p>
        </p:txBody>
      </p:sp>
      <p:sp>
        <p:nvSpPr>
          <p:cNvPr id="13" name="Rectangle 12"/>
          <p:cNvSpPr/>
          <p:nvPr/>
        </p:nvSpPr>
        <p:spPr>
          <a:xfrm>
            <a:off x="8767244" y="2200046"/>
            <a:ext cx="2708475"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895260" y="2300630"/>
            <a:ext cx="245244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Correct use</a:t>
            </a:r>
          </a:p>
        </p:txBody>
      </p:sp>
      <p:sp>
        <p:nvSpPr>
          <p:cNvPr id="15" name="Rectangle 14"/>
          <p:cNvSpPr/>
          <p:nvPr/>
        </p:nvSpPr>
        <p:spPr>
          <a:xfrm>
            <a:off x="777240" y="2620670"/>
            <a:ext cx="2031356"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77532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spec.nodeName set by you</a:t>
            </a:r>
          </a:p>
        </p:txBody>
      </p:sp>
      <p:sp>
        <p:nvSpPr>
          <p:cNvPr id="17" name="Rectangle 16"/>
          <p:cNvSpPr/>
          <p:nvPr/>
        </p:nvSpPr>
        <p:spPr>
          <a:xfrm>
            <a:off x="2808596" y="2620670"/>
            <a:ext cx="3521018"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936612" y="2702966"/>
            <a:ext cx="326498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scheduler is bypassed entirely; the kubelet on that node picks the Pod up from its watch</a:t>
            </a:r>
          </a:p>
        </p:txBody>
      </p:sp>
      <p:sp>
        <p:nvSpPr>
          <p:cNvPr id="19" name="Rectangle 18"/>
          <p:cNvSpPr/>
          <p:nvPr/>
        </p:nvSpPr>
        <p:spPr>
          <a:xfrm>
            <a:off x="6329615" y="2620670"/>
            <a:ext cx="2437628"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457631" y="2702966"/>
            <a:ext cx="218159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 — nothing recreates it</a:t>
            </a:r>
          </a:p>
        </p:txBody>
      </p:sp>
      <p:sp>
        <p:nvSpPr>
          <p:cNvPr id="21" name="Rectangle 20"/>
          <p:cNvSpPr/>
          <p:nvPr/>
        </p:nvSpPr>
        <p:spPr>
          <a:xfrm>
            <a:off x="8767244" y="2620670"/>
            <a:ext cx="2708475"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895260" y="2702966"/>
            <a:ext cx="245244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Debugging a specific node; almost never in production</a:t>
            </a:r>
          </a:p>
        </p:txBody>
      </p:sp>
      <p:sp>
        <p:nvSpPr>
          <p:cNvPr id="23" name="Rectangle 22"/>
          <p:cNvSpPr/>
          <p:nvPr/>
        </p:nvSpPr>
        <p:spPr>
          <a:xfrm>
            <a:off x="777240" y="3187598"/>
            <a:ext cx="2031356"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177532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Static Pod</a:t>
            </a:r>
          </a:p>
        </p:txBody>
      </p:sp>
      <p:sp>
        <p:nvSpPr>
          <p:cNvPr id="25" name="Rectangle 24"/>
          <p:cNvSpPr/>
          <p:nvPr/>
        </p:nvSpPr>
        <p:spPr>
          <a:xfrm>
            <a:off x="2808596" y="3187598"/>
            <a:ext cx="3521018"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936612" y="3269894"/>
            <a:ext cx="326498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kubelet reads a manifest from its configured staticPodPath directory and starts it directly</a:t>
            </a:r>
          </a:p>
        </p:txBody>
      </p:sp>
      <p:sp>
        <p:nvSpPr>
          <p:cNvPr id="27" name="Rectangle 26"/>
          <p:cNvSpPr/>
          <p:nvPr/>
        </p:nvSpPr>
        <p:spPr>
          <a:xfrm>
            <a:off x="6329615" y="3187598"/>
            <a:ext cx="2437628"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457631" y="3269894"/>
            <a:ext cx="218159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kubelet; the API server only holds a mirror Pod</a:t>
            </a:r>
          </a:p>
        </p:txBody>
      </p:sp>
      <p:sp>
        <p:nvSpPr>
          <p:cNvPr id="29" name="Rectangle 28"/>
          <p:cNvSpPr/>
          <p:nvPr/>
        </p:nvSpPr>
        <p:spPr>
          <a:xfrm>
            <a:off x="8767244" y="3187598"/>
            <a:ext cx="2708475"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895260" y="3269894"/>
            <a:ext cx="245244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Bootstrapping the control plane itself, before any API server exists</a:t>
            </a:r>
          </a:p>
        </p:txBody>
      </p:sp>
      <p:sp>
        <p:nvSpPr>
          <p:cNvPr id="31" name="Rectangle 30"/>
          <p:cNvSpPr/>
          <p:nvPr/>
        </p:nvSpPr>
        <p:spPr>
          <a:xfrm>
            <a:off x="777240" y="3754526"/>
            <a:ext cx="2031356"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177532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Custom schedulerName</a:t>
            </a:r>
          </a:p>
        </p:txBody>
      </p:sp>
      <p:sp>
        <p:nvSpPr>
          <p:cNvPr id="33" name="Rectangle 32"/>
          <p:cNvSpPr/>
          <p:nvPr/>
        </p:nvSpPr>
        <p:spPr>
          <a:xfrm>
            <a:off x="2808596" y="3754526"/>
            <a:ext cx="3521018"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936612" y="3836822"/>
            <a:ext cx="326498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different scheduler binary watches for that name and performs the binding</a:t>
            </a:r>
          </a:p>
        </p:txBody>
      </p:sp>
      <p:sp>
        <p:nvSpPr>
          <p:cNvPr id="35" name="Rectangle 34"/>
          <p:cNvSpPr/>
          <p:nvPr/>
        </p:nvSpPr>
        <p:spPr>
          <a:xfrm>
            <a:off x="6329615" y="3754526"/>
            <a:ext cx="2437628"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457631" y="3836822"/>
            <a:ext cx="218159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Your controller</a:t>
            </a:r>
          </a:p>
        </p:txBody>
      </p:sp>
      <p:sp>
        <p:nvSpPr>
          <p:cNvPr id="37" name="Rectangle 36"/>
          <p:cNvSpPr/>
          <p:nvPr/>
        </p:nvSpPr>
        <p:spPr>
          <a:xfrm>
            <a:off x="8767244" y="3754526"/>
            <a:ext cx="2708475"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895260" y="3836822"/>
            <a:ext cx="245244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Batch, gang or hardware-aware scheduling</a:t>
            </a:r>
          </a:p>
        </p:txBody>
      </p:sp>
      <p:sp>
        <p:nvSpPr>
          <p:cNvPr id="39" name="Rectangle 38"/>
          <p:cNvSpPr/>
          <p:nvPr/>
        </p:nvSpPr>
        <p:spPr>
          <a:xfrm>
            <a:off x="777240" y="4321454"/>
            <a:ext cx="2031356"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1775324"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DaemonSet</a:t>
            </a:r>
          </a:p>
        </p:txBody>
      </p:sp>
      <p:sp>
        <p:nvSpPr>
          <p:cNvPr id="41" name="Rectangle 40"/>
          <p:cNvSpPr/>
          <p:nvPr/>
        </p:nvSpPr>
        <p:spPr>
          <a:xfrm>
            <a:off x="2808596" y="4321454"/>
            <a:ext cx="3521018"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936612" y="4403750"/>
            <a:ext cx="326498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Normal scheduling, but the controller creates one Pod per node so placement looks automatic</a:t>
            </a:r>
          </a:p>
        </p:txBody>
      </p:sp>
      <p:sp>
        <p:nvSpPr>
          <p:cNvPr id="43" name="Rectangle 42"/>
          <p:cNvSpPr/>
          <p:nvPr/>
        </p:nvSpPr>
        <p:spPr>
          <a:xfrm>
            <a:off x="6329615" y="4321454"/>
            <a:ext cx="2437628"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457631" y="4403750"/>
            <a:ext cx="218159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DaemonSet controller</a:t>
            </a:r>
          </a:p>
        </p:txBody>
      </p:sp>
      <p:sp>
        <p:nvSpPr>
          <p:cNvPr id="45" name="Rectangle 44"/>
          <p:cNvSpPr/>
          <p:nvPr/>
        </p:nvSpPr>
        <p:spPr>
          <a:xfrm>
            <a:off x="8767244" y="4321454"/>
            <a:ext cx="2708475"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895260" y="4403750"/>
            <a:ext cx="2452443"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supported way to get a Pod on every node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kubernetes.io/docs/tasks/configure-pod-container/static-pod/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210</a:t>
            </a:r>
          </a:p>
        </p:txBody>
      </p:sp>
    </p:spTree>
  </p:cSld>
  <p:clrMapOvr>
    <a:masterClrMapping/>
  </p:clrMapOvr>
  <p:transition xmlns:ns1="http://schemas.openxmlformats.org/markup-compatibility/2006" spd="fast" ns1:Ignorable="p14">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 Taints and Labels Before Placement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Diagnose placement from the node side first. Two commands here explain both Pending Pods in this module.</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09 — captured on the isolated kind cluster</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describe node kind-control-plane | head</a:t>
            </a:r>
          </a:p>
          <a:p>
            <a:pPr>
              <a:lnSpc>
                <a:spcPts val="1476"/>
              </a:lnSpc>
              <a:spcAft>
                <a:spcPts val="0"/>
              </a:spcAft>
            </a:pPr>
            <a:r>
              <a:rPr sz="1000">
                <a:solidFill>
                  <a:srgbClr val="E6EDF3"/>
                </a:solidFill>
                <a:latin typeface="Consolas"/>
              </a:rPr>
              <a:t>Labels:  kubernetes.io/arch=arm64</a:t>
            </a:r>
          </a:p>
          <a:p>
            <a:pPr>
              <a:lnSpc>
                <a:spcPts val="1476"/>
              </a:lnSpc>
              <a:spcAft>
                <a:spcPts val="0"/>
              </a:spcAft>
            </a:pPr>
            <a:r>
              <a:rPr sz="1000">
                <a:solidFill>
                  <a:srgbClr val="E6EDF3"/>
                </a:solidFill>
                <a:latin typeface="Consolas"/>
              </a:rPr>
              <a:t>         kubernetes.io/hostname=kind-control-plane</a:t>
            </a:r>
          </a:p>
          <a:p>
            <a:pPr>
              <a:lnSpc>
                <a:spcPts val="1476"/>
              </a:lnSpc>
              <a:spcAft>
                <a:spcPts val="0"/>
              </a:spcAft>
            </a:pPr>
            <a:r>
              <a:rPr sz="1000">
                <a:solidFill>
                  <a:srgbClr val="E6EDF3"/>
                </a:solidFill>
                <a:latin typeface="Consolas"/>
              </a:rPr>
              <a:t>         kubernetes.io/os=linux</a:t>
            </a:r>
          </a:p>
          <a:p>
            <a:pPr>
              <a:lnSpc>
                <a:spcPts val="1476"/>
              </a:lnSpc>
              <a:spcAft>
                <a:spcPts val="0"/>
              </a:spcAft>
            </a:pPr>
            <a:r>
              <a:rPr sz="1000">
                <a:solidFill>
                  <a:srgbClr val="E6EDF3"/>
                </a:solidFill>
                <a:latin typeface="Consolas"/>
              </a:rPr>
              <a:t>         mfs.io/disk=ssd</a:t>
            </a:r>
          </a:p>
          <a:p>
            <a:pPr>
              <a:lnSpc>
                <a:spcPts val="1476"/>
              </a:lnSpc>
              <a:spcAft>
                <a:spcPts val="0"/>
              </a:spcAft>
            </a:pPr>
            <a:r>
              <a:rPr sz="1000">
                <a:solidFill>
                  <a:srgbClr val="E6EDF3"/>
                </a:solidFill>
                <a:latin typeface="Consolas"/>
              </a:rPr>
              <a:t>         mfs.io/zone=sg-harbourfront</a:t>
            </a:r>
          </a:p>
          <a:p>
            <a:pPr>
              <a:lnSpc>
                <a:spcPts val="1476"/>
              </a:lnSpc>
              <a:spcAft>
                <a:spcPts val="0"/>
              </a:spcAft>
            </a:pPr>
            <a:r>
              <a:rPr sz="1000">
                <a:solidFill>
                  <a:srgbClr val="E6EDF3"/>
                </a:solidFill>
                <a:latin typeface="Consolas"/>
              </a:rPr>
              <a:t>Taints:  mfs.io/maintenance=window:NoSchedule</a:t>
            </a:r>
          </a:p>
          <a:p>
            <a:pPr>
              <a:lnSpc>
                <a:spcPts val="1476"/>
              </a:lnSpc>
              <a:spcAft>
                <a:spcPts val="0"/>
              </a:spcAft>
            </a:pPr>
            <a:r>
              <a:rPr sz="1000">
                <a:solidFill>
                  <a:srgbClr val="E6EDF3"/>
                </a:solidFill>
                <a:latin typeface="Consolas"/>
              </a:rPr>
              <a:t>Unschedulable:  false</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nodes -l mfs.io/hardware=gpu-a100</a:t>
            </a:r>
          </a:p>
          <a:p>
            <a:pPr>
              <a:lnSpc>
                <a:spcPts val="1476"/>
              </a:lnSpc>
              <a:spcAft>
                <a:spcPts val="0"/>
              </a:spcAft>
            </a:pPr>
            <a:r>
              <a:rPr sz="1000">
                <a:solidFill>
                  <a:srgbClr val="E6EDF3"/>
                </a:solidFill>
                <a:latin typeface="Consolas"/>
              </a:rPr>
              <a:t>No resources found</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 crane-controller -n kcna-lab09 \</a:t>
            </a:r>
          </a:p>
          <a:p>
            <a:pPr>
              <a:lnSpc>
                <a:spcPts val="1476"/>
              </a:lnSpc>
              <a:spcAft>
                <a:spcPts val="0"/>
              </a:spcAft>
            </a:pPr>
            <a:r>
              <a:rPr sz="1000">
                <a:solidFill>
                  <a:srgbClr val="E6EDF3"/>
                </a:solidFill>
                <a:latin typeface="Consolas"/>
              </a:rPr>
              <a:t>    -o jsonpath='{.spec.nodeName}'</a:t>
            </a:r>
          </a:p>
          <a:p>
            <a:pPr>
              <a:lnSpc>
                <a:spcPts val="1476"/>
              </a:lnSpc>
              <a:spcAft>
                <a:spcPts val="0"/>
              </a:spcAft>
            </a:pPr>
            <a:r>
              <a:rPr sz="1000">
                <a:solidFill>
                  <a:srgbClr val="E6EDF3"/>
                </a:solidFill>
                <a:latin typeface="Consolas"/>
              </a:rPr>
              <a:t>kind-control-plane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Labels are the affinity surface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mfs.io/disk and mfs.io/zone were applied by hand in Lab 09; the kubernetes.io/* ones are set by the kubelet.</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Taints is a separate field from Labels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taint is not a label. Selectors cannot see taints and tolerations cannot see labels.</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 resources found is a real answer</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proves the gpu-a100 requirement is unsatisfiable rather than merely slow.</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Unschedulable: false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This is what kubectl cordon flips. A cordoned node also gains the unschedulable taint automatically.</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211</a:t>
            </a:r>
          </a:p>
        </p:txBody>
      </p:sp>
    </p:spTree>
  </p:cSld>
  <p:clrMapOvr>
    <a:masterClrMapping/>
  </p:clrMapOvr>
  <p:transition xmlns:ns1="http://schemas.openxmlformats.org/markup-compatibility/2006" spd="fast" ns1:Ignorable="p14">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500" b="1" i="0">
                <a:solidFill>
                  <a:srgbClr val="161B26"/>
                </a:solidFill>
                <a:latin typeface="Arial"/>
              </a:rPr>
              <a:t>Lab 09 — Scheduling: nodeSelector, Affinity, Taints and Tolerations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Create the placement conditions yourself on a single-node kind cluster - label the node, taint it, untaint it - and prove how nodeSelector, required vs preferred nodeAffinity and tolerations decide where a Pod lands, including one Pod left Pending forever.</a:t>
            </a:r>
          </a:p>
        </p:txBody>
      </p:sp>
      <p:sp>
        <p:nvSpPr>
          <p:cNvPr id="10" name="Rectangle 9"/>
          <p:cNvSpPr/>
          <p:nvPr/>
        </p:nvSpPr>
        <p:spPr>
          <a:xfrm>
            <a:off x="777240"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node labelled from data/node-placement-policy.csv and temporarily tainted mfs.io/maintenance=window:NoSchedule</a:t>
            </a:r>
          </a:p>
          <a:p>
            <a:pPr>
              <a:lnSpc>
                <a:spcPct val="112000"/>
              </a:lnSpc>
              <a:spcAft>
                <a:spcPts val="500"/>
              </a:spcAft>
            </a:pPr>
            <a:r>
              <a:rPr sz="1050">
                <a:solidFill>
                  <a:srgbClr val="94A3B8"/>
                </a:solidFill>
                <a:latin typeface="Arial"/>
              </a:rPr>
              <a:t>•  </a:t>
            </a:r>
            <a:r>
              <a:rPr sz="1050">
                <a:solidFill>
                  <a:srgbClr val="5B6372"/>
                </a:solidFill>
                <a:latin typeface="Arial"/>
              </a:rPr>
              <a:t>Four Pods placed by nodeSelector, required affinity, preferred affinity and a toleration</a:t>
            </a:r>
          </a:p>
          <a:p>
            <a:pPr>
              <a:lnSpc>
                <a:spcPct val="112000"/>
              </a:lnSpc>
              <a:spcAft>
                <a:spcPts val="500"/>
              </a:spcAft>
            </a:pPr>
            <a:r>
              <a:rPr sz="1050">
                <a:solidFill>
                  <a:srgbClr val="94A3B8"/>
                </a:solidFill>
                <a:latin typeface="Arial"/>
              </a:rPr>
              <a:t>•  </a:t>
            </a:r>
            <a:r>
              <a:rPr sz="1050">
                <a:solidFill>
                  <a:srgbClr val="5B6372"/>
                </a:solidFill>
                <a:latin typeface="Arial"/>
              </a:rPr>
              <a:t>Two Pods stuck Pending with readable FailedScheduling events: one unsatisfiable affinity, one missing toleration</a:t>
            </a:r>
          </a:p>
        </p:txBody>
      </p:sp>
      <p:sp>
        <p:nvSpPr>
          <p:cNvPr id="14" name="Rectangle 13"/>
          <p:cNvSpPr/>
          <p:nvPr/>
        </p:nvSpPr>
        <p:spPr>
          <a:xfrm>
            <a:off x="6276441"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Scheduling is filter-then-score: hard constraints eliminate nodes, soft preferences only rank them</a:t>
            </a:r>
          </a:p>
          <a:p>
            <a:pPr>
              <a:lnSpc>
                <a:spcPct val="112000"/>
              </a:lnSpc>
              <a:spcAft>
                <a:spcPts val="500"/>
              </a:spcAft>
            </a:pPr>
            <a:r>
              <a:rPr sz="1050">
                <a:solidFill>
                  <a:srgbClr val="94A3B8"/>
                </a:solidFill>
                <a:latin typeface="Arial"/>
              </a:rPr>
              <a:t>•  </a:t>
            </a:r>
            <a:r>
              <a:rPr sz="1050">
                <a:solidFill>
                  <a:srgbClr val="5B6372"/>
                </a:solidFill>
                <a:latin typeface="Arial"/>
              </a:rPr>
              <a:t>requiredDuringScheduling blocks placement; preferredDuringScheduling only lowers a node's score</a:t>
            </a:r>
          </a:p>
          <a:p>
            <a:pPr>
              <a:lnSpc>
                <a:spcPct val="112000"/>
              </a:lnSpc>
              <a:spcAft>
                <a:spcPts val="500"/>
              </a:spcAft>
            </a:pPr>
            <a:r>
              <a:rPr sz="1050">
                <a:solidFill>
                  <a:srgbClr val="94A3B8"/>
                </a:solidFill>
                <a:latin typeface="Arial"/>
              </a:rPr>
              <a:t>•  </a:t>
            </a:r>
            <a:r>
              <a:rPr sz="1050">
                <a:solidFill>
                  <a:srgbClr val="5B6372"/>
                </a:solidFill>
                <a:latin typeface="Arial"/>
              </a:rPr>
              <a:t>Taints repel, tolerations permit - a toleration never attracts a Pod to a node</a:t>
            </a:r>
          </a:p>
          <a:p>
            <a:pPr>
              <a:lnSpc>
                <a:spcPct val="112000"/>
              </a:lnSpc>
              <a:spcAft>
                <a:spcPts val="500"/>
              </a:spcAft>
            </a:pPr>
            <a:r>
              <a:rPr sz="1050">
                <a:solidFill>
                  <a:srgbClr val="94A3B8"/>
                </a:solidFill>
                <a:latin typeface="Arial"/>
              </a:rPr>
              <a:t>•  </a:t>
            </a:r>
            <a:r>
              <a:rPr sz="1050">
                <a:solidFill>
                  <a:srgbClr val="5B6372"/>
                </a:solidFill>
                <a:latin typeface="Arial"/>
              </a:rPr>
              <a:t>FailedScheduling events name the exact predicate that rejected each node</a:t>
            </a:r>
          </a:p>
        </p:txBody>
      </p:sp>
      <p:sp>
        <p:nvSpPr>
          <p:cNvPr id="18" name="Rectangle 17"/>
          <p:cNvSpPr/>
          <p:nvPr/>
        </p:nvSpPr>
        <p:spPr>
          <a:xfrm>
            <a:off x="777240"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54219"/>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18227"/>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09</a:t>
            </a:r>
          </a:p>
        </p:txBody>
      </p:sp>
      <p:sp>
        <p:nvSpPr>
          <p:cNvPr id="22" name="Rectangle 21"/>
          <p:cNvSpPr/>
          <p:nvPr/>
        </p:nvSpPr>
        <p:spPr>
          <a:xfrm>
            <a:off x="3488436"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54219"/>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18227"/>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kcna-lab09</a:t>
            </a:r>
          </a:p>
        </p:txBody>
      </p:sp>
      <p:sp>
        <p:nvSpPr>
          <p:cNvPr id="26" name="Rectangle 25"/>
          <p:cNvSpPr/>
          <p:nvPr/>
        </p:nvSpPr>
        <p:spPr>
          <a:xfrm>
            <a:off x="6199631"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54219"/>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18227"/>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LO2 · A3 · K3</a:t>
            </a:r>
          </a:p>
        </p:txBody>
      </p:sp>
      <p:sp>
        <p:nvSpPr>
          <p:cNvPr id="30" name="Rectangle 29"/>
          <p:cNvSpPr/>
          <p:nvPr/>
        </p:nvSpPr>
        <p:spPr>
          <a:xfrm>
            <a:off x="8910828"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54219"/>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18227"/>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5594299"/>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courseware/labs/lab-09-scheduling-affinity-taints/README.md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212</a:t>
            </a:r>
          </a:p>
        </p:txBody>
      </p:sp>
    </p:spTree>
  </p:cSld>
  <p:clrMapOvr>
    <a:masterClrMapping/>
  </p:clrMapOvr>
  <p:transition xmlns:ns1="http://schemas.openxmlformats.org/markup-compatibility/2006" spd="fast" ns1:Ignorable="p14">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Afternoon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3:50 – 4:00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213</a:t>
            </a:r>
          </a:p>
        </p:txBody>
      </p:sp>
    </p:spTree>
  </p:cSld>
  <p:clrMapOvr>
    <a:masterClrMapping/>
  </p:clrMapOvr>
  <p:transition xmlns:ns1="http://schemas.openxmlformats.org/markup-compatibility/2006" spd="fast" ns1:Ignorable="p14">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12</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2 · WORKLOADS &amp; SCHEDULING</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Resource Limits, QoS and Autoscaling</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Requests are a scheduling promise. Limits are a runtime ceiling. They are enforced by different components, at different times, with different consequences.</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214</a:t>
            </a:r>
          </a:p>
        </p:txBody>
      </p:sp>
    </p:spTree>
  </p:cSld>
  <p:clrMapOvr>
    <a:masterClrMapping/>
  </p:clrMapOvr>
  <p:transition xmlns:ns1="http://schemas.openxmlformats.org/markup-compatibility/2006" spd="med" ns1:Ignorable="p14">
    <p:push dir="l"/>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TWO NUMBERS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requests and limits Actually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fields, two enforcement points: the scheduler at admission time, the kubelet for the container's whole life.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requests is the scheduler's input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Filter stage sums the requests of all Pods on a node and checks the new Pod still fits inside Allocatable. Nothing else uses it for placement.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requests is also a floor at runtime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CPU request becomes the container's cgroup share weight, so under contention it receives at least its proportion.</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limits is the kubelet's runtime ceiling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Enforced by the container runtime through cgroups. The scheduler never looks at limits when placing a Pod.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Set on the container, not the Pod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Pod's effective request is the sum across its regular containers, compared against the largest single init container — not a plain total of everything.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Units are exact and easy to get wrong</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CPU: 1 = 1000m = one core-second per second. Memory: Mi is 2^20 bytes, M is 10^6 bytes. They are not the same number.</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Omitting requests is a decision</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container with no request may be scheduled anywhere and is the first candidate for eviction under node pressure.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kubernetes.io/docs/concepts/configuration/manage-resources-containers/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215</a:t>
            </a:r>
          </a:p>
        </p:txBody>
      </p:sp>
    </p:spTree>
  </p:cSld>
  <p:clrMapOvr>
    <a:masterClrMapping/>
  </p:clrMapOvr>
  <p:transition xmlns:ns1="http://schemas.openxmlformats.org/markup-compatibility/2006" spd="fast" ns1:Ignorable="p14">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Resources Block,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pair together. The request buys you a place; the limit is where the kernel stops you.</a:t>
            </a:r>
          </a:p>
        </p:txBody>
      </p:sp>
      <p:sp>
        <p:nvSpPr>
          <p:cNvPr id="7" name="Rectangle 6"/>
          <p:cNvSpPr/>
          <p:nvPr/>
        </p:nvSpPr>
        <p:spPr>
          <a:xfrm>
            <a:off x="777240" y="2200046"/>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labs/lab-10/manifests/11-pod-qos-burstable.yaml</a:t>
            </a:r>
          </a:p>
        </p:txBody>
      </p:sp>
      <p:sp>
        <p:nvSpPr>
          <p:cNvPr id="9" name="TextBox 8"/>
          <p:cNvSpPr txBox="1"/>
          <p:nvPr/>
        </p:nvSpPr>
        <p:spPr>
          <a:xfrm>
            <a:off x="923544" y="2620670"/>
            <a:ext cx="6062472" cy="2624327"/>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containers:</a:t>
            </a:r>
          </a:p>
          <a:p>
            <a:pPr>
              <a:lnSpc>
                <a:spcPts val="1476"/>
              </a:lnSpc>
              <a:spcAft>
                <a:spcPts val="0"/>
              </a:spcAft>
            </a:pPr>
            <a:r>
              <a:rPr sz="1050">
                <a:solidFill>
                  <a:srgbClr val="E6EDF3"/>
                </a:solidFill>
                <a:latin typeface="Consolas"/>
              </a:rPr>
              <a:t>  - name: rate-quoter</a:t>
            </a:r>
          </a:p>
          <a:p>
            <a:pPr>
              <a:lnSpc>
                <a:spcPts val="1476"/>
              </a:lnSpc>
              <a:spcAft>
                <a:spcPts val="0"/>
              </a:spcAft>
            </a:pPr>
            <a:r>
              <a:rPr sz="1050">
                <a:solidFill>
                  <a:srgbClr val="E6EDF3"/>
                </a:solidFill>
                <a:latin typeface="Consolas"/>
              </a:rPr>
              <a:t>    image: nginx:1.27-alpine</a:t>
            </a:r>
          </a:p>
          <a:p>
            <a:pPr>
              <a:lnSpc>
                <a:spcPts val="1476"/>
              </a:lnSpc>
              <a:spcAft>
                <a:spcPts val="0"/>
              </a:spcAft>
            </a:pPr>
            <a:r>
              <a:rPr sz="1050">
                <a:solidFill>
                  <a:srgbClr val="E6EDF3"/>
                </a:solidFill>
                <a:latin typeface="Consolas"/>
              </a:rPr>
              <a:t>    resources:</a:t>
            </a:r>
          </a:p>
          <a:p>
            <a:pPr>
              <a:lnSpc>
                <a:spcPts val="1476"/>
              </a:lnSpc>
              <a:spcAft>
                <a:spcPts val="0"/>
              </a:spcAft>
            </a:pPr>
            <a:r>
              <a:rPr sz="1050">
                <a:solidFill>
                  <a:srgbClr val="E6EDF3"/>
                </a:solidFill>
                <a:latin typeface="Consolas"/>
              </a:rPr>
              <a:t>      requests:</a:t>
            </a:r>
          </a:p>
          <a:p>
            <a:pPr>
              <a:lnSpc>
                <a:spcPts val="1476"/>
              </a:lnSpc>
              <a:spcAft>
                <a:spcPts val="0"/>
              </a:spcAft>
            </a:pPr>
            <a:r>
              <a:rPr sz="1050">
                <a:solidFill>
                  <a:srgbClr val="E6EDF3"/>
                </a:solidFill>
                <a:latin typeface="Consolas"/>
              </a:rPr>
              <a:t>        cpu: 50m</a:t>
            </a:r>
          </a:p>
          <a:p>
            <a:pPr>
              <a:lnSpc>
                <a:spcPts val="1476"/>
              </a:lnSpc>
              <a:spcAft>
                <a:spcPts val="0"/>
              </a:spcAft>
            </a:pPr>
            <a:r>
              <a:rPr sz="1050">
                <a:solidFill>
                  <a:srgbClr val="E6EDF3"/>
                </a:solidFill>
                <a:latin typeface="Consolas"/>
              </a:rPr>
              <a:t>        memory: 64Mi</a:t>
            </a:r>
          </a:p>
          <a:p>
            <a:pPr>
              <a:lnSpc>
                <a:spcPts val="1476"/>
              </a:lnSpc>
              <a:spcAft>
                <a:spcPts val="0"/>
              </a:spcAft>
            </a:pPr>
            <a:r>
              <a:rPr sz="1050">
                <a:solidFill>
                  <a:srgbClr val="E6EDF3"/>
                </a:solidFill>
                <a:latin typeface="Consolas"/>
              </a:rPr>
              <a:t>      limits:</a:t>
            </a:r>
          </a:p>
          <a:p>
            <a:pPr>
              <a:lnSpc>
                <a:spcPts val="1476"/>
              </a:lnSpc>
              <a:spcAft>
                <a:spcPts val="0"/>
              </a:spcAft>
            </a:pPr>
            <a:r>
              <a:rPr sz="1050">
                <a:solidFill>
                  <a:srgbClr val="E6EDF3"/>
                </a:solidFill>
                <a:latin typeface="Consolas"/>
              </a:rPr>
              <a:t>        cpu: 200m</a:t>
            </a:r>
          </a:p>
          <a:p>
            <a:pPr>
              <a:lnSpc>
                <a:spcPts val="1476"/>
              </a:lnSpc>
              <a:spcAft>
                <a:spcPts val="0"/>
              </a:spcAft>
            </a:pPr>
            <a:r>
              <a:rPr sz="1050">
                <a:solidFill>
                  <a:srgbClr val="E6EDF3"/>
                </a:solidFill>
                <a:latin typeface="Consolas"/>
              </a:rPr>
              <a:t>        memory: 192Mi</a:t>
            </a:r>
          </a:p>
          <a:p>
            <a:pPr>
              <a:lnSpc>
                <a:spcPts val="1476"/>
              </a:lnSpc>
              <a:spcAft>
                <a:spcPts val="0"/>
              </a:spcAft>
            </a:pPr>
            <a:r>
              <a:rPr sz="1050">
                <a:solidFill>
                  <a:srgbClr val="7D8A99"/>
                </a:solidFill>
                <a:latin typeface="Consolas"/>
              </a:rPr>
              <a:t># QoS class computed by the kubelet: Burstable</a:t>
            </a:r>
          </a:p>
          <a:p>
            <a:pPr>
              <a:lnSpc>
                <a:spcPts val="1476"/>
              </a:lnSpc>
              <a:spcAft>
                <a:spcPts val="0"/>
              </a:spcAft>
            </a:pPr>
            <a:r>
              <a:rPr sz="1050">
                <a:solidFill>
                  <a:srgbClr val="7D8A99"/>
                </a:solidFill>
                <a:latin typeface="Consolas"/>
              </a:rPr>
              <a:t># scheduler reserves 50m / 64Mi on the node</a:t>
            </a:r>
          </a:p>
          <a:p>
            <a:pPr>
              <a:lnSpc>
                <a:spcPts val="1476"/>
              </a:lnSpc>
              <a:spcAft>
                <a:spcPts val="0"/>
              </a:spcAft>
            </a:pPr>
            <a:r>
              <a:rPr sz="1050">
                <a:solidFill>
                  <a:srgbClr val="7D8A99"/>
                </a:solidFill>
                <a:latin typeface="Consolas"/>
              </a:rPr>
              <a:t># cgroup ceiling is 200m CPU / 192Mi memory</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50m reserves one twentieth of a core</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That is what the scheduler subtracts from the node's Allocatable. The other 150m of headroom is not reserved for anybody.</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gap between request and limit is the burst</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best-effort capacity: available if the node is quiet, throttled away if it is busy.</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Requests below limits means Burstable</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Any container where the two differ, or where only one is set, puts the whole Pod in the Burstable class.</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Overcommitment is the point</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cluster where every Pod could simultaneously hit its limits is a cluster you have hugely overpaid for.</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kubernetes.io/docs/concepts/configuration/manage-resources-containers/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216</a:t>
            </a:r>
          </a:p>
        </p:txBody>
      </p:sp>
    </p:spTree>
  </p:cSld>
  <p:clrMapOvr>
    <a:masterClrMapping/>
  </p:clrMapOvr>
  <p:transition xmlns:ns1="http://schemas.openxmlformats.org/markup-compatibility/2006" spd="fast" ns1:Ignorable="p14">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ASYMMETRY THAT CATCHES EVERYONE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CPU Throttling vs Memory OOMKill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single distinction explains most production resource incidents, and it is a reliable exam topic.</a:t>
            </a:r>
          </a:p>
        </p:txBody>
      </p:sp>
      <p:sp>
        <p:nvSpPr>
          <p:cNvPr id="7" name="Rectangle 6"/>
          <p:cNvSpPr/>
          <p:nvPr/>
        </p:nvSpPr>
        <p:spPr>
          <a:xfrm>
            <a:off x="777240" y="2200046"/>
            <a:ext cx="2269374"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01334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3046614" y="2200046"/>
            <a:ext cx="4052454"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174630" y="2300630"/>
            <a:ext cx="379642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CPU — compressible</a:t>
            </a:r>
          </a:p>
        </p:txBody>
      </p:sp>
      <p:sp>
        <p:nvSpPr>
          <p:cNvPr id="11" name="Rectangle 10"/>
          <p:cNvSpPr/>
          <p:nvPr/>
        </p:nvSpPr>
        <p:spPr>
          <a:xfrm>
            <a:off x="7099069" y="2200046"/>
            <a:ext cx="437665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227085" y="2300630"/>
            <a:ext cx="412061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Memory — incompressible</a:t>
            </a:r>
          </a:p>
        </p:txBody>
      </p:sp>
      <p:sp>
        <p:nvSpPr>
          <p:cNvPr id="13" name="Rectangle 12"/>
          <p:cNvSpPr/>
          <p:nvPr/>
        </p:nvSpPr>
        <p:spPr>
          <a:xfrm>
            <a:off x="777240" y="2620670"/>
            <a:ext cx="2269374"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01334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the limit does</a:t>
            </a:r>
          </a:p>
        </p:txBody>
      </p:sp>
      <p:sp>
        <p:nvSpPr>
          <p:cNvPr id="15" name="Rectangle 14"/>
          <p:cNvSpPr/>
          <p:nvPr/>
        </p:nvSpPr>
        <p:spPr>
          <a:xfrm>
            <a:off x="3046614" y="2620670"/>
            <a:ext cx="4052454"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174630" y="2702966"/>
            <a:ext cx="379642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Caps the cgroup CPU quota per 100 ms period</a:t>
            </a:r>
          </a:p>
        </p:txBody>
      </p:sp>
      <p:sp>
        <p:nvSpPr>
          <p:cNvPr id="17" name="Rectangle 16"/>
          <p:cNvSpPr/>
          <p:nvPr/>
        </p:nvSpPr>
        <p:spPr>
          <a:xfrm>
            <a:off x="7099069" y="2620670"/>
            <a:ext cx="437665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227085" y="2702966"/>
            <a:ext cx="4120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Caps the cgroup memory ceiling in bytes</a:t>
            </a:r>
          </a:p>
        </p:txBody>
      </p:sp>
      <p:sp>
        <p:nvSpPr>
          <p:cNvPr id="19" name="Rectangle 18"/>
          <p:cNvSpPr/>
          <p:nvPr/>
        </p:nvSpPr>
        <p:spPr>
          <a:xfrm>
            <a:off x="777240" y="3171870"/>
            <a:ext cx="2269374"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01334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On exceeding it</a:t>
            </a:r>
          </a:p>
        </p:txBody>
      </p:sp>
      <p:sp>
        <p:nvSpPr>
          <p:cNvPr id="21" name="Rectangle 20"/>
          <p:cNvSpPr/>
          <p:nvPr/>
        </p:nvSpPr>
        <p:spPr>
          <a:xfrm>
            <a:off x="3046614" y="3171870"/>
            <a:ext cx="4052454"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174630" y="3254166"/>
            <a:ext cx="379642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container is throttled: it waits and runs slower</a:t>
            </a:r>
          </a:p>
        </p:txBody>
      </p:sp>
      <p:sp>
        <p:nvSpPr>
          <p:cNvPr id="23" name="Rectangle 22"/>
          <p:cNvSpPr/>
          <p:nvPr/>
        </p:nvSpPr>
        <p:spPr>
          <a:xfrm>
            <a:off x="7099069" y="3171870"/>
            <a:ext cx="437665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227085" y="3254166"/>
            <a:ext cx="4120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kernel OOM killer terminates the process</a:t>
            </a:r>
          </a:p>
        </p:txBody>
      </p:sp>
      <p:sp>
        <p:nvSpPr>
          <p:cNvPr id="25" name="Rectangle 24"/>
          <p:cNvSpPr/>
          <p:nvPr/>
        </p:nvSpPr>
        <p:spPr>
          <a:xfrm>
            <a:off x="777240" y="3723071"/>
            <a:ext cx="2269374"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01334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Visibility</a:t>
            </a:r>
          </a:p>
        </p:txBody>
      </p:sp>
      <p:sp>
        <p:nvSpPr>
          <p:cNvPr id="27" name="Rectangle 26"/>
          <p:cNvSpPr/>
          <p:nvPr/>
        </p:nvSpPr>
        <p:spPr>
          <a:xfrm>
            <a:off x="3046614" y="3723071"/>
            <a:ext cx="4052454"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174630" y="3805367"/>
            <a:ext cx="379642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container_cpu_cfs_throttled_seconds_total — a metric you must go looking for</a:t>
            </a:r>
          </a:p>
        </p:txBody>
      </p:sp>
      <p:sp>
        <p:nvSpPr>
          <p:cNvPr id="29" name="Rectangle 28"/>
          <p:cNvSpPr/>
          <p:nvPr/>
        </p:nvSpPr>
        <p:spPr>
          <a:xfrm>
            <a:off x="7099069" y="3723071"/>
            <a:ext cx="437665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227085" y="3805367"/>
            <a:ext cx="4120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State Terminated, Reason OOMKilled, Exit Code 137 — impossible to miss</a:t>
            </a:r>
          </a:p>
        </p:txBody>
      </p:sp>
      <p:sp>
        <p:nvSpPr>
          <p:cNvPr id="31" name="Rectangle 30"/>
          <p:cNvSpPr/>
          <p:nvPr/>
        </p:nvSpPr>
        <p:spPr>
          <a:xfrm>
            <a:off x="777240" y="4274271"/>
            <a:ext cx="2269374"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01334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User experience</a:t>
            </a:r>
          </a:p>
        </p:txBody>
      </p:sp>
      <p:sp>
        <p:nvSpPr>
          <p:cNvPr id="33" name="Rectangle 32"/>
          <p:cNvSpPr/>
          <p:nvPr/>
        </p:nvSpPr>
        <p:spPr>
          <a:xfrm>
            <a:off x="3046614" y="4274271"/>
            <a:ext cx="4052454"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174630" y="4356567"/>
            <a:ext cx="379642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Latency rises; requests time out; nothing crashes</a:t>
            </a:r>
          </a:p>
        </p:txBody>
      </p:sp>
      <p:sp>
        <p:nvSpPr>
          <p:cNvPr id="35" name="Rectangle 34"/>
          <p:cNvSpPr/>
          <p:nvPr/>
        </p:nvSpPr>
        <p:spPr>
          <a:xfrm>
            <a:off x="7099069" y="4274271"/>
            <a:ext cx="437665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227085" y="4356567"/>
            <a:ext cx="4120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Abrupt restart, in-flight work lost</a:t>
            </a:r>
          </a:p>
        </p:txBody>
      </p:sp>
      <p:sp>
        <p:nvSpPr>
          <p:cNvPr id="37" name="Rectangle 36"/>
          <p:cNvSpPr/>
          <p:nvPr/>
        </p:nvSpPr>
        <p:spPr>
          <a:xfrm>
            <a:off x="777240" y="4825471"/>
            <a:ext cx="2269374"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013342"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Practical guidance</a:t>
            </a:r>
          </a:p>
        </p:txBody>
      </p:sp>
      <p:sp>
        <p:nvSpPr>
          <p:cNvPr id="39" name="Rectangle 38"/>
          <p:cNvSpPr/>
          <p:nvPr/>
        </p:nvSpPr>
        <p:spPr>
          <a:xfrm>
            <a:off x="3046614" y="4825471"/>
            <a:ext cx="4052454"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174630" y="4907767"/>
            <a:ext cx="379642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tight CPU limit is a silent latency bug — many teams set requests and omit CPU limits</a:t>
            </a:r>
          </a:p>
        </p:txBody>
      </p:sp>
      <p:sp>
        <p:nvSpPr>
          <p:cNvPr id="41" name="Rectangle 40"/>
          <p:cNvSpPr/>
          <p:nvPr/>
        </p:nvSpPr>
        <p:spPr>
          <a:xfrm>
            <a:off x="7099069" y="4825471"/>
            <a:ext cx="437665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227085" y="4907767"/>
            <a:ext cx="4120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Always set a memory limit; without one a leak takes the whole node down</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Reclaim CPU by slowing a process; the only way to reclaim memory is to kill something.</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kubernetes.io/docs/concepts/configuration/manage-resources-containers/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217</a:t>
            </a:r>
          </a:p>
        </p:txBody>
      </p:sp>
    </p:spTree>
  </p:cSld>
  <p:clrMapOvr>
    <a:masterClrMapping/>
  </p:clrMapOvr>
  <p:transition xmlns:ns1="http://schemas.openxmlformats.org/markup-compatibility/2006" spd="fast" ns1:Ignorable="p14">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 Allocatable and Allocated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single most useful capacity command in the course. Read the requests column, not the limits column.</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10 — captured on the isolated kind cluster</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nodes -o custom-columns=NODE:.metadata.name,\</a:t>
            </a:r>
          </a:p>
          <a:p>
            <a:pPr>
              <a:lnSpc>
                <a:spcPts val="1476"/>
              </a:lnSpc>
              <a:spcAft>
                <a:spcPts val="0"/>
              </a:spcAft>
            </a:pPr>
            <a:r>
              <a:rPr sz="1000">
                <a:solidFill>
                  <a:srgbClr val="E6EDF3"/>
                </a:solidFill>
                <a:latin typeface="Consolas"/>
              </a:rPr>
              <a:t>CPU_ALLOC:.status.allocatable.cpu,\</a:t>
            </a:r>
          </a:p>
          <a:p>
            <a:pPr>
              <a:lnSpc>
                <a:spcPts val="1476"/>
              </a:lnSpc>
              <a:spcAft>
                <a:spcPts val="0"/>
              </a:spcAft>
            </a:pPr>
            <a:r>
              <a:rPr sz="1000">
                <a:solidFill>
                  <a:srgbClr val="E6EDF3"/>
                </a:solidFill>
                <a:latin typeface="Consolas"/>
              </a:rPr>
              <a:t>MEM_ALLOC:.status.allocatable.memory,PODS:.status.allocatable.pods</a:t>
            </a:r>
          </a:p>
          <a:p>
            <a:pPr>
              <a:lnSpc>
                <a:spcPts val="1476"/>
              </a:lnSpc>
              <a:spcAft>
                <a:spcPts val="0"/>
              </a:spcAft>
            </a:pPr>
            <a:r>
              <a:rPr sz="1000">
                <a:solidFill>
                  <a:srgbClr val="E6EDF3"/>
                </a:solidFill>
                <a:latin typeface="Consolas"/>
              </a:rPr>
              <a:t>NODE                 CPU_ALLOC   MEM_ALLOC   PODS</a:t>
            </a:r>
          </a:p>
          <a:p>
            <a:pPr>
              <a:lnSpc>
                <a:spcPts val="1476"/>
              </a:lnSpc>
              <a:spcAft>
                <a:spcPts val="0"/>
              </a:spcAft>
            </a:pPr>
            <a:r>
              <a:rPr sz="1000">
                <a:solidFill>
                  <a:srgbClr val="E6EDF3"/>
                </a:solidFill>
                <a:latin typeface="Consolas"/>
              </a:rPr>
              <a:t>kind-control-plane   8           8039488Ki   110</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describe node kind-control-plane</a:t>
            </a:r>
          </a:p>
          <a:p>
            <a:pPr>
              <a:lnSpc>
                <a:spcPts val="1476"/>
              </a:lnSpc>
              <a:spcAft>
                <a:spcPts val="0"/>
              </a:spcAft>
            </a:pPr>
            <a:r>
              <a:rPr sz="1000">
                <a:solidFill>
                  <a:srgbClr val="E6EDF3"/>
                </a:solidFill>
                <a:latin typeface="Consolas"/>
              </a:rPr>
              <a:t>Non-terminated Pods:</a:t>
            </a:r>
          </a:p>
          <a:p>
            <a:pPr>
              <a:lnSpc>
                <a:spcPts val="1476"/>
              </a:lnSpc>
              <a:spcAft>
                <a:spcPts val="0"/>
              </a:spcAft>
            </a:pPr>
            <a:r>
              <a:rPr sz="1000">
                <a:solidFill>
                  <a:srgbClr val="E6EDF3"/>
                </a:solidFill>
                <a:latin typeface="Consolas"/>
              </a:rPr>
              <a:t>  NAMESPACE   NAME           CPU Requests  CPU Limits  Memory Requests</a:t>
            </a:r>
          </a:p>
          <a:p>
            <a:pPr>
              <a:lnSpc>
                <a:spcPts val="1476"/>
              </a:lnSpc>
              <a:spcAft>
                <a:spcPts val="0"/>
              </a:spcAft>
            </a:pPr>
            <a:r>
              <a:rPr sz="1000">
                <a:solidFill>
                  <a:srgbClr val="E6EDF3"/>
                </a:solidFill>
                <a:latin typeface="Consolas"/>
              </a:rPr>
              <a:t>  kcna-lab10  berth-ledger   100m (1%)     100m (1%)   128Mi (1%)</a:t>
            </a:r>
          </a:p>
          <a:p>
            <a:pPr>
              <a:lnSpc>
                <a:spcPts val="1476"/>
              </a:lnSpc>
              <a:spcAft>
                <a:spcPts val="0"/>
              </a:spcAft>
            </a:pPr>
            <a:r>
              <a:rPr sz="1000">
                <a:solidFill>
                  <a:srgbClr val="E6EDF3"/>
                </a:solidFill>
                <a:latin typeface="Consolas"/>
              </a:rPr>
              <a:t>  kcna-lab10  notice-board   0 (0%)        0 (0%)      0 (0%)</a:t>
            </a:r>
          </a:p>
          <a:p>
            <a:pPr>
              <a:lnSpc>
                <a:spcPts val="1476"/>
              </a:lnSpc>
              <a:spcAft>
                <a:spcPts val="0"/>
              </a:spcAft>
            </a:pPr>
            <a:r>
              <a:rPr sz="1000">
                <a:solidFill>
                  <a:srgbClr val="E6EDF3"/>
                </a:solidFill>
                <a:latin typeface="Consolas"/>
              </a:rPr>
              <a:t>  kcna-lab10  rate-quoter    50m (0%)      200m (2%)   64Mi (0%)</a:t>
            </a:r>
          </a:p>
          <a:p>
            <a:pPr>
              <a:lnSpc>
                <a:spcPts val="1476"/>
              </a:lnSpc>
              <a:spcAft>
                <a:spcPts val="0"/>
              </a:spcAft>
            </a:pPr>
            <a:r>
              <a:rPr sz="1000">
                <a:solidFill>
                  <a:srgbClr val="E6EDF3"/>
                </a:solidFill>
                <a:latin typeface="Consolas"/>
              </a:rPr>
              <a:t>Allocated resources:</a:t>
            </a:r>
          </a:p>
          <a:p>
            <a:pPr>
              <a:lnSpc>
                <a:spcPts val="1476"/>
              </a:lnSpc>
              <a:spcAft>
                <a:spcPts val="0"/>
              </a:spcAft>
            </a:pPr>
            <a:r>
              <a:rPr sz="1000">
                <a:solidFill>
                  <a:srgbClr val="E6EDF3"/>
                </a:solidFill>
                <a:latin typeface="Consolas"/>
              </a:rPr>
              <a:t>  (Total limits may be over 100 percent, i.e. overcommitted.)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Allocatable, not Capacity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Allocatable is Capacity minus kube-reserved, system-reserved and the eviction threshold. Only Allocatable is schedulable.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percentages are of Allocatable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100m of 8 cores is 1%. This table is the scheduler's arithmetic made visible.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notice-board contributes 0 (0%)</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BestEffort Pod reserves nothing, so the scheduler will keep placing Pods as if it were not there.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Limits may exceed 100%</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kubectl says so itself. Overcommitment is normal; it is requests, not limits, that must fit.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218</a:t>
            </a:r>
          </a:p>
        </p:txBody>
      </p:sp>
    </p:spTree>
  </p:cSld>
  <p:clrMapOvr>
    <a:masterClrMapping/>
  </p:clrMapOvr>
  <p:transition xmlns:ns1="http://schemas.openxmlformats.org/markup-compatibility/2006" spd="fast" ns1:Ignorable="p14">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ACCOUNTING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Capacity, Allocatable, Requested, Used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different numbers that people routinely conflate. Only one of them is what the scheduler uses.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Capacity</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Everything the machine physically has, as reported by the kubelet at registration.</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Allocatable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Capacity minus kube-reserved, system-reserved and eviction-hard thresholds. This is the number the scheduler divides up.</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Requested (Allocated)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sum of container requests for non-terminated Pods. The scheduler will not let this exceed Allocatable.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Used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Actual consumption right now, from the metrics pipeline. It is unrelated to the scheduler's arithmetic.</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common misdiagnosis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node at 12% actual CPU can still reject Pods, because Requested is already at Allocatable. Nothing is wrong.</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opposite trap</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node whose requests are modest can still be in memory pressure if the Pods are all bursting past their requests.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kubernetes.io/docs/concepts/configuration/manage-resources-containers/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219</a:t>
            </a:r>
          </a:p>
        </p:txBody>
      </p:sp>
    </p:spTree>
  </p:cSld>
  <p:clrMapOvr>
    <a:masterClrMapping/>
  </p:clrMapOvr>
  <p:transition xmlns:ns1="http://schemas.openxmlformats.org/markup-compatibility/2006" spd="fast" ns1:Ignorable="p14">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Should I Set Requests and Limits?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question is about memory, because memory is the resource where being wrong kills the process.</a:t>
            </a:r>
          </a:p>
        </p:txBody>
      </p:sp>
      <p:sp>
        <p:nvSpPr>
          <p:cNvPr id="7" name="Diamond 6"/>
          <p:cNvSpPr/>
          <p:nvPr/>
        </p:nvSpPr>
        <p:spPr>
          <a:xfrm>
            <a:off x="4206240" y="1908291"/>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Is the workload's memory footprint
bounded and well understood?</a:t>
            </a:r>
          </a:p>
        </p:txBody>
      </p:sp>
      <p:sp>
        <p:nvSpPr>
          <p:cNvPr id="8" name="Rounded Rectangle 7"/>
          <p:cNvSpPr/>
          <p:nvPr/>
        </p:nvSpPr>
        <p:spPr>
          <a:xfrm>
            <a:off x="777240" y="3545067"/>
            <a:ext cx="5199278" cy="2435108"/>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3545067"/>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3590787"/>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SIZE IT DELIBERATELY</a:t>
            </a:r>
          </a:p>
        </p:txBody>
      </p:sp>
      <p:sp>
        <p:nvSpPr>
          <p:cNvPr id="11" name="TextBox 10"/>
          <p:cNvSpPr txBox="1"/>
          <p:nvPr/>
        </p:nvSpPr>
        <p:spPr>
          <a:xfrm>
            <a:off x="1014983" y="4020555"/>
            <a:ext cx="4723790" cy="1849892"/>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Set memory request = limit at the observed steady-state peak plus headroom. Predictable, and Guaranteed if CPU matches too.</a:t>
            </a:r>
          </a:p>
          <a:p>
            <a:pPr>
              <a:lnSpc>
                <a:spcPct val="112000"/>
              </a:lnSpc>
              <a:spcAft>
                <a:spcPts val="500"/>
              </a:spcAft>
            </a:pPr>
            <a:r>
              <a:rPr sz="1100">
                <a:solidFill>
                  <a:srgbClr val="94A3B8"/>
                </a:solidFill>
                <a:latin typeface="Arial"/>
              </a:rPr>
              <a:t>•  </a:t>
            </a:r>
            <a:r>
              <a:rPr sz="1100">
                <a:solidFill>
                  <a:srgbClr val="5B6372"/>
                </a:solidFill>
                <a:latin typeface="Arial"/>
              </a:rPr>
              <a:t>Set the CPU request at the p50-p90 of observed usage so the scheduler reserves real work, not a wish.</a:t>
            </a:r>
          </a:p>
          <a:p>
            <a:pPr>
              <a:lnSpc>
                <a:spcPct val="112000"/>
              </a:lnSpc>
              <a:spcAft>
                <a:spcPts val="500"/>
              </a:spcAft>
            </a:pPr>
            <a:r>
              <a:rPr sz="1100">
                <a:solidFill>
                  <a:srgbClr val="94A3B8"/>
                </a:solidFill>
                <a:latin typeface="Arial"/>
              </a:rPr>
              <a:t>•  </a:t>
            </a:r>
            <a:r>
              <a:rPr sz="1100">
                <a:solidFill>
                  <a:srgbClr val="5B6372"/>
                </a:solidFill>
                <a:latin typeface="Arial"/>
              </a:rPr>
              <a:t>Consider omitting the CPU limit for latency-sensitive services; keep the memory limit always.</a:t>
            </a:r>
          </a:p>
          <a:p>
            <a:pPr>
              <a:lnSpc>
                <a:spcPct val="112000"/>
              </a:lnSpc>
              <a:spcAft>
                <a:spcPts val="500"/>
              </a:spcAft>
            </a:pPr>
            <a:r>
              <a:rPr sz="1100">
                <a:solidFill>
                  <a:srgbClr val="94A3B8"/>
                </a:solidFill>
                <a:latin typeface="Arial"/>
              </a:rPr>
              <a:t>•  </a:t>
            </a:r>
            <a:r>
              <a:rPr sz="1100">
                <a:solidFill>
                  <a:srgbClr val="5B6372"/>
                </a:solidFill>
                <a:latin typeface="Arial"/>
              </a:rPr>
              <a:t>Re-derive from metrics after every significant release, or let VPA recommend in off mode.</a:t>
            </a:r>
          </a:p>
        </p:txBody>
      </p:sp>
      <p:cxnSp>
        <p:nvCxnSpPr>
          <p:cNvPr id="12" name="Connector 11"/>
          <p:cNvCxnSpPr/>
          <p:nvPr/>
        </p:nvCxnSpPr>
        <p:spPr>
          <a:xfrm flipH="1">
            <a:off x="3376879" y="2813547"/>
            <a:ext cx="1766621" cy="694944"/>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161019"/>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3545067"/>
            <a:ext cx="5199278" cy="2435108"/>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3545067"/>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3590787"/>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MEASURE BEFORE YOU COMMIT</a:t>
            </a:r>
          </a:p>
        </p:txBody>
      </p:sp>
      <p:sp>
        <p:nvSpPr>
          <p:cNvPr id="17" name="TextBox 16"/>
          <p:cNvSpPr txBox="1"/>
          <p:nvPr/>
        </p:nvSpPr>
        <p:spPr>
          <a:xfrm>
            <a:off x="6514185" y="4020555"/>
            <a:ext cx="4723790" cy="1849892"/>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Do not guess a number and enshrine it; an invented limit becomes a permanent OOMKill generator.</a:t>
            </a:r>
          </a:p>
          <a:p>
            <a:pPr>
              <a:lnSpc>
                <a:spcPct val="112000"/>
              </a:lnSpc>
              <a:spcAft>
                <a:spcPts val="500"/>
              </a:spcAft>
            </a:pPr>
            <a:r>
              <a:rPr sz="1100">
                <a:solidFill>
                  <a:srgbClr val="94A3B8"/>
                </a:solidFill>
                <a:latin typeface="Arial"/>
              </a:rPr>
              <a:t>•  </a:t>
            </a:r>
            <a:r>
              <a:rPr sz="1100">
                <a:solidFill>
                  <a:srgbClr val="5B6372"/>
                </a:solidFill>
                <a:latin typeface="Arial"/>
              </a:rPr>
              <a:t>Start with a generous memory limit and a modest CPU request, then tighten using real percentiles.</a:t>
            </a:r>
          </a:p>
          <a:p>
            <a:pPr>
              <a:lnSpc>
                <a:spcPct val="112000"/>
              </a:lnSpc>
              <a:spcAft>
                <a:spcPts val="500"/>
              </a:spcAft>
            </a:pPr>
            <a:r>
              <a:rPr sz="1100">
                <a:solidFill>
                  <a:srgbClr val="94A3B8"/>
                </a:solidFill>
                <a:latin typeface="Arial"/>
              </a:rPr>
              <a:t>•  </a:t>
            </a:r>
            <a:r>
              <a:rPr sz="1100">
                <a:solidFill>
                  <a:srgbClr val="5B6372"/>
                </a:solidFill>
                <a:latin typeface="Arial"/>
              </a:rPr>
              <a:t>Use a LimitRange so the namespace has sane defaults while you learn the workload.</a:t>
            </a:r>
          </a:p>
          <a:p>
            <a:pPr>
              <a:lnSpc>
                <a:spcPct val="112000"/>
              </a:lnSpc>
              <a:spcAft>
                <a:spcPts val="500"/>
              </a:spcAft>
            </a:pPr>
            <a:r>
              <a:rPr sz="1100">
                <a:solidFill>
                  <a:srgbClr val="94A3B8"/>
                </a:solidFill>
                <a:latin typeface="Arial"/>
              </a:rPr>
              <a:t>•  </a:t>
            </a:r>
            <a:r>
              <a:rPr sz="1100">
                <a:solidFill>
                  <a:srgbClr val="5B6372"/>
                </a:solidFill>
                <a:latin typeface="Arial"/>
              </a:rPr>
              <a:t>Never leave production BestEffort — it is first to be evicted and reserves nothing.</a:t>
            </a:r>
          </a:p>
        </p:txBody>
      </p:sp>
      <p:cxnSp>
        <p:nvCxnSpPr>
          <p:cNvPr id="18" name="Connector 17"/>
          <p:cNvCxnSpPr/>
          <p:nvPr/>
        </p:nvCxnSpPr>
        <p:spPr>
          <a:xfrm>
            <a:off x="7018019" y="2813547"/>
            <a:ext cx="1858061" cy="694944"/>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161019"/>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kubernetes.io/docs/concepts/configuration/manage-resources-containers/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220</a:t>
            </a:r>
          </a:p>
        </p:txBody>
      </p:sp>
    </p:spTree>
  </p:cSld>
  <p:clrMapOvr>
    <a:masterClrMapping/>
  </p:clrMapOvr>
  <p:transition xmlns:ns3="http://schemas.openxmlformats.org/markup-compatibility/2006" spd="fast" ns3:Ignorable="p14">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CLASSIFICATION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Three QoS Classes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classes, derived automatically, consequential only when the node runs out of something.</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Guaranteed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container has requests equal to limits, for both CPU and memory. Highest protection from node-pressure eviction.</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Burstable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At least one container has a request, but the class test for Guaranteed fails. The large middle ground.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BestEffort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 requests and no limits anywhere in the Pod. Reserves nothing and is evicted first.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You do not set it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.status.qosClass is computed by the kubelet from the resources you declared. There is no field to choose it.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drives eviction order, not scheduling</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scheduler does not read qosClass. It matters when a node is under memory or disk pressure.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Guaranteed is not immunity</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Guaranteed Pod that exceeds its own memory limit is still OOMKilled — Lab 10 demonstrates exactly this.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kubernetes.io/docs/concepts/workloads/pods/pod-qos/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221</a:t>
            </a:r>
          </a:p>
        </p:txBody>
      </p:sp>
    </p:spTree>
  </p:cSld>
  <p:clrMapOvr>
    <a:masterClrMapping/>
  </p:clrMapOvr>
  <p:transition xmlns:ns1="http://schemas.openxmlformats.org/markup-compatibility/2006" spd="fast" ns1:Ignorable="p14">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QoS Class Computed, Not Declared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Pods, three classes, one rule. The fourth line is the punchline for the next slide.</a:t>
            </a:r>
          </a:p>
        </p:txBody>
      </p:sp>
      <p:sp>
        <p:nvSpPr>
          <p:cNvPr id="7" name="Rectangle 6"/>
          <p:cNvSpPr/>
          <p:nvPr/>
        </p:nvSpPr>
        <p:spPr>
          <a:xfrm>
            <a:off x="777240" y="2200046"/>
            <a:ext cx="690372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10 — captured on the isolated kind cluster</a:t>
            </a:r>
          </a:p>
        </p:txBody>
      </p:sp>
      <p:sp>
        <p:nvSpPr>
          <p:cNvPr id="9" name="TextBox 8"/>
          <p:cNvSpPr txBox="1"/>
          <p:nvPr/>
        </p:nvSpPr>
        <p:spPr>
          <a:xfrm>
            <a:off x="923544" y="2620670"/>
            <a:ext cx="6611112" cy="224942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pods -n kcna-lab10 -o custom-columns=\</a:t>
            </a:r>
          </a:p>
          <a:p>
            <a:pPr>
              <a:lnSpc>
                <a:spcPts val="1476"/>
              </a:lnSpc>
              <a:spcAft>
                <a:spcPts val="0"/>
              </a:spcAft>
            </a:pPr>
            <a:r>
              <a:rPr sz="1000">
                <a:solidFill>
                  <a:srgbClr val="E6EDF3"/>
                </a:solidFill>
                <a:latin typeface="Consolas"/>
              </a:rPr>
              <a:t>POD:.metadata.name,QOS:.status.qosClass,\</a:t>
            </a:r>
          </a:p>
          <a:p>
            <a:pPr>
              <a:lnSpc>
                <a:spcPts val="1476"/>
              </a:lnSpc>
              <a:spcAft>
                <a:spcPts val="0"/>
              </a:spcAft>
            </a:pPr>
            <a:r>
              <a:rPr sz="1000">
                <a:solidFill>
                  <a:srgbClr val="E6EDF3"/>
                </a:solidFill>
                <a:latin typeface="Consolas"/>
              </a:rPr>
              <a:t>CPU_REQ:.spec.containers[0].resources.requests.cpu,\</a:t>
            </a:r>
          </a:p>
          <a:p>
            <a:pPr>
              <a:lnSpc>
                <a:spcPts val="1476"/>
              </a:lnSpc>
              <a:spcAft>
                <a:spcPts val="0"/>
              </a:spcAft>
            </a:pPr>
            <a:r>
              <a:rPr sz="1000">
                <a:solidFill>
                  <a:srgbClr val="E6EDF3"/>
                </a:solidFill>
                <a:latin typeface="Consolas"/>
              </a:rPr>
              <a:t>MEM_LIM:.spec.containers[0].resources.limits.memory</a:t>
            </a:r>
          </a:p>
          <a:p>
            <a:pPr>
              <a:lnSpc>
                <a:spcPts val="1476"/>
              </a:lnSpc>
              <a:spcAft>
                <a:spcPts val="0"/>
              </a:spcAft>
            </a:pPr>
            <a:r>
              <a:rPr sz="1000">
                <a:solidFill>
                  <a:srgbClr val="E6EDF3"/>
                </a:solidFill>
                <a:latin typeface="Consolas"/>
              </a:rPr>
              <a:t>POD            QOS          CPU_REQ   MEM_LIM</a:t>
            </a:r>
          </a:p>
          <a:p>
            <a:pPr>
              <a:lnSpc>
                <a:spcPts val="1476"/>
              </a:lnSpc>
              <a:spcAft>
                <a:spcPts val="0"/>
              </a:spcAft>
            </a:pPr>
            <a:r>
              <a:rPr sz="1000">
                <a:solidFill>
                  <a:srgbClr val="E6EDF3"/>
                </a:solidFill>
                <a:latin typeface="Consolas"/>
              </a:rPr>
              <a:t>berth-ledger   Guaranteed   100m      128Mi</a:t>
            </a:r>
          </a:p>
          <a:p>
            <a:pPr>
              <a:lnSpc>
                <a:spcPts val="1476"/>
              </a:lnSpc>
              <a:spcAft>
                <a:spcPts val="0"/>
              </a:spcAft>
            </a:pPr>
            <a:r>
              <a:rPr sz="1000">
                <a:solidFill>
                  <a:srgbClr val="E6EDF3"/>
                </a:solidFill>
                <a:latin typeface="Consolas"/>
              </a:rPr>
              <a:t>notice-board   BestEffort   &lt;none&gt;    &lt;none&gt;</a:t>
            </a:r>
          </a:p>
          <a:p>
            <a:pPr>
              <a:lnSpc>
                <a:spcPts val="1476"/>
              </a:lnSpc>
              <a:spcAft>
                <a:spcPts val="0"/>
              </a:spcAft>
            </a:pPr>
            <a:r>
              <a:rPr sz="1000">
                <a:solidFill>
                  <a:srgbClr val="E6EDF3"/>
                </a:solidFill>
                <a:latin typeface="Consolas"/>
              </a:rPr>
              <a:t>rate-quoter    Burstable    50m       192Mi</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pod ledger-compactor -n kcna-lab10 \</a:t>
            </a:r>
          </a:p>
          <a:p>
            <a:pPr>
              <a:lnSpc>
                <a:spcPts val="1476"/>
              </a:lnSpc>
              <a:spcAft>
                <a:spcPts val="0"/>
              </a:spcAft>
            </a:pPr>
            <a:r>
              <a:rPr sz="1000">
                <a:solidFill>
                  <a:srgbClr val="E6EDF3"/>
                </a:solidFill>
                <a:latin typeface="Consolas"/>
              </a:rPr>
              <a:t>    -o jsonpath='{.status.qosClass} / {.status.phase}'</a:t>
            </a:r>
          </a:p>
          <a:p>
            <a:pPr>
              <a:lnSpc>
                <a:spcPts val="1476"/>
              </a:lnSpc>
              <a:spcAft>
                <a:spcPts val="0"/>
              </a:spcAft>
            </a:pPr>
            <a:r>
              <a:rPr sz="1000">
                <a:solidFill>
                  <a:srgbClr val="E6EDF3"/>
                </a:solidFill>
                <a:latin typeface="Consolas"/>
              </a:rPr>
              <a:t>Guaranteed / Failed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qosClass is under .status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observed state written by the kubelet, which is why there is no way to request a class directly.</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berth-ledger is Guaranteed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Its requests equal its limits for both CPU and memory: 100m/100m and 128Mi/128Mi.</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notice-board declares nothing</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&lt;none&gt; in both columns is what BestEffort looks like. It was applied before the LimitRange existed.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Guaranteed / Failed together</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last line is the OOMKilled Pod. Its class protected it from eviction, not from its own limit.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222</a:t>
            </a:r>
          </a:p>
        </p:txBody>
      </p:sp>
    </p:spTree>
  </p:cSld>
  <p:clrMapOvr>
    <a:masterClrMapping/>
  </p:clrMapOvr>
  <p:transition xmlns:ns1="http://schemas.openxmlformats.org/markup-compatibility/2006" spd="fast" ns1:Ignorable="p14">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OOMKilled with Exit Code 137</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An exit code worth memorising: 137 always means SIGKILL, and in a container it almost always means memory.</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container terminates two seconds after start and its final log line never prints, yet the manifest is valid and the Pod was scheduled normally.</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get pod ledger-compactor -n kcna-lab10</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ledger-compactor   0/1    OOMKilled   0         15s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    State:          Terminated</a:t>
            </a:r>
          </a:p>
          <a:p>
            <a:pPr>
              <a:lnSpc>
                <a:spcPts val="1476"/>
              </a:lnSpc>
              <a:spcAft>
                <a:spcPts val="0"/>
              </a:spcAft>
            </a:pPr>
            <a:r>
              <a:rPr sz="950">
                <a:solidFill>
                  <a:srgbClr val="E6EDF3"/>
                </a:solidFill>
                <a:latin typeface="Consolas"/>
              </a:rPr>
              <a:t>      Reason:       OOMKilled</a:t>
            </a:r>
          </a:p>
          <a:p>
            <a:pPr>
              <a:lnSpc>
                <a:spcPts val="1476"/>
              </a:lnSpc>
              <a:spcAft>
                <a:spcPts val="0"/>
              </a:spcAft>
            </a:pPr>
            <a:r>
              <a:rPr sz="950">
                <a:solidFill>
                  <a:srgbClr val="E6EDF3"/>
                </a:solidFill>
                <a:latin typeface="Consolas"/>
              </a:rPr>
              <a:t>      Exit Code:    137</a:t>
            </a:r>
          </a:p>
          <a:p>
            <a:pPr>
              <a:lnSpc>
                <a:spcPts val="1476"/>
              </a:lnSpc>
              <a:spcAft>
                <a:spcPts val="0"/>
              </a:spcAft>
            </a:pPr>
            <a:r>
              <a:rPr sz="950">
                <a:solidFill>
                  <a:srgbClr val="E6EDF3"/>
                </a:solidFill>
                <a:latin typeface="Consolas"/>
              </a:rPr>
              <a:t>      Started:      10:41:02 +0800</a:t>
            </a:r>
          </a:p>
          <a:p>
            <a:pPr>
              <a:lnSpc>
                <a:spcPts val="1476"/>
              </a:lnSpc>
              <a:spcAft>
                <a:spcPts val="0"/>
              </a:spcAft>
            </a:pPr>
            <a:r>
              <a:rPr sz="950">
                <a:solidFill>
                  <a:srgbClr val="E6EDF3"/>
                </a:solidFill>
                <a:latin typeface="Consolas"/>
              </a:rPr>
              <a:t>      Finished:     10:41:04 +0800</a:t>
            </a:r>
          </a:p>
          <a:p>
            <a:pPr>
              <a:lnSpc>
                <a:spcPts val="1476"/>
              </a:lnSpc>
              <a:spcAft>
                <a:spcPts val="0"/>
              </a:spcAft>
            </a:pPr>
            <a:r>
              <a:rPr sz="950">
                <a:solidFill>
                  <a:srgbClr val="E6EDF3"/>
                </a:solidFill>
                <a:latin typeface="Consolas"/>
              </a:rPr>
              <a:t>    Ready:          False</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E6EDF3"/>
                </a:solidFill>
                <a:latin typeface="Consolas"/>
              </a:rPr>
              <a:t>reason=OOMKilled exitCode=137 limit=32Mi</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container writes a 64 MiB working set into a memory-backed volume while its memory limit is 32Mi.</a:t>
            </a:r>
          </a:p>
          <a:p>
            <a:pPr>
              <a:lnSpc>
                <a:spcPct val="112000"/>
              </a:lnSpc>
              <a:spcAft>
                <a:spcPts val="200"/>
              </a:spcAft>
            </a:pPr>
            <a:r>
              <a:rPr sz="950">
                <a:solidFill>
                  <a:srgbClr val="94A3B8"/>
                </a:solidFill>
                <a:latin typeface="Arial"/>
              </a:rPr>
              <a:t>•  </a:t>
            </a:r>
            <a:r>
              <a:rPr sz="950">
                <a:solidFill>
                  <a:srgbClr val="5B6372"/>
                </a:solidFill>
                <a:latin typeface="Arial"/>
              </a:rPr>
              <a:t>137 is 128 + 9: the process was killed by signal 9, SIGKILL, sent by the kernel OOM killer — not by Kubernetes.</a:t>
            </a:r>
          </a:p>
          <a:p>
            <a:pPr>
              <a:lnSpc>
                <a:spcPct val="112000"/>
              </a:lnSpc>
              <a:spcAft>
                <a:spcPts val="200"/>
              </a:spcAft>
            </a:pPr>
            <a:r>
              <a:rPr sz="950">
                <a:solidFill>
                  <a:srgbClr val="94A3B8"/>
                </a:solidFill>
                <a:latin typeface="Arial"/>
              </a:rPr>
              <a:t>•  </a:t>
            </a:r>
            <a:r>
              <a:rPr sz="950">
                <a:solidFill>
                  <a:srgbClr val="5B6372"/>
                </a:solidFill>
                <a:latin typeface="Arial"/>
              </a:rPr>
              <a:t>The Pod is Guaranteed. Its class gives eviction protection, not permission to exceed its own limit.</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Raise the memory limit to the measured working set plus headroom, or reduce what the workload buffers.</a:t>
            </a:r>
          </a:p>
          <a:p>
            <a:pPr>
              <a:lnSpc>
                <a:spcPct val="112000"/>
              </a:lnSpc>
              <a:spcAft>
                <a:spcPts val="200"/>
              </a:spcAft>
            </a:pPr>
            <a:r>
              <a:rPr sz="950">
                <a:solidFill>
                  <a:srgbClr val="94A3B8"/>
                </a:solidFill>
                <a:latin typeface="Arial"/>
              </a:rPr>
              <a:t>•  </a:t>
            </a:r>
            <a:r>
              <a:rPr sz="950">
                <a:solidFill>
                  <a:srgbClr val="5B6372"/>
                </a:solidFill>
                <a:latin typeface="Arial"/>
              </a:rPr>
              <a:t>Remember memory-backed emptyDir pages count against the writing container's memory limit.</a:t>
            </a:r>
          </a:p>
          <a:p>
            <a:pPr>
              <a:lnSpc>
                <a:spcPct val="112000"/>
              </a:lnSpc>
              <a:spcAft>
                <a:spcPts val="200"/>
              </a:spcAft>
            </a:pPr>
            <a:r>
              <a:rPr sz="950">
                <a:solidFill>
                  <a:srgbClr val="94A3B8"/>
                </a:solidFill>
                <a:latin typeface="Arial"/>
              </a:rPr>
              <a:t>•  </a:t>
            </a:r>
            <a:r>
              <a:rPr sz="950">
                <a:solidFill>
                  <a:srgbClr val="5B6372"/>
                </a:solidFill>
                <a:latin typeface="Arial"/>
              </a:rPr>
              <a:t>restartPolicy decides what happens next — Never leaves it Failed, Always produces a CrashLoopBackOff cycle.</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Exit Code 0 and the COMPACTION-COMPLETE log line appear once the limit covers the real working set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223</a:t>
            </a:r>
          </a:p>
        </p:txBody>
      </p:sp>
    </p:spTree>
  </p:cSld>
  <p:clrMapOvr>
    <a:masterClrMapping/>
  </p:clrMapOvr>
  <p:transition xmlns:ns1="http://schemas.openxmlformats.org/markup-compatibility/2006" spd="fast" ns1:Ignorable="p14">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Node-Pressure Eviction Order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Eviction is the node protecting itself. It is a different mechanism from an OOMKill, with a different victim order.</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Threshold crossed</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kubelet observes memory.available or nodefs.available below its configured eviction-hard threshold.</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Reclaim without eviction first</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Garbage-collect dead containers and unused images. If that clears the threshold, no Pod is touched.</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Rank the candidates</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BestEffort first, then Burstable exceeding its requests, then Guaranteed and Burstable within requests — priority breaks ties.</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Evict and taint</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Selected Pods are terminated and the node carries a pressure taint, so the scheduler stops sending replacements there.</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Exceeding your request is what makes you a target. A Guaranteed Pod within its request is the last thing the kubelet will evict — but its own limit still applies.</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kubernetes.io/docs/concepts/scheduling-eviction/node-pressure-eviction/</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224</a:t>
            </a:r>
          </a:p>
        </p:txBody>
      </p:sp>
    </p:spTree>
  </p:cSld>
  <p:clrMapOvr>
    <a:masterClrMapping/>
  </p:clrMapOvr>
  <p:transition xmlns:ns4="http://schemas.openxmlformats.org/markup-compatibility/2006" spd="fast" ns4:Ignorable="p14">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LimitRange,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LimitRange is how a namespace stops being full of BestEffort Pods without asking every author to cooperate.</a:t>
            </a:r>
          </a:p>
        </p:txBody>
      </p:sp>
      <p:sp>
        <p:nvSpPr>
          <p:cNvPr id="7" name="Rectangle 6"/>
          <p:cNvSpPr/>
          <p:nvPr/>
        </p:nvSpPr>
        <p:spPr>
          <a:xfrm>
            <a:off x="777240" y="2200046"/>
            <a:ext cx="635508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labs/lab-10/manifests/30-limitrange.yaml</a:t>
            </a:r>
          </a:p>
        </p:txBody>
      </p:sp>
      <p:sp>
        <p:nvSpPr>
          <p:cNvPr id="9" name="TextBox 8"/>
          <p:cNvSpPr txBox="1"/>
          <p:nvPr/>
        </p:nvSpPr>
        <p:spPr>
          <a:xfrm>
            <a:off x="923544" y="2620670"/>
            <a:ext cx="6062472" cy="224942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LimitRange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mfs-container-limits</a:t>
            </a:r>
          </a:p>
          <a:p>
            <a:pPr>
              <a:lnSpc>
                <a:spcPts val="1476"/>
              </a:lnSpc>
              <a:spcAft>
                <a:spcPts val="0"/>
              </a:spcAft>
            </a:pPr>
            <a:r>
              <a:rPr sz="1050">
                <a:solidFill>
                  <a:srgbClr val="E6EDF3"/>
                </a:solidFill>
                <a:latin typeface="Consolas"/>
              </a:rPr>
              <a:t>  namespace: kcna-lab10</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limits:</a:t>
            </a:r>
          </a:p>
          <a:p>
            <a:pPr>
              <a:lnSpc>
                <a:spcPts val="1476"/>
              </a:lnSpc>
              <a:spcAft>
                <a:spcPts val="0"/>
              </a:spcAft>
            </a:pPr>
            <a:r>
              <a:rPr sz="1050">
                <a:solidFill>
                  <a:srgbClr val="E6EDF3"/>
                </a:solidFill>
                <a:latin typeface="Consolas"/>
              </a:rPr>
              <a:t>  - type: Container</a:t>
            </a:r>
          </a:p>
          <a:p>
            <a:pPr>
              <a:lnSpc>
                <a:spcPts val="1476"/>
              </a:lnSpc>
              <a:spcAft>
                <a:spcPts val="0"/>
              </a:spcAft>
            </a:pPr>
            <a:r>
              <a:rPr sz="1050">
                <a:solidFill>
                  <a:srgbClr val="E6EDF3"/>
                </a:solidFill>
                <a:latin typeface="Consolas"/>
              </a:rPr>
              <a:t>    min:            {cpu: 10m,  memory: 16Mi}</a:t>
            </a:r>
          </a:p>
          <a:p>
            <a:pPr>
              <a:lnSpc>
                <a:spcPts val="1476"/>
              </a:lnSpc>
              <a:spcAft>
                <a:spcPts val="0"/>
              </a:spcAft>
            </a:pPr>
            <a:r>
              <a:rPr sz="1050">
                <a:solidFill>
                  <a:srgbClr val="E6EDF3"/>
                </a:solidFill>
                <a:latin typeface="Consolas"/>
              </a:rPr>
              <a:t>    max:            {cpu: 1,    memory: 512Mi}</a:t>
            </a:r>
          </a:p>
          <a:p>
            <a:pPr>
              <a:lnSpc>
                <a:spcPts val="1476"/>
              </a:lnSpc>
              <a:spcAft>
                <a:spcPts val="0"/>
              </a:spcAft>
            </a:pPr>
            <a:r>
              <a:rPr sz="1050">
                <a:solidFill>
                  <a:srgbClr val="E6EDF3"/>
                </a:solidFill>
                <a:latin typeface="Consolas"/>
              </a:rPr>
              <a:t>    default:        {cpu: 500m, memory: 256Mi}</a:t>
            </a:r>
          </a:p>
          <a:p>
            <a:pPr>
              <a:lnSpc>
                <a:spcPts val="1476"/>
              </a:lnSpc>
              <a:spcAft>
                <a:spcPts val="0"/>
              </a:spcAft>
            </a:pPr>
            <a:r>
              <a:rPr sz="1050">
                <a:solidFill>
                  <a:srgbClr val="E6EDF3"/>
                </a:solidFill>
                <a:latin typeface="Consolas"/>
              </a:rPr>
              <a:t>    defaultRequest: {cpu: 50m,  memory: 64Mi}</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default is the limit, defaultRequest is the request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two names are easy to swap. default fills in .limits; defaultRequest fills in .requests.</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min and max are validation, not defaulting</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container asking for more than max cpu is rejected at admission with a clear Forbidden message.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applies per container, not per Pod</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type: Pod is also available and constrains the sum across all containers in the Pod.</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is not retroactive</a:t>
            </a:r>
          </a:p>
        </p:txBody>
      </p:sp>
      <p:sp>
        <p:nvSpPr>
          <p:cNvPr id="23" name="TextBox 22"/>
          <p:cNvSpPr txBox="1"/>
          <p:nvPr/>
        </p:nvSpPr>
        <p:spPr>
          <a:xfrm>
            <a:off x="7973567" y="5027584"/>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Admission only sees creates and updates. Pods that existed before the LimitRange keep their original — possibly BestEffort — shape.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kubernetes.io/docs/concepts/policy/limit-range/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225</a:t>
            </a:r>
          </a:p>
        </p:txBody>
      </p:sp>
    </p:spTree>
  </p:cSld>
  <p:clrMapOvr>
    <a:masterClrMapping/>
  </p:clrMapOvr>
  <p:transition xmlns:ns1="http://schemas.openxmlformats.org/markup-compatibility/2006" spd="fast" ns1:Ignorable="p14">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LimitRange Defaulting in Action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clearest demonstration in the course that admission control both mutates and validates.</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10 — captured on the isolated kind cluster</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describe limitrange mfs-container-limits -n kcna-lab10</a:t>
            </a:r>
          </a:p>
          <a:p>
            <a:pPr>
              <a:lnSpc>
                <a:spcPts val="1476"/>
              </a:lnSpc>
              <a:spcAft>
                <a:spcPts val="0"/>
              </a:spcAft>
            </a:pPr>
            <a:r>
              <a:rPr sz="1000">
                <a:solidFill>
                  <a:srgbClr val="E6EDF3"/>
                </a:solidFill>
                <a:latin typeface="Consolas"/>
              </a:rPr>
              <a:t>Type       Resource  Min   Max     Default Request  Default Limit</a:t>
            </a:r>
          </a:p>
          <a:p>
            <a:pPr>
              <a:lnSpc>
                <a:spcPts val="1476"/>
              </a:lnSpc>
              <a:spcAft>
                <a:spcPts val="0"/>
              </a:spcAft>
            </a:pPr>
            <a:r>
              <a:rPr sz="1000">
                <a:solidFill>
                  <a:srgbClr val="E6EDF3"/>
                </a:solidFill>
                <a:latin typeface="Consolas"/>
              </a:rPr>
              <a:t>Container  cpu       10m   1       50m              500m</a:t>
            </a:r>
          </a:p>
          <a:p>
            <a:pPr>
              <a:lnSpc>
                <a:spcPts val="1476"/>
              </a:lnSpc>
              <a:spcAft>
                <a:spcPts val="0"/>
              </a:spcAft>
            </a:pPr>
            <a:r>
              <a:rPr sz="1000">
                <a:solidFill>
                  <a:srgbClr val="E6EDF3"/>
                </a:solidFill>
                <a:latin typeface="Consolas"/>
              </a:rPr>
              <a:t>Container  memory    16Mi  512Mi   64Mi             256Mi</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run late-arrival --image=registry.k8s.io/pause:3.9 \</a:t>
            </a:r>
          </a:p>
          <a:p>
            <a:pPr>
              <a:lnSpc>
                <a:spcPts val="1476"/>
              </a:lnSpc>
              <a:spcAft>
                <a:spcPts val="0"/>
              </a:spcAft>
            </a:pPr>
            <a:r>
              <a:rPr sz="1000">
                <a:solidFill>
                  <a:srgbClr val="E6EDF3"/>
                </a:solidFill>
                <a:latin typeface="Consolas"/>
              </a:rPr>
              <a:t>    --restart=Never -n kcna-lab10</a:t>
            </a:r>
          </a:p>
          <a:p>
            <a:pPr>
              <a:lnSpc>
                <a:spcPts val="1476"/>
              </a:lnSpc>
              <a:spcAft>
                <a:spcPts val="0"/>
              </a:spcAft>
            </a:pPr>
            <a:r>
              <a:rPr sz="1000">
                <a:solidFill>
                  <a:srgbClr val="E6EDF3"/>
                </a:solidFill>
                <a:latin typeface="Consolas"/>
              </a:rPr>
              <a:t>POD            QOS          CPU_REQ  CPU_LIM  MEM_REQ  MEM_LIM</a:t>
            </a:r>
          </a:p>
          <a:p>
            <a:pPr>
              <a:lnSpc>
                <a:spcPts val="1476"/>
              </a:lnSpc>
              <a:spcAft>
                <a:spcPts val="0"/>
              </a:spcAft>
            </a:pPr>
            <a:r>
              <a:rPr sz="1000">
                <a:solidFill>
                  <a:srgbClr val="E6EDF3"/>
                </a:solidFill>
                <a:latin typeface="Consolas"/>
              </a:rPr>
              <a:t>late-arrival   Burstable    50m      500m     64Mi     256Mi</a:t>
            </a:r>
          </a:p>
          <a:p>
            <a:pPr>
              <a:lnSpc>
                <a:spcPts val="1476"/>
              </a:lnSpc>
              <a:spcAft>
                <a:spcPts val="0"/>
              </a:spcAft>
            </a:pPr>
            <a:r>
              <a:rPr sz="1000">
                <a:solidFill>
                  <a:srgbClr val="E6EDF3"/>
                </a:solidFill>
                <a:latin typeface="Consolas"/>
              </a:rPr>
              <a:t>notice-board   BestEffort   &lt;none&gt;   &lt;none&gt;   &lt;none&gt;   &lt;none&gt;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run oversized --image=registry.k8s.io/pause:3.9 ...</a:t>
            </a:r>
          </a:p>
          <a:p>
            <a:pPr>
              <a:lnSpc>
                <a:spcPts val="1476"/>
              </a:lnSpc>
              <a:spcAft>
                <a:spcPts val="0"/>
              </a:spcAft>
            </a:pPr>
            <a:r>
              <a:rPr sz="1000">
                <a:solidFill>
                  <a:srgbClr val="E6EDF3"/>
                </a:solidFill>
                <a:latin typeface="Consolas"/>
              </a:rPr>
              <a:t>Error from server (Forbidden): pods "oversized" is</a:t>
            </a:r>
          </a:p>
          <a:p>
            <a:pPr>
              <a:lnSpc>
                <a:spcPts val="1476"/>
              </a:lnSpc>
              <a:spcAft>
                <a:spcPts val="0"/>
              </a:spcAft>
            </a:pPr>
            <a:r>
              <a:rPr sz="1000">
                <a:solidFill>
                  <a:srgbClr val="E6EDF3"/>
                </a:solidFill>
                <a:latin typeface="Consolas"/>
              </a:rPr>
              <a:t>forbidden: maximum cpu usage per Container is 1, but</a:t>
            </a:r>
          </a:p>
          <a:p>
            <a:pPr>
              <a:lnSpc>
                <a:spcPts val="1476"/>
              </a:lnSpc>
              <a:spcAft>
                <a:spcPts val="0"/>
              </a:spcAft>
            </a:pPr>
            <a:r>
              <a:rPr sz="1000">
                <a:solidFill>
                  <a:srgbClr val="E6EDF3"/>
                </a:solidFill>
                <a:latin typeface="Consolas"/>
              </a:rPr>
              <a:t>limit is 2</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identical commands, two different outcomes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late-arrival declared nothing and was given the namespace defaults; notice-board predates the LimitRange.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Defaulting changes the QoS class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same manifest that produced BestEffort now produces Burstable. Admission mutated the Pod on its way in.</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max is enforced, not defaulted</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container asking for a 2-core limit is refused outright with the exact ceiling quoted back.</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Nothing was created on the failure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Admission rejection means no object exists — unlike a scheduling failure, where a Pending Pod does exist.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226</a:t>
            </a:r>
          </a:p>
        </p:txBody>
      </p:sp>
    </p:spTree>
  </p:cSld>
  <p:clrMapOvr>
    <a:masterClrMapping/>
  </p:clrMapOvr>
  <p:transition xmlns:ns1="http://schemas.openxmlformats.org/markup-compatibility/2006" spd="fast" ns1:Ignorable="p14">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ResourceQuota,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ResourceQuota turns a shared cluster into a set of bounded tenancies, enforced at admission.</a:t>
            </a:r>
          </a:p>
        </p:txBody>
      </p:sp>
      <p:sp>
        <p:nvSpPr>
          <p:cNvPr id="7" name="Rectangle 6"/>
          <p:cNvSpPr/>
          <p:nvPr/>
        </p:nvSpPr>
        <p:spPr>
          <a:xfrm>
            <a:off x="777240" y="2200046"/>
            <a:ext cx="635508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labs/lab-10/manifests/31-resourcequota.yaml</a:t>
            </a:r>
          </a:p>
        </p:txBody>
      </p:sp>
      <p:sp>
        <p:nvSpPr>
          <p:cNvPr id="9" name="TextBox 8"/>
          <p:cNvSpPr txBox="1"/>
          <p:nvPr/>
        </p:nvSpPr>
        <p:spPr>
          <a:xfrm>
            <a:off x="923544" y="2620670"/>
            <a:ext cx="6062472" cy="2436876"/>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ResourceQuota</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mfs-lab-quota</a:t>
            </a:r>
          </a:p>
          <a:p>
            <a:pPr>
              <a:lnSpc>
                <a:spcPts val="1476"/>
              </a:lnSpc>
              <a:spcAft>
                <a:spcPts val="0"/>
              </a:spcAft>
            </a:pPr>
            <a:r>
              <a:rPr sz="1050">
                <a:solidFill>
                  <a:srgbClr val="E6EDF3"/>
                </a:solidFill>
                <a:latin typeface="Consolas"/>
              </a:rPr>
              <a:t>  namespace: kcna-lab10</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hard:</a:t>
            </a:r>
          </a:p>
          <a:p>
            <a:pPr>
              <a:lnSpc>
                <a:spcPts val="1476"/>
              </a:lnSpc>
              <a:spcAft>
                <a:spcPts val="0"/>
              </a:spcAft>
            </a:pPr>
            <a:r>
              <a:rPr sz="1050">
                <a:solidFill>
                  <a:srgbClr val="E6EDF3"/>
                </a:solidFill>
                <a:latin typeface="Consolas"/>
              </a:rPr>
              <a:t>    requests.cpu: "1"</a:t>
            </a:r>
          </a:p>
          <a:p>
            <a:pPr>
              <a:lnSpc>
                <a:spcPts val="1476"/>
              </a:lnSpc>
              <a:spcAft>
                <a:spcPts val="0"/>
              </a:spcAft>
            </a:pPr>
            <a:r>
              <a:rPr sz="1050">
                <a:solidFill>
                  <a:srgbClr val="E6EDF3"/>
                </a:solidFill>
                <a:latin typeface="Consolas"/>
              </a:rPr>
              <a:t>    requests.memory: 1Gi</a:t>
            </a:r>
          </a:p>
          <a:p>
            <a:pPr>
              <a:lnSpc>
                <a:spcPts val="1476"/>
              </a:lnSpc>
              <a:spcAft>
                <a:spcPts val="0"/>
              </a:spcAft>
            </a:pPr>
            <a:r>
              <a:rPr sz="1050">
                <a:solidFill>
                  <a:srgbClr val="E6EDF3"/>
                </a:solidFill>
                <a:latin typeface="Consolas"/>
              </a:rPr>
              <a:t>    limits.cpu: "3"</a:t>
            </a:r>
          </a:p>
          <a:p>
            <a:pPr>
              <a:lnSpc>
                <a:spcPts val="1476"/>
              </a:lnSpc>
              <a:spcAft>
                <a:spcPts val="0"/>
              </a:spcAft>
            </a:pPr>
            <a:r>
              <a:rPr sz="1050">
                <a:solidFill>
                  <a:srgbClr val="E6EDF3"/>
                </a:solidFill>
                <a:latin typeface="Consolas"/>
              </a:rPr>
              <a:t>    limits.memory: 2Gi</a:t>
            </a:r>
          </a:p>
          <a:p>
            <a:pPr>
              <a:lnSpc>
                <a:spcPts val="1476"/>
              </a:lnSpc>
              <a:spcAft>
                <a:spcPts val="0"/>
              </a:spcAft>
            </a:pPr>
            <a:r>
              <a:rPr sz="1050">
                <a:solidFill>
                  <a:srgbClr val="E6EDF3"/>
                </a:solidFill>
                <a:latin typeface="Consolas"/>
              </a:rPr>
              <a:t>    pods: "15"</a:t>
            </a:r>
          </a:p>
          <a:p>
            <a:pPr>
              <a:lnSpc>
                <a:spcPts val="1476"/>
              </a:lnSpc>
              <a:spcAft>
                <a:spcPts val="0"/>
              </a:spcAft>
            </a:pPr>
            <a:r>
              <a:rPr sz="1050">
                <a:solidFill>
                  <a:srgbClr val="E6EDF3"/>
                </a:solidFill>
                <a:latin typeface="Consolas"/>
              </a:rPr>
              <a:t>    count/deployments.apps: "5"</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33756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Quota is namespace-wide, LimitRange is per container</a:t>
            </a:r>
          </a:p>
        </p:txBody>
      </p:sp>
      <p:sp>
        <p:nvSpPr>
          <p:cNvPr id="14" name="TextBox 13"/>
          <p:cNvSpPr txBox="1"/>
          <p:nvPr/>
        </p:nvSpPr>
        <p:spPr>
          <a:xfrm>
            <a:off x="7973567" y="304967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caps the total the namespace may consume; the other shapes each individual container.</a:t>
            </a:r>
          </a:p>
        </p:txBody>
      </p:sp>
      <p:sp>
        <p:nvSpPr>
          <p:cNvPr id="15" name="Oval 14"/>
          <p:cNvSpPr/>
          <p:nvPr/>
        </p:nvSpPr>
        <p:spPr>
          <a:xfrm>
            <a:off x="7626096" y="3562929"/>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46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requests and limits are quota'd separately</a:t>
            </a:r>
          </a:p>
        </p:txBody>
      </p:sp>
      <p:sp>
        <p:nvSpPr>
          <p:cNvPr id="17" name="TextBox 16"/>
          <p:cNvSpPr txBox="1"/>
          <p:nvPr/>
        </p:nvSpPr>
        <p:spPr>
          <a:xfrm>
            <a:off x="7973567" y="37614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requests.cpu 1 with limits.cpu 3 allows a 3x overcommit ratio inside this namespace and no more.</a:t>
            </a:r>
          </a:p>
        </p:txBody>
      </p:sp>
      <p:sp>
        <p:nvSpPr>
          <p:cNvPr id="18" name="Oval 17"/>
          <p:cNvSpPr/>
          <p:nvPr/>
        </p:nvSpPr>
        <p:spPr>
          <a:xfrm>
            <a:off x="7626096" y="4274682"/>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639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Object counts are quota'd too</a:t>
            </a:r>
          </a:p>
        </p:txBody>
      </p:sp>
      <p:sp>
        <p:nvSpPr>
          <p:cNvPr id="20" name="TextBox 19"/>
          <p:cNvSpPr txBox="1"/>
          <p:nvPr/>
        </p:nvSpPr>
        <p:spPr>
          <a:xfrm>
            <a:off x="7973567" y="447318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count/&lt;resource&gt;.&lt;group&gt; caps the number of objects, which is how you stop runaway controllers.</a:t>
            </a:r>
          </a:p>
        </p:txBody>
      </p:sp>
      <p:sp>
        <p:nvSpPr>
          <p:cNvPr id="21" name="Oval 20"/>
          <p:cNvSpPr/>
          <p:nvPr/>
        </p:nvSpPr>
        <p:spPr>
          <a:xfrm>
            <a:off x="7626096" y="4986436"/>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814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Quota forces resources to be declared</a:t>
            </a:r>
          </a:p>
        </p:txBody>
      </p:sp>
      <p:sp>
        <p:nvSpPr>
          <p:cNvPr id="23" name="TextBox 22"/>
          <p:cNvSpPr txBox="1"/>
          <p:nvPr/>
        </p:nvSpPr>
        <p:spPr>
          <a:xfrm>
            <a:off x="7973567" y="518493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Once a compute quota exists, a Pod with no request for a quota'd resource is rejected — pair it with a LimitRange.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kubernetes.io/docs/concepts/policy/resource-quotas/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227</a:t>
            </a:r>
          </a:p>
        </p:txBody>
      </p:sp>
    </p:spTree>
  </p:cSld>
  <p:clrMapOvr>
    <a:masterClrMapping/>
  </p:clrMapOvr>
  <p:transition xmlns:ns1="http://schemas.openxmlformats.org/markup-compatibility/2006" spd="fast" ns1:Ignorable="p14">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MEASURED LAB OBSERVATION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Namespace Quota: Used Against Hard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Real numbers from the parent-verified lab run. Note the unit normalisation — the raw output mixes m, Mi and Gi.</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Millicores / MiB (measured)</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Captured from describe quota</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kubectl describe resourcequota mfs-lab-quota in Lab 10, with the three QoS Pods admitted. Units normalised to millicores and MiB for plotting.</a:t>
            </a:r>
          </a:p>
        </p:txBody>
      </p:sp>
      <p:sp>
        <p:nvSpPr>
          <p:cNvPr id="14" name="Rectangle 13"/>
          <p:cNvSpPr/>
          <p:nvPr/>
        </p:nvSpPr>
        <p:spPr>
          <a:xfrm>
            <a:off x="7927848" y="34620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437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requests.cpu is the binding constraint</a:t>
            </a:r>
          </a:p>
        </p:txBody>
      </p:sp>
      <p:sp>
        <p:nvSpPr>
          <p:cNvPr id="16" name="TextBox 15"/>
          <p:cNvSpPr txBox="1"/>
          <p:nvPr/>
        </p:nvSpPr>
        <p:spPr>
          <a:xfrm>
            <a:off x="8092440" y="36631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15% consumed against the tightest headroom. Adding one 900m Pod exceeds it while every other bar stays low.</a:t>
            </a:r>
          </a:p>
        </p:txBody>
      </p:sp>
      <p:sp>
        <p:nvSpPr>
          <p:cNvPr id="17" name="Rectangle 16"/>
          <p:cNvSpPr/>
          <p:nvPr/>
        </p:nvSpPr>
        <p:spPr>
          <a:xfrm>
            <a:off x="7927848" y="4248500"/>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2302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limits are quota'd three times higher</a:t>
            </a:r>
          </a:p>
        </p:txBody>
      </p:sp>
      <p:sp>
        <p:nvSpPr>
          <p:cNvPr id="19" name="TextBox 18"/>
          <p:cNvSpPr txBox="1"/>
          <p:nvPr/>
        </p:nvSpPr>
        <p:spPr>
          <a:xfrm>
            <a:off x="8092440" y="44496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3000m of limits against 1000m of requests is a deliberate 3x overcommit allowance for this namespace.</a:t>
            </a:r>
          </a:p>
        </p:txBody>
      </p:sp>
      <p:sp>
        <p:nvSpPr>
          <p:cNvPr id="20" name="Rectangle 19"/>
          <p:cNvSpPr/>
          <p:nvPr/>
        </p:nvSpPr>
        <p:spPr>
          <a:xfrm>
            <a:off x="7927848" y="4943444"/>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9251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Quota counts declarations, not usage</a:t>
            </a:r>
          </a:p>
        </p:txBody>
      </p:sp>
      <p:sp>
        <p:nvSpPr>
          <p:cNvPr id="22" name="TextBox 21"/>
          <p:cNvSpPr txBox="1"/>
          <p:nvPr/>
        </p:nvSpPr>
        <p:spPr>
          <a:xfrm>
            <a:off x="8092440" y="51446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Pods are nearly idle. The quota is spent the moment the Pod is admitted, whatever it actually consumes.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228</a:t>
            </a:r>
          </a:p>
        </p:txBody>
      </p:sp>
    </p:spTree>
  </p:cSld>
  <p:clrMapOvr>
    <a:masterClrMapping/>
  </p:clrMapOvr>
  <p:transition xmlns:ns1="http://schemas.openxmlformats.org/markup-compatibility/2006" spd="fast" ns1:Ignorable="p14">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Rejected by ResourceQuota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rejections in this module look similar and are not: one is per-container policy, this one is namespace budget.</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kubectl apply fails and no Pod object is created at all — there is nothing to describe and nothing Pending.</a:t>
            </a:r>
          </a:p>
        </p:txBody>
      </p:sp>
      <p:sp>
        <p:nvSpPr>
          <p:cNvPr id="11" name="Rectangle 10"/>
          <p:cNvSpPr/>
          <p:nvPr/>
        </p:nvSpPr>
        <p:spPr>
          <a:xfrm>
            <a:off x="777240" y="2913278"/>
            <a:ext cx="6172200" cy="2441448"/>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1874519"/>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60-pod-quota-violation.yaml</a:t>
            </a:r>
          </a:p>
          <a:p>
            <a:pPr>
              <a:lnSpc>
                <a:spcPts val="1476"/>
              </a:lnSpc>
              <a:spcAft>
                <a:spcPts val="0"/>
              </a:spcAft>
            </a:pPr>
            <a:r>
              <a:rPr sz="950">
                <a:solidFill>
                  <a:srgbClr val="E6EDF3"/>
                </a:solidFill>
                <a:latin typeface="Consolas"/>
              </a:rPr>
              <a:t>Error from server (Forbidden): error when creating</a:t>
            </a:r>
          </a:p>
          <a:p>
            <a:pPr>
              <a:lnSpc>
                <a:spcPts val="1476"/>
              </a:lnSpc>
              <a:spcAft>
                <a:spcPts val="0"/>
              </a:spcAft>
            </a:pPr>
            <a:r>
              <a:rPr sz="950">
                <a:solidFill>
                  <a:srgbClr val="E6EDF3"/>
                </a:solidFill>
                <a:latin typeface="Consolas"/>
              </a:rPr>
              <a:t>"manifests/60-pod-quota-violation.yaml": pods</a:t>
            </a:r>
          </a:p>
          <a:p>
            <a:pPr>
              <a:lnSpc>
                <a:spcPts val="1476"/>
              </a:lnSpc>
              <a:spcAft>
                <a:spcPts val="0"/>
              </a:spcAft>
            </a:pPr>
            <a:r>
              <a:rPr sz="950">
                <a:solidFill>
                  <a:srgbClr val="E6EDF3"/>
                </a:solidFill>
                <a:latin typeface="Consolas"/>
              </a:rPr>
              <a:t>"cargo-modeller" is forbidden: exceeded quota:</a:t>
            </a:r>
          </a:p>
          <a:p>
            <a:pPr>
              <a:lnSpc>
                <a:spcPts val="1476"/>
              </a:lnSpc>
              <a:spcAft>
                <a:spcPts val="0"/>
              </a:spcAft>
            </a:pPr>
            <a:r>
              <a:rPr sz="950">
                <a:solidFill>
                  <a:srgbClr val="E6EDF3"/>
                </a:solidFill>
                <a:latin typeface="Consolas"/>
              </a:rPr>
              <a:t>mfs-lab-quota, requested: requests.cpu=900m,</a:t>
            </a:r>
          </a:p>
          <a:p>
            <a:pPr>
              <a:lnSpc>
                <a:spcPts val="1476"/>
              </a:lnSpc>
              <a:spcAft>
                <a:spcPts val="0"/>
              </a:spcAft>
            </a:pPr>
            <a:r>
              <a:rPr sz="950">
                <a:solidFill>
                  <a:srgbClr val="E6EDF3"/>
                </a:solidFill>
                <a:latin typeface="Consolas"/>
              </a:rPr>
              <a:t>used: requests.cpu=350m, limited: requests.cpu=1</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 cargo-modeller -n kcna-lab10</a:t>
            </a:r>
          </a:p>
          <a:p>
            <a:pPr>
              <a:lnSpc>
                <a:spcPts val="1476"/>
              </a:lnSpc>
              <a:spcAft>
                <a:spcPts val="0"/>
              </a:spcAft>
            </a:pPr>
            <a:r>
              <a:rPr sz="950">
                <a:solidFill>
                  <a:srgbClr val="E6EDF3"/>
                </a:solidFill>
                <a:latin typeface="Consolas"/>
              </a:rPr>
              <a:t>Error from server (NotFound): pods</a:t>
            </a:r>
          </a:p>
          <a:p>
            <a:pPr>
              <a:lnSpc>
                <a:spcPts val="1476"/>
              </a:lnSpc>
              <a:spcAft>
                <a:spcPts val="0"/>
              </a:spcAft>
            </a:pPr>
            <a:r>
              <a:rPr sz="950">
                <a:solidFill>
                  <a:srgbClr val="E6EDF3"/>
                </a:solidFill>
                <a:latin typeface="Consolas"/>
              </a:rPr>
              <a:t>"cargo-modeller" not found</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350m is already committed in the namespace and the new Pod requests a further 900m against a hard limit of 1000m.</a:t>
            </a:r>
          </a:p>
          <a:p>
            <a:pPr>
              <a:lnSpc>
                <a:spcPct val="112000"/>
              </a:lnSpc>
              <a:spcAft>
                <a:spcPts val="200"/>
              </a:spcAft>
            </a:pPr>
            <a:r>
              <a:rPr sz="950">
                <a:solidFill>
                  <a:srgbClr val="94A3B8"/>
                </a:solidFill>
                <a:latin typeface="Arial"/>
              </a:rPr>
              <a:t>•  </a:t>
            </a:r>
            <a:r>
              <a:rPr sz="950">
                <a:solidFill>
                  <a:srgbClr val="5B6372"/>
                </a:solidFill>
                <a:latin typeface="Arial"/>
              </a:rPr>
              <a:t>The Pod's 900m passes the LimitRange, whose per-container max cpu is 1 — two different admission plugins, two different verdicts.</a:t>
            </a:r>
          </a:p>
          <a:p>
            <a:pPr>
              <a:lnSpc>
                <a:spcPct val="112000"/>
              </a:lnSpc>
              <a:spcAft>
                <a:spcPts val="200"/>
              </a:spcAft>
            </a:pPr>
            <a:r>
              <a:rPr sz="950">
                <a:solidFill>
                  <a:srgbClr val="94A3B8"/>
                </a:solidFill>
                <a:latin typeface="Arial"/>
              </a:rPr>
              <a:t>•  </a:t>
            </a:r>
            <a:r>
              <a:rPr sz="950">
                <a:solidFill>
                  <a:srgbClr val="5B6372"/>
                </a:solidFill>
                <a:latin typeface="Arial"/>
              </a:rPr>
              <a:t>Quota is evaluated by the admission controller, so the rejection happens before persistence.</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all three numbers in the message: requested, used and limited. They tell you exactly how much room is left.</a:t>
            </a:r>
          </a:p>
          <a:p>
            <a:pPr>
              <a:lnSpc>
                <a:spcPct val="112000"/>
              </a:lnSpc>
              <a:spcAft>
                <a:spcPts val="200"/>
              </a:spcAft>
            </a:pPr>
            <a:r>
              <a:rPr sz="950">
                <a:solidFill>
                  <a:srgbClr val="94A3B8"/>
                </a:solidFill>
                <a:latin typeface="Arial"/>
              </a:rPr>
              <a:t>•  </a:t>
            </a:r>
            <a:r>
              <a:rPr sz="950">
                <a:solidFill>
                  <a:srgbClr val="5B6372"/>
                </a:solidFill>
                <a:latin typeface="Arial"/>
              </a:rPr>
              <a:t>Either lower the request, free capacity by removing other Pods, or negotiate a larger quota.</a:t>
            </a:r>
          </a:p>
          <a:p>
            <a:pPr>
              <a:lnSpc>
                <a:spcPct val="112000"/>
              </a:lnSpc>
              <a:spcAft>
                <a:spcPts val="200"/>
              </a:spcAft>
            </a:pPr>
            <a:r>
              <a:rPr sz="950">
                <a:solidFill>
                  <a:srgbClr val="94A3B8"/>
                </a:solidFill>
                <a:latin typeface="Arial"/>
              </a:rPr>
              <a:t>•  </a:t>
            </a:r>
            <a:r>
              <a:rPr sz="950">
                <a:solidFill>
                  <a:srgbClr val="5B6372"/>
                </a:solidFill>
                <a:latin typeface="Arial"/>
              </a:rPr>
              <a:t>Contrast with a scheduling failure, where the object exists and sits Pending until conditions change.</a:t>
            </a:r>
          </a:p>
        </p:txBody>
      </p:sp>
      <p:sp>
        <p:nvSpPr>
          <p:cNvPr id="22" name="Rectangle 21"/>
          <p:cNvSpPr/>
          <p:nvPr/>
        </p:nvSpPr>
        <p:spPr>
          <a:xfrm>
            <a:off x="777240" y="5504688"/>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614416"/>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A request of 600m or less is admitted immediately with the same quota in place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229</a:t>
            </a:r>
          </a:p>
        </p:txBody>
      </p:sp>
    </p:spTree>
  </p:cSld>
  <p:clrMapOvr>
    <a:masterClrMapping/>
  </p:clrMapOvr>
  <p:transition xmlns:ns1="http://schemas.openxmlformats.org/markup-compatibility/2006" spd="fast" ns1:Ignorable="p14">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TWO POLICY OBJECTS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LimitRange vs ResourceQuota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2431472" cy="42062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905256" y="1837943"/>
            <a:ext cx="217544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8" name="Rectangle 7"/>
          <p:cNvSpPr/>
          <p:nvPr/>
        </p:nvSpPr>
        <p:spPr>
          <a:xfrm>
            <a:off x="3208712" y="1737360"/>
            <a:ext cx="4052454" cy="42062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3336728" y="1837943"/>
            <a:ext cx="379642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LimitRange</a:t>
            </a:r>
          </a:p>
        </p:txBody>
      </p:sp>
      <p:sp>
        <p:nvSpPr>
          <p:cNvPr id="10" name="Rectangle 9"/>
          <p:cNvSpPr/>
          <p:nvPr/>
        </p:nvSpPr>
        <p:spPr>
          <a:xfrm>
            <a:off x="7261167" y="1737360"/>
            <a:ext cx="4214552" cy="420624"/>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7389183" y="1837943"/>
            <a:ext cx="395852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ResourceQuota</a:t>
            </a:r>
          </a:p>
        </p:txBody>
      </p:sp>
      <p:sp>
        <p:nvSpPr>
          <p:cNvPr id="12" name="Rectangle 11"/>
          <p:cNvSpPr/>
          <p:nvPr/>
        </p:nvSpPr>
        <p:spPr>
          <a:xfrm>
            <a:off x="777240" y="2157984"/>
            <a:ext cx="2431472" cy="566928"/>
          </a:xfrm>
          <a:prstGeom prst="rect">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905256" y="2240279"/>
            <a:ext cx="21754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Scope of the rule</a:t>
            </a:r>
          </a:p>
        </p:txBody>
      </p:sp>
      <p:sp>
        <p:nvSpPr>
          <p:cNvPr id="14" name="Rectangle 13"/>
          <p:cNvSpPr/>
          <p:nvPr/>
        </p:nvSpPr>
        <p:spPr>
          <a:xfrm>
            <a:off x="3208712" y="2157984"/>
            <a:ext cx="4052454" cy="566928"/>
          </a:xfrm>
          <a:prstGeom prst="rect">
            <a:avLst/>
          </a:prstGeom>
          <a:solidFill>
            <a:srgbClr val="FFFFFF"/>
          </a:solidFill>
          <a:ln w="9525">
            <a:solidFill>
              <a:srgbClr val="E2E8F0"/>
            </a:solidFill>
          </a:ln>
          <a:effectLst/>
        </p:spPr>
        <p:txBody>
          <a:bodyPr rtlCol="0" anchor="ctr" wrap="square"/>
          <a:lstStyle/>
          <a:p>
            <a:pPr algn="ctr"/>
          </a:p>
        </p:txBody>
      </p:sp>
      <p:sp>
        <p:nvSpPr>
          <p:cNvPr id="15" name="TextBox 14"/>
          <p:cNvSpPr txBox="1"/>
          <p:nvPr/>
        </p:nvSpPr>
        <p:spPr>
          <a:xfrm>
            <a:off x="3336728" y="2240279"/>
            <a:ext cx="379642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container, or one Pod</a:t>
            </a:r>
          </a:p>
        </p:txBody>
      </p:sp>
      <p:sp>
        <p:nvSpPr>
          <p:cNvPr id="16" name="Rectangle 15"/>
          <p:cNvSpPr/>
          <p:nvPr/>
        </p:nvSpPr>
        <p:spPr>
          <a:xfrm>
            <a:off x="7261167" y="2157984"/>
            <a:ext cx="4214552" cy="566928"/>
          </a:xfrm>
          <a:prstGeom prst="rect">
            <a:avLst/>
          </a:prstGeom>
          <a:solidFill>
            <a:srgbClr val="FFFFFF"/>
          </a:solidFill>
          <a:ln w="9525">
            <a:solidFill>
              <a:srgbClr val="E2E8F0"/>
            </a:solidFill>
          </a:ln>
          <a:effectLst/>
        </p:spPr>
        <p:txBody>
          <a:bodyPr rtlCol="0" anchor="ctr" wrap="square"/>
          <a:lstStyle/>
          <a:p>
            <a:pPr algn="ctr"/>
          </a:p>
        </p:txBody>
      </p:sp>
      <p:sp>
        <p:nvSpPr>
          <p:cNvPr id="17" name="TextBox 16"/>
          <p:cNvSpPr txBox="1"/>
          <p:nvPr/>
        </p:nvSpPr>
        <p:spPr>
          <a:xfrm>
            <a:off x="7389183" y="2240279"/>
            <a:ext cx="395852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whole namespace, in aggregate</a:t>
            </a:r>
          </a:p>
        </p:txBody>
      </p:sp>
      <p:sp>
        <p:nvSpPr>
          <p:cNvPr id="18" name="Rectangle 17"/>
          <p:cNvSpPr/>
          <p:nvPr/>
        </p:nvSpPr>
        <p:spPr>
          <a:xfrm>
            <a:off x="777240" y="2724912"/>
            <a:ext cx="2431472" cy="566928"/>
          </a:xfrm>
          <a:prstGeom prst="rect">
            <a:avLst/>
          </a:prstGeom>
          <a:solidFill>
            <a:srgbClr val="F6F8FA"/>
          </a:solidFill>
          <a:ln w="9525">
            <a:solidFill>
              <a:srgbClr val="E2E8F0"/>
            </a:solidFill>
          </a:ln>
          <a:effectLst/>
        </p:spPr>
        <p:txBody>
          <a:bodyPr rtlCol="0" anchor="ctr" wrap="square"/>
          <a:lstStyle/>
          <a:p>
            <a:pPr algn="ctr"/>
          </a:p>
        </p:txBody>
      </p:sp>
      <p:sp>
        <p:nvSpPr>
          <p:cNvPr id="19" name="TextBox 18"/>
          <p:cNvSpPr txBox="1"/>
          <p:nvPr/>
        </p:nvSpPr>
        <p:spPr>
          <a:xfrm>
            <a:off x="905256" y="2807208"/>
            <a:ext cx="21754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Mutating?</a:t>
            </a:r>
          </a:p>
        </p:txBody>
      </p:sp>
      <p:sp>
        <p:nvSpPr>
          <p:cNvPr id="20" name="Rectangle 19"/>
          <p:cNvSpPr/>
          <p:nvPr/>
        </p:nvSpPr>
        <p:spPr>
          <a:xfrm>
            <a:off x="3208712" y="2724912"/>
            <a:ext cx="4052454" cy="566928"/>
          </a:xfrm>
          <a:prstGeom prst="rect">
            <a:avLst/>
          </a:prstGeom>
          <a:solidFill>
            <a:srgbClr val="F6F8FA"/>
          </a:solidFill>
          <a:ln w="9525">
            <a:solidFill>
              <a:srgbClr val="E2E8F0"/>
            </a:solidFill>
          </a:ln>
          <a:effectLst/>
        </p:spPr>
        <p:txBody>
          <a:bodyPr rtlCol="0" anchor="ctr" wrap="square"/>
          <a:lstStyle/>
          <a:p>
            <a:pPr algn="ctr"/>
          </a:p>
        </p:txBody>
      </p:sp>
      <p:sp>
        <p:nvSpPr>
          <p:cNvPr id="21" name="TextBox 20"/>
          <p:cNvSpPr txBox="1"/>
          <p:nvPr/>
        </p:nvSpPr>
        <p:spPr>
          <a:xfrm>
            <a:off x="3336728" y="2807208"/>
            <a:ext cx="379642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supplies default and defaultRequest to containers that omit them</a:t>
            </a:r>
          </a:p>
        </p:txBody>
      </p:sp>
      <p:sp>
        <p:nvSpPr>
          <p:cNvPr id="22" name="Rectangle 21"/>
          <p:cNvSpPr/>
          <p:nvPr/>
        </p:nvSpPr>
        <p:spPr>
          <a:xfrm>
            <a:off x="7261167" y="2724912"/>
            <a:ext cx="4214552" cy="566928"/>
          </a:xfrm>
          <a:prstGeom prst="rect">
            <a:avLst/>
          </a:prstGeom>
          <a:solidFill>
            <a:srgbClr val="F6F8FA"/>
          </a:solidFill>
          <a:ln w="9525">
            <a:solidFill>
              <a:srgbClr val="E2E8F0"/>
            </a:solidFill>
          </a:ln>
          <a:effectLst/>
        </p:spPr>
        <p:txBody>
          <a:bodyPr rtlCol="0" anchor="ctr" wrap="square"/>
          <a:lstStyle/>
          <a:p>
            <a:pPr algn="ctr"/>
          </a:p>
        </p:txBody>
      </p:sp>
      <p:sp>
        <p:nvSpPr>
          <p:cNvPr id="23" name="TextBox 22"/>
          <p:cNvSpPr txBox="1"/>
          <p:nvPr/>
        </p:nvSpPr>
        <p:spPr>
          <a:xfrm>
            <a:off x="7389183" y="2807208"/>
            <a:ext cx="395852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it only ever validates</a:t>
            </a:r>
          </a:p>
        </p:txBody>
      </p:sp>
      <p:sp>
        <p:nvSpPr>
          <p:cNvPr id="24" name="Rectangle 23"/>
          <p:cNvSpPr/>
          <p:nvPr/>
        </p:nvSpPr>
        <p:spPr>
          <a:xfrm>
            <a:off x="777240" y="3291839"/>
            <a:ext cx="2431472" cy="566928"/>
          </a:xfrm>
          <a:prstGeom prst="rect">
            <a:avLst/>
          </a:prstGeom>
          <a:solidFill>
            <a:srgbClr val="FFFFFF"/>
          </a:solidFill>
          <a:ln w="9525">
            <a:solidFill>
              <a:srgbClr val="E2E8F0"/>
            </a:solidFill>
          </a:ln>
          <a:effectLst/>
        </p:spPr>
        <p:txBody>
          <a:bodyPr rtlCol="0" anchor="ctr" wrap="square"/>
          <a:lstStyle/>
          <a:p>
            <a:pPr algn="ctr"/>
          </a:p>
        </p:txBody>
      </p:sp>
      <p:sp>
        <p:nvSpPr>
          <p:cNvPr id="25" name="TextBox 24"/>
          <p:cNvSpPr txBox="1"/>
          <p:nvPr/>
        </p:nvSpPr>
        <p:spPr>
          <a:xfrm>
            <a:off x="905256" y="3374135"/>
            <a:ext cx="21754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Validating?</a:t>
            </a:r>
          </a:p>
        </p:txBody>
      </p:sp>
      <p:sp>
        <p:nvSpPr>
          <p:cNvPr id="26" name="Rectangle 25"/>
          <p:cNvSpPr/>
          <p:nvPr/>
        </p:nvSpPr>
        <p:spPr>
          <a:xfrm>
            <a:off x="3208712" y="3291839"/>
            <a:ext cx="4052454" cy="566928"/>
          </a:xfrm>
          <a:prstGeom prst="rect">
            <a:avLst/>
          </a:prstGeom>
          <a:solidFill>
            <a:srgbClr val="FFFFFF"/>
          </a:solidFill>
          <a:ln w="9525">
            <a:solidFill>
              <a:srgbClr val="E2E8F0"/>
            </a:solidFill>
          </a:ln>
          <a:effectLst/>
        </p:spPr>
        <p:txBody>
          <a:bodyPr rtlCol="0" anchor="ctr" wrap="square"/>
          <a:lstStyle/>
          <a:p>
            <a:pPr algn="ctr"/>
          </a:p>
        </p:txBody>
      </p:sp>
      <p:sp>
        <p:nvSpPr>
          <p:cNvPr id="27" name="TextBox 26"/>
          <p:cNvSpPr txBox="1"/>
          <p:nvPr/>
        </p:nvSpPr>
        <p:spPr>
          <a:xfrm>
            <a:off x="3336728" y="3374135"/>
            <a:ext cx="379642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enforces min and max per container</a:t>
            </a:r>
          </a:p>
        </p:txBody>
      </p:sp>
      <p:sp>
        <p:nvSpPr>
          <p:cNvPr id="28" name="Rectangle 27"/>
          <p:cNvSpPr/>
          <p:nvPr/>
        </p:nvSpPr>
        <p:spPr>
          <a:xfrm>
            <a:off x="7261167" y="3291839"/>
            <a:ext cx="4214552" cy="566928"/>
          </a:xfrm>
          <a:prstGeom prst="rect">
            <a:avLst/>
          </a:prstGeom>
          <a:solidFill>
            <a:srgbClr val="FFFFFF"/>
          </a:solidFill>
          <a:ln w="9525">
            <a:solidFill>
              <a:srgbClr val="E2E8F0"/>
            </a:solidFill>
          </a:ln>
          <a:effectLst/>
        </p:spPr>
        <p:txBody>
          <a:bodyPr rtlCol="0" anchor="ctr" wrap="square"/>
          <a:lstStyle/>
          <a:p>
            <a:pPr algn="ctr"/>
          </a:p>
        </p:txBody>
      </p:sp>
      <p:sp>
        <p:nvSpPr>
          <p:cNvPr id="29" name="TextBox 28"/>
          <p:cNvSpPr txBox="1"/>
          <p:nvPr/>
        </p:nvSpPr>
        <p:spPr>
          <a:xfrm>
            <a:off x="7389183" y="3374135"/>
            <a:ext cx="395852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rejects when the namespace total would exceed hard</a:t>
            </a:r>
          </a:p>
        </p:txBody>
      </p:sp>
      <p:sp>
        <p:nvSpPr>
          <p:cNvPr id="30" name="Rectangle 29"/>
          <p:cNvSpPr/>
          <p:nvPr/>
        </p:nvSpPr>
        <p:spPr>
          <a:xfrm>
            <a:off x="777240" y="3858768"/>
            <a:ext cx="2431472" cy="566928"/>
          </a:xfrm>
          <a:prstGeom prst="rect">
            <a:avLst/>
          </a:prstGeom>
          <a:solidFill>
            <a:srgbClr val="F6F8FA"/>
          </a:solidFill>
          <a:ln w="9525">
            <a:solidFill>
              <a:srgbClr val="E2E8F0"/>
            </a:solidFill>
          </a:ln>
          <a:effectLst/>
        </p:spPr>
        <p:txBody>
          <a:bodyPr rtlCol="0" anchor="ctr" wrap="square"/>
          <a:lstStyle/>
          <a:p>
            <a:pPr algn="ctr"/>
          </a:p>
        </p:txBody>
      </p:sp>
      <p:sp>
        <p:nvSpPr>
          <p:cNvPr id="31" name="TextBox 30"/>
          <p:cNvSpPr txBox="1"/>
          <p:nvPr/>
        </p:nvSpPr>
        <p:spPr>
          <a:xfrm>
            <a:off x="905256" y="3941063"/>
            <a:ext cx="21754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Also limits object counts?</a:t>
            </a:r>
          </a:p>
        </p:txBody>
      </p:sp>
      <p:sp>
        <p:nvSpPr>
          <p:cNvPr id="32" name="Rectangle 31"/>
          <p:cNvSpPr/>
          <p:nvPr/>
        </p:nvSpPr>
        <p:spPr>
          <a:xfrm>
            <a:off x="3208712" y="3858768"/>
            <a:ext cx="4052454" cy="566928"/>
          </a:xfrm>
          <a:prstGeom prst="rect">
            <a:avLst/>
          </a:prstGeom>
          <a:solidFill>
            <a:srgbClr val="F6F8FA"/>
          </a:solidFill>
          <a:ln w="9525">
            <a:solidFill>
              <a:srgbClr val="E2E8F0"/>
            </a:solidFill>
          </a:ln>
          <a:effectLst/>
        </p:spPr>
        <p:txBody>
          <a:bodyPr rtlCol="0" anchor="ctr" wrap="square"/>
          <a:lstStyle/>
          <a:p>
            <a:pPr algn="ctr"/>
          </a:p>
        </p:txBody>
      </p:sp>
      <p:sp>
        <p:nvSpPr>
          <p:cNvPr id="33" name="TextBox 32"/>
          <p:cNvSpPr txBox="1"/>
          <p:nvPr/>
        </p:nvSpPr>
        <p:spPr>
          <a:xfrm>
            <a:off x="3336728" y="3941063"/>
            <a:ext cx="379642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34" name="Rectangle 33"/>
          <p:cNvSpPr/>
          <p:nvPr/>
        </p:nvSpPr>
        <p:spPr>
          <a:xfrm>
            <a:off x="7261167" y="3858768"/>
            <a:ext cx="4214552" cy="566928"/>
          </a:xfrm>
          <a:prstGeom prst="rect">
            <a:avLst/>
          </a:prstGeom>
          <a:solidFill>
            <a:srgbClr val="F6F8FA"/>
          </a:solidFill>
          <a:ln w="9525">
            <a:solidFill>
              <a:srgbClr val="E2E8F0"/>
            </a:solidFill>
          </a:ln>
          <a:effectLst/>
        </p:spPr>
        <p:txBody>
          <a:bodyPr rtlCol="0" anchor="ctr" wrap="square"/>
          <a:lstStyle/>
          <a:p>
            <a:pPr algn="ctr"/>
          </a:p>
        </p:txBody>
      </p:sp>
      <p:sp>
        <p:nvSpPr>
          <p:cNvPr id="35" name="TextBox 34"/>
          <p:cNvSpPr txBox="1"/>
          <p:nvPr/>
        </p:nvSpPr>
        <p:spPr>
          <a:xfrm>
            <a:off x="7389183" y="3941063"/>
            <a:ext cx="395852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pods, services, and count/&lt;resource&gt;.&lt;group&gt;</a:t>
            </a:r>
          </a:p>
        </p:txBody>
      </p:sp>
      <p:sp>
        <p:nvSpPr>
          <p:cNvPr id="36" name="Rectangle 35"/>
          <p:cNvSpPr/>
          <p:nvPr/>
        </p:nvSpPr>
        <p:spPr>
          <a:xfrm>
            <a:off x="777240" y="4425696"/>
            <a:ext cx="2431472" cy="566928"/>
          </a:xfrm>
          <a:prstGeom prst="rect">
            <a:avLst/>
          </a:prstGeom>
          <a:solidFill>
            <a:srgbClr val="FFFFFF"/>
          </a:solidFill>
          <a:ln w="9525">
            <a:solidFill>
              <a:srgbClr val="E2E8F0"/>
            </a:solidFill>
          </a:ln>
          <a:effectLst/>
        </p:spPr>
        <p:txBody>
          <a:bodyPr rtlCol="0" anchor="ctr" wrap="square"/>
          <a:lstStyle/>
          <a:p>
            <a:pPr algn="ctr"/>
          </a:p>
        </p:txBody>
      </p:sp>
      <p:sp>
        <p:nvSpPr>
          <p:cNvPr id="37" name="TextBox 36"/>
          <p:cNvSpPr txBox="1"/>
          <p:nvPr/>
        </p:nvSpPr>
        <p:spPr>
          <a:xfrm>
            <a:off x="905256" y="4507992"/>
            <a:ext cx="21754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Typical failure text</a:t>
            </a:r>
          </a:p>
        </p:txBody>
      </p:sp>
      <p:sp>
        <p:nvSpPr>
          <p:cNvPr id="38" name="Rectangle 37"/>
          <p:cNvSpPr/>
          <p:nvPr/>
        </p:nvSpPr>
        <p:spPr>
          <a:xfrm>
            <a:off x="3208712" y="4425696"/>
            <a:ext cx="4052454" cy="566928"/>
          </a:xfrm>
          <a:prstGeom prst="rect">
            <a:avLst/>
          </a:prstGeom>
          <a:solidFill>
            <a:srgbClr val="FFFFFF"/>
          </a:solidFill>
          <a:ln w="9525">
            <a:solidFill>
              <a:srgbClr val="E2E8F0"/>
            </a:solidFill>
          </a:ln>
          <a:effectLst/>
        </p:spPr>
        <p:txBody>
          <a:bodyPr rtlCol="0" anchor="ctr" wrap="square"/>
          <a:lstStyle/>
          <a:p>
            <a:pPr algn="ctr"/>
          </a:p>
        </p:txBody>
      </p:sp>
      <p:sp>
        <p:nvSpPr>
          <p:cNvPr id="39" name="TextBox 38"/>
          <p:cNvSpPr txBox="1"/>
          <p:nvPr/>
        </p:nvSpPr>
        <p:spPr>
          <a:xfrm>
            <a:off x="3336728" y="4507992"/>
            <a:ext cx="3796422"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maximum cpu usage per Container is 1, but limit is 2</a:t>
            </a:r>
          </a:p>
        </p:txBody>
      </p:sp>
      <p:sp>
        <p:nvSpPr>
          <p:cNvPr id="40" name="Rectangle 39"/>
          <p:cNvSpPr/>
          <p:nvPr/>
        </p:nvSpPr>
        <p:spPr>
          <a:xfrm>
            <a:off x="7261167" y="4425696"/>
            <a:ext cx="4214552" cy="566928"/>
          </a:xfrm>
          <a:prstGeom prst="rect">
            <a:avLst/>
          </a:prstGeom>
          <a:solidFill>
            <a:srgbClr val="FFFFFF"/>
          </a:solidFill>
          <a:ln w="9525">
            <a:solidFill>
              <a:srgbClr val="E2E8F0"/>
            </a:solidFill>
          </a:ln>
          <a:effectLst/>
        </p:spPr>
        <p:txBody>
          <a:bodyPr rtlCol="0" anchor="ctr" wrap="square"/>
          <a:lstStyle/>
          <a:p>
            <a:pPr algn="ctr"/>
          </a:p>
        </p:txBody>
      </p:sp>
      <p:sp>
        <p:nvSpPr>
          <p:cNvPr id="41" name="TextBox 40"/>
          <p:cNvSpPr txBox="1"/>
          <p:nvPr/>
        </p:nvSpPr>
        <p:spPr>
          <a:xfrm>
            <a:off x="7389183" y="4507992"/>
            <a:ext cx="395852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exceeded quota: ..., requested: ..., used: ..., limited: ...</a:t>
            </a:r>
          </a:p>
        </p:txBody>
      </p:sp>
      <p:sp>
        <p:nvSpPr>
          <p:cNvPr id="42" name="Rectangle 41"/>
          <p:cNvSpPr/>
          <p:nvPr/>
        </p:nvSpPr>
        <p:spPr>
          <a:xfrm>
            <a:off x="777240" y="5175504"/>
            <a:ext cx="10698480" cy="566928"/>
          </a:xfrm>
          <a:prstGeom prst="rect">
            <a:avLst/>
          </a:prstGeom>
          <a:solidFill>
            <a:srgbClr val="E8F7EE"/>
          </a:solidFill>
          <a:ln>
            <a:noFill/>
          </a:ln>
          <a:effectLst/>
        </p:spPr>
        <p:txBody>
          <a:bodyPr rtlCol="0" anchor="ctr" wrap="square"/>
          <a:lstStyle/>
          <a:p>
            <a:pPr algn="ctr"/>
          </a:p>
        </p:txBody>
      </p:sp>
      <p:sp>
        <p:nvSpPr>
          <p:cNvPr id="43" name="Rectangle 42"/>
          <p:cNvSpPr/>
          <p:nvPr/>
        </p:nvSpPr>
        <p:spPr>
          <a:xfrm>
            <a:off x="777240" y="5175504"/>
            <a:ext cx="50292" cy="566928"/>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996695" y="523036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5" name="TextBox 44"/>
          <p:cNvSpPr txBox="1"/>
          <p:nvPr/>
        </p:nvSpPr>
        <p:spPr>
          <a:xfrm>
            <a:off x="996695" y="54315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Use both: the LimitRange guarantees every Pod declares something, the quota caps what the namespace can declare in total.</a:t>
            </a:r>
          </a:p>
        </p:txBody>
      </p:sp>
      <p:sp>
        <p:nvSpPr>
          <p:cNvPr id="46" name="TextBox 4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kubernetes.io/docs/concepts/policy/resource-quotas/</a:t>
            </a:r>
          </a:p>
        </p:txBody>
      </p:sp>
      <p:sp>
        <p:nvSpPr>
          <p:cNvPr id="47" name="TextBox 4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8" name="TextBox 4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9" name="TextBox 4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230</a:t>
            </a:r>
          </a:p>
        </p:txBody>
      </p:sp>
    </p:spTree>
  </p:cSld>
  <p:clrMapOvr>
    <a:masterClrMapping/>
  </p:clrMapOvr>
  <p:transition xmlns:ns1="http://schemas.openxmlformats.org/markup-compatibility/2006" spd="fast" ns1:Ignorable="p14">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SECOND-ORDER CONTROLLERS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Autoscalers, Four Signals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Ask two questions of any autoscaler: what does it change, and what signal does it read?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Horizontal Pod Autoscaler (HPA)</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Changes .spec.replicas on a scale subresource. Signal: CPU or memory utilisation, or custom and external metrics. autoscaling/v2.</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Vertical Pod Autoscaler (VPA)</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Changes requests and limits for containers. Signal: observed usage history. An add-on, not core Kubernetes.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Cluster Autoscaler</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Adds and removes nodes. Signal: Pods that are Pending because no node can fit them, and nodes that are underused.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KEDA</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Event-driven scaling, including to and from zero. Signal: queue depth, topic lag, cron and dozens of other scalers. A CNCF graduated project.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They compose in one direction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HPA adds Pods, those Pods go Pending, the Cluster Autoscaler adds a node. That is the intended chain.</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HPA and VPA conflict on CPU</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Both would react to the same signal. Run VPA in recommendation-only mode, or scope them to different resources.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kubernetes.io/docs/concepts/workloads/autoscaling/</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231</a:t>
            </a:r>
          </a:p>
        </p:txBody>
      </p:sp>
    </p:spTree>
  </p:cSld>
  <p:clrMapOvr>
    <a:masterClrMapping/>
  </p:clrMapOvr>
  <p:transition xmlns:ns1="http://schemas.openxmlformats.org/markup-compatibility/2006" spd="fast" ns1:Ignorable="p14">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CHOOSING AN AUTOSCALER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Each One Changes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970772" cy="420624"/>
          </a:xfrm>
          <a:prstGeom prst="rect">
            <a:avLst/>
          </a:prstGeom>
          <a:solidFill>
            <a:srgbClr val="1F6FEB"/>
          </a:solidFill>
          <a:ln>
            <a:noFill/>
          </a:ln>
          <a:effectLst/>
        </p:spPr>
        <p:txBody>
          <a:bodyPr rtlCol="0" anchor="ctr" wrap="square"/>
          <a:lstStyle/>
          <a:p>
            <a:pPr algn="ctr"/>
          </a:p>
        </p:txBody>
      </p:sp>
      <p:sp>
        <p:nvSpPr>
          <p:cNvPr id="7" name="TextBox 6"/>
          <p:cNvSpPr txBox="1"/>
          <p:nvPr/>
        </p:nvSpPr>
        <p:spPr>
          <a:xfrm>
            <a:off x="905256" y="1837943"/>
            <a:ext cx="171474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Autoscaler</a:t>
            </a:r>
          </a:p>
        </p:txBody>
      </p:sp>
      <p:sp>
        <p:nvSpPr>
          <p:cNvPr id="8" name="Rectangle 7"/>
          <p:cNvSpPr/>
          <p:nvPr/>
        </p:nvSpPr>
        <p:spPr>
          <a:xfrm>
            <a:off x="2748012" y="1737360"/>
            <a:ext cx="2956158" cy="42062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2876028" y="1837943"/>
            <a:ext cx="270012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Changes</a:t>
            </a:r>
          </a:p>
        </p:txBody>
      </p:sp>
      <p:sp>
        <p:nvSpPr>
          <p:cNvPr id="10" name="Rectangle 9"/>
          <p:cNvSpPr/>
          <p:nvPr/>
        </p:nvSpPr>
        <p:spPr>
          <a:xfrm>
            <a:off x="5704171" y="1737360"/>
            <a:ext cx="3378467" cy="420624"/>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5832187" y="1837943"/>
            <a:ext cx="312243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Reads</a:t>
            </a:r>
          </a:p>
        </p:txBody>
      </p:sp>
      <p:sp>
        <p:nvSpPr>
          <p:cNvPr id="12" name="Rectangle 11"/>
          <p:cNvSpPr/>
          <p:nvPr/>
        </p:nvSpPr>
        <p:spPr>
          <a:xfrm>
            <a:off x="9082638" y="1737360"/>
            <a:ext cx="2393081" cy="420624"/>
          </a:xfrm>
          <a:prstGeom prst="rect">
            <a:avLst/>
          </a:prstGeom>
          <a:solidFill>
            <a:srgbClr val="1F6FEB"/>
          </a:solidFill>
          <a:ln>
            <a:noFill/>
          </a:ln>
          <a:effectLst/>
        </p:spPr>
        <p:txBody>
          <a:bodyPr rtlCol="0" anchor="ctr" wrap="square"/>
          <a:lstStyle/>
          <a:p>
            <a:pPr algn="ctr"/>
          </a:p>
        </p:txBody>
      </p:sp>
      <p:sp>
        <p:nvSpPr>
          <p:cNvPr id="13" name="TextBox 12"/>
          <p:cNvSpPr txBox="1"/>
          <p:nvPr/>
        </p:nvSpPr>
        <p:spPr>
          <a:xfrm>
            <a:off x="9210654" y="1837943"/>
            <a:ext cx="213704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Ships with Kubernetes?</a:t>
            </a:r>
          </a:p>
        </p:txBody>
      </p:sp>
      <p:sp>
        <p:nvSpPr>
          <p:cNvPr id="14" name="Rectangle 13"/>
          <p:cNvSpPr/>
          <p:nvPr/>
        </p:nvSpPr>
        <p:spPr>
          <a:xfrm>
            <a:off x="777240" y="2157984"/>
            <a:ext cx="1970772" cy="566928"/>
          </a:xfrm>
          <a:prstGeom prst="rect">
            <a:avLst/>
          </a:prstGeom>
          <a:solidFill>
            <a:srgbClr val="FFFFFF"/>
          </a:solidFill>
          <a:ln w="9525">
            <a:solidFill>
              <a:srgbClr val="E2E8F0"/>
            </a:solidFill>
          </a:ln>
          <a:effectLst/>
        </p:spPr>
        <p:txBody>
          <a:bodyPr rtlCol="0" anchor="ctr" wrap="square"/>
          <a:lstStyle/>
          <a:p>
            <a:pPr algn="ctr"/>
          </a:p>
        </p:txBody>
      </p:sp>
      <p:sp>
        <p:nvSpPr>
          <p:cNvPr id="15" name="TextBox 14"/>
          <p:cNvSpPr txBox="1"/>
          <p:nvPr/>
        </p:nvSpPr>
        <p:spPr>
          <a:xfrm>
            <a:off x="905256" y="2240279"/>
            <a:ext cx="17147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HPA</a:t>
            </a:r>
          </a:p>
        </p:txBody>
      </p:sp>
      <p:sp>
        <p:nvSpPr>
          <p:cNvPr id="16" name="Rectangle 15"/>
          <p:cNvSpPr/>
          <p:nvPr/>
        </p:nvSpPr>
        <p:spPr>
          <a:xfrm>
            <a:off x="2748012" y="2157984"/>
            <a:ext cx="2956158" cy="566928"/>
          </a:xfrm>
          <a:prstGeom prst="rect">
            <a:avLst/>
          </a:prstGeom>
          <a:solidFill>
            <a:srgbClr val="FFFFFF"/>
          </a:solidFill>
          <a:ln w="9525">
            <a:solidFill>
              <a:srgbClr val="E2E8F0"/>
            </a:solidFill>
          </a:ln>
          <a:effectLst/>
        </p:spPr>
        <p:txBody>
          <a:bodyPr rtlCol="0" anchor="ctr" wrap="square"/>
          <a:lstStyle/>
          <a:p>
            <a:pPr algn="ctr"/>
          </a:p>
        </p:txBody>
      </p:sp>
      <p:sp>
        <p:nvSpPr>
          <p:cNvPr id="17" name="TextBox 16"/>
          <p:cNvSpPr txBox="1"/>
          <p:nvPr/>
        </p:nvSpPr>
        <p:spPr>
          <a:xfrm>
            <a:off x="2876028" y="2240279"/>
            <a:ext cx="270012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Replica count of a scalable workload</a:t>
            </a:r>
          </a:p>
        </p:txBody>
      </p:sp>
      <p:sp>
        <p:nvSpPr>
          <p:cNvPr id="18" name="Rectangle 17"/>
          <p:cNvSpPr/>
          <p:nvPr/>
        </p:nvSpPr>
        <p:spPr>
          <a:xfrm>
            <a:off x="5704171" y="2157984"/>
            <a:ext cx="3378467" cy="566928"/>
          </a:xfrm>
          <a:prstGeom prst="rect">
            <a:avLst/>
          </a:prstGeom>
          <a:solidFill>
            <a:srgbClr val="FFFFFF"/>
          </a:solidFill>
          <a:ln w="9525">
            <a:solidFill>
              <a:srgbClr val="E2E8F0"/>
            </a:solidFill>
          </a:ln>
          <a:effectLst/>
        </p:spPr>
        <p:txBody>
          <a:bodyPr rtlCol="0" anchor="ctr" wrap="square"/>
          <a:lstStyle/>
          <a:p>
            <a:pPr algn="ctr"/>
          </a:p>
        </p:txBody>
      </p:sp>
      <p:sp>
        <p:nvSpPr>
          <p:cNvPr id="19" name="TextBox 18"/>
          <p:cNvSpPr txBox="1"/>
          <p:nvPr/>
        </p:nvSpPr>
        <p:spPr>
          <a:xfrm>
            <a:off x="5832187" y="2240279"/>
            <a:ext cx="31224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metrics.k8s.io, custom.metrics.k8s.io, external.metrics.k8s.io</a:t>
            </a:r>
          </a:p>
        </p:txBody>
      </p:sp>
      <p:sp>
        <p:nvSpPr>
          <p:cNvPr id="20" name="Rectangle 19"/>
          <p:cNvSpPr/>
          <p:nvPr/>
        </p:nvSpPr>
        <p:spPr>
          <a:xfrm>
            <a:off x="9082638" y="2157984"/>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21" name="TextBox 20"/>
          <p:cNvSpPr txBox="1"/>
          <p:nvPr/>
        </p:nvSpPr>
        <p:spPr>
          <a:xfrm>
            <a:off x="9210654" y="2240279"/>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autoscaling/v2 in-tree</a:t>
            </a:r>
          </a:p>
        </p:txBody>
      </p:sp>
      <p:sp>
        <p:nvSpPr>
          <p:cNvPr id="22" name="Rectangle 21"/>
          <p:cNvSpPr/>
          <p:nvPr/>
        </p:nvSpPr>
        <p:spPr>
          <a:xfrm>
            <a:off x="777240" y="2724912"/>
            <a:ext cx="1970772" cy="566928"/>
          </a:xfrm>
          <a:prstGeom prst="rect">
            <a:avLst/>
          </a:prstGeom>
          <a:solidFill>
            <a:srgbClr val="F6F8FA"/>
          </a:solidFill>
          <a:ln w="9525">
            <a:solidFill>
              <a:srgbClr val="E2E8F0"/>
            </a:solidFill>
          </a:ln>
          <a:effectLst/>
        </p:spPr>
        <p:txBody>
          <a:bodyPr rtlCol="0" anchor="ctr" wrap="square"/>
          <a:lstStyle/>
          <a:p>
            <a:pPr algn="ctr"/>
          </a:p>
        </p:txBody>
      </p:sp>
      <p:sp>
        <p:nvSpPr>
          <p:cNvPr id="23" name="TextBox 22"/>
          <p:cNvSpPr txBox="1"/>
          <p:nvPr/>
        </p:nvSpPr>
        <p:spPr>
          <a:xfrm>
            <a:off x="905256" y="2807208"/>
            <a:ext cx="17147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VPA</a:t>
            </a:r>
          </a:p>
        </p:txBody>
      </p:sp>
      <p:sp>
        <p:nvSpPr>
          <p:cNvPr id="24" name="Rectangle 23"/>
          <p:cNvSpPr/>
          <p:nvPr/>
        </p:nvSpPr>
        <p:spPr>
          <a:xfrm>
            <a:off x="2748012" y="2724912"/>
            <a:ext cx="2956158" cy="566928"/>
          </a:xfrm>
          <a:prstGeom prst="rect">
            <a:avLst/>
          </a:prstGeom>
          <a:solidFill>
            <a:srgbClr val="F6F8FA"/>
          </a:solidFill>
          <a:ln w="9525">
            <a:solidFill>
              <a:srgbClr val="E2E8F0"/>
            </a:solidFill>
          </a:ln>
          <a:effectLst/>
        </p:spPr>
        <p:txBody>
          <a:bodyPr rtlCol="0" anchor="ctr" wrap="square"/>
          <a:lstStyle/>
          <a:p>
            <a:pPr algn="ctr"/>
          </a:p>
        </p:txBody>
      </p:sp>
      <p:sp>
        <p:nvSpPr>
          <p:cNvPr id="25" name="TextBox 24"/>
          <p:cNvSpPr txBox="1"/>
          <p:nvPr/>
        </p:nvSpPr>
        <p:spPr>
          <a:xfrm>
            <a:off x="2876028" y="2807208"/>
            <a:ext cx="270012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Container requests and limits</a:t>
            </a:r>
          </a:p>
        </p:txBody>
      </p:sp>
      <p:sp>
        <p:nvSpPr>
          <p:cNvPr id="26" name="Rectangle 25"/>
          <p:cNvSpPr/>
          <p:nvPr/>
        </p:nvSpPr>
        <p:spPr>
          <a:xfrm>
            <a:off x="5704171" y="2724912"/>
            <a:ext cx="3378467" cy="566928"/>
          </a:xfrm>
          <a:prstGeom prst="rect">
            <a:avLst/>
          </a:prstGeom>
          <a:solidFill>
            <a:srgbClr val="F6F8FA"/>
          </a:solidFill>
          <a:ln w="9525">
            <a:solidFill>
              <a:srgbClr val="E2E8F0"/>
            </a:solidFill>
          </a:ln>
          <a:effectLst/>
        </p:spPr>
        <p:txBody>
          <a:bodyPr rtlCol="0" anchor="ctr" wrap="square"/>
          <a:lstStyle/>
          <a:p>
            <a:pPr algn="ctr"/>
          </a:p>
        </p:txBody>
      </p:sp>
      <p:sp>
        <p:nvSpPr>
          <p:cNvPr id="27" name="TextBox 26"/>
          <p:cNvSpPr txBox="1"/>
          <p:nvPr/>
        </p:nvSpPr>
        <p:spPr>
          <a:xfrm>
            <a:off x="5832187" y="2807208"/>
            <a:ext cx="31224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Historical usage from the metrics pipeline</a:t>
            </a:r>
          </a:p>
        </p:txBody>
      </p:sp>
      <p:sp>
        <p:nvSpPr>
          <p:cNvPr id="28" name="Rectangle 27"/>
          <p:cNvSpPr/>
          <p:nvPr/>
        </p:nvSpPr>
        <p:spPr>
          <a:xfrm>
            <a:off x="9082638" y="2724912"/>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29" name="TextBox 28"/>
          <p:cNvSpPr txBox="1"/>
          <p:nvPr/>
        </p:nvSpPr>
        <p:spPr>
          <a:xfrm>
            <a:off x="9210654" y="2807208"/>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autoscaler add-on</a:t>
            </a:r>
          </a:p>
        </p:txBody>
      </p:sp>
      <p:sp>
        <p:nvSpPr>
          <p:cNvPr id="30" name="Rectangle 29"/>
          <p:cNvSpPr/>
          <p:nvPr/>
        </p:nvSpPr>
        <p:spPr>
          <a:xfrm>
            <a:off x="777240" y="3291839"/>
            <a:ext cx="1970772" cy="566928"/>
          </a:xfrm>
          <a:prstGeom prst="rect">
            <a:avLst/>
          </a:prstGeom>
          <a:solidFill>
            <a:srgbClr val="FFFFFF"/>
          </a:solidFill>
          <a:ln w="9525">
            <a:solidFill>
              <a:srgbClr val="E2E8F0"/>
            </a:solidFill>
          </a:ln>
          <a:effectLst/>
        </p:spPr>
        <p:txBody>
          <a:bodyPr rtlCol="0" anchor="ctr" wrap="square"/>
          <a:lstStyle/>
          <a:p>
            <a:pPr algn="ctr"/>
          </a:p>
        </p:txBody>
      </p:sp>
      <p:sp>
        <p:nvSpPr>
          <p:cNvPr id="31" name="TextBox 30"/>
          <p:cNvSpPr txBox="1"/>
          <p:nvPr/>
        </p:nvSpPr>
        <p:spPr>
          <a:xfrm>
            <a:off x="905256" y="3374135"/>
            <a:ext cx="17147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Cluster Autoscaler</a:t>
            </a:r>
          </a:p>
        </p:txBody>
      </p:sp>
      <p:sp>
        <p:nvSpPr>
          <p:cNvPr id="32" name="Rectangle 31"/>
          <p:cNvSpPr/>
          <p:nvPr/>
        </p:nvSpPr>
        <p:spPr>
          <a:xfrm>
            <a:off x="2748012" y="3291839"/>
            <a:ext cx="2956158" cy="566928"/>
          </a:xfrm>
          <a:prstGeom prst="rect">
            <a:avLst/>
          </a:prstGeom>
          <a:solidFill>
            <a:srgbClr val="FFFFFF"/>
          </a:solidFill>
          <a:ln w="9525">
            <a:solidFill>
              <a:srgbClr val="E2E8F0"/>
            </a:solidFill>
          </a:ln>
          <a:effectLst/>
        </p:spPr>
        <p:txBody>
          <a:bodyPr rtlCol="0" anchor="ctr" wrap="square"/>
          <a:lstStyle/>
          <a:p>
            <a:pPr algn="ctr"/>
          </a:p>
        </p:txBody>
      </p:sp>
      <p:sp>
        <p:nvSpPr>
          <p:cNvPr id="33" name="TextBox 32"/>
          <p:cNvSpPr txBox="1"/>
          <p:nvPr/>
        </p:nvSpPr>
        <p:spPr>
          <a:xfrm>
            <a:off x="2876028" y="3374135"/>
            <a:ext cx="270012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Number of nodes in a node group</a:t>
            </a:r>
          </a:p>
        </p:txBody>
      </p:sp>
      <p:sp>
        <p:nvSpPr>
          <p:cNvPr id="34" name="Rectangle 33"/>
          <p:cNvSpPr/>
          <p:nvPr/>
        </p:nvSpPr>
        <p:spPr>
          <a:xfrm>
            <a:off x="5704171" y="3291839"/>
            <a:ext cx="3378467" cy="566928"/>
          </a:xfrm>
          <a:prstGeom prst="rect">
            <a:avLst/>
          </a:prstGeom>
          <a:solidFill>
            <a:srgbClr val="FFFFFF"/>
          </a:solidFill>
          <a:ln w="9525">
            <a:solidFill>
              <a:srgbClr val="E2E8F0"/>
            </a:solidFill>
          </a:ln>
          <a:effectLst/>
        </p:spPr>
        <p:txBody>
          <a:bodyPr rtlCol="0" anchor="ctr" wrap="square"/>
          <a:lstStyle/>
          <a:p>
            <a:pPr algn="ctr"/>
          </a:p>
        </p:txBody>
      </p:sp>
      <p:sp>
        <p:nvSpPr>
          <p:cNvPr id="35" name="TextBox 34"/>
          <p:cNvSpPr txBox="1"/>
          <p:nvPr/>
        </p:nvSpPr>
        <p:spPr>
          <a:xfrm>
            <a:off x="5832187" y="3374135"/>
            <a:ext cx="31224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Unschedulable Pods and node utilisation</a:t>
            </a:r>
          </a:p>
        </p:txBody>
      </p:sp>
      <p:sp>
        <p:nvSpPr>
          <p:cNvPr id="36" name="Rectangle 35"/>
          <p:cNvSpPr/>
          <p:nvPr/>
        </p:nvSpPr>
        <p:spPr>
          <a:xfrm>
            <a:off x="9082638" y="3291839"/>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37" name="TextBox 36"/>
          <p:cNvSpPr txBox="1"/>
          <p:nvPr/>
        </p:nvSpPr>
        <p:spPr>
          <a:xfrm>
            <a:off x="9210654" y="3374135"/>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add-on, provider-specific</a:t>
            </a:r>
          </a:p>
        </p:txBody>
      </p:sp>
      <p:sp>
        <p:nvSpPr>
          <p:cNvPr id="38" name="Rectangle 37"/>
          <p:cNvSpPr/>
          <p:nvPr/>
        </p:nvSpPr>
        <p:spPr>
          <a:xfrm>
            <a:off x="777240" y="3858768"/>
            <a:ext cx="1970772" cy="566928"/>
          </a:xfrm>
          <a:prstGeom prst="rect">
            <a:avLst/>
          </a:prstGeom>
          <a:solidFill>
            <a:srgbClr val="F6F8FA"/>
          </a:solidFill>
          <a:ln w="9525">
            <a:solidFill>
              <a:srgbClr val="E2E8F0"/>
            </a:solidFill>
          </a:ln>
          <a:effectLst/>
        </p:spPr>
        <p:txBody>
          <a:bodyPr rtlCol="0" anchor="ctr" wrap="square"/>
          <a:lstStyle/>
          <a:p>
            <a:pPr algn="ctr"/>
          </a:p>
        </p:txBody>
      </p:sp>
      <p:sp>
        <p:nvSpPr>
          <p:cNvPr id="39" name="TextBox 38"/>
          <p:cNvSpPr txBox="1"/>
          <p:nvPr/>
        </p:nvSpPr>
        <p:spPr>
          <a:xfrm>
            <a:off x="905256" y="3941063"/>
            <a:ext cx="17147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KEDA</a:t>
            </a:r>
          </a:p>
        </p:txBody>
      </p:sp>
      <p:sp>
        <p:nvSpPr>
          <p:cNvPr id="40" name="Rectangle 39"/>
          <p:cNvSpPr/>
          <p:nvPr/>
        </p:nvSpPr>
        <p:spPr>
          <a:xfrm>
            <a:off x="2748012" y="3858768"/>
            <a:ext cx="2956158" cy="566928"/>
          </a:xfrm>
          <a:prstGeom prst="rect">
            <a:avLst/>
          </a:prstGeom>
          <a:solidFill>
            <a:srgbClr val="F6F8FA"/>
          </a:solidFill>
          <a:ln w="9525">
            <a:solidFill>
              <a:srgbClr val="E2E8F0"/>
            </a:solidFill>
          </a:ln>
          <a:effectLst/>
        </p:spPr>
        <p:txBody>
          <a:bodyPr rtlCol="0" anchor="ctr" wrap="square"/>
          <a:lstStyle/>
          <a:p>
            <a:pPr algn="ctr"/>
          </a:p>
        </p:txBody>
      </p:sp>
      <p:sp>
        <p:nvSpPr>
          <p:cNvPr id="41" name="TextBox 40"/>
          <p:cNvSpPr txBox="1"/>
          <p:nvPr/>
        </p:nvSpPr>
        <p:spPr>
          <a:xfrm>
            <a:off x="2876028" y="3941063"/>
            <a:ext cx="270012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Replica count, including 0</a:t>
            </a:r>
          </a:p>
        </p:txBody>
      </p:sp>
      <p:sp>
        <p:nvSpPr>
          <p:cNvPr id="42" name="Rectangle 41"/>
          <p:cNvSpPr/>
          <p:nvPr/>
        </p:nvSpPr>
        <p:spPr>
          <a:xfrm>
            <a:off x="5704171" y="3858768"/>
            <a:ext cx="3378467" cy="566928"/>
          </a:xfrm>
          <a:prstGeom prst="rect">
            <a:avLst/>
          </a:prstGeom>
          <a:solidFill>
            <a:srgbClr val="F6F8FA"/>
          </a:solidFill>
          <a:ln w="9525">
            <a:solidFill>
              <a:srgbClr val="E2E8F0"/>
            </a:solidFill>
          </a:ln>
          <a:effectLst/>
        </p:spPr>
        <p:txBody>
          <a:bodyPr rtlCol="0" anchor="ctr" wrap="square"/>
          <a:lstStyle/>
          <a:p>
            <a:pPr algn="ctr"/>
          </a:p>
        </p:txBody>
      </p:sp>
      <p:sp>
        <p:nvSpPr>
          <p:cNvPr id="43" name="TextBox 42"/>
          <p:cNvSpPr txBox="1"/>
          <p:nvPr/>
        </p:nvSpPr>
        <p:spPr>
          <a:xfrm>
            <a:off x="5832187" y="3941063"/>
            <a:ext cx="31224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External event sources via scalers; presents an HPA underneath</a:t>
            </a:r>
          </a:p>
        </p:txBody>
      </p:sp>
      <p:sp>
        <p:nvSpPr>
          <p:cNvPr id="44" name="Rectangle 43"/>
          <p:cNvSpPr/>
          <p:nvPr/>
        </p:nvSpPr>
        <p:spPr>
          <a:xfrm>
            <a:off x="9082638" y="3858768"/>
            <a:ext cx="2393081" cy="566928"/>
          </a:xfrm>
          <a:prstGeom prst="rect">
            <a:avLst/>
          </a:prstGeom>
          <a:solidFill>
            <a:srgbClr val="F6F8FA"/>
          </a:solidFill>
          <a:ln w="9525">
            <a:solidFill>
              <a:srgbClr val="E2E8F0"/>
            </a:solidFill>
          </a:ln>
          <a:effectLst/>
        </p:spPr>
        <p:txBody>
          <a:bodyPr rtlCol="0" anchor="ctr" wrap="square"/>
          <a:lstStyle/>
          <a:p>
            <a:pPr algn="ctr"/>
          </a:p>
        </p:txBody>
      </p:sp>
      <p:sp>
        <p:nvSpPr>
          <p:cNvPr id="45" name="TextBox 44"/>
          <p:cNvSpPr txBox="1"/>
          <p:nvPr/>
        </p:nvSpPr>
        <p:spPr>
          <a:xfrm>
            <a:off x="9210654" y="3941063"/>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CNCF graduated project</a:t>
            </a:r>
          </a:p>
        </p:txBody>
      </p:sp>
      <p:sp>
        <p:nvSpPr>
          <p:cNvPr id="46" name="Rectangle 45"/>
          <p:cNvSpPr/>
          <p:nvPr/>
        </p:nvSpPr>
        <p:spPr>
          <a:xfrm>
            <a:off x="777240" y="4425696"/>
            <a:ext cx="1970772" cy="566928"/>
          </a:xfrm>
          <a:prstGeom prst="rect">
            <a:avLst/>
          </a:prstGeom>
          <a:solidFill>
            <a:srgbClr val="FFFFFF"/>
          </a:solidFill>
          <a:ln w="9525">
            <a:solidFill>
              <a:srgbClr val="E2E8F0"/>
            </a:solidFill>
          </a:ln>
          <a:effectLst/>
        </p:spPr>
        <p:txBody>
          <a:bodyPr rtlCol="0" anchor="ctr" wrap="square"/>
          <a:lstStyle/>
          <a:p>
            <a:pPr algn="ctr"/>
          </a:p>
        </p:txBody>
      </p:sp>
      <p:sp>
        <p:nvSpPr>
          <p:cNvPr id="47" name="TextBox 46"/>
          <p:cNvSpPr txBox="1"/>
          <p:nvPr/>
        </p:nvSpPr>
        <p:spPr>
          <a:xfrm>
            <a:off x="905256" y="4507992"/>
            <a:ext cx="1714740"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metrics-server</a:t>
            </a:r>
          </a:p>
        </p:txBody>
      </p:sp>
      <p:sp>
        <p:nvSpPr>
          <p:cNvPr id="48" name="Rectangle 47"/>
          <p:cNvSpPr/>
          <p:nvPr/>
        </p:nvSpPr>
        <p:spPr>
          <a:xfrm>
            <a:off x="2748012" y="4425696"/>
            <a:ext cx="2956158" cy="566928"/>
          </a:xfrm>
          <a:prstGeom prst="rect">
            <a:avLst/>
          </a:prstGeom>
          <a:solidFill>
            <a:srgbClr val="FFFFFF"/>
          </a:solidFill>
          <a:ln w="9525">
            <a:solidFill>
              <a:srgbClr val="E2E8F0"/>
            </a:solidFill>
          </a:ln>
          <a:effectLst/>
        </p:spPr>
        <p:txBody>
          <a:bodyPr rtlCol="0" anchor="ctr" wrap="square"/>
          <a:lstStyle/>
          <a:p>
            <a:pPr algn="ctr"/>
          </a:p>
        </p:txBody>
      </p:sp>
      <p:sp>
        <p:nvSpPr>
          <p:cNvPr id="49" name="TextBox 48"/>
          <p:cNvSpPr txBox="1"/>
          <p:nvPr/>
        </p:nvSpPr>
        <p:spPr>
          <a:xfrm>
            <a:off x="2876028" y="4507992"/>
            <a:ext cx="2700126"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it is a data source</a:t>
            </a:r>
          </a:p>
        </p:txBody>
      </p:sp>
      <p:sp>
        <p:nvSpPr>
          <p:cNvPr id="50" name="Rectangle 49"/>
          <p:cNvSpPr/>
          <p:nvPr/>
        </p:nvSpPr>
        <p:spPr>
          <a:xfrm>
            <a:off x="5704171" y="4425696"/>
            <a:ext cx="3378467" cy="566928"/>
          </a:xfrm>
          <a:prstGeom prst="rect">
            <a:avLst/>
          </a:prstGeom>
          <a:solidFill>
            <a:srgbClr val="FFFFFF"/>
          </a:solidFill>
          <a:ln w="9525">
            <a:solidFill>
              <a:srgbClr val="E2E8F0"/>
            </a:solidFill>
          </a:ln>
          <a:effectLst/>
        </p:spPr>
        <p:txBody>
          <a:bodyPr rtlCol="0" anchor="ctr" wrap="square"/>
          <a:lstStyle/>
          <a:p>
            <a:pPr algn="ctr"/>
          </a:p>
        </p:txBody>
      </p:sp>
      <p:sp>
        <p:nvSpPr>
          <p:cNvPr id="51" name="TextBox 50"/>
          <p:cNvSpPr txBox="1"/>
          <p:nvPr/>
        </p:nvSpPr>
        <p:spPr>
          <a:xfrm>
            <a:off x="5832187" y="4507992"/>
            <a:ext cx="3122435"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kubelet summary API</a:t>
            </a:r>
          </a:p>
        </p:txBody>
      </p:sp>
      <p:sp>
        <p:nvSpPr>
          <p:cNvPr id="52" name="Rectangle 51"/>
          <p:cNvSpPr/>
          <p:nvPr/>
        </p:nvSpPr>
        <p:spPr>
          <a:xfrm>
            <a:off x="9082638" y="4425696"/>
            <a:ext cx="2393081" cy="566928"/>
          </a:xfrm>
          <a:prstGeom prst="rect">
            <a:avLst/>
          </a:prstGeom>
          <a:solidFill>
            <a:srgbClr val="FFFFFF"/>
          </a:solidFill>
          <a:ln w="9525">
            <a:solidFill>
              <a:srgbClr val="E2E8F0"/>
            </a:solidFill>
          </a:ln>
          <a:effectLst/>
        </p:spPr>
        <p:txBody>
          <a:bodyPr rtlCol="0" anchor="ctr" wrap="square"/>
          <a:lstStyle/>
          <a:p>
            <a:pPr algn="ctr"/>
          </a:p>
        </p:txBody>
      </p:sp>
      <p:sp>
        <p:nvSpPr>
          <p:cNvPr id="53" name="TextBox 52"/>
          <p:cNvSpPr txBox="1"/>
          <p:nvPr/>
        </p:nvSpPr>
        <p:spPr>
          <a:xfrm>
            <a:off x="9210654" y="4507992"/>
            <a:ext cx="2137049"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required add-on for HPA on CPU or memory</a:t>
            </a:r>
          </a:p>
        </p:txBody>
      </p:sp>
      <p:sp>
        <p:nvSpPr>
          <p:cNvPr id="54" name="Rectangle 53"/>
          <p:cNvSpPr/>
          <p:nvPr/>
        </p:nvSpPr>
        <p:spPr>
          <a:xfrm>
            <a:off x="777240" y="5175504"/>
            <a:ext cx="10698480" cy="566928"/>
          </a:xfrm>
          <a:prstGeom prst="rect">
            <a:avLst/>
          </a:prstGeom>
          <a:solidFill>
            <a:srgbClr val="E8F7EE"/>
          </a:solidFill>
          <a:ln>
            <a:noFill/>
          </a:ln>
          <a:effectLst/>
        </p:spPr>
        <p:txBody>
          <a:bodyPr rtlCol="0" anchor="ctr" wrap="square"/>
          <a:lstStyle/>
          <a:p>
            <a:pPr algn="ctr"/>
          </a:p>
        </p:txBody>
      </p:sp>
      <p:sp>
        <p:nvSpPr>
          <p:cNvPr id="55" name="Rectangle 54"/>
          <p:cNvSpPr/>
          <p:nvPr/>
        </p:nvSpPr>
        <p:spPr>
          <a:xfrm>
            <a:off x="777240" y="5175504"/>
            <a:ext cx="50292" cy="566928"/>
          </a:xfrm>
          <a:prstGeom prst="rect">
            <a:avLst/>
          </a:prstGeom>
          <a:solidFill>
            <a:srgbClr val="10B981"/>
          </a:solidFill>
          <a:ln>
            <a:noFill/>
          </a:ln>
          <a:effectLst/>
        </p:spPr>
        <p:txBody>
          <a:bodyPr rtlCol="0" anchor="ctr" wrap="square"/>
          <a:lstStyle/>
          <a:p>
            <a:pPr algn="ctr"/>
          </a:p>
        </p:txBody>
      </p:sp>
      <p:sp>
        <p:nvSpPr>
          <p:cNvPr id="56" name="TextBox 55"/>
          <p:cNvSpPr txBox="1"/>
          <p:nvPr/>
        </p:nvSpPr>
        <p:spPr>
          <a:xfrm>
            <a:off x="996695" y="523036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7" name="TextBox 56"/>
          <p:cNvSpPr txBox="1"/>
          <p:nvPr/>
        </p:nvSpPr>
        <p:spPr>
          <a:xfrm>
            <a:off x="996695" y="54315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HPA for load, VPA for right-sizing, Cluster Autoscaler for capacity, KEDA for events and scale-to-zero.</a:t>
            </a:r>
          </a:p>
        </p:txBody>
      </p:sp>
      <p:sp>
        <p:nvSpPr>
          <p:cNvPr id="58" name="TextBox 5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kubernetes.io/docs/concepts/workloads/autoscaling/</a:t>
            </a:r>
          </a:p>
        </p:txBody>
      </p:sp>
      <p:sp>
        <p:nvSpPr>
          <p:cNvPr id="59" name="TextBox 5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0" name="TextBox 5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1" name="TextBox 6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232</a:t>
            </a:r>
          </a:p>
        </p:txBody>
      </p:sp>
    </p:spTree>
  </p:cSld>
  <p:clrMapOvr>
    <a:masterClrMapping/>
  </p:clrMapOvr>
  <p:transition xmlns:ns1="http://schemas.openxmlformats.org/markup-compatibility/2006" spd="fast" ns1:Ignorable="p14">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HPA metrics Block,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field here is load-bearing. The most common HPA defect is a Utilization target on a container with no CPU request.</a:t>
            </a:r>
          </a:p>
        </p:txBody>
      </p:sp>
      <p:sp>
        <p:nvSpPr>
          <p:cNvPr id="7" name="Rectangle 6"/>
          <p:cNvSpPr/>
          <p:nvPr/>
        </p:nvSpPr>
        <p:spPr>
          <a:xfrm>
            <a:off x="777240" y="2208885"/>
            <a:ext cx="6355080" cy="378957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labs/lab-10/manifests/50-hpa-quote-engine.yaml</a:t>
            </a:r>
          </a:p>
        </p:txBody>
      </p:sp>
      <p:sp>
        <p:nvSpPr>
          <p:cNvPr id="9" name="TextBox 8"/>
          <p:cNvSpPr txBox="1"/>
          <p:nvPr/>
        </p:nvSpPr>
        <p:spPr>
          <a:xfrm>
            <a:off x="923544" y="2629509"/>
            <a:ext cx="6062472" cy="3222650"/>
          </a:xfrm>
          <a:prstGeom prst="rect">
            <a:avLst/>
          </a:prstGeom>
          <a:noFill/>
        </p:spPr>
        <p:txBody>
          <a:bodyPr wrap="none" lIns="0" rIns="0" tIns="0" bIns="0">
            <a:spAutoFit/>
          </a:bodyPr>
          <a:lstStyle/>
          <a:p>
            <a:pPr>
              <a:lnSpc>
                <a:spcPts val="1268"/>
              </a:lnSpc>
              <a:spcAft>
                <a:spcPts val="0"/>
              </a:spcAft>
            </a:pPr>
            <a:r>
              <a:rPr sz="1050">
                <a:solidFill>
                  <a:srgbClr val="E6EDF3"/>
                </a:solidFill>
                <a:latin typeface="Consolas"/>
              </a:rPr>
              <a:t>apiVersion: autoscaling/v2</a:t>
            </a:r>
          </a:p>
          <a:p>
            <a:pPr>
              <a:lnSpc>
                <a:spcPts val="1268"/>
              </a:lnSpc>
              <a:spcAft>
                <a:spcPts val="0"/>
              </a:spcAft>
            </a:pPr>
            <a:r>
              <a:rPr sz="1050">
                <a:solidFill>
                  <a:srgbClr val="E6EDF3"/>
                </a:solidFill>
                <a:latin typeface="Consolas"/>
              </a:rPr>
              <a:t>kind: HorizontalPodAutoscaler</a:t>
            </a:r>
          </a:p>
          <a:p>
            <a:pPr>
              <a:lnSpc>
                <a:spcPts val="1268"/>
              </a:lnSpc>
              <a:spcAft>
                <a:spcPts val="0"/>
              </a:spcAft>
            </a:pPr>
            <a:r>
              <a:rPr sz="1050">
                <a:solidFill>
                  <a:srgbClr val="E6EDF3"/>
                </a:solidFill>
                <a:latin typeface="Consolas"/>
              </a:rPr>
              <a:t>spec:</a:t>
            </a:r>
          </a:p>
          <a:p>
            <a:pPr>
              <a:lnSpc>
                <a:spcPts val="1268"/>
              </a:lnSpc>
              <a:spcAft>
                <a:spcPts val="0"/>
              </a:spcAft>
            </a:pPr>
            <a:r>
              <a:rPr sz="1050">
                <a:solidFill>
                  <a:srgbClr val="E6EDF3"/>
                </a:solidFill>
                <a:latin typeface="Consolas"/>
              </a:rPr>
              <a:t>  scaleTargetRef: {apiVersion: apps/v1,</a:t>
            </a:r>
          </a:p>
          <a:p>
            <a:pPr>
              <a:lnSpc>
                <a:spcPts val="1268"/>
              </a:lnSpc>
              <a:spcAft>
                <a:spcPts val="0"/>
              </a:spcAft>
            </a:pPr>
            <a:r>
              <a:rPr sz="1050">
                <a:solidFill>
                  <a:srgbClr val="E6EDF3"/>
                </a:solidFill>
                <a:latin typeface="Consolas"/>
              </a:rPr>
              <a:t>    kind: Deployment, name: quote-engine}</a:t>
            </a:r>
          </a:p>
          <a:p>
            <a:pPr>
              <a:lnSpc>
                <a:spcPts val="1268"/>
              </a:lnSpc>
              <a:spcAft>
                <a:spcPts val="0"/>
              </a:spcAft>
            </a:pPr>
            <a:r>
              <a:rPr sz="1050">
                <a:solidFill>
                  <a:srgbClr val="E6EDF3"/>
                </a:solidFill>
                <a:latin typeface="Consolas"/>
              </a:rPr>
              <a:t>  minReplicas: 2</a:t>
            </a:r>
          </a:p>
          <a:p>
            <a:pPr>
              <a:lnSpc>
                <a:spcPts val="1268"/>
              </a:lnSpc>
              <a:spcAft>
                <a:spcPts val="0"/>
              </a:spcAft>
            </a:pPr>
            <a:r>
              <a:rPr sz="1050">
                <a:solidFill>
                  <a:srgbClr val="E6EDF3"/>
                </a:solidFill>
                <a:latin typeface="Consolas"/>
              </a:rPr>
              <a:t>  maxReplicas: 6</a:t>
            </a:r>
          </a:p>
          <a:p>
            <a:pPr>
              <a:lnSpc>
                <a:spcPts val="1268"/>
              </a:lnSpc>
              <a:spcAft>
                <a:spcPts val="0"/>
              </a:spcAft>
            </a:pPr>
            <a:r>
              <a:rPr sz="1050">
                <a:solidFill>
                  <a:srgbClr val="E6EDF3"/>
                </a:solidFill>
                <a:latin typeface="Consolas"/>
              </a:rPr>
              <a:t>  metrics:</a:t>
            </a:r>
          </a:p>
          <a:p>
            <a:pPr>
              <a:lnSpc>
                <a:spcPts val="1268"/>
              </a:lnSpc>
              <a:spcAft>
                <a:spcPts val="0"/>
              </a:spcAft>
            </a:pPr>
            <a:r>
              <a:rPr sz="1050">
                <a:solidFill>
                  <a:srgbClr val="E6EDF3"/>
                </a:solidFill>
                <a:latin typeface="Consolas"/>
              </a:rPr>
              <a:t>  - type: Resource</a:t>
            </a:r>
          </a:p>
          <a:p>
            <a:pPr>
              <a:lnSpc>
                <a:spcPts val="1268"/>
              </a:lnSpc>
              <a:spcAft>
                <a:spcPts val="0"/>
              </a:spcAft>
            </a:pPr>
            <a:r>
              <a:rPr sz="1050">
                <a:solidFill>
                  <a:srgbClr val="E6EDF3"/>
                </a:solidFill>
                <a:latin typeface="Consolas"/>
              </a:rPr>
              <a:t>    resource:</a:t>
            </a:r>
          </a:p>
          <a:p>
            <a:pPr>
              <a:lnSpc>
                <a:spcPts val="1268"/>
              </a:lnSpc>
              <a:spcAft>
                <a:spcPts val="0"/>
              </a:spcAft>
            </a:pPr>
            <a:r>
              <a:rPr sz="1050">
                <a:solidFill>
                  <a:srgbClr val="E6EDF3"/>
                </a:solidFill>
                <a:latin typeface="Consolas"/>
              </a:rPr>
              <a:t>      name: cpu</a:t>
            </a:r>
          </a:p>
          <a:p>
            <a:pPr>
              <a:lnSpc>
                <a:spcPts val="1268"/>
              </a:lnSpc>
              <a:spcAft>
                <a:spcPts val="0"/>
              </a:spcAft>
            </a:pPr>
            <a:r>
              <a:rPr sz="1050">
                <a:solidFill>
                  <a:srgbClr val="E6EDF3"/>
                </a:solidFill>
                <a:latin typeface="Consolas"/>
              </a:rPr>
              <a:t>      target:</a:t>
            </a:r>
          </a:p>
          <a:p>
            <a:pPr>
              <a:lnSpc>
                <a:spcPts val="1268"/>
              </a:lnSpc>
              <a:spcAft>
                <a:spcPts val="0"/>
              </a:spcAft>
            </a:pPr>
            <a:r>
              <a:rPr sz="1050">
                <a:solidFill>
                  <a:srgbClr val="E6EDF3"/>
                </a:solidFill>
                <a:latin typeface="Consolas"/>
              </a:rPr>
              <a:t>        type: Utilization</a:t>
            </a:r>
          </a:p>
          <a:p>
            <a:pPr>
              <a:lnSpc>
                <a:spcPts val="1268"/>
              </a:lnSpc>
              <a:spcAft>
                <a:spcPts val="0"/>
              </a:spcAft>
            </a:pPr>
            <a:r>
              <a:rPr sz="1050">
                <a:solidFill>
                  <a:srgbClr val="E6EDF3"/>
                </a:solidFill>
                <a:latin typeface="Consolas"/>
              </a:rPr>
              <a:t>        averageUtilization: 60</a:t>
            </a:r>
          </a:p>
          <a:p>
            <a:pPr>
              <a:lnSpc>
                <a:spcPts val="1268"/>
              </a:lnSpc>
              <a:spcAft>
                <a:spcPts val="0"/>
              </a:spcAft>
            </a:pPr>
            <a:r>
              <a:rPr sz="1050">
                <a:solidFill>
                  <a:srgbClr val="E6EDF3"/>
                </a:solidFill>
                <a:latin typeface="Consolas"/>
              </a:rPr>
              <a:t>  - type: Resource</a:t>
            </a:r>
          </a:p>
          <a:p>
            <a:pPr>
              <a:lnSpc>
                <a:spcPts val="1268"/>
              </a:lnSpc>
              <a:spcAft>
                <a:spcPts val="0"/>
              </a:spcAft>
            </a:pPr>
            <a:r>
              <a:rPr sz="1050">
                <a:solidFill>
                  <a:srgbClr val="E6EDF3"/>
                </a:solidFill>
                <a:latin typeface="Consolas"/>
              </a:rPr>
              <a:t>    resource:</a:t>
            </a:r>
          </a:p>
          <a:p>
            <a:pPr>
              <a:lnSpc>
                <a:spcPts val="1268"/>
              </a:lnSpc>
              <a:spcAft>
                <a:spcPts val="0"/>
              </a:spcAft>
            </a:pPr>
            <a:r>
              <a:rPr sz="1050">
                <a:solidFill>
                  <a:srgbClr val="E6EDF3"/>
                </a:solidFill>
                <a:latin typeface="Consolas"/>
              </a:rPr>
              <a:t>      name: memory</a:t>
            </a:r>
          </a:p>
          <a:p>
            <a:pPr>
              <a:lnSpc>
                <a:spcPts val="1268"/>
              </a:lnSpc>
              <a:spcAft>
                <a:spcPts val="0"/>
              </a:spcAft>
            </a:pPr>
            <a:r>
              <a:rPr sz="1050">
                <a:solidFill>
                  <a:srgbClr val="E6EDF3"/>
                </a:solidFill>
                <a:latin typeface="Consolas"/>
              </a:rPr>
              <a:t>      target:</a:t>
            </a:r>
          </a:p>
          <a:p>
            <a:pPr>
              <a:lnSpc>
                <a:spcPts val="1268"/>
              </a:lnSpc>
              <a:spcAft>
                <a:spcPts val="0"/>
              </a:spcAft>
            </a:pPr>
            <a:r>
              <a:rPr sz="1050">
                <a:solidFill>
                  <a:srgbClr val="E6EDF3"/>
                </a:solidFill>
                <a:latin typeface="Consolas"/>
              </a:rPr>
              <a:t>        type: AverageValue</a:t>
            </a:r>
          </a:p>
          <a:p>
            <a:pPr>
              <a:lnSpc>
                <a:spcPts val="1268"/>
              </a:lnSpc>
              <a:spcAft>
                <a:spcPts val="0"/>
              </a:spcAft>
            </a:pPr>
            <a:r>
              <a:rPr sz="1050">
                <a:solidFill>
                  <a:srgbClr val="E6EDF3"/>
                </a:solidFill>
                <a:latin typeface="Consolas"/>
              </a:rPr>
              <a:t>        averageValue: 200Mi</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autoscaling/v2 is the current API</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v2beta1 and v2beta2 versions are long removed. v1 still exists but can express only a single CPU target.</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Utilization is a percentage of the request</a:t>
            </a:r>
          </a:p>
        </p:txBody>
      </p:sp>
      <p:sp>
        <p:nvSpPr>
          <p:cNvPr id="17" name="TextBox 16"/>
          <p:cNvSpPr txBox="1"/>
          <p:nvPr/>
        </p:nvSpPr>
        <p:spPr>
          <a:xfrm>
            <a:off x="7973567" y="3612916"/>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60% of a 100m CPU request is 60m per Pod. With no CPU request declared, Utilization cannot be computed at all.</a:t>
            </a:r>
          </a:p>
        </p:txBody>
      </p:sp>
      <p:sp>
        <p:nvSpPr>
          <p:cNvPr id="18" name="Oval 17"/>
          <p:cNvSpPr/>
          <p:nvPr/>
        </p:nvSpPr>
        <p:spPr>
          <a:xfrm>
            <a:off x="7626096" y="4279925"/>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6163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AverageValue is an absolute per-Pod figure</a:t>
            </a:r>
          </a:p>
        </p:txBody>
      </p:sp>
      <p:sp>
        <p:nvSpPr>
          <p:cNvPr id="20" name="TextBox 19"/>
          <p:cNvSpPr txBox="1"/>
          <p:nvPr/>
        </p:nvSpPr>
        <p:spPr>
          <a:xfrm>
            <a:off x="7973567" y="447842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200Mi per Pod, independent of any request. Use it when a percentage would be meaningless.</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Multiple metrics take the maximum</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controller computes a desired replica count for each metric and applies the largest.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kubernetes.io/docs/tasks/run-application/horizontal-pod-autoscale/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233</a:t>
            </a:r>
          </a:p>
        </p:txBody>
      </p:sp>
    </p:spTree>
  </p:cSld>
  <p:clrMapOvr>
    <a:masterClrMapping/>
  </p:clrMapOvr>
  <p:transition xmlns:ns1="http://schemas.openxmlformats.org/markup-compatibility/2006" spd="fast" ns1:Ignorable="p14">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READING REAL YAML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HPA behavior Block and the Formula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Without behavior, an HPA reacts to every spike. With it, you are declaring how nervous the controller is allowed to be.</a:t>
            </a:r>
          </a:p>
        </p:txBody>
      </p:sp>
      <p:sp>
        <p:nvSpPr>
          <p:cNvPr id="7" name="Rectangle 6"/>
          <p:cNvSpPr/>
          <p:nvPr/>
        </p:nvSpPr>
        <p:spPr>
          <a:xfrm>
            <a:off x="777240" y="2208885"/>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labs/lab-10/manifests/50-hpa-quote-engine.yaml (cont.)</a:t>
            </a:r>
          </a:p>
        </p:txBody>
      </p:sp>
      <p:sp>
        <p:nvSpPr>
          <p:cNvPr id="9" name="TextBox 8"/>
          <p:cNvSpPr txBox="1"/>
          <p:nvPr/>
        </p:nvSpPr>
        <p:spPr>
          <a:xfrm>
            <a:off x="923544" y="2629509"/>
            <a:ext cx="6062472" cy="2999232"/>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  behavior:</a:t>
            </a:r>
          </a:p>
          <a:p>
            <a:pPr>
              <a:lnSpc>
                <a:spcPts val="1476"/>
              </a:lnSpc>
              <a:spcAft>
                <a:spcPts val="0"/>
              </a:spcAft>
            </a:pPr>
            <a:r>
              <a:rPr sz="1050">
                <a:solidFill>
                  <a:srgbClr val="E6EDF3"/>
                </a:solidFill>
                <a:latin typeface="Consolas"/>
              </a:rPr>
              <a:t>    scaleUp:</a:t>
            </a:r>
          </a:p>
          <a:p>
            <a:pPr>
              <a:lnSpc>
                <a:spcPts val="1476"/>
              </a:lnSpc>
              <a:spcAft>
                <a:spcPts val="0"/>
              </a:spcAft>
            </a:pPr>
            <a:r>
              <a:rPr sz="1050">
                <a:solidFill>
                  <a:srgbClr val="E6EDF3"/>
                </a:solidFill>
                <a:latin typeface="Consolas"/>
              </a:rPr>
              <a:t>      stabilizationWindowSeconds: 30</a:t>
            </a:r>
          </a:p>
          <a:p>
            <a:pPr>
              <a:lnSpc>
                <a:spcPts val="1476"/>
              </a:lnSpc>
              <a:spcAft>
                <a:spcPts val="0"/>
              </a:spcAft>
            </a:pPr>
            <a:r>
              <a:rPr sz="1050">
                <a:solidFill>
                  <a:srgbClr val="E6EDF3"/>
                </a:solidFill>
                <a:latin typeface="Consolas"/>
              </a:rPr>
              <a:t>      policies:</a:t>
            </a:r>
          </a:p>
          <a:p>
            <a:pPr>
              <a:lnSpc>
                <a:spcPts val="1476"/>
              </a:lnSpc>
              <a:spcAft>
                <a:spcPts val="0"/>
              </a:spcAft>
            </a:pPr>
            <a:r>
              <a:rPr sz="1050">
                <a:solidFill>
                  <a:srgbClr val="E6EDF3"/>
                </a:solidFill>
                <a:latin typeface="Consolas"/>
              </a:rPr>
              <a:t>      - type: Pods</a:t>
            </a:r>
          </a:p>
          <a:p>
            <a:pPr>
              <a:lnSpc>
                <a:spcPts val="1476"/>
              </a:lnSpc>
              <a:spcAft>
                <a:spcPts val="0"/>
              </a:spcAft>
            </a:pPr>
            <a:r>
              <a:rPr sz="1050">
                <a:solidFill>
                  <a:srgbClr val="E6EDF3"/>
                </a:solidFill>
                <a:latin typeface="Consolas"/>
              </a:rPr>
              <a:t>        value: 2</a:t>
            </a:r>
          </a:p>
          <a:p>
            <a:pPr>
              <a:lnSpc>
                <a:spcPts val="1476"/>
              </a:lnSpc>
              <a:spcAft>
                <a:spcPts val="0"/>
              </a:spcAft>
            </a:pPr>
            <a:r>
              <a:rPr sz="1050">
                <a:solidFill>
                  <a:srgbClr val="E6EDF3"/>
                </a:solidFill>
                <a:latin typeface="Consolas"/>
              </a:rPr>
              <a:t>        periodSeconds: 60</a:t>
            </a:r>
          </a:p>
          <a:p>
            <a:pPr>
              <a:lnSpc>
                <a:spcPts val="1476"/>
              </a:lnSpc>
              <a:spcAft>
                <a:spcPts val="0"/>
              </a:spcAft>
            </a:pPr>
            <a:r>
              <a:rPr sz="1050">
                <a:solidFill>
                  <a:srgbClr val="E6EDF3"/>
                </a:solidFill>
                <a:latin typeface="Consolas"/>
              </a:rPr>
              <a:t>    scaleDown:</a:t>
            </a:r>
          </a:p>
          <a:p>
            <a:pPr>
              <a:lnSpc>
                <a:spcPts val="1476"/>
              </a:lnSpc>
              <a:spcAft>
                <a:spcPts val="0"/>
              </a:spcAft>
            </a:pPr>
            <a:r>
              <a:rPr sz="1050">
                <a:solidFill>
                  <a:srgbClr val="E6EDF3"/>
                </a:solidFill>
                <a:latin typeface="Consolas"/>
              </a:rPr>
              <a:t>      stabilizationWindowSeconds: 300</a:t>
            </a:r>
          </a:p>
          <a:p>
            <a:pPr>
              <a:lnSpc>
                <a:spcPts val="1476"/>
              </a:lnSpc>
              <a:spcAft>
                <a:spcPts val="0"/>
              </a:spcAft>
            </a:pPr>
            <a:r>
              <a:rPr sz="1050">
                <a:solidFill>
                  <a:srgbClr val="E6EDF3"/>
                </a:solidFill>
                <a:latin typeface="Consolas"/>
              </a:rPr>
              <a:t>      policies:</a:t>
            </a:r>
          </a:p>
          <a:p>
            <a:pPr>
              <a:lnSpc>
                <a:spcPts val="1476"/>
              </a:lnSpc>
              <a:spcAft>
                <a:spcPts val="0"/>
              </a:spcAft>
            </a:pPr>
            <a:r>
              <a:rPr sz="1050">
                <a:solidFill>
                  <a:srgbClr val="E6EDF3"/>
                </a:solidFill>
                <a:latin typeface="Consolas"/>
              </a:rPr>
              <a:t>      - type: Percent</a:t>
            </a:r>
          </a:p>
          <a:p>
            <a:pPr>
              <a:lnSpc>
                <a:spcPts val="1476"/>
              </a:lnSpc>
              <a:spcAft>
                <a:spcPts val="0"/>
              </a:spcAft>
            </a:pPr>
            <a:r>
              <a:rPr sz="1050">
                <a:solidFill>
                  <a:srgbClr val="E6EDF3"/>
                </a:solidFill>
                <a:latin typeface="Consolas"/>
              </a:rPr>
              <a:t>        value: 50</a:t>
            </a:r>
          </a:p>
          <a:p>
            <a:pPr>
              <a:lnSpc>
                <a:spcPts val="1476"/>
              </a:lnSpc>
              <a:spcAft>
                <a:spcPts val="0"/>
              </a:spcAft>
            </a:pPr>
            <a:r>
              <a:rPr sz="1050">
                <a:solidFill>
                  <a:srgbClr val="E6EDF3"/>
                </a:solidFill>
                <a:latin typeface="Consolas"/>
              </a:rPr>
              <a:t>        periodSeconds: 60</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desired = ceil( current x (currentMetric</a:t>
            </a:r>
          </a:p>
          <a:p>
            <a:pPr>
              <a:lnSpc>
                <a:spcPts val="1476"/>
              </a:lnSpc>
              <a:spcAft>
                <a:spcPts val="0"/>
              </a:spcAft>
            </a:pPr>
            <a:r>
              <a:rPr sz="1050">
                <a:solidFill>
                  <a:srgbClr val="7D8A99"/>
                </a:solidFill>
                <a:latin typeface="Consolas"/>
              </a:rPr>
              <a:t>#                            / targetMetric) )</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formula is a simple ratio, rounded up</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Two Pods at 120% of a 60% target gives ceil(2 x 120/60) = 4. Then min, max and behavior are applied.</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tolerance suppresses small corrections</a:t>
            </a:r>
          </a:p>
        </p:txBody>
      </p:sp>
      <p:sp>
        <p:nvSpPr>
          <p:cNvPr id="17" name="TextBox 16"/>
          <p:cNvSpPr txBox="1"/>
          <p:nvPr/>
        </p:nvSpPr>
        <p:spPr>
          <a:xfrm>
            <a:off x="7973567" y="3612916"/>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Ratios close to 1.0 are ignored, so a target of 60% against an observed 62% produces no scaling event at all.</a:t>
            </a:r>
          </a:p>
        </p:txBody>
      </p:sp>
      <p:sp>
        <p:nvSpPr>
          <p:cNvPr id="18" name="Oval 17"/>
          <p:cNvSpPr/>
          <p:nvPr/>
        </p:nvSpPr>
        <p:spPr>
          <a:xfrm>
            <a:off x="7626096" y="4279925"/>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6163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Asymmetric stabilisation is deliberate</a:t>
            </a:r>
          </a:p>
        </p:txBody>
      </p:sp>
      <p:sp>
        <p:nvSpPr>
          <p:cNvPr id="20" name="TextBox 19"/>
          <p:cNvSpPr txBox="1"/>
          <p:nvPr/>
        </p:nvSpPr>
        <p:spPr>
          <a:xfrm>
            <a:off x="7973567" y="447842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Scale up after 30 seconds, scale down only after 300. Up fast to protect users, down slowly to avoid flapping.</a:t>
            </a:r>
          </a:p>
        </p:txBody>
      </p:sp>
      <p:sp>
        <p:nvSpPr>
          <p:cNvPr id="21" name="Oval 20"/>
          <p:cNvSpPr/>
          <p:nvPr/>
        </p:nvSpPr>
        <p:spPr>
          <a:xfrm>
            <a:off x="7626096" y="499167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7339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Policies cap the rate of change</a:t>
            </a:r>
          </a:p>
        </p:txBody>
      </p:sp>
      <p:sp>
        <p:nvSpPr>
          <p:cNvPr id="23" name="TextBox 22"/>
          <p:cNvSpPr txBox="1"/>
          <p:nvPr/>
        </p:nvSpPr>
        <p:spPr>
          <a:xfrm>
            <a:off x="7973567" y="519018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At most 2 Pods added per minute; at most 50% removed per minute. The formula proposes, the policy disposes.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kubernetes.io/docs/tasks/run-application/horizontal-pod-autoscale/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234</a:t>
            </a:r>
          </a:p>
        </p:txBody>
      </p:sp>
    </p:spTree>
  </p:cSld>
  <p:clrMapOvr>
    <a:masterClrMapping/>
  </p:clrMapOvr>
  <p:transition xmlns:ns1="http://schemas.openxmlformats.org/markup-compatibility/2006" spd="fast" ns1:Ignorable="p14">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HPA Response to a Load Curve (min 2, max 6, target 60%)</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Clearly-labelled arithmetic model. It shows why an HPA's observed behaviour rarely matches the naive formula alone.</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Replicas (worked model)</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Worked model, not measured data</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Each point is the documented formula ceil(current x observed/target) evaluated by hand against the Lab 10 HPA settings.</a:t>
            </a:r>
          </a:p>
        </p:txBody>
      </p:sp>
      <p:sp>
        <p:nvSpPr>
          <p:cNvPr id="14" name="Rectangle 13"/>
          <p:cNvSpPr/>
          <p:nvPr/>
        </p:nvSpPr>
        <p:spPr>
          <a:xfrm>
            <a:off x="7927848" y="3470856"/>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5256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min and max clamp the result</a:t>
            </a:r>
          </a:p>
        </p:txBody>
      </p:sp>
      <p:sp>
        <p:nvSpPr>
          <p:cNvPr id="16" name="TextBox 15"/>
          <p:cNvSpPr txBox="1"/>
          <p:nvPr/>
        </p:nvSpPr>
        <p:spPr>
          <a:xfrm>
            <a:off x="8092440" y="367202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t0's formula output of 1 is raised to minReplicas 2; t2's output of 7 is capped at maxReplicas 6.</a:t>
            </a:r>
          </a:p>
        </p:txBody>
      </p:sp>
      <p:sp>
        <p:nvSpPr>
          <p:cNvPr id="17" name="Rectangle 16"/>
          <p:cNvSpPr/>
          <p:nvPr/>
        </p:nvSpPr>
        <p:spPr>
          <a:xfrm>
            <a:off x="7927848" y="4165800"/>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1475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t3 shows the tolerance</a:t>
            </a:r>
          </a:p>
        </p:txBody>
      </p:sp>
      <p:sp>
        <p:nvSpPr>
          <p:cNvPr id="19" name="TextBox 18"/>
          <p:cNvSpPr txBox="1"/>
          <p:nvPr/>
        </p:nvSpPr>
        <p:spPr>
          <a:xfrm>
            <a:off x="8092440" y="43669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62% against a 60% target is within the controller's tolerance, so no scaling event occurs and 6 is held.</a:t>
            </a:r>
          </a:p>
        </p:txBody>
      </p:sp>
      <p:sp>
        <p:nvSpPr>
          <p:cNvPr id="20" name="Rectangle 19"/>
          <p:cNvSpPr/>
          <p:nvPr/>
        </p:nvSpPr>
        <p:spPr>
          <a:xfrm>
            <a:off x="7927848" y="4860744"/>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424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t4 shows the scale-down window</a:t>
            </a:r>
          </a:p>
        </p:txBody>
      </p:sp>
      <p:sp>
        <p:nvSpPr>
          <p:cNvPr id="22" name="TextBox 21"/>
          <p:cNvSpPr txBox="1"/>
          <p:nvPr/>
        </p:nvSpPr>
        <p:spPr>
          <a:xfrm>
            <a:off x="8092440" y="50619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formula wants 4, but the 300-second stabilisation window holds the recent maximum until t5.</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kubernetes.io/docs/tasks/run-application/horizontal-pod-autoscale/</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235</a:t>
            </a:r>
          </a:p>
        </p:txBody>
      </p:sp>
    </p:spTree>
  </p:cSld>
  <p:clrMapOvr>
    <a:masterClrMapping/>
  </p:clrMapOvr>
  <p:transition xmlns:ns1="http://schemas.openxmlformats.org/markup-compatibility/2006" spd="fast" ns1:Ignorable="p14">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HPA With No Metrics Pipeline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the most common real-world HPA problem and it is not an HPA problem at all.</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10 — captured on the isolated kind cluster</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hpa quote-engine -n kcna-lab10</a:t>
            </a:r>
          </a:p>
          <a:p>
            <a:pPr>
              <a:lnSpc>
                <a:spcPts val="1476"/>
              </a:lnSpc>
              <a:spcAft>
                <a:spcPts val="0"/>
              </a:spcAft>
            </a:pPr>
            <a:r>
              <a:rPr sz="1000">
                <a:solidFill>
                  <a:srgbClr val="E6EDF3"/>
                </a:solidFill>
                <a:latin typeface="Consolas"/>
              </a:rPr>
              <a:t>NAME          TARGETS                          MIN MAX REPLICAS</a:t>
            </a:r>
          </a:p>
          <a:p>
            <a:pPr>
              <a:lnSpc>
                <a:spcPts val="1476"/>
              </a:lnSpc>
              <a:spcAft>
                <a:spcPts val="0"/>
              </a:spcAft>
            </a:pPr>
            <a:r>
              <a:rPr sz="1000">
                <a:solidFill>
                  <a:srgbClr val="E6EDF3"/>
                </a:solidFill>
                <a:latin typeface="Consolas"/>
              </a:rPr>
              <a:t>quote-engine  cpu: &lt;unknown&gt;/60%,</a:t>
            </a:r>
          </a:p>
          <a:p>
            <a:pPr>
              <a:lnSpc>
                <a:spcPts val="1476"/>
              </a:lnSpc>
              <a:spcAft>
                <a:spcPts val="0"/>
              </a:spcAft>
            </a:pPr>
            <a:r>
              <a:rPr sz="1000">
                <a:solidFill>
                  <a:srgbClr val="E6EDF3"/>
                </a:solidFill>
                <a:latin typeface="Consolas"/>
              </a:rPr>
              <a:t>              memory: &lt;unknown&gt;/200Mi          2   6   2</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Conditions:</a:t>
            </a:r>
          </a:p>
          <a:p>
            <a:pPr>
              <a:lnSpc>
                <a:spcPts val="1476"/>
              </a:lnSpc>
              <a:spcAft>
                <a:spcPts val="0"/>
              </a:spcAft>
            </a:pPr>
            <a:r>
              <a:rPr sz="1000">
                <a:solidFill>
                  <a:srgbClr val="E6EDF3"/>
                </a:solidFill>
                <a:latin typeface="Consolas"/>
              </a:rPr>
              <a:t>  AbleToScale     True   SucceededGetScale</a:t>
            </a:r>
          </a:p>
          <a:p>
            <a:pPr>
              <a:lnSpc>
                <a:spcPts val="1476"/>
              </a:lnSpc>
              <a:spcAft>
                <a:spcPts val="0"/>
              </a:spcAft>
            </a:pPr>
            <a:r>
              <a:rPr sz="1000">
                <a:solidFill>
                  <a:srgbClr val="E6EDF3"/>
                </a:solidFill>
                <a:latin typeface="Consolas"/>
              </a:rPr>
              <a:t>  ScalingActive   False  FailedGetResourceMetric</a:t>
            </a:r>
          </a:p>
          <a:p>
            <a:pPr>
              <a:lnSpc>
                <a:spcPts val="1476"/>
              </a:lnSpc>
              <a:spcAft>
                <a:spcPts val="0"/>
              </a:spcAft>
            </a:pPr>
            <a:r>
              <a:rPr sz="1000">
                <a:solidFill>
                  <a:srgbClr val="E6EDF3"/>
                </a:solidFill>
                <a:latin typeface="Consolas"/>
              </a:rPr>
              <a:t>    the HPA was unable to compute the replica count:</a:t>
            </a:r>
          </a:p>
          <a:p>
            <a:pPr>
              <a:lnSpc>
                <a:spcPts val="1476"/>
              </a:lnSpc>
              <a:spcAft>
                <a:spcPts val="0"/>
              </a:spcAft>
            </a:pPr>
            <a:r>
              <a:rPr sz="1000">
                <a:solidFill>
                  <a:srgbClr val="E6EDF3"/>
                </a:solidFill>
                <a:latin typeface="Consolas"/>
              </a:rPr>
              <a:t>    unable to fetch metrics from resource metrics API:</a:t>
            </a:r>
          </a:p>
          <a:p>
            <a:pPr>
              <a:lnSpc>
                <a:spcPts val="1476"/>
              </a:lnSpc>
              <a:spcAft>
                <a:spcPts val="0"/>
              </a:spcAft>
            </a:pPr>
            <a:r>
              <a:rPr sz="1000">
                <a:solidFill>
                  <a:srgbClr val="E6EDF3"/>
                </a:solidFill>
                <a:latin typeface="Consolas"/>
              </a:rPr>
              <a:t>    the server could not find the requested resource</a:t>
            </a:r>
          </a:p>
          <a:p>
            <a:pPr>
              <a:lnSpc>
                <a:spcPts val="1476"/>
              </a:lnSpc>
              <a:spcAft>
                <a:spcPts val="0"/>
              </a:spcAft>
            </a:pPr>
            <a:r>
              <a:rPr sz="1000">
                <a:solidFill>
                  <a:srgbClr val="E6EDF3"/>
                </a:solidFill>
                <a:latin typeface="Consolas"/>
              </a:rPr>
              <a:t>    (get pods.metrics.k8s.io)</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top pods -n kcna-lab10</a:t>
            </a:r>
          </a:p>
          <a:p>
            <a:pPr>
              <a:lnSpc>
                <a:spcPts val="1476"/>
              </a:lnSpc>
              <a:spcAft>
                <a:spcPts val="0"/>
              </a:spcAft>
            </a:pPr>
            <a:r>
              <a:rPr sz="1000">
                <a:solidFill>
                  <a:srgbClr val="E6EDF3"/>
                </a:solidFill>
                <a:latin typeface="Consolas"/>
              </a:rPr>
              <a:t>error: Metrics API not available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&lt;unknown&gt; is the diagnosis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HPA object is valid and the controller is running; it simply has no numbers to act on.</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conditions, two different answers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AbleToScale True means the scale subresource works. ScalingActive False means the metric lookup does not.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pods.metrics.k8s.io is the missing API</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metrics-server registers that APIService. A stock kind cluster does not run it.</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Replicas stay at minReplicas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HPA does not guess. With no signal it makes no change — a safe failure mode.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Parent-verified lab run, courseware/labs (isolated kind 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236</a:t>
            </a:r>
          </a:p>
        </p:txBody>
      </p:sp>
    </p:spTree>
  </p:cSld>
  <p:clrMapOvr>
    <a:masterClrMapping/>
  </p:clrMapOvr>
  <p:transition xmlns:ns1="http://schemas.openxmlformats.org/markup-compatibility/2006" spd="fast" ns1:Ignorable="p14">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TRAPS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Autoscaling Failure Modes Worth Memorising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ways an autoscaler quietly does nothing. Each one has a specific field or object you can check.</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Utilization target with no CPU request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There is no denominator, so utilisation is undefined and the HPA never scales. Always declare a request on an HPA target.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hard-coded replicas fighting the HPA</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Re-applying a manifest that pins .spec.replicas overwrites the HPA's decision on every sync. Remove the field.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DaemonSets cannot be HPA targets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They expose no scale subresource. Their replica count is the node count by definition.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HPA scales Pods, not nodes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New Pods with no room go Pending. Without a Cluster Autoscaler that is where the story ends.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Scale-to-zero is not native HPA</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minReplicas below 1 requires the HPAScaleToZero feature gate; KEDA and Knative are the usual routes.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Slow readiness defeats fast scaling</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a new Pod takes 90 seconds to become Ready, a 30-second stabilisation window buys you nothing.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kubernetes.io/docs/tasks/run-application/horizontal-pod-autoscale/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237</a:t>
            </a:r>
          </a:p>
        </p:txBody>
      </p:sp>
    </p:spTree>
  </p:cSld>
  <p:clrMapOvr>
    <a:masterClrMapping/>
  </p:clrMapOvr>
  <p:transition xmlns:ns1="http://schemas.openxmlformats.org/markup-compatibility/2006" spd="fast" ns1:Ignorable="p14">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10 — Resource Requests, Limits, QoS and Autoscaling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Apply the MFS workload resource profiles, prove all three QoS classes from the live API, watch a container get OOMKilled by its own memory limit, then bound the namespace with a LimitRange and ResourceQuota and read an HPA honestly on a cluster with no metrics-server.</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Three Pods proved to be Guaranteed, Burstable and BestEffort via .status.qosClass</a:t>
            </a:r>
          </a:p>
          <a:p>
            <a:pPr>
              <a:lnSpc>
                <a:spcPct val="112000"/>
              </a:lnSpc>
              <a:spcAft>
                <a:spcPts val="500"/>
              </a:spcAft>
            </a:pPr>
            <a:r>
              <a:rPr sz="1050">
                <a:solidFill>
                  <a:srgbClr val="94A3B8"/>
                </a:solidFill>
                <a:latin typeface="Arial"/>
              </a:rPr>
              <a:t>•  </a:t>
            </a:r>
            <a:r>
              <a:rPr sz="1050">
                <a:solidFill>
                  <a:srgbClr val="5B6372"/>
                </a:solidFill>
                <a:latin typeface="Arial"/>
              </a:rPr>
              <a:t>An OOMKilled container showing reason=OOMKilled and exit code 137</a:t>
            </a:r>
          </a:p>
          <a:p>
            <a:pPr>
              <a:lnSpc>
                <a:spcPct val="112000"/>
              </a:lnSpc>
              <a:spcAft>
                <a:spcPts val="500"/>
              </a:spcAft>
            </a:pPr>
            <a:r>
              <a:rPr sz="1050">
                <a:solidFill>
                  <a:srgbClr val="94A3B8"/>
                </a:solidFill>
                <a:latin typeface="Arial"/>
              </a:rPr>
              <a:t>•  </a:t>
            </a:r>
            <a:r>
              <a:rPr sz="1050">
                <a:solidFill>
                  <a:srgbClr val="5B6372"/>
                </a:solidFill>
                <a:latin typeface="Arial"/>
              </a:rPr>
              <a:t>A LimitRange plus ResourceQuota that reject an over-budget Pod at admission, and an autoscaling/v2 HPA on the quote-engine Deployment</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requests drive scheduling and are the denominator of HPA utilisation; limits drive throttling and OOMKill</a:t>
            </a:r>
          </a:p>
          <a:p>
            <a:pPr>
              <a:lnSpc>
                <a:spcPct val="112000"/>
              </a:lnSpc>
              <a:spcAft>
                <a:spcPts val="500"/>
              </a:spcAft>
            </a:pPr>
            <a:r>
              <a:rPr sz="1050">
                <a:solidFill>
                  <a:srgbClr val="94A3B8"/>
                </a:solidFill>
                <a:latin typeface="Arial"/>
              </a:rPr>
              <a:t>•  </a:t>
            </a:r>
            <a:r>
              <a:rPr sz="1050">
                <a:solidFill>
                  <a:srgbClr val="5B6372"/>
                </a:solidFill>
                <a:latin typeface="Arial"/>
              </a:rPr>
              <a:t>The three QoS classes are derived, never declared - the API server computes .status.qosClass</a:t>
            </a:r>
          </a:p>
          <a:p>
            <a:pPr>
              <a:lnSpc>
                <a:spcPct val="112000"/>
              </a:lnSpc>
              <a:spcAft>
                <a:spcPts val="500"/>
              </a:spcAft>
            </a:pPr>
            <a:r>
              <a:rPr sz="1050">
                <a:solidFill>
                  <a:srgbClr val="94A3B8"/>
                </a:solidFill>
                <a:latin typeface="Arial"/>
              </a:rPr>
              <a:t>•  </a:t>
            </a:r>
            <a:r>
              <a:rPr sz="1050">
                <a:solidFill>
                  <a:srgbClr val="5B6372"/>
                </a:solidFill>
                <a:latin typeface="Arial"/>
              </a:rPr>
              <a:t>LimitRange sets per-container defaults and bounds; ResourceQuota sets an aggregate namespace budget</a:t>
            </a:r>
          </a:p>
          <a:p>
            <a:pPr>
              <a:lnSpc>
                <a:spcPct val="112000"/>
              </a:lnSpc>
              <a:spcAft>
                <a:spcPts val="500"/>
              </a:spcAft>
            </a:pPr>
            <a:r>
              <a:rPr sz="1050">
                <a:solidFill>
                  <a:srgbClr val="94A3B8"/>
                </a:solidFill>
                <a:latin typeface="Arial"/>
              </a:rPr>
              <a:t>•  </a:t>
            </a:r>
            <a:r>
              <a:rPr sz="1050">
                <a:solidFill>
                  <a:srgbClr val="5B6372"/>
                </a:solidFill>
                <a:latin typeface="Arial"/>
              </a:rPr>
              <a:t>An HPA without metrics-server reports &lt;unknown&gt; and ScalingActive=False - the pipeline is missing, not the config</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10</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kcna-lab10</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LO2 · A3 · K3</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courseware/labs/lab-10-resources-requests-limits-autoscaling/README.md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238</a:t>
            </a:r>
          </a:p>
        </p:txBody>
      </p:sp>
    </p:spTree>
  </p:cSld>
  <p:clrMapOvr>
    <a:masterClrMapping/>
  </p:clrMapOvr>
  <p:transition xmlns:ns1="http://schemas.openxmlformats.org/markup-compatibility/2006" spd="fast" ns1:Ignorable="p14">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EXAM-FACING RECAP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2 Facts You Should Be Able to State Without Looking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7" name="Rectangle 6"/>
          <p:cNvSpPr/>
          <p:nvPr/>
        </p:nvSpPr>
        <p:spPr>
          <a:xfrm>
            <a:off x="777240" y="1737360"/>
            <a:ext cx="36576" cy="548640"/>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41832"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Deployment strategy default</a:t>
            </a:r>
          </a:p>
        </p:txBody>
      </p:sp>
      <p:sp>
        <p:nvSpPr>
          <p:cNvPr id="9" name="TextBox 8"/>
          <p:cNvSpPr txBox="1"/>
          <p:nvPr/>
        </p:nvSpPr>
        <p:spPr>
          <a:xfrm>
            <a:off x="32351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RollingUpdate with maxSurge 25% and maxUnavailable 25%</a:t>
            </a:r>
          </a:p>
        </p:txBody>
      </p:sp>
      <p:sp>
        <p:nvSpPr>
          <p:cNvPr id="10" name="Rectangle 9"/>
          <p:cNvSpPr/>
          <p:nvPr/>
        </p:nvSpPr>
        <p:spPr>
          <a:xfrm>
            <a:off x="777240"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1" name="Rectangle 10"/>
          <p:cNvSpPr/>
          <p:nvPr/>
        </p:nvSpPr>
        <p:spPr>
          <a:xfrm>
            <a:off x="777240" y="2286000"/>
            <a:ext cx="36576" cy="548640"/>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941832"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Rollout ceiling / floor</a:t>
            </a:r>
          </a:p>
        </p:txBody>
      </p:sp>
      <p:sp>
        <p:nvSpPr>
          <p:cNvPr id="13" name="TextBox 12"/>
          <p:cNvSpPr txBox="1"/>
          <p:nvPr/>
        </p:nvSpPr>
        <p:spPr>
          <a:xfrm>
            <a:off x="32351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replicas + maxSurge / replicas - maxUnavailable</a:t>
            </a:r>
          </a:p>
        </p:txBody>
      </p:sp>
      <p:sp>
        <p:nvSpPr>
          <p:cNvPr id="14" name="Rectangle 13"/>
          <p:cNvSpPr/>
          <p:nvPr/>
        </p:nvSpPr>
        <p:spPr>
          <a:xfrm>
            <a:off x="777240"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5" name="Rectangle 14"/>
          <p:cNvSpPr/>
          <p:nvPr/>
        </p:nvSpPr>
        <p:spPr>
          <a:xfrm>
            <a:off x="777240" y="2834639"/>
            <a:ext cx="36576" cy="548640"/>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941832"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Rounding</a:t>
            </a:r>
          </a:p>
        </p:txBody>
      </p:sp>
      <p:sp>
        <p:nvSpPr>
          <p:cNvPr id="17" name="TextBox 16"/>
          <p:cNvSpPr txBox="1"/>
          <p:nvPr/>
        </p:nvSpPr>
        <p:spPr>
          <a:xfrm>
            <a:off x="32351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maxSurge rounds up, maxUnavailable rounds down</a:t>
            </a:r>
          </a:p>
        </p:txBody>
      </p:sp>
      <p:sp>
        <p:nvSpPr>
          <p:cNvPr id="18" name="Rectangle 17"/>
          <p:cNvSpPr/>
          <p:nvPr/>
        </p:nvSpPr>
        <p:spPr>
          <a:xfrm>
            <a:off x="777240"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9" name="Rectangle 18"/>
          <p:cNvSpPr/>
          <p:nvPr/>
        </p:nvSpPr>
        <p:spPr>
          <a:xfrm>
            <a:off x="777240" y="3383279"/>
            <a:ext cx="36576" cy="54864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revisionHistoryLimit default</a:t>
            </a:r>
          </a:p>
        </p:txBody>
      </p:sp>
      <p:sp>
        <p:nvSpPr>
          <p:cNvPr id="21" name="TextBox 20"/>
          <p:cNvSpPr txBox="1"/>
          <p:nvPr/>
        </p:nvSpPr>
        <p:spPr>
          <a:xfrm>
            <a:off x="32351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10 old ReplicaSets kept</a:t>
            </a:r>
          </a:p>
        </p:txBody>
      </p:sp>
      <p:sp>
        <p:nvSpPr>
          <p:cNvPr id="22" name="Rectangle 21"/>
          <p:cNvSpPr/>
          <p:nvPr/>
        </p:nvSpPr>
        <p:spPr>
          <a:xfrm>
            <a:off x="777240"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777240" y="3931920"/>
            <a:ext cx="36576" cy="548640"/>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941832"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Scaling replicas</a:t>
            </a:r>
          </a:p>
        </p:txBody>
      </p:sp>
      <p:sp>
        <p:nvSpPr>
          <p:cNvPr id="25" name="TextBox 24"/>
          <p:cNvSpPr txBox="1"/>
          <p:nvPr/>
        </p:nvSpPr>
        <p:spPr>
          <a:xfrm>
            <a:off x="32351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Never creates a new revision or ReplicaSet</a:t>
            </a:r>
          </a:p>
        </p:txBody>
      </p:sp>
      <p:sp>
        <p:nvSpPr>
          <p:cNvPr id="26" name="Rectangle 25"/>
          <p:cNvSpPr/>
          <p:nvPr/>
        </p:nvSpPr>
        <p:spPr>
          <a:xfrm>
            <a:off x="777240"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7" name="Rectangle 26"/>
          <p:cNvSpPr/>
          <p:nvPr/>
        </p:nvSpPr>
        <p:spPr>
          <a:xfrm>
            <a:off x="777240" y="4480560"/>
            <a:ext cx="36576" cy="548640"/>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941832"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Rollback mechanism</a:t>
            </a:r>
          </a:p>
        </p:txBody>
      </p:sp>
      <p:sp>
        <p:nvSpPr>
          <p:cNvPr id="29" name="TextBox 28"/>
          <p:cNvSpPr txBox="1"/>
          <p:nvPr/>
        </p:nvSpPr>
        <p:spPr>
          <a:xfrm>
            <a:off x="32351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Revives an existing ReplicaSet and re-stamps its revision number</a:t>
            </a:r>
          </a:p>
        </p:txBody>
      </p:sp>
      <p:sp>
        <p:nvSpPr>
          <p:cNvPr id="30" name="Rectangle 29"/>
          <p:cNvSpPr/>
          <p:nvPr/>
        </p:nvSpPr>
        <p:spPr>
          <a:xfrm>
            <a:off x="6263639" y="173736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1" name="Rectangle 30"/>
          <p:cNvSpPr/>
          <p:nvPr/>
        </p:nvSpPr>
        <p:spPr>
          <a:xfrm>
            <a:off x="6263639" y="1737360"/>
            <a:ext cx="36576" cy="548640"/>
          </a:xfrm>
          <a:prstGeom prst="rect">
            <a:avLst/>
          </a:prstGeom>
          <a:solidFill>
            <a:srgbClr val="7C3AED"/>
          </a:solidFill>
          <a:ln>
            <a:noFill/>
          </a:ln>
          <a:effectLst/>
        </p:spPr>
        <p:txBody>
          <a:bodyPr rtlCol="0" anchor="ctr" wrap="square"/>
          <a:lstStyle/>
          <a:p>
            <a:pPr algn="ctr"/>
          </a:p>
        </p:txBody>
      </p:sp>
      <p:sp>
        <p:nvSpPr>
          <p:cNvPr id="32" name="TextBox 31"/>
          <p:cNvSpPr txBox="1"/>
          <p:nvPr/>
        </p:nvSpPr>
        <p:spPr>
          <a:xfrm>
            <a:off x="6428231" y="18196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Scheduler stages</a:t>
            </a:r>
          </a:p>
        </p:txBody>
      </p:sp>
      <p:sp>
        <p:nvSpPr>
          <p:cNvPr id="33" name="TextBox 32"/>
          <p:cNvSpPr txBox="1"/>
          <p:nvPr/>
        </p:nvSpPr>
        <p:spPr>
          <a:xfrm>
            <a:off x="8721547" y="18196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PreFilter, Filter, Score, Reserve, Permit, PreBind, Bind</a:t>
            </a:r>
          </a:p>
        </p:txBody>
      </p:sp>
      <p:sp>
        <p:nvSpPr>
          <p:cNvPr id="34" name="Rectangle 33"/>
          <p:cNvSpPr/>
          <p:nvPr/>
        </p:nvSpPr>
        <p:spPr>
          <a:xfrm>
            <a:off x="6263639" y="228600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5" name="Rectangle 34"/>
          <p:cNvSpPr/>
          <p:nvPr/>
        </p:nvSpPr>
        <p:spPr>
          <a:xfrm>
            <a:off x="6263639" y="2286000"/>
            <a:ext cx="36576" cy="548640"/>
          </a:xfrm>
          <a:prstGeom prst="rect">
            <a:avLst/>
          </a:prstGeom>
          <a:solidFill>
            <a:srgbClr val="F59E0B"/>
          </a:solidFill>
          <a:ln>
            <a:noFill/>
          </a:ln>
          <a:effectLst/>
        </p:spPr>
        <p:txBody>
          <a:bodyPr rtlCol="0" anchor="ctr" wrap="square"/>
          <a:lstStyle/>
          <a:p>
            <a:pPr algn="ctr"/>
          </a:p>
        </p:txBody>
      </p:sp>
      <p:sp>
        <p:nvSpPr>
          <p:cNvPr id="36" name="TextBox 35"/>
          <p:cNvSpPr txBox="1"/>
          <p:nvPr/>
        </p:nvSpPr>
        <p:spPr>
          <a:xfrm>
            <a:off x="6428231" y="236829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Only Filter causes Pending</a:t>
            </a:r>
          </a:p>
        </p:txBody>
      </p:sp>
      <p:sp>
        <p:nvSpPr>
          <p:cNvPr id="37" name="TextBox 36"/>
          <p:cNvSpPr txBox="1"/>
          <p:nvPr/>
        </p:nvSpPr>
        <p:spPr>
          <a:xfrm>
            <a:off x="8721547" y="236829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low score never blocks scheduling</a:t>
            </a:r>
          </a:p>
        </p:txBody>
      </p:sp>
      <p:sp>
        <p:nvSpPr>
          <p:cNvPr id="38" name="Rectangle 37"/>
          <p:cNvSpPr/>
          <p:nvPr/>
        </p:nvSpPr>
        <p:spPr>
          <a:xfrm>
            <a:off x="6263639" y="2834639"/>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9" name="Rectangle 38"/>
          <p:cNvSpPr/>
          <p:nvPr/>
        </p:nvSpPr>
        <p:spPr>
          <a:xfrm>
            <a:off x="6263639" y="2834639"/>
            <a:ext cx="36576" cy="548640"/>
          </a:xfrm>
          <a:prstGeom prst="rect">
            <a:avLst/>
          </a:prstGeom>
          <a:solidFill>
            <a:srgbClr val="1F6FEB"/>
          </a:solidFill>
          <a:ln>
            <a:noFill/>
          </a:ln>
          <a:effectLst/>
        </p:spPr>
        <p:txBody>
          <a:bodyPr rtlCol="0" anchor="ctr" wrap="square"/>
          <a:lstStyle/>
          <a:p>
            <a:pPr algn="ctr"/>
          </a:p>
        </p:txBody>
      </p:sp>
      <p:sp>
        <p:nvSpPr>
          <p:cNvPr id="40" name="TextBox 39"/>
          <p:cNvSpPr txBox="1"/>
          <p:nvPr/>
        </p:nvSpPr>
        <p:spPr>
          <a:xfrm>
            <a:off x="6428231" y="291693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Taint effects</a:t>
            </a:r>
          </a:p>
        </p:txBody>
      </p:sp>
      <p:sp>
        <p:nvSpPr>
          <p:cNvPr id="41" name="TextBox 40"/>
          <p:cNvSpPr txBox="1"/>
          <p:nvPr/>
        </p:nvSpPr>
        <p:spPr>
          <a:xfrm>
            <a:off x="8721547" y="291693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NoSchedule, PreferNoSchedule, NoExecute</a:t>
            </a:r>
          </a:p>
        </p:txBody>
      </p:sp>
      <p:sp>
        <p:nvSpPr>
          <p:cNvPr id="42" name="Rectangle 41"/>
          <p:cNvSpPr/>
          <p:nvPr/>
        </p:nvSpPr>
        <p:spPr>
          <a:xfrm>
            <a:off x="6263639" y="3383279"/>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3" name="Rectangle 42"/>
          <p:cNvSpPr/>
          <p:nvPr/>
        </p:nvSpPr>
        <p:spPr>
          <a:xfrm>
            <a:off x="6263639" y="3383279"/>
            <a:ext cx="36576" cy="548640"/>
          </a:xfrm>
          <a:prstGeom prst="rect">
            <a:avLst/>
          </a:prstGeom>
          <a:solidFill>
            <a:srgbClr val="10B981"/>
          </a:solidFill>
          <a:ln>
            <a:noFill/>
          </a:ln>
          <a:effectLst/>
        </p:spPr>
        <p:txBody>
          <a:bodyPr rtlCol="0" anchor="ctr" wrap="square"/>
          <a:lstStyle/>
          <a:p>
            <a:pPr algn="ctr"/>
          </a:p>
        </p:txBody>
      </p:sp>
      <p:sp>
        <p:nvSpPr>
          <p:cNvPr id="44" name="TextBox 43"/>
          <p:cNvSpPr txBox="1"/>
          <p:nvPr/>
        </p:nvSpPr>
        <p:spPr>
          <a:xfrm>
            <a:off x="6428231" y="346557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QoS classes</a:t>
            </a:r>
          </a:p>
        </p:txBody>
      </p:sp>
      <p:sp>
        <p:nvSpPr>
          <p:cNvPr id="45" name="TextBox 44"/>
          <p:cNvSpPr txBox="1"/>
          <p:nvPr/>
        </p:nvSpPr>
        <p:spPr>
          <a:xfrm>
            <a:off x="8721547" y="346557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Guaranteed, Burstable, BestEffort — computed, not declared</a:t>
            </a:r>
          </a:p>
        </p:txBody>
      </p:sp>
      <p:sp>
        <p:nvSpPr>
          <p:cNvPr id="46" name="Rectangle 45"/>
          <p:cNvSpPr/>
          <p:nvPr/>
        </p:nvSpPr>
        <p:spPr>
          <a:xfrm>
            <a:off x="6263639" y="3931920"/>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7" name="Rectangle 46"/>
          <p:cNvSpPr/>
          <p:nvPr/>
        </p:nvSpPr>
        <p:spPr>
          <a:xfrm>
            <a:off x="6263639" y="3931920"/>
            <a:ext cx="36576" cy="548640"/>
          </a:xfrm>
          <a:prstGeom prst="rect">
            <a:avLst/>
          </a:prstGeom>
          <a:solidFill>
            <a:srgbClr val="7C3AED"/>
          </a:solidFill>
          <a:ln>
            <a:noFill/>
          </a:ln>
          <a:effectLst/>
        </p:spPr>
        <p:txBody>
          <a:bodyPr rtlCol="0" anchor="ctr" wrap="square"/>
          <a:lstStyle/>
          <a:p>
            <a:pPr algn="ctr"/>
          </a:p>
        </p:txBody>
      </p:sp>
      <p:sp>
        <p:nvSpPr>
          <p:cNvPr id="48" name="TextBox 47"/>
          <p:cNvSpPr txBox="1"/>
          <p:nvPr/>
        </p:nvSpPr>
        <p:spPr>
          <a:xfrm>
            <a:off x="6428231" y="4014215"/>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Exit code 137</a:t>
            </a:r>
          </a:p>
        </p:txBody>
      </p:sp>
      <p:sp>
        <p:nvSpPr>
          <p:cNvPr id="49" name="TextBox 48"/>
          <p:cNvSpPr txBox="1"/>
          <p:nvPr/>
        </p:nvSpPr>
        <p:spPr>
          <a:xfrm>
            <a:off x="8721547" y="4014215"/>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SIGKILL — in a container, usually OOMKill</a:t>
            </a:r>
          </a:p>
        </p:txBody>
      </p:sp>
      <p:sp>
        <p:nvSpPr>
          <p:cNvPr id="50" name="Rectangle 49"/>
          <p:cNvSpPr/>
          <p:nvPr/>
        </p:nvSpPr>
        <p:spPr>
          <a:xfrm>
            <a:off x="6263639" y="4480560"/>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1" name="Rectangle 50"/>
          <p:cNvSpPr/>
          <p:nvPr/>
        </p:nvSpPr>
        <p:spPr>
          <a:xfrm>
            <a:off x="6263639" y="4480560"/>
            <a:ext cx="36576" cy="548640"/>
          </a:xfrm>
          <a:prstGeom prst="rect">
            <a:avLst/>
          </a:prstGeom>
          <a:solidFill>
            <a:srgbClr val="F59E0B"/>
          </a:solidFill>
          <a:ln>
            <a:noFill/>
          </a:ln>
          <a:effectLst/>
        </p:spPr>
        <p:txBody>
          <a:bodyPr rtlCol="0" anchor="ctr" wrap="square"/>
          <a:lstStyle/>
          <a:p>
            <a:pPr algn="ctr"/>
          </a:p>
        </p:txBody>
      </p:sp>
      <p:sp>
        <p:nvSpPr>
          <p:cNvPr id="52" name="TextBox 51"/>
          <p:cNvSpPr txBox="1"/>
          <p:nvPr/>
        </p:nvSpPr>
        <p:spPr>
          <a:xfrm>
            <a:off x="6428231" y="4562856"/>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HPA API version</a:t>
            </a:r>
          </a:p>
        </p:txBody>
      </p:sp>
      <p:sp>
        <p:nvSpPr>
          <p:cNvPr id="53" name="TextBox 52"/>
          <p:cNvSpPr txBox="1"/>
          <p:nvPr/>
        </p:nvSpPr>
        <p:spPr>
          <a:xfrm>
            <a:off x="8721547" y="4562856"/>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autoscaling/v2; requires metrics-server for CPU or memory</a:t>
            </a:r>
          </a:p>
        </p:txBody>
      </p:sp>
      <p:sp>
        <p:nvSpPr>
          <p:cNvPr id="54" name="TextBox 5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kubernetes.io/docs/concepts/workloads/controllers/deployment/</a:t>
            </a:r>
          </a:p>
        </p:txBody>
      </p:sp>
      <p:sp>
        <p:nvSpPr>
          <p:cNvPr id="55" name="TextBox 5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6" name="TextBox 5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7" name="TextBox 5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239</a:t>
            </a:r>
          </a:p>
        </p:txBody>
      </p:sp>
    </p:spTree>
  </p:cSld>
  <p:clrMapOvr>
    <a:masterClrMapping/>
  </p:clrMapOvr>
  <p:transition xmlns:ns1="http://schemas.openxmlformats.org/markup-compatibility/2006" spd="fast" ns1:Ignorable="p14">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2 RECAP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Can Now Do, and What Comes Next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today reduced to one sentence: declare the shape, and let a controller close the gap. Day 3 applies the same sentence to traffic and access.</a:t>
            </a:r>
          </a:p>
        </p:txBody>
      </p:sp>
      <p:sp>
        <p:nvSpPr>
          <p:cNvPr id="7" name="Rectangle 6"/>
          <p:cNvSpPr/>
          <p:nvPr/>
        </p:nvSpPr>
        <p:spPr>
          <a:xfrm>
            <a:off x="777240"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YOU CAN NOW EXPLAIN AND DO</a:t>
            </a:r>
          </a:p>
        </p:txBody>
      </p:sp>
      <p:sp>
        <p:nvSpPr>
          <p:cNvPr id="10" name="TextBox 9"/>
          <p:cNvSpPr txBox="1"/>
          <p:nvPr/>
        </p:nvSpPr>
        <p:spPr>
          <a:xfrm>
            <a:off x="996695"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Describe the reconciliation loop and why level-triggered control makes the cluster self-healing.</a:t>
            </a:r>
          </a:p>
          <a:p>
            <a:pPr>
              <a:lnSpc>
                <a:spcPct val="112000"/>
              </a:lnSpc>
              <a:spcAft>
                <a:spcPts val="700"/>
              </a:spcAft>
            </a:pPr>
            <a:r>
              <a:rPr sz="1150">
                <a:solidFill>
                  <a:srgbClr val="94A3B8"/>
                </a:solidFill>
                <a:latin typeface="Arial"/>
              </a:rPr>
              <a:t>•  </a:t>
            </a:r>
            <a:r>
              <a:rPr sz="1150">
                <a:solidFill>
                  <a:srgbClr val="5B6372"/>
                </a:solidFill>
                <a:latin typeface="Arial"/>
              </a:rPr>
              <a:t>Predict a rollout's Pod ceiling and availability floor from maxSurge and maxUnavailable, and verify it live.</a:t>
            </a:r>
          </a:p>
          <a:p>
            <a:pPr>
              <a:lnSpc>
                <a:spcPct val="112000"/>
              </a:lnSpc>
              <a:spcAft>
                <a:spcPts val="700"/>
              </a:spcAft>
            </a:pPr>
            <a:r>
              <a:rPr sz="1150">
                <a:solidFill>
                  <a:srgbClr val="94A3B8"/>
                </a:solidFill>
                <a:latin typeface="Arial"/>
              </a:rPr>
              <a:t>•  </a:t>
            </a:r>
            <a:r>
              <a:rPr sz="1150">
                <a:solidFill>
                  <a:srgbClr val="5B6372"/>
                </a:solidFill>
                <a:latin typeface="Arial"/>
              </a:rPr>
              <a:t>Diagnose a wedged rollout from Available and Progressing, and roll back understanding what the revision numbers do.</a:t>
            </a:r>
          </a:p>
          <a:p>
            <a:pPr>
              <a:lnSpc>
                <a:spcPct val="112000"/>
              </a:lnSpc>
              <a:spcAft>
                <a:spcPts val="700"/>
              </a:spcAft>
            </a:pPr>
            <a:r>
              <a:rPr sz="1150">
                <a:solidFill>
                  <a:srgbClr val="94A3B8"/>
                </a:solidFill>
                <a:latin typeface="Arial"/>
              </a:rPr>
              <a:t>•  </a:t>
            </a:r>
            <a:r>
              <a:rPr sz="1150">
                <a:solidFill>
                  <a:srgbClr val="5B6372"/>
                </a:solidFill>
                <a:latin typeface="Arial"/>
              </a:rPr>
              <a:t>Choose between Deployment, StatefulSet, DaemonSet, Job and CronJob from the shape of the work.</a:t>
            </a:r>
          </a:p>
          <a:p>
            <a:pPr>
              <a:lnSpc>
                <a:spcPct val="112000"/>
              </a:lnSpc>
              <a:spcAft>
                <a:spcPts val="700"/>
              </a:spcAft>
            </a:pPr>
            <a:r>
              <a:rPr sz="1150">
                <a:solidFill>
                  <a:srgbClr val="94A3B8"/>
                </a:solidFill>
                <a:latin typeface="Arial"/>
              </a:rPr>
              <a:t>•  </a:t>
            </a:r>
            <a:r>
              <a:rPr sz="1150">
                <a:solidFill>
                  <a:srgbClr val="5B6372"/>
                </a:solidFill>
                <a:latin typeface="Arial"/>
              </a:rPr>
              <a:t>Read a FailedScheduling message and say whether it is affinity, a taint or capacity.</a:t>
            </a:r>
          </a:p>
          <a:p>
            <a:pPr>
              <a:lnSpc>
                <a:spcPct val="112000"/>
              </a:lnSpc>
              <a:spcAft>
                <a:spcPts val="700"/>
              </a:spcAft>
            </a:pPr>
            <a:r>
              <a:rPr sz="1150">
                <a:solidFill>
                  <a:srgbClr val="94A3B8"/>
                </a:solidFill>
                <a:latin typeface="Arial"/>
              </a:rPr>
              <a:t>•  </a:t>
            </a:r>
            <a:r>
              <a:rPr sz="1150">
                <a:solidFill>
                  <a:srgbClr val="5B6372"/>
                </a:solidFill>
                <a:latin typeface="Arial"/>
              </a:rPr>
              <a:t>Set requests and limits deliberately, name the resulting QoS class, and explain throttling versus OOMKill.</a:t>
            </a:r>
          </a:p>
          <a:p>
            <a:pPr>
              <a:lnSpc>
                <a:spcPct val="112000"/>
              </a:lnSpc>
              <a:spcAft>
                <a:spcPts val="700"/>
              </a:spcAft>
            </a:pPr>
            <a:r>
              <a:rPr sz="1150">
                <a:solidFill>
                  <a:srgbClr val="94A3B8"/>
                </a:solidFill>
                <a:latin typeface="Arial"/>
              </a:rPr>
              <a:t>•  </a:t>
            </a:r>
            <a:r>
              <a:rPr sz="1150">
                <a:solidFill>
                  <a:srgbClr val="5B6372"/>
                </a:solidFill>
                <a:latin typeface="Arial"/>
              </a:rPr>
              <a:t>Read an autoscaling/v2 HPA and say what it will do and why it might do nothing.</a:t>
            </a:r>
          </a:p>
        </p:txBody>
      </p:sp>
      <p:sp>
        <p:nvSpPr>
          <p:cNvPr id="11" name="Rectangle 10"/>
          <p:cNvSpPr/>
          <p:nvPr/>
        </p:nvSpPr>
        <p:spPr>
          <a:xfrm>
            <a:off x="6276441" y="2208885"/>
            <a:ext cx="5199278" cy="3780434"/>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8885"/>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63749"/>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 3 BUILDS DIRECTLY ON THIS</a:t>
            </a:r>
          </a:p>
        </p:txBody>
      </p:sp>
      <p:sp>
        <p:nvSpPr>
          <p:cNvPr id="14" name="TextBox 13"/>
          <p:cNvSpPr txBox="1"/>
          <p:nvPr/>
        </p:nvSpPr>
        <p:spPr>
          <a:xfrm>
            <a:off x="6495897" y="2720949"/>
            <a:ext cx="4760366" cy="3140354"/>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Services: the same label selectors you used for ReplicaSets now bind traffic to Pods.</a:t>
            </a:r>
          </a:p>
          <a:p>
            <a:pPr>
              <a:lnSpc>
                <a:spcPct val="112000"/>
              </a:lnSpc>
              <a:spcAft>
                <a:spcPts val="700"/>
              </a:spcAft>
            </a:pPr>
            <a:r>
              <a:rPr sz="1150">
                <a:solidFill>
                  <a:srgbClr val="94A3B8"/>
                </a:solidFill>
                <a:latin typeface="Arial"/>
              </a:rPr>
              <a:t>•  </a:t>
            </a:r>
            <a:r>
              <a:rPr sz="1150">
                <a:solidFill>
                  <a:srgbClr val="5B6372"/>
                </a:solidFill>
                <a:latin typeface="Arial"/>
              </a:rPr>
              <a:t>EndpointSlice: readiness — the state that made a Pod count as Available — decides who receives traffic.</a:t>
            </a:r>
          </a:p>
          <a:p>
            <a:pPr>
              <a:lnSpc>
                <a:spcPct val="112000"/>
              </a:lnSpc>
              <a:spcAft>
                <a:spcPts val="700"/>
              </a:spcAft>
            </a:pPr>
            <a:r>
              <a:rPr sz="1150">
                <a:solidFill>
                  <a:srgbClr val="94A3B8"/>
                </a:solidFill>
                <a:latin typeface="Arial"/>
              </a:rPr>
              <a:t>•  </a:t>
            </a:r>
            <a:r>
              <a:rPr sz="1150">
                <a:solidFill>
                  <a:srgbClr val="5B6372"/>
                </a:solidFill>
                <a:latin typeface="Arial"/>
              </a:rPr>
              <a:t>Ingress and HTTP routing on top of Services, with the stable networking.k8s.io/v1 API.</a:t>
            </a:r>
          </a:p>
          <a:p>
            <a:pPr>
              <a:lnSpc>
                <a:spcPct val="112000"/>
              </a:lnSpc>
              <a:spcAft>
                <a:spcPts val="700"/>
              </a:spcAft>
            </a:pPr>
            <a:r>
              <a:rPr sz="1150">
                <a:solidFill>
                  <a:srgbClr val="94A3B8"/>
                </a:solidFill>
                <a:latin typeface="Arial"/>
              </a:rPr>
              <a:t>•  </a:t>
            </a:r>
            <a:r>
              <a:rPr sz="1150">
                <a:solidFill>
                  <a:srgbClr val="5B6372"/>
                </a:solidFill>
                <a:latin typeface="Arial"/>
              </a:rPr>
              <a:t>Namespaces, ServiceAccounts and RBAC: who is allowed to create the workloads you wrote today.</a:t>
            </a:r>
          </a:p>
          <a:p>
            <a:pPr>
              <a:lnSpc>
                <a:spcPct val="112000"/>
              </a:lnSpc>
              <a:spcAft>
                <a:spcPts val="700"/>
              </a:spcAft>
            </a:pPr>
            <a:r>
              <a:rPr sz="1150">
                <a:solidFill>
                  <a:srgbClr val="94A3B8"/>
                </a:solidFill>
                <a:latin typeface="Arial"/>
              </a:rPr>
              <a:t>•  </a:t>
            </a:r>
            <a:r>
              <a:rPr sz="1150">
                <a:solidFill>
                  <a:srgbClr val="5B6372"/>
                </a:solidFill>
                <a:latin typeface="Arial"/>
              </a:rPr>
              <a:t>Secrets and ConfigMaps: the configuration those Pod templates consume.</a:t>
            </a:r>
          </a:p>
          <a:p>
            <a:pPr>
              <a:lnSpc>
                <a:spcPct val="112000"/>
              </a:lnSpc>
              <a:spcAft>
                <a:spcPts val="700"/>
              </a:spcAft>
            </a:pPr>
            <a:r>
              <a:rPr sz="1150">
                <a:solidFill>
                  <a:srgbClr val="94A3B8"/>
                </a:solidFill>
                <a:latin typeface="Arial"/>
              </a:rPr>
              <a:t>•  </a:t>
            </a:r>
            <a:r>
              <a:rPr sz="1150">
                <a:solidFill>
                  <a:srgbClr val="5B6372"/>
                </a:solidFill>
                <a:latin typeface="Arial"/>
              </a:rPr>
              <a:t>NetworkPolicy: label selectors again, this time deciding which Pods may talk to which.</a:t>
            </a:r>
          </a:p>
          <a:p>
            <a:pPr>
              <a:lnSpc>
                <a:spcPct val="112000"/>
              </a:lnSpc>
              <a:spcAft>
                <a:spcPts val="700"/>
              </a:spcAft>
            </a:pPr>
            <a:r>
              <a:rPr sz="1150">
                <a:solidFill>
                  <a:srgbClr val="94A3B8"/>
                </a:solidFill>
                <a:latin typeface="Arial"/>
              </a:rPr>
              <a:t>•  </a:t>
            </a:r>
            <a:r>
              <a:rPr sz="1150">
                <a:solidFill>
                  <a:srgbClr val="5B6372"/>
                </a:solidFill>
                <a:latin typeface="Arial"/>
              </a:rPr>
              <a:t>Bring today's mental model — declare, reconcile, observe status — with you unchanged.</a:t>
            </a:r>
          </a:p>
        </p:txBody>
      </p:sp>
      <p:sp>
        <p:nvSpPr>
          <p:cNvPr id="15" name="TextBox 1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6" name="TextBox 1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7" name="TextBox 1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240</a:t>
            </a:r>
          </a:p>
        </p:txBody>
      </p:sp>
    </p:spTree>
  </p:cSld>
  <p:clrMapOvr>
    <a:masterClrMapping/>
  </p:clrMapOvr>
  <p:transition xmlns:ns1="http://schemas.openxmlformats.org/markup-compatibility/2006" spd="fast" ns1:Ignorable="p14">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03</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DAY 3 · REGISTERED TOPICS 3 AND 4</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Services, Networking &amp; Cluster Security</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Two registered topics in one day: how traffic finds a Pod, and who is allowed to ask. Six labs, all evidence-based.</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241</a:t>
            </a:r>
          </a:p>
        </p:txBody>
      </p:sp>
    </p:spTree>
  </p:cSld>
  <p:clrMapOvr>
    <a:masterClrMapping/>
  </p:clrMapOvr>
  <p:transition xmlns:ns1="http://schemas.openxmlformats.org/markup-compatibility/2006" spd="med" ns1:Ignorable="p14">
    <p:push dir="l"/>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LESSON PLAN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3 — Services, Networking &amp; Cluster Security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Instructional time 8.0 h. Breaks are not instructional time. Labs 11-16 run inside Sessions 2, 3 and 4.</a:t>
            </a:r>
          </a:p>
        </p:txBody>
      </p:sp>
      <p:sp>
        <p:nvSpPr>
          <p:cNvPr id="7" name="Rectangle 6"/>
          <p:cNvSpPr/>
          <p:nvPr/>
        </p:nvSpPr>
        <p:spPr>
          <a:xfrm>
            <a:off x="777240" y="2200046"/>
            <a:ext cx="1691640" cy="384048"/>
          </a:xfrm>
          <a:prstGeom prst="rect">
            <a:avLst/>
          </a:prstGeom>
          <a:solidFill>
            <a:srgbClr val="7C3AED"/>
          </a:solidFill>
          <a:ln>
            <a:noFill/>
          </a:ln>
          <a:effectLst/>
        </p:spPr>
        <p:txBody>
          <a:bodyPr rtlCol="0" anchor="ctr" wrap="square"/>
          <a:lstStyle/>
          <a:p>
            <a:pPr algn="ctr"/>
          </a:p>
        </p:txBody>
      </p:sp>
      <p:sp>
        <p:nvSpPr>
          <p:cNvPr id="8" name="TextBox 7"/>
          <p:cNvSpPr txBox="1"/>
          <p:nvPr/>
        </p:nvSpPr>
        <p:spPr>
          <a:xfrm>
            <a:off x="905256" y="2291486"/>
            <a:ext cx="143560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Time</a:t>
            </a:r>
          </a:p>
        </p:txBody>
      </p:sp>
      <p:sp>
        <p:nvSpPr>
          <p:cNvPr id="9" name="Rectangle 8"/>
          <p:cNvSpPr/>
          <p:nvPr/>
        </p:nvSpPr>
        <p:spPr>
          <a:xfrm>
            <a:off x="2468880" y="2200046"/>
            <a:ext cx="1143000" cy="384048"/>
          </a:xfrm>
          <a:prstGeom prst="rect">
            <a:avLst/>
          </a:prstGeom>
          <a:solidFill>
            <a:srgbClr val="7C3AED"/>
          </a:solidFill>
          <a:ln>
            <a:noFill/>
          </a:ln>
          <a:effectLst/>
        </p:spPr>
        <p:txBody>
          <a:bodyPr rtlCol="0" anchor="ctr" wrap="square"/>
          <a:lstStyle/>
          <a:p>
            <a:pPr algn="ctr"/>
          </a:p>
        </p:txBody>
      </p:sp>
      <p:sp>
        <p:nvSpPr>
          <p:cNvPr id="10" name="TextBox 9"/>
          <p:cNvSpPr txBox="1"/>
          <p:nvPr/>
        </p:nvSpPr>
        <p:spPr>
          <a:xfrm>
            <a:off x="2596896" y="2291486"/>
            <a:ext cx="88696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Duration</a:t>
            </a:r>
          </a:p>
        </p:txBody>
      </p:sp>
      <p:sp>
        <p:nvSpPr>
          <p:cNvPr id="11" name="Rectangle 10"/>
          <p:cNvSpPr/>
          <p:nvPr/>
        </p:nvSpPr>
        <p:spPr>
          <a:xfrm>
            <a:off x="3611880" y="2200046"/>
            <a:ext cx="5577840" cy="384048"/>
          </a:xfrm>
          <a:prstGeom prst="rect">
            <a:avLst/>
          </a:prstGeom>
          <a:solidFill>
            <a:srgbClr val="7C3AED"/>
          </a:solidFill>
          <a:ln>
            <a:noFill/>
          </a:ln>
          <a:effectLst/>
        </p:spPr>
        <p:txBody>
          <a:bodyPr rtlCol="0" anchor="ctr" wrap="square"/>
          <a:lstStyle/>
          <a:p>
            <a:pPr algn="ctr"/>
          </a:p>
        </p:txBody>
      </p:sp>
      <p:sp>
        <p:nvSpPr>
          <p:cNvPr id="12" name="TextBox 11"/>
          <p:cNvSpPr txBox="1"/>
          <p:nvPr/>
        </p:nvSpPr>
        <p:spPr>
          <a:xfrm>
            <a:off x="3739896" y="2291486"/>
            <a:ext cx="532180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Session</a:t>
            </a:r>
          </a:p>
        </p:txBody>
      </p:sp>
      <p:sp>
        <p:nvSpPr>
          <p:cNvPr id="13" name="Rectangle 12"/>
          <p:cNvSpPr/>
          <p:nvPr/>
        </p:nvSpPr>
        <p:spPr>
          <a:xfrm>
            <a:off x="9189720" y="2200046"/>
            <a:ext cx="2286000" cy="384048"/>
          </a:xfrm>
          <a:prstGeom prst="rect">
            <a:avLst/>
          </a:prstGeom>
          <a:solidFill>
            <a:srgbClr val="7C3AED"/>
          </a:solidFill>
          <a:ln>
            <a:noFill/>
          </a:ln>
          <a:effectLst/>
        </p:spPr>
        <p:txBody>
          <a:bodyPr rtlCol="0" anchor="ctr" wrap="square"/>
          <a:lstStyle/>
          <a:p>
            <a:pPr algn="ctr"/>
          </a:p>
        </p:txBody>
      </p:sp>
      <p:sp>
        <p:nvSpPr>
          <p:cNvPr id="14" name="TextBox 13"/>
          <p:cNvSpPr txBox="1"/>
          <p:nvPr/>
        </p:nvSpPr>
        <p:spPr>
          <a:xfrm>
            <a:off x="9317736" y="2291486"/>
            <a:ext cx="202996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Method</a:t>
            </a:r>
          </a:p>
        </p:txBody>
      </p:sp>
      <p:sp>
        <p:nvSpPr>
          <p:cNvPr id="15" name="Rectangle 14"/>
          <p:cNvSpPr/>
          <p:nvPr/>
        </p:nvSpPr>
        <p:spPr>
          <a:xfrm>
            <a:off x="777240" y="25840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657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9:30 – 11:00 AM</a:t>
            </a:r>
          </a:p>
        </p:txBody>
      </p:sp>
      <p:sp>
        <p:nvSpPr>
          <p:cNvPr id="17" name="Rectangle 16"/>
          <p:cNvSpPr/>
          <p:nvPr/>
        </p:nvSpPr>
        <p:spPr>
          <a:xfrm>
            <a:off x="2468880" y="25840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596896" y="2657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 h 30 m</a:t>
            </a:r>
          </a:p>
        </p:txBody>
      </p:sp>
      <p:sp>
        <p:nvSpPr>
          <p:cNvPr id="19" name="Rectangle 18"/>
          <p:cNvSpPr/>
          <p:nvPr/>
        </p:nvSpPr>
        <p:spPr>
          <a:xfrm>
            <a:off x="3611880" y="25840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3739896" y="2657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1</a:t>
            </a:r>
          </a:p>
        </p:txBody>
      </p:sp>
      <p:sp>
        <p:nvSpPr>
          <p:cNvPr id="21" name="Rectangle 20"/>
          <p:cNvSpPr/>
          <p:nvPr/>
        </p:nvSpPr>
        <p:spPr>
          <a:xfrm>
            <a:off x="9189720" y="25840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317736" y="2657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Demo</a:t>
            </a:r>
          </a:p>
        </p:txBody>
      </p:sp>
      <p:sp>
        <p:nvSpPr>
          <p:cNvPr id="23" name="Rectangle 22"/>
          <p:cNvSpPr/>
          <p:nvPr/>
        </p:nvSpPr>
        <p:spPr>
          <a:xfrm>
            <a:off x="777240" y="30412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24" name="TextBox 23"/>
          <p:cNvSpPr txBox="1"/>
          <p:nvPr/>
        </p:nvSpPr>
        <p:spPr>
          <a:xfrm>
            <a:off x="905256" y="3114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11:00 – 11:10 AM</a:t>
            </a:r>
          </a:p>
        </p:txBody>
      </p:sp>
      <p:sp>
        <p:nvSpPr>
          <p:cNvPr id="25" name="Rectangle 24"/>
          <p:cNvSpPr/>
          <p:nvPr/>
        </p:nvSpPr>
        <p:spPr>
          <a:xfrm>
            <a:off x="2468880" y="30412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26" name="TextBox 25"/>
          <p:cNvSpPr txBox="1"/>
          <p:nvPr/>
        </p:nvSpPr>
        <p:spPr>
          <a:xfrm>
            <a:off x="2596896" y="3114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27" name="Rectangle 26"/>
          <p:cNvSpPr/>
          <p:nvPr/>
        </p:nvSpPr>
        <p:spPr>
          <a:xfrm>
            <a:off x="3611880" y="30412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28" name="TextBox 27"/>
          <p:cNvSpPr txBox="1"/>
          <p:nvPr/>
        </p:nvSpPr>
        <p:spPr>
          <a:xfrm>
            <a:off x="3739896" y="3114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Morning Break</a:t>
            </a:r>
          </a:p>
        </p:txBody>
      </p:sp>
      <p:sp>
        <p:nvSpPr>
          <p:cNvPr id="29" name="Rectangle 28"/>
          <p:cNvSpPr/>
          <p:nvPr/>
        </p:nvSpPr>
        <p:spPr>
          <a:xfrm>
            <a:off x="9189720" y="30412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30" name="TextBox 29"/>
          <p:cNvSpPr txBox="1"/>
          <p:nvPr/>
        </p:nvSpPr>
        <p:spPr>
          <a:xfrm>
            <a:off x="9317736" y="3114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31" name="Rectangle 30"/>
          <p:cNvSpPr/>
          <p:nvPr/>
        </p:nvSpPr>
        <p:spPr>
          <a:xfrm>
            <a:off x="777240" y="34984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5716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11:10 AM – 1:10 PM</a:t>
            </a:r>
          </a:p>
        </p:txBody>
      </p:sp>
      <p:sp>
        <p:nvSpPr>
          <p:cNvPr id="33" name="Rectangle 32"/>
          <p:cNvSpPr/>
          <p:nvPr/>
        </p:nvSpPr>
        <p:spPr>
          <a:xfrm>
            <a:off x="2468880" y="34984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596896" y="35716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35" name="Rectangle 34"/>
          <p:cNvSpPr/>
          <p:nvPr/>
        </p:nvSpPr>
        <p:spPr>
          <a:xfrm>
            <a:off x="3611880" y="34984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3739896" y="35716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2</a:t>
            </a:r>
          </a:p>
        </p:txBody>
      </p:sp>
      <p:sp>
        <p:nvSpPr>
          <p:cNvPr id="37" name="Rectangle 36"/>
          <p:cNvSpPr/>
          <p:nvPr/>
        </p:nvSpPr>
        <p:spPr>
          <a:xfrm>
            <a:off x="9189720" y="34984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317736" y="35716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Practical</a:t>
            </a:r>
          </a:p>
        </p:txBody>
      </p:sp>
      <p:sp>
        <p:nvSpPr>
          <p:cNvPr id="39" name="Rectangle 38"/>
          <p:cNvSpPr/>
          <p:nvPr/>
        </p:nvSpPr>
        <p:spPr>
          <a:xfrm>
            <a:off x="777240" y="39556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40" name="TextBox 39"/>
          <p:cNvSpPr txBox="1"/>
          <p:nvPr/>
        </p:nvSpPr>
        <p:spPr>
          <a:xfrm>
            <a:off x="905256" y="40288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 – 1:50 PM</a:t>
            </a:r>
          </a:p>
        </p:txBody>
      </p:sp>
      <p:sp>
        <p:nvSpPr>
          <p:cNvPr id="41" name="Rectangle 40"/>
          <p:cNvSpPr/>
          <p:nvPr/>
        </p:nvSpPr>
        <p:spPr>
          <a:xfrm>
            <a:off x="2468880" y="39556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42" name="TextBox 41"/>
          <p:cNvSpPr txBox="1"/>
          <p:nvPr/>
        </p:nvSpPr>
        <p:spPr>
          <a:xfrm>
            <a:off x="2596896" y="40288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40 m</a:t>
            </a:r>
          </a:p>
        </p:txBody>
      </p:sp>
      <p:sp>
        <p:nvSpPr>
          <p:cNvPr id="43" name="Rectangle 42"/>
          <p:cNvSpPr/>
          <p:nvPr/>
        </p:nvSpPr>
        <p:spPr>
          <a:xfrm>
            <a:off x="3611880" y="39556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44" name="TextBox 43"/>
          <p:cNvSpPr txBox="1"/>
          <p:nvPr/>
        </p:nvSpPr>
        <p:spPr>
          <a:xfrm>
            <a:off x="3739896" y="40288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Lunch Break</a:t>
            </a:r>
          </a:p>
        </p:txBody>
      </p:sp>
      <p:sp>
        <p:nvSpPr>
          <p:cNvPr id="45" name="Rectangle 44"/>
          <p:cNvSpPr/>
          <p:nvPr/>
        </p:nvSpPr>
        <p:spPr>
          <a:xfrm>
            <a:off x="9189720" y="39556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46" name="TextBox 45"/>
          <p:cNvSpPr txBox="1"/>
          <p:nvPr/>
        </p:nvSpPr>
        <p:spPr>
          <a:xfrm>
            <a:off x="9317736" y="40288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47" name="Rectangle 46"/>
          <p:cNvSpPr/>
          <p:nvPr/>
        </p:nvSpPr>
        <p:spPr>
          <a:xfrm>
            <a:off x="777240" y="44128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4860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1:50 – 3:50 PM</a:t>
            </a:r>
          </a:p>
        </p:txBody>
      </p:sp>
      <p:sp>
        <p:nvSpPr>
          <p:cNvPr id="49" name="Rectangle 48"/>
          <p:cNvSpPr/>
          <p:nvPr/>
        </p:nvSpPr>
        <p:spPr>
          <a:xfrm>
            <a:off x="2468880" y="44128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596896" y="44860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51" name="Rectangle 50"/>
          <p:cNvSpPr/>
          <p:nvPr/>
        </p:nvSpPr>
        <p:spPr>
          <a:xfrm>
            <a:off x="3611880" y="44128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3739896" y="44860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3</a:t>
            </a:r>
          </a:p>
        </p:txBody>
      </p:sp>
      <p:sp>
        <p:nvSpPr>
          <p:cNvPr id="53" name="Rectangle 52"/>
          <p:cNvSpPr/>
          <p:nvPr/>
        </p:nvSpPr>
        <p:spPr>
          <a:xfrm>
            <a:off x="9189720" y="44128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9317736" y="44860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Didactic questioning</a:t>
            </a:r>
          </a:p>
        </p:txBody>
      </p:sp>
      <p:sp>
        <p:nvSpPr>
          <p:cNvPr id="55" name="Rectangle 54"/>
          <p:cNvSpPr/>
          <p:nvPr/>
        </p:nvSpPr>
        <p:spPr>
          <a:xfrm>
            <a:off x="777240" y="48700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56" name="TextBox 55"/>
          <p:cNvSpPr txBox="1"/>
          <p:nvPr/>
        </p:nvSpPr>
        <p:spPr>
          <a:xfrm>
            <a:off x="905256" y="4943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3:50 – 4:00 PM</a:t>
            </a:r>
          </a:p>
        </p:txBody>
      </p:sp>
      <p:sp>
        <p:nvSpPr>
          <p:cNvPr id="57" name="Rectangle 56"/>
          <p:cNvSpPr/>
          <p:nvPr/>
        </p:nvSpPr>
        <p:spPr>
          <a:xfrm>
            <a:off x="2468880" y="48700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58" name="TextBox 57"/>
          <p:cNvSpPr txBox="1"/>
          <p:nvPr/>
        </p:nvSpPr>
        <p:spPr>
          <a:xfrm>
            <a:off x="2596896" y="4943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59" name="Rectangle 58"/>
          <p:cNvSpPr/>
          <p:nvPr/>
        </p:nvSpPr>
        <p:spPr>
          <a:xfrm>
            <a:off x="3611880" y="48700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60" name="TextBox 59"/>
          <p:cNvSpPr txBox="1"/>
          <p:nvPr/>
        </p:nvSpPr>
        <p:spPr>
          <a:xfrm>
            <a:off x="3739896" y="4943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Afternoon Break</a:t>
            </a:r>
          </a:p>
        </p:txBody>
      </p:sp>
      <p:sp>
        <p:nvSpPr>
          <p:cNvPr id="61" name="Rectangle 60"/>
          <p:cNvSpPr/>
          <p:nvPr/>
        </p:nvSpPr>
        <p:spPr>
          <a:xfrm>
            <a:off x="9189720" y="48700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62" name="TextBox 61"/>
          <p:cNvSpPr txBox="1"/>
          <p:nvPr/>
        </p:nvSpPr>
        <p:spPr>
          <a:xfrm>
            <a:off x="9317736" y="4943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63" name="Rectangle 62"/>
          <p:cNvSpPr/>
          <p:nvPr/>
        </p:nvSpPr>
        <p:spPr>
          <a:xfrm>
            <a:off x="777240" y="53272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64" name="TextBox 63"/>
          <p:cNvSpPr txBox="1"/>
          <p:nvPr/>
        </p:nvSpPr>
        <p:spPr>
          <a:xfrm>
            <a:off x="905256" y="5400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4:00 – 6:30 PM</a:t>
            </a:r>
          </a:p>
        </p:txBody>
      </p:sp>
      <p:sp>
        <p:nvSpPr>
          <p:cNvPr id="65" name="Rectangle 64"/>
          <p:cNvSpPr/>
          <p:nvPr/>
        </p:nvSpPr>
        <p:spPr>
          <a:xfrm>
            <a:off x="2468880" y="53272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66" name="TextBox 65"/>
          <p:cNvSpPr txBox="1"/>
          <p:nvPr/>
        </p:nvSpPr>
        <p:spPr>
          <a:xfrm>
            <a:off x="2596896" y="5400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30 m</a:t>
            </a:r>
          </a:p>
        </p:txBody>
      </p:sp>
      <p:sp>
        <p:nvSpPr>
          <p:cNvPr id="67" name="Rectangle 66"/>
          <p:cNvSpPr/>
          <p:nvPr/>
        </p:nvSpPr>
        <p:spPr>
          <a:xfrm>
            <a:off x="3611880" y="53272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68" name="TextBox 67"/>
          <p:cNvSpPr txBox="1"/>
          <p:nvPr/>
        </p:nvSpPr>
        <p:spPr>
          <a:xfrm>
            <a:off x="3739896" y="5400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4</a:t>
            </a:r>
          </a:p>
        </p:txBody>
      </p:sp>
      <p:sp>
        <p:nvSpPr>
          <p:cNvPr id="69" name="Rectangle 68"/>
          <p:cNvSpPr/>
          <p:nvPr/>
        </p:nvSpPr>
        <p:spPr>
          <a:xfrm>
            <a:off x="9189720" y="53272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70" name="TextBox 69"/>
          <p:cNvSpPr txBox="1"/>
          <p:nvPr/>
        </p:nvSpPr>
        <p:spPr>
          <a:xfrm>
            <a:off x="9317736" y="5400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Demonstration</a:t>
            </a:r>
          </a:p>
        </p:txBody>
      </p:sp>
      <p:sp>
        <p:nvSpPr>
          <p:cNvPr id="71" name="TextBox 7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2" name="TextBox 7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3" name="TextBox 7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242</a:t>
            </a:r>
          </a:p>
        </p:txBody>
      </p:sp>
    </p:spTree>
  </p:cSld>
  <p:clrMapOvr>
    <a:masterClrMapping/>
  </p:clrMapOvr>
  <p:transition xmlns:ns1="http://schemas.openxmlformats.org/markup-compatibility/2006" spd="fast" ns1:Ignorable="p14">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3 MAP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today has to leave you able to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Registered Topic 3 (Services and Networking) and Topic 4 (Security), mapped to LO3/A2 and LO4/A4.</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 a workload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Put a Service in front of Pods and explain what its selector produced — the EndpointSlice — rather than guessing.</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Expose a workload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Choose ClusterIP, NodePort, LoadBalancer or headless from the requirement, and know what each one costs.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Route at layer 7</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Write a networking.k8s.io/v1 Ingress and separate the declaration from the controller that must execute it.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Package a deployment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Install Helm and deploy a first chart; understand chart, values and release before Day 4 goes deeper.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Scope and grant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Namespaces, ServiceAccounts, Roles and ClusterRoles — and prove every allow and deny with kubectl auth can-i.</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Protect the data path</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Secrets that are encoded rather than encrypted, and NetworkPolicy as the network-layer control.</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course_data.TOPICS and course_data.LO_MAP (approved TSC mapping ICT-DES-4006-1.1)</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243</a:t>
            </a:r>
          </a:p>
        </p:txBody>
      </p:sp>
    </p:spTree>
  </p:cSld>
  <p:clrMapOvr>
    <a:masterClrMapping/>
  </p:clrMapOvr>
  <p:transition xmlns:ns1="http://schemas.openxmlformats.org/markup-compatibility/2006" spd="fast" ns1:Ignorable="p14">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WEIGHTING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today sits in the KCNA blueprint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Published CNCF domain weights, revision effective 24 Nov 2025. Container Orchestration is 28% of the exam.</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3"/>
          </a:graphicData>
        </a:graphic>
      </p:graphicFrame>
      <p:sp>
        <p:nvSpPr>
          <p:cNvPr id="8" name="Rectangle 7"/>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Container Orchestration = 28%</a:t>
            </a:r>
          </a:p>
        </p:txBody>
      </p:sp>
      <p:sp>
        <p:nvSpPr>
          <p:cNvPr id="12" name="TextBox 11"/>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Its four sub-topics are Networking, Security, Troubleshooting and Storage. Day 3 takes two of the four.</a:t>
            </a:r>
          </a:p>
        </p:txBody>
      </p:sp>
      <p:sp>
        <p:nvSpPr>
          <p:cNvPr id="13" name="Rectangle 12"/>
          <p:cNvSpPr/>
          <p:nvPr/>
        </p:nvSpPr>
        <p:spPr>
          <a:xfrm>
            <a:off x="7927848" y="3462017"/>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4437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Not the largest domain</a:t>
            </a:r>
          </a:p>
        </p:txBody>
      </p:sp>
      <p:sp>
        <p:nvSpPr>
          <p:cNvPr id="15" name="TextBox 14"/>
          <p:cNvSpPr txBox="1"/>
          <p:nvPr/>
        </p:nvSpPr>
        <p:spPr>
          <a:xfrm>
            <a:off x="8092440" y="36631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Kubernetes Fundamentals at 44% is bigger — but networking and security supply most of the scenario questions.</a:t>
            </a:r>
          </a:p>
        </p:txBody>
      </p:sp>
      <p:sp>
        <p:nvSpPr>
          <p:cNvPr id="16" name="Rectangle 15"/>
          <p:cNvSpPr/>
          <p:nvPr/>
        </p:nvSpPr>
        <p:spPr>
          <a:xfrm>
            <a:off x="7927848" y="4248500"/>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2302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Sub-topics are not separately weighted</a:t>
            </a:r>
          </a:p>
        </p:txBody>
      </p:sp>
      <p:sp>
        <p:nvSpPr>
          <p:cNvPr id="18" name="TextBox 17"/>
          <p:cNvSpPr txBox="1"/>
          <p:nvPr/>
        </p:nvSpPr>
        <p:spPr>
          <a:xfrm>
            <a:off x="8092440" y="44496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CNCF publishes a weight per domain, not per sub-topic. Treat the four as roughly co-equal, not as 7% each.</a:t>
            </a:r>
          </a:p>
        </p:txBody>
      </p:sp>
      <p:sp>
        <p:nvSpPr>
          <p:cNvPr id="19" name="Rectangle 18"/>
          <p:cNvSpPr/>
          <p:nvPr/>
        </p:nvSpPr>
        <p:spPr>
          <a:xfrm>
            <a:off x="7927848" y="4943444"/>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9251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Published, not modelled</a:t>
            </a:r>
          </a:p>
        </p:txBody>
      </p:sp>
      <p:sp>
        <p:nvSpPr>
          <p:cNvPr id="21" name="TextBox 20"/>
          <p:cNvSpPr txBox="1"/>
          <p:nvPr/>
        </p:nvSpPr>
        <p:spPr>
          <a:xfrm>
            <a:off x="8092440" y="51446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four numbers are read straight from the current curriculum PDF — no estimation is involved.</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244</a:t>
            </a:r>
          </a:p>
        </p:txBody>
      </p:sp>
    </p:spTree>
  </p:cSld>
  <p:clrMapOvr>
    <a:masterClrMapping/>
  </p:clrMapOvr>
  <p:transition xmlns:ns1="http://schemas.openxmlformats.org/markup-compatibility/2006" spd="fast" ns1:Ignorable="p14">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10B981"/>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10B981"/>
                </a:solidFill>
                <a:latin typeface="Arial"/>
              </a:rPr>
              <a:t>THE FOUNDATIONAL RULE</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Every Pod gets its own IP address, and nothing is network-address-translated between Pods.</a:t>
            </a:r>
          </a:p>
        </p:txBody>
      </p:sp>
      <p:sp>
        <p:nvSpPr>
          <p:cNvPr id="6" name="Rectangle 5"/>
          <p:cNvSpPr/>
          <p:nvPr/>
        </p:nvSpPr>
        <p:spPr>
          <a:xfrm>
            <a:off x="1143000" y="4187952"/>
            <a:ext cx="2194560" cy="32004"/>
          </a:xfrm>
          <a:prstGeom prst="rect">
            <a:avLst/>
          </a:prstGeom>
          <a:solidFill>
            <a:srgbClr val="10B981"/>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That single sentence is the whole Kubernetes network model. Everything else today — Services, DNS, Ingress, NetworkPolicy — is built on top of it.</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245</a:t>
            </a:r>
          </a:p>
        </p:txBody>
      </p:sp>
    </p:spTree>
  </p:cSld>
  <p:clrMapOvr>
    <a:masterClrMapping/>
  </p:clrMapOvr>
  <p:transition xmlns:ns1="http://schemas.openxmlformats.org/markup-compatibility/2006" spd="fast" ns1:Ignorable="p14">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NETWORK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four conditions any cluster network must satisfy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specifies a contract, not a mechanism. Any network that meets these conditions is a valid cluster network.</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Pods talk to Pods without NAT</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Any Pod can reach any other Pod on any node using the target Pod's own IP. No port mapping, no address rewriting.</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Nodes talk to Pods without NAT</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 agents — kubelet, the runtime, monitoring daemons — reach Pods on that node directly.</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Pod sees its own real IP</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address a Pod sees on its interface is the address other Pods use to reach it. No split-horizon identity.</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Pod is the network unit</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All containers in a Pod share one network namespace, one IP and one port space; they reach each other on localhost.</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Implementation is deliberately absent</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model states the requirements. How they are met is left to a CNI plugin — this is the extension point.</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Nothing here is a security control</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flat, fully-reachable network is the default. Restriction is opt-in and arrives later today as NetworkPolicy.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kubernetes.io/docs/concepts/cluster-administration/networking/</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246</a:t>
            </a:r>
          </a:p>
        </p:txBody>
      </p:sp>
    </p:spTree>
  </p:cSld>
  <p:clrMapOvr>
    <a:masterClrMapping/>
  </p:clrMapOvr>
  <p:transition xmlns:ns1="http://schemas.openxmlformats.org/markup-compatibility/2006" spd="fast" ns1:Ignorable="p14">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ADDRESS SPACES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separate address spaces in one cluster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Pod IPs are real and pingable. ClusterIPs are not — they exist only as packet-rewriting rules.</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NODE NETWORK</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 InternalIP</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Real routable addresses on your infrastructure network</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hostPort / hostNetwork</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Escapes the Pod network and binds the node's own interface</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NodePort listener</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kube-proxy opens a port on every node in this space</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10B981"/>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POD NETWORK (CNI)</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 IP</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Assigned by the CNI plugin's IPAM from the cluster pod CIDR</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veth pair</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end in the Pod's netns, one end on the node bridge or routed</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Overlay or routed</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VXLAN/IPIP encapsulation, or plain routes / eBPF — plugin's choice</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SERVICE NETWORK (VIRTUAL)</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ClusterIP</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VIP from the service CIDR that no interface ever owns</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kube-proxy rules</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iptables / IPVS / nftables entries that DNAT the VIP to a Pod IP</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CoreDNS record</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Maps the Service name onto the VIP so clients never learn Pod IPs</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A ClusterIP is never configured on any network interface. That is why you can reach it and still never see it in `ip addr` anywhere in the cluster.</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kubernetes.io/docs/concepts/cluster-administration/networking/ · kubernetes.io/docs/reference/networking/virtual-ips/ (Service virtual IPs and kube-proxy modes)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247</a:t>
            </a:r>
          </a:p>
        </p:txBody>
      </p:sp>
    </p:spTree>
  </p:cSld>
  <p:clrMapOvr>
    <a:masterClrMapping/>
  </p:clrMapOvr>
  <p:transition xmlns:ns1="http://schemas.openxmlformats.org/markup-compatibility/2006" spd="fast" ns1:Ignorable="p14">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CNI</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CNI plugin actually does when a Pod starts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CNI is a specification and an executable contract — the runtime literally runs a binary and reads JSON back.</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kubelet needs a sandbox</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Pod is scheduled; kubelet asks the container runtime to create the Pod sandbox and its network namespace.</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Runtime invokes CNI</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containerd or CRI-O reads /etc/cni/net.d, executes the plugin binary with command ADD and the netns path.</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IPAM allocates</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plugin's IPAM component leases one address from this node's slice of the cluster pod CIDR.</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veth pair + routes</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virtual ethernet pair is created; one end is moved into the Pod netns and addressed, the other wired to the node.</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Result returned</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plugin returns the IP, routes and DNS config as JSON. kubelet records it as Pod.status.podIP.</a:t>
            </a:r>
          </a:p>
        </p:txBody>
      </p:sp>
      <p:sp>
        <p:nvSpPr>
          <p:cNvPr id="36" name="Rectangle 35"/>
          <p:cNvSpPr/>
          <p:nvPr/>
        </p:nvSpPr>
        <p:spPr>
          <a:xfrm>
            <a:off x="777240" y="4656480"/>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No CNI plugin configured means no ADD result, which means the Pod never leaves ContainerCreating and the node stays NotReady. That is the fingerprint of a missing CNI.</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kubernetes.io/docs/concepts/extend-kubernetes/compute-storage-net/network-plugins/ · github.com/containernetworking/cni SPEC.md</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248</a:t>
            </a:r>
          </a:p>
        </p:txBody>
      </p:sp>
    </p:spTree>
  </p:cSld>
  <p:clrMapOvr>
    <a:masterClrMapping/>
  </p:clrMapOvr>
  <p:transition xmlns:ns5="http://schemas.openxmlformats.org/markup-compatibility/2006" spd="fast" ns5:Ignorable="p14">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PLUGIN LANDSCAPE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CNI plugins differ in one thing that matters today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plugin satisfies the connectivity contract. Not every plugin enforces NetworkPolicy — and the API accepts your policy either way.</a:t>
            </a:r>
          </a:p>
        </p:txBody>
      </p:sp>
      <p:sp>
        <p:nvSpPr>
          <p:cNvPr id="7" name="Rectangle 6"/>
          <p:cNvSpPr/>
          <p:nvPr/>
        </p:nvSpPr>
        <p:spPr>
          <a:xfrm>
            <a:off x="777240" y="2208885"/>
            <a:ext cx="1725561"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146952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Plugin</a:t>
            </a:r>
          </a:p>
        </p:txBody>
      </p:sp>
      <p:sp>
        <p:nvSpPr>
          <p:cNvPr id="9" name="Rectangle 8"/>
          <p:cNvSpPr/>
          <p:nvPr/>
        </p:nvSpPr>
        <p:spPr>
          <a:xfrm>
            <a:off x="2502801" y="2208885"/>
            <a:ext cx="2530823"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630817" y="2309469"/>
            <a:ext cx="227479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Data path</a:t>
            </a:r>
          </a:p>
        </p:txBody>
      </p:sp>
      <p:sp>
        <p:nvSpPr>
          <p:cNvPr id="11" name="Rectangle 10"/>
          <p:cNvSpPr/>
          <p:nvPr/>
        </p:nvSpPr>
        <p:spPr>
          <a:xfrm>
            <a:off x="5033624" y="2208885"/>
            <a:ext cx="299097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161640" y="2309469"/>
            <a:ext cx="273494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NetworkPolicy</a:t>
            </a:r>
          </a:p>
        </p:txBody>
      </p:sp>
      <p:sp>
        <p:nvSpPr>
          <p:cNvPr id="13" name="Rectangle 12"/>
          <p:cNvSpPr/>
          <p:nvPr/>
        </p:nvSpPr>
        <p:spPr>
          <a:xfrm>
            <a:off x="8024597" y="2208885"/>
            <a:ext cx="3451122"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152613" y="2309469"/>
            <a:ext cx="319509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Typical reason to pick it</a:t>
            </a:r>
          </a:p>
        </p:txBody>
      </p:sp>
      <p:sp>
        <p:nvSpPr>
          <p:cNvPr id="15" name="Rectangle 14"/>
          <p:cNvSpPr/>
          <p:nvPr/>
        </p:nvSpPr>
        <p:spPr>
          <a:xfrm>
            <a:off x="777240" y="2629509"/>
            <a:ext cx="1725561"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146952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Calico</a:t>
            </a:r>
          </a:p>
        </p:txBody>
      </p:sp>
      <p:sp>
        <p:nvSpPr>
          <p:cNvPr id="17" name="Rectangle 16"/>
          <p:cNvSpPr/>
          <p:nvPr/>
        </p:nvSpPr>
        <p:spPr>
          <a:xfrm>
            <a:off x="2502801" y="2629509"/>
            <a:ext cx="2530823"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630817" y="2711805"/>
            <a:ext cx="227479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Routed (BGP) or overlay (VXLAN/IPIP)</a:t>
            </a:r>
          </a:p>
        </p:txBody>
      </p:sp>
      <p:sp>
        <p:nvSpPr>
          <p:cNvPr id="19" name="Rectangle 18"/>
          <p:cNvSpPr/>
          <p:nvPr/>
        </p:nvSpPr>
        <p:spPr>
          <a:xfrm>
            <a:off x="5033624" y="2629509"/>
            <a:ext cx="2990972"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161640" y="2711805"/>
            <a:ext cx="273494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Enforces v1 NetworkPolicy plus its own CRDs</a:t>
            </a:r>
          </a:p>
        </p:txBody>
      </p:sp>
      <p:sp>
        <p:nvSpPr>
          <p:cNvPr id="21" name="Rectangle 20"/>
          <p:cNvSpPr/>
          <p:nvPr/>
        </p:nvSpPr>
        <p:spPr>
          <a:xfrm>
            <a:off x="8024597" y="2629509"/>
            <a:ext cx="3451122"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152613" y="2711805"/>
            <a:ext cx="319509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Policy-first clusters; mature, widely deployed</a:t>
            </a:r>
          </a:p>
        </p:txBody>
      </p:sp>
      <p:sp>
        <p:nvSpPr>
          <p:cNvPr id="23" name="Rectangle 22"/>
          <p:cNvSpPr/>
          <p:nvPr/>
        </p:nvSpPr>
        <p:spPr>
          <a:xfrm>
            <a:off x="777240" y="3196437"/>
            <a:ext cx="1725561"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78733"/>
            <a:ext cx="146952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Cilium</a:t>
            </a:r>
          </a:p>
        </p:txBody>
      </p:sp>
      <p:sp>
        <p:nvSpPr>
          <p:cNvPr id="25" name="Rectangle 24"/>
          <p:cNvSpPr/>
          <p:nvPr/>
        </p:nvSpPr>
        <p:spPr>
          <a:xfrm>
            <a:off x="2502801" y="3196437"/>
            <a:ext cx="2530823"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630817" y="3278733"/>
            <a:ext cx="227479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eBPF programs in the kernel data path</a:t>
            </a:r>
          </a:p>
        </p:txBody>
      </p:sp>
      <p:sp>
        <p:nvSpPr>
          <p:cNvPr id="27" name="Rectangle 26"/>
          <p:cNvSpPr/>
          <p:nvPr/>
        </p:nvSpPr>
        <p:spPr>
          <a:xfrm>
            <a:off x="5033624" y="3196437"/>
            <a:ext cx="2990972"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161640" y="3278733"/>
            <a:ext cx="273494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Enforces v1 NetworkPolicy plus L7-aware CRDs</a:t>
            </a:r>
          </a:p>
        </p:txBody>
      </p:sp>
      <p:sp>
        <p:nvSpPr>
          <p:cNvPr id="29" name="Rectangle 28"/>
          <p:cNvSpPr/>
          <p:nvPr/>
        </p:nvSpPr>
        <p:spPr>
          <a:xfrm>
            <a:off x="8024597" y="3196437"/>
            <a:ext cx="3451122"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152613" y="3278733"/>
            <a:ext cx="319509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eBPF observability, kube-proxy replacement, mesh ambitions</a:t>
            </a:r>
          </a:p>
        </p:txBody>
      </p:sp>
      <p:sp>
        <p:nvSpPr>
          <p:cNvPr id="31" name="Rectangle 30"/>
          <p:cNvSpPr/>
          <p:nvPr/>
        </p:nvSpPr>
        <p:spPr>
          <a:xfrm>
            <a:off x="777240" y="3763365"/>
            <a:ext cx="1725561"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45661"/>
            <a:ext cx="146952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Flannel</a:t>
            </a:r>
          </a:p>
        </p:txBody>
      </p:sp>
      <p:sp>
        <p:nvSpPr>
          <p:cNvPr id="33" name="Rectangle 32"/>
          <p:cNvSpPr/>
          <p:nvPr/>
        </p:nvSpPr>
        <p:spPr>
          <a:xfrm>
            <a:off x="2502801" y="3763365"/>
            <a:ext cx="2530823"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630817" y="3845661"/>
            <a:ext cx="227479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Simple overlay (VXLAN by default)</a:t>
            </a:r>
          </a:p>
        </p:txBody>
      </p:sp>
      <p:sp>
        <p:nvSpPr>
          <p:cNvPr id="35" name="Rectangle 34"/>
          <p:cNvSpPr/>
          <p:nvPr/>
        </p:nvSpPr>
        <p:spPr>
          <a:xfrm>
            <a:off x="5033624" y="3763365"/>
            <a:ext cx="2990972"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161640" y="3845661"/>
            <a:ext cx="273494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policy engine on its own</a:t>
            </a:r>
          </a:p>
        </p:txBody>
      </p:sp>
      <p:sp>
        <p:nvSpPr>
          <p:cNvPr id="37" name="Rectangle 36"/>
          <p:cNvSpPr/>
          <p:nvPr/>
        </p:nvSpPr>
        <p:spPr>
          <a:xfrm>
            <a:off x="8024597" y="3763365"/>
            <a:ext cx="3451122"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152613" y="3845661"/>
            <a:ext cx="319509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Minimal connectivity when policy is handled elsewhere</a:t>
            </a:r>
          </a:p>
        </p:txBody>
      </p:sp>
      <p:sp>
        <p:nvSpPr>
          <p:cNvPr id="39" name="Rectangle 38"/>
          <p:cNvSpPr/>
          <p:nvPr/>
        </p:nvSpPr>
        <p:spPr>
          <a:xfrm>
            <a:off x="777240" y="4330293"/>
            <a:ext cx="1725561"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12589"/>
            <a:ext cx="1469529"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kindnet (kind default)</a:t>
            </a:r>
          </a:p>
        </p:txBody>
      </p:sp>
      <p:sp>
        <p:nvSpPr>
          <p:cNvPr id="41" name="Rectangle 40"/>
          <p:cNvSpPr/>
          <p:nvPr/>
        </p:nvSpPr>
        <p:spPr>
          <a:xfrm>
            <a:off x="2502801" y="4330293"/>
            <a:ext cx="2530823"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630817" y="4412589"/>
            <a:ext cx="2274791"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Simple routed CNI for local kind clusters</a:t>
            </a:r>
          </a:p>
        </p:txBody>
      </p:sp>
      <p:sp>
        <p:nvSpPr>
          <p:cNvPr id="43" name="Rectangle 42"/>
          <p:cNvSpPr/>
          <p:nvPr/>
        </p:nvSpPr>
        <p:spPr>
          <a:xfrm>
            <a:off x="5033624" y="4330293"/>
            <a:ext cx="2990972"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161640" y="4412589"/>
            <a:ext cx="273494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Stores NetworkPolicy objects; enforces none</a:t>
            </a:r>
          </a:p>
        </p:txBody>
      </p:sp>
      <p:sp>
        <p:nvSpPr>
          <p:cNvPr id="45" name="Rectangle 44"/>
          <p:cNvSpPr/>
          <p:nvPr/>
        </p:nvSpPr>
        <p:spPr>
          <a:xfrm>
            <a:off x="8024597" y="4330293"/>
            <a:ext cx="3451122"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152613" y="4412589"/>
            <a:ext cx="3195090"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Local training and CI — connectivity only, by design</a:t>
            </a:r>
          </a:p>
        </p:txBody>
      </p:sp>
      <p:sp>
        <p:nvSpPr>
          <p:cNvPr id="47" name="Rectangle 46"/>
          <p:cNvSpPr/>
          <p:nvPr/>
        </p:nvSpPr>
        <p:spPr>
          <a:xfrm>
            <a:off x="777240" y="5080101"/>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80101"/>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3496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3613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For a training cluster, connectivity is enough — but never demonstrate 'policy blocked it' on kindnet.</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kubernetes.io/docs/concepts/extend-kubernetes/compute-storage-net/network-plugins/ · github.com/containernetworking/cni SPEC.md · parent runtime note, qa/PARENT-VERIFIED-FACTS.md</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249</a:t>
            </a:r>
          </a:p>
        </p:txBody>
      </p:sp>
    </p:spTree>
  </p:cSld>
  <p:clrMapOvr>
    <a:masterClrMapping/>
  </p:clrMapOvr>
  <p:transition xmlns:ns1="http://schemas.openxmlformats.org/markup-compatibility/2006" spd="fast" ns1:Ignorable="p14">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IPs are real, per-Pod and node-aware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addresses change every run; the relationships between the columns do not.</a:t>
            </a:r>
          </a:p>
        </p:txBody>
      </p:sp>
      <p:sp>
        <p:nvSpPr>
          <p:cNvPr id="7" name="Rectangle 6"/>
          <p:cNvSpPr/>
          <p:nvPr/>
        </p:nvSpPr>
        <p:spPr>
          <a:xfrm>
            <a:off x="777240" y="2200046"/>
            <a:ext cx="690372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Representative shape — addresses are runtime values and will differ on your cluster</a:t>
            </a:r>
          </a:p>
        </p:txBody>
      </p:sp>
      <p:sp>
        <p:nvSpPr>
          <p:cNvPr id="9" name="TextBox 8"/>
          <p:cNvSpPr txBox="1"/>
          <p:nvPr/>
        </p:nvSpPr>
        <p:spPr>
          <a:xfrm>
            <a:off x="923544" y="2620670"/>
            <a:ext cx="6611112" cy="224942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pods -n kcna-lab11 -o wide</a:t>
            </a:r>
          </a:p>
          <a:p>
            <a:pPr>
              <a:lnSpc>
                <a:spcPts val="1476"/>
              </a:lnSpc>
              <a:spcAft>
                <a:spcPts val="0"/>
              </a:spcAft>
            </a:pPr>
            <a:r>
              <a:rPr sz="1000">
                <a:solidFill>
                  <a:srgbClr val="E6EDF3"/>
                </a:solidFill>
                <a:latin typeface="Consolas"/>
              </a:rPr>
              <a:t>NAME                       READY  STATUS   IP            NODE</a:t>
            </a:r>
          </a:p>
          <a:p>
            <a:pPr>
              <a:lnSpc>
                <a:spcPts val="1476"/>
              </a:lnSpc>
              <a:spcAft>
                <a:spcPts val="0"/>
              </a:spcAft>
            </a:pPr>
            <a:r>
              <a:rPr sz="1000">
                <a:solidFill>
                  <a:srgbClr val="E6EDF3"/>
                </a:solidFill>
                <a:latin typeface="Consolas"/>
              </a:rPr>
              <a:t>quote-api-6c9b4f7d55-7lqm2  1/1   Running  10.244.0.14   kcna-qa-worker</a:t>
            </a:r>
          </a:p>
          <a:p>
            <a:pPr>
              <a:lnSpc>
                <a:spcPts val="1476"/>
              </a:lnSpc>
              <a:spcAft>
                <a:spcPts val="0"/>
              </a:spcAft>
            </a:pPr>
            <a:r>
              <a:rPr sz="1000">
                <a:solidFill>
                  <a:srgbClr val="E6EDF3"/>
                </a:solidFill>
                <a:latin typeface="Consolas"/>
              </a:rPr>
              <a:t>quote-api-6c9b4f7d55-jd8vx  1/1   Running  10.244.0.15   kcna-qa-worker</a:t>
            </a:r>
          </a:p>
          <a:p>
            <a:pPr>
              <a:lnSpc>
                <a:spcPts val="1476"/>
              </a:lnSpc>
              <a:spcAft>
                <a:spcPts val="0"/>
              </a:spcAft>
            </a:pPr>
            <a:r>
              <a:rPr sz="1000">
                <a:solidFill>
                  <a:srgbClr val="E6EDF3"/>
                </a:solidFill>
                <a:latin typeface="Consolas"/>
              </a:rPr>
              <a:t>quote-api-6c9b4f7d55-x2t9k  1/1   Running  10.244.1.9    kcna-qa-worker2</a:t>
            </a:r>
          </a:p>
          <a:p>
            <a:pPr>
              <a:lnSpc>
                <a:spcPts val="1476"/>
              </a:lnSpc>
              <a:spcAft>
                <a:spcPts val="0"/>
              </a:spcAft>
            </a:pPr>
            <a:r>
              <a:rPr sz="1000">
                <a:solidFill>
                  <a:srgbClr val="E6EDF3"/>
                </a:solidFill>
                <a:latin typeface="Consolas"/>
              </a:rPr>
              <a:t>dns-client                  1/1   Running  10.244.0.21   kcna-qa-worker</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nodes -o wide</a:t>
            </a:r>
          </a:p>
          <a:p>
            <a:pPr>
              <a:lnSpc>
                <a:spcPts val="1476"/>
              </a:lnSpc>
              <a:spcAft>
                <a:spcPts val="0"/>
              </a:spcAft>
            </a:pPr>
            <a:r>
              <a:rPr sz="1000">
                <a:solidFill>
                  <a:srgbClr val="E6EDF3"/>
                </a:solidFill>
                <a:latin typeface="Consolas"/>
              </a:rPr>
              <a:t>NAME                  STATUS  INTERNAL-IP   VERSION</a:t>
            </a:r>
          </a:p>
          <a:p>
            <a:pPr>
              <a:lnSpc>
                <a:spcPts val="1476"/>
              </a:lnSpc>
              <a:spcAft>
                <a:spcPts val="0"/>
              </a:spcAft>
            </a:pPr>
            <a:r>
              <a:rPr sz="1000">
                <a:solidFill>
                  <a:srgbClr val="E6EDF3"/>
                </a:solidFill>
                <a:latin typeface="Consolas"/>
              </a:rPr>
              <a:t>kcna-qa-control-plane Ready   172.18.0.3    v1.37.0</a:t>
            </a:r>
          </a:p>
          <a:p>
            <a:pPr>
              <a:lnSpc>
                <a:spcPts val="1476"/>
              </a:lnSpc>
              <a:spcAft>
                <a:spcPts val="0"/>
              </a:spcAft>
            </a:pPr>
            <a:r>
              <a:rPr sz="1000">
                <a:solidFill>
                  <a:srgbClr val="E6EDF3"/>
                </a:solidFill>
                <a:latin typeface="Consolas"/>
              </a:rPr>
              <a:t>kcna-qa-worker        Ready   172.18.0.2    v1.37.0</a:t>
            </a:r>
          </a:p>
          <a:p>
            <a:pPr>
              <a:lnSpc>
                <a:spcPts val="1476"/>
              </a:lnSpc>
              <a:spcAft>
                <a:spcPts val="0"/>
              </a:spcAft>
            </a:pPr>
            <a:r>
              <a:rPr sz="1000">
                <a:solidFill>
                  <a:srgbClr val="E6EDF3"/>
                </a:solidFill>
                <a:latin typeface="Consolas"/>
              </a:rPr>
              <a:t>kcna-qa-worker2       Ready   172.18.0.4    v1.37.0</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different address spaces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Pod IPs are 10.244.x.y; node InternalIPs are 172.18.x.y. They never overlap.</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Per-node pod CIDR slices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10.244.0.0/24 belongs to one node, 10.244.1.0/24 to another. IPAM leases only from the local slice.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Cross-node reachability is assumed</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10.244.0.14 can open a socket to 10.244.1.9 with no translation. That is the model, not a feature.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Pod IPs are ephemeral</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Delete one Pod and the replacement gets a different address. This is precisely why Services exist.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courseware/labs/lab-11-services-endpoints/verification/expected-output.md</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250</a:t>
            </a:r>
          </a:p>
        </p:txBody>
      </p:sp>
    </p:spTree>
  </p:cSld>
  <p:clrMapOvr>
    <a:masterClrMapping/>
  </p:clrMapOvr>
  <p:transition xmlns:ns1="http://schemas.openxmlformats.org/markup-compatibility/2006" spd="fast" ns1:Ignorable="p14">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Cluster network facts worth memorising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facts that resolve most networking questions before you ever open a terminal.</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Pod CIDR</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Cluster-wide pod address pool; sliced per node by the controller manager</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Service CIDR</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Separate pool for ClusterIP VIPs; must not overlap the pod CIDR</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Pod IP field</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Pod.status.podIP (and .podIPs for dual-stack)</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 address</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Node.status.addresses[] — InternalIP is the one NodePort uses</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CNI config dir</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/etc/cni/net.d on each node; the runtime reads it, not the API server</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CNI binaries</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/opt/cni/bin — plugin executables invoked with ADD / DEL / CHECK</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Containers in a Pod</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Share one netns: same IP, same port space, reachable on localhost</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hostNetwork: true</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uses the node's namespace directly — no Pod IP of its own</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Dual-stack</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IPv4/IPv6 families set per Service via ipFamilies and ipFamilyPolicy</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What is NOT provided</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Encryption, authentication or isolation between Pods by default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kubernetes.io/docs/concepts/cluster-administration/networking/ · kubernetes.io/docs/concepts/services-networking/service/</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251</a:t>
            </a:r>
          </a:p>
        </p:txBody>
      </p:sp>
    </p:spTree>
  </p:cSld>
  <p:clrMapOvr>
    <a:masterClrMapping/>
  </p:clrMapOvr>
  <p:transition xmlns:ns1="http://schemas.openxmlformats.org/markup-compatibility/2006" spd="fast" ns1:Ignorable="p14">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600" b="1" i="0">
                <a:solidFill>
                  <a:srgbClr val="161B26"/>
                </a:solidFill>
                <a:latin typeface="Arial"/>
              </a:rPr>
              <a:t>A Service stores a selector — the cluster derives everything else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moving parts, one declarative input. Knowing which part failed is the whole of Service troubleshooting.</a:t>
            </a:r>
          </a:p>
        </p:txBody>
      </p:sp>
      <p:sp>
        <p:nvSpPr>
          <p:cNvPr id="7" name="Rounded Rectangle 6"/>
          <p:cNvSpPr/>
          <p:nvPr/>
        </p:nvSpPr>
        <p:spPr>
          <a:xfrm>
            <a:off x="7772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You write a selector</a:t>
            </a:r>
          </a:p>
        </p:txBody>
      </p:sp>
      <p:sp>
        <p:nvSpPr>
          <p:cNvPr id="11" name="TextBox 10"/>
          <p:cNvSpPr txBox="1"/>
          <p:nvPr/>
        </p:nvSpPr>
        <p:spPr>
          <a:xfrm>
            <a:off x="9235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Service.spec.selector is a label query. It names no Pod and holds no list of addresses.</a:t>
            </a:r>
          </a:p>
        </p:txBody>
      </p:sp>
      <p:cxnSp>
        <p:nvCxnSpPr>
          <p:cNvPr id="12" name="Connector 11"/>
          <p:cNvCxnSpPr/>
          <p:nvPr/>
        </p:nvCxnSpPr>
        <p:spPr>
          <a:xfrm>
            <a:off x="271393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09448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Controller runs the query</a:t>
            </a:r>
          </a:p>
        </p:txBody>
      </p:sp>
      <p:sp>
        <p:nvSpPr>
          <p:cNvPr id="17" name="TextBox 16"/>
          <p:cNvSpPr txBox="1"/>
          <p:nvPr/>
        </p:nvSpPr>
        <p:spPr>
          <a:xfrm>
            <a:off x="312541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EndpointSlice controller watches Pods, evaluates the selector continuously and records the matches.</a:t>
            </a:r>
          </a:p>
        </p:txBody>
      </p:sp>
      <p:cxnSp>
        <p:nvCxnSpPr>
          <p:cNvPr id="18" name="Connector 17"/>
          <p:cNvCxnSpPr/>
          <p:nvPr/>
        </p:nvCxnSpPr>
        <p:spPr>
          <a:xfrm>
            <a:off x="491581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09448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EndpointSlice is written</a:t>
            </a:r>
          </a:p>
        </p:txBody>
      </p:sp>
      <p:sp>
        <p:nvSpPr>
          <p:cNvPr id="23" name="TextBox 22"/>
          <p:cNvSpPr txBox="1"/>
          <p:nvPr/>
        </p:nvSpPr>
        <p:spPr>
          <a:xfrm>
            <a:off x="532729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discovery.k8s.io/v1 object holds each matching Pod's IP, resolved port and conditions.ready.</a:t>
            </a:r>
          </a:p>
        </p:txBody>
      </p:sp>
      <p:cxnSp>
        <p:nvCxnSpPr>
          <p:cNvPr id="24" name="Connector 23"/>
          <p:cNvCxnSpPr/>
          <p:nvPr/>
        </p:nvCxnSpPr>
        <p:spPr>
          <a:xfrm>
            <a:off x="711768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09448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kube-proxy programs the node</a:t>
            </a:r>
          </a:p>
        </p:txBody>
      </p:sp>
      <p:sp>
        <p:nvSpPr>
          <p:cNvPr id="29" name="TextBox 28"/>
          <p:cNvSpPr txBox="1"/>
          <p:nvPr/>
        </p:nvSpPr>
        <p:spPr>
          <a:xfrm>
            <a:off x="752916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Every node's kube-proxy watches Services and EndpointSlices and installs DNAT rules for the ClusterIP.</a:t>
            </a:r>
          </a:p>
        </p:txBody>
      </p:sp>
      <p:cxnSp>
        <p:nvCxnSpPr>
          <p:cNvPr id="30" name="Connector 29"/>
          <p:cNvCxnSpPr/>
          <p:nvPr/>
        </p:nvCxnSpPr>
        <p:spPr>
          <a:xfrm>
            <a:off x="931956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CoreDNS publishes the name</a:t>
            </a:r>
          </a:p>
        </p:txBody>
      </p:sp>
      <p:sp>
        <p:nvSpPr>
          <p:cNvPr id="35" name="TextBox 34"/>
          <p:cNvSpPr txBox="1"/>
          <p:nvPr/>
        </p:nvSpPr>
        <p:spPr>
          <a:xfrm>
            <a:off x="97310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 A record maps &lt;svc&gt;.&lt;ns&gt;.svc.cluster.local to the ClusterIP, so clients never see Pod IPs.</a:t>
            </a:r>
          </a:p>
        </p:txBody>
      </p:sp>
      <p:sp>
        <p:nvSpPr>
          <p:cNvPr id="36" name="Rectangle 35"/>
          <p:cNvSpPr/>
          <p:nvPr/>
        </p:nvSpPr>
        <p:spPr>
          <a:xfrm>
            <a:off x="777240" y="4788306"/>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788306"/>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87060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099202"/>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Nothing in this chain is triggered by an apply. It is a continuous reconciliation — relabel a Pod and the EndpointSlice changes with no restart anywhere.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kubernetes.io/docs/concepts/services-networking/endpoint-slices/ · Endpoints deprecation: kubernetes.io/blog/2025/04/24/endpoints-deprecation/</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252</a:t>
            </a:r>
          </a:p>
        </p:txBody>
      </p:sp>
    </p:spTree>
  </p:cSld>
  <p:clrMapOvr>
    <a:masterClrMapping/>
  </p:clrMapOvr>
  <p:transition xmlns:ns5="http://schemas.openxmlformats.org/markup-compatibility/2006" spd="fast" ns5:Ignorable="p14">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four ports of a Service, read in order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port, targetPort, nodePort and the port name each answer a different question. Confusing them is the classic error.</a:t>
            </a:r>
          </a:p>
        </p:txBody>
      </p:sp>
      <p:sp>
        <p:nvSpPr>
          <p:cNvPr id="7" name="Rectangle 6"/>
          <p:cNvSpPr/>
          <p:nvPr/>
        </p:nvSpPr>
        <p:spPr>
          <a:xfrm>
            <a:off x="777240" y="2208885"/>
            <a:ext cx="635508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30-service-quote-api.yaml (NodePort variant)</a:t>
            </a:r>
          </a:p>
        </p:txBody>
      </p:sp>
      <p:sp>
        <p:nvSpPr>
          <p:cNvPr id="9" name="TextBox 8"/>
          <p:cNvSpPr txBox="1"/>
          <p:nvPr/>
        </p:nvSpPr>
        <p:spPr>
          <a:xfrm>
            <a:off x="923544" y="2629509"/>
            <a:ext cx="6062472" cy="2811779"/>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Service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quote-api</a:t>
            </a:r>
          </a:p>
          <a:p>
            <a:pPr>
              <a:lnSpc>
                <a:spcPts val="1476"/>
              </a:lnSpc>
              <a:spcAft>
                <a:spcPts val="0"/>
              </a:spcAft>
            </a:pPr>
            <a:r>
              <a:rPr sz="1050">
                <a:solidFill>
                  <a:srgbClr val="E6EDF3"/>
                </a:solidFill>
                <a:latin typeface="Consolas"/>
              </a:rPr>
              <a:t>  namespace: kcna-lab11</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type: NodePort</a:t>
            </a:r>
          </a:p>
          <a:p>
            <a:pPr>
              <a:lnSpc>
                <a:spcPts val="1476"/>
              </a:lnSpc>
              <a:spcAft>
                <a:spcPts val="0"/>
              </a:spcAft>
            </a:pPr>
            <a:r>
              <a:rPr sz="1050">
                <a:solidFill>
                  <a:srgbClr val="E6EDF3"/>
                </a:solidFill>
                <a:latin typeface="Consolas"/>
              </a:rPr>
              <a:t>  selector:</a:t>
            </a:r>
          </a:p>
          <a:p>
            <a:pPr>
              <a:lnSpc>
                <a:spcPts val="1476"/>
              </a:lnSpc>
              <a:spcAft>
                <a:spcPts val="0"/>
              </a:spcAft>
            </a:pPr>
            <a:r>
              <a:rPr sz="1050">
                <a:solidFill>
                  <a:srgbClr val="E6EDF3"/>
                </a:solidFill>
                <a:latin typeface="Consolas"/>
              </a:rPr>
              <a:t>    app: quote-api          # a label QUERY</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name: http</a:t>
            </a:r>
          </a:p>
          <a:p>
            <a:pPr>
              <a:lnSpc>
                <a:spcPts val="1476"/>
              </a:lnSpc>
              <a:spcAft>
                <a:spcPts val="0"/>
              </a:spcAft>
            </a:pPr>
            <a:r>
              <a:rPr sz="1050">
                <a:solidFill>
                  <a:srgbClr val="E6EDF3"/>
                </a:solidFill>
                <a:latin typeface="Consolas"/>
              </a:rPr>
              <a:t>      port: 80              # the Service's own port</a:t>
            </a:r>
          </a:p>
          <a:p>
            <a:pPr>
              <a:lnSpc>
                <a:spcPts val="1476"/>
              </a:lnSpc>
              <a:spcAft>
                <a:spcPts val="0"/>
              </a:spcAft>
            </a:pPr>
            <a:r>
              <a:rPr sz="1050">
                <a:solidFill>
                  <a:srgbClr val="E6EDF3"/>
                </a:solidFill>
                <a:latin typeface="Consolas"/>
              </a:rPr>
              <a:t>      targetPort: http      # named container port</a:t>
            </a:r>
          </a:p>
          <a:p>
            <a:pPr>
              <a:lnSpc>
                <a:spcPts val="1476"/>
              </a:lnSpc>
              <a:spcAft>
                <a:spcPts val="0"/>
              </a:spcAft>
            </a:pPr>
            <a:r>
              <a:rPr sz="1050">
                <a:solidFill>
                  <a:srgbClr val="E6EDF3"/>
                </a:solidFill>
                <a:latin typeface="Consolas"/>
              </a:rPr>
              <a:t>      nodePort: 30080       # 30000-32767 only</a:t>
            </a:r>
          </a:p>
          <a:p>
            <a:pPr>
              <a:lnSpc>
                <a:spcPts val="1476"/>
              </a:lnSpc>
              <a:spcAft>
                <a:spcPts val="0"/>
              </a:spcAft>
            </a:pPr>
            <a:r>
              <a:rPr sz="1050">
                <a:solidFill>
                  <a:srgbClr val="E6EDF3"/>
                </a:solidFill>
                <a:latin typeface="Consolas"/>
              </a:rPr>
              <a:t>      protocol: TCP</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port — what clients dial</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port on the ClusterIP VIP. `quote-api:80` and nothing else is what callers inside the cluster use.</a:t>
            </a:r>
          </a:p>
        </p:txBody>
      </p:sp>
      <p:sp>
        <p:nvSpPr>
          <p:cNvPr id="15" name="Oval 14"/>
          <p:cNvSpPr/>
          <p:nvPr/>
        </p:nvSpPr>
        <p:spPr>
          <a:xfrm>
            <a:off x="7626096" y="3380677"/>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62389"/>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targetPort — where it lands</a:t>
            </a:r>
          </a:p>
        </p:txBody>
      </p:sp>
      <p:sp>
        <p:nvSpPr>
          <p:cNvPr id="17" name="TextBox 16"/>
          <p:cNvSpPr txBox="1"/>
          <p:nvPr/>
        </p:nvSpPr>
        <p:spPr>
          <a:xfrm>
            <a:off x="7973567" y="3579178"/>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port on the Pod. A number, or the NAME of a containerPort. Named is the resilient choice.</a:t>
            </a:r>
          </a:p>
        </p:txBody>
      </p:sp>
      <p:sp>
        <p:nvSpPr>
          <p:cNvPr id="18" name="Oval 17"/>
          <p:cNvSpPr/>
          <p:nvPr/>
        </p:nvSpPr>
        <p:spPr>
          <a:xfrm>
            <a:off x="7626096" y="4058693"/>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4040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nodePort — the node-level door</a:t>
            </a:r>
          </a:p>
        </p:txBody>
      </p:sp>
      <p:sp>
        <p:nvSpPr>
          <p:cNvPr id="20" name="TextBox 19"/>
          <p:cNvSpPr txBox="1"/>
          <p:nvPr/>
        </p:nvSpPr>
        <p:spPr>
          <a:xfrm>
            <a:off x="7973567" y="425719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Only meaningful for type NodePort or LoadBalancer. Drawn from the cluster-wide 30000-32767 pool.</a:t>
            </a:r>
          </a:p>
        </p:txBody>
      </p:sp>
      <p:sp>
        <p:nvSpPr>
          <p:cNvPr id="21" name="Oval 20"/>
          <p:cNvSpPr/>
          <p:nvPr/>
        </p:nvSpPr>
        <p:spPr>
          <a:xfrm>
            <a:off x="7626096" y="473671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842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name — required once you have two</a:t>
            </a:r>
          </a:p>
        </p:txBody>
      </p:sp>
      <p:sp>
        <p:nvSpPr>
          <p:cNvPr id="23" name="TextBox 22"/>
          <p:cNvSpPr txBox="1"/>
          <p:nvPr/>
        </p:nvSpPr>
        <p:spPr>
          <a:xfrm>
            <a:off x="7973567" y="493521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With a single port, `name` is optional. With two or more it is mandatory and Ingress refers to it.</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selector — not a Pod list</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Change a Pod's labels and this Service's backend set changes immediately. No edit to the Service is needed.</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253</a:t>
            </a:r>
          </a:p>
        </p:txBody>
      </p:sp>
    </p:spTree>
  </p:cSld>
  <p:clrMapOvr>
    <a:masterClrMapping/>
  </p:clrMapOvr>
  <p:transition xmlns:ns1="http://schemas.openxmlformats.org/markup-compatibility/2006" spd="fast" ns1:Ignorable="p14">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NAMED PORTS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named port is a contract between two objects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Named ports are on the registered outline because they decouple the Service contract from the container's listening port.</a:t>
            </a:r>
          </a:p>
        </p:txBody>
      </p:sp>
      <p:sp>
        <p:nvSpPr>
          <p:cNvPr id="7" name="Rectangle 6"/>
          <p:cNvSpPr/>
          <p:nvPr/>
        </p:nvSpPr>
        <p:spPr>
          <a:xfrm>
            <a:off x="777240" y="2208885"/>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Named port, end to end across three objects</a:t>
            </a:r>
          </a:p>
        </p:txBody>
      </p:sp>
      <p:sp>
        <p:nvSpPr>
          <p:cNvPr id="9" name="TextBox 8"/>
          <p:cNvSpPr txBox="1"/>
          <p:nvPr/>
        </p:nvSpPr>
        <p:spPr>
          <a:xfrm>
            <a:off x="923544" y="2629509"/>
            <a:ext cx="6062472" cy="2999232"/>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Deployment — the container declares the name</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name: http          # &lt;=15 chars, IANA_SVC_NAME</a:t>
            </a:r>
          </a:p>
          <a:p>
            <a:pPr>
              <a:lnSpc>
                <a:spcPts val="1476"/>
              </a:lnSpc>
              <a:spcAft>
                <a:spcPts val="0"/>
              </a:spcAft>
            </a:pPr>
            <a:r>
              <a:rPr sz="1050">
                <a:solidFill>
                  <a:srgbClr val="E6EDF3"/>
                </a:solidFill>
                <a:latin typeface="Consolas"/>
              </a:rPr>
              <a:t>        containerPort: 8080</a:t>
            </a:r>
          </a:p>
          <a:p>
            <a:pPr>
              <a:lnSpc>
                <a:spcPts val="1476"/>
              </a:lnSpc>
              <a:spcAft>
                <a:spcPts val="0"/>
              </a:spcAft>
            </a:pPr>
            <a:r>
              <a:rPr sz="1050">
                <a:solidFill>
                  <a:srgbClr val="E6EDF3"/>
                </a:solidFill>
                <a:latin typeface="Consolas"/>
              </a:rPr>
              <a:t>        protocol: TCP</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Service — refers to the NAME, not the number</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port: 80</a:t>
            </a:r>
          </a:p>
          <a:p>
            <a:pPr>
              <a:lnSpc>
                <a:spcPts val="1476"/>
              </a:lnSpc>
              <a:spcAft>
                <a:spcPts val="0"/>
              </a:spcAft>
            </a:pPr>
            <a:r>
              <a:rPr sz="1050">
                <a:solidFill>
                  <a:srgbClr val="E6EDF3"/>
                </a:solidFill>
                <a:latin typeface="Consolas"/>
              </a:rPr>
              <a:t>      targetPort: http</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EndpointSlice — the controller resolved it</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name: http</a:t>
            </a:r>
          </a:p>
          <a:p>
            <a:pPr>
              <a:lnSpc>
                <a:spcPts val="1476"/>
              </a:lnSpc>
              <a:spcAft>
                <a:spcPts val="0"/>
              </a:spcAft>
            </a:pPr>
            <a:r>
              <a:rPr sz="1050">
                <a:solidFill>
                  <a:srgbClr val="E6EDF3"/>
                </a:solidFill>
                <a:latin typeface="Consolas"/>
              </a:rPr>
              <a:t>      port: 8080            # the RESOLVED number</a:t>
            </a:r>
          </a:p>
          <a:p>
            <a:pPr>
              <a:lnSpc>
                <a:spcPts val="1476"/>
              </a:lnSpc>
              <a:spcAft>
                <a:spcPts val="0"/>
              </a:spcAft>
            </a:pPr>
            <a:r>
              <a:rPr sz="1050">
                <a:solidFill>
                  <a:srgbClr val="E6EDF3"/>
                </a:solidFill>
                <a:latin typeface="Consolas"/>
              </a:rPr>
              <a:t>      protocol: TCP</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name lives on the container</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containerPort.name is lowercase alphanumeric plus hyphens, at most 15 characters, unique within the Pod.</a:t>
            </a:r>
          </a:p>
        </p:txBody>
      </p:sp>
      <p:sp>
        <p:nvSpPr>
          <p:cNvPr id="15" name="Oval 14"/>
          <p:cNvSpPr/>
          <p:nvPr/>
        </p:nvSpPr>
        <p:spPr>
          <a:xfrm>
            <a:off x="7626096" y="3414415"/>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9612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Service never learns 8080</a:t>
            </a:r>
          </a:p>
        </p:txBody>
      </p:sp>
      <p:sp>
        <p:nvSpPr>
          <p:cNvPr id="17" name="TextBox 16"/>
          <p:cNvSpPr txBox="1"/>
          <p:nvPr/>
        </p:nvSpPr>
        <p:spPr>
          <a:xfrm>
            <a:off x="7973567" y="3612916"/>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targetPort: http is late-bound. The number is resolved per Pod, at endpoint-computation time.</a:t>
            </a:r>
          </a:p>
        </p:txBody>
      </p:sp>
      <p:sp>
        <p:nvSpPr>
          <p:cNvPr id="18" name="Oval 17"/>
          <p:cNvSpPr/>
          <p:nvPr/>
        </p:nvSpPr>
        <p:spPr>
          <a:xfrm>
            <a:off x="7626096" y="412616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10788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Resolution is visible</a:t>
            </a:r>
          </a:p>
        </p:txBody>
      </p:sp>
      <p:sp>
        <p:nvSpPr>
          <p:cNvPr id="20" name="TextBox 19"/>
          <p:cNvSpPr txBox="1"/>
          <p:nvPr/>
        </p:nvSpPr>
        <p:spPr>
          <a:xfrm>
            <a:off x="7973567" y="432467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EndpointSlice records the resolved number. If it shows &lt;unset&gt;, the name did not resolve on that Pod.</a:t>
            </a:r>
          </a:p>
        </p:txBody>
      </p:sp>
      <p:sp>
        <p:nvSpPr>
          <p:cNvPr id="21" name="Oval 20"/>
          <p:cNvSpPr/>
          <p:nvPr/>
        </p:nvSpPr>
        <p:spPr>
          <a:xfrm>
            <a:off x="7626096" y="4837922"/>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96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Why it matters operationally</a:t>
            </a:r>
          </a:p>
        </p:txBody>
      </p:sp>
      <p:sp>
        <p:nvSpPr>
          <p:cNvPr id="23" name="TextBox 22"/>
          <p:cNvSpPr txBox="1"/>
          <p:nvPr/>
        </p:nvSpPr>
        <p:spPr>
          <a:xfrm>
            <a:off x="7973567" y="50364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Two Deployments behind one Service can listen on different numbers, provided both use the same port name.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kubernetes.io/docs/concepts/services-networking/endpoint-slices/ · Endpoints deprecation: kubernetes.io/blog/2025/04/24/endpoints-deprecation/</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254</a:t>
            </a:r>
          </a:p>
        </p:txBody>
      </p:sp>
    </p:spTree>
  </p:cSld>
  <p:clrMapOvr>
    <a:masterClrMapping/>
  </p:clrMapOvr>
  <p:transition xmlns:ns1="http://schemas.openxmlformats.org/markup-compatibility/2006" spd="fast" ns1:Ignorable="p14">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EndpointSlice object,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object is the answer to 'what is actually behind that Service name right now?'</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kubectl get endpointslice quote-api-t8hkb -o yaml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discovery.k8s.io/v1</a:t>
            </a:r>
          </a:p>
          <a:p>
            <a:pPr>
              <a:lnSpc>
                <a:spcPts val="1413"/>
              </a:lnSpc>
              <a:spcAft>
                <a:spcPts val="0"/>
              </a:spcAft>
            </a:pPr>
            <a:r>
              <a:rPr sz="1050">
                <a:solidFill>
                  <a:srgbClr val="E6EDF3"/>
                </a:solidFill>
                <a:latin typeface="Consolas"/>
              </a:rPr>
              <a:t>kind: EndpointSlice</a:t>
            </a:r>
          </a:p>
          <a:p>
            <a:pPr>
              <a:lnSpc>
                <a:spcPts val="1413"/>
              </a:lnSpc>
              <a:spcAft>
                <a:spcPts val="0"/>
              </a:spcAft>
            </a:pPr>
            <a:r>
              <a:rPr sz="1050">
                <a:solidFill>
                  <a:srgbClr val="E6EDF3"/>
                </a:solidFill>
                <a:latin typeface="Consolas"/>
              </a:rPr>
              <a:t>metadata:</a:t>
            </a:r>
          </a:p>
          <a:p>
            <a:pPr>
              <a:lnSpc>
                <a:spcPts val="1413"/>
              </a:lnSpc>
              <a:spcAft>
                <a:spcPts val="0"/>
              </a:spcAft>
            </a:pPr>
            <a:r>
              <a:rPr sz="1050">
                <a:solidFill>
                  <a:srgbClr val="E6EDF3"/>
                </a:solidFill>
                <a:latin typeface="Consolas"/>
              </a:rPr>
              <a:t>  name: quote-api-t8hkb      # generated suffix</a:t>
            </a:r>
          </a:p>
          <a:p>
            <a:pPr>
              <a:lnSpc>
                <a:spcPts val="1413"/>
              </a:lnSpc>
              <a:spcAft>
                <a:spcPts val="0"/>
              </a:spcAft>
            </a:pPr>
            <a:r>
              <a:rPr sz="1050">
                <a:solidFill>
                  <a:srgbClr val="E6EDF3"/>
                </a:solidFill>
                <a:latin typeface="Consolas"/>
              </a:rPr>
              <a:t>  namespace: kcna-lab11</a:t>
            </a:r>
          </a:p>
          <a:p>
            <a:pPr>
              <a:lnSpc>
                <a:spcPts val="1413"/>
              </a:lnSpc>
              <a:spcAft>
                <a:spcPts val="0"/>
              </a:spcAft>
            </a:pPr>
            <a:r>
              <a:rPr sz="1050">
                <a:solidFill>
                  <a:srgbClr val="E6EDF3"/>
                </a:solidFill>
                <a:latin typeface="Consolas"/>
              </a:rPr>
              <a:t>  labels:</a:t>
            </a:r>
          </a:p>
          <a:p>
            <a:pPr>
              <a:lnSpc>
                <a:spcPts val="1413"/>
              </a:lnSpc>
              <a:spcAft>
                <a:spcPts val="0"/>
              </a:spcAft>
            </a:pPr>
            <a:r>
              <a:rPr sz="1050">
                <a:solidFill>
                  <a:srgbClr val="E6EDF3"/>
                </a:solidFill>
                <a:latin typeface="Consolas"/>
              </a:rPr>
              <a:t>    kubernetes.io/service-name: quote-api</a:t>
            </a:r>
          </a:p>
          <a:p>
            <a:pPr>
              <a:lnSpc>
                <a:spcPts val="1413"/>
              </a:lnSpc>
              <a:spcAft>
                <a:spcPts val="0"/>
              </a:spcAft>
            </a:pPr>
            <a:r>
              <a:rPr sz="1050">
                <a:solidFill>
                  <a:srgbClr val="E6EDF3"/>
                </a:solidFill>
                <a:latin typeface="Consolas"/>
              </a:rPr>
              <a:t>addressType: IPv4</a:t>
            </a:r>
          </a:p>
          <a:p>
            <a:pPr>
              <a:lnSpc>
                <a:spcPts val="1413"/>
              </a:lnSpc>
              <a:spcAft>
                <a:spcPts val="0"/>
              </a:spcAft>
            </a:pPr>
            <a:r>
              <a:rPr sz="1050">
                <a:solidFill>
                  <a:srgbClr val="E6EDF3"/>
                </a:solidFill>
                <a:latin typeface="Consolas"/>
              </a:rPr>
              <a:t>ports:</a:t>
            </a:r>
          </a:p>
          <a:p>
            <a:pPr>
              <a:lnSpc>
                <a:spcPts val="1413"/>
              </a:lnSpc>
              <a:spcAft>
                <a:spcPts val="0"/>
              </a:spcAft>
            </a:pPr>
            <a:r>
              <a:rPr sz="1050">
                <a:solidFill>
                  <a:srgbClr val="E6EDF3"/>
                </a:solidFill>
                <a:latin typeface="Consolas"/>
              </a:rPr>
              <a:t>  - name: http</a:t>
            </a:r>
          </a:p>
          <a:p>
            <a:pPr>
              <a:lnSpc>
                <a:spcPts val="1413"/>
              </a:lnSpc>
              <a:spcAft>
                <a:spcPts val="0"/>
              </a:spcAft>
            </a:pPr>
            <a:r>
              <a:rPr sz="1050">
                <a:solidFill>
                  <a:srgbClr val="E6EDF3"/>
                </a:solidFill>
                <a:latin typeface="Consolas"/>
              </a:rPr>
              <a:t>    port: 8080</a:t>
            </a:r>
          </a:p>
          <a:p>
            <a:pPr>
              <a:lnSpc>
                <a:spcPts val="1413"/>
              </a:lnSpc>
              <a:spcAft>
                <a:spcPts val="0"/>
              </a:spcAft>
            </a:pPr>
            <a:r>
              <a:rPr sz="1050">
                <a:solidFill>
                  <a:srgbClr val="E6EDF3"/>
                </a:solidFill>
                <a:latin typeface="Consolas"/>
              </a:rPr>
              <a:t>    protocol: TCP</a:t>
            </a:r>
          </a:p>
          <a:p>
            <a:pPr>
              <a:lnSpc>
                <a:spcPts val="1413"/>
              </a:lnSpc>
              <a:spcAft>
                <a:spcPts val="0"/>
              </a:spcAft>
            </a:pPr>
            <a:r>
              <a:rPr sz="1050">
                <a:solidFill>
                  <a:srgbClr val="E6EDF3"/>
                </a:solidFill>
                <a:latin typeface="Consolas"/>
              </a:rPr>
              <a:t>endpoints:</a:t>
            </a:r>
          </a:p>
          <a:p>
            <a:pPr>
              <a:lnSpc>
                <a:spcPts val="1413"/>
              </a:lnSpc>
              <a:spcAft>
                <a:spcPts val="0"/>
              </a:spcAft>
            </a:pPr>
            <a:r>
              <a:rPr sz="1050">
                <a:solidFill>
                  <a:srgbClr val="E6EDF3"/>
                </a:solidFill>
                <a:latin typeface="Consolas"/>
              </a:rPr>
              <a:t>  - addresses: ["10.244.0.14"]</a:t>
            </a:r>
          </a:p>
          <a:p>
            <a:pPr>
              <a:lnSpc>
                <a:spcPts val="1413"/>
              </a:lnSpc>
              <a:spcAft>
                <a:spcPts val="0"/>
              </a:spcAft>
            </a:pPr>
            <a:r>
              <a:rPr sz="1050">
                <a:solidFill>
                  <a:srgbClr val="E6EDF3"/>
                </a:solidFill>
                <a:latin typeface="Consolas"/>
              </a:rPr>
              <a:t>    conditions:</a:t>
            </a:r>
          </a:p>
          <a:p>
            <a:pPr>
              <a:lnSpc>
                <a:spcPts val="1413"/>
              </a:lnSpc>
              <a:spcAft>
                <a:spcPts val="0"/>
              </a:spcAft>
            </a:pPr>
            <a:r>
              <a:rPr sz="1050">
                <a:solidFill>
                  <a:srgbClr val="E6EDF3"/>
                </a:solidFill>
                <a:latin typeface="Consolas"/>
              </a:rPr>
              <a:t>      ready: true</a:t>
            </a:r>
          </a:p>
          <a:p>
            <a:pPr>
              <a:lnSpc>
                <a:spcPts val="1413"/>
              </a:lnSpc>
              <a:spcAft>
                <a:spcPts val="0"/>
              </a:spcAft>
            </a:pPr>
            <a:r>
              <a:rPr sz="1050">
                <a:solidFill>
                  <a:srgbClr val="E6EDF3"/>
                </a:solidFill>
                <a:latin typeface="Consolas"/>
              </a:rPr>
              <a:t>    nodeName: kcna-qa-worker</a:t>
            </a:r>
          </a:p>
          <a:p>
            <a:pPr>
              <a:lnSpc>
                <a:spcPts val="1413"/>
              </a:lnSpc>
              <a:spcAft>
                <a:spcPts val="0"/>
              </a:spcAft>
            </a:pPr>
            <a:r>
              <a:rPr sz="1050">
                <a:solidFill>
                  <a:srgbClr val="E6EDF3"/>
                </a:solidFill>
                <a:latin typeface="Consolas"/>
              </a:rPr>
              <a:t>    targetRef: {kind: Pod, name: quote-api-...}</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is owned, not authored</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never write this. The EndpointSlice controller creates, updates and garbage-collects it.</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service-name label is the join key</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kubernetes.io/service-name links slice to Service. A Service may own several slices.</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conditions.ready gates traffic</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Only ready endpoints receive load-balanced connections. serving and terminating exist for graceful shutdown.</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addressType splits the object</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IPv4, IPv6 and FQDN each get their own slices — this is how dual-stack is represented.</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Slices are capped and sharded</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controller splits at a configured maximum endpoints per slice, which is what makes large Services scale.</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kubernetes.io/docs/concepts/services-networking/endpoint-slices/ · Endpoints deprecation: kubernetes.io/blog/2025/04/24/endpoints-deprecation/</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255</a:t>
            </a:r>
          </a:p>
        </p:txBody>
      </p:sp>
    </p:spTree>
  </p:cSld>
  <p:clrMapOvr>
    <a:masterClrMapping/>
  </p:clrMapOvr>
  <p:transition xmlns:ns1="http://schemas.openxmlformats.org/markup-compatibility/2006" spd="fast" ns1:Ignorable="p14">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Populated versus empty: the same command, two verdicts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shapes to recognise on sight. Everything else in Service debugging is elaboration of these.</a:t>
            </a:r>
          </a:p>
        </p:txBody>
      </p:sp>
      <p:sp>
        <p:nvSpPr>
          <p:cNvPr id="7" name="Rectangle 6"/>
          <p:cNvSpPr/>
          <p:nvPr/>
        </p:nvSpPr>
        <p:spPr>
          <a:xfrm>
            <a:off x="777240" y="2200046"/>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Service backend diagnostics on kcna-lab11</a:t>
            </a:r>
          </a:p>
        </p:txBody>
      </p:sp>
      <p:sp>
        <p:nvSpPr>
          <p:cNvPr id="9" name="TextBox 8"/>
          <p:cNvSpPr txBox="1"/>
          <p:nvPr/>
        </p:nvSpPr>
        <p:spPr>
          <a:xfrm>
            <a:off x="923544" y="2620670"/>
            <a:ext cx="6611112" cy="2436876"/>
          </a:xfrm>
          <a:prstGeom prst="rect">
            <a:avLst/>
          </a:prstGeom>
          <a:noFill/>
        </p:spPr>
        <p:txBody>
          <a:bodyPr wrap="none" lIns="0" rIns="0" tIns="0" bIns="0">
            <a:spAutoFit/>
          </a:bodyPr>
          <a:lstStyle/>
          <a:p>
            <a:pPr>
              <a:lnSpc>
                <a:spcPts val="1476"/>
              </a:lnSpc>
              <a:spcAft>
                <a:spcPts val="0"/>
              </a:spcAft>
            </a:pPr>
            <a:r>
              <a:rPr sz="1000">
                <a:solidFill>
                  <a:srgbClr val="7D8A99"/>
                </a:solidFill>
                <a:latin typeface="Consolas"/>
              </a:rPr>
              <a:t># Healthy — selector matched three ready Pods</a:t>
            </a:r>
          </a:p>
          <a:p>
            <a:pPr>
              <a:lnSpc>
                <a:spcPts val="1476"/>
              </a:lnSpc>
              <a:spcAft>
                <a:spcPts val="0"/>
              </a:spcAft>
            </a:pPr>
            <a:r>
              <a:rPr sz="1000">
                <a:solidFill>
                  <a:srgbClr val="7EE787"/>
                </a:solidFill>
                <a:latin typeface="Consolas"/>
              </a:rPr>
              <a:t>$ kubectl get endpointslices -n kcna-lab11</a:t>
            </a:r>
          </a:p>
          <a:p>
            <a:pPr>
              <a:lnSpc>
                <a:spcPts val="1476"/>
              </a:lnSpc>
              <a:spcAft>
                <a:spcPts val="0"/>
              </a:spcAft>
            </a:pPr>
            <a:r>
              <a:rPr sz="1000">
                <a:solidFill>
                  <a:srgbClr val="E6EDF3"/>
                </a:solidFill>
                <a:latin typeface="Consolas"/>
              </a:rPr>
              <a:t>NAME             ADDRESSTYPE  PORTS  ENDPOINTS</a:t>
            </a:r>
          </a:p>
          <a:p>
            <a:pPr>
              <a:lnSpc>
                <a:spcPts val="1476"/>
              </a:lnSpc>
              <a:spcAft>
                <a:spcPts val="0"/>
              </a:spcAft>
            </a:pPr>
            <a:r>
              <a:rPr sz="1000">
                <a:solidFill>
                  <a:srgbClr val="E6EDF3"/>
                </a:solidFill>
                <a:latin typeface="Consolas"/>
              </a:rPr>
              <a:t>quote-api-t8hkb  IPv4         8080   10.244.0.14,10.244.0.15,10.244.0.16</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Broken — selector app=quote-apis matched nothing</a:t>
            </a:r>
          </a:p>
          <a:p>
            <a:pPr>
              <a:lnSpc>
                <a:spcPts val="1476"/>
              </a:lnSpc>
              <a:spcAft>
                <a:spcPts val="0"/>
              </a:spcAft>
            </a:pPr>
            <a:r>
              <a:rPr sz="1000">
                <a:solidFill>
                  <a:srgbClr val="7EE787"/>
                </a:solidFill>
                <a:latin typeface="Consolas"/>
              </a:rPr>
              <a:t>$ kubectl get endpointslices -n kcna-lab11</a:t>
            </a:r>
          </a:p>
          <a:p>
            <a:pPr>
              <a:lnSpc>
                <a:spcPts val="1476"/>
              </a:lnSpc>
              <a:spcAft>
                <a:spcPts val="0"/>
              </a:spcAft>
            </a:pPr>
            <a:r>
              <a:rPr sz="1000">
                <a:solidFill>
                  <a:srgbClr val="E6EDF3"/>
                </a:solidFill>
                <a:latin typeface="Consolas"/>
              </a:rPr>
              <a:t>NAME                    ADDRESSTYPE  PORTS    ENDPOINTS</a:t>
            </a:r>
          </a:p>
          <a:p>
            <a:pPr>
              <a:lnSpc>
                <a:spcPts val="1476"/>
              </a:lnSpc>
              <a:spcAft>
                <a:spcPts val="0"/>
              </a:spcAft>
            </a:pPr>
            <a:r>
              <a:rPr sz="1000">
                <a:solidFill>
                  <a:srgbClr val="E6EDF3"/>
                </a:solidFill>
                <a:latin typeface="Consolas"/>
              </a:rPr>
              <a:t>quote-api-broken-4zq6n  IPv4         &lt;unset&gt;  &lt;unset&gt;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Root-cause proof — run the selector as a query</a:t>
            </a:r>
          </a:p>
          <a:p>
            <a:pPr>
              <a:lnSpc>
                <a:spcPts val="1476"/>
              </a:lnSpc>
              <a:spcAft>
                <a:spcPts val="0"/>
              </a:spcAft>
            </a:pPr>
            <a:r>
              <a:rPr sz="1000">
                <a:solidFill>
                  <a:srgbClr val="7EE787"/>
                </a:solidFill>
                <a:latin typeface="Consolas"/>
              </a:rPr>
              <a:t>$ kubectl get pods -n kcna-lab11 -l app=quote-apis</a:t>
            </a:r>
          </a:p>
          <a:p>
            <a:pPr>
              <a:lnSpc>
                <a:spcPts val="1476"/>
              </a:lnSpc>
              <a:spcAft>
                <a:spcPts val="0"/>
              </a:spcAft>
            </a:pPr>
            <a:r>
              <a:rPr sz="1000">
                <a:solidFill>
                  <a:srgbClr val="E6EDF3"/>
                </a:solidFill>
                <a:latin typeface="Consolas"/>
              </a:rPr>
              <a:t>No resources found in kcna-lab11 namespace.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slice exists either way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An empty slice is not a missing slice. The Service was created correctly; the query returned nothing.</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&lt;unset&gt; PORTS is a second signal</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 endpoints means no Pod to resolve the named port against, so the port column is unset too.</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Re-run the selector yourself</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`kubectl get pods -l &lt;selector&gt;` is the decisive test. It reproduces exactly what the controller did.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Use endpointslices, not endpoints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v1 Endpoints still prints today but is deprecated since v1.33. Build the habit on the current API.</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courseware/labs/lab-11-services-endpoints/verification/expected-output.md · kubernetes.io/docs/concepts/services-networking/endpoint-slices/ · Endpoints deprecation: kubernetes.io/blog/2025/04/24/endpoints-deprecation/</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256</a:t>
            </a:r>
          </a:p>
        </p:txBody>
      </p:sp>
    </p:spTree>
  </p:cSld>
  <p:clrMapOvr>
    <a:masterClrMapping/>
  </p:clrMapOvr>
  <p:transition xmlns:ns1="http://schemas.openxmlformats.org/markup-compatibility/2006" spd="fast" ns1:Ignorable="p14">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CURRENCY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Endpoints and EndpointSlice — know which one to reach for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registered outline says 'Services and Endpoints'. We teach the concept under its current object.</a:t>
            </a:r>
          </a:p>
        </p:txBody>
      </p:sp>
      <p:sp>
        <p:nvSpPr>
          <p:cNvPr id="7" name="Rectangle 6"/>
          <p:cNvSpPr/>
          <p:nvPr/>
        </p:nvSpPr>
        <p:spPr>
          <a:xfrm>
            <a:off x="777240" y="2200046"/>
            <a:ext cx="2111542"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5551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2888782" y="2200046"/>
            <a:ext cx="4082314"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16798" y="2300630"/>
            <a:ext cx="382628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v1 Endpoints (deprecated)</a:t>
            </a:r>
          </a:p>
        </p:txBody>
      </p:sp>
      <p:sp>
        <p:nvSpPr>
          <p:cNvPr id="11" name="Rectangle 10"/>
          <p:cNvSpPr/>
          <p:nvPr/>
        </p:nvSpPr>
        <p:spPr>
          <a:xfrm>
            <a:off x="6971096" y="2200046"/>
            <a:ext cx="4504623"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099112" y="2300630"/>
            <a:ext cx="424859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discovery.k8s.io/v1 EndpointSlice</a:t>
            </a:r>
          </a:p>
        </p:txBody>
      </p:sp>
      <p:sp>
        <p:nvSpPr>
          <p:cNvPr id="13" name="Rectangle 12"/>
          <p:cNvSpPr/>
          <p:nvPr/>
        </p:nvSpPr>
        <p:spPr>
          <a:xfrm>
            <a:off x="777240" y="2620670"/>
            <a:ext cx="2111542"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Status</a:t>
            </a:r>
          </a:p>
        </p:txBody>
      </p:sp>
      <p:sp>
        <p:nvSpPr>
          <p:cNvPr id="15" name="Rectangle 14"/>
          <p:cNvSpPr/>
          <p:nvPr/>
        </p:nvSpPr>
        <p:spPr>
          <a:xfrm>
            <a:off x="2888782" y="2620670"/>
            <a:ext cx="4082314"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016798" y="2702966"/>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Deprecated as of Kubernetes v1.33</a:t>
            </a:r>
          </a:p>
        </p:txBody>
      </p:sp>
      <p:sp>
        <p:nvSpPr>
          <p:cNvPr id="17" name="Rectangle 16"/>
          <p:cNvSpPr/>
          <p:nvPr/>
        </p:nvSpPr>
        <p:spPr>
          <a:xfrm>
            <a:off x="6971096" y="2620670"/>
            <a:ext cx="4504623"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099112" y="2702966"/>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current API; what controllers and kube-proxy consume</a:t>
            </a:r>
          </a:p>
        </p:txBody>
      </p:sp>
      <p:sp>
        <p:nvSpPr>
          <p:cNvPr id="19" name="Rectangle 18"/>
          <p:cNvSpPr/>
          <p:nvPr/>
        </p:nvSpPr>
        <p:spPr>
          <a:xfrm>
            <a:off x="777240" y="3080004"/>
            <a:ext cx="2111542"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Shape</a:t>
            </a:r>
          </a:p>
        </p:txBody>
      </p:sp>
      <p:sp>
        <p:nvSpPr>
          <p:cNvPr id="21" name="Rectangle 20"/>
          <p:cNvSpPr/>
          <p:nvPr/>
        </p:nvSpPr>
        <p:spPr>
          <a:xfrm>
            <a:off x="2888782" y="3080004"/>
            <a:ext cx="4082314"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016798" y="3162299"/>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object holding every address for a Service</a:t>
            </a:r>
          </a:p>
        </p:txBody>
      </p:sp>
      <p:sp>
        <p:nvSpPr>
          <p:cNvPr id="23" name="Rectangle 22"/>
          <p:cNvSpPr/>
          <p:nvPr/>
        </p:nvSpPr>
        <p:spPr>
          <a:xfrm>
            <a:off x="6971096" y="3080004"/>
            <a:ext cx="4504623"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099112" y="3162299"/>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Many slices per Service, each capped at a configured size</a:t>
            </a:r>
          </a:p>
        </p:txBody>
      </p:sp>
      <p:sp>
        <p:nvSpPr>
          <p:cNvPr id="25" name="Rectangle 24"/>
          <p:cNvSpPr/>
          <p:nvPr/>
        </p:nvSpPr>
        <p:spPr>
          <a:xfrm>
            <a:off x="777240" y="3539337"/>
            <a:ext cx="2111542"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Scale behaviour</a:t>
            </a:r>
          </a:p>
        </p:txBody>
      </p:sp>
      <p:sp>
        <p:nvSpPr>
          <p:cNvPr id="27" name="Rectangle 26"/>
          <p:cNvSpPr/>
          <p:nvPr/>
        </p:nvSpPr>
        <p:spPr>
          <a:xfrm>
            <a:off x="2888782" y="3539337"/>
            <a:ext cx="4082314"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016798" y="3621633"/>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single large object rewritten on every Pod change</a:t>
            </a:r>
          </a:p>
        </p:txBody>
      </p:sp>
      <p:sp>
        <p:nvSpPr>
          <p:cNvPr id="29" name="Rectangle 28"/>
          <p:cNvSpPr/>
          <p:nvPr/>
        </p:nvSpPr>
        <p:spPr>
          <a:xfrm>
            <a:off x="6971096" y="3539337"/>
            <a:ext cx="4504623"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099112" y="3621633"/>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Only the affected slice is rewritten — far less watch churn</a:t>
            </a:r>
          </a:p>
        </p:txBody>
      </p:sp>
      <p:sp>
        <p:nvSpPr>
          <p:cNvPr id="31" name="Rectangle 30"/>
          <p:cNvSpPr/>
          <p:nvPr/>
        </p:nvSpPr>
        <p:spPr>
          <a:xfrm>
            <a:off x="777240" y="3998671"/>
            <a:ext cx="2111542"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Per-endpoint state</a:t>
            </a:r>
          </a:p>
        </p:txBody>
      </p:sp>
      <p:sp>
        <p:nvSpPr>
          <p:cNvPr id="33" name="Rectangle 32"/>
          <p:cNvSpPr/>
          <p:nvPr/>
        </p:nvSpPr>
        <p:spPr>
          <a:xfrm>
            <a:off x="2888782" y="3998671"/>
            <a:ext cx="4082314"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016798" y="4080967"/>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ready only, implied by the subset list</a:t>
            </a:r>
          </a:p>
        </p:txBody>
      </p:sp>
      <p:sp>
        <p:nvSpPr>
          <p:cNvPr id="35" name="Rectangle 34"/>
          <p:cNvSpPr/>
          <p:nvPr/>
        </p:nvSpPr>
        <p:spPr>
          <a:xfrm>
            <a:off x="6971096" y="3998671"/>
            <a:ext cx="4504623"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099112" y="4080967"/>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conditions.ready, .serving and .terminating</a:t>
            </a:r>
          </a:p>
        </p:txBody>
      </p:sp>
      <p:sp>
        <p:nvSpPr>
          <p:cNvPr id="37" name="Rectangle 36"/>
          <p:cNvSpPr/>
          <p:nvPr/>
        </p:nvSpPr>
        <p:spPr>
          <a:xfrm>
            <a:off x="777240" y="4458004"/>
            <a:ext cx="2111542"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Topology and dual-stack</a:t>
            </a:r>
          </a:p>
        </p:txBody>
      </p:sp>
      <p:sp>
        <p:nvSpPr>
          <p:cNvPr id="39" name="Rectangle 38"/>
          <p:cNvSpPr/>
          <p:nvPr/>
        </p:nvSpPr>
        <p:spPr>
          <a:xfrm>
            <a:off x="2888782" y="4458004"/>
            <a:ext cx="4082314"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016798" y="4540300"/>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address family split; limited topology data</a:t>
            </a:r>
          </a:p>
        </p:txBody>
      </p:sp>
      <p:sp>
        <p:nvSpPr>
          <p:cNvPr id="41" name="Rectangle 40"/>
          <p:cNvSpPr/>
          <p:nvPr/>
        </p:nvSpPr>
        <p:spPr>
          <a:xfrm>
            <a:off x="6971096" y="4458004"/>
            <a:ext cx="4504623"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099112" y="4540300"/>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addressType per slice; zone and nodeName per endpoint</a:t>
            </a:r>
          </a:p>
        </p:txBody>
      </p:sp>
      <p:sp>
        <p:nvSpPr>
          <p:cNvPr id="43" name="Rectangle 42"/>
          <p:cNvSpPr/>
          <p:nvPr/>
        </p:nvSpPr>
        <p:spPr>
          <a:xfrm>
            <a:off x="777240" y="4917338"/>
            <a:ext cx="2111542"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1855510"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Command</a:t>
            </a:r>
          </a:p>
        </p:txBody>
      </p:sp>
      <p:sp>
        <p:nvSpPr>
          <p:cNvPr id="45" name="Rectangle 44"/>
          <p:cNvSpPr/>
          <p:nvPr/>
        </p:nvSpPr>
        <p:spPr>
          <a:xfrm>
            <a:off x="2888782" y="4917338"/>
            <a:ext cx="4082314"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3016798" y="4999634"/>
            <a:ext cx="3826282"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get endpoints — still prints, do not build on it</a:t>
            </a:r>
          </a:p>
        </p:txBody>
      </p:sp>
      <p:sp>
        <p:nvSpPr>
          <p:cNvPr id="47" name="Rectangle 46"/>
          <p:cNvSpPr/>
          <p:nvPr/>
        </p:nvSpPr>
        <p:spPr>
          <a:xfrm>
            <a:off x="6971096" y="4917338"/>
            <a:ext cx="4504623"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7099112" y="4999634"/>
            <a:ext cx="424859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get endpointslices — use this for diagnostics</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EndpointSlice for everything you write or debug; recognise Endpoints only as legacy you may inherit.</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kubernetes.io/docs/concepts/services-networking/endpoint-slices/ · Endpoints deprecation: kubernetes.io/blog/2025/04/24/endpoints-deprecation/</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257</a:t>
            </a:r>
          </a:p>
        </p:txBody>
      </p:sp>
    </p:spTree>
  </p:cSld>
  <p:clrMapOvr>
    <a:masterClrMapping/>
  </p:clrMapOvr>
  <p:transition xmlns:ns1="http://schemas.openxmlformats.org/markup-compatibility/2006" spd="fast" ns1:Ignorable="p14">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PACKET PATH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Client → ClusterIP → kube-proxy →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 proxy process is in this path. kube-proxy writes rules; the kernel does the work.</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CLIENT SIDE</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Application</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Opens a socket to quote-api:80 — a name, never an address</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 resolver</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/etc/resolv.conf sends the query to the cluster DNS VIP</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CoreDNS answer</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Returns the ClusterIP 10.96.114.23; the client now has a VIP</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NODE KERNEL (KUBE-PROXY'S RULES)</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Netfilter hook</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packet to 10.96.114.23:80 is matched before it can be routed</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Backend chosen</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ready endpoint is selected from the EndpointSlice-derived rule set</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DNAT applied</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Destination rewritten to 10.244.0.15:8080; conntrack pins the flow</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POD SIDE</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CNI data path</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Overlay or route delivers the packet to the target node and veth</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 listens</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process is bound to 8080 and sees the client's real Pod IP</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Reply un-DNATs</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conntrack rewrites the source back to the VIP so the client is satisfied</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Load balancing happens once, at connection setup, in the client's own kernel. There is no central bottleneck — and no L7 awareness anywhere in this path.</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kubernetes.io/docs/reference/networking/virtual-ips/ (Service virtual IPs and kube-proxy modes)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258</a:t>
            </a:r>
          </a:p>
        </p:txBody>
      </p:sp>
    </p:spTree>
  </p:cSld>
  <p:clrMapOvr>
    <a:masterClrMapping/>
  </p:clrMapOvr>
  <p:transition xmlns:ns1="http://schemas.openxmlformats.org/markup-compatibility/2006" spd="fast" ns1:Ignorable="p14">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IMPLEMENTATION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kube-proxy modes — same API, different kernel machinery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Nothing in your Service manifest changes across these modes. Only the failure signatures and the scaling behaviour change.</a:t>
            </a:r>
          </a:p>
        </p:txBody>
      </p:sp>
      <p:sp>
        <p:nvSpPr>
          <p:cNvPr id="7" name="Rectangle 6"/>
          <p:cNvSpPr/>
          <p:nvPr/>
        </p:nvSpPr>
        <p:spPr>
          <a:xfrm>
            <a:off x="777240" y="2208885"/>
            <a:ext cx="2062357"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180632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Mode</a:t>
            </a:r>
          </a:p>
        </p:txBody>
      </p:sp>
      <p:sp>
        <p:nvSpPr>
          <p:cNvPr id="9" name="Rectangle 8"/>
          <p:cNvSpPr/>
          <p:nvPr/>
        </p:nvSpPr>
        <p:spPr>
          <a:xfrm>
            <a:off x="2839597" y="2208885"/>
            <a:ext cx="3995817"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67613" y="2309469"/>
            <a:ext cx="373978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How the VIP is realised</a:t>
            </a:r>
          </a:p>
        </p:txBody>
      </p:sp>
      <p:sp>
        <p:nvSpPr>
          <p:cNvPr id="11" name="Rectangle 10"/>
          <p:cNvSpPr/>
          <p:nvPr/>
        </p:nvSpPr>
        <p:spPr>
          <a:xfrm>
            <a:off x="6835415" y="2208885"/>
            <a:ext cx="4640304"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963431" y="2309469"/>
            <a:ext cx="438427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Practical character</a:t>
            </a:r>
          </a:p>
        </p:txBody>
      </p:sp>
      <p:sp>
        <p:nvSpPr>
          <p:cNvPr id="13" name="Rectangle 12"/>
          <p:cNvSpPr/>
          <p:nvPr/>
        </p:nvSpPr>
        <p:spPr>
          <a:xfrm>
            <a:off x="777240" y="2629509"/>
            <a:ext cx="2062357" cy="549432"/>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11805"/>
            <a:ext cx="1806325"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iptables</a:t>
            </a:r>
          </a:p>
        </p:txBody>
      </p:sp>
      <p:sp>
        <p:nvSpPr>
          <p:cNvPr id="15" name="Rectangle 14"/>
          <p:cNvSpPr/>
          <p:nvPr/>
        </p:nvSpPr>
        <p:spPr>
          <a:xfrm>
            <a:off x="2839597" y="2629509"/>
            <a:ext cx="3995817"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2967613" y="2711805"/>
            <a:ext cx="373978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Chains of netfilter rules; a service chain per port and a rule per endpoint</a:t>
            </a:r>
          </a:p>
        </p:txBody>
      </p:sp>
      <p:sp>
        <p:nvSpPr>
          <p:cNvPr id="17" name="Rectangle 16"/>
          <p:cNvSpPr/>
          <p:nvPr/>
        </p:nvSpPr>
        <p:spPr>
          <a:xfrm>
            <a:off x="6835415" y="2629509"/>
            <a:ext cx="4640304"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6963431" y="2711805"/>
            <a:ext cx="4384272"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long-standing Linux default. Rule evaluation is sequential, so very large clusters feel it</a:t>
            </a:r>
          </a:p>
        </p:txBody>
      </p:sp>
      <p:sp>
        <p:nvSpPr>
          <p:cNvPr id="19" name="Rectangle 18"/>
          <p:cNvSpPr/>
          <p:nvPr/>
        </p:nvSpPr>
        <p:spPr>
          <a:xfrm>
            <a:off x="777240" y="3178942"/>
            <a:ext cx="2062357" cy="549432"/>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61238"/>
            <a:ext cx="1806325"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IPVS</a:t>
            </a:r>
          </a:p>
        </p:txBody>
      </p:sp>
      <p:sp>
        <p:nvSpPr>
          <p:cNvPr id="21" name="Rectangle 20"/>
          <p:cNvSpPr/>
          <p:nvPr/>
        </p:nvSpPr>
        <p:spPr>
          <a:xfrm>
            <a:off x="2839597" y="3178942"/>
            <a:ext cx="3995817" cy="549432"/>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2967613" y="3261238"/>
            <a:ext cx="373978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In-kernel L4 load balancer; a virtual server per Service port with real servers behind it</a:t>
            </a:r>
          </a:p>
        </p:txBody>
      </p:sp>
      <p:sp>
        <p:nvSpPr>
          <p:cNvPr id="23" name="Rectangle 22"/>
          <p:cNvSpPr/>
          <p:nvPr/>
        </p:nvSpPr>
        <p:spPr>
          <a:xfrm>
            <a:off x="6835415" y="3178942"/>
            <a:ext cx="4640304"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6963431" y="3261238"/>
            <a:ext cx="4384272"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Hash-table lookup instead of chain walking; offers scheduling algorithms such as rr, lc and sh</a:t>
            </a:r>
          </a:p>
        </p:txBody>
      </p:sp>
      <p:sp>
        <p:nvSpPr>
          <p:cNvPr id="25" name="Rectangle 24"/>
          <p:cNvSpPr/>
          <p:nvPr/>
        </p:nvSpPr>
        <p:spPr>
          <a:xfrm>
            <a:off x="777240" y="3728374"/>
            <a:ext cx="2062357" cy="549432"/>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10670"/>
            <a:ext cx="1806325"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nftables</a:t>
            </a:r>
          </a:p>
        </p:txBody>
      </p:sp>
      <p:sp>
        <p:nvSpPr>
          <p:cNvPr id="27" name="Rectangle 26"/>
          <p:cNvSpPr/>
          <p:nvPr/>
        </p:nvSpPr>
        <p:spPr>
          <a:xfrm>
            <a:off x="2839597" y="3728374"/>
            <a:ext cx="3995817" cy="549432"/>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2967613" y="3810670"/>
            <a:ext cx="373978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successor netfilter subsystem, using sets and maps rather than long rule chains</a:t>
            </a:r>
          </a:p>
        </p:txBody>
      </p:sp>
      <p:sp>
        <p:nvSpPr>
          <p:cNvPr id="29" name="Rectangle 28"/>
          <p:cNvSpPr/>
          <p:nvPr/>
        </p:nvSpPr>
        <p:spPr>
          <a:xfrm>
            <a:off x="6835415" y="3728374"/>
            <a:ext cx="4640304" cy="549432"/>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6963431" y="3810670"/>
            <a:ext cx="4384272"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Introduced as alpha in v1.29 and promoted through beta in v1.31 — confirm status against your cluster's release notes</a:t>
            </a:r>
          </a:p>
        </p:txBody>
      </p:sp>
      <p:sp>
        <p:nvSpPr>
          <p:cNvPr id="31" name="Rectangle 30"/>
          <p:cNvSpPr/>
          <p:nvPr/>
        </p:nvSpPr>
        <p:spPr>
          <a:xfrm>
            <a:off x="777240" y="4277807"/>
            <a:ext cx="2062357" cy="549432"/>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60103"/>
            <a:ext cx="1806325"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kernelspace (Windows)</a:t>
            </a:r>
          </a:p>
        </p:txBody>
      </p:sp>
      <p:sp>
        <p:nvSpPr>
          <p:cNvPr id="33" name="Rectangle 32"/>
          <p:cNvSpPr/>
          <p:nvPr/>
        </p:nvSpPr>
        <p:spPr>
          <a:xfrm>
            <a:off x="2839597" y="4277807"/>
            <a:ext cx="3995817" cy="549432"/>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2967613" y="4360103"/>
            <a:ext cx="373978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Windows Host Networking Service data path</a:t>
            </a:r>
          </a:p>
        </p:txBody>
      </p:sp>
      <p:sp>
        <p:nvSpPr>
          <p:cNvPr id="35" name="Rectangle 34"/>
          <p:cNvSpPr/>
          <p:nvPr/>
        </p:nvSpPr>
        <p:spPr>
          <a:xfrm>
            <a:off x="6835415" y="4277807"/>
            <a:ext cx="4640304" cy="549432"/>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6963431" y="4360103"/>
            <a:ext cx="4384272"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Windows equivalent; the Service API is identical</a:t>
            </a:r>
          </a:p>
        </p:txBody>
      </p:sp>
      <p:sp>
        <p:nvSpPr>
          <p:cNvPr id="37" name="Rectangle 36"/>
          <p:cNvSpPr/>
          <p:nvPr/>
        </p:nvSpPr>
        <p:spPr>
          <a:xfrm>
            <a:off x="777240" y="4827239"/>
            <a:ext cx="2062357"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9535"/>
            <a:ext cx="1806325"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No kube-proxy at all</a:t>
            </a:r>
          </a:p>
        </p:txBody>
      </p:sp>
      <p:sp>
        <p:nvSpPr>
          <p:cNvPr id="39" name="Rectangle 38"/>
          <p:cNvSpPr/>
          <p:nvPr/>
        </p:nvSpPr>
        <p:spPr>
          <a:xfrm>
            <a:off x="2839597" y="4827239"/>
            <a:ext cx="3995817" cy="549432"/>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2967613" y="4909535"/>
            <a:ext cx="3739785"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Some CNIs (for example Cilium in eBPF mode) replace it entirely</a:t>
            </a:r>
          </a:p>
        </p:txBody>
      </p:sp>
      <p:sp>
        <p:nvSpPr>
          <p:cNvPr id="41" name="Rectangle 40"/>
          <p:cNvSpPr/>
          <p:nvPr/>
        </p:nvSpPr>
        <p:spPr>
          <a:xfrm>
            <a:off x="6835415" y="4827239"/>
            <a:ext cx="4640304" cy="549432"/>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6963431" y="4909535"/>
            <a:ext cx="4384272"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Services still work; the rules live in eBPF programs instead of netfilter</a:t>
            </a:r>
          </a:p>
        </p:txBody>
      </p:sp>
      <p:sp>
        <p:nvSpPr>
          <p:cNvPr id="43" name="Rectangle 42"/>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Learn iptables mode as the reference model; recognise the others as the same contract, differently built.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kubernetes.io/docs/reference/networking/virtual-ips/ (Service virtual IPs and kube-proxy modes)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259</a:t>
            </a:r>
          </a:p>
        </p:txBody>
      </p:sp>
    </p:spTree>
  </p:cSld>
  <p:clrMapOvr>
    <a:masterClrMapping/>
  </p:clrMapOvr>
  <p:transition xmlns:ns1="http://schemas.openxmlformats.org/markup-compatibility/2006" spd="fast" ns1:Ignorable="p14">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Why the proxy mode stopped being an implementation detail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MODEL, not a measurement. Arithmetic only: one service chain plus one endpoint chain per backend, at four ready backends per Service.</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3"/>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Kernel objects installed per node</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formula, stated</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chains = Services × (1 service chain + 4 endpoint chains) = Services × 5. IPVS = one virtual server per Service port.</a:t>
            </a:r>
          </a:p>
        </p:txBody>
      </p:sp>
      <p:sp>
        <p:nvSpPr>
          <p:cNvPr id="14" name="Rectangle 13"/>
          <p:cNvSpPr/>
          <p:nvPr/>
        </p:nvSpPr>
        <p:spPr>
          <a:xfrm>
            <a:off x="7927848" y="3470856"/>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5256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500 Services → 2,500 chains</a:t>
            </a:r>
          </a:p>
        </p:txBody>
      </p:sp>
      <p:sp>
        <p:nvSpPr>
          <p:cNvPr id="16" name="TextBox 15"/>
          <p:cNvSpPr txBox="1"/>
          <p:nvPr/>
        </p:nvSpPr>
        <p:spPr>
          <a:xfrm>
            <a:off x="8092440" y="367202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Every node carries the whole set, because every node must be able to resolve every ClusterIP locally.</a:t>
            </a:r>
          </a:p>
        </p:txBody>
      </p:sp>
      <p:sp>
        <p:nvSpPr>
          <p:cNvPr id="17" name="Rectangle 16"/>
          <p:cNvSpPr/>
          <p:nvPr/>
        </p:nvSpPr>
        <p:spPr>
          <a:xfrm>
            <a:off x="7927848" y="4165800"/>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1475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Growth is linear, cost is not</a:t>
            </a:r>
          </a:p>
        </p:txBody>
      </p:sp>
      <p:sp>
        <p:nvSpPr>
          <p:cNvPr id="19" name="TextBox 18"/>
          <p:cNvSpPr txBox="1"/>
          <p:nvPr/>
        </p:nvSpPr>
        <p:spPr>
          <a:xfrm>
            <a:off x="8092440" y="43669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Sequential rule evaluation makes the cost of a linear structure non-linear in practice.</a:t>
            </a:r>
          </a:p>
        </p:txBody>
      </p:sp>
      <p:sp>
        <p:nvSpPr>
          <p:cNvPr id="20" name="Rectangle 19"/>
          <p:cNvSpPr/>
          <p:nvPr/>
        </p:nvSpPr>
        <p:spPr>
          <a:xfrm>
            <a:off x="7927848" y="4860744"/>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424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This is a model, not a benchmark</a:t>
            </a:r>
          </a:p>
        </p:txBody>
      </p:sp>
      <p:sp>
        <p:nvSpPr>
          <p:cNvPr id="22" name="TextBox 21"/>
          <p:cNvSpPr txBox="1"/>
          <p:nvPr/>
        </p:nvSpPr>
        <p:spPr>
          <a:xfrm>
            <a:off x="8092440" y="50619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shows the SHAPE of the problem that IPVS and nftables were built to solve. No latency is claimed here.</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kubernetes.io/docs/reference/networking/virtual-ips/ (Service virtual IPs and kube-proxy modes) (chain structure). Values are arithmetic from the stated model, not measured.</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260</a:t>
            </a:r>
          </a:p>
        </p:txBody>
      </p:sp>
    </p:spTree>
  </p:cSld>
  <p:clrMapOvr>
    <a:masterClrMapping/>
  </p:clrMapOvr>
  <p:transition xmlns:ns1="http://schemas.openxmlformats.org/markup-compatibility/2006" spd="fast" ns1:Ignorable="p14">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SELECTORS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500" b="1" i="0">
                <a:solidFill>
                  <a:srgbClr val="161B26"/>
                </a:solidFill>
                <a:latin typeface="Arial"/>
              </a:rPr>
              <a:t>Using selectors in a Service — five rules that prevent most incidents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selector is a live query evaluated continuously — not a membership list captured at creation time.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Equality-based only</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Service.spec.selector is a simple map of key: value, ANDed. No matchExpressions, no set-based operators.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Every key must match</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Two keys in the selector means a Pod needs both labels. Adding a key silently narrows the backend set.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An empty selector is legal</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Omit it entirely and no controller manages the endpoints — you supply them yourself for external backends.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Namespace-bound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selector only ever matches Pods in the Service's own namespace. There is no cross-namespace selection.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Readiness still applies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matched Pod that fails its readiness probe appears with conditions.ready false and receives no traffic.</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Verify it as a query</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get pods -l &lt;the exact selector&gt;` is the only honest test. Reading the YAML is not verification.</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261</a:t>
            </a:r>
          </a:p>
        </p:txBody>
      </p:sp>
    </p:spTree>
  </p:cSld>
  <p:clrMapOvr>
    <a:masterClrMapping/>
  </p:clrMapOvr>
  <p:transition xmlns:ns1="http://schemas.openxmlformats.org/markup-compatibility/2006" spd="fast" ns1:Ignorable="p14">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MISCONCEPTIONS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things a Service is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Each of these misconceptions produces a specific, recurring class of production surprise.</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Not a proxy process</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No pod, no daemon and no hop sits on the data path</a:t>
            </a:r>
          </a:p>
          <a:p>
            <a:pPr>
              <a:lnSpc>
                <a:spcPct val="112000"/>
              </a:lnSpc>
              <a:spcAft>
                <a:spcPts val="500"/>
              </a:spcAft>
            </a:pPr>
            <a:r>
              <a:rPr sz="1100">
                <a:solidFill>
                  <a:srgbClr val="94A3B8"/>
                </a:solidFill>
                <a:latin typeface="Arial"/>
              </a:rPr>
              <a:t>•  </a:t>
            </a:r>
            <a:r>
              <a:rPr sz="1100">
                <a:solidFill>
                  <a:srgbClr val="5B6372"/>
                </a:solidFill>
                <a:latin typeface="Arial"/>
              </a:rPr>
              <a:t>kube-proxy programs rules and then steps aside</a:t>
            </a:r>
          </a:p>
          <a:p>
            <a:pPr>
              <a:lnSpc>
                <a:spcPct val="112000"/>
              </a:lnSpc>
              <a:spcAft>
                <a:spcPts val="500"/>
              </a:spcAft>
            </a:pPr>
            <a:r>
              <a:rPr sz="1100">
                <a:solidFill>
                  <a:srgbClr val="94A3B8"/>
                </a:solidFill>
                <a:latin typeface="Arial"/>
              </a:rPr>
              <a:t>•  </a:t>
            </a:r>
            <a:r>
              <a:rPr sz="1100">
                <a:solidFill>
                  <a:srgbClr val="5B6372"/>
                </a:solidFill>
                <a:latin typeface="Arial"/>
              </a:rPr>
              <a:t>Killing kube-proxy does not kill existing connections</a:t>
            </a:r>
          </a:p>
          <a:p>
            <a:pPr>
              <a:lnSpc>
                <a:spcPct val="112000"/>
              </a:lnSpc>
              <a:spcAft>
                <a:spcPts val="500"/>
              </a:spcAft>
            </a:pPr>
            <a:r>
              <a:rPr sz="1100">
                <a:solidFill>
                  <a:srgbClr val="94A3B8"/>
                </a:solidFill>
                <a:latin typeface="Arial"/>
              </a:rPr>
              <a:t>•  </a:t>
            </a:r>
            <a:r>
              <a:rPr sz="1100">
                <a:solidFill>
                  <a:srgbClr val="5B6372"/>
                </a:solidFill>
                <a:latin typeface="Arial"/>
              </a:rPr>
              <a:t>It does stop NEW rules from being programmed</a:t>
            </a:r>
          </a:p>
        </p:txBody>
      </p:sp>
      <p:sp>
        <p:nvSpPr>
          <p:cNvPr id="11" name="Rounded Rectangle 10"/>
          <p:cNvSpPr/>
          <p:nvPr/>
        </p:nvSpPr>
        <p:spPr>
          <a:xfrm>
            <a:off x="1033271" y="5532120"/>
            <a:ext cx="1348739"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no data-plane hop</a:t>
            </a:r>
          </a:p>
        </p:txBody>
      </p:sp>
      <p:sp>
        <p:nvSpPr>
          <p:cNvPr id="12" name="Rectangle 11"/>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Not a layer-7 load balancer</a:t>
            </a:r>
          </a:p>
        </p:txBody>
      </p:sp>
      <p:sp>
        <p:nvSpPr>
          <p:cNvPr id="15" name="TextBox 14"/>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Balancing is per connection, at TCP/UDP/SCTP level</a:t>
            </a:r>
          </a:p>
          <a:p>
            <a:pPr>
              <a:lnSpc>
                <a:spcPct val="112000"/>
              </a:lnSpc>
              <a:spcAft>
                <a:spcPts val="500"/>
              </a:spcAft>
            </a:pPr>
            <a:r>
              <a:rPr sz="1100">
                <a:solidFill>
                  <a:srgbClr val="94A3B8"/>
                </a:solidFill>
                <a:latin typeface="Arial"/>
              </a:rPr>
              <a:t>•  </a:t>
            </a:r>
            <a:r>
              <a:rPr sz="1100">
                <a:solidFill>
                  <a:srgbClr val="5B6372"/>
                </a:solidFill>
                <a:latin typeface="Arial"/>
              </a:rPr>
              <a:t>One HTTP keepalive connection pins to one Pod</a:t>
            </a:r>
          </a:p>
          <a:p>
            <a:pPr>
              <a:lnSpc>
                <a:spcPct val="112000"/>
              </a:lnSpc>
              <a:spcAft>
                <a:spcPts val="500"/>
              </a:spcAft>
            </a:pPr>
            <a:r>
              <a:rPr sz="1100">
                <a:solidFill>
                  <a:srgbClr val="94A3B8"/>
                </a:solidFill>
                <a:latin typeface="Arial"/>
              </a:rPr>
              <a:t>•  </a:t>
            </a:r>
            <a:r>
              <a:rPr sz="1100">
                <a:solidFill>
                  <a:srgbClr val="5B6372"/>
                </a:solidFill>
                <a:latin typeface="Arial"/>
              </a:rPr>
              <a:t>No path routing, no host routing, no header awareness</a:t>
            </a:r>
          </a:p>
          <a:p>
            <a:pPr>
              <a:lnSpc>
                <a:spcPct val="112000"/>
              </a:lnSpc>
              <a:spcAft>
                <a:spcPts val="500"/>
              </a:spcAft>
            </a:pPr>
            <a:r>
              <a:rPr sz="1100">
                <a:solidFill>
                  <a:srgbClr val="94A3B8"/>
                </a:solidFill>
                <a:latin typeface="Arial"/>
              </a:rPr>
              <a:t>•  </a:t>
            </a:r>
            <a:r>
              <a:rPr sz="1100">
                <a:solidFill>
                  <a:srgbClr val="5B6372"/>
                </a:solidFill>
                <a:latin typeface="Arial"/>
              </a:rPr>
              <a:t>That is what Ingress, Gateway API or a mesh are for</a:t>
            </a:r>
          </a:p>
        </p:txBody>
      </p:sp>
      <p:sp>
        <p:nvSpPr>
          <p:cNvPr id="16" name="Rounded Rectangle 15"/>
          <p:cNvSpPr/>
          <p:nvPr/>
        </p:nvSpPr>
        <p:spPr>
          <a:xfrm>
            <a:off x="4739335" y="5532120"/>
            <a:ext cx="66294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L4 only</a:t>
            </a:r>
          </a:p>
        </p:txBody>
      </p:sp>
      <p:sp>
        <p:nvSpPr>
          <p:cNvPr id="17" name="Rectangle 16"/>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19" name="TextBox 18"/>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Not a security boundary</a:t>
            </a:r>
          </a:p>
        </p:txBody>
      </p:sp>
      <p:sp>
        <p:nvSpPr>
          <p:cNvPr id="20" name="TextBox 19"/>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ClusterIP is reachable from every Pod in the cluster</a:t>
            </a:r>
          </a:p>
          <a:p>
            <a:pPr>
              <a:lnSpc>
                <a:spcPct val="112000"/>
              </a:lnSpc>
              <a:spcAft>
                <a:spcPts val="500"/>
              </a:spcAft>
            </a:pPr>
            <a:r>
              <a:rPr sz="1100">
                <a:solidFill>
                  <a:srgbClr val="94A3B8"/>
                </a:solidFill>
                <a:latin typeface="Arial"/>
              </a:rPr>
              <a:t>•  </a:t>
            </a:r>
            <a:r>
              <a:rPr sz="1100">
                <a:solidFill>
                  <a:srgbClr val="5B6372"/>
                </a:solidFill>
                <a:latin typeface="Arial"/>
              </a:rPr>
              <a:t>Namespaces do not restrict who may dial the VIP</a:t>
            </a:r>
          </a:p>
          <a:p>
            <a:pPr>
              <a:lnSpc>
                <a:spcPct val="112000"/>
              </a:lnSpc>
              <a:spcAft>
                <a:spcPts val="500"/>
              </a:spcAft>
            </a:pPr>
            <a:r>
              <a:rPr sz="1100">
                <a:solidFill>
                  <a:srgbClr val="94A3B8"/>
                </a:solidFill>
                <a:latin typeface="Arial"/>
              </a:rPr>
              <a:t>•  </a:t>
            </a:r>
            <a:r>
              <a:rPr sz="1100">
                <a:solidFill>
                  <a:srgbClr val="5B6372"/>
                </a:solidFill>
                <a:latin typeface="Arial"/>
              </a:rPr>
              <a:t>Any Pod can also reach the backend Pod IPs directly</a:t>
            </a:r>
          </a:p>
          <a:p>
            <a:pPr>
              <a:lnSpc>
                <a:spcPct val="112000"/>
              </a:lnSpc>
              <a:spcAft>
                <a:spcPts val="500"/>
              </a:spcAft>
            </a:pPr>
            <a:r>
              <a:rPr sz="1100">
                <a:solidFill>
                  <a:srgbClr val="94A3B8"/>
                </a:solidFill>
                <a:latin typeface="Arial"/>
              </a:rPr>
              <a:t>•  </a:t>
            </a:r>
            <a:r>
              <a:rPr sz="1100">
                <a:solidFill>
                  <a:srgbClr val="5B6372"/>
                </a:solidFill>
                <a:latin typeface="Arial"/>
              </a:rPr>
              <a:t>NetworkPolicy is the control — and needs an enforcing CNI</a:t>
            </a:r>
          </a:p>
        </p:txBody>
      </p:sp>
      <p:sp>
        <p:nvSpPr>
          <p:cNvPr id="21" name="Rounded Rectangle 20"/>
          <p:cNvSpPr/>
          <p:nvPr/>
        </p:nvSpPr>
        <p:spPr>
          <a:xfrm>
            <a:off x="8445398" y="5532120"/>
            <a:ext cx="10744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not isolation</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kubernetes.io/docs/reference/networking/virtual-ips/ (Service virtual IPs and kube-proxy modes)</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262</a:t>
            </a:r>
          </a:p>
        </p:txBody>
      </p:sp>
    </p:spTree>
  </p:cSld>
  <p:clrMapOvr>
    <a:masterClrMapping/>
  </p:clrMapOvr>
  <p:transition xmlns:ns1="http://schemas.openxmlformats.org/markup-compatibility/2006" spd="fast" ns1:Ignorable="p14">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BEYOND THE SELECTOR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Services that deliberately have no selector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registered outline says 'creating Services and Endpoints'. This is where you genuinely create endpoints yourself.</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Omit the selector entirely</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 controller manages the backends. The Service exists, has a ClusterIP, and waits for you to supply endpoints.</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You author the EndpointSlice</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hand-written discovery.k8s.io/v1 slice labelled kubernetes.io/service-name gives the Service its backends.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Use case: an external database</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In-cluster clients dial a normal Service name; the addresses point at a machine outside the cluster.</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Use case: a migration seam</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Point the name at the old system, then swap the addresses for Pods without any client changing a line.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ExternalName is the DNS-only alternative</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publishes a CNAME instead. No VIP, no endpoints, no kube-proxy involvement at all.</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Know the trade-off</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CNAME hands the client the external name; manual endpoints keep the indirection inside the cluster.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kubernetes.io/docs/concepts/services-networking/endpoint-slices/ · Endpoints deprecation: kubernetes.io/blog/2025/04/24/endpoints-deprecation/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263</a:t>
            </a:r>
          </a:p>
        </p:txBody>
      </p:sp>
    </p:spTree>
  </p:cSld>
  <p:clrMapOvr>
    <a:masterClrMapping/>
  </p:clrMapOvr>
  <p:transition xmlns:ns1="http://schemas.openxmlformats.org/markup-compatibility/2006" spd="fast" ns1:Ignorable="p14">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questions that localise any connectivity fault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Localise before you fix. Four questions cover essentially every Service connectivity ticket.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Does the NAME resolve?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not, the problem is DNS, the namespace or the Service object. Nothing downstream matters yet.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Does the SERVICE have backends?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get endpointslices. Empty means the selector matched nothing or no Pod is Ready.</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Do the SELECTOR and PORT agree?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Re-run the selector as a label query, and compare targetPort with the container's actual port.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Is something BLOCKING it?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NetworkPolicy on either end, or a mesh authorization rule. Check both directions under default-deny.</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signature tells you where you are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Refused immediately: usually no endpoints. Timeout: often policy, routing or a wrong port.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Resolve before you speculate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question has a command that answers it definitively. None of them requires guessing.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kubernetes.io/docs/concepts/services-networking/network-policies/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264</a:t>
            </a:r>
          </a:p>
        </p:txBody>
      </p:sp>
    </p:spTree>
  </p:cSld>
  <p:clrMapOvr>
    <a:masterClrMapping/>
  </p:clrMapOvr>
  <p:transition xmlns:ns1="http://schemas.openxmlformats.org/markup-compatibility/2006" spd="fast" ns1:Ignorable="p14">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CLUSTER DNS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Pod turns a Service name into an address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Cluster DNS is itself a Service behind a ClusterIP — DNS resolution depends on kube-proxy working first.</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Pod gets a resolver</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kubelet writes /etc/resolv.conf into the Pod from the cluster DNS config, per dnsPolicy.</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Query leaves the Pod</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libc resolver sends the query to the cluster DNS ClusterIP — itself a Service, reached via kube-proxy.</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CoreDNS receives it</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CoreDNS Pods run in kube-system behind the Service named kube-dns, which is a legacy name, not a legacy implementation.</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kubernetes plugin answers</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CoreDNS watches Services and EndpointSlices through the API server and answers from that live cache.</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Client dials the VIP</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answer is a ClusterIP. The client never learns a Pod IP, so rescheduling is invisible to it.</a:t>
            </a:r>
          </a:p>
        </p:txBody>
      </p:sp>
      <p:sp>
        <p:nvSpPr>
          <p:cNvPr id="36" name="Rectangle 35"/>
          <p:cNvSpPr/>
          <p:nvPr/>
        </p:nvSpPr>
        <p:spPr>
          <a:xfrm>
            <a:off x="777240" y="482132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CoreDNS answers from a watch cache, not from etcd lookups per query. That is why a new Service is resolvable within moments of being created.</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kubernetes.io/docs/concepts/services-networking/dns-pod-service/</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265</a:t>
            </a:r>
          </a:p>
        </p:txBody>
      </p:sp>
    </p:spTree>
  </p:cSld>
  <p:clrMapOvr>
    <a:masterClrMapping/>
  </p:clrMapOvr>
  <p:transition xmlns:ns5="http://schemas.openxmlformats.org/markup-compatibility/2006" spd="fast" ns5:Ignorable="p14">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resolver config and one successful lookup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lines of resolv.conf explain almost every DNS question you will be asked.</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From inside kcna-lab11/dns-client</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exec -n kcna-lab11 dns-client -- cat /etc/resolv.conf</a:t>
            </a:r>
          </a:p>
          <a:p>
            <a:pPr>
              <a:lnSpc>
                <a:spcPts val="1476"/>
              </a:lnSpc>
              <a:spcAft>
                <a:spcPts val="0"/>
              </a:spcAft>
            </a:pPr>
            <a:r>
              <a:rPr sz="1000">
                <a:solidFill>
                  <a:srgbClr val="E6EDF3"/>
                </a:solidFill>
                <a:latin typeface="Consolas"/>
              </a:rPr>
              <a:t>search kcna-lab11.svc.cluster.local svc.cluster.local cluster.local</a:t>
            </a:r>
          </a:p>
          <a:p>
            <a:pPr>
              <a:lnSpc>
                <a:spcPts val="1476"/>
              </a:lnSpc>
              <a:spcAft>
                <a:spcPts val="0"/>
              </a:spcAft>
            </a:pPr>
            <a:r>
              <a:rPr sz="1000">
                <a:solidFill>
                  <a:srgbClr val="E6EDF3"/>
                </a:solidFill>
                <a:latin typeface="Consolas"/>
              </a:rPr>
              <a:t>nameserver 10.96.0.10</a:t>
            </a:r>
          </a:p>
          <a:p>
            <a:pPr>
              <a:lnSpc>
                <a:spcPts val="1476"/>
              </a:lnSpc>
              <a:spcAft>
                <a:spcPts val="0"/>
              </a:spcAft>
            </a:pPr>
            <a:r>
              <a:rPr sz="1000">
                <a:solidFill>
                  <a:srgbClr val="E6EDF3"/>
                </a:solidFill>
                <a:latin typeface="Consolas"/>
              </a:rPr>
              <a:t>options ndots:5</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exec -n kcna-lab11 dns-client -- \</a:t>
            </a:r>
          </a:p>
          <a:p>
            <a:pPr>
              <a:lnSpc>
                <a:spcPts val="1476"/>
              </a:lnSpc>
              <a:spcAft>
                <a:spcPts val="0"/>
              </a:spcAft>
            </a:pPr>
            <a:r>
              <a:rPr sz="1000">
                <a:solidFill>
                  <a:srgbClr val="E6EDF3"/>
                </a:solidFill>
                <a:latin typeface="Consolas"/>
              </a:rPr>
              <a:t>    nslookup quote-api.kcna-lab11.svc.cluster.local</a:t>
            </a:r>
          </a:p>
          <a:p>
            <a:pPr>
              <a:lnSpc>
                <a:spcPts val="1476"/>
              </a:lnSpc>
              <a:spcAft>
                <a:spcPts val="0"/>
              </a:spcAft>
            </a:pPr>
            <a:r>
              <a:rPr sz="1000">
                <a:solidFill>
                  <a:srgbClr val="E6EDF3"/>
                </a:solidFill>
                <a:latin typeface="Consolas"/>
              </a:rPr>
              <a:t>Server:    10.96.0.10</a:t>
            </a:r>
          </a:p>
          <a:p>
            <a:pPr>
              <a:lnSpc>
                <a:spcPts val="1476"/>
              </a:lnSpc>
              <a:spcAft>
                <a:spcPts val="0"/>
              </a:spcAft>
            </a:pPr>
            <a:r>
              <a:rPr sz="1000">
                <a:solidFill>
                  <a:srgbClr val="E6EDF3"/>
                </a:solidFill>
                <a:latin typeface="Consolas"/>
              </a:rPr>
              <a:t>Address:   10.96.0.10:53</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Name:      quote-api.kcna-lab11.svc.cluster.local</a:t>
            </a:r>
          </a:p>
          <a:p>
            <a:pPr>
              <a:lnSpc>
                <a:spcPts val="1476"/>
              </a:lnSpc>
              <a:spcAft>
                <a:spcPts val="0"/>
              </a:spcAft>
            </a:pPr>
            <a:r>
              <a:rPr sz="1000">
                <a:solidFill>
                  <a:srgbClr val="E6EDF3"/>
                </a:solidFill>
                <a:latin typeface="Consolas"/>
              </a:rPr>
              <a:t>Address:   10.96.114.23</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Wrong namespace — correctly does NOT resolve</a:t>
            </a:r>
          </a:p>
          <a:p>
            <a:pPr>
              <a:lnSpc>
                <a:spcPts val="1476"/>
              </a:lnSpc>
              <a:spcAft>
                <a:spcPts val="0"/>
              </a:spcAft>
            </a:pPr>
            <a:r>
              <a:rPr sz="1000">
                <a:solidFill>
                  <a:srgbClr val="E6EDF3"/>
                </a:solidFill>
                <a:latin typeface="Consolas"/>
              </a:rPr>
              <a:t>*** Can't find quote-api.default.svc.cluster.local: No answer</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Three search suffixes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Own namespace first, then svc.cluster.local, then cluster.local. Short names work because of line 1.</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10.96.0.10 is a Service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the kube-dns ClusterIP in kube-system — commonly the tenth address of the service CIDR.</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answer is a ClusterIP</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10.96.114.23 is a VIP. It will not answer ICMP, and that is not a fault.</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negative is correct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Service record exists only under its own namespace. This 'failure' is the API behaving exactly as specified.</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BusyBox nslookup caveat</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ignores the search list for names that already contain a dot, so partial names look broken under nslookup only.</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courseware/labs/lab-11-services-endpoints/verification/expected-output.md · kubernetes.io/docs/concepts/services-networking/dns-pod-service/</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266</a:t>
            </a:r>
          </a:p>
        </p:txBody>
      </p:sp>
    </p:spTree>
  </p:cSld>
  <p:clrMapOvr>
    <a:masterClrMapping/>
  </p:clrMapOvr>
  <p:transition xmlns:ns1="http://schemas.openxmlformats.org/markup-compatibility/2006" spd="fast" ns1:Ignorable="p14">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MODEL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cost of ndots:5, counted honestly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MODEL from the actual three-entry search list above. Counting A-record queries only; arithmetic is on the right.</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3"/>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DNS queries issued per resolution</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rule being applied</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Fewer dots than ndots (5) means the search list is tried FIRST, in order, before the name is tried as absolute.</a:t>
            </a:r>
          </a:p>
        </p:txBody>
      </p:sp>
      <p:sp>
        <p:nvSpPr>
          <p:cNvPr id="14" name="Rectangle 13"/>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in-cluster FQDN is the trap</a:t>
            </a:r>
          </a:p>
        </p:txBody>
      </p:sp>
      <p:sp>
        <p:nvSpPr>
          <p:cNvPr id="16" name="TextBox 15"/>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has 4 dots, so it is still 'partial'. Three suffixes are tried and fail before the correct name is used.</a:t>
            </a:r>
          </a:p>
        </p:txBody>
      </p:sp>
      <p:sp>
        <p:nvSpPr>
          <p:cNvPr id="17" name="Rectangle 16"/>
          <p:cNvSpPr/>
          <p:nvPr/>
        </p:nvSpPr>
        <p:spPr>
          <a:xfrm>
            <a:off x="7927848" y="40742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559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External names pay the same tax</a:t>
            </a:r>
          </a:p>
        </p:txBody>
      </p:sp>
      <p:sp>
        <p:nvSpPr>
          <p:cNvPr id="19" name="TextBox 18"/>
          <p:cNvSpPr txBox="1"/>
          <p:nvPr/>
        </p:nvSpPr>
        <p:spPr>
          <a:xfrm>
            <a:off x="8092440" y="42754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api.example.com has 2 dots: three wasted queries, then the answer. Multiply by A and AAAA and it is six wasted.</a:t>
            </a:r>
          </a:p>
        </p:txBody>
      </p:sp>
      <p:sp>
        <p:nvSpPr>
          <p:cNvPr id="20" name="Rectangle 19"/>
          <p:cNvSpPr/>
          <p:nvPr/>
        </p:nvSpPr>
        <p:spPr>
          <a:xfrm>
            <a:off x="7927848" y="47692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509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trailing dot ends it</a:t>
            </a:r>
          </a:p>
        </p:txBody>
      </p:sp>
      <p:sp>
        <p:nvSpPr>
          <p:cNvPr id="22" name="TextBox 21"/>
          <p:cNvSpPr txBox="1"/>
          <p:nvPr/>
        </p:nvSpPr>
        <p:spPr>
          <a:xfrm>
            <a:off x="8092440" y="49703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api.example.com. is absolute — one query, no search path. So is lowering ndots via dnsConfig.</a:t>
            </a:r>
          </a:p>
        </p:txBody>
      </p:sp>
      <p:sp>
        <p:nvSpPr>
          <p:cNvPr id="23" name="Rectangle 22"/>
          <p:cNvSpPr/>
          <p:nvPr/>
        </p:nvSpPr>
        <p:spPr>
          <a:xfrm>
            <a:off x="7927848" y="5464149"/>
            <a:ext cx="41148" cy="566928"/>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8092440" y="5445861"/>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Model, not measurement</a:t>
            </a:r>
          </a:p>
        </p:txBody>
      </p:sp>
      <p:sp>
        <p:nvSpPr>
          <p:cNvPr id="25" name="TextBox 24"/>
          <p:cNvSpPr txBox="1"/>
          <p:nvPr/>
        </p:nvSpPr>
        <p:spPr>
          <a:xfrm>
            <a:off x="8092440" y="5665317"/>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No latency or throughput figure is claimed. This is query counting from a documented resolver rule.</a:t>
            </a:r>
          </a:p>
        </p:txBody>
      </p:sp>
      <p:sp>
        <p:nvSpPr>
          <p:cNvPr id="26" name="TextBox 2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kubernetes.io/docs/concepts/services-networking/dns-pod-service/. Counts derived arithmetically from the lab's resolv.conf; not a measurement.</a:t>
            </a:r>
          </a:p>
        </p:txBody>
      </p:sp>
      <p:sp>
        <p:nvSpPr>
          <p:cNvPr id="27" name="TextBox 2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8" name="TextBox 2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9" name="TextBox 2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267</a:t>
            </a:r>
          </a:p>
        </p:txBody>
      </p:sp>
    </p:spTree>
  </p:cSld>
  <p:clrMapOvr>
    <a:masterClrMapping/>
  </p:clrMapOvr>
  <p:transition xmlns:ns1="http://schemas.openxmlformats.org/markup-compatibility/2006" spd="fast" ns1:Ignorable="p14">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DNS RECORDS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cluster DNS actually publishes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record shapes. Recognising which one a client needs answers most 'why can't it find the database' tickets.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Service A / AAAA</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&lt;svc&gt;.&lt;ns&gt;.svc.cluster.local resolves to the ClusterIP. One record, one address, regardless of backend count.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Headless Service A / AAAA</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With clusterIP: None the same name returns one record per ready Pod — the client load-balances itself.</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Per-Pod names in a headless set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&lt;pod-hostname&gt;.&lt;svc&gt;.&lt;ns&gt;.svc.cluster.local gives each Pod a stable name. StatefulSets depend on this.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SRV records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_&lt;port-name&gt;._&lt;proto&gt;.&lt;svc&gt;.&lt;ns&gt;.svc.cluster.local returns port and target — this is why named ports matter.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ExternalName CNAME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Service of type ExternalName publishes a CNAME to an outside host. No proxying, no VIP, no endpoints.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Pods are not named by default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 A records exist only for headless-Service members or when hostname/subdomain are set explicitly.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kubernetes.io/docs/concepts/services-networking/dns-pod-service/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268</a:t>
            </a:r>
          </a:p>
        </p:txBody>
      </p:sp>
    </p:spTree>
  </p:cSld>
  <p:clrMapOvr>
    <a:masterClrMapping/>
  </p:clrMapOvr>
  <p:transition xmlns:ns1="http://schemas.openxmlformats.org/markup-compatibility/2006" spd="fast" ns1:Ignorable="p14">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COMPARISON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ClusterIP DNS versus headless DNS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Headless is not a lesser Service. It is a deliberate choice to move load balancing to the client.</a:t>
            </a:r>
          </a:p>
        </p:txBody>
      </p:sp>
      <p:sp>
        <p:nvSpPr>
          <p:cNvPr id="7" name="Rectangle 6"/>
          <p:cNvSpPr/>
          <p:nvPr/>
        </p:nvSpPr>
        <p:spPr>
          <a:xfrm>
            <a:off x="777240" y="2200046"/>
            <a:ext cx="213969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883663"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2916936" y="2200046"/>
            <a:ext cx="4011929"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044952" y="2300630"/>
            <a:ext cx="375589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Normal ClusterIP Service</a:t>
            </a:r>
          </a:p>
        </p:txBody>
      </p:sp>
      <p:sp>
        <p:nvSpPr>
          <p:cNvPr id="11" name="Rectangle 10"/>
          <p:cNvSpPr/>
          <p:nvPr/>
        </p:nvSpPr>
        <p:spPr>
          <a:xfrm>
            <a:off x="6928865" y="2200046"/>
            <a:ext cx="4546853"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056881" y="2300630"/>
            <a:ext cx="429082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Headless (clusterIP: None)</a:t>
            </a:r>
          </a:p>
        </p:txBody>
      </p:sp>
      <p:sp>
        <p:nvSpPr>
          <p:cNvPr id="13" name="Rectangle 12"/>
          <p:cNvSpPr/>
          <p:nvPr/>
        </p:nvSpPr>
        <p:spPr>
          <a:xfrm>
            <a:off x="777240" y="2620670"/>
            <a:ext cx="2139696"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DNS answer</a:t>
            </a:r>
          </a:p>
        </p:txBody>
      </p:sp>
      <p:sp>
        <p:nvSpPr>
          <p:cNvPr id="15" name="Rectangle 14"/>
          <p:cNvSpPr/>
          <p:nvPr/>
        </p:nvSpPr>
        <p:spPr>
          <a:xfrm>
            <a:off x="2916936" y="2620670"/>
            <a:ext cx="4011929"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044952" y="2702966"/>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A record — the virtual IP</a:t>
            </a:r>
          </a:p>
        </p:txBody>
      </p:sp>
      <p:sp>
        <p:nvSpPr>
          <p:cNvPr id="17" name="Rectangle 16"/>
          <p:cNvSpPr/>
          <p:nvPr/>
        </p:nvSpPr>
        <p:spPr>
          <a:xfrm>
            <a:off x="6928865" y="2620670"/>
            <a:ext cx="4546853"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056881" y="2702966"/>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A record per READY endpoint, returned as a set</a:t>
            </a:r>
          </a:p>
        </p:txBody>
      </p:sp>
      <p:sp>
        <p:nvSpPr>
          <p:cNvPr id="19" name="Rectangle 18"/>
          <p:cNvSpPr/>
          <p:nvPr/>
        </p:nvSpPr>
        <p:spPr>
          <a:xfrm>
            <a:off x="777240" y="3080004"/>
            <a:ext cx="2139696"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Load balancing</a:t>
            </a:r>
          </a:p>
        </p:txBody>
      </p:sp>
      <p:sp>
        <p:nvSpPr>
          <p:cNvPr id="21" name="Rectangle 20"/>
          <p:cNvSpPr/>
          <p:nvPr/>
        </p:nvSpPr>
        <p:spPr>
          <a:xfrm>
            <a:off x="2916936" y="3080004"/>
            <a:ext cx="4011929"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044952" y="3162299"/>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Kernel DNAT chooses a backend per connection</a:t>
            </a:r>
          </a:p>
        </p:txBody>
      </p:sp>
      <p:sp>
        <p:nvSpPr>
          <p:cNvPr id="23" name="Rectangle 22"/>
          <p:cNvSpPr/>
          <p:nvPr/>
        </p:nvSpPr>
        <p:spPr>
          <a:xfrm>
            <a:off x="6928865" y="3080004"/>
            <a:ext cx="4546853"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056881" y="3162299"/>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client chooses; DNS just hands over the list</a:t>
            </a:r>
          </a:p>
        </p:txBody>
      </p:sp>
      <p:sp>
        <p:nvSpPr>
          <p:cNvPr id="25" name="Rectangle 24"/>
          <p:cNvSpPr/>
          <p:nvPr/>
        </p:nvSpPr>
        <p:spPr>
          <a:xfrm>
            <a:off x="777240" y="3539337"/>
            <a:ext cx="2139696"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kube-proxy involvement</a:t>
            </a:r>
          </a:p>
        </p:txBody>
      </p:sp>
      <p:sp>
        <p:nvSpPr>
          <p:cNvPr id="27" name="Rectangle 26"/>
          <p:cNvSpPr/>
          <p:nvPr/>
        </p:nvSpPr>
        <p:spPr>
          <a:xfrm>
            <a:off x="2916936" y="3539337"/>
            <a:ext cx="4011929"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044952" y="3621633"/>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Programs rules for the VIP</a:t>
            </a:r>
          </a:p>
        </p:txBody>
      </p:sp>
      <p:sp>
        <p:nvSpPr>
          <p:cNvPr id="29" name="Rectangle 28"/>
          <p:cNvSpPr/>
          <p:nvPr/>
        </p:nvSpPr>
        <p:spPr>
          <a:xfrm>
            <a:off x="6928865" y="3539337"/>
            <a:ext cx="4546853"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056881" y="3621633"/>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 there is no VIP to program</a:t>
            </a:r>
          </a:p>
        </p:txBody>
      </p:sp>
      <p:sp>
        <p:nvSpPr>
          <p:cNvPr id="31" name="Rectangle 30"/>
          <p:cNvSpPr/>
          <p:nvPr/>
        </p:nvSpPr>
        <p:spPr>
          <a:xfrm>
            <a:off x="777240" y="3998671"/>
            <a:ext cx="2139696"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Per-Pod addressing</a:t>
            </a:r>
          </a:p>
        </p:txBody>
      </p:sp>
      <p:sp>
        <p:nvSpPr>
          <p:cNvPr id="33" name="Rectangle 32"/>
          <p:cNvSpPr/>
          <p:nvPr/>
        </p:nvSpPr>
        <p:spPr>
          <a:xfrm>
            <a:off x="2916936" y="3998671"/>
            <a:ext cx="4011929"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044952" y="4080967"/>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 available through this Service</a:t>
            </a:r>
          </a:p>
        </p:txBody>
      </p:sp>
      <p:sp>
        <p:nvSpPr>
          <p:cNvPr id="35" name="Rectangle 34"/>
          <p:cNvSpPr/>
          <p:nvPr/>
        </p:nvSpPr>
        <p:spPr>
          <a:xfrm>
            <a:off x="6928865" y="3998671"/>
            <a:ext cx="4546853"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056881" y="4080967"/>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&lt;pod&gt;.&lt;svc&gt;.&lt;ns&gt;.svc.cluster.local for each member</a:t>
            </a:r>
          </a:p>
        </p:txBody>
      </p:sp>
      <p:sp>
        <p:nvSpPr>
          <p:cNvPr id="37" name="Rectangle 36"/>
          <p:cNvSpPr/>
          <p:nvPr/>
        </p:nvSpPr>
        <p:spPr>
          <a:xfrm>
            <a:off x="777240" y="4458004"/>
            <a:ext cx="2139696"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Typical use</a:t>
            </a:r>
          </a:p>
        </p:txBody>
      </p:sp>
      <p:sp>
        <p:nvSpPr>
          <p:cNvPr id="39" name="Rectangle 38"/>
          <p:cNvSpPr/>
          <p:nvPr/>
        </p:nvSpPr>
        <p:spPr>
          <a:xfrm>
            <a:off x="2916936" y="4458004"/>
            <a:ext cx="4011929"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044952" y="4540300"/>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Stateless HTTP and gRPC backends</a:t>
            </a:r>
          </a:p>
        </p:txBody>
      </p:sp>
      <p:sp>
        <p:nvSpPr>
          <p:cNvPr id="41" name="Rectangle 40"/>
          <p:cNvSpPr/>
          <p:nvPr/>
        </p:nvSpPr>
        <p:spPr>
          <a:xfrm>
            <a:off x="6928865" y="4458004"/>
            <a:ext cx="4546853"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056881" y="4540300"/>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StatefulSets, clustered databases, client-side balancing</a:t>
            </a:r>
          </a:p>
        </p:txBody>
      </p:sp>
      <p:sp>
        <p:nvSpPr>
          <p:cNvPr id="43" name="Rectangle 42"/>
          <p:cNvSpPr/>
          <p:nvPr/>
        </p:nvSpPr>
        <p:spPr>
          <a:xfrm>
            <a:off x="777240" y="4917338"/>
            <a:ext cx="2139696"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1883663"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signature</a:t>
            </a:r>
          </a:p>
        </p:txBody>
      </p:sp>
      <p:sp>
        <p:nvSpPr>
          <p:cNvPr id="45" name="Rectangle 44"/>
          <p:cNvSpPr/>
          <p:nvPr/>
        </p:nvSpPr>
        <p:spPr>
          <a:xfrm>
            <a:off x="2916936" y="4917338"/>
            <a:ext cx="4011929"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3044952" y="4999634"/>
            <a:ext cx="375589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Refused or timed out at the VIP when the backend set is empty</a:t>
            </a:r>
          </a:p>
        </p:txBody>
      </p:sp>
      <p:sp>
        <p:nvSpPr>
          <p:cNvPr id="47" name="Rectangle 46"/>
          <p:cNvSpPr/>
          <p:nvPr/>
        </p:nvSpPr>
        <p:spPr>
          <a:xfrm>
            <a:off x="6928865" y="4917338"/>
            <a:ext cx="4546853"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7056881" y="4999634"/>
            <a:ext cx="429082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NXDOMAIN or an empty answer — the name itself goes away</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Headless when identity matters (Day 4 StatefulSets); ClusterIP when only the name matters.</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kubernetes.io/docs/concepts/services-networking/dns-pod-service/ · kubernetes.io/docs/concepts/services-networking/service/</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269</a:t>
            </a:r>
          </a:p>
        </p:txBody>
      </p:sp>
    </p:spTree>
  </p:cSld>
  <p:clrMapOvr>
    <a:masterClrMapping/>
  </p:clrMapOvr>
  <p:transition xmlns:ns1="http://schemas.openxmlformats.org/markup-compatibility/2006" spd="fast" ns1:Ignorable="p14">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headless Service, and what changes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field removes the virtual IP and changes what DNS returns — nothing else in the object changes.</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50-service-headless.yaml (Lab 12)</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Service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booking-edge-headless</a:t>
            </a:r>
          </a:p>
          <a:p>
            <a:pPr>
              <a:lnSpc>
                <a:spcPts val="1476"/>
              </a:lnSpc>
              <a:spcAft>
                <a:spcPts val="0"/>
              </a:spcAft>
            </a:pPr>
            <a:r>
              <a:rPr sz="1050">
                <a:solidFill>
                  <a:srgbClr val="E6EDF3"/>
                </a:solidFill>
                <a:latin typeface="Consolas"/>
              </a:rPr>
              <a:t>  namespace: kcna-lab12</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clusterIP: None          # the whole point</a:t>
            </a:r>
          </a:p>
          <a:p>
            <a:pPr>
              <a:lnSpc>
                <a:spcPts val="1476"/>
              </a:lnSpc>
              <a:spcAft>
                <a:spcPts val="0"/>
              </a:spcAft>
            </a:pPr>
            <a:r>
              <a:rPr sz="1050">
                <a:solidFill>
                  <a:srgbClr val="E6EDF3"/>
                </a:solidFill>
                <a:latin typeface="Consolas"/>
              </a:rPr>
              <a:t>  selector:</a:t>
            </a:r>
          </a:p>
          <a:p>
            <a:pPr>
              <a:lnSpc>
                <a:spcPts val="1476"/>
              </a:lnSpc>
              <a:spcAft>
                <a:spcPts val="0"/>
              </a:spcAft>
            </a:pPr>
            <a:r>
              <a:rPr sz="1050">
                <a:solidFill>
                  <a:srgbClr val="E6EDF3"/>
                </a:solidFill>
                <a:latin typeface="Consolas"/>
              </a:rPr>
              <a:t>    app: booking-edge</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port: 80</a:t>
            </a:r>
          </a:p>
          <a:p>
            <a:pPr>
              <a:lnSpc>
                <a:spcPts val="1476"/>
              </a:lnSpc>
              <a:spcAft>
                <a:spcPts val="0"/>
              </a:spcAft>
            </a:pPr>
            <a:r>
              <a:rPr sz="1050">
                <a:solidFill>
                  <a:srgbClr val="E6EDF3"/>
                </a:solidFill>
                <a:latin typeface="Consolas"/>
              </a:rPr>
              <a:t>      targetPort: 5678</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Result</a:t>
            </a:r>
          </a:p>
          <a:p>
            <a:pPr>
              <a:lnSpc>
                <a:spcPts val="1476"/>
              </a:lnSpc>
              <a:spcAft>
                <a:spcPts val="0"/>
              </a:spcAft>
            </a:pPr>
            <a:r>
              <a:rPr sz="1050">
                <a:solidFill>
                  <a:srgbClr val="7D8A99"/>
                </a:solidFill>
                <a:latin typeface="Consolas"/>
              </a:rPr>
              <a:t>#   CLUSTER-IP column shows  None</a:t>
            </a:r>
          </a:p>
          <a:p>
            <a:pPr>
              <a:lnSpc>
                <a:spcPts val="1476"/>
              </a:lnSpc>
              <a:spcAft>
                <a:spcPts val="0"/>
              </a:spcAft>
            </a:pPr>
            <a:r>
              <a:rPr sz="1050">
                <a:solidFill>
                  <a:srgbClr val="7D8A99"/>
                </a:solidFill>
                <a:latin typeface="Consolas"/>
              </a:rPr>
              <a:t>#   No nodePort is allocated</a:t>
            </a:r>
          </a:p>
          <a:p>
            <a:pPr>
              <a:lnSpc>
                <a:spcPts val="1476"/>
              </a:lnSpc>
              <a:spcAft>
                <a:spcPts val="0"/>
              </a:spcAft>
            </a:pPr>
            <a:r>
              <a:rPr sz="1050">
                <a:solidFill>
                  <a:srgbClr val="7D8A99"/>
                </a:solidFill>
                <a:latin typeface="Consolas"/>
              </a:rPr>
              <a:t>#   EndpointSlice is still produced normally</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clusterIP: None is not empty</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an explicit literal. Leaving the field out means 'allocate one for me' — the opposite instruction.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Still a Service, still selected</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selector and the EndpointSlice controller behave exactly as before. Only the VIP disappears.</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port still matters</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reported in SRV records and used by clients that ask DNS for the port, even with no DNAT.</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Immutable after creation</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cannot toggle a Service between headless and ClusterIP; you replace the object.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courseware/labs/lab-12-service-types-nodeport-lb/verification/expected-output.md · kubernetes.io/docs/concepts/services-networking/service/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270</a:t>
            </a:r>
          </a:p>
        </p:txBody>
      </p:sp>
    </p:spTree>
  </p:cSld>
  <p:clrMapOvr>
    <a:masterClrMapping/>
  </p:clrMapOvr>
  <p:transition xmlns:ns1="http://schemas.openxmlformats.org/markup-compatibility/2006" spd="fast" ns1:Ignorable="p14">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DNS resolves, the connection is refused — the classic</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Name resolution succeeding proves the Service object exists. It proves nothing about backends.</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one-character selector typo. The Service is healthy, the name resolves, and every request fails instantly.</a:t>
            </a:r>
          </a:p>
        </p:txBody>
      </p:sp>
      <p:sp>
        <p:nvSpPr>
          <p:cNvPr id="11" name="Rectangle 10"/>
          <p:cNvSpPr/>
          <p:nvPr/>
        </p:nvSpPr>
        <p:spPr>
          <a:xfrm>
            <a:off x="777240" y="2913278"/>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exec -n kcna-lab11 dns-client -- \</a:t>
            </a:r>
          </a:p>
          <a:p>
            <a:pPr>
              <a:lnSpc>
                <a:spcPts val="1476"/>
              </a:lnSpc>
              <a:spcAft>
                <a:spcPts val="0"/>
              </a:spcAft>
            </a:pPr>
            <a:r>
              <a:rPr sz="950">
                <a:solidFill>
                  <a:srgbClr val="E6EDF3"/>
                </a:solidFill>
                <a:latin typeface="Consolas"/>
              </a:rPr>
              <a:t>    wget -qO- http://quote-api-broken</a:t>
            </a:r>
          </a:p>
          <a:p>
            <a:pPr>
              <a:lnSpc>
                <a:spcPts val="1476"/>
              </a:lnSpc>
              <a:spcAft>
                <a:spcPts val="0"/>
              </a:spcAft>
            </a:pPr>
            <a:r>
              <a:rPr sz="950">
                <a:solidFill>
                  <a:srgbClr val="E6EDF3"/>
                </a:solidFill>
                <a:latin typeface="Consolas"/>
              </a:rPr>
              <a:t>wget: can't connect to remote host (10.96.203.77): Connection refused</a:t>
            </a:r>
          </a:p>
          <a:p>
            <a:pPr>
              <a:lnSpc>
                <a:spcPts val="1476"/>
              </a:lnSpc>
              <a:spcAft>
                <a:spcPts val="0"/>
              </a:spcAft>
            </a:pPr>
            <a:r>
              <a:rPr sz="950">
                <a:solidFill>
                  <a:srgbClr val="E6EDF3"/>
                </a:solidFill>
                <a:latin typeface="Consolas"/>
              </a:rPr>
              <a:t>command terminated with exit code 1</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describe service quote-api-broken -n kcna-lab11</a:t>
            </a:r>
          </a:p>
          <a:p>
            <a:pPr>
              <a:lnSpc>
                <a:spcPts val="1476"/>
              </a:lnSpc>
              <a:spcAft>
                <a:spcPts val="0"/>
              </a:spcAft>
            </a:pPr>
            <a:r>
              <a:rPr sz="950">
                <a:solidFill>
                  <a:srgbClr val="E6EDF3"/>
                </a:solidFill>
                <a:latin typeface="Consolas"/>
              </a:rPr>
              <a:t>Selector:   app=quote-apis</a:t>
            </a:r>
          </a:p>
          <a:p>
            <a:pPr>
              <a:lnSpc>
                <a:spcPts val="1476"/>
              </a:lnSpc>
              <a:spcAft>
                <a:spcPts val="0"/>
              </a:spcAft>
            </a:pPr>
            <a:r>
              <a:rPr sz="950">
                <a:solidFill>
                  <a:srgbClr val="E6EDF3"/>
                </a:solidFill>
                <a:latin typeface="Consolas"/>
              </a:rPr>
              <a:t>Endpoints: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pods -n kcna-lab11 -l app=quote-apis</a:t>
            </a:r>
          </a:p>
          <a:p>
            <a:pPr>
              <a:lnSpc>
                <a:spcPts val="1476"/>
              </a:lnSpc>
              <a:spcAft>
                <a:spcPts val="0"/>
              </a:spcAft>
            </a:pPr>
            <a:r>
              <a:rPr sz="950">
                <a:solidFill>
                  <a:srgbClr val="E6EDF3"/>
                </a:solidFill>
                <a:latin typeface="Consolas"/>
              </a:rPr>
              <a:t>No resources found in kcna-lab11 namespace.</a:t>
            </a:r>
          </a:p>
        </p:txBody>
      </p:sp>
      <p:sp>
        <p:nvSpPr>
          <p:cNvPr id="14" name="Rectangle 13"/>
          <p:cNvSpPr/>
          <p:nvPr/>
        </p:nvSpPr>
        <p:spPr>
          <a:xfrm>
            <a:off x="7205472" y="2913278"/>
            <a:ext cx="4270247" cy="119406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79172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The selector says app=quote-apis; the Pods carry app=quote-api</a:t>
            </a:r>
          </a:p>
          <a:p>
            <a:pPr>
              <a:lnSpc>
                <a:spcPct val="112000"/>
              </a:lnSpc>
              <a:spcAft>
                <a:spcPts val="200"/>
              </a:spcAft>
            </a:pPr>
            <a:r>
              <a:rPr sz="950">
                <a:solidFill>
                  <a:srgbClr val="94A3B8"/>
                </a:solidFill>
                <a:latin typeface="Arial"/>
              </a:rPr>
              <a:t>•  </a:t>
            </a:r>
            <a:r>
              <a:rPr sz="950">
                <a:solidFill>
                  <a:srgbClr val="5B6372"/>
                </a:solidFill>
                <a:latin typeface="Arial"/>
              </a:rPr>
              <a:t>The label query returns zero Pods, so the EndpointSlice is empty</a:t>
            </a:r>
          </a:p>
          <a:p>
            <a:pPr>
              <a:lnSpc>
                <a:spcPct val="112000"/>
              </a:lnSpc>
              <a:spcAft>
                <a:spcPts val="200"/>
              </a:spcAft>
            </a:pPr>
            <a:r>
              <a:rPr sz="950">
                <a:solidFill>
                  <a:srgbClr val="94A3B8"/>
                </a:solidFill>
                <a:latin typeface="Arial"/>
              </a:rPr>
              <a:t>•  </a:t>
            </a:r>
            <a:r>
              <a:rPr sz="950">
                <a:solidFill>
                  <a:srgbClr val="5B6372"/>
                </a:solidFill>
                <a:latin typeface="Arial"/>
              </a:rPr>
              <a:t>In iptables mode kube-proxy REJECTs a VIP with no ready endpoints — hence an instant refusal, not a timeout</a:t>
            </a:r>
          </a:p>
        </p:txBody>
      </p:sp>
      <p:sp>
        <p:nvSpPr>
          <p:cNvPr id="18" name="Rectangle 17"/>
          <p:cNvSpPr/>
          <p:nvPr/>
        </p:nvSpPr>
        <p:spPr>
          <a:xfrm>
            <a:off x="7205472" y="4217070"/>
            <a:ext cx="4270247" cy="1242324"/>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217070"/>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253646"/>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564542"/>
            <a:ext cx="3904487" cy="83998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Correct the selector to the label the Pods actually carry</a:t>
            </a:r>
          </a:p>
          <a:p>
            <a:pPr>
              <a:lnSpc>
                <a:spcPct val="112000"/>
              </a:lnSpc>
              <a:spcAft>
                <a:spcPts val="200"/>
              </a:spcAft>
            </a:pPr>
            <a:r>
              <a:rPr sz="950">
                <a:solidFill>
                  <a:srgbClr val="94A3B8"/>
                </a:solidFill>
                <a:latin typeface="Arial"/>
              </a:rPr>
              <a:t>•  </a:t>
            </a:r>
            <a:r>
              <a:rPr sz="950">
                <a:solidFill>
                  <a:srgbClr val="5B6372"/>
                </a:solidFill>
                <a:latin typeface="Arial"/>
              </a:rPr>
              <a:t>Verify by re-running it as a query, not by re-reading YAML</a:t>
            </a:r>
          </a:p>
          <a:p>
            <a:pPr>
              <a:lnSpc>
                <a:spcPct val="112000"/>
              </a:lnSpc>
              <a:spcAft>
                <a:spcPts val="200"/>
              </a:spcAft>
            </a:pPr>
            <a:r>
              <a:rPr sz="950">
                <a:solidFill>
                  <a:srgbClr val="94A3B8"/>
                </a:solidFill>
                <a:latin typeface="Arial"/>
              </a:rPr>
              <a:t>•  </a:t>
            </a:r>
            <a:r>
              <a:rPr sz="950">
                <a:solidFill>
                  <a:srgbClr val="5B6372"/>
                </a:solidFill>
                <a:latin typeface="Arial"/>
              </a:rPr>
              <a:t>The slice repopulates with no Pod restart and no rollout</a:t>
            </a:r>
          </a:p>
          <a:p>
            <a:pPr>
              <a:lnSpc>
                <a:spcPct val="112000"/>
              </a:lnSpc>
              <a:spcAft>
                <a:spcPts val="200"/>
              </a:spcAft>
            </a:pPr>
            <a:r>
              <a:rPr sz="950">
                <a:solidFill>
                  <a:srgbClr val="94A3B8"/>
                </a:solidFill>
                <a:latin typeface="Arial"/>
              </a:rPr>
              <a:t>•  </a:t>
            </a:r>
            <a:r>
              <a:rPr sz="950">
                <a:solidFill>
                  <a:srgbClr val="5B6372"/>
                </a:solidFill>
                <a:latin typeface="Arial"/>
              </a:rPr>
              <a:t>On IPVS or some CNIs the same fault presents as a TIMEOUT</a:t>
            </a:r>
          </a:p>
        </p:txBody>
      </p:sp>
      <p:sp>
        <p:nvSpPr>
          <p:cNvPr id="22" name="Rectangle 21"/>
          <p:cNvSpPr/>
          <p:nvPr/>
        </p:nvSpPr>
        <p:spPr>
          <a:xfrm>
            <a:off x="777240" y="5688482"/>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798210"/>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get endpointslices -n kcna-lab11 shows three ready addresses again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courseware/labs/lab-11-services-endpoints/verification/expected-output.md</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271</a:t>
            </a:r>
          </a:p>
        </p:txBody>
      </p:sp>
    </p:spTree>
  </p:cSld>
  <p:clrMapOvr>
    <a:masterClrMapping/>
  </p:clrMapOvr>
  <p:transition xmlns:ns1="http://schemas.openxmlformats.org/markup-compatibility/2006" spd="fast" ns1:Ignorable="p14">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Headless DNS returns the Pods themselves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difference between the two Service shapes is visible in one DNS answer.</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Representative shape — Lab 12, kcna-lab12</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D8A99"/>
                </a:solidFill>
                <a:latin typeface="Consolas"/>
              </a:rPr>
              <a:t># Normal ClusterIP Service — ONE answer, the VIP</a:t>
            </a:r>
          </a:p>
          <a:p>
            <a:pPr>
              <a:lnSpc>
                <a:spcPts val="1476"/>
              </a:lnSpc>
              <a:spcAft>
                <a:spcPts val="0"/>
              </a:spcAft>
            </a:pPr>
            <a:r>
              <a:rPr sz="1000">
                <a:solidFill>
                  <a:srgbClr val="7EE787"/>
                </a:solidFill>
                <a:latin typeface="Consolas"/>
              </a:rPr>
              <a:t>$ nslookup booking-edge-clusterip.kcna-lab12.svc.cluster.local</a:t>
            </a:r>
          </a:p>
          <a:p>
            <a:pPr>
              <a:lnSpc>
                <a:spcPts val="1476"/>
              </a:lnSpc>
              <a:spcAft>
                <a:spcPts val="0"/>
              </a:spcAft>
            </a:pPr>
            <a:r>
              <a:rPr sz="1000">
                <a:solidFill>
                  <a:srgbClr val="E6EDF3"/>
                </a:solidFill>
                <a:latin typeface="Consolas"/>
              </a:rPr>
              <a:t>Name:    booking-edge-clusterip.kcna-lab12.svc.cluster.local</a:t>
            </a:r>
          </a:p>
          <a:p>
            <a:pPr>
              <a:lnSpc>
                <a:spcPts val="1476"/>
              </a:lnSpc>
              <a:spcAft>
                <a:spcPts val="0"/>
              </a:spcAft>
            </a:pPr>
            <a:r>
              <a:rPr sz="1000">
                <a:solidFill>
                  <a:srgbClr val="E6EDF3"/>
                </a:solidFill>
                <a:latin typeface="Consolas"/>
              </a:rPr>
              <a:t>Address: 10.96.44.10</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Headless Service — one answer PER READY POD</a:t>
            </a:r>
          </a:p>
          <a:p>
            <a:pPr>
              <a:lnSpc>
                <a:spcPts val="1476"/>
              </a:lnSpc>
              <a:spcAft>
                <a:spcPts val="0"/>
              </a:spcAft>
            </a:pPr>
            <a:r>
              <a:rPr sz="1000">
                <a:solidFill>
                  <a:srgbClr val="7EE787"/>
                </a:solidFill>
                <a:latin typeface="Consolas"/>
              </a:rPr>
              <a:t>$ nslookup booking-edge-headless.kcna-lab12.svc.cluster.local</a:t>
            </a:r>
          </a:p>
          <a:p>
            <a:pPr>
              <a:lnSpc>
                <a:spcPts val="1476"/>
              </a:lnSpc>
              <a:spcAft>
                <a:spcPts val="0"/>
              </a:spcAft>
            </a:pPr>
            <a:r>
              <a:rPr sz="1000">
                <a:solidFill>
                  <a:srgbClr val="E6EDF3"/>
                </a:solidFill>
                <a:latin typeface="Consolas"/>
              </a:rPr>
              <a:t>Name:    booking-edge-headless.kcna-lab12.svc.cluster.local</a:t>
            </a:r>
          </a:p>
          <a:p>
            <a:pPr>
              <a:lnSpc>
                <a:spcPts val="1476"/>
              </a:lnSpc>
              <a:spcAft>
                <a:spcPts val="0"/>
              </a:spcAft>
            </a:pPr>
            <a:r>
              <a:rPr sz="1000">
                <a:solidFill>
                  <a:srgbClr val="E6EDF3"/>
                </a:solidFill>
                <a:latin typeface="Consolas"/>
              </a:rPr>
              <a:t>Address: 10.244.0.31</a:t>
            </a:r>
          </a:p>
          <a:p>
            <a:pPr>
              <a:lnSpc>
                <a:spcPts val="1476"/>
              </a:lnSpc>
              <a:spcAft>
                <a:spcPts val="0"/>
              </a:spcAft>
            </a:pPr>
            <a:r>
              <a:rPr sz="1000">
                <a:solidFill>
                  <a:srgbClr val="E6EDF3"/>
                </a:solidFill>
                <a:latin typeface="Consolas"/>
              </a:rPr>
              <a:t>Name:    booking-edge-headless.kcna-lab12.svc.cluster.local</a:t>
            </a:r>
          </a:p>
          <a:p>
            <a:pPr>
              <a:lnSpc>
                <a:spcPts val="1476"/>
              </a:lnSpc>
              <a:spcAft>
                <a:spcPts val="0"/>
              </a:spcAft>
            </a:pPr>
            <a:r>
              <a:rPr sz="1000">
                <a:solidFill>
                  <a:srgbClr val="E6EDF3"/>
                </a:solidFill>
                <a:latin typeface="Consolas"/>
              </a:rPr>
              <a:t>Address: 10.244.1.17</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svc booking-edge-headless -n kcna-lab12</a:t>
            </a:r>
          </a:p>
          <a:p>
            <a:pPr>
              <a:lnSpc>
                <a:spcPts val="1476"/>
              </a:lnSpc>
              <a:spcAft>
                <a:spcPts val="0"/>
              </a:spcAft>
            </a:pPr>
            <a:r>
              <a:rPr sz="1000">
                <a:solidFill>
                  <a:srgbClr val="E6EDF3"/>
                </a:solidFill>
                <a:latin typeface="Consolas"/>
              </a:rPr>
              <a:t>NAME                    TYPE        CLUSTER-IP   PORT(S)</a:t>
            </a:r>
          </a:p>
          <a:p>
            <a:pPr>
              <a:lnSpc>
                <a:spcPts val="1476"/>
              </a:lnSpc>
              <a:spcAft>
                <a:spcPts val="0"/>
              </a:spcAft>
            </a:pPr>
            <a:r>
              <a:rPr sz="1000">
                <a:solidFill>
                  <a:srgbClr val="E6EDF3"/>
                </a:solidFill>
                <a:latin typeface="Consolas"/>
              </a:rPr>
              <a:t>booking-edge-headless   ClusterIP   None         80/TCP</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One name, two record sets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same query form returns a single VIP or a list of Pod IPs, depending only on clusterIP: None.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Readiness gates the answer</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Pod that is not Ready is removed from the DNS answer, exactly as it is removed from the endpoint set.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client now balances</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picks from the list. Many resolvers use the first answer, so distribution depends on the client library.</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CLUSTER-IP shows the literal None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 an empty cell — the string None is the confirmation that no VIP was allocated.</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This is what StatefulSets need</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Per-Pod addressing is the basis of stable network identity on Day 4.</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courseware/labs/lab-12-service-types-nodeport-lb/verification/expected-output.md · kubernetes.io/docs/concepts/services-networking/dns-pod-service/</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272</a:t>
            </a:r>
          </a:p>
        </p:txBody>
      </p:sp>
    </p:spTree>
  </p:cSld>
  <p:clrMapOvr>
    <a:masterClrMapping/>
  </p:clrMapOvr>
  <p:transition xmlns:ns1="http://schemas.openxmlformats.org/markup-compatibility/2006" spd="fast" ns1:Ignorable="p14">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Morning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11:00 – 11:10 AM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273</a:t>
            </a:r>
          </a:p>
        </p:txBody>
      </p:sp>
    </p:spTree>
  </p:cSld>
  <p:clrMapOvr>
    <a:masterClrMapping/>
  </p:clrMapOvr>
  <p:transition xmlns:ns1="http://schemas.openxmlformats.org/markup-compatibility/2006" spd="fast" ns1:Ignorable="p14">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11 — Services, Endpoints and Cluster DNS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Give the Meridian Freight quote-api a stable cluster identity by putting a ClusterIP Service in front of it, then prove what that name actually points at by reading the EndpointSlice the selector produced - and break it with a one-character selector typo.</a:t>
            </a:r>
          </a:p>
        </p:txBody>
      </p:sp>
      <p:sp>
        <p:nvSpPr>
          <p:cNvPr id="10" name="Rectangle 9"/>
          <p:cNvSpPr/>
          <p:nvPr/>
        </p:nvSpPr>
        <p:spPr>
          <a:xfrm>
            <a:off x="777240"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quote-api Deployment (3 replicas) serving data/quote-api-index.html from a ConfigMap on named container port http/8080</a:t>
            </a:r>
          </a:p>
          <a:p>
            <a:pPr>
              <a:lnSpc>
                <a:spcPct val="112000"/>
              </a:lnSpc>
              <a:spcAft>
                <a:spcPts val="500"/>
              </a:spcAft>
            </a:pPr>
            <a:r>
              <a:rPr sz="1050">
                <a:solidFill>
                  <a:srgbClr val="94A3B8"/>
                </a:solidFill>
                <a:latin typeface="Arial"/>
              </a:rPr>
              <a:t>•  </a:t>
            </a:r>
            <a:r>
              <a:rPr sz="1050">
                <a:solidFill>
                  <a:srgbClr val="5B6372"/>
                </a:solidFill>
                <a:latin typeface="Arial"/>
              </a:rPr>
              <a:t>A ClusterIP Service mapping port 80 to the named targetPort http, with an EndpointSlice holding exactly the three Ready Pod IPs</a:t>
            </a:r>
          </a:p>
          <a:p>
            <a:pPr>
              <a:lnSpc>
                <a:spcPct val="112000"/>
              </a:lnSpc>
              <a:spcAft>
                <a:spcPts val="500"/>
              </a:spcAft>
            </a:pPr>
            <a:r>
              <a:rPr sz="1050">
                <a:solidFill>
                  <a:srgbClr val="94A3B8"/>
                </a:solidFill>
                <a:latin typeface="Arial"/>
              </a:rPr>
              <a:t>•  </a:t>
            </a:r>
            <a:r>
              <a:rPr sz="1050">
                <a:solidFill>
                  <a:srgbClr val="5B6372"/>
                </a:solidFill>
                <a:latin typeface="Arial"/>
              </a:rPr>
              <a:t>A dns-client Pod that resolves every name form in data/dns-fixtures.csv, including the cross-namespace case that correctly fails</a:t>
            </a:r>
          </a:p>
        </p:txBody>
      </p:sp>
      <p:sp>
        <p:nvSpPr>
          <p:cNvPr id="14" name="Rectangle 13"/>
          <p:cNvSpPr/>
          <p:nvPr/>
        </p:nvSpPr>
        <p:spPr>
          <a:xfrm>
            <a:off x="6276441" y="2668219"/>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Service stores a selector, not a Pod list; the endpoints controller derives the EndpointSlice from it</a:t>
            </a:r>
          </a:p>
          <a:p>
            <a:pPr>
              <a:lnSpc>
                <a:spcPct val="112000"/>
              </a:lnSpc>
              <a:spcAft>
                <a:spcPts val="500"/>
              </a:spcAft>
            </a:pPr>
            <a:r>
              <a:rPr sz="1050">
                <a:solidFill>
                  <a:srgbClr val="94A3B8"/>
                </a:solidFill>
                <a:latin typeface="Arial"/>
              </a:rPr>
              <a:t>•  </a:t>
            </a:r>
            <a:r>
              <a:rPr sz="1050">
                <a:solidFill>
                  <a:srgbClr val="5B6372"/>
                </a:solidFill>
                <a:latin typeface="Arial"/>
              </a:rPr>
              <a:t>port vs targetPort vs a named container port - and why only Ready Pods get conditions.ready true</a:t>
            </a:r>
          </a:p>
          <a:p>
            <a:pPr>
              <a:lnSpc>
                <a:spcPct val="112000"/>
              </a:lnSpc>
              <a:spcAft>
                <a:spcPts val="500"/>
              </a:spcAft>
            </a:pPr>
            <a:r>
              <a:rPr sz="1050">
                <a:solidFill>
                  <a:srgbClr val="94A3B8"/>
                </a:solidFill>
                <a:latin typeface="Arial"/>
              </a:rPr>
              <a:t>•  </a:t>
            </a:r>
            <a:r>
              <a:rPr sz="1050">
                <a:solidFill>
                  <a:srgbClr val="5B6372"/>
                </a:solidFill>
                <a:latin typeface="Arial"/>
              </a:rPr>
              <a:t>Cluster DNS: &lt;svc&gt;.&lt;ns&gt;.svc.cluster.local, the Pod search path and ndots:5</a:t>
            </a:r>
          </a:p>
          <a:p>
            <a:pPr>
              <a:lnSpc>
                <a:spcPct val="112000"/>
              </a:lnSpc>
              <a:spcAft>
                <a:spcPts val="500"/>
              </a:spcAft>
            </a:pPr>
            <a:r>
              <a:rPr sz="1050">
                <a:solidFill>
                  <a:srgbClr val="94A3B8"/>
                </a:solidFill>
                <a:latin typeface="Arial"/>
              </a:rPr>
              <a:t>•  </a:t>
            </a:r>
            <a:r>
              <a:rPr sz="1050">
                <a:solidFill>
                  <a:srgbClr val="5B6372"/>
                </a:solidFill>
                <a:latin typeface="Arial"/>
              </a:rPr>
              <a:t>Empty-endpoint signature: DNS resolves but TCP is refused - always re-run the selector as a label query</a:t>
            </a:r>
          </a:p>
        </p:txBody>
      </p:sp>
      <p:sp>
        <p:nvSpPr>
          <p:cNvPr id="18" name="Rectangle 17"/>
          <p:cNvSpPr/>
          <p:nvPr/>
        </p:nvSpPr>
        <p:spPr>
          <a:xfrm>
            <a:off x="777240"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6053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2454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11</a:t>
            </a:r>
          </a:p>
        </p:txBody>
      </p:sp>
      <p:sp>
        <p:nvSpPr>
          <p:cNvPr id="22" name="Rectangle 21"/>
          <p:cNvSpPr/>
          <p:nvPr/>
        </p:nvSpPr>
        <p:spPr>
          <a:xfrm>
            <a:off x="3488436"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6053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2454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kcna-lab11</a:t>
            </a:r>
          </a:p>
        </p:txBody>
      </p:sp>
      <p:sp>
        <p:nvSpPr>
          <p:cNvPr id="26" name="Rectangle 25"/>
          <p:cNvSpPr/>
          <p:nvPr/>
        </p:nvSpPr>
        <p:spPr>
          <a:xfrm>
            <a:off x="6199631"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6053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2454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LO3 · A2 · K2 K4</a:t>
            </a:r>
          </a:p>
        </p:txBody>
      </p:sp>
      <p:sp>
        <p:nvSpPr>
          <p:cNvPr id="30" name="Rectangle 29"/>
          <p:cNvSpPr/>
          <p:nvPr/>
        </p:nvSpPr>
        <p:spPr>
          <a:xfrm>
            <a:off x="8910828" y="496053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6053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2454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742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60061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courseware/labs/lab-11-services-endpoints/README.md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274</a:t>
            </a:r>
          </a:p>
        </p:txBody>
      </p:sp>
    </p:spTree>
  </p:cSld>
  <p:clrMapOvr>
    <a:masterClrMapping/>
  </p:clrMapOvr>
  <p:transition xmlns:ns1="http://schemas.openxmlformats.org/markup-compatibility/2006" spd="fast" ns1:Ignorable="p14">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SERVICE TYPES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types are nested, not parallel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Setting type: LoadBalancer does not replace the ClusterIP — it wraps it. Read the -o wide output and you will see all three layers at once.</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ClusterIP — the base</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virtual IP reachable only from inside the cluster. Every other type is this type plus something extra.</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NodePort — ClusterIP + a node door</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Everything ClusterIP does, plus a port opened on EVERY node in the 30000-32767 range.</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LoadBalancer — NodePort + a request</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Everything NodePort does, plus a request to an external controller to provision a real load balancer.</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ExternalName — the odd one out</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 selector, no endpoints, no VIP. Publishes a CNAME to an outside hostname and nothing more.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Headless — a modifier, not a type</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clusterIP: None. The type is still ClusterIP; the VIP is simply not allocated.</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the nesting matters</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LoadBalancer Service still has a ClusterIP and still has a nodePort. Deleting the LB does not remove those.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275</a:t>
            </a:r>
          </a:p>
        </p:txBody>
      </p:sp>
    </p:spTree>
  </p:cSld>
  <p:clrMapOvr>
    <a:masterClrMapping/>
  </p:clrMapOvr>
  <p:transition xmlns:ns1="http://schemas.openxmlformats.org/markup-compatibility/2006" spd="fast" ns1:Ignorable="p14">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COMPARISON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Choosing between the Service shapes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Reachability, allocation and dependency. Answer those three and the type chooses itself.</a:t>
            </a:r>
          </a:p>
        </p:txBody>
      </p:sp>
      <p:sp>
        <p:nvSpPr>
          <p:cNvPr id="7" name="Rectangle 6"/>
          <p:cNvSpPr/>
          <p:nvPr/>
        </p:nvSpPr>
        <p:spPr>
          <a:xfrm>
            <a:off x="777240" y="2200046"/>
            <a:ext cx="2032711"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77667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Type</a:t>
            </a:r>
          </a:p>
        </p:txBody>
      </p:sp>
      <p:sp>
        <p:nvSpPr>
          <p:cNvPr id="9" name="Rectangle 8"/>
          <p:cNvSpPr/>
          <p:nvPr/>
        </p:nvSpPr>
        <p:spPr>
          <a:xfrm>
            <a:off x="2809951" y="2200046"/>
            <a:ext cx="2781604"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37967" y="2300630"/>
            <a:ext cx="2525572"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Reachable from</a:t>
            </a:r>
          </a:p>
        </p:txBody>
      </p:sp>
      <p:sp>
        <p:nvSpPr>
          <p:cNvPr id="11" name="Rectangle 10"/>
          <p:cNvSpPr/>
          <p:nvPr/>
        </p:nvSpPr>
        <p:spPr>
          <a:xfrm>
            <a:off x="5591556"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719572"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Allocates</a:t>
            </a:r>
          </a:p>
        </p:txBody>
      </p:sp>
      <p:sp>
        <p:nvSpPr>
          <p:cNvPr id="13" name="Rectangle 12"/>
          <p:cNvSpPr/>
          <p:nvPr/>
        </p:nvSpPr>
        <p:spPr>
          <a:xfrm>
            <a:off x="8266175" y="2200046"/>
            <a:ext cx="3209544"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394192" y="2300630"/>
            <a:ext cx="295351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Depends on</a:t>
            </a:r>
          </a:p>
        </p:txBody>
      </p:sp>
      <p:sp>
        <p:nvSpPr>
          <p:cNvPr id="15" name="Rectangle 14"/>
          <p:cNvSpPr/>
          <p:nvPr/>
        </p:nvSpPr>
        <p:spPr>
          <a:xfrm>
            <a:off x="777240" y="2620670"/>
            <a:ext cx="2032711"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776679"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ClusterIP</a:t>
            </a:r>
          </a:p>
        </p:txBody>
      </p:sp>
      <p:sp>
        <p:nvSpPr>
          <p:cNvPr id="17" name="Rectangle 16"/>
          <p:cNvSpPr/>
          <p:nvPr/>
        </p:nvSpPr>
        <p:spPr>
          <a:xfrm>
            <a:off x="2809951" y="2620670"/>
            <a:ext cx="2781604"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937967" y="2702966"/>
            <a:ext cx="252557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Inside the cluster only</a:t>
            </a:r>
          </a:p>
        </p:txBody>
      </p:sp>
      <p:sp>
        <p:nvSpPr>
          <p:cNvPr id="19" name="Rectangle 18"/>
          <p:cNvSpPr/>
          <p:nvPr/>
        </p:nvSpPr>
        <p:spPr>
          <a:xfrm>
            <a:off x="5591556"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719572"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VIP from the service CIDR</a:t>
            </a:r>
          </a:p>
        </p:txBody>
      </p:sp>
      <p:sp>
        <p:nvSpPr>
          <p:cNvPr id="21" name="Rectangle 20"/>
          <p:cNvSpPr/>
          <p:nvPr/>
        </p:nvSpPr>
        <p:spPr>
          <a:xfrm>
            <a:off x="8266175" y="2620670"/>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394192" y="2702966"/>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kube-proxy on each node</a:t>
            </a:r>
          </a:p>
        </p:txBody>
      </p:sp>
      <p:sp>
        <p:nvSpPr>
          <p:cNvPr id="23" name="Rectangle 22"/>
          <p:cNvSpPr/>
          <p:nvPr/>
        </p:nvSpPr>
        <p:spPr>
          <a:xfrm>
            <a:off x="777240" y="3171870"/>
            <a:ext cx="2032711"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776679"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NodePort</a:t>
            </a:r>
          </a:p>
        </p:txBody>
      </p:sp>
      <p:sp>
        <p:nvSpPr>
          <p:cNvPr id="25" name="Rectangle 24"/>
          <p:cNvSpPr/>
          <p:nvPr/>
        </p:nvSpPr>
        <p:spPr>
          <a:xfrm>
            <a:off x="2809951" y="3171870"/>
            <a:ext cx="2781604"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937967" y="3254166"/>
            <a:ext cx="252557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Any node IP, from wherever nodes are reachable</a:t>
            </a:r>
          </a:p>
        </p:txBody>
      </p:sp>
      <p:sp>
        <p:nvSpPr>
          <p:cNvPr id="27" name="Rectangle 26"/>
          <p:cNvSpPr/>
          <p:nvPr/>
        </p:nvSpPr>
        <p:spPr>
          <a:xfrm>
            <a:off x="5591556"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719572"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VIP + one port on every node</a:t>
            </a:r>
          </a:p>
        </p:txBody>
      </p:sp>
      <p:sp>
        <p:nvSpPr>
          <p:cNvPr id="29" name="Rectangle 28"/>
          <p:cNvSpPr/>
          <p:nvPr/>
        </p:nvSpPr>
        <p:spPr>
          <a:xfrm>
            <a:off x="8266175" y="3171870"/>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394192" y="3254166"/>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free port in 30000-32767 and node-level firewall rules</a:t>
            </a:r>
          </a:p>
        </p:txBody>
      </p:sp>
      <p:sp>
        <p:nvSpPr>
          <p:cNvPr id="31" name="Rectangle 30"/>
          <p:cNvSpPr/>
          <p:nvPr/>
        </p:nvSpPr>
        <p:spPr>
          <a:xfrm>
            <a:off x="777240" y="3723071"/>
            <a:ext cx="2032711"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776679"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LoadBalancer</a:t>
            </a:r>
          </a:p>
        </p:txBody>
      </p:sp>
      <p:sp>
        <p:nvSpPr>
          <p:cNvPr id="33" name="Rectangle 32"/>
          <p:cNvSpPr/>
          <p:nvPr/>
        </p:nvSpPr>
        <p:spPr>
          <a:xfrm>
            <a:off x="2809951" y="3723071"/>
            <a:ext cx="2781604"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937967" y="3805367"/>
            <a:ext cx="252557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external address, once provisioned</a:t>
            </a:r>
          </a:p>
        </p:txBody>
      </p:sp>
      <p:sp>
        <p:nvSpPr>
          <p:cNvPr id="35" name="Rectangle 34"/>
          <p:cNvSpPr/>
          <p:nvPr/>
        </p:nvSpPr>
        <p:spPr>
          <a:xfrm>
            <a:off x="5591556"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719572"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VIP + nodePort + an external address</a:t>
            </a:r>
          </a:p>
        </p:txBody>
      </p:sp>
      <p:sp>
        <p:nvSpPr>
          <p:cNvPr id="37" name="Rectangle 36"/>
          <p:cNvSpPr/>
          <p:nvPr/>
        </p:nvSpPr>
        <p:spPr>
          <a:xfrm>
            <a:off x="8266175" y="37230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394192" y="38053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cloud-controller-manager or an implementation such as MetalLB</a:t>
            </a:r>
          </a:p>
        </p:txBody>
      </p:sp>
      <p:sp>
        <p:nvSpPr>
          <p:cNvPr id="39" name="Rectangle 38"/>
          <p:cNvSpPr/>
          <p:nvPr/>
        </p:nvSpPr>
        <p:spPr>
          <a:xfrm>
            <a:off x="777240" y="4274271"/>
            <a:ext cx="2032711"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776679"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ExternalName</a:t>
            </a:r>
          </a:p>
        </p:txBody>
      </p:sp>
      <p:sp>
        <p:nvSpPr>
          <p:cNvPr id="41" name="Rectangle 40"/>
          <p:cNvSpPr/>
          <p:nvPr/>
        </p:nvSpPr>
        <p:spPr>
          <a:xfrm>
            <a:off x="2809951" y="4274271"/>
            <a:ext cx="2781604"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937967" y="4356567"/>
            <a:ext cx="252557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Wherever the target host is reachable</a:t>
            </a:r>
          </a:p>
        </p:txBody>
      </p:sp>
      <p:sp>
        <p:nvSpPr>
          <p:cNvPr id="43" name="Rectangle 42"/>
          <p:cNvSpPr/>
          <p:nvPr/>
        </p:nvSpPr>
        <p:spPr>
          <a:xfrm>
            <a:off x="5591556"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719572"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no VIP, no port, no endpoints</a:t>
            </a:r>
          </a:p>
        </p:txBody>
      </p:sp>
      <p:sp>
        <p:nvSpPr>
          <p:cNvPr id="45" name="Rectangle 44"/>
          <p:cNvSpPr/>
          <p:nvPr/>
        </p:nvSpPr>
        <p:spPr>
          <a:xfrm>
            <a:off x="8266175" y="4274271"/>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394192" y="43565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external DNS name resolving for your clients</a:t>
            </a:r>
          </a:p>
        </p:txBody>
      </p:sp>
      <p:sp>
        <p:nvSpPr>
          <p:cNvPr id="47" name="Rectangle 46"/>
          <p:cNvSpPr/>
          <p:nvPr/>
        </p:nvSpPr>
        <p:spPr>
          <a:xfrm>
            <a:off x="777240" y="4825471"/>
            <a:ext cx="2032711"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776679"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Headless (clusterIP: None)</a:t>
            </a:r>
          </a:p>
        </p:txBody>
      </p:sp>
      <p:sp>
        <p:nvSpPr>
          <p:cNvPr id="49" name="Rectangle 48"/>
          <p:cNvSpPr/>
          <p:nvPr/>
        </p:nvSpPr>
        <p:spPr>
          <a:xfrm>
            <a:off x="2809951" y="4825471"/>
            <a:ext cx="2781604"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937967" y="4907767"/>
            <a:ext cx="2525572"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Inside the cluster only</a:t>
            </a:r>
          </a:p>
        </p:txBody>
      </p:sp>
      <p:sp>
        <p:nvSpPr>
          <p:cNvPr id="51" name="Rectangle 50"/>
          <p:cNvSpPr/>
          <p:nvPr/>
        </p:nvSpPr>
        <p:spPr>
          <a:xfrm>
            <a:off x="5591556"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719572"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DNS returns Pod IPs directly</a:t>
            </a:r>
          </a:p>
        </p:txBody>
      </p:sp>
      <p:sp>
        <p:nvSpPr>
          <p:cNvPr id="53" name="Rectangle 52"/>
          <p:cNvSpPr/>
          <p:nvPr/>
        </p:nvSpPr>
        <p:spPr>
          <a:xfrm>
            <a:off x="8266175" y="48254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394192" y="49077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Client-side load balancing in the caller</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Default to ClusterIP. Escalate only when an identified caller genuinely sits outside the cluster.</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276</a:t>
            </a:r>
          </a:p>
        </p:txBody>
      </p:sp>
    </p:spTree>
  </p:cSld>
  <p:clrMapOvr>
    <a:masterClrMapping/>
  </p:clrMapOvr>
  <p:transition xmlns:ns1="http://schemas.openxmlformats.org/markup-compatibility/2006" spd="fast" ns1:Ignorable="p14">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NodePort Service, and what it inherits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NodePort is the first type that punches a hole in the node network — treat it as a firewall decision.</a:t>
            </a:r>
          </a:p>
        </p:txBody>
      </p:sp>
      <p:sp>
        <p:nvSpPr>
          <p:cNvPr id="7" name="Rectangle 6"/>
          <p:cNvSpPr/>
          <p:nvPr/>
        </p:nvSpPr>
        <p:spPr>
          <a:xfrm>
            <a:off x="777240" y="2200046"/>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30-service-nodeport.yaml (Lab 12)</a:t>
            </a:r>
          </a:p>
        </p:txBody>
      </p:sp>
      <p:sp>
        <p:nvSpPr>
          <p:cNvPr id="9" name="TextBox 8"/>
          <p:cNvSpPr txBox="1"/>
          <p:nvPr/>
        </p:nvSpPr>
        <p:spPr>
          <a:xfrm>
            <a:off x="923544" y="2620670"/>
            <a:ext cx="6062472" cy="2999232"/>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Service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booking-edge-nodeport</a:t>
            </a:r>
          </a:p>
          <a:p>
            <a:pPr>
              <a:lnSpc>
                <a:spcPts val="1476"/>
              </a:lnSpc>
              <a:spcAft>
                <a:spcPts val="0"/>
              </a:spcAft>
            </a:pPr>
            <a:r>
              <a:rPr sz="1050">
                <a:solidFill>
                  <a:srgbClr val="E6EDF3"/>
                </a:solidFill>
                <a:latin typeface="Consolas"/>
              </a:rPr>
              <a:t>  namespace: kcna-lab12</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type: NodePort</a:t>
            </a:r>
          </a:p>
          <a:p>
            <a:pPr>
              <a:lnSpc>
                <a:spcPts val="1476"/>
              </a:lnSpc>
              <a:spcAft>
                <a:spcPts val="0"/>
              </a:spcAft>
            </a:pPr>
            <a:r>
              <a:rPr sz="1050">
                <a:solidFill>
                  <a:srgbClr val="E6EDF3"/>
                </a:solidFill>
                <a:latin typeface="Consolas"/>
              </a:rPr>
              <a:t>  selector:</a:t>
            </a:r>
          </a:p>
          <a:p>
            <a:pPr>
              <a:lnSpc>
                <a:spcPts val="1476"/>
              </a:lnSpc>
              <a:spcAft>
                <a:spcPts val="0"/>
              </a:spcAft>
            </a:pPr>
            <a:r>
              <a:rPr sz="1050">
                <a:solidFill>
                  <a:srgbClr val="E6EDF3"/>
                </a:solidFill>
                <a:latin typeface="Consolas"/>
              </a:rPr>
              <a:t>    app: booking-edge</a:t>
            </a:r>
          </a:p>
          <a:p>
            <a:pPr>
              <a:lnSpc>
                <a:spcPts val="1476"/>
              </a:lnSpc>
              <a:spcAft>
                <a:spcPts val="0"/>
              </a:spcAft>
            </a:pPr>
            <a:r>
              <a:rPr sz="1050">
                <a:solidFill>
                  <a:srgbClr val="E6EDF3"/>
                </a:solidFill>
                <a:latin typeface="Consolas"/>
              </a:rPr>
              <a:t>  ports:</a:t>
            </a:r>
          </a:p>
          <a:p>
            <a:pPr>
              <a:lnSpc>
                <a:spcPts val="1476"/>
              </a:lnSpc>
              <a:spcAft>
                <a:spcPts val="0"/>
              </a:spcAft>
            </a:pPr>
            <a:r>
              <a:rPr sz="1050">
                <a:solidFill>
                  <a:srgbClr val="E6EDF3"/>
                </a:solidFill>
                <a:latin typeface="Consolas"/>
              </a:rPr>
              <a:t>    - port: 80          # on the ClusterIP, still allocated</a:t>
            </a:r>
          </a:p>
          <a:p>
            <a:pPr>
              <a:lnSpc>
                <a:spcPts val="1476"/>
              </a:lnSpc>
              <a:spcAft>
                <a:spcPts val="0"/>
              </a:spcAft>
            </a:pPr>
            <a:r>
              <a:rPr sz="1050">
                <a:solidFill>
                  <a:srgbClr val="E6EDF3"/>
                </a:solidFill>
                <a:latin typeface="Consolas"/>
              </a:rPr>
              <a:t>      targetPort: 5678  # on the Pod</a:t>
            </a:r>
          </a:p>
          <a:p>
            <a:pPr>
              <a:lnSpc>
                <a:spcPts val="1476"/>
              </a:lnSpc>
              <a:spcAft>
                <a:spcPts val="0"/>
              </a:spcAft>
            </a:pPr>
            <a:r>
              <a:rPr sz="1050">
                <a:solidFill>
                  <a:srgbClr val="E6EDF3"/>
                </a:solidFill>
                <a:latin typeface="Consolas"/>
              </a:rPr>
              <a:t>      nodePort: 30080   # on EVERY node</a:t>
            </a:r>
          </a:p>
          <a:p>
            <a:pPr>
              <a:lnSpc>
                <a:spcPts val="1476"/>
              </a:lnSpc>
              <a:spcAft>
                <a:spcPts val="0"/>
              </a:spcAft>
            </a:pPr>
            <a:r>
              <a:rPr sz="1050">
                <a:solidFill>
                  <a:srgbClr val="7D8A99"/>
                </a:solidFill>
                <a:latin typeface="Consolas"/>
              </a:rPr>
              <a:t># Optional: externalTrafficPolicy: Local</a:t>
            </a:r>
          </a:p>
          <a:p>
            <a:pPr>
              <a:lnSpc>
                <a:spcPts val="1476"/>
              </a:lnSpc>
              <a:spcAft>
                <a:spcPts val="0"/>
              </a:spcAft>
            </a:pPr>
            <a:r>
              <a:rPr sz="1050">
                <a:solidFill>
                  <a:srgbClr val="7D8A99"/>
                </a:solidFill>
                <a:latin typeface="Consolas"/>
              </a:rPr>
              <a:t>#   preserves the client source IP, but drops traffic</a:t>
            </a:r>
          </a:p>
          <a:p>
            <a:pPr>
              <a:lnSpc>
                <a:spcPts val="1476"/>
              </a:lnSpc>
              <a:spcAft>
                <a:spcPts val="0"/>
              </a:spcAft>
            </a:pPr>
            <a:r>
              <a:rPr sz="1050">
                <a:solidFill>
                  <a:srgbClr val="7D8A99"/>
                </a:solidFill>
                <a:latin typeface="Consolas"/>
              </a:rPr>
              <a:t>#   on nodes that host no ready backend</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Three ports, three scopes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80 is on the VIP, 5678 is in the container, 30080 is on every node's network interface.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Pinning nodePort is optional</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Omit it and the API server allocates one from the pool. Pin it only when a fixed external contract demands it.</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Every node opens the port</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Including nodes running none of the backend Pods. Traffic arriving there is forwarded to a node that has one.</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externalTrafficPolicy is the trade-off</a:t>
            </a:r>
          </a:p>
        </p:txBody>
      </p:sp>
      <p:sp>
        <p:nvSpPr>
          <p:cNvPr id="23" name="TextBox 22"/>
          <p:cNvSpPr txBox="1"/>
          <p:nvPr/>
        </p:nvSpPr>
        <p:spPr>
          <a:xfrm>
            <a:off x="7973567" y="5027584"/>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Cluster (default) preserves reachability but SNATs the source IP; Local preserves the client IP but not reachability from every node.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courseware/labs/lab-12-service-types-nodeport-lb/verification/expected-output.md · kubernetes.io/docs/concepts/services-networking/service/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277</a:t>
            </a:r>
          </a:p>
        </p:txBody>
      </p:sp>
    </p:spTree>
  </p:cSld>
  <p:clrMapOvr>
    <a:masterClrMapping/>
  </p:clrMapOvr>
  <p:transition xmlns:ns1="http://schemas.openxmlformats.org/markup-compatibility/2006" spd="fast" ns1:Ignorable="p14">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NodePort facts you will be examined 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reference facts, each of which has produced a real incident somewhere.</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range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30000-32767 — 2,768 ports, cluster-wide</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Where it is set</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kube-apiserver flag --service-node-port-range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Who allocates</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API server, at admission time — not kube-proxy</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Pinning</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spec.ports[].nodePort; omit it for automatic allocation</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Collision</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second Service asking for the same number is rejected outright</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Out of range</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Rejected by the API server's validation, not by the OpenAPI schema</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Scope</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Opened on every node, whether or not it runs a backend Pod</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Still has a ClusterIP</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NodePort does not remove the VIP; both paths work simultaneously</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Reaching it from a laptop</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Needs node reachability — on kind, extraPortMappings at create time, or simply kubectl port-forward</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Security posture</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It is an unauthenticated door on every node; pair it with firewall rules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courseware/labs/lab-12-service-types-nodeport-lb/verification/expected-output.md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278</a:t>
            </a:r>
          </a:p>
        </p:txBody>
      </p:sp>
    </p:spTree>
  </p:cSld>
  <p:clrMapOvr>
    <a:masterClrMapping/>
  </p:clrMapOvr>
  <p:transition xmlns:ns1="http://schemas.openxmlformats.org/markup-compatibility/2006" spd="fast" ns1:Ignorable="p14">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nodePort 8080 — rejected before the object ever exists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distinct allocator errors share one message shape: out of range, and already allocated.</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perfectly valid-looking manifest is refused at apply time because the requested port is outside the allocator's range.</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manifests/70-service-nodeport-invalid.yaml</a:t>
            </a:r>
          </a:p>
          <a:p>
            <a:pPr>
              <a:lnSpc>
                <a:spcPts val="1476"/>
              </a:lnSpc>
              <a:spcAft>
                <a:spcPts val="0"/>
              </a:spcAft>
            </a:pPr>
            <a:r>
              <a:rPr sz="950">
                <a:solidFill>
                  <a:srgbClr val="E6EDF3"/>
                </a:solidFill>
                <a:latin typeface="Consolas"/>
              </a:rPr>
              <a:t>The Service "booking-edge-nodeport-invalid" is invalid:</a:t>
            </a:r>
          </a:p>
          <a:p>
            <a:pPr>
              <a:lnSpc>
                <a:spcPts val="1476"/>
              </a:lnSpc>
              <a:spcAft>
                <a:spcPts val="0"/>
              </a:spcAft>
            </a:pPr>
            <a:r>
              <a:rPr sz="950">
                <a:solidFill>
                  <a:srgbClr val="E6EDF3"/>
                </a:solidFill>
                <a:latin typeface="Consolas"/>
              </a:rPr>
              <a:t>  spec.ports[0].nodePort: Invalid value: 8080: provided port</a:t>
            </a:r>
          </a:p>
          <a:p>
            <a:pPr>
              <a:lnSpc>
                <a:spcPts val="1476"/>
              </a:lnSpc>
              <a:spcAft>
                <a:spcPts val="0"/>
              </a:spcAft>
            </a:pPr>
            <a:r>
              <a:rPr sz="950">
                <a:solidFill>
                  <a:srgbClr val="E6EDF3"/>
                </a:solidFill>
                <a:latin typeface="Consolas"/>
              </a:rPr>
              <a:t>  is not in the valid range. The range of valid ports is</a:t>
            </a:r>
          </a:p>
          <a:p>
            <a:pPr>
              <a:lnSpc>
                <a:spcPts val="1476"/>
              </a:lnSpc>
              <a:spcAft>
                <a:spcPts val="0"/>
              </a:spcAft>
            </a:pPr>
            <a:r>
              <a:rPr sz="950">
                <a:solidFill>
                  <a:srgbClr val="E6EDF3"/>
                </a:solidFill>
                <a:latin typeface="Consolas"/>
              </a:rPr>
              <a:t>  30000-32767</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service booking-edge-nodeport-invalid -n kcna-lab12</a:t>
            </a:r>
          </a:p>
          <a:p>
            <a:pPr>
              <a:lnSpc>
                <a:spcPts val="1476"/>
              </a:lnSpc>
              <a:spcAft>
                <a:spcPts val="0"/>
              </a:spcAft>
            </a:pPr>
            <a:r>
              <a:rPr sz="950">
                <a:solidFill>
                  <a:srgbClr val="E6EDF3"/>
                </a:solidFill>
                <a:latin typeface="Consolas"/>
              </a:rPr>
              <a:t>Error from server (NotFound): services</a:t>
            </a:r>
          </a:p>
          <a:p>
            <a:pPr>
              <a:lnSpc>
                <a:spcPts val="1476"/>
              </a:lnSpc>
              <a:spcAft>
                <a:spcPts val="0"/>
              </a:spcAft>
            </a:pPr>
            <a:r>
              <a:rPr sz="950">
                <a:solidFill>
                  <a:srgbClr val="E6EDF3"/>
                </a:solidFill>
                <a:latin typeface="Consolas"/>
              </a:rPr>
              <a:t>  "booking-edge-nodeport-invalid" not found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D8A99"/>
                </a:solidFill>
                <a:latin typeface="Consolas"/>
              </a:rPr>
              <a:t># A different rejection, same allocator:</a:t>
            </a:r>
          </a:p>
          <a:p>
            <a:pPr>
              <a:lnSpc>
                <a:spcPts val="1476"/>
              </a:lnSpc>
              <a:spcAft>
                <a:spcPts val="0"/>
              </a:spcAft>
            </a:pPr>
            <a:r>
              <a:rPr sz="950">
                <a:solidFill>
                  <a:srgbClr val="E6EDF3"/>
                </a:solidFill>
                <a:latin typeface="Consolas"/>
              </a:rPr>
              <a:t>Invalid value: 30080: provided port is already allocated</a:t>
            </a:r>
          </a:p>
        </p:txBody>
      </p:sp>
      <p:sp>
        <p:nvSpPr>
          <p:cNvPr id="14" name="Rectangle 13"/>
          <p:cNvSpPr/>
          <p:nvPr/>
        </p:nvSpPr>
        <p:spPr>
          <a:xfrm>
            <a:off x="7205472" y="2913278"/>
            <a:ext cx="4270247" cy="119406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79172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8080 is outside the cluster's --service-node-port-range</a:t>
            </a:r>
          </a:p>
          <a:p>
            <a:pPr>
              <a:lnSpc>
                <a:spcPct val="112000"/>
              </a:lnSpc>
              <a:spcAft>
                <a:spcPts val="200"/>
              </a:spcAft>
            </a:pPr>
            <a:r>
              <a:rPr sz="950">
                <a:solidFill>
                  <a:srgbClr val="94A3B8"/>
                </a:solidFill>
                <a:latin typeface="Arial"/>
              </a:rPr>
              <a:t>•  </a:t>
            </a:r>
            <a:r>
              <a:rPr sz="950">
                <a:solidFill>
                  <a:srgbClr val="5B6372"/>
                </a:solidFill>
                <a:latin typeface="Arial"/>
              </a:rPr>
              <a:t>This is API-server validation plus allocator state, not schema validation — so static linters pass the file happily</a:t>
            </a:r>
          </a:p>
          <a:p>
            <a:pPr>
              <a:lnSpc>
                <a:spcPct val="112000"/>
              </a:lnSpc>
              <a:spcAft>
                <a:spcPts val="200"/>
              </a:spcAft>
            </a:pPr>
            <a:r>
              <a:rPr sz="950">
                <a:solidFill>
                  <a:srgbClr val="94A3B8"/>
                </a:solidFill>
                <a:latin typeface="Arial"/>
              </a:rPr>
              <a:t>•  </a:t>
            </a:r>
            <a:r>
              <a:rPr sz="950">
                <a:solidFill>
                  <a:srgbClr val="5B6372"/>
                </a:solidFill>
                <a:latin typeface="Arial"/>
              </a:rPr>
              <a:t>Nothing was created: there is no partial object to clean up</a:t>
            </a:r>
          </a:p>
        </p:txBody>
      </p:sp>
      <p:sp>
        <p:nvSpPr>
          <p:cNvPr id="18" name="Rectangle 17"/>
          <p:cNvSpPr/>
          <p:nvPr/>
        </p:nvSpPr>
        <p:spPr>
          <a:xfrm>
            <a:off x="7205472" y="4217070"/>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217070"/>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253646"/>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564542"/>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Choose a free port inside 30000-32767, or omit nodePort entirely and let the allocator pick</a:t>
            </a:r>
          </a:p>
          <a:p>
            <a:pPr>
              <a:lnSpc>
                <a:spcPct val="112000"/>
              </a:lnSpc>
              <a:spcAft>
                <a:spcPts val="200"/>
              </a:spcAft>
            </a:pPr>
            <a:r>
              <a:rPr sz="950">
                <a:solidFill>
                  <a:srgbClr val="94A3B8"/>
                </a:solidFill>
                <a:latin typeface="Arial"/>
              </a:rPr>
              <a:t>•  </a:t>
            </a:r>
            <a:r>
              <a:rPr sz="950">
                <a:solidFill>
                  <a:srgbClr val="5B6372"/>
                </a:solidFill>
                <a:latin typeface="Arial"/>
              </a:rPr>
              <a:t>If a fixed low port is a hard requirement, that is a LoadBalancer or Ingress requirement, not a NodePort one</a:t>
            </a:r>
          </a:p>
          <a:p>
            <a:pPr>
              <a:lnSpc>
                <a:spcPct val="112000"/>
              </a:lnSpc>
              <a:spcAft>
                <a:spcPts val="200"/>
              </a:spcAft>
            </a:pPr>
            <a:r>
              <a:rPr sz="950">
                <a:solidFill>
                  <a:srgbClr val="94A3B8"/>
                </a:solidFill>
                <a:latin typeface="Arial"/>
              </a:rPr>
              <a:t>•  </a:t>
            </a:r>
            <a:r>
              <a:rPr sz="950">
                <a:solidFill>
                  <a:srgbClr val="5B6372"/>
                </a:solidFill>
                <a:latin typeface="Arial"/>
              </a:rPr>
              <a:t>Widening the range is a cluster-wide API-server change</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get svc -n kcna-lab12 -o jsonpath shows the allocated nodePort inside the range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courseware/labs/lab-12-service-types-nodeport-lb/verification/expected-output.md</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279</a:t>
            </a:r>
          </a:p>
        </p:txBody>
      </p:sp>
    </p:spTree>
  </p:cSld>
  <p:clrMapOvr>
    <a:masterClrMapping/>
  </p:clrMapOvr>
  <p:transition xmlns:ns1="http://schemas.openxmlformats.org/markup-compatibility/2006" spd="fast" ns1:Ignorable="p14">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LOADBALANCER</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has to exist for type: LoadBalancer to mean anything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type: LoadBalancer is a request, not a capability. The cluster records the request whether or not anyone can fulfil it.</a:t>
            </a:r>
          </a:p>
        </p:txBody>
      </p:sp>
      <p:sp>
        <p:nvSpPr>
          <p:cNvPr id="7" name="Rounded Rectangle 6"/>
          <p:cNvSpPr/>
          <p:nvPr/>
        </p:nvSpPr>
        <p:spPr>
          <a:xfrm>
            <a:off x="777240" y="2391765"/>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91765"/>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You set the type</a:t>
            </a:r>
          </a:p>
        </p:txBody>
      </p:sp>
      <p:sp>
        <p:nvSpPr>
          <p:cNvPr id="11" name="TextBox 10"/>
          <p:cNvSpPr txBox="1"/>
          <p:nvPr/>
        </p:nvSpPr>
        <p:spPr>
          <a:xfrm>
            <a:off x="92354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API server accepts it immediately, allocates a ClusterIP and a nodePort, and writes the object.</a:t>
            </a:r>
          </a:p>
        </p:txBody>
      </p:sp>
      <p:cxnSp>
        <p:nvCxnSpPr>
          <p:cNvPr id="12" name="Connector 11"/>
          <p:cNvCxnSpPr/>
          <p:nvPr/>
        </p:nvCxnSpPr>
        <p:spPr>
          <a:xfrm>
            <a:off x="2713939"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91765"/>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91765"/>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 controller must be watching</a:t>
            </a:r>
          </a:p>
        </p:txBody>
      </p:sp>
      <p:sp>
        <p:nvSpPr>
          <p:cNvPr id="17" name="TextBox 16"/>
          <p:cNvSpPr txBox="1"/>
          <p:nvPr/>
        </p:nvSpPr>
        <p:spPr>
          <a:xfrm>
            <a:off x="3125419"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cloud-controller-manager, or an implementation such as MetalLB. Nothing in Kubernetes itself provisions one.</a:t>
            </a:r>
          </a:p>
        </p:txBody>
      </p:sp>
      <p:cxnSp>
        <p:nvCxnSpPr>
          <p:cNvPr id="18" name="Connector 17"/>
          <p:cNvCxnSpPr/>
          <p:nvPr/>
        </p:nvCxnSpPr>
        <p:spPr>
          <a:xfrm>
            <a:off x="4915814"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91765"/>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91765"/>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The provider creates the LB</a:t>
            </a:r>
          </a:p>
        </p:txBody>
      </p:sp>
      <p:sp>
        <p:nvSpPr>
          <p:cNvPr id="23" name="TextBox 22"/>
          <p:cNvSpPr txBox="1"/>
          <p:nvPr/>
        </p:nvSpPr>
        <p:spPr>
          <a:xfrm>
            <a:off x="532729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 external load balancer is created and pointed at the nodePort on the cluster's nodes.</a:t>
            </a:r>
          </a:p>
        </p:txBody>
      </p:sp>
      <p:cxnSp>
        <p:nvCxnSpPr>
          <p:cNvPr id="24" name="Connector 23"/>
          <p:cNvCxnSpPr/>
          <p:nvPr/>
        </p:nvCxnSpPr>
        <p:spPr>
          <a:xfrm>
            <a:off x="7117689"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91765"/>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91765"/>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Status is written back</a:t>
            </a:r>
          </a:p>
        </p:txBody>
      </p:sp>
      <p:sp>
        <p:nvSpPr>
          <p:cNvPr id="29" name="TextBox 28"/>
          <p:cNvSpPr txBox="1"/>
          <p:nvPr/>
        </p:nvSpPr>
        <p:spPr>
          <a:xfrm>
            <a:off x="7529169"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controller sets .status.loadBalancer.ingress[], which is what fills the EXTERNAL-IP column.</a:t>
            </a:r>
          </a:p>
        </p:txBody>
      </p:sp>
      <p:cxnSp>
        <p:nvCxnSpPr>
          <p:cNvPr id="30" name="Connector 29"/>
          <p:cNvCxnSpPr/>
          <p:nvPr/>
        </p:nvCxnSpPr>
        <p:spPr>
          <a:xfrm>
            <a:off x="9319564"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91765"/>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91765"/>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No controller, no failure</a:t>
            </a:r>
          </a:p>
        </p:txBody>
      </p:sp>
      <p:sp>
        <p:nvSpPr>
          <p:cNvPr id="35" name="TextBox 34"/>
          <p:cNvSpPr txBox="1"/>
          <p:nvPr/>
        </p:nvSpPr>
        <p:spPr>
          <a:xfrm>
            <a:off x="973104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With nothing watching, EXTERNAL-IP stays &lt;pending&gt; forever. No error, no event, no timeout.</a:t>
            </a:r>
          </a:p>
        </p:txBody>
      </p:sp>
      <p:sp>
        <p:nvSpPr>
          <p:cNvPr id="36" name="Rectangle 35"/>
          <p:cNvSpPr/>
          <p:nvPr/>
        </p:nvSpPr>
        <p:spPr>
          <a:xfrm>
            <a:off x="777240" y="4830165"/>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30165"/>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12461"/>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41061"/>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Permanent &lt;pending&gt; is the documented outcome on a cluster with no load-balancer controller — and it is exactly what a stock kind cluster shows.</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courseware/labs/lab-12-service-types-nodeport-lb/verification/expected-output.md</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280</a:t>
            </a:r>
          </a:p>
        </p:txBody>
      </p:sp>
    </p:spTree>
  </p:cSld>
  <p:clrMapOvr>
    <a:masterClrMapping/>
  </p:clrMapOvr>
  <p:transition xmlns:ns5="http://schemas.openxmlformats.org/markup-compatibility/2006" spd="fast" ns5:Ignorable="p14">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Service shapes, one Deployment, one endpoint set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columns as layers: VIP, then node door, then external address.</a:t>
            </a:r>
          </a:p>
        </p:txBody>
      </p:sp>
      <p:sp>
        <p:nvSpPr>
          <p:cNvPr id="7" name="Rectangle 6"/>
          <p:cNvSpPr/>
          <p:nvPr/>
        </p:nvSpPr>
        <p:spPr>
          <a:xfrm>
            <a:off x="777240" y="2200046"/>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12 — kcna-lab12 on a stock kind cluster</a:t>
            </a:r>
          </a:p>
        </p:txBody>
      </p:sp>
      <p:sp>
        <p:nvSpPr>
          <p:cNvPr id="9" name="TextBox 8"/>
          <p:cNvSpPr txBox="1"/>
          <p:nvPr/>
        </p:nvSpPr>
        <p:spPr>
          <a:xfrm>
            <a:off x="923544" y="2620670"/>
            <a:ext cx="6611112" cy="2436876"/>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svc -n kcna-lab12 -o wide</a:t>
            </a:r>
          </a:p>
          <a:p>
            <a:pPr>
              <a:lnSpc>
                <a:spcPts val="1476"/>
              </a:lnSpc>
              <a:spcAft>
                <a:spcPts val="0"/>
              </a:spcAft>
            </a:pPr>
            <a:r>
              <a:rPr sz="1000">
                <a:solidFill>
                  <a:srgbClr val="E6EDF3"/>
                </a:solidFill>
                <a:latin typeface="Consolas"/>
              </a:rPr>
              <a:t>NAME                     TYPE          CLUSTER-IP    EXTERNAL-IP  PORT(S)</a:t>
            </a:r>
          </a:p>
          <a:p>
            <a:pPr>
              <a:lnSpc>
                <a:spcPts val="1476"/>
              </a:lnSpc>
              <a:spcAft>
                <a:spcPts val="0"/>
              </a:spcAft>
            </a:pPr>
            <a:r>
              <a:rPr sz="1000">
                <a:solidFill>
                  <a:srgbClr val="E6EDF3"/>
                </a:solidFill>
                <a:latin typeface="Consolas"/>
              </a:rPr>
              <a:t>booking-edge-clusterip   ClusterIP     10.96.44.10   &lt;none&gt;       80/TCP</a:t>
            </a:r>
          </a:p>
          <a:p>
            <a:pPr>
              <a:lnSpc>
                <a:spcPts val="1476"/>
              </a:lnSpc>
              <a:spcAft>
                <a:spcPts val="0"/>
              </a:spcAft>
            </a:pPr>
            <a:r>
              <a:rPr sz="1000">
                <a:solidFill>
                  <a:srgbClr val="E6EDF3"/>
                </a:solidFill>
                <a:latin typeface="Consolas"/>
              </a:rPr>
              <a:t>booking-edge-nodeport    NodePort      10.96.51.203  &lt;none&gt;       80:30080/TCP</a:t>
            </a:r>
          </a:p>
          <a:p>
            <a:pPr>
              <a:lnSpc>
                <a:spcPts val="1476"/>
              </a:lnSpc>
              <a:spcAft>
                <a:spcPts val="0"/>
              </a:spcAft>
            </a:pPr>
            <a:r>
              <a:rPr sz="1000">
                <a:solidFill>
                  <a:srgbClr val="E6EDF3"/>
                </a:solidFill>
                <a:latin typeface="Consolas"/>
              </a:rPr>
              <a:t>booking-edge-lb          LoadBalancer  10.96.77.9    &lt;pending&gt;    80:31544/TCP</a:t>
            </a:r>
          </a:p>
          <a:p>
            <a:pPr>
              <a:lnSpc>
                <a:spcPts val="1476"/>
              </a:lnSpc>
              <a:spcAft>
                <a:spcPts val="0"/>
              </a:spcAft>
            </a:pPr>
            <a:r>
              <a:rPr sz="1000">
                <a:solidFill>
                  <a:srgbClr val="E6EDF3"/>
                </a:solidFill>
                <a:latin typeface="Consolas"/>
              </a:rPr>
              <a:t>booking-edge-headless    ClusterIP     None          &lt;none&gt;       80/TCP</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describe svc booking-edge-lb -n kcna-lab12</a:t>
            </a:r>
          </a:p>
          <a:p>
            <a:pPr>
              <a:lnSpc>
                <a:spcPts val="1476"/>
              </a:lnSpc>
              <a:spcAft>
                <a:spcPts val="0"/>
              </a:spcAft>
            </a:pPr>
            <a:r>
              <a:rPr sz="1000">
                <a:solidFill>
                  <a:srgbClr val="E6EDF3"/>
                </a:solidFill>
                <a:latin typeface="Consolas"/>
              </a:rPr>
              <a:t>Events:  &lt;none&gt;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All four resolve to the same two endpoint addresses</a:t>
            </a:r>
          </a:p>
          <a:p>
            <a:pPr>
              <a:lnSpc>
                <a:spcPts val="1476"/>
              </a:lnSpc>
              <a:spcAft>
                <a:spcPts val="0"/>
              </a:spcAft>
            </a:pPr>
            <a:r>
              <a:rPr sz="1000">
                <a:solidFill>
                  <a:srgbClr val="7EE787"/>
                </a:solidFill>
                <a:latin typeface="Consolas"/>
              </a:rPr>
              <a:t>$ kubectl get endpointslices -n kcna-lab12 \</a:t>
            </a:r>
          </a:p>
          <a:p>
            <a:pPr>
              <a:lnSpc>
                <a:spcPts val="1476"/>
              </a:lnSpc>
              <a:spcAft>
                <a:spcPts val="0"/>
              </a:spcAft>
            </a:pPr>
            <a:r>
              <a:rPr sz="1000">
                <a:solidFill>
                  <a:srgbClr val="E6EDF3"/>
                </a:solidFill>
                <a:latin typeface="Consolas"/>
              </a:rPr>
              <a:t>    -o custom-columns=NAME:.metadata.name,EP:.endpoints[*].addresses</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nesting is visible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LoadBalancer row still shows a ClusterIP and still shows an auto-allocated nodePort, 31544.</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&lt;pending&gt; is not an error state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the honest representation of an unfulfilled request on a cluster with no LB controller.</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Events: &lt;none&gt; is the corroboration</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Nothing has even looked at the object. Combine the two signals rather than relying on either alone.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None is a literal</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headless row shows the string None in CLUSTER-IP, not an empty cell.</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One selector, one backend set</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All four Services select the same Pods, so all four produce identical endpoint addresses.</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courseware/labs/lab-12-service-types-nodeport-lb/verification/expected-output.md</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281</a:t>
            </a:r>
          </a:p>
        </p:txBody>
      </p:sp>
    </p:spTree>
  </p:cSld>
  <p:clrMapOvr>
    <a:masterClrMapping/>
  </p:clrMapOvr>
  <p:transition xmlns:ns1="http://schemas.openxmlformats.org/markup-compatibility/2006" spd="fast" ns1:Ignorable="p14">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Which Service type does this requirement actually need?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Externally reachable is a requirement, not a preference. Everything else follows from it.</a:t>
            </a:r>
          </a:p>
        </p:txBody>
      </p:sp>
      <p:sp>
        <p:nvSpPr>
          <p:cNvPr id="7" name="Diamond 6"/>
          <p:cNvSpPr/>
          <p:nvPr/>
        </p:nvSpPr>
        <p:spPr>
          <a:xfrm>
            <a:off x="4206240" y="227754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a caller OUTSIDE the cluster need to reach this workload directly?</a:t>
            </a:r>
          </a:p>
        </p:txBody>
      </p:sp>
      <p:sp>
        <p:nvSpPr>
          <p:cNvPr id="8" name="Rounded Rectangle 7"/>
          <p:cNvSpPr/>
          <p:nvPr/>
        </p:nvSpPr>
        <p:spPr>
          <a:xfrm>
            <a:off x="777240" y="3914322"/>
            <a:ext cx="5199278" cy="2065853"/>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3914322"/>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it must be externally reachable</a:t>
            </a:r>
          </a:p>
        </p:txBody>
      </p:sp>
      <p:sp>
        <p:nvSpPr>
          <p:cNvPr id="11" name="TextBox 10"/>
          <p:cNvSpPr txBox="1"/>
          <p:nvPr/>
        </p:nvSpPr>
        <p:spPr>
          <a:xfrm>
            <a:off x="1014983"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Managed cloud and one L4 endpoint per app → LoadBalancer</a:t>
            </a:r>
          </a:p>
          <a:p>
            <a:pPr>
              <a:lnSpc>
                <a:spcPct val="112000"/>
              </a:lnSpc>
              <a:spcAft>
                <a:spcPts val="500"/>
              </a:spcAft>
            </a:pPr>
            <a:r>
              <a:rPr sz="1100">
                <a:solidFill>
                  <a:srgbClr val="94A3B8"/>
                </a:solidFill>
                <a:latin typeface="Arial"/>
              </a:rPr>
              <a:t>•  </a:t>
            </a:r>
            <a:r>
              <a:rPr sz="1100">
                <a:solidFill>
                  <a:srgbClr val="5B6372"/>
                </a:solidFill>
                <a:latin typeface="Arial"/>
              </a:rPr>
              <a:t>Many HTTP apps sharing one entry point → an Ingress or Gateway in front of ClusterIP Services</a:t>
            </a:r>
          </a:p>
          <a:p>
            <a:pPr>
              <a:lnSpc>
                <a:spcPct val="112000"/>
              </a:lnSpc>
              <a:spcAft>
                <a:spcPts val="500"/>
              </a:spcAft>
            </a:pPr>
            <a:r>
              <a:rPr sz="1100">
                <a:solidFill>
                  <a:srgbClr val="94A3B8"/>
                </a:solidFill>
                <a:latin typeface="Arial"/>
              </a:rPr>
              <a:t>•  </a:t>
            </a:r>
            <a:r>
              <a:rPr sz="1100">
                <a:solidFill>
                  <a:srgbClr val="5B6372"/>
                </a:solidFill>
                <a:latin typeface="Arial"/>
              </a:rPr>
              <a:t>Bare metal with no LB implementation → NodePort plus your own external load balancer</a:t>
            </a:r>
          </a:p>
          <a:p>
            <a:pPr>
              <a:lnSpc>
                <a:spcPct val="112000"/>
              </a:lnSpc>
              <a:spcAft>
                <a:spcPts val="500"/>
              </a:spcAft>
            </a:pPr>
            <a:r>
              <a:rPr sz="1100">
                <a:solidFill>
                  <a:srgbClr val="94A3B8"/>
                </a:solidFill>
                <a:latin typeface="Arial"/>
              </a:rPr>
              <a:t>•  </a:t>
            </a:r>
            <a:r>
              <a:rPr sz="1100">
                <a:solidFill>
                  <a:srgbClr val="5B6372"/>
                </a:solidFill>
                <a:latin typeface="Arial"/>
              </a:rPr>
              <a:t>Cost check: one cloud LB per Service adds up fast</a:t>
            </a:r>
          </a:p>
        </p:txBody>
      </p:sp>
      <p:cxnSp>
        <p:nvCxnSpPr>
          <p:cNvPr id="12" name="Connector 11"/>
          <p:cNvCxnSpPr/>
          <p:nvPr/>
        </p:nvCxnSpPr>
        <p:spPr>
          <a:xfrm flipH="1">
            <a:off x="3376879" y="3182802"/>
            <a:ext cx="1766621" cy="694944"/>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530274"/>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3914322"/>
            <a:ext cx="5199278" cy="2065853"/>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3914322"/>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callers are inside the cluster</a:t>
            </a:r>
          </a:p>
        </p:txBody>
      </p:sp>
      <p:sp>
        <p:nvSpPr>
          <p:cNvPr id="17" name="TextBox 16"/>
          <p:cNvSpPr txBox="1"/>
          <p:nvPr/>
        </p:nvSpPr>
        <p:spPr>
          <a:xfrm>
            <a:off x="6514185"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Stateless backend consumed by other Pods → ClusterIP</a:t>
            </a:r>
          </a:p>
          <a:p>
            <a:pPr>
              <a:lnSpc>
                <a:spcPct val="112000"/>
              </a:lnSpc>
              <a:spcAft>
                <a:spcPts val="500"/>
              </a:spcAft>
            </a:pPr>
            <a:r>
              <a:rPr sz="1100">
                <a:solidFill>
                  <a:srgbClr val="94A3B8"/>
                </a:solidFill>
                <a:latin typeface="Arial"/>
              </a:rPr>
              <a:t>•  </a:t>
            </a:r>
            <a:r>
              <a:rPr sz="1100">
                <a:solidFill>
                  <a:srgbClr val="5B6372"/>
                </a:solidFill>
                <a:latin typeface="Arial"/>
              </a:rPr>
              <a:t>Clients need per-Pod identity or do their own balancing → headless (clusterIP: None)</a:t>
            </a:r>
          </a:p>
          <a:p>
            <a:pPr>
              <a:lnSpc>
                <a:spcPct val="112000"/>
              </a:lnSpc>
              <a:spcAft>
                <a:spcPts val="500"/>
              </a:spcAft>
            </a:pPr>
            <a:r>
              <a:rPr sz="1100">
                <a:solidFill>
                  <a:srgbClr val="94A3B8"/>
                </a:solidFill>
                <a:latin typeface="Arial"/>
              </a:rPr>
              <a:t>•  </a:t>
            </a:r>
            <a:r>
              <a:rPr sz="1100">
                <a:solidFill>
                  <a:srgbClr val="5B6372"/>
                </a:solidFill>
                <a:latin typeface="Arial"/>
              </a:rPr>
              <a:t>Fronting something outside the cluster by name → ExternalName, or ClusterIP with manual EndpointSlices</a:t>
            </a:r>
          </a:p>
          <a:p>
            <a:pPr>
              <a:lnSpc>
                <a:spcPct val="112000"/>
              </a:lnSpc>
              <a:spcAft>
                <a:spcPts val="500"/>
              </a:spcAft>
            </a:pPr>
            <a:r>
              <a:rPr sz="1100">
                <a:solidFill>
                  <a:srgbClr val="94A3B8"/>
                </a:solidFill>
                <a:latin typeface="Arial"/>
              </a:rPr>
              <a:t>•  </a:t>
            </a:r>
            <a:r>
              <a:rPr sz="1100">
                <a:solidFill>
                  <a:srgbClr val="5B6372"/>
                </a:solidFill>
                <a:latin typeface="Arial"/>
              </a:rPr>
              <a:t>Ad-hoc human access for debugging → kubectl port-forward</a:t>
            </a:r>
          </a:p>
        </p:txBody>
      </p:sp>
      <p:cxnSp>
        <p:nvCxnSpPr>
          <p:cNvPr id="18" name="Connector 17"/>
          <p:cNvCxnSpPr/>
          <p:nvPr/>
        </p:nvCxnSpPr>
        <p:spPr>
          <a:xfrm>
            <a:off x="7018019" y="3182802"/>
            <a:ext cx="1858061" cy="694944"/>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530274"/>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282</a:t>
            </a:r>
          </a:p>
        </p:txBody>
      </p:sp>
    </p:spTree>
  </p:cSld>
  <p:clrMapOvr>
    <a:masterClrMapping/>
  </p:clrMapOvr>
  <p:transition xmlns:ns3="http://schemas.openxmlformats.org/markup-compatibility/2006" spd="fast" ns3:Ignorable="p14">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CLI GENERATION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Generating Service manifests without writing YAML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generators exist to save keystrokes, not to replace understanding of the fields.</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Registered outline: generating Service manifests via the CLI</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339"/>
              </a:lnSpc>
              <a:spcAft>
                <a:spcPts val="0"/>
              </a:spcAft>
            </a:pPr>
            <a:r>
              <a:rPr sz="1000">
                <a:solidFill>
                  <a:srgbClr val="7D8A99"/>
                </a:solidFill>
                <a:latin typeface="Consolas"/>
              </a:rPr>
              <a:t># Generate, do not create: --dry-run=client</a:t>
            </a:r>
          </a:p>
          <a:p>
            <a:pPr>
              <a:lnSpc>
                <a:spcPts val="1339"/>
              </a:lnSpc>
              <a:spcAft>
                <a:spcPts val="0"/>
              </a:spcAft>
            </a:pPr>
            <a:r>
              <a:rPr sz="1000">
                <a:solidFill>
                  <a:srgbClr val="7EE787"/>
                </a:solidFill>
                <a:latin typeface="Consolas"/>
              </a:rPr>
              <a:t>$ kubectl create service clusterip quote-api \</a:t>
            </a:r>
          </a:p>
          <a:p>
            <a:pPr>
              <a:lnSpc>
                <a:spcPts val="1339"/>
              </a:lnSpc>
              <a:spcAft>
                <a:spcPts val="0"/>
              </a:spcAft>
            </a:pPr>
            <a:r>
              <a:rPr sz="1000">
                <a:solidFill>
                  <a:srgbClr val="E6EDF3"/>
                </a:solidFill>
                <a:latin typeface="Consolas"/>
              </a:rPr>
              <a:t>    --tcp=80:8080 --dry-run=client -o yaml</a:t>
            </a:r>
          </a:p>
          <a:p>
            <a:pPr>
              <a:lnSpc>
                <a:spcPts val="1339"/>
              </a:lnSpc>
              <a:spcAft>
                <a:spcPts val="0"/>
              </a:spcAft>
            </a:pPr>
            <a:r>
              <a:rPr sz="1000">
                <a:solidFill>
                  <a:srgbClr val="E6EDF3"/>
                </a:solidFill>
                <a:latin typeface="Consolas"/>
              </a:rPr>
              <a:t>apiVersion: v1</a:t>
            </a:r>
          </a:p>
          <a:p>
            <a:pPr>
              <a:lnSpc>
                <a:spcPts val="1339"/>
              </a:lnSpc>
              <a:spcAft>
                <a:spcPts val="0"/>
              </a:spcAft>
            </a:pPr>
            <a:r>
              <a:rPr sz="1000">
                <a:solidFill>
                  <a:srgbClr val="E6EDF3"/>
                </a:solidFill>
                <a:latin typeface="Consolas"/>
              </a:rPr>
              <a:t>kind: Service</a:t>
            </a:r>
          </a:p>
          <a:p>
            <a:pPr>
              <a:lnSpc>
                <a:spcPts val="1339"/>
              </a:lnSpc>
              <a:spcAft>
                <a:spcPts val="0"/>
              </a:spcAft>
            </a:pPr>
            <a:r>
              <a:rPr sz="1000">
                <a:solidFill>
                  <a:srgbClr val="E6EDF3"/>
                </a:solidFill>
                <a:latin typeface="Consolas"/>
              </a:rPr>
              <a:t>metadata:</a:t>
            </a:r>
          </a:p>
          <a:p>
            <a:pPr>
              <a:lnSpc>
                <a:spcPts val="1339"/>
              </a:lnSpc>
              <a:spcAft>
                <a:spcPts val="0"/>
              </a:spcAft>
            </a:pPr>
            <a:r>
              <a:rPr sz="1000">
                <a:solidFill>
                  <a:srgbClr val="E6EDF3"/>
                </a:solidFill>
                <a:latin typeface="Consolas"/>
              </a:rPr>
              <a:t>  name: quote-api</a:t>
            </a:r>
          </a:p>
          <a:p>
            <a:pPr>
              <a:lnSpc>
                <a:spcPts val="1339"/>
              </a:lnSpc>
              <a:spcAft>
                <a:spcPts val="0"/>
              </a:spcAft>
            </a:pPr>
            <a:r>
              <a:rPr sz="1000">
                <a:solidFill>
                  <a:srgbClr val="E6EDF3"/>
                </a:solidFill>
                <a:latin typeface="Consolas"/>
              </a:rPr>
              <a:t>spec:</a:t>
            </a:r>
          </a:p>
          <a:p>
            <a:pPr>
              <a:lnSpc>
                <a:spcPts val="1339"/>
              </a:lnSpc>
              <a:spcAft>
                <a:spcPts val="0"/>
              </a:spcAft>
            </a:pPr>
            <a:r>
              <a:rPr sz="1000">
                <a:solidFill>
                  <a:srgbClr val="E6EDF3"/>
                </a:solidFill>
                <a:latin typeface="Consolas"/>
              </a:rPr>
              <a:t>  ports:</a:t>
            </a:r>
          </a:p>
          <a:p>
            <a:pPr>
              <a:lnSpc>
                <a:spcPts val="1339"/>
              </a:lnSpc>
              <a:spcAft>
                <a:spcPts val="0"/>
              </a:spcAft>
            </a:pPr>
            <a:r>
              <a:rPr sz="1000">
                <a:solidFill>
                  <a:srgbClr val="E6EDF3"/>
                </a:solidFill>
                <a:latin typeface="Consolas"/>
              </a:rPr>
              <a:t>  - name: 80-8080</a:t>
            </a:r>
          </a:p>
          <a:p>
            <a:pPr>
              <a:lnSpc>
                <a:spcPts val="1339"/>
              </a:lnSpc>
              <a:spcAft>
                <a:spcPts val="0"/>
              </a:spcAft>
            </a:pPr>
            <a:r>
              <a:rPr sz="1000">
                <a:solidFill>
                  <a:srgbClr val="E6EDF3"/>
                </a:solidFill>
                <a:latin typeface="Consolas"/>
              </a:rPr>
              <a:t>    port: 80</a:t>
            </a:r>
          </a:p>
          <a:p>
            <a:pPr>
              <a:lnSpc>
                <a:spcPts val="1339"/>
              </a:lnSpc>
              <a:spcAft>
                <a:spcPts val="0"/>
              </a:spcAft>
            </a:pPr>
            <a:r>
              <a:rPr sz="1000">
                <a:solidFill>
                  <a:srgbClr val="E6EDF3"/>
                </a:solidFill>
                <a:latin typeface="Consolas"/>
              </a:rPr>
              <a:t>    targetPort: 8080</a:t>
            </a:r>
          </a:p>
          <a:p>
            <a:pPr>
              <a:lnSpc>
                <a:spcPts val="1339"/>
              </a:lnSpc>
              <a:spcAft>
                <a:spcPts val="0"/>
              </a:spcAft>
            </a:pPr>
            <a:r>
              <a:rPr sz="1000">
                <a:solidFill>
                  <a:srgbClr val="E6EDF3"/>
                </a:solidFill>
                <a:latin typeface="Consolas"/>
              </a:rPr>
              <a:t>  selector:</a:t>
            </a:r>
          </a:p>
          <a:p>
            <a:pPr>
              <a:lnSpc>
                <a:spcPts val="1339"/>
              </a:lnSpc>
              <a:spcAft>
                <a:spcPts val="0"/>
              </a:spcAft>
            </a:pPr>
            <a:r>
              <a:rPr sz="1000">
                <a:solidFill>
                  <a:srgbClr val="E6EDF3"/>
                </a:solidFill>
                <a:latin typeface="Consolas"/>
              </a:rPr>
              <a:t>    app: quote-api</a:t>
            </a:r>
          </a:p>
          <a:p>
            <a:pPr>
              <a:lnSpc>
                <a:spcPts val="1339"/>
              </a:lnSpc>
              <a:spcAft>
                <a:spcPts val="0"/>
              </a:spcAft>
            </a:pPr>
            <a:r>
              <a:rPr sz="1000">
                <a:solidFill>
                  <a:srgbClr val="E6EDF3"/>
                </a:solidFill>
                <a:latin typeface="Consolas"/>
              </a:rPr>
              <a:t>  type: ClusterIP</a:t>
            </a:r>
          </a:p>
          <a:p>
            <a:pPr>
              <a:lnSpc>
                <a:spcPts val="1339"/>
              </a:lnSpc>
              <a:spcAft>
                <a:spcPts val="0"/>
              </a:spcAft>
            </a:pPr>
            <a:r>
              <a:rPr sz="1000">
                <a:solidFill>
                  <a:srgbClr val="E6EDF3"/>
                </a:solidFill>
                <a:latin typeface="Consolas"/>
              </a:rPr>
              <a:t> </a:t>
            </a:r>
          </a:p>
          <a:p>
            <a:pPr>
              <a:lnSpc>
                <a:spcPts val="1339"/>
              </a:lnSpc>
              <a:spcAft>
                <a:spcPts val="0"/>
              </a:spcAft>
            </a:pPr>
            <a:r>
              <a:rPr sz="1000">
                <a:solidFill>
                  <a:srgbClr val="7D8A99"/>
                </a:solidFill>
                <a:latin typeface="Consolas"/>
              </a:rPr>
              <a:t># Derive from an existing workload instead:</a:t>
            </a:r>
          </a:p>
          <a:p>
            <a:pPr>
              <a:lnSpc>
                <a:spcPts val="1339"/>
              </a:lnSpc>
              <a:spcAft>
                <a:spcPts val="0"/>
              </a:spcAft>
            </a:pPr>
            <a:r>
              <a:rPr sz="1000">
                <a:solidFill>
                  <a:srgbClr val="7EE787"/>
                </a:solidFill>
                <a:latin typeface="Consolas"/>
              </a:rPr>
              <a:t>$ kubectl expose deployment quote-api --port=80 \</a:t>
            </a:r>
          </a:p>
          <a:p>
            <a:pPr>
              <a:lnSpc>
                <a:spcPts val="1339"/>
              </a:lnSpc>
              <a:spcAft>
                <a:spcPts val="0"/>
              </a:spcAft>
            </a:pPr>
            <a:r>
              <a:rPr sz="1000">
                <a:solidFill>
                  <a:srgbClr val="E6EDF3"/>
                </a:solidFill>
                <a:latin typeface="Consolas"/>
              </a:rPr>
              <a:t>    --target-port=http --dry-run=client -o yaml</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--dry-run=client renders locally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Nothing is sent for creation. You get YAML on stdout to review, edit and commit.</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create service invents the selector</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assumes app: &lt;name&gt;. Check that against the labels your Pods actually carry before applying.</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expose reads the real object</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copies the selector from the Deployment, which is why it is the safer generator of the two.</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Generated port names are ugly</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80-8080 is machine-made. Rename it to something an Ingress backend can refer to readably.</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Generation is a starting point</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output still needs review — it is a draft, not an authored manifest.</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kubernetes.io/docs/reference/generated/kubectl/kubectl-commands#create-service and #expose</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283</a:t>
            </a:r>
          </a:p>
        </p:txBody>
      </p:sp>
    </p:spTree>
  </p:cSld>
  <p:clrMapOvr>
    <a:masterClrMapping/>
  </p:clrMapOvr>
  <p:transition xmlns:ns1="http://schemas.openxmlformats.org/markup-compatibility/2006" spd="fast" ns1:Ignorable="p14">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Lab 12 — Service Types: ClusterIP, NodePort and LoadBalancer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Expose one Meridian Freight backend through all four Service shapes at once - ClusterIP, NodePort, LoadBalancer and headless - and record honestly which ones a stock kind cluster can actually deliver.</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Four Services over a single booking-edge Deployment, proven by kubectl get svc -o wide to share one selector and one endpoint set</a:t>
            </a:r>
          </a:p>
          <a:p>
            <a:pPr>
              <a:lnSpc>
                <a:spcPct val="112000"/>
              </a:lnSpc>
              <a:spcAft>
                <a:spcPts val="500"/>
              </a:spcAft>
            </a:pPr>
            <a:r>
              <a:rPr sz="1050">
                <a:solidFill>
                  <a:srgbClr val="94A3B8"/>
                </a:solidFill>
                <a:latin typeface="Arial"/>
              </a:rPr>
              <a:t>•  </a:t>
            </a:r>
            <a:r>
              <a:rPr sz="1050">
                <a:solidFill>
                  <a:srgbClr val="5B6372"/>
                </a:solidFill>
                <a:latin typeface="Arial"/>
              </a:rPr>
              <a:t>A pinned NodePort on 30080 reached on the node InternalIP from inside the cluster, plus the kind extraPortMappings config in data/ that would expose it to the host</a:t>
            </a:r>
          </a:p>
          <a:p>
            <a:pPr>
              <a:lnSpc>
                <a:spcPct val="112000"/>
              </a:lnSpc>
              <a:spcAft>
                <a:spcPts val="500"/>
              </a:spcAft>
            </a:pPr>
            <a:r>
              <a:rPr sz="1050">
                <a:solidFill>
                  <a:srgbClr val="94A3B8"/>
                </a:solidFill>
                <a:latin typeface="Arial"/>
              </a:rPr>
              <a:t>•  </a:t>
            </a:r>
            <a:r>
              <a:rPr sz="1050">
                <a:solidFill>
                  <a:srgbClr val="5B6372"/>
                </a:solidFill>
                <a:latin typeface="Arial"/>
              </a:rPr>
              <a:t>A LoadBalancer Service documented and asserted as permanently &lt;pending&gt;, with kubectl describe showing Events: &lt;none&gt; as the proof no controller is watching</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The types are nested, not parallel: ClusterIP is inside NodePort is inside LoadBalancer</a:t>
            </a:r>
          </a:p>
          <a:p>
            <a:pPr>
              <a:lnSpc>
                <a:spcPct val="112000"/>
              </a:lnSpc>
              <a:spcAft>
                <a:spcPts val="500"/>
              </a:spcAft>
            </a:pPr>
            <a:r>
              <a:rPr sz="1050">
                <a:solidFill>
                  <a:srgbClr val="94A3B8"/>
                </a:solidFill>
                <a:latin typeface="Arial"/>
              </a:rPr>
              <a:t>•  </a:t>
            </a:r>
            <a:r>
              <a:rPr sz="1050">
                <a:solidFill>
                  <a:srgbClr val="5B6372"/>
                </a:solidFill>
                <a:latin typeface="Arial"/>
              </a:rPr>
              <a:t>nodePort comes from a cluster-wide pool, default 30000-32767 via --service-node-port-range</a:t>
            </a:r>
          </a:p>
          <a:p>
            <a:pPr>
              <a:lnSpc>
                <a:spcPct val="112000"/>
              </a:lnSpc>
              <a:spcAft>
                <a:spcPts val="500"/>
              </a:spcAft>
            </a:pPr>
            <a:r>
              <a:rPr sz="1050">
                <a:solidFill>
                  <a:srgbClr val="94A3B8"/>
                </a:solidFill>
                <a:latin typeface="Arial"/>
              </a:rPr>
              <a:t>•  </a:t>
            </a:r>
            <a:r>
              <a:rPr sz="1050">
                <a:solidFill>
                  <a:srgbClr val="5B6372"/>
                </a:solidFill>
                <a:latin typeface="Arial"/>
              </a:rPr>
              <a:t>type: LoadBalancer is a request that only a cloud-controller-manager or MetalLB can fulfil - kind has neither</a:t>
            </a:r>
          </a:p>
          <a:p>
            <a:pPr>
              <a:lnSpc>
                <a:spcPct val="112000"/>
              </a:lnSpc>
              <a:spcAft>
                <a:spcPts val="500"/>
              </a:spcAft>
            </a:pPr>
            <a:r>
              <a:rPr sz="1050">
                <a:solidFill>
                  <a:srgbClr val="94A3B8"/>
                </a:solidFill>
                <a:latin typeface="Arial"/>
              </a:rPr>
              <a:t>•  </a:t>
            </a:r>
            <a:r>
              <a:rPr sz="1050">
                <a:solidFill>
                  <a:srgbClr val="5B6372"/>
                </a:solidFill>
                <a:latin typeface="Arial"/>
              </a:rPr>
              <a:t>clusterIP: None removes the virtual IP so DNS returns one A record per ready Pod</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12</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kcna-lab12</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LO3 · A2 · K2 K4</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courseware/labs/lab-12-service-types-nodeport-lb/README.md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284</a:t>
            </a:r>
          </a:p>
        </p:txBody>
      </p:sp>
    </p:spTree>
  </p:cSld>
  <p:clrMapOvr>
    <a:masterClrMapping/>
  </p:clrMapOvr>
  <p:transition xmlns:ns1="http://schemas.openxmlformats.org/markup-compatibility/2006" spd="fast" ns1:Ignorable="p14">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CHECKPOINT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Services and DNS have established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registered topics meet here: routing gets richer, and then access gets restricted.</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SETTLED BEFORE LUNCH</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Pods have real IPs; ClusterIPs are rules, not interfaces</a:t>
            </a:r>
          </a:p>
          <a:p>
            <a:pPr>
              <a:lnSpc>
                <a:spcPct val="112000"/>
              </a:lnSpc>
              <a:spcAft>
                <a:spcPts val="700"/>
              </a:spcAft>
            </a:pPr>
            <a:r>
              <a:rPr sz="1150">
                <a:solidFill>
                  <a:srgbClr val="94A3B8"/>
                </a:solidFill>
                <a:latin typeface="Arial"/>
              </a:rPr>
              <a:t>•  </a:t>
            </a:r>
            <a:r>
              <a:rPr sz="1150">
                <a:solidFill>
                  <a:srgbClr val="5B6372"/>
                </a:solidFill>
                <a:latin typeface="Arial"/>
              </a:rPr>
              <a:t>A Service stores a selector; the controller derives the EndpointSlice from it continuously</a:t>
            </a:r>
          </a:p>
          <a:p>
            <a:pPr>
              <a:lnSpc>
                <a:spcPct val="112000"/>
              </a:lnSpc>
              <a:spcAft>
                <a:spcPts val="700"/>
              </a:spcAft>
            </a:pPr>
            <a:r>
              <a:rPr sz="1150">
                <a:solidFill>
                  <a:srgbClr val="94A3B8"/>
                </a:solidFill>
                <a:latin typeface="Arial"/>
              </a:rPr>
              <a:t>•  </a:t>
            </a:r>
            <a:r>
              <a:rPr sz="1150">
                <a:solidFill>
                  <a:srgbClr val="5B6372"/>
                </a:solidFill>
                <a:latin typeface="Arial"/>
              </a:rPr>
              <a:t>kube-proxy programs the kernel — nothing proxies on the data path</a:t>
            </a:r>
          </a:p>
          <a:p>
            <a:pPr>
              <a:lnSpc>
                <a:spcPct val="112000"/>
              </a:lnSpc>
              <a:spcAft>
                <a:spcPts val="700"/>
              </a:spcAft>
            </a:pPr>
            <a:r>
              <a:rPr sz="1150">
                <a:solidFill>
                  <a:srgbClr val="94A3B8"/>
                </a:solidFill>
                <a:latin typeface="Arial"/>
              </a:rPr>
              <a:t>•  </a:t>
            </a:r>
            <a:r>
              <a:rPr sz="1150">
                <a:solidFill>
                  <a:srgbClr val="5B6372"/>
                </a:solidFill>
                <a:latin typeface="Arial"/>
              </a:rPr>
              <a:t>DNS gives a stable name; the search list and ndots:5 explain both the convenience and the cost</a:t>
            </a:r>
          </a:p>
          <a:p>
            <a:pPr>
              <a:lnSpc>
                <a:spcPct val="112000"/>
              </a:lnSpc>
              <a:spcAft>
                <a:spcPts val="700"/>
              </a:spcAft>
            </a:pPr>
            <a:r>
              <a:rPr sz="1150">
                <a:solidFill>
                  <a:srgbClr val="94A3B8"/>
                </a:solidFill>
                <a:latin typeface="Arial"/>
              </a:rPr>
              <a:t>•  </a:t>
            </a:r>
            <a:r>
              <a:rPr sz="1150">
                <a:solidFill>
                  <a:srgbClr val="5B6372"/>
                </a:solidFill>
                <a:latin typeface="Arial"/>
              </a:rPr>
              <a:t>The four Service shapes are nested layers over one base</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CARRY INTO THE AFTERNOON</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Everything so far balances at layer 4 only — no host, path or header awareness anywhere</a:t>
            </a:r>
          </a:p>
          <a:p>
            <a:pPr>
              <a:lnSpc>
                <a:spcPct val="112000"/>
              </a:lnSpc>
              <a:spcAft>
                <a:spcPts val="700"/>
              </a:spcAft>
            </a:pPr>
            <a:r>
              <a:rPr sz="1150">
                <a:solidFill>
                  <a:srgbClr val="94A3B8"/>
                </a:solidFill>
                <a:latin typeface="Arial"/>
              </a:rPr>
              <a:t>•  </a:t>
            </a:r>
            <a:r>
              <a:rPr sz="1150">
                <a:solidFill>
                  <a:srgbClr val="5B6372"/>
                </a:solidFill>
                <a:latin typeface="Arial"/>
              </a:rPr>
              <a:t>Nothing so far restricts who may connect; the network is still flat and open</a:t>
            </a:r>
          </a:p>
          <a:p>
            <a:pPr>
              <a:lnSpc>
                <a:spcPct val="112000"/>
              </a:lnSpc>
              <a:spcAft>
                <a:spcPts val="700"/>
              </a:spcAft>
            </a:pPr>
            <a:r>
              <a:rPr sz="1150">
                <a:solidFill>
                  <a:srgbClr val="94A3B8"/>
                </a:solidFill>
                <a:latin typeface="Arial"/>
              </a:rPr>
              <a:t>•  </a:t>
            </a:r>
            <a:r>
              <a:rPr sz="1150">
                <a:solidFill>
                  <a:srgbClr val="5B6372"/>
                </a:solidFill>
                <a:latin typeface="Arial"/>
              </a:rPr>
              <a:t>A declaration with no controller behind it is inert — you have now seen that with LoadBalancer</a:t>
            </a:r>
          </a:p>
          <a:p>
            <a:pPr>
              <a:lnSpc>
                <a:spcPct val="112000"/>
              </a:lnSpc>
              <a:spcAft>
                <a:spcPts val="700"/>
              </a:spcAft>
            </a:pPr>
            <a:r>
              <a:rPr sz="1150">
                <a:solidFill>
                  <a:srgbClr val="94A3B8"/>
                </a:solidFill>
                <a:latin typeface="Arial"/>
              </a:rPr>
              <a:t>•  </a:t>
            </a:r>
            <a:r>
              <a:rPr sz="1150">
                <a:solidFill>
                  <a:srgbClr val="5B6372"/>
                </a:solidFill>
                <a:latin typeface="Arial"/>
              </a:rPr>
              <a:t>That exact pattern repeats with Ingress after lunch</a:t>
            </a:r>
          </a:p>
          <a:p>
            <a:pPr>
              <a:lnSpc>
                <a:spcPct val="112000"/>
              </a:lnSpc>
              <a:spcAft>
                <a:spcPts val="700"/>
              </a:spcAft>
            </a:pPr>
            <a:r>
              <a:rPr sz="1150">
                <a:solidFill>
                  <a:srgbClr val="94A3B8"/>
                </a:solidFill>
                <a:latin typeface="Arial"/>
              </a:rPr>
              <a:t>•  </a:t>
            </a:r>
            <a:r>
              <a:rPr sz="1150">
                <a:solidFill>
                  <a:srgbClr val="5B6372"/>
                </a:solidFill>
                <a:latin typeface="Arial"/>
              </a:rPr>
              <a:t>Then Topic 4 asks the other half: who is allowed to ask?</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kubernetes.io/docs/concepts/services-networking/dns-pod-service/</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285</a:t>
            </a:r>
          </a:p>
        </p:txBody>
      </p:sp>
    </p:spTree>
  </p:cSld>
  <p:clrMapOvr>
    <a:masterClrMapping/>
  </p:clrMapOvr>
  <p:transition xmlns:ns1="http://schemas.openxmlformats.org/markup-compatibility/2006" spd="fast" ns1:Ignorable="p14">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Lunch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 – 1:50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286</a:t>
            </a:r>
          </a:p>
        </p:txBody>
      </p:sp>
    </p:spTree>
  </p:cSld>
  <p:clrMapOvr>
    <a:masterClrMapping/>
  </p:clrMapOvr>
  <p:transition xmlns:ns1="http://schemas.openxmlformats.org/markup-compatibility/2006" spd="fast" ns1:Ignorable="p14">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MOTIVATION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layer 4 runs out, and what Ingress adds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Ingress exists to consolidate many HTTP services behind one entry point and one certificate story.</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One LoadBalancer per Service is wasteful</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Forty HTTP services means forty external addresses and forty cloud load-balancer bills.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Services cannot see a hostname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shop.example.com and tracking.example.com arrive on the same socket. Layer 4 cannot tell them apart.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Services cannot see a path</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/api and /static must reach different backends. A ClusterIP has no idea what a path is.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TLS has to terminate somewhere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Certificates, SNI and HTTP/2 negotiation belong at the edge, not in every application container.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Ingress is the L7 declaration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networking.k8s.io/v1: host rules, path rules with a pathType, a default backend and a TLS block.</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An Ingress controller is the implementation</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object is inert until a controller claims it. This is the LoadBalancer lesson again, one layer up.</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287</a:t>
            </a:r>
          </a:p>
        </p:txBody>
      </p:sp>
    </p:spTree>
  </p:cSld>
  <p:clrMapOvr>
    <a:masterClrMapping/>
  </p:clrMapOvr>
  <p:transition xmlns:ns1="http://schemas.openxmlformats.org/markup-compatibility/2006" spd="fast" ns1:Ignorable="p14">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DATA PATH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an Ingress controller actually sits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Traffic enters through the controller's OWN Service. The Ingress object never carries a packet.</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DECLARATION (API OBJECTS)</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Ingress</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Host and path rules, pathType, backend service+port, tls block</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IngressClass</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Names a controller; created BY the controller, not by you</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Secret (kubernetes.io/tls)</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tls.crt and tls.key that the controller will serve</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IMPLEMENTATION (RUNS IN THE CLUSTER)</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Controller Pod</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Watches Ingress objects it is entitled to claim, via its IngressClass</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Reverse proxy config</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Rules are compiled into the proxy's own configuration and reloaded</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Its own Service</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Usually LoadBalancer or NodePort — the controller needs its own way in</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BACKENDS (UNCHANGED)</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ClusterIP Service</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Ingress backend the controller resolves and forwards to</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EndpointSlice</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Many controllers bypass the VIP and send straight to endpoint IPs</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Pods</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Receive plain HTTP; TLS was terminated at the controller</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Ingress routing is a two-hop story: something external reaches the controller, and the controller reaches your backend. Both hops must exist before anything works.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 · kubernetes.io/docs/concepts/services-networking/ingress-controllers/ · retirement notice: kubernetes.io/blog/2025/11/11/ingress-nginx-retirement/</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288</a:t>
            </a:r>
          </a:p>
        </p:txBody>
      </p:sp>
    </p:spTree>
  </p:cSld>
  <p:clrMapOvr>
    <a:masterClrMapping/>
  </p:clrMapOvr>
  <p:transition xmlns:ns1="http://schemas.openxmlformats.org/markup-compatibility/2006" spd="fast" ns1:Ignorable="p14">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Ingress rule, read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Creating an Ingress resource is a registered outline item. These are the fields that decide its behaviour.</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40-ingress-shop.yaml (Lab 13, abridged)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211"/>
              </a:lnSpc>
              <a:spcAft>
                <a:spcPts val="0"/>
              </a:spcAft>
            </a:pPr>
            <a:r>
              <a:rPr sz="1050">
                <a:solidFill>
                  <a:srgbClr val="E6EDF3"/>
                </a:solidFill>
                <a:latin typeface="Consolas"/>
              </a:rPr>
              <a:t>apiVersion: networking.k8s.io/v1</a:t>
            </a:r>
          </a:p>
          <a:p>
            <a:pPr>
              <a:lnSpc>
                <a:spcPts val="1211"/>
              </a:lnSpc>
              <a:spcAft>
                <a:spcPts val="0"/>
              </a:spcAft>
            </a:pPr>
            <a:r>
              <a:rPr sz="1050">
                <a:solidFill>
                  <a:srgbClr val="E6EDF3"/>
                </a:solidFill>
                <a:latin typeface="Consolas"/>
              </a:rPr>
              <a:t>kind: Ingress</a:t>
            </a:r>
          </a:p>
          <a:p>
            <a:pPr>
              <a:lnSpc>
                <a:spcPts val="1211"/>
              </a:lnSpc>
              <a:spcAft>
                <a:spcPts val="0"/>
              </a:spcAft>
            </a:pPr>
            <a:r>
              <a:rPr sz="1050">
                <a:solidFill>
                  <a:srgbClr val="E6EDF3"/>
                </a:solidFill>
                <a:latin typeface="Consolas"/>
              </a:rPr>
              <a:t>metadata:</a:t>
            </a:r>
          </a:p>
          <a:p>
            <a:pPr>
              <a:lnSpc>
                <a:spcPts val="1211"/>
              </a:lnSpc>
              <a:spcAft>
                <a:spcPts val="0"/>
              </a:spcAft>
            </a:pPr>
            <a:r>
              <a:rPr sz="1050">
                <a:solidFill>
                  <a:srgbClr val="E6EDF3"/>
                </a:solidFill>
                <a:latin typeface="Consolas"/>
              </a:rPr>
              <a:t>  name: meridian-shop</a:t>
            </a:r>
          </a:p>
          <a:p>
            <a:pPr>
              <a:lnSpc>
                <a:spcPts val="1211"/>
              </a:lnSpc>
              <a:spcAft>
                <a:spcPts val="0"/>
              </a:spcAft>
            </a:pPr>
            <a:r>
              <a:rPr sz="1050">
                <a:solidFill>
                  <a:srgbClr val="E6EDF3"/>
                </a:solidFill>
                <a:latin typeface="Consolas"/>
              </a:rPr>
              <a:t>  namespace: kcna-lab13</a:t>
            </a:r>
          </a:p>
          <a:p>
            <a:pPr>
              <a:lnSpc>
                <a:spcPts val="1211"/>
              </a:lnSpc>
              <a:spcAft>
                <a:spcPts val="0"/>
              </a:spcAft>
            </a:pPr>
            <a:r>
              <a:rPr sz="1050">
                <a:solidFill>
                  <a:srgbClr val="E6EDF3"/>
                </a:solidFill>
                <a:latin typeface="Consolas"/>
              </a:rPr>
              <a:t>spec:</a:t>
            </a:r>
          </a:p>
          <a:p>
            <a:pPr>
              <a:lnSpc>
                <a:spcPts val="1211"/>
              </a:lnSpc>
              <a:spcAft>
                <a:spcPts val="0"/>
              </a:spcAft>
            </a:pPr>
            <a:r>
              <a:rPr sz="1050">
                <a:solidFill>
                  <a:srgbClr val="E6EDF3"/>
                </a:solidFill>
                <a:latin typeface="Consolas"/>
              </a:rPr>
              <a:t>  ingressClassName: meridian-edge</a:t>
            </a:r>
          </a:p>
          <a:p>
            <a:pPr>
              <a:lnSpc>
                <a:spcPts val="1211"/>
              </a:lnSpc>
              <a:spcAft>
                <a:spcPts val="0"/>
              </a:spcAft>
            </a:pPr>
            <a:r>
              <a:rPr sz="1050">
                <a:solidFill>
                  <a:srgbClr val="E6EDF3"/>
                </a:solidFill>
                <a:latin typeface="Consolas"/>
              </a:rPr>
              <a:t>  defaultBackend:</a:t>
            </a:r>
          </a:p>
          <a:p>
            <a:pPr>
              <a:lnSpc>
                <a:spcPts val="1211"/>
              </a:lnSpc>
              <a:spcAft>
                <a:spcPts val="0"/>
              </a:spcAft>
            </a:pPr>
            <a:r>
              <a:rPr sz="1050">
                <a:solidFill>
                  <a:srgbClr val="E6EDF3"/>
                </a:solidFill>
                <a:latin typeface="Consolas"/>
              </a:rPr>
              <a:t>    service:</a:t>
            </a:r>
          </a:p>
          <a:p>
            <a:pPr>
              <a:lnSpc>
                <a:spcPts val="1211"/>
              </a:lnSpc>
              <a:spcAft>
                <a:spcPts val="0"/>
              </a:spcAft>
            </a:pPr>
            <a:r>
              <a:rPr sz="1050">
                <a:solidFill>
                  <a:srgbClr val="E6EDF3"/>
                </a:solidFill>
                <a:latin typeface="Consolas"/>
              </a:rPr>
              <a:t>      name: route-fallback-svc</a:t>
            </a:r>
          </a:p>
          <a:p>
            <a:pPr>
              <a:lnSpc>
                <a:spcPts val="1211"/>
              </a:lnSpc>
              <a:spcAft>
                <a:spcPts val="0"/>
              </a:spcAft>
            </a:pPr>
            <a:r>
              <a:rPr sz="1050">
                <a:solidFill>
                  <a:srgbClr val="E6EDF3"/>
                </a:solidFill>
                <a:latin typeface="Consolas"/>
              </a:rPr>
              <a:t>      port: {number: 80}</a:t>
            </a:r>
          </a:p>
          <a:p>
            <a:pPr>
              <a:lnSpc>
                <a:spcPts val="1211"/>
              </a:lnSpc>
              <a:spcAft>
                <a:spcPts val="0"/>
              </a:spcAft>
            </a:pPr>
            <a:r>
              <a:rPr sz="1050">
                <a:solidFill>
                  <a:srgbClr val="E6EDF3"/>
                </a:solidFill>
                <a:latin typeface="Consolas"/>
              </a:rPr>
              <a:t>  rules:</a:t>
            </a:r>
          </a:p>
          <a:p>
            <a:pPr>
              <a:lnSpc>
                <a:spcPts val="1211"/>
              </a:lnSpc>
              <a:spcAft>
                <a:spcPts val="0"/>
              </a:spcAft>
            </a:pPr>
            <a:r>
              <a:rPr sz="1050">
                <a:solidFill>
                  <a:srgbClr val="E6EDF3"/>
                </a:solidFill>
                <a:latin typeface="Consolas"/>
              </a:rPr>
              <a:t>    - host: shop.meridianfreight.internal</a:t>
            </a:r>
          </a:p>
          <a:p>
            <a:pPr>
              <a:lnSpc>
                <a:spcPts val="1211"/>
              </a:lnSpc>
              <a:spcAft>
                <a:spcPts val="0"/>
              </a:spcAft>
            </a:pPr>
            <a:r>
              <a:rPr sz="1050">
                <a:solidFill>
                  <a:srgbClr val="E6EDF3"/>
                </a:solidFill>
                <a:latin typeface="Consolas"/>
              </a:rPr>
              <a:t>      http:</a:t>
            </a:r>
          </a:p>
          <a:p>
            <a:pPr>
              <a:lnSpc>
                <a:spcPts val="1211"/>
              </a:lnSpc>
              <a:spcAft>
                <a:spcPts val="0"/>
              </a:spcAft>
            </a:pPr>
            <a:r>
              <a:rPr sz="1050">
                <a:solidFill>
                  <a:srgbClr val="E6EDF3"/>
                </a:solidFill>
                <a:latin typeface="Consolas"/>
              </a:rPr>
              <a:t>        paths:</a:t>
            </a:r>
          </a:p>
          <a:p>
            <a:pPr>
              <a:lnSpc>
                <a:spcPts val="1211"/>
              </a:lnSpc>
              <a:spcAft>
                <a:spcPts val="0"/>
              </a:spcAft>
            </a:pPr>
            <a:r>
              <a:rPr sz="1050">
                <a:solidFill>
                  <a:srgbClr val="E6EDF3"/>
                </a:solidFill>
                <a:latin typeface="Consolas"/>
              </a:rPr>
              <a:t>          - path: /catalog</a:t>
            </a:r>
          </a:p>
          <a:p>
            <a:pPr>
              <a:lnSpc>
                <a:spcPts val="1211"/>
              </a:lnSpc>
              <a:spcAft>
                <a:spcPts val="0"/>
              </a:spcAft>
            </a:pPr>
            <a:r>
              <a:rPr sz="1050">
                <a:solidFill>
                  <a:srgbClr val="E6EDF3"/>
                </a:solidFill>
                <a:latin typeface="Consolas"/>
              </a:rPr>
              <a:t>            pathType: Prefix</a:t>
            </a:r>
          </a:p>
          <a:p>
            <a:pPr>
              <a:lnSpc>
                <a:spcPts val="1211"/>
              </a:lnSpc>
              <a:spcAft>
                <a:spcPts val="0"/>
              </a:spcAft>
            </a:pPr>
            <a:r>
              <a:rPr sz="1050">
                <a:solidFill>
                  <a:srgbClr val="E6EDF3"/>
                </a:solidFill>
                <a:latin typeface="Consolas"/>
              </a:rPr>
              <a:t>            backend:</a:t>
            </a:r>
          </a:p>
          <a:p>
            <a:pPr>
              <a:lnSpc>
                <a:spcPts val="1211"/>
              </a:lnSpc>
              <a:spcAft>
                <a:spcPts val="0"/>
              </a:spcAft>
            </a:pPr>
            <a:r>
              <a:rPr sz="1050">
                <a:solidFill>
                  <a:srgbClr val="E6EDF3"/>
                </a:solidFill>
                <a:latin typeface="Consolas"/>
              </a:rPr>
              <a:t>              service:</a:t>
            </a:r>
          </a:p>
          <a:p>
            <a:pPr>
              <a:lnSpc>
                <a:spcPts val="1211"/>
              </a:lnSpc>
              <a:spcAft>
                <a:spcPts val="0"/>
              </a:spcAft>
            </a:pPr>
            <a:r>
              <a:rPr sz="1050">
                <a:solidFill>
                  <a:srgbClr val="E6EDF3"/>
                </a:solidFill>
                <a:latin typeface="Consolas"/>
              </a:rPr>
              <a:t>                name: catalog-svc</a:t>
            </a:r>
          </a:p>
          <a:p>
            <a:pPr>
              <a:lnSpc>
                <a:spcPts val="1211"/>
              </a:lnSpc>
              <a:spcAft>
                <a:spcPts val="0"/>
              </a:spcAft>
            </a:pPr>
            <a:r>
              <a:rPr sz="1050">
                <a:solidFill>
                  <a:srgbClr val="E6EDF3"/>
                </a:solidFill>
                <a:latin typeface="Consolas"/>
              </a:rPr>
              <a:t>                port: {name: http}</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ingressClassName binds the object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names an IngressClass. A class that does not exist yet is legal, silent and never reconciled.</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defaultBackend catches the rest</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Anything matching no rule goes here. Without it, unmatched requests are the controller's problem.</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host is optional per rule</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Omit it and the rule matches any host. Present, it matches that host only.</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pathType is a required enum</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Exact, Prefix or ImplementationSpecific — case-sensitive, and validated by the API server.</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port by name or number</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Referring to the Service's named port survives a backend port change without editing the Ingress.</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courseware/labs/lab-13-ingress-routing/verification/expected-output.md · kubernetes.io/docs/concepts/services-networking/ingress/</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289</a:t>
            </a:r>
          </a:p>
        </p:txBody>
      </p:sp>
    </p:spTree>
  </p:cSld>
  <p:clrMapOvr>
    <a:masterClrMapping/>
  </p:clrMapOvr>
  <p:transition xmlns:ns1="http://schemas.openxmlformats.org/markup-compatibility/2006" spd="fast" ns1:Ignorable="p14">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pathType and matching semantics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whole matching model in ten lines. Most Ingress bugs are one of rows 3, 5 or 9.</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Exact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request path must equal the value exactly, case-sensitively</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Prefix</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Matches on whole path ELEMENTS split by /, not on string prefix</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Prefix trap</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/catalog matches /catalog/shoes but NEVER /catalogue</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ImplementationSpecific</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Meaning is delegated to the controller — often regex</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Case sensitivity</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enum itself is case-sensitive: "prefix" is rejected</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Longest match wins</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Where multiple paths match, the longest matching path is preferred</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Exact beats Prefix</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At equal length, an Exact match is preferred over a Prefix match</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Trailing slash</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/foo and /foo/ are distinct for Exact; Prefix ignores the trailing slash</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Host wildcards</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*.example.com matches one label only — not example.com itself</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 rewriting in the API</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Path rewriting is an annotation, hence controller-specific and not portable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290</a:t>
            </a:r>
          </a:p>
        </p:txBody>
      </p:sp>
    </p:spTree>
  </p:cSld>
  <p:clrMapOvr>
    <a:masterClrMapping/>
  </p:clrMapOvr>
  <p:transition xmlns:ns1="http://schemas.openxmlformats.org/markup-compatibility/2006" spd="fast" ns1:Ignorable="p14">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Two Ingress failures: one loud, one completely silent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Loud failures teach syntax. Silent ones teach architecture — and cost far more time.</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lowercase pathType is rejected instantly. An Ingress with no usable class is accepted and then ignored forever.</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416"/>
              </a:lnSpc>
              <a:spcAft>
                <a:spcPts val="0"/>
              </a:spcAft>
            </a:pPr>
            <a:r>
              <a:rPr sz="950">
                <a:solidFill>
                  <a:srgbClr val="7D8A99"/>
                </a:solidFill>
                <a:latin typeface="Consolas"/>
              </a:rPr>
              <a:t># LOUD — API server validation</a:t>
            </a:r>
          </a:p>
          <a:p>
            <a:pPr>
              <a:lnSpc>
                <a:spcPts val="1416"/>
              </a:lnSpc>
              <a:spcAft>
                <a:spcPts val="0"/>
              </a:spcAft>
            </a:pPr>
            <a:r>
              <a:rPr sz="950">
                <a:solidFill>
                  <a:srgbClr val="7EE787"/>
                </a:solidFill>
                <a:latin typeface="Consolas"/>
              </a:rPr>
              <a:t>$ kubectl apply -f manifests/60-ingress-invalid-pathtype.yaml</a:t>
            </a:r>
          </a:p>
          <a:p>
            <a:pPr>
              <a:lnSpc>
                <a:spcPts val="1416"/>
              </a:lnSpc>
              <a:spcAft>
                <a:spcPts val="0"/>
              </a:spcAft>
            </a:pPr>
            <a:r>
              <a:rPr sz="950">
                <a:solidFill>
                  <a:srgbClr val="E6EDF3"/>
                </a:solidFill>
                <a:latin typeface="Consolas"/>
              </a:rPr>
              <a:t>The Ingress "meridian-shop-broken" is invalid:</a:t>
            </a:r>
          </a:p>
          <a:p>
            <a:pPr>
              <a:lnSpc>
                <a:spcPts val="1416"/>
              </a:lnSpc>
              <a:spcAft>
                <a:spcPts val="0"/>
              </a:spcAft>
            </a:pPr>
            <a:r>
              <a:rPr sz="950">
                <a:solidFill>
                  <a:srgbClr val="E6EDF3"/>
                </a:solidFill>
                <a:latin typeface="Consolas"/>
              </a:rPr>
              <a:t>  spec.rules[0].http.paths[0].pathType: Unsupported value:</a:t>
            </a:r>
          </a:p>
          <a:p>
            <a:pPr>
              <a:lnSpc>
                <a:spcPts val="1416"/>
              </a:lnSpc>
              <a:spcAft>
                <a:spcPts val="0"/>
              </a:spcAft>
            </a:pPr>
            <a:r>
              <a:rPr sz="950">
                <a:solidFill>
                  <a:srgbClr val="E6EDF3"/>
                </a:solidFill>
                <a:latin typeface="Consolas"/>
              </a:rPr>
              <a:t>  "prefix": supported values: "Exact",</a:t>
            </a:r>
          </a:p>
          <a:p>
            <a:pPr>
              <a:lnSpc>
                <a:spcPts val="1416"/>
              </a:lnSpc>
              <a:spcAft>
                <a:spcPts val="0"/>
              </a:spcAft>
            </a:pPr>
            <a:r>
              <a:rPr sz="950">
                <a:solidFill>
                  <a:srgbClr val="E6EDF3"/>
                </a:solidFill>
                <a:latin typeface="Consolas"/>
              </a:rPr>
              <a:t>  "ImplementationSpecific", "Prefix"</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D8A99"/>
                </a:solidFill>
                <a:latin typeface="Consolas"/>
              </a:rPr>
              <a:t># The same file passes STATIC validation:</a:t>
            </a:r>
          </a:p>
          <a:p>
            <a:pPr>
              <a:lnSpc>
                <a:spcPts val="1416"/>
              </a:lnSpc>
              <a:spcAft>
                <a:spcPts val="0"/>
              </a:spcAft>
            </a:pPr>
            <a:r>
              <a:rPr sz="950">
                <a:solidFill>
                  <a:srgbClr val="7EE787"/>
                </a:solidFill>
                <a:latin typeface="Consolas"/>
              </a:rPr>
              <a:t>$ kubeconform -strict -summary 60-ingress-invalid-pathtype.yaml</a:t>
            </a:r>
          </a:p>
          <a:p>
            <a:pPr>
              <a:lnSpc>
                <a:spcPts val="1416"/>
              </a:lnSpc>
              <a:spcAft>
                <a:spcPts val="0"/>
              </a:spcAft>
            </a:pPr>
            <a:r>
              <a:rPr sz="950">
                <a:solidFill>
                  <a:srgbClr val="E6EDF3"/>
                </a:solidFill>
                <a:latin typeface="Consolas"/>
              </a:rPr>
              <a:t>Valid: 1, Invalid: 0, Errors: 0</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D8A99"/>
                </a:solidFill>
                <a:latin typeface="Consolas"/>
              </a:rPr>
              <a:t># SILENT — created, classless, never reconciled</a:t>
            </a:r>
          </a:p>
          <a:p>
            <a:pPr>
              <a:lnSpc>
                <a:spcPts val="1416"/>
              </a:lnSpc>
              <a:spcAft>
                <a:spcPts val="0"/>
              </a:spcAft>
            </a:pPr>
            <a:r>
              <a:rPr sz="950">
                <a:solidFill>
                  <a:srgbClr val="E6EDF3"/>
                </a:solidFill>
                <a:latin typeface="Consolas"/>
              </a:rPr>
              <a:t>NAME                  CLASS    HOSTS      ADDRESS  PORTS</a:t>
            </a:r>
          </a:p>
          <a:p>
            <a:pPr>
              <a:lnSpc>
                <a:spcPts val="1416"/>
              </a:lnSpc>
              <a:spcAft>
                <a:spcPts val="0"/>
              </a:spcAft>
            </a:pPr>
            <a:r>
              <a:rPr sz="950">
                <a:solidFill>
                  <a:srgbClr val="E6EDF3"/>
                </a:solidFill>
                <a:latin typeface="Consolas"/>
              </a:rPr>
              <a:t>meridian-shop-broken  &lt;none&gt;   shop...             80</a:t>
            </a:r>
          </a:p>
        </p:txBody>
      </p:sp>
      <p:sp>
        <p:nvSpPr>
          <p:cNvPr id="14" name="Rectangle 13"/>
          <p:cNvSpPr/>
          <p:nvPr/>
        </p:nvSpPr>
        <p:spPr>
          <a:xfrm>
            <a:off x="7205472" y="2913278"/>
            <a:ext cx="4270247" cy="1672417"/>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270081"/>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pathType is a closed, case-sensitive enum enforced by the API server, so a linter with the schema still lets it through</a:t>
            </a:r>
          </a:p>
          <a:p>
            <a:pPr>
              <a:lnSpc>
                <a:spcPct val="112000"/>
              </a:lnSpc>
              <a:spcAft>
                <a:spcPts val="200"/>
              </a:spcAft>
            </a:pPr>
            <a:r>
              <a:rPr sz="950">
                <a:solidFill>
                  <a:srgbClr val="94A3B8"/>
                </a:solidFill>
                <a:latin typeface="Arial"/>
              </a:rPr>
              <a:t>•  </a:t>
            </a:r>
            <a:r>
              <a:rPr sz="950">
                <a:solidFill>
                  <a:srgbClr val="5B6372"/>
                </a:solidFill>
                <a:latin typeface="Arial"/>
              </a:rPr>
              <a:t>The silent case is different: the object is valid, but no controller has an IngressClass entitling it to claim it</a:t>
            </a:r>
          </a:p>
          <a:p>
            <a:pPr>
              <a:lnSpc>
                <a:spcPct val="112000"/>
              </a:lnSpc>
              <a:spcAft>
                <a:spcPts val="200"/>
              </a:spcAft>
            </a:pPr>
            <a:r>
              <a:rPr sz="950">
                <a:solidFill>
                  <a:srgbClr val="94A3B8"/>
                </a:solidFill>
                <a:latin typeface="Arial"/>
              </a:rPr>
              <a:t>•  </a:t>
            </a:r>
            <a:r>
              <a:rPr sz="950">
                <a:solidFill>
                  <a:srgbClr val="5B6372"/>
                </a:solidFill>
                <a:latin typeface="Arial"/>
              </a:rPr>
              <a:t>Class handling when ingressClassName is omitted is controller-dependent — a default IngressClass is one mechanism, not the only one</a:t>
            </a:r>
          </a:p>
        </p:txBody>
      </p:sp>
      <p:sp>
        <p:nvSpPr>
          <p:cNvPr id="18" name="Rectangle 17"/>
          <p:cNvSpPr/>
          <p:nvPr/>
        </p:nvSpPr>
        <p:spPr>
          <a:xfrm>
            <a:off x="7205472" y="4695423"/>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695423"/>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731999"/>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5042895"/>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Fix the enum casing — the error names the three legal values</a:t>
            </a:r>
          </a:p>
          <a:p>
            <a:pPr>
              <a:lnSpc>
                <a:spcPct val="112000"/>
              </a:lnSpc>
              <a:spcAft>
                <a:spcPts val="200"/>
              </a:spcAft>
            </a:pPr>
            <a:r>
              <a:rPr sz="950">
                <a:solidFill>
                  <a:srgbClr val="94A3B8"/>
                </a:solidFill>
                <a:latin typeface="Arial"/>
              </a:rPr>
              <a:t>•  </a:t>
            </a:r>
            <a:r>
              <a:rPr sz="950">
                <a:solidFill>
                  <a:srgbClr val="5B6372"/>
                </a:solidFill>
                <a:latin typeface="Arial"/>
              </a:rPr>
              <a:t>For the silent case, confirm which controller is installed and set ingressClassName to a class it actually serves</a:t>
            </a:r>
          </a:p>
          <a:p>
            <a:pPr>
              <a:lnSpc>
                <a:spcPct val="112000"/>
              </a:lnSpc>
              <a:spcAft>
                <a:spcPts val="200"/>
              </a:spcAft>
            </a:pPr>
            <a:r>
              <a:rPr sz="950">
                <a:solidFill>
                  <a:srgbClr val="94A3B8"/>
                </a:solidFill>
                <a:latin typeface="Arial"/>
              </a:rPr>
              <a:t>•  </a:t>
            </a:r>
            <a:r>
              <a:rPr sz="950">
                <a:solidFill>
                  <a:srgbClr val="5B6372"/>
                </a:solidFill>
                <a:latin typeface="Arial"/>
              </a:rPr>
              <a:t>Diagnose with the whole picture: IngressClasses present, controller Pods running, and the object's events</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courseware/labs/lab-13-ingress-routing/verification/expected-output.md · kubernetes.io/docs/concepts/services-networking/ingress/</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291</a:t>
            </a:r>
          </a:p>
        </p:txBody>
      </p:sp>
    </p:spTree>
  </p:cSld>
  <p:clrMapOvr>
    <a:masterClrMapping/>
  </p:clrMapOvr>
  <p:transition xmlns:ns1="http://schemas.openxmlformats.org/markup-compatibility/2006" spd="fast" ns1:Ignorable="p14">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Diagnosing an Ingress precisely — and what NOT to conclude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a lesson in evidential discipline as much as in Ingress.</a:t>
            </a:r>
          </a:p>
        </p:txBody>
      </p:sp>
      <p:sp>
        <p:nvSpPr>
          <p:cNvPr id="7" name="Rectangle 6"/>
          <p:cNvSpPr/>
          <p:nvPr/>
        </p:nvSpPr>
        <p:spPr>
          <a:xfrm>
            <a:off x="777240" y="2200046"/>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13 — a correct Ingress on a cluster with no controller installed</a:t>
            </a:r>
          </a:p>
        </p:txBody>
      </p:sp>
      <p:sp>
        <p:nvSpPr>
          <p:cNvPr id="9" name="TextBox 8"/>
          <p:cNvSpPr txBox="1"/>
          <p:nvPr/>
        </p:nvSpPr>
        <p:spPr>
          <a:xfrm>
            <a:off x="923544" y="2620670"/>
            <a:ext cx="6611112" cy="2436876"/>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ingress -n kcna-lab13</a:t>
            </a:r>
          </a:p>
          <a:p>
            <a:pPr>
              <a:lnSpc>
                <a:spcPts val="1476"/>
              </a:lnSpc>
              <a:spcAft>
                <a:spcPts val="0"/>
              </a:spcAft>
            </a:pPr>
            <a:r>
              <a:rPr sz="1000">
                <a:solidFill>
                  <a:srgbClr val="E6EDF3"/>
                </a:solidFill>
                <a:latin typeface="Consolas"/>
              </a:rPr>
              <a:t>NAME               CLASS          HOSTS        ADDRESS  PORTS</a:t>
            </a:r>
          </a:p>
          <a:p>
            <a:pPr>
              <a:lnSpc>
                <a:spcPts val="1476"/>
              </a:lnSpc>
              <a:spcAft>
                <a:spcPts val="0"/>
              </a:spcAft>
            </a:pPr>
            <a:r>
              <a:rPr sz="1000">
                <a:solidFill>
                  <a:srgbClr val="E6EDF3"/>
                </a:solidFill>
                <a:latin typeface="Consolas"/>
              </a:rPr>
              <a:t>meridian-shop      meridian-edge  shop,tracking          80</a:t>
            </a:r>
          </a:p>
          <a:p>
            <a:pPr>
              <a:lnSpc>
                <a:spcPts val="1476"/>
              </a:lnSpc>
              <a:spcAft>
                <a:spcPts val="0"/>
              </a:spcAft>
            </a:pPr>
            <a:r>
              <a:rPr sz="1000">
                <a:solidFill>
                  <a:srgbClr val="E6EDF3"/>
                </a:solidFill>
                <a:latin typeface="Consolas"/>
              </a:rPr>
              <a:t>meridian-shop-tls  meridian-edge  secure...              80, 443</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ingressclass</a:t>
            </a:r>
          </a:p>
          <a:p>
            <a:pPr>
              <a:lnSpc>
                <a:spcPts val="1476"/>
              </a:lnSpc>
              <a:spcAft>
                <a:spcPts val="0"/>
              </a:spcAft>
            </a:pPr>
            <a:r>
              <a:rPr sz="1000">
                <a:solidFill>
                  <a:srgbClr val="E6EDF3"/>
                </a:solidFill>
                <a:latin typeface="Consolas"/>
              </a:rPr>
              <a:t>No resources found</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describe ingress meridian-shop -n kcna-lab13</a:t>
            </a:r>
          </a:p>
          <a:p>
            <a:pPr>
              <a:lnSpc>
                <a:spcPts val="1476"/>
              </a:lnSpc>
              <a:spcAft>
                <a:spcPts val="0"/>
              </a:spcAft>
            </a:pPr>
            <a:r>
              <a:rPr sz="1000">
                <a:solidFill>
                  <a:srgbClr val="E6EDF3"/>
                </a:solidFill>
                <a:latin typeface="Consolas"/>
              </a:rPr>
              <a:t>Address:</a:t>
            </a:r>
          </a:p>
          <a:p>
            <a:pPr>
              <a:lnSpc>
                <a:spcPts val="1476"/>
              </a:lnSpc>
              <a:spcAft>
                <a:spcPts val="0"/>
              </a:spcAft>
            </a:pPr>
            <a:r>
              <a:rPr sz="1000">
                <a:solidFill>
                  <a:srgbClr val="E6EDF3"/>
                </a:solidFill>
                <a:latin typeface="Consolas"/>
              </a:rPr>
              <a:t>Ingress Class:   meridian-edge</a:t>
            </a:r>
          </a:p>
          <a:p>
            <a:pPr>
              <a:lnSpc>
                <a:spcPts val="1476"/>
              </a:lnSpc>
              <a:spcAft>
                <a:spcPts val="0"/>
              </a:spcAft>
            </a:pPr>
            <a:r>
              <a:rPr sz="1000">
                <a:solidFill>
                  <a:srgbClr val="E6EDF3"/>
                </a:solidFill>
                <a:latin typeface="Consolas"/>
              </a:rPr>
              <a:t>Default backend: route-fallback-svc:80 (10.244.0.44:5678)</a:t>
            </a:r>
          </a:p>
          <a:p>
            <a:pPr>
              <a:lnSpc>
                <a:spcPts val="1476"/>
              </a:lnSpc>
              <a:spcAft>
                <a:spcPts val="0"/>
              </a:spcAft>
            </a:pPr>
            <a:r>
              <a:rPr sz="1000">
                <a:solidFill>
                  <a:srgbClr val="E6EDF3"/>
                </a:solidFill>
                <a:latin typeface="Consolas"/>
              </a:rPr>
              <a:t>Events:          &lt;none&gt;</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Blank ADDRESS is NOT proof on its own</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local controller can route perfectly without ever publishing an external status address.</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Zero IngressClasses is the strong signal</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Combined with Events: &lt;none&gt;, that is a sound conclusion: nothing can claim this object.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PORTS 443 proves nothing</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appears purely because the object carries a tls block. It is not evidence TLS is being served.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backend resolved fine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parenthesised endpoint IP shows the Service and its backends are healthy. The gap is the controller.</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Diagnose with three facts</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IngressClasses present, controller Pods running, events on the object. Never one column alone.</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courseware/labs/lab-13-ingress-routing/verification/expected-output.md</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292</a:t>
            </a:r>
          </a:p>
        </p:txBody>
      </p:sp>
    </p:spTree>
  </p:cSld>
  <p:clrMapOvr>
    <a:masterClrMapping/>
  </p:clrMapOvr>
  <p:transition xmlns:ns1="http://schemas.openxmlformats.org/markup-compatibility/2006" spd="fast" ns1:Ignorable="p14">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TLS block, and what it does not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Creating a TLS certificate for authentication appears twice today: here for servers, and later for client identity in Topic 4.</a:t>
            </a:r>
          </a:p>
        </p:txBody>
      </p:sp>
      <p:sp>
        <p:nvSpPr>
          <p:cNvPr id="7" name="Rectangle 6"/>
          <p:cNvSpPr/>
          <p:nvPr/>
        </p:nvSpPr>
        <p:spPr>
          <a:xfrm>
            <a:off x="777240" y="2208885"/>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50-ingress-tls-example.yaml plus its Secret</a:t>
            </a:r>
          </a:p>
        </p:txBody>
      </p:sp>
      <p:sp>
        <p:nvSpPr>
          <p:cNvPr id="9" name="TextBox 8"/>
          <p:cNvSpPr txBox="1"/>
          <p:nvPr/>
        </p:nvSpPr>
        <p:spPr>
          <a:xfrm>
            <a:off x="923544" y="2629509"/>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tls:</a:t>
            </a:r>
          </a:p>
          <a:p>
            <a:pPr>
              <a:lnSpc>
                <a:spcPts val="1476"/>
              </a:lnSpc>
              <a:spcAft>
                <a:spcPts val="0"/>
              </a:spcAft>
            </a:pPr>
            <a:r>
              <a:rPr sz="1050">
                <a:solidFill>
                  <a:srgbClr val="E6EDF3"/>
                </a:solidFill>
                <a:latin typeface="Consolas"/>
              </a:rPr>
              <a:t>    - hosts:</a:t>
            </a:r>
          </a:p>
          <a:p>
            <a:pPr>
              <a:lnSpc>
                <a:spcPts val="1476"/>
              </a:lnSpc>
              <a:spcAft>
                <a:spcPts val="0"/>
              </a:spcAft>
            </a:pPr>
            <a:r>
              <a:rPr sz="1050">
                <a:solidFill>
                  <a:srgbClr val="E6EDF3"/>
                </a:solidFill>
                <a:latin typeface="Consolas"/>
              </a:rPr>
              <a:t>        - secure.meridianfreight.internal</a:t>
            </a:r>
          </a:p>
          <a:p>
            <a:pPr>
              <a:lnSpc>
                <a:spcPts val="1476"/>
              </a:lnSpc>
              <a:spcAft>
                <a:spcPts val="0"/>
              </a:spcAft>
            </a:pPr>
            <a:r>
              <a:rPr sz="1050">
                <a:solidFill>
                  <a:srgbClr val="E6EDF3"/>
                </a:solidFill>
                <a:latin typeface="Consolas"/>
              </a:rPr>
              <a:t>      secretName: meridian-shop-tls-cert</a:t>
            </a:r>
          </a:p>
          <a:p>
            <a:pPr>
              <a:lnSpc>
                <a:spcPts val="1476"/>
              </a:lnSpc>
              <a:spcAft>
                <a:spcPts val="0"/>
              </a:spcAft>
            </a:pPr>
            <a:r>
              <a:rPr sz="1050">
                <a:solidFill>
                  <a:srgbClr val="E6EDF3"/>
                </a:solidFill>
                <a:latin typeface="Consolas"/>
              </a:rPr>
              <a:t>  rules:</a:t>
            </a:r>
          </a:p>
          <a:p>
            <a:pPr>
              <a:lnSpc>
                <a:spcPts val="1476"/>
              </a:lnSpc>
              <a:spcAft>
                <a:spcPts val="0"/>
              </a:spcAft>
            </a:pPr>
            <a:r>
              <a:rPr sz="1050">
                <a:solidFill>
                  <a:srgbClr val="E6EDF3"/>
                </a:solidFill>
                <a:latin typeface="Consolas"/>
              </a:rPr>
              <a:t>    - host: secure.meridianfreight.internal</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E6EDF3"/>
                </a:solidFill>
                <a:latin typeface="Consolas"/>
              </a:rPr>
              <a:t>---</a:t>
            </a:r>
          </a:p>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Secret</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meridian-shop-tls-cert</a:t>
            </a:r>
          </a:p>
          <a:p>
            <a:pPr>
              <a:lnSpc>
                <a:spcPts val="1476"/>
              </a:lnSpc>
              <a:spcAft>
                <a:spcPts val="0"/>
              </a:spcAft>
            </a:pPr>
            <a:r>
              <a:rPr sz="1050">
                <a:solidFill>
                  <a:srgbClr val="E6EDF3"/>
                </a:solidFill>
                <a:latin typeface="Consolas"/>
              </a:rPr>
              <a:t>type: kubernetes.io/tls</a:t>
            </a:r>
          </a:p>
          <a:p>
            <a:pPr>
              <a:lnSpc>
                <a:spcPts val="1476"/>
              </a:lnSpc>
              <a:spcAft>
                <a:spcPts val="0"/>
              </a:spcAft>
            </a:pPr>
            <a:r>
              <a:rPr sz="1050">
                <a:solidFill>
                  <a:srgbClr val="E6EDF3"/>
                </a:solidFill>
                <a:latin typeface="Consolas"/>
              </a:rPr>
              <a:t>data:</a:t>
            </a:r>
          </a:p>
          <a:p>
            <a:pPr>
              <a:lnSpc>
                <a:spcPts val="1476"/>
              </a:lnSpc>
              <a:spcAft>
                <a:spcPts val="0"/>
              </a:spcAft>
            </a:pPr>
            <a:r>
              <a:rPr sz="1050">
                <a:solidFill>
                  <a:srgbClr val="E6EDF3"/>
                </a:solidFill>
                <a:latin typeface="Consolas"/>
              </a:rPr>
              <a:t>  tls.crt: &lt;base64 PEM certificate&gt;</a:t>
            </a:r>
          </a:p>
          <a:p>
            <a:pPr>
              <a:lnSpc>
                <a:spcPts val="1476"/>
              </a:lnSpc>
              <a:spcAft>
                <a:spcPts val="0"/>
              </a:spcAft>
            </a:pPr>
            <a:r>
              <a:rPr sz="1050">
                <a:solidFill>
                  <a:srgbClr val="E6EDF3"/>
                </a:solidFill>
                <a:latin typeface="Consolas"/>
              </a:rPr>
              <a:t>  tls.key: &lt;base64 PEM private key&gt;</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fields only</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hosts and secretName. There is no cipher list, no protocol version and no certificate content in the Ingress.</a:t>
            </a:r>
          </a:p>
        </p:txBody>
      </p:sp>
      <p:sp>
        <p:nvSpPr>
          <p:cNvPr id="15" name="Oval 14"/>
          <p:cNvSpPr/>
          <p:nvPr/>
        </p:nvSpPr>
        <p:spPr>
          <a:xfrm>
            <a:off x="7626096" y="3380677"/>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62389"/>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Secret type is enforced</a:t>
            </a:r>
          </a:p>
        </p:txBody>
      </p:sp>
      <p:sp>
        <p:nvSpPr>
          <p:cNvPr id="17" name="TextBox 16"/>
          <p:cNvSpPr txBox="1"/>
          <p:nvPr/>
        </p:nvSpPr>
        <p:spPr>
          <a:xfrm>
            <a:off x="7973567" y="3579178"/>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kubernetes.io/tls requires exactly the keys tls.crt and tls.key. The API validates that.</a:t>
            </a:r>
          </a:p>
        </p:txBody>
      </p:sp>
      <p:sp>
        <p:nvSpPr>
          <p:cNvPr id="18" name="Oval 17"/>
          <p:cNvSpPr/>
          <p:nvPr/>
        </p:nvSpPr>
        <p:spPr>
          <a:xfrm>
            <a:off x="7626096" y="4058693"/>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4040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controller terminates TLS</a:t>
            </a:r>
          </a:p>
        </p:txBody>
      </p:sp>
      <p:sp>
        <p:nvSpPr>
          <p:cNvPr id="20" name="TextBox 19"/>
          <p:cNvSpPr txBox="1"/>
          <p:nvPr/>
        </p:nvSpPr>
        <p:spPr>
          <a:xfrm>
            <a:off x="7973567" y="425719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loads the Secret and serves the certificate. The Ingress object never handles a byte of traffic.</a:t>
            </a:r>
          </a:p>
        </p:txBody>
      </p:sp>
      <p:sp>
        <p:nvSpPr>
          <p:cNvPr id="21" name="Oval 20"/>
          <p:cNvSpPr/>
          <p:nvPr/>
        </p:nvSpPr>
        <p:spPr>
          <a:xfrm>
            <a:off x="7626096" y="473671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842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missing Secret is not an error</a:t>
            </a:r>
          </a:p>
        </p:txBody>
      </p:sp>
      <p:sp>
        <p:nvSpPr>
          <p:cNvPr id="23" name="TextBox 22"/>
          <p:cNvSpPr txBox="1"/>
          <p:nvPr/>
        </p:nvSpPr>
        <p:spPr>
          <a:xfrm>
            <a:off x="7973567" y="493521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Ingress applies cleanly before the Secret exists. A live controller would log a warning and fall back.</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Same namespace only</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Secret must live in the Ingress's namespace. There is no cross-namespace certificate reference.</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courseware/labs/lab-13-ingress-routing/verification/expected-output.md · kubernetes.io/docs/concepts/services-networking/ingress/</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293</a:t>
            </a:r>
          </a:p>
        </p:txBody>
      </p:sp>
    </p:spTree>
  </p:cSld>
  <p:clrMapOvr>
    <a:masterClrMapping/>
  </p:clrMapOvr>
  <p:transition xmlns:ns1="http://schemas.openxmlformats.org/markup-compatibility/2006" spd="fast" ns1:Ignorable="p14">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INGRESSCLASS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an Ingress finds its controller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IngressClass is the entire ownership model. Get it wrong and you get silence, never an error.</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IngressClass is a real object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Cluster-scoped, naming a controller string such as example.com/ingress-controller.</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Controllers install it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do not normally author IngressClass objects; the controller's own installation creates them.</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ingressClassName is the binding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Ingress names the class; the controller claims only objects naming a class it owns.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forward reference is legal</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Naming a class that does not exist produces no error and no event. It simply never gets claimed.</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Default class behaviour</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IngressClass annotated as default can claim class-less Ingresses — but the exact handling is controller-dependent.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Multiple controllers coexist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Internal and external edges, or blue/green migrations, are expressed as two classes in one cluster.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 · kubernetes.io/docs/concepts/services-networking/ingress-controllers/ · retirement notice: kubernetes.io/blog/2025/11/11/ingress-nginx-retirement/</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294</a:t>
            </a:r>
          </a:p>
        </p:txBody>
      </p:sp>
    </p:spTree>
  </p:cSld>
  <p:clrMapOvr>
    <a:masterClrMapping/>
  </p:clrMapOvr>
  <p:transition xmlns:ns1="http://schemas.openxmlformats.org/markup-compatibility/2006" spd="fast" ns1:Ignorable="p14">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CURRENCY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controller landscape you are choosing from in 2026</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retirement changes which implementation you deploy. It does not change the API you were taught.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API is not the project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community ingress-nginx project was retired in March 2026. networking.k8s.io/v1 Ingress is unaffected and stable.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Do not conflate two NGINXes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retired item is a CONTROLLER project. The nginx web-server image used elsewhere in this course is a different thing.</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Controllers are pluggable by design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That is the point of IngressClass. Replacing a controller is a deployment change, not an application rewrite.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This course's runnable path pins Traefik</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Traefik ships an Ingress controller, installs by Helm chart and can be reached with port-forward — no new cluster needed.</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Gateway API projects are a different surface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Some maintained projects target gateway.networking.k8s.io rather than Ingress. Verify which API a project serves.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Verify before you standardise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Check the project's own current documentation for maintenance status and supported Kubernetes versions.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kubernetes.io/docs/concepts/services-networking/ingress-controllers/ · retirement notice: kubernetes.io/blog/2025/11/11/ingress-nginx-retirement/ · Traefik chart 41.4.0 / app v3.7.12 (traefik.github.io/charts), pinned and recorded in qa/PARENT-VERIFIED-FACTS.md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295</a:t>
            </a:r>
          </a:p>
        </p:txBody>
      </p:sp>
    </p:spTree>
  </p:cSld>
  <p:clrMapOvr>
    <a:masterClrMapping/>
  </p:clrMapOvr>
  <p:transition xmlns:ns1="http://schemas.openxmlformats.org/markup-compatibility/2006" spd="fast" ns1:Ignorable="p14">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DIRECTION OF TRAVEL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Ingress and Gateway API side by side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are current. One is finished; the other is where new capability is being added.</a:t>
            </a:r>
          </a:p>
        </p:txBody>
      </p:sp>
      <p:sp>
        <p:nvSpPr>
          <p:cNvPr id="7" name="Rectangle 6"/>
          <p:cNvSpPr/>
          <p:nvPr/>
        </p:nvSpPr>
        <p:spPr>
          <a:xfrm>
            <a:off x="777240" y="2200046"/>
            <a:ext cx="203135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77532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2808596" y="2200046"/>
            <a:ext cx="4062713"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936612" y="2300630"/>
            <a:ext cx="380668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Ingress (networking.k8s.io/v1)</a:t>
            </a:r>
          </a:p>
        </p:txBody>
      </p:sp>
      <p:sp>
        <p:nvSpPr>
          <p:cNvPr id="11" name="Rectangle 10"/>
          <p:cNvSpPr/>
          <p:nvPr/>
        </p:nvSpPr>
        <p:spPr>
          <a:xfrm>
            <a:off x="6871310" y="2200046"/>
            <a:ext cx="4604409"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999326" y="2300630"/>
            <a:ext cx="434837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Gateway API (gateway.networking.k8s.io)</a:t>
            </a:r>
          </a:p>
        </p:txBody>
      </p:sp>
      <p:sp>
        <p:nvSpPr>
          <p:cNvPr id="13" name="Rectangle 12"/>
          <p:cNvSpPr/>
          <p:nvPr/>
        </p:nvSpPr>
        <p:spPr>
          <a:xfrm>
            <a:off x="777240" y="2620670"/>
            <a:ext cx="2031356"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Status</a:t>
            </a:r>
          </a:p>
        </p:txBody>
      </p:sp>
      <p:sp>
        <p:nvSpPr>
          <p:cNvPr id="15" name="Rectangle 14"/>
          <p:cNvSpPr/>
          <p:nvPr/>
        </p:nvSpPr>
        <p:spPr>
          <a:xfrm>
            <a:off x="2808596" y="2620670"/>
            <a:ext cx="4062713"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2936612" y="2702966"/>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Stable, and feature-frozen — new features go to Gateway API</a:t>
            </a:r>
          </a:p>
        </p:txBody>
      </p:sp>
      <p:sp>
        <p:nvSpPr>
          <p:cNvPr id="17" name="Rectangle 16"/>
          <p:cNvSpPr/>
          <p:nvPr/>
        </p:nvSpPr>
        <p:spPr>
          <a:xfrm>
            <a:off x="6871310" y="2620670"/>
            <a:ext cx="4604409"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6999326" y="2702966"/>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successor surface; developed as a Kubernetes SIG project</a:t>
            </a:r>
          </a:p>
        </p:txBody>
      </p:sp>
      <p:sp>
        <p:nvSpPr>
          <p:cNvPr id="19" name="Rectangle 18"/>
          <p:cNvSpPr/>
          <p:nvPr/>
        </p:nvSpPr>
        <p:spPr>
          <a:xfrm>
            <a:off x="777240" y="3080004"/>
            <a:ext cx="2031356"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Object model</a:t>
            </a:r>
          </a:p>
        </p:txBody>
      </p:sp>
      <p:sp>
        <p:nvSpPr>
          <p:cNvPr id="21" name="Rectangle 20"/>
          <p:cNvSpPr/>
          <p:nvPr/>
        </p:nvSpPr>
        <p:spPr>
          <a:xfrm>
            <a:off x="2808596" y="3080004"/>
            <a:ext cx="4062713"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2936612" y="3162299"/>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object mixing infrastructure and routing concerns</a:t>
            </a:r>
          </a:p>
        </p:txBody>
      </p:sp>
      <p:sp>
        <p:nvSpPr>
          <p:cNvPr id="23" name="Rectangle 22"/>
          <p:cNvSpPr/>
          <p:nvPr/>
        </p:nvSpPr>
        <p:spPr>
          <a:xfrm>
            <a:off x="6871310" y="3080004"/>
            <a:ext cx="4604409"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6999326" y="3162299"/>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GatewayClass, Gateway and *Route split by role</a:t>
            </a:r>
          </a:p>
        </p:txBody>
      </p:sp>
      <p:sp>
        <p:nvSpPr>
          <p:cNvPr id="25" name="Rectangle 24"/>
          <p:cNvSpPr/>
          <p:nvPr/>
        </p:nvSpPr>
        <p:spPr>
          <a:xfrm>
            <a:off x="777240" y="3539337"/>
            <a:ext cx="2031356"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Protocols</a:t>
            </a:r>
          </a:p>
        </p:txBody>
      </p:sp>
      <p:sp>
        <p:nvSpPr>
          <p:cNvPr id="27" name="Rectangle 26"/>
          <p:cNvSpPr/>
          <p:nvPr/>
        </p:nvSpPr>
        <p:spPr>
          <a:xfrm>
            <a:off x="2808596" y="3539337"/>
            <a:ext cx="4062713"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2936612" y="3621633"/>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HTTP and HTTPS</a:t>
            </a:r>
          </a:p>
        </p:txBody>
      </p:sp>
      <p:sp>
        <p:nvSpPr>
          <p:cNvPr id="29" name="Rectangle 28"/>
          <p:cNvSpPr/>
          <p:nvPr/>
        </p:nvSpPr>
        <p:spPr>
          <a:xfrm>
            <a:off x="6871310" y="3539337"/>
            <a:ext cx="4604409"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6999326" y="3621633"/>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HTTPRoute plus TCP, TLS, UDP and gRPC route kinds</a:t>
            </a:r>
          </a:p>
        </p:txBody>
      </p:sp>
      <p:sp>
        <p:nvSpPr>
          <p:cNvPr id="31" name="Rectangle 30"/>
          <p:cNvSpPr/>
          <p:nvPr/>
        </p:nvSpPr>
        <p:spPr>
          <a:xfrm>
            <a:off x="777240" y="3998671"/>
            <a:ext cx="2031356"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Extensibility</a:t>
            </a:r>
          </a:p>
        </p:txBody>
      </p:sp>
      <p:sp>
        <p:nvSpPr>
          <p:cNvPr id="33" name="Rectangle 32"/>
          <p:cNvSpPr/>
          <p:nvPr/>
        </p:nvSpPr>
        <p:spPr>
          <a:xfrm>
            <a:off x="2808596" y="3998671"/>
            <a:ext cx="4062713"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2936612" y="4080967"/>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Annotations — powerful but controller-specific and non-portable</a:t>
            </a:r>
          </a:p>
        </p:txBody>
      </p:sp>
      <p:sp>
        <p:nvSpPr>
          <p:cNvPr id="35" name="Rectangle 34"/>
          <p:cNvSpPr/>
          <p:nvPr/>
        </p:nvSpPr>
        <p:spPr>
          <a:xfrm>
            <a:off x="6871310" y="3998671"/>
            <a:ext cx="4604409"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6999326" y="4080967"/>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Typed fields and typed policy attachment instead of annotation strings</a:t>
            </a:r>
          </a:p>
        </p:txBody>
      </p:sp>
      <p:sp>
        <p:nvSpPr>
          <p:cNvPr id="37" name="Rectangle 36"/>
          <p:cNvSpPr/>
          <p:nvPr/>
        </p:nvSpPr>
        <p:spPr>
          <a:xfrm>
            <a:off x="777240" y="4458004"/>
            <a:ext cx="2031356"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Multi-tenancy</a:t>
            </a:r>
          </a:p>
        </p:txBody>
      </p:sp>
      <p:sp>
        <p:nvSpPr>
          <p:cNvPr id="39" name="Rectangle 38"/>
          <p:cNvSpPr/>
          <p:nvPr/>
        </p:nvSpPr>
        <p:spPr>
          <a:xfrm>
            <a:off x="2808596" y="4458004"/>
            <a:ext cx="4062713"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2936612" y="4540300"/>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Namespace boundaries are awkward to express</a:t>
            </a:r>
          </a:p>
        </p:txBody>
      </p:sp>
      <p:sp>
        <p:nvSpPr>
          <p:cNvPr id="41" name="Rectangle 40"/>
          <p:cNvSpPr/>
          <p:nvPr/>
        </p:nvSpPr>
        <p:spPr>
          <a:xfrm>
            <a:off x="6871310" y="4458004"/>
            <a:ext cx="4604409"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6999326" y="4540300"/>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Explicit cross-namespace references with permission granted by the target</a:t>
            </a:r>
          </a:p>
        </p:txBody>
      </p:sp>
      <p:sp>
        <p:nvSpPr>
          <p:cNvPr id="43" name="Rectangle 42"/>
          <p:cNvSpPr/>
          <p:nvPr/>
        </p:nvSpPr>
        <p:spPr>
          <a:xfrm>
            <a:off x="777240" y="4917338"/>
            <a:ext cx="2031356"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1775324"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to learn now</a:t>
            </a:r>
          </a:p>
        </p:txBody>
      </p:sp>
      <p:sp>
        <p:nvSpPr>
          <p:cNvPr id="45" name="Rectangle 44"/>
          <p:cNvSpPr/>
          <p:nvPr/>
        </p:nvSpPr>
        <p:spPr>
          <a:xfrm>
            <a:off x="2808596" y="4917338"/>
            <a:ext cx="4062713"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2936612" y="4999634"/>
            <a:ext cx="3806681"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Required: it is what most clusters run and what KCNA asks about</a:t>
            </a:r>
          </a:p>
        </p:txBody>
      </p:sp>
      <p:sp>
        <p:nvSpPr>
          <p:cNvPr id="47" name="Rectangle 46"/>
          <p:cNvSpPr/>
          <p:nvPr/>
        </p:nvSpPr>
        <p:spPr>
          <a:xfrm>
            <a:off x="6871310" y="4917338"/>
            <a:ext cx="4604409"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6999326" y="4999634"/>
            <a:ext cx="4348377"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Recognise the model and the direction; expect migration work over time</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Learn Ingress properly, read Gateway API's role split — and never assume a controller serves both.</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 · gateway-api.sigs.k8s.io · kubernetes.io/docs/concepts/services-networking/gateway/</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296</a:t>
            </a:r>
          </a:p>
        </p:txBody>
      </p:sp>
    </p:spTree>
  </p:cSld>
  <p:clrMapOvr>
    <a:masterClrMapping/>
  </p:clrMapOvr>
  <p:transition xmlns:ns1="http://schemas.openxmlformats.org/markup-compatibility/2006" spd="fast" ns1:Ignorable="p14">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Ingress, Gateway API or a service mesh?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These are not competitors. Most mature clusters run an edge AND a mesh, solving different problems.</a:t>
            </a:r>
          </a:p>
        </p:txBody>
      </p:sp>
      <p:sp>
        <p:nvSpPr>
          <p:cNvPr id="7" name="Diamond 6"/>
          <p:cNvSpPr/>
          <p:nvPr/>
        </p:nvSpPr>
        <p:spPr>
          <a:xfrm>
            <a:off x="4206240" y="227754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What problem are you actually solving — north-south entry, or east-west traffic between services?</a:t>
            </a:r>
          </a:p>
        </p:txBody>
      </p:sp>
      <p:sp>
        <p:nvSpPr>
          <p:cNvPr id="8" name="Rounded Rectangle 7"/>
          <p:cNvSpPr/>
          <p:nvPr/>
        </p:nvSpPr>
        <p:spPr>
          <a:xfrm>
            <a:off x="777240" y="3914322"/>
            <a:ext cx="5199278" cy="2065853"/>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3914322"/>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NORTH-SOUTH — traffic entering the cluster</a:t>
            </a:r>
          </a:p>
        </p:txBody>
      </p:sp>
      <p:sp>
        <p:nvSpPr>
          <p:cNvPr id="11" name="TextBox 10"/>
          <p:cNvSpPr txBox="1"/>
          <p:nvPr/>
        </p:nvSpPr>
        <p:spPr>
          <a:xfrm>
            <a:off x="1014983"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Straightforward HTTP host/path routing → Ingress</a:t>
            </a:r>
          </a:p>
          <a:p>
            <a:pPr>
              <a:lnSpc>
                <a:spcPct val="112000"/>
              </a:lnSpc>
              <a:spcAft>
                <a:spcPts val="500"/>
              </a:spcAft>
            </a:pPr>
            <a:r>
              <a:rPr sz="1100">
                <a:solidFill>
                  <a:srgbClr val="94A3B8"/>
                </a:solidFill>
                <a:latin typeface="Arial"/>
              </a:rPr>
              <a:t>•  </a:t>
            </a:r>
            <a:r>
              <a:rPr sz="1100">
                <a:solidFill>
                  <a:srgbClr val="5B6372"/>
                </a:solidFill>
                <a:latin typeface="Arial"/>
              </a:rPr>
              <a:t>Non-HTTP protocols, header-based splits or typed policy → Gateway API</a:t>
            </a:r>
          </a:p>
          <a:p>
            <a:pPr>
              <a:lnSpc>
                <a:spcPct val="112000"/>
              </a:lnSpc>
              <a:spcAft>
                <a:spcPts val="500"/>
              </a:spcAft>
            </a:pPr>
            <a:r>
              <a:rPr sz="1100">
                <a:solidFill>
                  <a:srgbClr val="94A3B8"/>
                </a:solidFill>
                <a:latin typeface="Arial"/>
              </a:rPr>
              <a:t>•  </a:t>
            </a:r>
            <a:r>
              <a:rPr sz="1100">
                <a:solidFill>
                  <a:srgbClr val="5B6372"/>
                </a:solidFill>
                <a:latin typeface="Arial"/>
              </a:rPr>
              <a:t>Several teams sharing one edge with delegated control → Gateway API's role split</a:t>
            </a:r>
          </a:p>
          <a:p>
            <a:pPr>
              <a:lnSpc>
                <a:spcPct val="112000"/>
              </a:lnSpc>
              <a:spcAft>
                <a:spcPts val="500"/>
              </a:spcAft>
            </a:pPr>
            <a:r>
              <a:rPr sz="1100">
                <a:solidFill>
                  <a:srgbClr val="94A3B8"/>
                </a:solidFill>
                <a:latin typeface="Arial"/>
              </a:rPr>
              <a:t>•  </a:t>
            </a:r>
            <a:r>
              <a:rPr sz="1100">
                <a:solidFill>
                  <a:srgbClr val="5B6372"/>
                </a:solidFill>
                <a:latin typeface="Arial"/>
              </a:rPr>
              <a:t>Either way you need a controller installed and running</a:t>
            </a:r>
          </a:p>
        </p:txBody>
      </p:sp>
      <p:cxnSp>
        <p:nvCxnSpPr>
          <p:cNvPr id="12" name="Connector 11"/>
          <p:cNvCxnSpPr/>
          <p:nvPr/>
        </p:nvCxnSpPr>
        <p:spPr>
          <a:xfrm flipH="1">
            <a:off x="3376879" y="3182802"/>
            <a:ext cx="1766621" cy="694944"/>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530274"/>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3914322"/>
            <a:ext cx="5199278" cy="2065853"/>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3914322"/>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EAST-WEST — traffic between your own services</a:t>
            </a:r>
          </a:p>
        </p:txBody>
      </p:sp>
      <p:sp>
        <p:nvSpPr>
          <p:cNvPr id="17" name="TextBox 16"/>
          <p:cNvSpPr txBox="1"/>
          <p:nvPr/>
        </p:nvSpPr>
        <p:spPr>
          <a:xfrm>
            <a:off x="6514185"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Automatic mTLS between workloads → service mesh</a:t>
            </a:r>
          </a:p>
          <a:p>
            <a:pPr>
              <a:lnSpc>
                <a:spcPct val="112000"/>
              </a:lnSpc>
              <a:spcAft>
                <a:spcPts val="500"/>
              </a:spcAft>
            </a:pPr>
            <a:r>
              <a:rPr sz="1100">
                <a:solidFill>
                  <a:srgbClr val="94A3B8"/>
                </a:solidFill>
                <a:latin typeface="Arial"/>
              </a:rPr>
              <a:t>•  </a:t>
            </a:r>
            <a:r>
              <a:rPr sz="1100">
                <a:solidFill>
                  <a:srgbClr val="5B6372"/>
                </a:solidFill>
                <a:latin typeface="Arial"/>
              </a:rPr>
              <a:t>Retries, timeouts, circuit breaking without app changes → service mesh</a:t>
            </a:r>
          </a:p>
          <a:p>
            <a:pPr>
              <a:lnSpc>
                <a:spcPct val="112000"/>
              </a:lnSpc>
              <a:spcAft>
                <a:spcPts val="500"/>
              </a:spcAft>
            </a:pPr>
            <a:r>
              <a:rPr sz="1100">
                <a:solidFill>
                  <a:srgbClr val="94A3B8"/>
                </a:solidFill>
                <a:latin typeface="Arial"/>
              </a:rPr>
              <a:t>•  </a:t>
            </a:r>
            <a:r>
              <a:rPr sz="1100">
                <a:solidFill>
                  <a:srgbClr val="5B6372"/>
                </a:solidFill>
                <a:latin typeface="Arial"/>
              </a:rPr>
              <a:t>Uniform golden metrics per service call → service mesh</a:t>
            </a:r>
          </a:p>
          <a:p>
            <a:pPr>
              <a:lnSpc>
                <a:spcPct val="112000"/>
              </a:lnSpc>
              <a:spcAft>
                <a:spcPts val="500"/>
              </a:spcAft>
            </a:pPr>
            <a:r>
              <a:rPr sz="1100">
                <a:solidFill>
                  <a:srgbClr val="94A3B8"/>
                </a:solidFill>
                <a:latin typeface="Arial"/>
              </a:rPr>
              <a:t>•  </a:t>
            </a:r>
            <a:r>
              <a:rPr sz="1100">
                <a:solidFill>
                  <a:srgbClr val="5B6372"/>
                </a:solidFill>
                <a:latin typeface="Arial"/>
              </a:rPr>
              <a:t>Mesh is additive: it does not remove the need for an edge</a:t>
            </a:r>
          </a:p>
        </p:txBody>
      </p:sp>
      <p:cxnSp>
        <p:nvCxnSpPr>
          <p:cNvPr id="18" name="Connector 17"/>
          <p:cNvCxnSpPr/>
          <p:nvPr/>
        </p:nvCxnSpPr>
        <p:spPr>
          <a:xfrm>
            <a:off x="7018019" y="3182802"/>
            <a:ext cx="1858061" cy="694944"/>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530274"/>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 · istio.io/latest/docs/overview/ · linkerd.io/2/overview/ · envoyproxy.io</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297</a:t>
            </a:r>
          </a:p>
        </p:txBody>
      </p:sp>
    </p:spTree>
  </p:cSld>
  <p:clrMapOvr>
    <a:masterClrMapping/>
  </p:clrMapOvr>
  <p:transition xmlns:ns3="http://schemas.openxmlformats.org/markup-compatibility/2006" spd="fast" ns3:Ignorable="p14">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IngressClass object that makes claiming possible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Deploying an Ingress controller is a registered outline item. This object is how the deployment becomes usable.</a:t>
            </a:r>
          </a:p>
        </p:txBody>
      </p:sp>
      <p:sp>
        <p:nvSpPr>
          <p:cNvPr id="7" name="Rectangle 6"/>
          <p:cNvSpPr/>
          <p:nvPr/>
        </p:nvSpPr>
        <p:spPr>
          <a:xfrm>
            <a:off x="777240" y="2200046"/>
            <a:ext cx="635508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An IngressClass, annotated</a:t>
            </a:r>
          </a:p>
        </p:txBody>
      </p:sp>
      <p:sp>
        <p:nvSpPr>
          <p:cNvPr id="9" name="TextBox 8"/>
          <p:cNvSpPr txBox="1"/>
          <p:nvPr/>
        </p:nvSpPr>
        <p:spPr>
          <a:xfrm>
            <a:off x="923544" y="2620670"/>
            <a:ext cx="6062472" cy="2811779"/>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networking.k8s.io/v1</a:t>
            </a:r>
          </a:p>
          <a:p>
            <a:pPr>
              <a:lnSpc>
                <a:spcPts val="1476"/>
              </a:lnSpc>
              <a:spcAft>
                <a:spcPts val="0"/>
              </a:spcAft>
            </a:pPr>
            <a:r>
              <a:rPr sz="1050">
                <a:solidFill>
                  <a:srgbClr val="E6EDF3"/>
                </a:solidFill>
                <a:latin typeface="Consolas"/>
              </a:rPr>
              <a:t>kind: IngressClass          # CLUSTER-SCOPED</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meridian-edge</a:t>
            </a:r>
          </a:p>
          <a:p>
            <a:pPr>
              <a:lnSpc>
                <a:spcPts val="1476"/>
              </a:lnSpc>
              <a:spcAft>
                <a:spcPts val="0"/>
              </a:spcAft>
            </a:pPr>
            <a:r>
              <a:rPr sz="1050">
                <a:solidFill>
                  <a:srgbClr val="E6EDF3"/>
                </a:solidFill>
                <a:latin typeface="Consolas"/>
              </a:rPr>
              <a:t>  annotations:</a:t>
            </a:r>
          </a:p>
          <a:p>
            <a:pPr>
              <a:lnSpc>
                <a:spcPts val="1476"/>
              </a:lnSpc>
              <a:spcAft>
                <a:spcPts val="0"/>
              </a:spcAft>
            </a:pPr>
            <a:r>
              <a:rPr sz="1050">
                <a:solidFill>
                  <a:srgbClr val="7D8A99"/>
                </a:solidFill>
                <a:latin typeface="Consolas"/>
              </a:rPr>
              <a:t>    # optional: claim class-less Ingresses</a:t>
            </a:r>
          </a:p>
          <a:p>
            <a:pPr>
              <a:lnSpc>
                <a:spcPts val="1476"/>
              </a:lnSpc>
              <a:spcAft>
                <a:spcPts val="0"/>
              </a:spcAft>
            </a:pPr>
            <a:r>
              <a:rPr sz="1050">
                <a:solidFill>
                  <a:srgbClr val="E6EDF3"/>
                </a:solidFill>
                <a:latin typeface="Consolas"/>
              </a:rPr>
              <a:t>    ingressclass.kubernetes.io/is-default-class: "true"</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controller: example.com/ingress-controller</a:t>
            </a:r>
          </a:p>
          <a:p>
            <a:pPr>
              <a:lnSpc>
                <a:spcPts val="1476"/>
              </a:lnSpc>
              <a:spcAft>
                <a:spcPts val="0"/>
              </a:spcAft>
            </a:pPr>
            <a:r>
              <a:rPr sz="1050">
                <a:solidFill>
                  <a:srgbClr val="E6EDF3"/>
                </a:solidFill>
                <a:latin typeface="Consolas"/>
              </a:rPr>
              <a:t>  parameters:                # optional, controller-defined</a:t>
            </a:r>
          </a:p>
          <a:p>
            <a:pPr>
              <a:lnSpc>
                <a:spcPts val="1476"/>
              </a:lnSpc>
              <a:spcAft>
                <a:spcPts val="0"/>
              </a:spcAft>
            </a:pPr>
            <a:r>
              <a:rPr sz="1050">
                <a:solidFill>
                  <a:srgbClr val="E6EDF3"/>
                </a:solidFill>
                <a:latin typeface="Consolas"/>
              </a:rPr>
              <a:t>    apiGroup: example.com</a:t>
            </a:r>
          </a:p>
          <a:p>
            <a:pPr>
              <a:lnSpc>
                <a:spcPts val="1476"/>
              </a:lnSpc>
              <a:spcAft>
                <a:spcPts val="0"/>
              </a:spcAft>
            </a:pPr>
            <a:r>
              <a:rPr sz="1050">
                <a:solidFill>
                  <a:srgbClr val="E6EDF3"/>
                </a:solidFill>
                <a:latin typeface="Consolas"/>
              </a:rPr>
              <a:t>    kind: EdgeConfig</a:t>
            </a:r>
          </a:p>
          <a:p>
            <a:pPr>
              <a:lnSpc>
                <a:spcPts val="1476"/>
              </a:lnSpc>
              <a:spcAft>
                <a:spcPts val="0"/>
              </a:spcAft>
            </a:pPr>
            <a:r>
              <a:rPr sz="1050">
                <a:solidFill>
                  <a:srgbClr val="E6EDF3"/>
                </a:solidFill>
                <a:latin typeface="Consolas"/>
              </a:rPr>
              <a:t>    name: meridian-edge-settings</a:t>
            </a:r>
          </a:p>
          <a:p>
            <a:pPr>
              <a:lnSpc>
                <a:spcPts val="1476"/>
              </a:lnSpc>
              <a:spcAft>
                <a:spcPts val="0"/>
              </a:spcAft>
            </a:pPr>
            <a:r>
              <a:rPr sz="1050">
                <a:solidFill>
                  <a:srgbClr val="7D8A99"/>
                </a:solidFill>
                <a:latin typeface="Consolas"/>
              </a:rPr>
              <a:t># Ingress objects then set:</a:t>
            </a:r>
          </a:p>
          <a:p>
            <a:pPr>
              <a:lnSpc>
                <a:spcPts val="1476"/>
              </a:lnSpc>
              <a:spcAft>
                <a:spcPts val="0"/>
              </a:spcAft>
            </a:pPr>
            <a:r>
              <a:rPr sz="1050">
                <a:solidFill>
                  <a:srgbClr val="7D8A99"/>
                </a:solidFill>
                <a:latin typeface="Consolas"/>
              </a:rPr>
              <a:t>#   spec.ingressClassName: meridian-edge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spec.controller is the real identity</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controller only claims classes whose controller string it recognises. The class NAME is just a label for humans.</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Cluster-scoped on purpose</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class can be referenced by Ingress objects in every namespace.</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Installed by the controller</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normally get this object from the controller's own installation, not from your application manifests.</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default-class annotation</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mechanism by which class-less Ingresses get claimed. Exact behaviour is still controller-dependent.</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parameters is an escape hatch</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typed reference to controller-specific configuration — and therefore not portable between controllers.</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kubernetes.io/docs/concepts/services-networking/ingress/ · kubernetes.io/docs/concepts/services-networking/ingress-controllers/ · retirement notice: kubernetes.io/blog/2025/11/11/ingress-nginx-retirement/</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298</a:t>
            </a:r>
          </a:p>
        </p:txBody>
      </p:sp>
    </p:spTree>
  </p:cSld>
  <p:clrMapOvr>
    <a:masterClrMapping/>
  </p:clrMapOvr>
  <p:transition xmlns:ns1="http://schemas.openxmlformats.org/markup-compatibility/2006" spd="fast" ns1:Ignorable="p14">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SERVICE MESH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mesh adds that Services cannot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mesh moves cross-cutting network concerns out of every application and into the platform.</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Identity per workload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Each workload gets a cryptographic identity — commonly a SPIFFE ID — issued and rotated by the mesh.</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mTLS by default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Both ends authenticate with certificates, so traffic is encrypted and the caller is provably identified.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L7 traffic control</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Retries, timeouts, circuit breaking and weighted splits, applied without touching application code.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Uniform telemetry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Request rate, error rate and latency for every call, measured identically across languages.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Authorization at layer 7</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Policy expressed as 'service A may call POST /pay on service B' rather than as IP ranges.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not free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Extra hops, extra CPU and memory, a control plane to run and a new failure domain to understand.</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istio.io/latest/docs/overview/ · linkerd.io/2/overview/ · envoyproxy.io</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299</a:t>
            </a:r>
          </a:p>
        </p:txBody>
      </p:sp>
    </p:spTree>
  </p:cSld>
  <p:clrMapOvr>
    <a:masterClrMapping/>
  </p:clrMapOvr>
  <p:transition xmlns:ns1="http://schemas.openxmlformats.org/markup-compatibility/2006" spd="fast" ns1:Ignorable="p14">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MESH ANATOMY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Control plane, data plane and your workload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mesh is an interception layer. Your application code and your Service objects are unchanged.</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7C3AED"/>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CONTROL PLANE</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Config distribution</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Translates mesh policy into proxy configuration and pushes it</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Certificate authority</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Issues and rotates short-lived workload identity certificates</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Kubernetes watch</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Reads Services, EndpointSlices and mesh CRDs from the API server</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10B981"/>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DATA PLANE</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Sidecar proxy</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proxy container in each Pod, intercepting inbound and outbound traffic</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Node-level proxy</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Ambient mode instead puts an L4 proxy per node, with L7 only where needed</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Traffic capture</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iptables redirection or eBPF steers the workload's traffic into the proxy</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F6FEB"/>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WORKLOAD</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Application container</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Unmodified — it still dials the ordinary Service name</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Cluster DNS + Service</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Still resolve as normal; the mesh sits underneath, not instead</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NetworkPolicy</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Still applies at L3/L4 — the two controls are complementary</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Envoy is the most common data-plane proxy (Istio, Contour, Cilium's L7 path), but it is not universal — Linkerd ships its own purpose-built micro-proxy.</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istio.io/latest/docs/overview/ · linkerd.io/2/overview/ · envoyproxy.io</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300</a:t>
            </a:r>
          </a:p>
        </p:txBody>
      </p:sp>
    </p:spTree>
  </p:cSld>
  <p:clrMapOvr>
    <a:masterClrMapping/>
  </p:clrMapOvr>
  <p:transition xmlns:ns1="http://schemas.openxmlformats.org/markup-compatibility/2006" spd="fast" ns1:Ignorable="p14">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COMPARISON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Sidecar mode versus ambient mode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deployment models for the same idea. The trade-off is cost and friction against isolation.</a:t>
            </a:r>
          </a:p>
        </p:txBody>
      </p:sp>
      <p:sp>
        <p:nvSpPr>
          <p:cNvPr id="7" name="Rectangle 6"/>
          <p:cNvSpPr/>
          <p:nvPr/>
        </p:nvSpPr>
        <p:spPr>
          <a:xfrm>
            <a:off x="777240" y="2200046"/>
            <a:ext cx="227342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01739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Aspect</a:t>
            </a:r>
          </a:p>
        </p:txBody>
      </p:sp>
      <p:sp>
        <p:nvSpPr>
          <p:cNvPr id="9" name="Rectangle 8"/>
          <p:cNvSpPr/>
          <p:nvPr/>
        </p:nvSpPr>
        <p:spPr>
          <a:xfrm>
            <a:off x="3050666" y="2200046"/>
            <a:ext cx="4011929"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178683" y="2300630"/>
            <a:ext cx="375589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Sidecar</a:t>
            </a:r>
          </a:p>
        </p:txBody>
      </p:sp>
      <p:sp>
        <p:nvSpPr>
          <p:cNvPr id="11" name="Rectangle 10"/>
          <p:cNvSpPr/>
          <p:nvPr/>
        </p:nvSpPr>
        <p:spPr>
          <a:xfrm>
            <a:off x="7062596" y="2200046"/>
            <a:ext cx="441312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190612" y="2300630"/>
            <a:ext cx="4157090"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Ambient / node-level</a:t>
            </a:r>
          </a:p>
        </p:txBody>
      </p:sp>
      <p:sp>
        <p:nvSpPr>
          <p:cNvPr id="13" name="Rectangle 12"/>
          <p:cNvSpPr/>
          <p:nvPr/>
        </p:nvSpPr>
        <p:spPr>
          <a:xfrm>
            <a:off x="777240" y="2620670"/>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Where the proxy runs</a:t>
            </a:r>
          </a:p>
        </p:txBody>
      </p:sp>
      <p:sp>
        <p:nvSpPr>
          <p:cNvPr id="15" name="Rectangle 14"/>
          <p:cNvSpPr/>
          <p:nvPr/>
        </p:nvSpPr>
        <p:spPr>
          <a:xfrm>
            <a:off x="3050666" y="2620670"/>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178683" y="2702966"/>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proxy container inside every meshed Pod</a:t>
            </a:r>
          </a:p>
        </p:txBody>
      </p:sp>
      <p:sp>
        <p:nvSpPr>
          <p:cNvPr id="17" name="Rectangle 16"/>
          <p:cNvSpPr/>
          <p:nvPr/>
        </p:nvSpPr>
        <p:spPr>
          <a:xfrm>
            <a:off x="7062596" y="2620670"/>
            <a:ext cx="4413122"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190612" y="2702966"/>
            <a:ext cx="415709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shared L4 proxy per node, plus optional L7 proxies where policy needs them</a:t>
            </a:r>
          </a:p>
        </p:txBody>
      </p:sp>
      <p:sp>
        <p:nvSpPr>
          <p:cNvPr id="19" name="Rectangle 18"/>
          <p:cNvSpPr/>
          <p:nvPr/>
        </p:nvSpPr>
        <p:spPr>
          <a:xfrm>
            <a:off x="777240" y="3171870"/>
            <a:ext cx="2273426"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Resource cost</a:t>
            </a:r>
          </a:p>
        </p:txBody>
      </p:sp>
      <p:sp>
        <p:nvSpPr>
          <p:cNvPr id="21" name="Rectangle 20"/>
          <p:cNvSpPr/>
          <p:nvPr/>
        </p:nvSpPr>
        <p:spPr>
          <a:xfrm>
            <a:off x="3050666" y="3171870"/>
            <a:ext cx="4011929"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178683" y="3254166"/>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Proportional to Pod count — every replica pays</a:t>
            </a:r>
          </a:p>
        </p:txBody>
      </p:sp>
      <p:sp>
        <p:nvSpPr>
          <p:cNvPr id="23" name="Rectangle 22"/>
          <p:cNvSpPr/>
          <p:nvPr/>
        </p:nvSpPr>
        <p:spPr>
          <a:xfrm>
            <a:off x="7062596" y="3171870"/>
            <a:ext cx="4413122"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190612" y="3254166"/>
            <a:ext cx="415709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Proportional to node count for L4; L7 cost only where enabled</a:t>
            </a:r>
          </a:p>
        </p:txBody>
      </p:sp>
      <p:sp>
        <p:nvSpPr>
          <p:cNvPr id="25" name="Rectangle 24"/>
          <p:cNvSpPr/>
          <p:nvPr/>
        </p:nvSpPr>
        <p:spPr>
          <a:xfrm>
            <a:off x="777240" y="3723071"/>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Adoption friction</a:t>
            </a:r>
          </a:p>
        </p:txBody>
      </p:sp>
      <p:sp>
        <p:nvSpPr>
          <p:cNvPr id="27" name="Rectangle 26"/>
          <p:cNvSpPr/>
          <p:nvPr/>
        </p:nvSpPr>
        <p:spPr>
          <a:xfrm>
            <a:off x="3050666" y="3723071"/>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178683" y="38053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Pods must be restarted to inject or remove the sidecar</a:t>
            </a:r>
          </a:p>
        </p:txBody>
      </p:sp>
      <p:sp>
        <p:nvSpPr>
          <p:cNvPr id="29" name="Rectangle 28"/>
          <p:cNvSpPr/>
          <p:nvPr/>
        </p:nvSpPr>
        <p:spPr>
          <a:xfrm>
            <a:off x="7062596" y="3723071"/>
            <a:ext cx="4413122"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190612" y="3805367"/>
            <a:ext cx="415709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Workloads can be enrolled without redeploying them</a:t>
            </a:r>
          </a:p>
        </p:txBody>
      </p:sp>
      <p:sp>
        <p:nvSpPr>
          <p:cNvPr id="31" name="Rectangle 30"/>
          <p:cNvSpPr/>
          <p:nvPr/>
        </p:nvSpPr>
        <p:spPr>
          <a:xfrm>
            <a:off x="777240" y="4274271"/>
            <a:ext cx="2273426"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Blast radius</a:t>
            </a:r>
          </a:p>
        </p:txBody>
      </p:sp>
      <p:sp>
        <p:nvSpPr>
          <p:cNvPr id="33" name="Rectangle 32"/>
          <p:cNvSpPr/>
          <p:nvPr/>
        </p:nvSpPr>
        <p:spPr>
          <a:xfrm>
            <a:off x="3050666" y="4274271"/>
            <a:ext cx="4011929"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178683" y="43565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Isolated per Pod — one proxy failure affects one Pod</a:t>
            </a:r>
          </a:p>
        </p:txBody>
      </p:sp>
      <p:sp>
        <p:nvSpPr>
          <p:cNvPr id="35" name="Rectangle 34"/>
          <p:cNvSpPr/>
          <p:nvPr/>
        </p:nvSpPr>
        <p:spPr>
          <a:xfrm>
            <a:off x="7062596" y="4274271"/>
            <a:ext cx="4413122"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190612" y="4356567"/>
            <a:ext cx="415709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per node — a node proxy failure affects more workloads</a:t>
            </a:r>
          </a:p>
        </p:txBody>
      </p:sp>
      <p:sp>
        <p:nvSpPr>
          <p:cNvPr id="37" name="Rectangle 36"/>
          <p:cNvSpPr/>
          <p:nvPr/>
        </p:nvSpPr>
        <p:spPr>
          <a:xfrm>
            <a:off x="777240" y="4825471"/>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Maturity</a:t>
            </a:r>
          </a:p>
        </p:txBody>
      </p:sp>
      <p:sp>
        <p:nvSpPr>
          <p:cNvPr id="39" name="Rectangle 38"/>
          <p:cNvSpPr/>
          <p:nvPr/>
        </p:nvSpPr>
        <p:spPr>
          <a:xfrm>
            <a:off x="3050666" y="4825471"/>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178683" y="49077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long-established model, widely operated</a:t>
            </a:r>
          </a:p>
        </p:txBody>
      </p:sp>
      <p:sp>
        <p:nvSpPr>
          <p:cNvPr id="41" name="Rectangle 40"/>
          <p:cNvSpPr/>
          <p:nvPr/>
        </p:nvSpPr>
        <p:spPr>
          <a:xfrm>
            <a:off x="7062596" y="4825471"/>
            <a:ext cx="4413122"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190612" y="4907767"/>
            <a:ext cx="4157090"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newer model; verify status in the project's own current documentation</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For KCNA, know both models exist and why ambient was introduced — not which product to buy.</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istio.io/latest/docs/overview/ · linkerd.io/2/overview/ · envoyproxy.io</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301</a:t>
            </a:r>
          </a:p>
        </p:txBody>
      </p:sp>
    </p:spTree>
  </p:cSld>
  <p:clrMapOvr>
    <a:masterClrMapping/>
  </p:clrMapOvr>
  <p:transition xmlns:ns1="http://schemas.openxmlformats.org/markup-compatibility/2006" spd="fast" ns1:Ignorable="p14">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PACKAGING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happens when you deploy your first chart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Helm is a client-side template engine plus a release ledger. Nothing Helm-specific runs in the cluster.</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 chart is fetched</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From a repository index, an OCI registry or a local directory. It is a versioned bundle of templates.</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Values are merged</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chart's default values.yaml is overlaid with your own values file and any --set overrides.</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Templates render locally</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Helm evaluates Go templates against the merged values, producing plain Kubernetes manifests on the client.</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Manifests are applied</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rendered objects go to the API server like any other manifest. The cluster sees nothing Helm-specific.</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 release is recorded</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Helm stores the release and its revision as a Secret in the release namespace, enabling upgrade and rollback.</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Because rendering is local, `helm template` shows you exactly what will be applied — review the output before you trust any third-party chart.</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helm.sh/docs/topics/charts/ · helm.sh/docs/topics/architecture/</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302</a:t>
            </a:r>
          </a:p>
        </p:txBody>
      </p:sp>
    </p:spTree>
  </p:cSld>
  <p:clrMapOvr>
    <a:masterClrMapping/>
  </p:clrMapOvr>
  <p:transition xmlns:ns5="http://schemas.openxmlformats.org/markup-compatibility/2006" spd="fast" ns5:Ignorable="p14">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three files that define a chart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Installing Helm and deploying a first chart is a registered outline item. Understand these three files and the rest is command syntax.</a:t>
            </a:r>
          </a:p>
        </p:txBody>
      </p:sp>
      <p:sp>
        <p:nvSpPr>
          <p:cNvPr id="7" name="Rectangle 6"/>
          <p:cNvSpPr/>
          <p:nvPr/>
        </p:nvSpPr>
        <p:spPr>
          <a:xfrm>
            <a:off x="777240" y="2208885"/>
            <a:ext cx="6355080" cy="378957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Minimal chart structure</a:t>
            </a:r>
          </a:p>
        </p:txBody>
      </p:sp>
      <p:sp>
        <p:nvSpPr>
          <p:cNvPr id="9" name="TextBox 8"/>
          <p:cNvSpPr txBox="1"/>
          <p:nvPr/>
        </p:nvSpPr>
        <p:spPr>
          <a:xfrm>
            <a:off x="923544" y="2629509"/>
            <a:ext cx="6062472" cy="3222650"/>
          </a:xfrm>
          <a:prstGeom prst="rect">
            <a:avLst/>
          </a:prstGeom>
          <a:noFill/>
        </p:spPr>
        <p:txBody>
          <a:bodyPr wrap="none" lIns="0" rIns="0" tIns="0" bIns="0">
            <a:spAutoFit/>
          </a:bodyPr>
          <a:lstStyle/>
          <a:p>
            <a:pPr>
              <a:lnSpc>
                <a:spcPts val="1335"/>
              </a:lnSpc>
              <a:spcAft>
                <a:spcPts val="0"/>
              </a:spcAft>
            </a:pPr>
            <a:r>
              <a:rPr sz="1050">
                <a:solidFill>
                  <a:srgbClr val="7D8A99"/>
                </a:solidFill>
                <a:latin typeface="Consolas"/>
              </a:rPr>
              <a:t># Chart.yaml — identity and version</a:t>
            </a:r>
          </a:p>
          <a:p>
            <a:pPr>
              <a:lnSpc>
                <a:spcPts val="1335"/>
              </a:lnSpc>
              <a:spcAft>
                <a:spcPts val="0"/>
              </a:spcAft>
            </a:pPr>
            <a:r>
              <a:rPr sz="1050">
                <a:solidFill>
                  <a:srgbClr val="E6EDF3"/>
                </a:solidFill>
                <a:latin typeface="Consolas"/>
              </a:rPr>
              <a:t>apiVersion: v2</a:t>
            </a:r>
          </a:p>
          <a:p>
            <a:pPr>
              <a:lnSpc>
                <a:spcPts val="1335"/>
              </a:lnSpc>
              <a:spcAft>
                <a:spcPts val="0"/>
              </a:spcAft>
            </a:pPr>
            <a:r>
              <a:rPr sz="1050">
                <a:solidFill>
                  <a:srgbClr val="E6EDF3"/>
                </a:solidFill>
                <a:latin typeface="Consolas"/>
              </a:rPr>
              <a:t>name: quote-api</a:t>
            </a:r>
          </a:p>
          <a:p>
            <a:pPr>
              <a:lnSpc>
                <a:spcPts val="1335"/>
              </a:lnSpc>
              <a:spcAft>
                <a:spcPts val="0"/>
              </a:spcAft>
            </a:pPr>
            <a:r>
              <a:rPr sz="1050">
                <a:solidFill>
                  <a:srgbClr val="E6EDF3"/>
                </a:solidFill>
                <a:latin typeface="Consolas"/>
              </a:rPr>
              <a:t>version: 0.1.0          # the CHART version</a:t>
            </a:r>
          </a:p>
          <a:p>
            <a:pPr>
              <a:lnSpc>
                <a:spcPts val="1335"/>
              </a:lnSpc>
              <a:spcAft>
                <a:spcPts val="0"/>
              </a:spcAft>
            </a:pPr>
            <a:r>
              <a:rPr sz="1050">
                <a:solidFill>
                  <a:srgbClr val="E6EDF3"/>
                </a:solidFill>
                <a:latin typeface="Consolas"/>
              </a:rPr>
              <a:t>appVersion: "1.4.2"     # the APP version</a:t>
            </a:r>
          </a:p>
          <a:p>
            <a:pPr>
              <a:lnSpc>
                <a:spcPts val="1335"/>
              </a:lnSpc>
              <a:spcAft>
                <a:spcPts val="0"/>
              </a:spcAft>
            </a:pPr>
            <a:r>
              <a:rPr sz="1050">
                <a:solidFill>
                  <a:srgbClr val="E6EDF3"/>
                </a:solidFill>
                <a:latin typeface="Consolas"/>
              </a:rPr>
              <a:t> </a:t>
            </a:r>
          </a:p>
          <a:p>
            <a:pPr>
              <a:lnSpc>
                <a:spcPts val="1335"/>
              </a:lnSpc>
              <a:spcAft>
                <a:spcPts val="0"/>
              </a:spcAft>
            </a:pPr>
            <a:r>
              <a:rPr sz="1050">
                <a:solidFill>
                  <a:srgbClr val="7D8A99"/>
                </a:solidFill>
                <a:latin typeface="Consolas"/>
              </a:rPr>
              <a:t># values.yaml — the defaults you may override</a:t>
            </a:r>
          </a:p>
          <a:p>
            <a:pPr>
              <a:lnSpc>
                <a:spcPts val="1335"/>
              </a:lnSpc>
              <a:spcAft>
                <a:spcPts val="0"/>
              </a:spcAft>
            </a:pPr>
            <a:r>
              <a:rPr sz="1050">
                <a:solidFill>
                  <a:srgbClr val="E6EDF3"/>
                </a:solidFill>
                <a:latin typeface="Consolas"/>
              </a:rPr>
              <a:t>replicaCount: 3</a:t>
            </a:r>
          </a:p>
          <a:p>
            <a:pPr>
              <a:lnSpc>
                <a:spcPts val="1335"/>
              </a:lnSpc>
              <a:spcAft>
                <a:spcPts val="0"/>
              </a:spcAft>
            </a:pPr>
            <a:r>
              <a:rPr sz="1050">
                <a:solidFill>
                  <a:srgbClr val="E6EDF3"/>
                </a:solidFill>
                <a:latin typeface="Consolas"/>
              </a:rPr>
              <a:t>image:</a:t>
            </a:r>
          </a:p>
          <a:p>
            <a:pPr>
              <a:lnSpc>
                <a:spcPts val="1335"/>
              </a:lnSpc>
              <a:spcAft>
                <a:spcPts val="0"/>
              </a:spcAft>
            </a:pPr>
            <a:r>
              <a:rPr sz="1050">
                <a:solidFill>
                  <a:srgbClr val="E6EDF3"/>
                </a:solidFill>
                <a:latin typeface="Consolas"/>
              </a:rPr>
              <a:t>  repository: registry.example.com/quote-api</a:t>
            </a:r>
          </a:p>
          <a:p>
            <a:pPr>
              <a:lnSpc>
                <a:spcPts val="1335"/>
              </a:lnSpc>
              <a:spcAft>
                <a:spcPts val="0"/>
              </a:spcAft>
            </a:pPr>
            <a:r>
              <a:rPr sz="1050">
                <a:solidFill>
                  <a:srgbClr val="E6EDF3"/>
                </a:solidFill>
                <a:latin typeface="Consolas"/>
              </a:rPr>
              <a:t>  tag: ""               # empty -&gt; fall back to appVersion</a:t>
            </a:r>
          </a:p>
          <a:p>
            <a:pPr>
              <a:lnSpc>
                <a:spcPts val="1335"/>
              </a:lnSpc>
              <a:spcAft>
                <a:spcPts val="0"/>
              </a:spcAft>
            </a:pPr>
            <a:r>
              <a:rPr sz="1050">
                <a:solidFill>
                  <a:srgbClr val="E6EDF3"/>
                </a:solidFill>
                <a:latin typeface="Consolas"/>
              </a:rPr>
              <a:t>service:</a:t>
            </a:r>
          </a:p>
          <a:p>
            <a:pPr>
              <a:lnSpc>
                <a:spcPts val="1335"/>
              </a:lnSpc>
              <a:spcAft>
                <a:spcPts val="0"/>
              </a:spcAft>
            </a:pPr>
            <a:r>
              <a:rPr sz="1050">
                <a:solidFill>
                  <a:srgbClr val="E6EDF3"/>
                </a:solidFill>
                <a:latin typeface="Consolas"/>
              </a:rPr>
              <a:t>  type: ClusterIP</a:t>
            </a:r>
          </a:p>
          <a:p>
            <a:pPr>
              <a:lnSpc>
                <a:spcPts val="1335"/>
              </a:lnSpc>
              <a:spcAft>
                <a:spcPts val="0"/>
              </a:spcAft>
            </a:pPr>
            <a:r>
              <a:rPr sz="1050">
                <a:solidFill>
                  <a:srgbClr val="E6EDF3"/>
                </a:solidFill>
                <a:latin typeface="Consolas"/>
              </a:rPr>
              <a:t>  port: 80</a:t>
            </a:r>
          </a:p>
          <a:p>
            <a:pPr>
              <a:lnSpc>
                <a:spcPts val="1335"/>
              </a:lnSpc>
              <a:spcAft>
                <a:spcPts val="0"/>
              </a:spcAft>
            </a:pPr>
            <a:r>
              <a:rPr sz="1050">
                <a:solidFill>
                  <a:srgbClr val="E6EDF3"/>
                </a:solidFill>
                <a:latin typeface="Consolas"/>
              </a:rPr>
              <a:t> </a:t>
            </a:r>
          </a:p>
          <a:p>
            <a:pPr>
              <a:lnSpc>
                <a:spcPts val="1335"/>
              </a:lnSpc>
              <a:spcAft>
                <a:spcPts val="0"/>
              </a:spcAft>
            </a:pPr>
            <a:r>
              <a:rPr sz="1050">
                <a:solidFill>
                  <a:srgbClr val="7D8A99"/>
                </a:solidFill>
                <a:latin typeface="Consolas"/>
              </a:rPr>
              <a:t># templates/service.yaml — a template, not a manifest</a:t>
            </a:r>
          </a:p>
          <a:p>
            <a:pPr>
              <a:lnSpc>
                <a:spcPts val="1335"/>
              </a:lnSpc>
              <a:spcAft>
                <a:spcPts val="0"/>
              </a:spcAft>
            </a:pPr>
            <a:r>
              <a:rPr sz="1050">
                <a:solidFill>
                  <a:srgbClr val="E6EDF3"/>
                </a:solidFill>
                <a:latin typeface="Consolas"/>
              </a:rPr>
              <a:t>  type: {{ .Values.service.type }}</a:t>
            </a:r>
          </a:p>
          <a:p>
            <a:pPr>
              <a:lnSpc>
                <a:spcPts val="1335"/>
              </a:lnSpc>
              <a:spcAft>
                <a:spcPts val="0"/>
              </a:spcAft>
            </a:pPr>
            <a:r>
              <a:rPr sz="1050">
                <a:solidFill>
                  <a:srgbClr val="E6EDF3"/>
                </a:solidFill>
                <a:latin typeface="Consolas"/>
              </a:rPr>
              <a:t>  ports:</a:t>
            </a:r>
          </a:p>
          <a:p>
            <a:pPr>
              <a:lnSpc>
                <a:spcPts val="1335"/>
              </a:lnSpc>
              <a:spcAft>
                <a:spcPts val="0"/>
              </a:spcAft>
            </a:pPr>
            <a:r>
              <a:rPr sz="1050">
                <a:solidFill>
                  <a:srgbClr val="E6EDF3"/>
                </a:solidFill>
                <a:latin typeface="Consolas"/>
              </a:rPr>
              <a:t>    - port: {{ .Values.service.port }}</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versions, two meanings</a:t>
            </a:r>
          </a:p>
        </p:txBody>
      </p:sp>
      <p:sp>
        <p:nvSpPr>
          <p:cNvPr id="14" name="TextBox 13"/>
          <p:cNvSpPr txBox="1"/>
          <p:nvPr/>
        </p:nvSpPr>
        <p:spPr>
          <a:xfrm>
            <a:off x="7973567" y="290116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version is the chart's own release number; appVersion is the software it installs. They move independently.</a:t>
            </a:r>
          </a:p>
        </p:txBody>
      </p:sp>
      <p:sp>
        <p:nvSpPr>
          <p:cNvPr id="15" name="Oval 14"/>
          <p:cNvSpPr/>
          <p:nvPr/>
        </p:nvSpPr>
        <p:spPr>
          <a:xfrm>
            <a:off x="7626096" y="3380677"/>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62389"/>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values.yaml is the API of the chart</a:t>
            </a:r>
          </a:p>
        </p:txBody>
      </p:sp>
      <p:sp>
        <p:nvSpPr>
          <p:cNvPr id="17" name="TextBox 16"/>
          <p:cNvSpPr txBox="1"/>
          <p:nvPr/>
        </p:nvSpPr>
        <p:spPr>
          <a:xfrm>
            <a:off x="7973567" y="3579178"/>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the documented surface a consumer may change. Anything not exposed there is not configurable.</a:t>
            </a:r>
          </a:p>
        </p:txBody>
      </p:sp>
      <p:sp>
        <p:nvSpPr>
          <p:cNvPr id="18" name="Oval 17"/>
          <p:cNvSpPr/>
          <p:nvPr/>
        </p:nvSpPr>
        <p:spPr>
          <a:xfrm>
            <a:off x="7626096" y="4058693"/>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4040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templates/ holds Go templates</a:t>
            </a:r>
          </a:p>
        </p:txBody>
      </p:sp>
      <p:sp>
        <p:nvSpPr>
          <p:cNvPr id="20" name="TextBox 19"/>
          <p:cNvSpPr txBox="1"/>
          <p:nvPr/>
        </p:nvSpPr>
        <p:spPr>
          <a:xfrm>
            <a:off x="7973567" y="425719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 .Values.x }} is substituted at render time on the client, never by the cluster.</a:t>
            </a:r>
          </a:p>
        </p:txBody>
      </p:sp>
      <p:sp>
        <p:nvSpPr>
          <p:cNvPr id="21" name="Oval 20"/>
          <p:cNvSpPr/>
          <p:nvPr/>
        </p:nvSpPr>
        <p:spPr>
          <a:xfrm>
            <a:off x="7626096" y="473671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842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empty tag idiom</a:t>
            </a:r>
          </a:p>
        </p:txBody>
      </p:sp>
      <p:sp>
        <p:nvSpPr>
          <p:cNvPr id="23" name="TextBox 22"/>
          <p:cNvSpPr txBox="1"/>
          <p:nvPr/>
        </p:nvSpPr>
        <p:spPr>
          <a:xfrm>
            <a:off x="7973567" y="493521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blank default that falls back to appVersion is the conventional way to keep image and chart in step.</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Charts can depend on charts</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Chart.yaml dependencies pull in sub-charts, which is how one install can bring a whole stack.</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helm.sh/docs/topics/charts/ · helm.sh/docs/topics/architecture/</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303</a:t>
            </a:r>
          </a:p>
        </p:txBody>
      </p:sp>
    </p:spTree>
  </p:cSld>
  <p:clrMapOvr>
    <a:masterClrMapping/>
  </p:clrMapOvr>
  <p:transition xmlns:ns1="http://schemas.openxmlformats.org/markup-compatibility/2006" spd="fast" ns1:Ignorable="p14">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Helm vocabulary, in one panel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terms. Day 4's Lab 21 assumes every one of them.</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Chart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versioned package of templates plus default values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Release</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installation of a chart into one namespace, under a name you choose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Revision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An incrementing number per release change; rollback targets a revision</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Repository</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An index.yaml listing chart versions; charts may also live in OCI registries</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values.yaml</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chart's defaults — the documented configuration surface</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--set / -f</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Override values on the command line or from your own values file</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helm template</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Render locally and print; applies nothing. The review step</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Release storage</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Secret in the release namespace holds the release record</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 in-cluster agent</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Helm 3 removed Tiller; the client talks to the API server directly</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Toolchain pinned here</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Helm v4.2.4, verified against the official get.helm.sh archive checksum</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helm.sh/docs/topics/charts/ · helm.sh/docs/topics/architecture/ · toolchain pin recorded in qa/PARENT-VERIFIED-FACTS.md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304</a:t>
            </a:r>
          </a:p>
        </p:txBody>
      </p:sp>
    </p:spTree>
  </p:cSld>
  <p:clrMapOvr>
    <a:masterClrMapping/>
  </p:clrMapOvr>
  <p:transition xmlns:ns1="http://schemas.openxmlformats.org/markup-compatibility/2006" spd="fast" ns1:Ignorable="p14">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SCOPE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Helm does, and what it deliberately does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Knowing Helm's boundaries is what stops it being blamed for problems it was never designed to solve.</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It packages and parameterises</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One chart, many environments, via values files</a:t>
            </a:r>
          </a:p>
          <a:p>
            <a:pPr>
              <a:lnSpc>
                <a:spcPct val="112000"/>
              </a:lnSpc>
              <a:spcAft>
                <a:spcPts val="500"/>
              </a:spcAft>
            </a:pPr>
            <a:r>
              <a:rPr sz="1100">
                <a:solidFill>
                  <a:srgbClr val="94A3B8"/>
                </a:solidFill>
                <a:latin typeface="Arial"/>
              </a:rPr>
              <a:t>•  </a:t>
            </a:r>
            <a:r>
              <a:rPr sz="1100">
                <a:solidFill>
                  <a:srgbClr val="5B6372"/>
                </a:solidFill>
                <a:latin typeface="Arial"/>
              </a:rPr>
              <a:t>Versioned and shareable through repositories or OCI</a:t>
            </a:r>
          </a:p>
          <a:p>
            <a:pPr>
              <a:lnSpc>
                <a:spcPct val="112000"/>
              </a:lnSpc>
              <a:spcAft>
                <a:spcPts val="500"/>
              </a:spcAft>
            </a:pPr>
            <a:r>
              <a:rPr sz="1100">
                <a:solidFill>
                  <a:srgbClr val="94A3B8"/>
                </a:solidFill>
                <a:latin typeface="Arial"/>
              </a:rPr>
              <a:t>•  </a:t>
            </a:r>
            <a:r>
              <a:rPr sz="1100">
                <a:solidFill>
                  <a:srgbClr val="5B6372"/>
                </a:solidFill>
                <a:latin typeface="Arial"/>
              </a:rPr>
              <a:t>Dependencies let one install bring a whole stack</a:t>
            </a:r>
          </a:p>
          <a:p>
            <a:pPr>
              <a:lnSpc>
                <a:spcPct val="112000"/>
              </a:lnSpc>
              <a:spcAft>
                <a:spcPts val="500"/>
              </a:spcAft>
            </a:pPr>
            <a:r>
              <a:rPr sz="1100">
                <a:solidFill>
                  <a:srgbClr val="94A3B8"/>
                </a:solidFill>
                <a:latin typeface="Arial"/>
              </a:rPr>
              <a:t>•  </a:t>
            </a:r>
            <a:r>
              <a:rPr sz="1100">
                <a:solidFill>
                  <a:srgbClr val="5B6372"/>
                </a:solidFill>
                <a:latin typeface="Arial"/>
              </a:rPr>
              <a:t>Templating removes copy-paste manifest drift</a:t>
            </a:r>
          </a:p>
        </p:txBody>
      </p:sp>
      <p:sp>
        <p:nvSpPr>
          <p:cNvPr id="11" name="Rounded Rectangle 10"/>
          <p:cNvSpPr/>
          <p:nvPr/>
        </p:nvSpPr>
        <p:spPr>
          <a:xfrm>
            <a:off x="1033271" y="5532120"/>
            <a:ext cx="80010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packaging</a:t>
            </a:r>
          </a:p>
        </p:txBody>
      </p:sp>
      <p:sp>
        <p:nvSpPr>
          <p:cNvPr id="12" name="Rectangle 11"/>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It tracks releases</a:t>
            </a:r>
          </a:p>
        </p:txBody>
      </p:sp>
      <p:sp>
        <p:nvSpPr>
          <p:cNvPr id="15" name="TextBox 14"/>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Named installation with a revision history</a:t>
            </a:r>
          </a:p>
          <a:p>
            <a:pPr>
              <a:lnSpc>
                <a:spcPct val="112000"/>
              </a:lnSpc>
              <a:spcAft>
                <a:spcPts val="500"/>
              </a:spcAft>
            </a:pPr>
            <a:r>
              <a:rPr sz="1100">
                <a:solidFill>
                  <a:srgbClr val="94A3B8"/>
                </a:solidFill>
                <a:latin typeface="Arial"/>
              </a:rPr>
              <a:t>•  </a:t>
            </a:r>
            <a:r>
              <a:rPr sz="1100">
                <a:solidFill>
                  <a:srgbClr val="5B6372"/>
                </a:solidFill>
                <a:latin typeface="Arial"/>
              </a:rPr>
              <a:t>helm upgrade and helm rollback operate on revisions</a:t>
            </a:r>
          </a:p>
          <a:p>
            <a:pPr>
              <a:lnSpc>
                <a:spcPct val="112000"/>
              </a:lnSpc>
              <a:spcAft>
                <a:spcPts val="500"/>
              </a:spcAft>
            </a:pPr>
            <a:r>
              <a:rPr sz="1100">
                <a:solidFill>
                  <a:srgbClr val="94A3B8"/>
                </a:solidFill>
                <a:latin typeface="Arial"/>
              </a:rPr>
              <a:t>•  </a:t>
            </a:r>
            <a:r>
              <a:rPr sz="1100">
                <a:solidFill>
                  <a:srgbClr val="5B6372"/>
                </a:solidFill>
                <a:latin typeface="Arial"/>
              </a:rPr>
              <a:t>State lives in a Secret in the release namespace</a:t>
            </a:r>
          </a:p>
          <a:p>
            <a:pPr>
              <a:lnSpc>
                <a:spcPct val="112000"/>
              </a:lnSpc>
              <a:spcAft>
                <a:spcPts val="500"/>
              </a:spcAft>
            </a:pPr>
            <a:r>
              <a:rPr sz="1100">
                <a:solidFill>
                  <a:srgbClr val="94A3B8"/>
                </a:solidFill>
                <a:latin typeface="Arial"/>
              </a:rPr>
              <a:t>•  </a:t>
            </a:r>
            <a:r>
              <a:rPr sz="1100">
                <a:solidFill>
                  <a:srgbClr val="5B6372"/>
                </a:solidFill>
                <a:latin typeface="Arial"/>
              </a:rPr>
              <a:t>helm list shows what a namespace actually has installed</a:t>
            </a:r>
          </a:p>
        </p:txBody>
      </p:sp>
      <p:sp>
        <p:nvSpPr>
          <p:cNvPr id="16" name="Rounded Rectangle 15"/>
          <p:cNvSpPr/>
          <p:nvPr/>
        </p:nvSpPr>
        <p:spPr>
          <a:xfrm>
            <a:off x="4739335" y="5532120"/>
            <a:ext cx="8001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lifecycle</a:t>
            </a:r>
          </a:p>
        </p:txBody>
      </p:sp>
      <p:sp>
        <p:nvSpPr>
          <p:cNvPr id="17" name="Rectangle 16"/>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19" name="TextBox 18"/>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It does NOT do these</a:t>
            </a:r>
          </a:p>
        </p:txBody>
      </p:sp>
      <p:sp>
        <p:nvSpPr>
          <p:cNvPr id="20" name="TextBox 19"/>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It is not a continuous reconciler — nothing reverts drift</a:t>
            </a:r>
          </a:p>
          <a:p>
            <a:pPr>
              <a:lnSpc>
                <a:spcPct val="112000"/>
              </a:lnSpc>
              <a:spcAft>
                <a:spcPts val="500"/>
              </a:spcAft>
            </a:pPr>
            <a:r>
              <a:rPr sz="1100">
                <a:solidFill>
                  <a:srgbClr val="94A3B8"/>
                </a:solidFill>
                <a:latin typeface="Arial"/>
              </a:rPr>
              <a:t>•  </a:t>
            </a:r>
            <a:r>
              <a:rPr sz="1100">
                <a:solidFill>
                  <a:srgbClr val="5B6372"/>
                </a:solidFill>
                <a:latin typeface="Arial"/>
              </a:rPr>
              <a:t>It does not validate that a chart is safe to run</a:t>
            </a:r>
          </a:p>
          <a:p>
            <a:pPr>
              <a:lnSpc>
                <a:spcPct val="112000"/>
              </a:lnSpc>
              <a:spcAft>
                <a:spcPts val="500"/>
              </a:spcAft>
            </a:pPr>
            <a:r>
              <a:rPr sz="1100">
                <a:solidFill>
                  <a:srgbClr val="94A3B8"/>
                </a:solidFill>
                <a:latin typeface="Arial"/>
              </a:rPr>
              <a:t>•  </a:t>
            </a:r>
            <a:r>
              <a:rPr sz="1100">
                <a:solidFill>
                  <a:srgbClr val="5B6372"/>
                </a:solidFill>
                <a:latin typeface="Arial"/>
              </a:rPr>
              <a:t>It does not replace RBAC, policy or admission control</a:t>
            </a:r>
          </a:p>
          <a:p>
            <a:pPr>
              <a:lnSpc>
                <a:spcPct val="112000"/>
              </a:lnSpc>
              <a:spcAft>
                <a:spcPts val="500"/>
              </a:spcAft>
            </a:pPr>
            <a:r>
              <a:rPr sz="1100">
                <a:solidFill>
                  <a:srgbClr val="94A3B8"/>
                </a:solidFill>
                <a:latin typeface="Arial"/>
              </a:rPr>
              <a:t>•  </a:t>
            </a:r>
            <a:r>
              <a:rPr sz="1100">
                <a:solidFill>
                  <a:srgbClr val="5B6372"/>
                </a:solidFill>
                <a:latin typeface="Arial"/>
              </a:rPr>
              <a:t>GitOps tools add the reconciliation loop — Day 4</a:t>
            </a:r>
          </a:p>
        </p:txBody>
      </p:sp>
      <p:sp>
        <p:nvSpPr>
          <p:cNvPr id="21" name="Rounded Rectangle 20"/>
          <p:cNvSpPr/>
          <p:nvPr/>
        </p:nvSpPr>
        <p:spPr>
          <a:xfrm>
            <a:off x="8445398" y="5532120"/>
            <a:ext cx="8686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boundaries</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helm.sh/docs/topics/charts/ · helm.sh/docs/topics/architecture/</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305</a:t>
            </a:r>
          </a:p>
        </p:txBody>
      </p:sp>
    </p:spTree>
  </p:cSld>
  <p:clrMapOvr>
    <a:masterClrMapping/>
  </p:clrMapOvr>
  <p:transition xmlns:ns1="http://schemas.openxmlformats.org/markup-compatibility/2006" spd="fast" ns1:Ignorable="p14">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13 — Ingress Resources and HTTP Routing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Model Meridian Freight's host and path routing with Ingress, then verify the rules through a pinned Traefik controller. Distinguish accepted API configuration from working HTTP routing.</a:t>
            </a:r>
          </a:p>
        </p:txBody>
      </p:sp>
      <p:sp>
        <p:nvSpPr>
          <p:cNvPr id="10" name="Rectangle 9"/>
          <p:cNvSpPr/>
          <p:nvPr/>
        </p:nvSpPr>
        <p:spPr>
          <a:xfrm>
            <a:off x="777240" y="2668219"/>
            <a:ext cx="5199278" cy="228215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351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Ingress host, Prefix and Exact rules aligned with data/routing-table.csv</a:t>
            </a:r>
          </a:p>
          <a:p>
            <a:pPr>
              <a:lnSpc>
                <a:spcPct val="112000"/>
              </a:lnSpc>
              <a:spcAft>
                <a:spcPts val="500"/>
              </a:spcAft>
            </a:pPr>
            <a:r>
              <a:rPr sz="1050">
                <a:solidFill>
                  <a:srgbClr val="94A3B8"/>
                </a:solidFill>
                <a:latin typeface="Arial"/>
              </a:rPr>
              <a:t>•  </a:t>
            </a:r>
            <a:r>
              <a:rPr sz="1050">
                <a:solidFill>
                  <a:srgbClr val="5B6372"/>
                </a:solidFill>
                <a:latin typeface="Arial"/>
              </a:rPr>
              <a:t>A TLS declaration and lab TLS Secret</a:t>
            </a:r>
          </a:p>
          <a:p>
            <a:pPr>
              <a:lnSpc>
                <a:spcPct val="112000"/>
              </a:lnSpc>
              <a:spcAft>
                <a:spcPts val="500"/>
              </a:spcAft>
            </a:pPr>
            <a:r>
              <a:rPr sz="1050">
                <a:solidFill>
                  <a:srgbClr val="94A3B8"/>
                </a:solidFill>
                <a:latin typeface="Arial"/>
              </a:rPr>
              <a:t>•  </a:t>
            </a:r>
            <a:r>
              <a:rPr sz="1050">
                <a:solidFill>
                  <a:srgbClr val="5B6372"/>
                </a:solidFill>
                <a:latin typeface="Arial"/>
              </a:rPr>
              <a:t>Controller inventory and observed routing evidence</a:t>
            </a:r>
          </a:p>
          <a:p>
            <a:pPr>
              <a:lnSpc>
                <a:spcPct val="112000"/>
              </a:lnSpc>
              <a:spcAft>
                <a:spcPts val="500"/>
              </a:spcAft>
            </a:pPr>
            <a:r>
              <a:rPr sz="1050">
                <a:solidFill>
                  <a:srgbClr val="94A3B8"/>
                </a:solidFill>
                <a:latin typeface="Arial"/>
              </a:rPr>
              <a:t>•  </a:t>
            </a:r>
            <a:r>
              <a:rPr sz="1050">
                <a:solidFill>
                  <a:srgbClr val="5B6372"/>
                </a:solidFill>
                <a:latin typeface="Arial"/>
              </a:rPr>
              <a:t>Optional Traefik 41.4.0 chart installation with an explicit IngressClass</a:t>
            </a:r>
          </a:p>
          <a:p>
            <a:pPr>
              <a:lnSpc>
                <a:spcPct val="112000"/>
              </a:lnSpc>
              <a:spcAft>
                <a:spcPts val="500"/>
              </a:spcAft>
            </a:pPr>
            <a:r>
              <a:rPr sz="1050">
                <a:solidFill>
                  <a:srgbClr val="94A3B8"/>
                </a:solidFill>
                <a:latin typeface="Arial"/>
              </a:rPr>
              <a:t>•  </a:t>
            </a:r>
            <a:r>
              <a:rPr sz="1050">
                <a:solidFill>
                  <a:srgbClr val="5B6372"/>
                </a:solidFill>
                <a:latin typeface="Arial"/>
              </a:rPr>
              <a:t>Seven live HTTP checks, including element boundaries and the standalone fallback Ingress</a:t>
            </a:r>
          </a:p>
        </p:txBody>
      </p:sp>
      <p:sp>
        <p:nvSpPr>
          <p:cNvPr id="14" name="Rectangle 13"/>
          <p:cNvSpPr/>
          <p:nvPr/>
        </p:nvSpPr>
        <p:spPr>
          <a:xfrm>
            <a:off x="6276441" y="2668219"/>
            <a:ext cx="5199278" cy="228215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351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Ingress declares routing; a controller implements it</a:t>
            </a:r>
          </a:p>
          <a:p>
            <a:pPr>
              <a:lnSpc>
                <a:spcPct val="112000"/>
              </a:lnSpc>
              <a:spcAft>
                <a:spcPts val="500"/>
              </a:spcAft>
            </a:pPr>
            <a:r>
              <a:rPr sz="1050">
                <a:solidFill>
                  <a:srgbClr val="94A3B8"/>
                </a:solidFill>
                <a:latin typeface="Arial"/>
              </a:rPr>
              <a:t>•  </a:t>
            </a:r>
            <a:r>
              <a:rPr sz="1050">
                <a:solidFill>
                  <a:srgbClr val="5B6372"/>
                </a:solidFill>
                <a:latin typeface="Arial"/>
              </a:rPr>
              <a:t>Controller discovery and end-to-end probes establish actual behaviour; an empty ADDRESS alone does not</a:t>
            </a:r>
          </a:p>
          <a:p>
            <a:pPr>
              <a:lnSpc>
                <a:spcPct val="112000"/>
              </a:lnSpc>
              <a:spcAft>
                <a:spcPts val="500"/>
              </a:spcAft>
            </a:pPr>
            <a:r>
              <a:rPr sz="1050">
                <a:solidFill>
                  <a:srgbClr val="94A3B8"/>
                </a:solidFill>
                <a:latin typeface="Arial"/>
              </a:rPr>
              <a:t>•  </a:t>
            </a:r>
            <a:r>
              <a:rPr sz="1050">
                <a:solidFill>
                  <a:srgbClr val="5B6372"/>
                </a:solidFill>
                <a:latin typeface="Arial"/>
              </a:rPr>
              <a:t>Explicit ingressClassName and controller-specific adoption</a:t>
            </a:r>
          </a:p>
          <a:p>
            <a:pPr>
              <a:lnSpc>
                <a:spcPct val="112000"/>
              </a:lnSpc>
              <a:spcAft>
                <a:spcPts val="500"/>
              </a:spcAft>
            </a:pPr>
            <a:r>
              <a:rPr sz="1050">
                <a:solidFill>
                  <a:srgbClr val="94A3B8"/>
                </a:solidFill>
                <a:latin typeface="Arial"/>
              </a:rPr>
              <a:t>•  </a:t>
            </a:r>
            <a:r>
              <a:rPr sz="1050">
                <a:solidFill>
                  <a:srgbClr val="5B6372"/>
                </a:solidFill>
                <a:latin typeface="Arial"/>
              </a:rPr>
              <a:t>Prefix path elements, Exact matching and strictPrefixMatching</a:t>
            </a:r>
          </a:p>
          <a:p>
            <a:pPr>
              <a:lnSpc>
                <a:spcPct val="112000"/>
              </a:lnSpc>
              <a:spcAft>
                <a:spcPts val="500"/>
              </a:spcAft>
            </a:pPr>
            <a:r>
              <a:rPr sz="1050">
                <a:solidFill>
                  <a:srgbClr val="94A3B8"/>
                </a:solidFill>
                <a:latin typeface="Arial"/>
              </a:rPr>
              <a:t>•  </a:t>
            </a:r>
            <a:r>
              <a:rPr sz="1050">
                <a:solidFill>
                  <a:srgbClr val="5B6372"/>
                </a:solidFill>
                <a:latin typeface="Arial"/>
              </a:rPr>
              <a:t>TLS termination at the controller; Service and resource backend types</a:t>
            </a:r>
          </a:p>
          <a:p>
            <a:pPr>
              <a:lnSpc>
                <a:spcPct val="112000"/>
              </a:lnSpc>
              <a:spcAft>
                <a:spcPts val="500"/>
              </a:spcAft>
            </a:pPr>
            <a:r>
              <a:rPr sz="1050">
                <a:solidFill>
                  <a:srgbClr val="94A3B8"/>
                </a:solidFill>
                <a:latin typeface="Arial"/>
              </a:rPr>
              <a:t>•  </a:t>
            </a:r>
            <a:r>
              <a:rPr sz="1050">
                <a:solidFill>
                  <a:srgbClr val="5B6372"/>
                </a:solidFill>
                <a:latin typeface="Arial"/>
              </a:rPr>
              <a:t>Traefik's rule-free fallback Ingress and routing through port-forward</a:t>
            </a:r>
          </a:p>
        </p:txBody>
      </p:sp>
      <p:sp>
        <p:nvSpPr>
          <p:cNvPr id="18" name="Rectangle 17"/>
          <p:cNvSpPr/>
          <p:nvPr/>
        </p:nvSpPr>
        <p:spPr>
          <a:xfrm>
            <a:off x="777240" y="513325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3258"/>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197266"/>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014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13</a:t>
            </a:r>
          </a:p>
        </p:txBody>
      </p:sp>
      <p:sp>
        <p:nvSpPr>
          <p:cNvPr id="22" name="Rectangle 21"/>
          <p:cNvSpPr/>
          <p:nvPr/>
        </p:nvSpPr>
        <p:spPr>
          <a:xfrm>
            <a:off x="3488436" y="513325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3258"/>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197266"/>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014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kcna-lab13</a:t>
            </a:r>
          </a:p>
        </p:txBody>
      </p:sp>
      <p:sp>
        <p:nvSpPr>
          <p:cNvPr id="26" name="Rectangle 25"/>
          <p:cNvSpPr/>
          <p:nvPr/>
        </p:nvSpPr>
        <p:spPr>
          <a:xfrm>
            <a:off x="6199631" y="513325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3258"/>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197266"/>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014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LO3 · A2 · K2 K4</a:t>
            </a:r>
          </a:p>
        </p:txBody>
      </p:sp>
      <p:sp>
        <p:nvSpPr>
          <p:cNvPr id="30" name="Rectangle 29"/>
          <p:cNvSpPr/>
          <p:nvPr/>
        </p:nvSpPr>
        <p:spPr>
          <a:xfrm>
            <a:off x="8910828" y="5133258"/>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3258"/>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197266"/>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0146"/>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773338"/>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courseware/labs/lab-13-ingress-routing/README.md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306</a:t>
            </a:r>
          </a:p>
        </p:txBody>
      </p:sp>
    </p:spTree>
  </p:cSld>
  <p:clrMapOvr>
    <a:masterClrMapping/>
  </p:clrMapOvr>
  <p:transition xmlns:ns1="http://schemas.openxmlformats.org/markup-compatibility/2006" spd="fast" ns1:Ignorable="p14">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NAMESPACES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Namespace scopes — and what it does not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Namespaces are a naming and authorisation boundary. Assuming more than that is a recurring security error.</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scopes NAMES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Two Services may both be called api, one per namespace. Uniqueness is per namespace, per resource kind.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scopes RBAC</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RoleBinding grants inside one namespace only. This is the primary reason namespaces exist operationally.</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scopes QUOTAS and LIMITS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ResourceQuota and LimitRange are namespaced objects and cap the whole namespace's consumption.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scopes DNS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Service record lives under &lt;ns&gt;.svc.cluster.local. Wrong namespace means the name does not resolve.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NOT a network boundary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Any Pod can reach any other Pod's IP across namespaces. Only NetworkPolicy changes that.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NOT a node or kernel boundary</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Pods from different namespaces share nodes and kernels. Isolation there is a scheduling and runtime question.</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kubernetes.io/docs/concepts/overview/working-with-objects/namespaces/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307</a:t>
            </a:r>
          </a:p>
        </p:txBody>
      </p:sp>
    </p:spTree>
  </p:cSld>
  <p:clrMapOvr>
    <a:masterClrMapping/>
  </p:clrMapOvr>
  <p:transition xmlns:ns1="http://schemas.openxmlformats.org/markup-compatibility/2006" spd="fast" ns1:Ignorable="p14">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Namespace that carries policy labels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namespace is where Pod Security Standards are switched on. It carries policy, not just a name.</a:t>
            </a:r>
          </a:p>
        </p:txBody>
      </p:sp>
      <p:sp>
        <p:nvSpPr>
          <p:cNvPr id="7" name="Rectangle 6"/>
          <p:cNvSpPr/>
          <p:nvPr/>
        </p:nvSpPr>
        <p:spPr>
          <a:xfrm>
            <a:off x="777240" y="2200046"/>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00-namespace.yaml (Lab 14)</a:t>
            </a:r>
          </a:p>
        </p:txBody>
      </p:sp>
      <p:sp>
        <p:nvSpPr>
          <p:cNvPr id="9" name="TextBox 8"/>
          <p:cNvSpPr txBox="1"/>
          <p:nvPr/>
        </p:nvSpPr>
        <p:spPr>
          <a:xfrm>
            <a:off x="923544" y="2620670"/>
            <a:ext cx="6062472" cy="2624327"/>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Namespace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kcna-lab14</a:t>
            </a:r>
          </a:p>
          <a:p>
            <a:pPr>
              <a:lnSpc>
                <a:spcPts val="1476"/>
              </a:lnSpc>
              <a:spcAft>
                <a:spcPts val="0"/>
              </a:spcAft>
            </a:pPr>
            <a:r>
              <a:rPr sz="1050">
                <a:solidFill>
                  <a:srgbClr val="E6EDF3"/>
                </a:solidFill>
                <a:latin typeface="Consolas"/>
              </a:rPr>
              <a:t>  labels:</a:t>
            </a:r>
          </a:p>
          <a:p>
            <a:pPr>
              <a:lnSpc>
                <a:spcPts val="1476"/>
              </a:lnSpc>
              <a:spcAft>
                <a:spcPts val="0"/>
              </a:spcAft>
            </a:pPr>
            <a:r>
              <a:rPr sz="1050">
                <a:solidFill>
                  <a:srgbClr val="E6EDF3"/>
                </a:solidFill>
                <a:latin typeface="Consolas"/>
              </a:rPr>
              <a:t>    kubernetes.io/metadata.name: kcna-lab14</a:t>
            </a:r>
          </a:p>
          <a:p>
            <a:pPr>
              <a:lnSpc>
                <a:spcPts val="1476"/>
              </a:lnSpc>
              <a:spcAft>
                <a:spcPts val="0"/>
              </a:spcAft>
            </a:pPr>
            <a:r>
              <a:rPr sz="1050">
                <a:solidFill>
                  <a:srgbClr val="E6EDF3"/>
                </a:solidFill>
                <a:latin typeface="Consolas"/>
              </a:rPr>
              <a:t>    pod-security.kubernetes.io/enforce: baseline</a:t>
            </a:r>
          </a:p>
          <a:p>
            <a:pPr>
              <a:lnSpc>
                <a:spcPts val="1476"/>
              </a:lnSpc>
              <a:spcAft>
                <a:spcPts val="0"/>
              </a:spcAft>
            </a:pPr>
            <a:r>
              <a:rPr sz="1050">
                <a:solidFill>
                  <a:srgbClr val="E6EDF3"/>
                </a:solidFill>
                <a:latin typeface="Consolas"/>
              </a:rPr>
              <a:t>    pod-security.kubernetes.io/enforce-version: latest</a:t>
            </a:r>
          </a:p>
          <a:p>
            <a:pPr>
              <a:lnSpc>
                <a:spcPts val="1476"/>
              </a:lnSpc>
              <a:spcAft>
                <a:spcPts val="0"/>
              </a:spcAft>
            </a:pPr>
            <a:r>
              <a:rPr sz="1050">
                <a:solidFill>
                  <a:srgbClr val="E6EDF3"/>
                </a:solidFill>
                <a:latin typeface="Consolas"/>
              </a:rPr>
              <a:t>    pod-security.kubernetes.io/warn: restricted</a:t>
            </a:r>
          </a:p>
          <a:p>
            <a:pPr>
              <a:lnSpc>
                <a:spcPts val="1476"/>
              </a:lnSpc>
              <a:spcAft>
                <a:spcPts val="0"/>
              </a:spcAft>
            </a:pPr>
            <a:r>
              <a:rPr sz="1050">
                <a:solidFill>
                  <a:srgbClr val="E6EDF3"/>
                </a:solidFill>
                <a:latin typeface="Consolas"/>
              </a:rPr>
              <a:t>    pod-security.kubernetes.io/audit: restricted</a:t>
            </a:r>
          </a:p>
          <a:p>
            <a:pPr>
              <a:lnSpc>
                <a:spcPts val="1476"/>
              </a:lnSpc>
              <a:spcAft>
                <a:spcPts val="0"/>
              </a:spcAft>
            </a:pPr>
            <a:r>
              <a:rPr sz="1050">
                <a:solidFill>
                  <a:srgbClr val="E6EDF3"/>
                </a:solidFill>
                <a:latin typeface="Consolas"/>
              </a:rPr>
              <a:t>    course: kcna</a:t>
            </a:r>
          </a:p>
          <a:p>
            <a:pPr>
              <a:lnSpc>
                <a:spcPts val="1476"/>
              </a:lnSpc>
              <a:spcAft>
                <a:spcPts val="0"/>
              </a:spcAft>
            </a:pPr>
            <a:r>
              <a:rPr sz="1050">
                <a:solidFill>
                  <a:srgbClr val="7D8A99"/>
                </a:solidFill>
                <a:latin typeface="Consolas"/>
              </a:rPr>
              <a:t># The enforce label REJECTS violating Pods.</a:t>
            </a:r>
          </a:p>
          <a:p>
            <a:pPr>
              <a:lnSpc>
                <a:spcPts val="1476"/>
              </a:lnSpc>
              <a:spcAft>
                <a:spcPts val="0"/>
              </a:spcAft>
            </a:pPr>
            <a:r>
              <a:rPr sz="1050">
                <a:solidFill>
                  <a:srgbClr val="7D8A99"/>
                </a:solidFill>
                <a:latin typeface="Consolas"/>
              </a:rPr>
              <a:t># The warn label only prints a warning on create.</a:t>
            </a:r>
          </a:p>
          <a:p>
            <a:pPr>
              <a:lnSpc>
                <a:spcPts val="1476"/>
              </a:lnSpc>
              <a:spcAft>
                <a:spcPts val="0"/>
              </a:spcAft>
            </a:pPr>
            <a:r>
              <a:rPr sz="1050">
                <a:solidFill>
                  <a:srgbClr val="7D8A99"/>
                </a:solidFill>
                <a:latin typeface="Consolas"/>
              </a:rPr>
              <a:t># The audit label only records an audit annotation.</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metadata.name label is automatic</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control plane sets it on every namespace, which is what makes namespaceSelector usable in NetworkPolicy.</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Three independent modes</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enforce, warn and audit can each name a different level. Warn first, enforce later, is the safe rollout.</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enforce-version pins behaviour</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latest tracks the cluster; a pinned version keeps the checks stable across upgrades.</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Labels, not a separate object</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Pod Security admission is configured entirely by namespace labels — there is no policy CRD to install.</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Your own labels belong here too</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course: kcna is how the labs select and clean up everything they created.</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kubernetes.io/docs/concepts/overview/working-with-objects/namespaces/ · kubernetes.io/docs/concepts/security/pod-security-standards/ · courseware/labs/lab-14-namespaces-serviceaccounts-rbac/verification/expected-output.md</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308</a:t>
            </a:r>
          </a:p>
        </p:txBody>
      </p:sp>
    </p:spTree>
  </p:cSld>
  <p:clrMapOvr>
    <a:masterClrMapping/>
  </p:clrMapOvr>
  <p:transition xmlns:ns1="http://schemas.openxmlformats.org/markup-compatibility/2006" spd="fast" ns1:Ignorable="p14">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SCOPE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Namespaced versus cluster-scoped resources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distinction decides what `kubectl delete namespace` actually cleans up — and what it silently leaves.</a:t>
            </a:r>
          </a:p>
        </p:txBody>
      </p:sp>
      <p:sp>
        <p:nvSpPr>
          <p:cNvPr id="7" name="Rectangle 6"/>
          <p:cNvSpPr/>
          <p:nvPr/>
        </p:nvSpPr>
        <p:spPr>
          <a:xfrm>
            <a:off x="777240" y="2200046"/>
            <a:ext cx="227342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01739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Question</a:t>
            </a:r>
          </a:p>
        </p:txBody>
      </p:sp>
      <p:sp>
        <p:nvSpPr>
          <p:cNvPr id="9" name="Rectangle 8"/>
          <p:cNvSpPr/>
          <p:nvPr/>
        </p:nvSpPr>
        <p:spPr>
          <a:xfrm>
            <a:off x="3050666" y="2200046"/>
            <a:ext cx="41456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178683" y="2300630"/>
            <a:ext cx="38896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Namespaced</a:t>
            </a:r>
          </a:p>
        </p:txBody>
      </p:sp>
      <p:sp>
        <p:nvSpPr>
          <p:cNvPr id="11" name="Rectangle 10"/>
          <p:cNvSpPr/>
          <p:nvPr/>
        </p:nvSpPr>
        <p:spPr>
          <a:xfrm>
            <a:off x="7196327" y="2200046"/>
            <a:ext cx="4279392"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324344" y="2300630"/>
            <a:ext cx="4023359"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Cluster-scoped</a:t>
            </a:r>
          </a:p>
        </p:txBody>
      </p:sp>
      <p:sp>
        <p:nvSpPr>
          <p:cNvPr id="13" name="Rectangle 12"/>
          <p:cNvSpPr/>
          <p:nvPr/>
        </p:nvSpPr>
        <p:spPr>
          <a:xfrm>
            <a:off x="777240" y="2620670"/>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Examples</a:t>
            </a:r>
          </a:p>
        </p:txBody>
      </p:sp>
      <p:sp>
        <p:nvSpPr>
          <p:cNvPr id="15" name="Rectangle 14"/>
          <p:cNvSpPr/>
          <p:nvPr/>
        </p:nvSpPr>
        <p:spPr>
          <a:xfrm>
            <a:off x="3050666" y="2620670"/>
            <a:ext cx="41456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178683" y="2702966"/>
            <a:ext cx="38896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Service, Deployment, ConfigMap, Secret, Role, RoleBinding, NetworkPolicy</a:t>
            </a:r>
          </a:p>
        </p:txBody>
      </p:sp>
      <p:sp>
        <p:nvSpPr>
          <p:cNvPr id="17" name="Rectangle 16"/>
          <p:cNvSpPr/>
          <p:nvPr/>
        </p:nvSpPr>
        <p:spPr>
          <a:xfrm>
            <a:off x="7196327" y="2620670"/>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324344" y="27029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Node, PersistentVolume, StorageClass, Namespace, ClusterRole, ClusterRoleBinding, IngressClass</a:t>
            </a:r>
          </a:p>
        </p:txBody>
      </p:sp>
      <p:sp>
        <p:nvSpPr>
          <p:cNvPr id="19" name="Rectangle 18"/>
          <p:cNvSpPr/>
          <p:nvPr/>
        </p:nvSpPr>
        <p:spPr>
          <a:xfrm>
            <a:off x="777240" y="3171870"/>
            <a:ext cx="2273426"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Deleting the namespace</a:t>
            </a:r>
          </a:p>
        </p:txBody>
      </p:sp>
      <p:sp>
        <p:nvSpPr>
          <p:cNvPr id="21" name="Rectangle 20"/>
          <p:cNvSpPr/>
          <p:nvPr/>
        </p:nvSpPr>
        <p:spPr>
          <a:xfrm>
            <a:off x="3050666" y="3171870"/>
            <a:ext cx="41456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178683" y="3254166"/>
            <a:ext cx="38896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Removes them — garbage collected with the namespace</a:t>
            </a:r>
          </a:p>
        </p:txBody>
      </p:sp>
      <p:sp>
        <p:nvSpPr>
          <p:cNvPr id="23" name="Rectangle 22"/>
          <p:cNvSpPr/>
          <p:nvPr/>
        </p:nvSpPr>
        <p:spPr>
          <a:xfrm>
            <a:off x="7196327" y="3171870"/>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324344" y="3254166"/>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Leaves them behind; they must be deleted by name</a:t>
            </a:r>
          </a:p>
        </p:txBody>
      </p:sp>
      <p:sp>
        <p:nvSpPr>
          <p:cNvPr id="25" name="Rectangle 24"/>
          <p:cNvSpPr/>
          <p:nvPr/>
        </p:nvSpPr>
        <p:spPr>
          <a:xfrm>
            <a:off x="777240" y="3723071"/>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Name uniqueness</a:t>
            </a:r>
          </a:p>
        </p:txBody>
      </p:sp>
      <p:sp>
        <p:nvSpPr>
          <p:cNvPr id="27" name="Rectangle 26"/>
          <p:cNvSpPr/>
          <p:nvPr/>
        </p:nvSpPr>
        <p:spPr>
          <a:xfrm>
            <a:off x="3050666" y="3723071"/>
            <a:ext cx="41456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178683" y="3805367"/>
            <a:ext cx="38896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Unique within the namespace</a:t>
            </a:r>
          </a:p>
        </p:txBody>
      </p:sp>
      <p:sp>
        <p:nvSpPr>
          <p:cNvPr id="29" name="Rectangle 28"/>
          <p:cNvSpPr/>
          <p:nvPr/>
        </p:nvSpPr>
        <p:spPr>
          <a:xfrm>
            <a:off x="7196327" y="37230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324344" y="38053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Unique across the whole cluster</a:t>
            </a:r>
          </a:p>
        </p:txBody>
      </p:sp>
      <p:sp>
        <p:nvSpPr>
          <p:cNvPr id="31" name="Rectangle 30"/>
          <p:cNvSpPr/>
          <p:nvPr/>
        </p:nvSpPr>
        <p:spPr>
          <a:xfrm>
            <a:off x="777240" y="4274271"/>
            <a:ext cx="2273426"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How to check</a:t>
            </a:r>
          </a:p>
        </p:txBody>
      </p:sp>
      <p:sp>
        <p:nvSpPr>
          <p:cNvPr id="33" name="Rectangle 32"/>
          <p:cNvSpPr/>
          <p:nvPr/>
        </p:nvSpPr>
        <p:spPr>
          <a:xfrm>
            <a:off x="3050666" y="4274271"/>
            <a:ext cx="41456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178683" y="4356567"/>
            <a:ext cx="38896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api-resources --namespaced=true</a:t>
            </a:r>
          </a:p>
        </p:txBody>
      </p:sp>
      <p:sp>
        <p:nvSpPr>
          <p:cNvPr id="35" name="Rectangle 34"/>
          <p:cNvSpPr/>
          <p:nvPr/>
        </p:nvSpPr>
        <p:spPr>
          <a:xfrm>
            <a:off x="7196327" y="4274271"/>
            <a:ext cx="4279392"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324344" y="43565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api-resources --namespaced=false</a:t>
            </a:r>
          </a:p>
        </p:txBody>
      </p:sp>
      <p:sp>
        <p:nvSpPr>
          <p:cNvPr id="37" name="Rectangle 36"/>
          <p:cNvSpPr/>
          <p:nvPr/>
        </p:nvSpPr>
        <p:spPr>
          <a:xfrm>
            <a:off x="777240" y="4825471"/>
            <a:ext cx="2273426"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0173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RBAC grant</a:t>
            </a:r>
          </a:p>
        </p:txBody>
      </p:sp>
      <p:sp>
        <p:nvSpPr>
          <p:cNvPr id="39" name="Rectangle 38"/>
          <p:cNvSpPr/>
          <p:nvPr/>
        </p:nvSpPr>
        <p:spPr>
          <a:xfrm>
            <a:off x="3050666" y="4825471"/>
            <a:ext cx="41456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178683" y="4907767"/>
            <a:ext cx="38896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Role + RoleBinding, or ClusterRole + RoleBinding for reusable rules</a:t>
            </a:r>
          </a:p>
        </p:txBody>
      </p:sp>
      <p:sp>
        <p:nvSpPr>
          <p:cNvPr id="41" name="Rectangle 40"/>
          <p:cNvSpPr/>
          <p:nvPr/>
        </p:nvSpPr>
        <p:spPr>
          <a:xfrm>
            <a:off x="7196327" y="4825471"/>
            <a:ext cx="4279392"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324344" y="4907767"/>
            <a:ext cx="4023359"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Requires a ClusterRole bound by a ClusterRoleBinding</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Before deleting a namespace, ask which cluster-scoped objects your work created.</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kubernetes.io/docs/concepts/overview/working-with-objects/namespaces/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309</a:t>
            </a:r>
          </a:p>
        </p:txBody>
      </p:sp>
    </p:spTree>
  </p:cSld>
  <p:clrMapOvr>
    <a:masterClrMapping/>
  </p:clrMapOvr>
  <p:transition xmlns:ns1="http://schemas.openxmlformats.org/markup-compatibility/2006" spd="fast" ns1:Ignorable="p14">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Namespaces in practice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built-in namespaces and six operational facts.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Where objects land with no -n. Not special otherwise</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kube-system</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Control-plane and add-on workloads. Treat as read-only</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kube-public</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Readable by unauthenticated users; holds cluster bootstrap info</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kube-node-lease</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 heartbeat Lease objects — one per node</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Terminating state</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namespace stuck here usually has a finalizer waiting on something</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Cross-namespace access</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Use the full DNS name; RBAC and policy still apply separately</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Quota per namespace</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ResourceQuota caps CPU, memory, storage and object counts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context</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kubectl config set-context --current --namespace=&lt;ns&gt;</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Not a hard tenant boundary</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For untrusted tenants, consider separate clusters or stronger isolation</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Labels matter</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kubernetes.io/metadata.name is what namespaceSelector matches on</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kubernetes.io/docs/concepts/overview/working-with-objects/namespaces/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310</a:t>
            </a:r>
          </a:p>
        </p:txBody>
      </p:sp>
    </p:spTree>
  </p:cSld>
  <p:clrMapOvr>
    <a:masterClrMapping/>
  </p:clrMapOvr>
  <p:transition xmlns:ns1="http://schemas.openxmlformats.org/markup-compatibility/2006" spd="fast" ns1:Ignorable="p14">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Afternoon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3:50 – 4:00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311</a:t>
            </a:r>
          </a:p>
        </p:txBody>
      </p:sp>
    </p:spTree>
  </p:cSld>
  <p:clrMapOvr>
    <a:masterClrMapping/>
  </p:clrMapOvr>
  <p:transition xmlns:ns1="http://schemas.openxmlformats.org/markup-compatibility/2006" spd="fast" ns1:Ignorable="p14">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04</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REGISTERED TOPIC 4</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Cluster Security</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Authentication, authorization, admission, Secrets and NetworkPolicy — the other half of 'can this request succeed?'</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312</a:t>
            </a:r>
          </a:p>
        </p:txBody>
      </p:sp>
    </p:spTree>
  </p:cSld>
  <p:clrMapOvr>
    <a:masterClrMapping/>
  </p:clrMapOvr>
  <p:transition xmlns:ns1="http://schemas.openxmlformats.org/markup-compatibility/2006" spd="med" ns1:Ignorable="p14">
    <p:push dir="l"/>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4C'S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nested layers of cloud native security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Each layer can only be as strong as the one outside it. Hardening Code cannot compensate for an open Cluster.</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CLOUD / INFRASTRUCTURE</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Provider and network</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VPC design, firewalls, private API endpoints, node placement</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Identity and access</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Who may create clusters, read state and reach the control plane</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Physical and tenancy</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Data residency, isolation and the provider's own attestations</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CLUSTER</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API access</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Authentication, RBAC and admission control on every request</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Component config</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etcd encryption, kubelet authorization, audit logging, certificate rotation</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Workload guardrails</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Pod Security Standards, NetworkPolicy, quotas</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CONTAINER AND CODE</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Image provenance</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Signed images, SBOMs, scanned bases, pinned digests</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Runtime posture</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Non-root, read-only rootfs, dropped capabilities, seccomp</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Application code</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TLS, input validation, dependency hygiene, no secrets in source</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Kubernetes controls the Cluster layer and gives you tools for Container. Cloud and Code remain your responsibility and are where most real breaches start.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kubernetes.io/docs/concepts/security/overview/  (the 4C's)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313</a:t>
            </a:r>
          </a:p>
        </p:txBody>
      </p:sp>
    </p:spTree>
  </p:cSld>
  <p:clrMapOvr>
    <a:masterClrMapping/>
  </p:clrMapOvr>
  <p:transition xmlns:ns1="http://schemas.openxmlformats.org/markup-compatibility/2006" spd="fast" ns1:Ignorable="p14">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DEFAULTS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stock cluster does and does not protect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things are secure by default. Four are explicitly your job — and all four appear in today's labs.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Protected: the API server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request is authenticated and authorized. Anonymous access is limited and unprivileged.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Protected: etcd on the wire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Control-plane components use mutual TLS between each other by default in managed and kubeadm clusters.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protected: Pod-to-Pod traffic</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Flat, unauthenticated and unencrypted unless you add NetworkPolicy or a mesh.</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protected: Secret contents at rest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Base64 encoding only, unless encryption at rest is explicitly configured on the API server.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protected: what a container may do</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Without Pod Security admission or policy, containers can ask for root, hostPath and privileged.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protected: image provenance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Any image the node can pull will run. Signature verification is admission-time work you must add.</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kubernetes.io/docs/concepts/security/overview/  (the 4C's)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314</a:t>
            </a:r>
          </a:p>
        </p:txBody>
      </p:sp>
    </p:spTree>
  </p:cSld>
  <p:clrMapOvr>
    <a:masterClrMapping/>
  </p:clrMapOvr>
  <p:transition xmlns:ns1="http://schemas.openxmlformats.org/markup-compatibility/2006" spd="fast" ns1:Ignorable="p14">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REQUEST PIPELINE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every API request passes through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gates, always in this order. Knowing which gate rejected you tells you which configuration to fix.</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1 · AUTHENTICATION</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Who is this?</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Client certificate, bearer token or OIDC ID token — first module to succeed wins</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Result</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username and a set of groups. Kubernetes stores no user object anywhere</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Failure</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401 Unauthorized. The request never reaches authorization</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2 · AUTHORIZATION</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May they do this?</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Node, RBAC, ABAC or Webhook modules, consulted in configured order</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Decision inputs</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user, groups, verb, resource, subresource, namespace, name</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Failure</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403 Forbidden, with a message naming every one of those fields</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0B981"/>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3 · ADMISSION → 4 · PERSIST</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Mutating admission</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Webhooks and controllers may CHANGE the object — defaults, injection</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Validating admission</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Schema validation, then validating webhooks and CEL policies — accept or reject</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etcd write</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Only now is the object persisted and made visible to watchers</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Mutation happens before validation, deliberately — so a webhook that injects a sidecar still has its result checked by every validating policy.</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kubernetes.io/docs/reference/access-authn-authz/authentication/ · kubernetes.io/docs/reference/access-authn-authz/authorization/ · kubernetes.io/docs/reference/access-authn-authz/admission-controllers/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315</a:t>
            </a:r>
          </a:p>
        </p:txBody>
      </p:sp>
    </p:spTree>
  </p:cSld>
  <p:clrMapOvr>
    <a:masterClrMapping/>
  </p:clrMapOvr>
  <p:transition xmlns:ns1="http://schemas.openxmlformats.org/markup-compatibility/2006" spd="fast" ns1:Ignorable="p14">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7C3AED"/>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7C3AED"/>
                </a:solidFill>
                <a:latin typeface="Arial"/>
              </a:rPr>
              <a:t>THE FACT THAT SURPRISES EVERYONE</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Kubernetes has no User object. There is nothing to create, list or delete.</a:t>
            </a:r>
          </a:p>
        </p:txBody>
      </p:sp>
      <p:sp>
        <p:nvSpPr>
          <p:cNvPr id="6" name="Rectangle 5"/>
          <p:cNvSpPr/>
          <p:nvPr/>
        </p:nvSpPr>
        <p:spPr>
          <a:xfrm>
            <a:off x="1143000" y="4187952"/>
            <a:ext cx="2194560" cy="32004"/>
          </a:xfrm>
          <a:prstGeom prst="rect">
            <a:avLst/>
          </a:prstGeom>
          <a:solidFill>
            <a:srgbClr val="7C3AED"/>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Human identity is asserted by an external credential — a certificate, an OIDC token, a proxy header. The cluster only ever derives a username and groups from it.</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316</a:t>
            </a:r>
          </a:p>
        </p:txBody>
      </p:sp>
    </p:spTree>
  </p:cSld>
  <p:clrMapOvr>
    <a:masterClrMapping/>
  </p:clrMapOvr>
  <p:transition xmlns:ns1="http://schemas.openxmlformats.org/markup-compatibility/2006" spd="fast" ns1:Ignorable="p14">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AUTHENTICATION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the API server learns who you are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Several modules, tried in turn. The first to accept the credential decides the identity; none of them stores it.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X.509 client certificates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certificate's CN becomes the username and each O becomes a group. Signed by a CA the API server trusts.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ServiceAccount bearer tokens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Signed JWTs for in-cluster workloads. Modern tokens are short-lived, audience-bound and Pod-bound.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OpenID Connect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external identity provider issues an ID token; the API server validates it and maps claims to user and groups.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Webhook token authentication</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server calls an external service to validate an opaque token and receive the identity back.</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Authenticating proxy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trusted front proxy asserts identity in headers. Only usable behind a properly secured proxy.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Anonymous requests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Unmatched requests may be treated as system:anonymous in group system:unauthenticated — and then authorized normally.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kubernetes.io/docs/reference/access-authn-authz/authentication/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317</a:t>
            </a:r>
          </a:p>
        </p:txBody>
      </p:sp>
    </p:spTree>
  </p:cSld>
  <p:clrMapOvr>
    <a:masterClrMapping/>
  </p:clrMapOvr>
  <p:transition xmlns:ns1="http://schemas.openxmlformats.org/markup-compatibility/2006" spd="fast" ns1:Ignorable="p14">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CLIENT CERTIFICATES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Creating a TLS certificate for authentication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registered outline's 'creating a TLS certificate for authentication' — mechanism, not keystrokes.</a:t>
            </a:r>
          </a:p>
        </p:txBody>
      </p:sp>
      <p:sp>
        <p:nvSpPr>
          <p:cNvPr id="7" name="Rounded Rectangle 6"/>
          <p:cNvSpPr/>
          <p:nvPr/>
        </p:nvSpPr>
        <p:spPr>
          <a:xfrm>
            <a:off x="7772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Generate a key pair</a:t>
            </a:r>
          </a:p>
        </p:txBody>
      </p:sp>
      <p:sp>
        <p:nvSpPr>
          <p:cNvPr id="11" name="TextBox 10"/>
          <p:cNvSpPr txBox="1"/>
          <p:nvPr/>
        </p:nvSpPr>
        <p:spPr>
          <a:xfrm>
            <a:off x="9235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private key that never leaves the operator's machine. The cluster never sees it.</a:t>
            </a:r>
          </a:p>
        </p:txBody>
      </p:sp>
      <p:cxnSp>
        <p:nvCxnSpPr>
          <p:cNvPr id="12" name="Connector 11"/>
          <p:cNvCxnSpPr/>
          <p:nvPr/>
        </p:nvCxnSpPr>
        <p:spPr>
          <a:xfrm>
            <a:off x="271393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09448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Build a CSR</a:t>
            </a:r>
          </a:p>
        </p:txBody>
      </p:sp>
      <p:sp>
        <p:nvSpPr>
          <p:cNvPr id="17" name="TextBox 16"/>
          <p:cNvSpPr txBox="1"/>
          <p:nvPr/>
        </p:nvSpPr>
        <p:spPr>
          <a:xfrm>
            <a:off x="312541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Subject CN=&lt;username&gt;, O=&lt;group&gt;. Those two fields ARE the identity the API server will use.</a:t>
            </a:r>
          </a:p>
        </p:txBody>
      </p:sp>
      <p:cxnSp>
        <p:nvCxnSpPr>
          <p:cNvPr id="18" name="Connector 17"/>
          <p:cNvCxnSpPr/>
          <p:nvPr/>
        </p:nvCxnSpPr>
        <p:spPr>
          <a:xfrm>
            <a:off x="491581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09448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Submit a CertificateSigning</a:t>
            </a:r>
          </a:p>
          <a:p>
            <a:pPr algn="ctr">
              <a:lnSpc>
                <a:spcPct val="100000"/>
              </a:lnSpc>
            </a:pPr>
            <a:r>
              <a:rPr sz="1300" b="1" i="0">
                <a:solidFill>
                  <a:srgbClr val="161B26"/>
                </a:solidFill>
                <a:latin typeface="Arial"/>
              </a:rPr>
              <a:t>Request</a:t>
            </a:r>
          </a:p>
        </p:txBody>
      </p:sp>
      <p:sp>
        <p:nvSpPr>
          <p:cNvPr id="23" name="TextBox 22"/>
          <p:cNvSpPr txBox="1"/>
          <p:nvPr/>
        </p:nvSpPr>
        <p:spPr>
          <a:xfrm>
            <a:off x="532729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certificates.k8s.io/v1, carrying the base64 CSR and a signerName such as kubernetes.io/kube-apiserver-client.</a:t>
            </a:r>
          </a:p>
        </p:txBody>
      </p:sp>
      <p:cxnSp>
        <p:nvCxnSpPr>
          <p:cNvPr id="24" name="Connector 23"/>
          <p:cNvCxnSpPr/>
          <p:nvPr/>
        </p:nvCxnSpPr>
        <p:spPr>
          <a:xfrm>
            <a:off x="711768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09448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An approver approves it</a:t>
            </a:r>
          </a:p>
        </p:txBody>
      </p:sp>
      <p:sp>
        <p:nvSpPr>
          <p:cNvPr id="29" name="TextBox 28"/>
          <p:cNvSpPr txBox="1"/>
          <p:nvPr/>
        </p:nvSpPr>
        <p:spPr>
          <a:xfrm>
            <a:off x="752916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Approval is a separate, RBAC-controlled action. The cluster signer then issues the certificate.</a:t>
            </a:r>
          </a:p>
        </p:txBody>
      </p:sp>
      <p:cxnSp>
        <p:nvCxnSpPr>
          <p:cNvPr id="30" name="Connector 29"/>
          <p:cNvCxnSpPr/>
          <p:nvPr/>
        </p:nvCxnSpPr>
        <p:spPr>
          <a:xfrm>
            <a:off x="931956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Assemble a kubeconfig</a:t>
            </a:r>
          </a:p>
        </p:txBody>
      </p:sp>
      <p:sp>
        <p:nvSpPr>
          <p:cNvPr id="35" name="TextBox 34"/>
          <p:cNvSpPr txBox="1"/>
          <p:nvPr/>
        </p:nvSpPr>
        <p:spPr>
          <a:xfrm>
            <a:off x="97310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Certificate plus key plus the cluster CA. The user still has zero permissions until RBAC grants some.</a:t>
            </a:r>
          </a:p>
        </p:txBody>
      </p:sp>
      <p:sp>
        <p:nvSpPr>
          <p:cNvPr id="36" name="Rectangle 35"/>
          <p:cNvSpPr/>
          <p:nvPr/>
        </p:nvSpPr>
        <p:spPr>
          <a:xfrm>
            <a:off x="777240" y="478830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78830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87060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09920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 signed certificate proves identity and nothing else. Note the operational weakness: certificates cannot be revoked by Kubernetes, only expired.</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kubernetes.io/docs/reference/access-authn-authz/certificate-signing-requests/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318</a:t>
            </a:r>
          </a:p>
        </p:txBody>
      </p:sp>
    </p:spTree>
  </p:cSld>
  <p:clrMapOvr>
    <a:masterClrMapping/>
  </p:clrMapOvr>
  <p:transition xmlns:ns5="http://schemas.openxmlformats.org/markup-compatibility/2006" spd="fast" ns5:Ignorable="p14">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SERVICEACCOUNTS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Overview, and the points to note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ServiceAccount is an identity for in-cluster workloads — and an identity is not an authorisation.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a real namespaced object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Unlike users, ServiceAccounts exist in the API. Their username is system:serviceaccount:&lt;ns&gt;:&lt;name&gt;.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Every namespace gets one named default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Pods that name no ServiceAccount use it. It is created automatically and holds no permissions.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Zero permissions until bound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Creating a ServiceAccount grants nothing at all. A RoleBinding or ClusterRoleBinding is what grants.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Tokens are projected, not stored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kubelet requests a short-lived, audience-bound token and projects it into the Pod; it is rotated automatically.</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automountServiceAccountToken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Set false on the Pod or the ServiceAccount when the workload never calls the API. Free attack-surface reduction.</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Group membership is automatic</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ServiceAccount is in system:serviceaccounts and system:serviceaccounts:&lt;namespace&gt;.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kubernetes.io/docs/concepts/security/service-accounts/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319</a:t>
            </a:r>
          </a:p>
        </p:txBody>
      </p:sp>
    </p:spTree>
  </p:cSld>
  <p:clrMapOvr>
    <a:masterClrMapping/>
  </p:clrMapOvr>
  <p:transition xmlns:ns1="http://schemas.openxmlformats.org/markup-compatibility/2006" spd="fast" ns1:Ignorable="p14">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projected ServiceAccount token volume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Authenticating with tokens, seen from the workload's side — a registered outline item.</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The volume kubelet adds when a token is automounted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serviceAccountName: ops-reader</a:t>
            </a:r>
          </a:p>
          <a:p>
            <a:pPr>
              <a:lnSpc>
                <a:spcPts val="1339"/>
              </a:lnSpc>
              <a:spcAft>
                <a:spcPts val="0"/>
              </a:spcAft>
            </a:pPr>
            <a:r>
              <a:rPr sz="1050">
                <a:solidFill>
                  <a:srgbClr val="E6EDF3"/>
                </a:solidFill>
                <a:latin typeface="Consolas"/>
              </a:rPr>
              <a:t>  automountServiceAccountToken: true</a:t>
            </a:r>
          </a:p>
          <a:p>
            <a:pPr>
              <a:lnSpc>
                <a:spcPts val="1339"/>
              </a:lnSpc>
              <a:spcAft>
                <a:spcPts val="0"/>
              </a:spcAft>
            </a:pPr>
            <a:r>
              <a:rPr sz="1050">
                <a:solidFill>
                  <a:srgbClr val="E6EDF3"/>
                </a:solidFill>
                <a:latin typeface="Consolas"/>
              </a:rPr>
              <a:t>  volumes:</a:t>
            </a:r>
          </a:p>
          <a:p>
            <a:pPr>
              <a:lnSpc>
                <a:spcPts val="1339"/>
              </a:lnSpc>
              <a:spcAft>
                <a:spcPts val="0"/>
              </a:spcAft>
            </a:pPr>
            <a:r>
              <a:rPr sz="1050">
                <a:solidFill>
                  <a:srgbClr val="E6EDF3"/>
                </a:solidFill>
                <a:latin typeface="Consolas"/>
              </a:rPr>
              <a:t>    - name: kube-api-access</a:t>
            </a:r>
          </a:p>
          <a:p>
            <a:pPr>
              <a:lnSpc>
                <a:spcPts val="1339"/>
              </a:lnSpc>
              <a:spcAft>
                <a:spcPts val="0"/>
              </a:spcAft>
            </a:pPr>
            <a:r>
              <a:rPr sz="1050">
                <a:solidFill>
                  <a:srgbClr val="E6EDF3"/>
                </a:solidFill>
                <a:latin typeface="Consolas"/>
              </a:rPr>
              <a:t>      projected:</a:t>
            </a:r>
          </a:p>
          <a:p>
            <a:pPr>
              <a:lnSpc>
                <a:spcPts val="1339"/>
              </a:lnSpc>
              <a:spcAft>
                <a:spcPts val="0"/>
              </a:spcAft>
            </a:pPr>
            <a:r>
              <a:rPr sz="1050">
                <a:solidFill>
                  <a:srgbClr val="E6EDF3"/>
                </a:solidFill>
                <a:latin typeface="Consolas"/>
              </a:rPr>
              <a:t>        sources:</a:t>
            </a:r>
          </a:p>
          <a:p>
            <a:pPr>
              <a:lnSpc>
                <a:spcPts val="1339"/>
              </a:lnSpc>
              <a:spcAft>
                <a:spcPts val="0"/>
              </a:spcAft>
            </a:pPr>
            <a:r>
              <a:rPr sz="1050">
                <a:solidFill>
                  <a:srgbClr val="E6EDF3"/>
                </a:solidFill>
                <a:latin typeface="Consolas"/>
              </a:rPr>
              <a:t>          - serviceAccountToken:</a:t>
            </a:r>
          </a:p>
          <a:p>
            <a:pPr>
              <a:lnSpc>
                <a:spcPts val="1339"/>
              </a:lnSpc>
              <a:spcAft>
                <a:spcPts val="0"/>
              </a:spcAft>
            </a:pPr>
            <a:r>
              <a:rPr sz="1050">
                <a:solidFill>
                  <a:srgbClr val="E6EDF3"/>
                </a:solidFill>
                <a:latin typeface="Consolas"/>
              </a:rPr>
              <a:t>              path: token</a:t>
            </a:r>
          </a:p>
          <a:p>
            <a:pPr>
              <a:lnSpc>
                <a:spcPts val="1339"/>
              </a:lnSpc>
              <a:spcAft>
                <a:spcPts val="0"/>
              </a:spcAft>
            </a:pPr>
            <a:r>
              <a:rPr sz="1050">
                <a:solidFill>
                  <a:srgbClr val="E6EDF3"/>
                </a:solidFill>
                <a:latin typeface="Consolas"/>
              </a:rPr>
              <a:t>              expirationSeconds: 3607</a:t>
            </a:r>
          </a:p>
          <a:p>
            <a:pPr>
              <a:lnSpc>
                <a:spcPts val="1339"/>
              </a:lnSpc>
              <a:spcAft>
                <a:spcPts val="0"/>
              </a:spcAft>
            </a:pPr>
            <a:r>
              <a:rPr sz="1050">
                <a:solidFill>
                  <a:srgbClr val="E6EDF3"/>
                </a:solidFill>
                <a:latin typeface="Consolas"/>
              </a:rPr>
              <a:t>              audience: ""     # API server default</a:t>
            </a:r>
          </a:p>
          <a:p>
            <a:pPr>
              <a:lnSpc>
                <a:spcPts val="1339"/>
              </a:lnSpc>
              <a:spcAft>
                <a:spcPts val="0"/>
              </a:spcAft>
            </a:pPr>
            <a:r>
              <a:rPr sz="1050">
                <a:solidFill>
                  <a:srgbClr val="E6EDF3"/>
                </a:solidFill>
                <a:latin typeface="Consolas"/>
              </a:rPr>
              <a:t>          - configMap:</a:t>
            </a:r>
          </a:p>
          <a:p>
            <a:pPr>
              <a:lnSpc>
                <a:spcPts val="1339"/>
              </a:lnSpc>
              <a:spcAft>
                <a:spcPts val="0"/>
              </a:spcAft>
            </a:pPr>
            <a:r>
              <a:rPr sz="1050">
                <a:solidFill>
                  <a:srgbClr val="E6EDF3"/>
                </a:solidFill>
                <a:latin typeface="Consolas"/>
              </a:rPr>
              <a:t>              name: kube-root-ca.crt</a:t>
            </a:r>
          </a:p>
          <a:p>
            <a:pPr>
              <a:lnSpc>
                <a:spcPts val="1339"/>
              </a:lnSpc>
              <a:spcAft>
                <a:spcPts val="0"/>
              </a:spcAft>
            </a:pPr>
            <a:r>
              <a:rPr sz="1050">
                <a:solidFill>
                  <a:srgbClr val="E6EDF3"/>
                </a:solidFill>
                <a:latin typeface="Consolas"/>
              </a:rPr>
              <a:t>              items: [{key: ca.crt, path: ca.crt}]</a:t>
            </a:r>
          </a:p>
          <a:p>
            <a:pPr>
              <a:lnSpc>
                <a:spcPts val="1339"/>
              </a:lnSpc>
              <a:spcAft>
                <a:spcPts val="0"/>
              </a:spcAft>
            </a:pPr>
            <a:r>
              <a:rPr sz="1050">
                <a:solidFill>
                  <a:srgbClr val="E6EDF3"/>
                </a:solidFill>
                <a:latin typeface="Consolas"/>
              </a:rPr>
              <a:t>          - downwardAPI:</a:t>
            </a:r>
          </a:p>
          <a:p>
            <a:pPr>
              <a:lnSpc>
                <a:spcPts val="1339"/>
              </a:lnSpc>
              <a:spcAft>
                <a:spcPts val="0"/>
              </a:spcAft>
            </a:pPr>
            <a:r>
              <a:rPr sz="1050">
                <a:solidFill>
                  <a:srgbClr val="E6EDF3"/>
                </a:solidFill>
                <a:latin typeface="Consolas"/>
              </a:rPr>
              <a:t>              items:</a:t>
            </a:r>
          </a:p>
          <a:p>
            <a:pPr>
              <a:lnSpc>
                <a:spcPts val="1339"/>
              </a:lnSpc>
              <a:spcAft>
                <a:spcPts val="0"/>
              </a:spcAft>
            </a:pPr>
            <a:r>
              <a:rPr sz="1050">
                <a:solidFill>
                  <a:srgbClr val="E6EDF3"/>
                </a:solidFill>
                <a:latin typeface="Consolas"/>
              </a:rPr>
              <a:t>                - path: namespace</a:t>
            </a:r>
          </a:p>
          <a:p>
            <a:pPr>
              <a:lnSpc>
                <a:spcPts val="1339"/>
              </a:lnSpc>
              <a:spcAft>
                <a:spcPts val="0"/>
              </a:spcAft>
            </a:pPr>
            <a:r>
              <a:rPr sz="1050">
                <a:solidFill>
                  <a:srgbClr val="E6EDF3"/>
                </a:solidFill>
                <a:latin typeface="Consolas"/>
              </a:rPr>
              <a:t>                  fieldRef:</a:t>
            </a:r>
          </a:p>
          <a:p>
            <a:pPr>
              <a:lnSpc>
                <a:spcPts val="1339"/>
              </a:lnSpc>
              <a:spcAft>
                <a:spcPts val="0"/>
              </a:spcAft>
            </a:pPr>
            <a:r>
              <a:rPr sz="1050">
                <a:solidFill>
                  <a:srgbClr val="E6EDF3"/>
                </a:solidFill>
                <a:latin typeface="Consolas"/>
              </a:rPr>
              <a:t>                    fieldPath: metadata.namespace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Three sources, one directory</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Token, cluster CA bundle and namespace are projected together into /var/run/secrets/kubernetes.io/serviceaccount.</a:t>
            </a:r>
          </a:p>
        </p:txBody>
      </p:sp>
      <p:sp>
        <p:nvSpPr>
          <p:cNvPr id="15" name="Oval 14"/>
          <p:cNvSpPr/>
          <p:nvPr/>
        </p:nvSpPr>
        <p:spPr>
          <a:xfrm>
            <a:off x="7626096" y="345092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4326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expirationSeconds drives rotation</a:t>
            </a:r>
          </a:p>
        </p:txBody>
      </p:sp>
      <p:sp>
        <p:nvSpPr>
          <p:cNvPr id="17" name="TextBox 16"/>
          <p:cNvSpPr txBox="1"/>
          <p:nvPr/>
        </p:nvSpPr>
        <p:spPr>
          <a:xfrm>
            <a:off x="7973567" y="36494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kubelet refreshes the file before expiry. A client that caches the token at start-up eventually fails.</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audience binds the token</a:t>
            </a:r>
          </a:p>
        </p:txBody>
      </p:sp>
      <p:sp>
        <p:nvSpPr>
          <p:cNvPr id="20" name="TextBox 19"/>
          <p:cNvSpPr txBox="1"/>
          <p:nvPr/>
        </p:nvSpPr>
        <p:spPr>
          <a:xfrm>
            <a:off x="7973567" y="4252775"/>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 empty audience means the API server. A named audience produces a token only that recipient should accept.</a:t>
            </a:r>
          </a:p>
        </p:txBody>
      </p:sp>
      <p:sp>
        <p:nvSpPr>
          <p:cNvPr id="21" name="Oval 20"/>
          <p:cNvSpPr/>
          <p:nvPr/>
        </p:nvSpPr>
        <p:spPr>
          <a:xfrm>
            <a:off x="7626096" y="4811378"/>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9309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token is bound to the Pod</a:t>
            </a:r>
          </a:p>
        </p:txBody>
      </p:sp>
      <p:sp>
        <p:nvSpPr>
          <p:cNvPr id="23" name="TextBox 22"/>
          <p:cNvSpPr txBox="1"/>
          <p:nvPr/>
        </p:nvSpPr>
        <p:spPr>
          <a:xfrm>
            <a:off x="7973567" y="500987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carries the Pod's identity and stops being valid when the Pod is gone — unlike legacy Secret-based tokens.</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kubelet writes this implicitly</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rarely author it. Seeing it explicitly is how you understand what automounting actually does.</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kubernetes.io/docs/concepts/security/service-accounts/</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320</a:t>
            </a:r>
          </a:p>
        </p:txBody>
      </p:sp>
    </p:spTree>
  </p:cSld>
  <p:clrMapOvr>
    <a:masterClrMapping/>
  </p:clrMapOvr>
  <p:transition xmlns:ns1="http://schemas.openxmlformats.org/markup-compatibility/2006" spd="fast" ns1:Ignorable="p14">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 Pod's identity looks like from inside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identity is a file. Protecting the file is protecting the identity.</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14 — token-inspector Pod running as ops-reader</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exec -n kcna-lab14 token-inspector -- \</a:t>
            </a:r>
          </a:p>
          <a:p>
            <a:pPr>
              <a:lnSpc>
                <a:spcPts val="1413"/>
              </a:lnSpc>
              <a:spcAft>
                <a:spcPts val="0"/>
              </a:spcAft>
            </a:pPr>
            <a:r>
              <a:rPr sz="1000">
                <a:solidFill>
                  <a:srgbClr val="E6EDF3"/>
                </a:solidFill>
                <a:latin typeface="Consolas"/>
              </a:rPr>
              <a:t>    ls -1 /var/run/secrets/kubernetes.io/serviceaccount/</a:t>
            </a:r>
          </a:p>
          <a:p>
            <a:pPr>
              <a:lnSpc>
                <a:spcPts val="1413"/>
              </a:lnSpc>
              <a:spcAft>
                <a:spcPts val="0"/>
              </a:spcAft>
            </a:pPr>
            <a:r>
              <a:rPr sz="1000">
                <a:solidFill>
                  <a:srgbClr val="E6EDF3"/>
                </a:solidFill>
                <a:latin typeface="Consolas"/>
              </a:rPr>
              <a:t>ca.crt</a:t>
            </a:r>
          </a:p>
          <a:p>
            <a:pPr>
              <a:lnSpc>
                <a:spcPts val="1413"/>
              </a:lnSpc>
              <a:spcAft>
                <a:spcPts val="0"/>
              </a:spcAft>
            </a:pPr>
            <a:r>
              <a:rPr sz="1000">
                <a:solidFill>
                  <a:srgbClr val="E6EDF3"/>
                </a:solidFill>
                <a:latin typeface="Consolas"/>
              </a:rPr>
              <a:t>namespace</a:t>
            </a:r>
          </a:p>
          <a:p>
            <a:pPr>
              <a:lnSpc>
                <a:spcPts val="1413"/>
              </a:lnSpc>
              <a:spcAft>
                <a:spcPts val="0"/>
              </a:spcAft>
            </a:pPr>
            <a:r>
              <a:rPr sz="1000">
                <a:solidFill>
                  <a:srgbClr val="E6EDF3"/>
                </a:solidFill>
                <a:latin typeface="Consolas"/>
              </a:rPr>
              <a:t>token</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exec -n kcna-lab14 token-inspector -- \</a:t>
            </a:r>
          </a:p>
          <a:p>
            <a:pPr>
              <a:lnSpc>
                <a:spcPts val="1413"/>
              </a:lnSpc>
              <a:spcAft>
                <a:spcPts val="0"/>
              </a:spcAft>
            </a:pPr>
            <a:r>
              <a:rPr sz="1000">
                <a:solidFill>
                  <a:srgbClr val="E6EDF3"/>
                </a:solidFill>
                <a:latin typeface="Consolas"/>
              </a:rPr>
              <a:t>    cat /var/run/secrets/kubernetes.io/serviceaccount/namespace</a:t>
            </a:r>
          </a:p>
          <a:p>
            <a:pPr>
              <a:lnSpc>
                <a:spcPts val="1413"/>
              </a:lnSpc>
              <a:spcAft>
                <a:spcPts val="0"/>
              </a:spcAft>
            </a:pPr>
            <a:r>
              <a:rPr sz="1000">
                <a:solidFill>
                  <a:srgbClr val="E6EDF3"/>
                </a:solidFill>
                <a:latin typeface="Consolas"/>
              </a:rPr>
              <a:t>kcna-lab14</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D8A99"/>
                </a:solidFill>
                <a:latin typeface="Consolas"/>
              </a:rPr>
              <a:t># Decoded JWT payload (claims, abridged):</a:t>
            </a:r>
          </a:p>
          <a:p>
            <a:pPr>
              <a:lnSpc>
                <a:spcPts val="1413"/>
              </a:lnSpc>
              <a:spcAft>
                <a:spcPts val="0"/>
              </a:spcAft>
            </a:pPr>
            <a:r>
              <a:rPr sz="1000">
                <a:solidFill>
                  <a:srgbClr val="E6EDF3"/>
                </a:solidFill>
                <a:latin typeface="Consolas"/>
              </a:rPr>
              <a:t>  "aud": ["https://kubernetes.default.svc.cluster.local"],</a:t>
            </a:r>
          </a:p>
          <a:p>
            <a:pPr>
              <a:lnSpc>
                <a:spcPts val="1413"/>
              </a:lnSpc>
              <a:spcAft>
                <a:spcPts val="0"/>
              </a:spcAft>
            </a:pPr>
            <a:r>
              <a:rPr sz="1000">
                <a:solidFill>
                  <a:srgbClr val="E6EDF3"/>
                </a:solidFill>
                <a:latin typeface="Consolas"/>
              </a:rPr>
              <a:t>  "exp": 1789200000,</a:t>
            </a:r>
          </a:p>
          <a:p>
            <a:pPr>
              <a:lnSpc>
                <a:spcPts val="1413"/>
              </a:lnSpc>
              <a:spcAft>
                <a:spcPts val="0"/>
              </a:spcAft>
            </a:pPr>
            <a:r>
              <a:rPr sz="1000">
                <a:solidFill>
                  <a:srgbClr val="E6EDF3"/>
                </a:solidFill>
                <a:latin typeface="Consolas"/>
              </a:rPr>
              <a:t>  "kubernetes.io": {</a:t>
            </a:r>
          </a:p>
          <a:p>
            <a:pPr>
              <a:lnSpc>
                <a:spcPts val="1413"/>
              </a:lnSpc>
              <a:spcAft>
                <a:spcPts val="0"/>
              </a:spcAft>
            </a:pPr>
            <a:r>
              <a:rPr sz="1000">
                <a:solidFill>
                  <a:srgbClr val="E6EDF3"/>
                </a:solidFill>
                <a:latin typeface="Consolas"/>
              </a:rPr>
              <a:t>     "namespace": "kcna-lab14",</a:t>
            </a:r>
          </a:p>
          <a:p>
            <a:pPr>
              <a:lnSpc>
                <a:spcPts val="1413"/>
              </a:lnSpc>
              <a:spcAft>
                <a:spcPts val="0"/>
              </a:spcAft>
            </a:pPr>
            <a:r>
              <a:rPr sz="1000">
                <a:solidFill>
                  <a:srgbClr val="E6EDF3"/>
                </a:solidFill>
                <a:latin typeface="Consolas"/>
              </a:rPr>
              <a:t>     "pod": {"name": "token-inspector"},</a:t>
            </a:r>
          </a:p>
          <a:p>
            <a:pPr>
              <a:lnSpc>
                <a:spcPts val="1413"/>
              </a:lnSpc>
              <a:spcAft>
                <a:spcPts val="0"/>
              </a:spcAft>
            </a:pPr>
            <a:r>
              <a:rPr sz="1000">
                <a:solidFill>
                  <a:srgbClr val="E6EDF3"/>
                </a:solidFill>
                <a:latin typeface="Consolas"/>
              </a:rPr>
              <a:t>     "serviceaccount": {"name": "ops-reader"}},</a:t>
            </a:r>
          </a:p>
          <a:p>
            <a:pPr>
              <a:lnSpc>
                <a:spcPts val="1413"/>
              </a:lnSpc>
              <a:spcAft>
                <a:spcPts val="0"/>
              </a:spcAft>
            </a:pPr>
            <a:r>
              <a:rPr sz="1000">
                <a:solidFill>
                  <a:srgbClr val="E6EDF3"/>
                </a:solidFill>
                <a:latin typeface="Consolas"/>
              </a:rPr>
              <a:t>  "sub": "system:serviceaccount:kcna-lab14:ops-reader"</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Three files, no more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CA bundle to trust the API server, namespace for convenience, and the bearer token itself.</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sub is the RBAC subject</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system:serviceaccount:&lt;ns&gt;:&lt;name&gt; is exactly the string you put in a RoleBinding and in --as=.</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aud restricts the audience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token minted for the API server should not be accepted by anything else.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exp makes it short-lived</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Modern projected tokens expire and are rotated in place by kubelet.</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 JWT is not encrypted</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Anyone who can read the file can read the claims. Confidentiality comes from filesystem and RBAC controls.</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 · kubernetes.io/docs/concepts/security/service-accounts/</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321</a:t>
            </a:r>
          </a:p>
        </p:txBody>
      </p:sp>
    </p:spTree>
  </p:cSld>
  <p:clrMapOvr>
    <a:masterClrMapping/>
  </p:clrMapOvr>
  <p:transition xmlns:ns1="http://schemas.openxmlformats.org/markup-compatibility/2006" spd="fast" ns1:Ignorable="p14">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SCENARIOS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Practical ServiceAccount scenarios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recurring situations. Each is a registered-outline 'practical scenario' for ServiceAccounts.</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In-cluster controller</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An operator watching CRDs needs list/watch on them</a:t>
            </a:r>
          </a:p>
          <a:p>
            <a:pPr>
              <a:lnSpc>
                <a:spcPct val="112000"/>
              </a:lnSpc>
              <a:spcAft>
                <a:spcPts val="500"/>
              </a:spcAft>
            </a:pPr>
            <a:r>
              <a:rPr sz="1100">
                <a:solidFill>
                  <a:srgbClr val="94A3B8"/>
                </a:solidFill>
                <a:latin typeface="Arial"/>
              </a:rPr>
              <a:t>•  </a:t>
            </a:r>
            <a:r>
              <a:rPr sz="1100">
                <a:solidFill>
                  <a:srgbClr val="5B6372"/>
                </a:solidFill>
                <a:latin typeface="Arial"/>
              </a:rPr>
              <a:t>Give it a dedicated ServiceAccount, never default</a:t>
            </a:r>
          </a:p>
          <a:p>
            <a:pPr>
              <a:lnSpc>
                <a:spcPct val="112000"/>
              </a:lnSpc>
              <a:spcAft>
                <a:spcPts val="500"/>
              </a:spcAft>
            </a:pPr>
            <a:r>
              <a:rPr sz="1100">
                <a:solidFill>
                  <a:srgbClr val="94A3B8"/>
                </a:solidFill>
                <a:latin typeface="Arial"/>
              </a:rPr>
              <a:t>•  </a:t>
            </a:r>
            <a:r>
              <a:rPr sz="1100">
                <a:solidFill>
                  <a:srgbClr val="5B6372"/>
                </a:solidFill>
                <a:latin typeface="Arial"/>
              </a:rPr>
              <a:t>Bind the narrowest Role that its watch actually needs</a:t>
            </a:r>
          </a:p>
          <a:p>
            <a:pPr>
              <a:lnSpc>
                <a:spcPct val="112000"/>
              </a:lnSpc>
              <a:spcAft>
                <a:spcPts val="500"/>
              </a:spcAft>
            </a:pPr>
            <a:r>
              <a:rPr sz="1100">
                <a:solidFill>
                  <a:srgbClr val="94A3B8"/>
                </a:solidFill>
                <a:latin typeface="Arial"/>
              </a:rPr>
              <a:t>•  </a:t>
            </a:r>
            <a:r>
              <a:rPr sz="1100">
                <a:solidFill>
                  <a:srgbClr val="5B6372"/>
                </a:solidFill>
                <a:latin typeface="Arial"/>
              </a:rPr>
              <a:t>Token is projected, rotated and audience-bound for free</a:t>
            </a:r>
          </a:p>
        </p:txBody>
      </p:sp>
      <p:sp>
        <p:nvSpPr>
          <p:cNvPr id="11" name="Rounded Rectangle 10"/>
          <p:cNvSpPr/>
          <p:nvPr/>
        </p:nvSpPr>
        <p:spPr>
          <a:xfrm>
            <a:off x="1033271" y="5532120"/>
            <a:ext cx="12115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least privilege</a:t>
            </a:r>
          </a:p>
        </p:txBody>
      </p:sp>
      <p:sp>
        <p:nvSpPr>
          <p:cNvPr id="12" name="Rectangle 11"/>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CI/CD deployer</a:t>
            </a:r>
          </a:p>
        </p:txBody>
      </p:sp>
      <p:sp>
        <p:nvSpPr>
          <p:cNvPr id="15" name="TextBox 14"/>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pipeline applies manifests into one namespace</a:t>
            </a:r>
          </a:p>
          <a:p>
            <a:pPr>
              <a:lnSpc>
                <a:spcPct val="112000"/>
              </a:lnSpc>
              <a:spcAft>
                <a:spcPts val="500"/>
              </a:spcAft>
            </a:pPr>
            <a:r>
              <a:rPr sz="1100">
                <a:solidFill>
                  <a:srgbClr val="94A3B8"/>
                </a:solidFill>
                <a:latin typeface="Arial"/>
              </a:rPr>
              <a:t>•  </a:t>
            </a:r>
            <a:r>
              <a:rPr sz="1100">
                <a:solidFill>
                  <a:srgbClr val="5B6372"/>
                </a:solidFill>
                <a:latin typeface="Arial"/>
              </a:rPr>
              <a:t>One ServiceAccount per pipeline, per namespace</a:t>
            </a:r>
          </a:p>
          <a:p>
            <a:pPr>
              <a:lnSpc>
                <a:spcPct val="112000"/>
              </a:lnSpc>
              <a:spcAft>
                <a:spcPts val="500"/>
              </a:spcAft>
            </a:pPr>
            <a:r>
              <a:rPr sz="1100">
                <a:solidFill>
                  <a:srgbClr val="94A3B8"/>
                </a:solidFill>
                <a:latin typeface="Arial"/>
              </a:rPr>
              <a:t>•  </a:t>
            </a:r>
            <a:r>
              <a:rPr sz="1100">
                <a:solidFill>
                  <a:srgbClr val="5B6372"/>
                </a:solidFill>
                <a:latin typeface="Arial"/>
              </a:rPr>
              <a:t>RoleBinding scoped to that namespace only</a:t>
            </a:r>
          </a:p>
          <a:p>
            <a:pPr>
              <a:lnSpc>
                <a:spcPct val="112000"/>
              </a:lnSpc>
              <a:spcAft>
                <a:spcPts val="500"/>
              </a:spcAft>
            </a:pPr>
            <a:r>
              <a:rPr sz="1100">
                <a:solidFill>
                  <a:srgbClr val="94A3B8"/>
                </a:solidFill>
                <a:latin typeface="Arial"/>
              </a:rPr>
              <a:t>•  </a:t>
            </a:r>
            <a:r>
              <a:rPr sz="1100">
                <a:solidFill>
                  <a:srgbClr val="5B6372"/>
                </a:solidFill>
                <a:latin typeface="Arial"/>
              </a:rPr>
              <a:t>Rotate by re-requesting a bound token, not by long-lived Secrets</a:t>
            </a:r>
          </a:p>
        </p:txBody>
      </p:sp>
      <p:sp>
        <p:nvSpPr>
          <p:cNvPr id="16" name="Rounded Rectangle 15"/>
          <p:cNvSpPr/>
          <p:nvPr/>
        </p:nvSpPr>
        <p:spPr>
          <a:xfrm>
            <a:off x="4739335" y="5532120"/>
            <a:ext cx="1005839"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scoped grant</a:t>
            </a:r>
          </a:p>
        </p:txBody>
      </p:sp>
      <p:sp>
        <p:nvSpPr>
          <p:cNvPr id="17" name="Rectangle 16"/>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19" name="TextBox 18"/>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Workload with no API access</a:t>
            </a:r>
          </a:p>
        </p:txBody>
      </p:sp>
      <p:sp>
        <p:nvSpPr>
          <p:cNvPr id="20" name="TextBox 19"/>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Most application Pods never call the API server at all</a:t>
            </a:r>
          </a:p>
          <a:p>
            <a:pPr>
              <a:lnSpc>
                <a:spcPct val="112000"/>
              </a:lnSpc>
              <a:spcAft>
                <a:spcPts val="500"/>
              </a:spcAft>
            </a:pPr>
            <a:r>
              <a:rPr sz="1100">
                <a:solidFill>
                  <a:srgbClr val="94A3B8"/>
                </a:solidFill>
                <a:latin typeface="Arial"/>
              </a:rPr>
              <a:t>•  </a:t>
            </a:r>
            <a:r>
              <a:rPr sz="1100">
                <a:solidFill>
                  <a:srgbClr val="5B6372"/>
                </a:solidFill>
                <a:latin typeface="Arial"/>
              </a:rPr>
              <a:t>Set automountServiceAccountToken: false</a:t>
            </a:r>
          </a:p>
          <a:p>
            <a:pPr>
              <a:lnSpc>
                <a:spcPct val="112000"/>
              </a:lnSpc>
              <a:spcAft>
                <a:spcPts val="500"/>
              </a:spcAft>
            </a:pPr>
            <a:r>
              <a:rPr sz="1100">
                <a:solidFill>
                  <a:srgbClr val="94A3B8"/>
                </a:solidFill>
                <a:latin typeface="Arial"/>
              </a:rPr>
              <a:t>•  </a:t>
            </a:r>
            <a:r>
              <a:rPr sz="1100">
                <a:solidFill>
                  <a:srgbClr val="5B6372"/>
                </a:solidFill>
                <a:latin typeface="Arial"/>
              </a:rPr>
              <a:t>A compromised container then has no cluster credential</a:t>
            </a:r>
          </a:p>
          <a:p>
            <a:pPr>
              <a:lnSpc>
                <a:spcPct val="112000"/>
              </a:lnSpc>
              <a:spcAft>
                <a:spcPts val="500"/>
              </a:spcAft>
            </a:pPr>
            <a:r>
              <a:rPr sz="1100">
                <a:solidFill>
                  <a:srgbClr val="94A3B8"/>
                </a:solidFill>
                <a:latin typeface="Arial"/>
              </a:rPr>
              <a:t>•  </a:t>
            </a:r>
            <a:r>
              <a:rPr sz="1100">
                <a:solidFill>
                  <a:srgbClr val="5B6372"/>
                </a:solidFill>
                <a:latin typeface="Arial"/>
              </a:rPr>
              <a:t>Costs nothing and removes a whole escalation path</a:t>
            </a:r>
          </a:p>
        </p:txBody>
      </p:sp>
      <p:sp>
        <p:nvSpPr>
          <p:cNvPr id="21" name="Rounded Rectangle 20"/>
          <p:cNvSpPr/>
          <p:nvPr/>
        </p:nvSpPr>
        <p:spPr>
          <a:xfrm>
            <a:off x="8445398" y="5532120"/>
            <a:ext cx="11430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reduce surface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kubernetes.io/docs/concepts/security/service-accounts/</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322</a:t>
            </a:r>
          </a:p>
        </p:txBody>
      </p:sp>
    </p:spTree>
  </p:cSld>
  <p:clrMapOvr>
    <a:masterClrMapping/>
  </p:clrMapOvr>
  <p:transition xmlns:ns1="http://schemas.openxmlformats.org/markup-compatibility/2006" spd="fast" ns1:Ignorable="p14">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AUTHORIZATION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modules that answer 'may they do this?'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Configured with --authorization-mode on the API server. Most clusters run Node,RBAC.</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RBAC</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Role-based access control through API objects. The mode you will configure, audit and be examined on.</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special-purpose authorizer restricting each kubelet to the objects its own Pods actually need.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Webhook</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Delegates the decision to an external service. Used by cloud providers to bridge their own IAM.</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ABAC</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Attribute-based policy from a file on the control-plane node. Legacy; requires an API server restart to change.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AlwaysAllow / AlwaysDeny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Test-only modes. AlwaysAllow makes every permission check meaningless — verify it is not enabled.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Order matters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Modules are consulted in the configured order; the first module to allow or deny decides the request.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kubernetes.io/docs/reference/access-authn-authz/authorization/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323</a:t>
            </a:r>
          </a:p>
        </p:txBody>
      </p:sp>
    </p:spTree>
  </p:cSld>
  <p:clrMapOvr>
    <a:masterClrMapping/>
  </p:clrMapOvr>
  <p:transition xmlns:ns1="http://schemas.openxmlformats.org/markup-compatibility/2006" spd="fast" ns1:Ignorable="p14">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Role and the RoleBinding that activates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objects, five fields that matter. Everything else in RBAC is a variation on this pair.</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20-role-pod-reader.yaml + its RoleBinding (Lab 14)</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272"/>
              </a:lnSpc>
              <a:spcAft>
                <a:spcPts val="0"/>
              </a:spcAft>
            </a:pPr>
            <a:r>
              <a:rPr sz="1050">
                <a:solidFill>
                  <a:srgbClr val="E6EDF3"/>
                </a:solidFill>
                <a:latin typeface="Consolas"/>
              </a:rPr>
              <a:t>kind: Role                      # namespaced</a:t>
            </a:r>
          </a:p>
          <a:p>
            <a:pPr>
              <a:lnSpc>
                <a:spcPts val="1272"/>
              </a:lnSpc>
              <a:spcAft>
                <a:spcPts val="0"/>
              </a:spcAft>
            </a:pPr>
            <a:r>
              <a:rPr sz="1050">
                <a:solidFill>
                  <a:srgbClr val="E6EDF3"/>
                </a:solidFill>
                <a:latin typeface="Consolas"/>
              </a:rPr>
              <a:t>metadata: {name: pod-reader, namespace: kcna-lab14}</a:t>
            </a:r>
          </a:p>
          <a:p>
            <a:pPr>
              <a:lnSpc>
                <a:spcPts val="1272"/>
              </a:lnSpc>
              <a:spcAft>
                <a:spcPts val="0"/>
              </a:spcAft>
            </a:pPr>
            <a:r>
              <a:rPr sz="1050">
                <a:solidFill>
                  <a:srgbClr val="E6EDF3"/>
                </a:solidFill>
                <a:latin typeface="Consolas"/>
              </a:rPr>
              <a:t>rules:</a:t>
            </a:r>
          </a:p>
          <a:p>
            <a:pPr>
              <a:lnSpc>
                <a:spcPts val="1272"/>
              </a:lnSpc>
              <a:spcAft>
                <a:spcPts val="0"/>
              </a:spcAft>
            </a:pPr>
            <a:r>
              <a:rPr sz="1050">
                <a:solidFill>
                  <a:srgbClr val="E6EDF3"/>
                </a:solidFill>
                <a:latin typeface="Consolas"/>
              </a:rPr>
              <a:t>  - apiGroups: [""]             # "" = core group</a:t>
            </a:r>
          </a:p>
          <a:p>
            <a:pPr>
              <a:lnSpc>
                <a:spcPts val="1272"/>
              </a:lnSpc>
              <a:spcAft>
                <a:spcPts val="0"/>
              </a:spcAft>
            </a:pPr>
            <a:r>
              <a:rPr sz="1050">
                <a:solidFill>
                  <a:srgbClr val="E6EDF3"/>
                </a:solidFill>
                <a:latin typeface="Consolas"/>
              </a:rPr>
              <a:t>    resources: ["pods"]</a:t>
            </a:r>
          </a:p>
          <a:p>
            <a:pPr>
              <a:lnSpc>
                <a:spcPts val="1272"/>
              </a:lnSpc>
              <a:spcAft>
                <a:spcPts val="0"/>
              </a:spcAft>
            </a:pPr>
            <a:r>
              <a:rPr sz="1050">
                <a:solidFill>
                  <a:srgbClr val="E6EDF3"/>
                </a:solidFill>
                <a:latin typeface="Consolas"/>
              </a:rPr>
              <a:t>    verbs: ["get", "list", "watch"]</a:t>
            </a:r>
          </a:p>
          <a:p>
            <a:pPr>
              <a:lnSpc>
                <a:spcPts val="1272"/>
              </a:lnSpc>
              <a:spcAft>
                <a:spcPts val="0"/>
              </a:spcAft>
            </a:pPr>
            <a:r>
              <a:rPr sz="1050">
                <a:solidFill>
                  <a:srgbClr val="E6EDF3"/>
                </a:solidFill>
                <a:latin typeface="Consolas"/>
              </a:rPr>
              <a:t>  - apiGroups: [""]</a:t>
            </a:r>
          </a:p>
          <a:p>
            <a:pPr>
              <a:lnSpc>
                <a:spcPts val="1272"/>
              </a:lnSpc>
              <a:spcAft>
                <a:spcPts val="0"/>
              </a:spcAft>
            </a:pPr>
            <a:r>
              <a:rPr sz="1050">
                <a:solidFill>
                  <a:srgbClr val="E6EDF3"/>
                </a:solidFill>
                <a:latin typeface="Consolas"/>
              </a:rPr>
              <a:t>    resources: ["pods/log"]     # SUBRESOURCE, separate</a:t>
            </a:r>
          </a:p>
          <a:p>
            <a:pPr>
              <a:lnSpc>
                <a:spcPts val="1272"/>
              </a:lnSpc>
              <a:spcAft>
                <a:spcPts val="0"/>
              </a:spcAft>
            </a:pPr>
            <a:r>
              <a:rPr sz="1050">
                <a:solidFill>
                  <a:srgbClr val="E6EDF3"/>
                </a:solidFill>
                <a:latin typeface="Consolas"/>
              </a:rPr>
              <a:t>    verbs: ["get"]</a:t>
            </a:r>
          </a:p>
          <a:p>
            <a:pPr>
              <a:lnSpc>
                <a:spcPts val="1272"/>
              </a:lnSpc>
              <a:spcAft>
                <a:spcPts val="0"/>
              </a:spcAft>
            </a:pPr>
            <a:r>
              <a:rPr sz="1050">
                <a:solidFill>
                  <a:srgbClr val="E6EDF3"/>
                </a:solidFill>
                <a:latin typeface="Consolas"/>
              </a:rPr>
              <a:t>---</a:t>
            </a:r>
          </a:p>
          <a:p>
            <a:pPr>
              <a:lnSpc>
                <a:spcPts val="1272"/>
              </a:lnSpc>
              <a:spcAft>
                <a:spcPts val="0"/>
              </a:spcAft>
            </a:pPr>
            <a:r>
              <a:rPr sz="1050">
                <a:solidFill>
                  <a:srgbClr val="E6EDF3"/>
                </a:solidFill>
                <a:latin typeface="Consolas"/>
              </a:rPr>
              <a:t>kind: RoleBinding</a:t>
            </a:r>
          </a:p>
          <a:p>
            <a:pPr>
              <a:lnSpc>
                <a:spcPts val="1272"/>
              </a:lnSpc>
              <a:spcAft>
                <a:spcPts val="0"/>
              </a:spcAft>
            </a:pPr>
            <a:r>
              <a:rPr sz="1050">
                <a:solidFill>
                  <a:srgbClr val="E6EDF3"/>
                </a:solidFill>
                <a:latin typeface="Consolas"/>
              </a:rPr>
              <a:t>metadata: {name: ops-reader-pods, namespace: kcna-lab14}</a:t>
            </a:r>
          </a:p>
          <a:p>
            <a:pPr>
              <a:lnSpc>
                <a:spcPts val="1272"/>
              </a:lnSpc>
              <a:spcAft>
                <a:spcPts val="0"/>
              </a:spcAft>
            </a:pPr>
            <a:r>
              <a:rPr sz="1050">
                <a:solidFill>
                  <a:srgbClr val="E6EDF3"/>
                </a:solidFill>
                <a:latin typeface="Consolas"/>
              </a:rPr>
              <a:t>subjects:</a:t>
            </a:r>
          </a:p>
          <a:p>
            <a:pPr>
              <a:lnSpc>
                <a:spcPts val="1272"/>
              </a:lnSpc>
              <a:spcAft>
                <a:spcPts val="0"/>
              </a:spcAft>
            </a:pPr>
            <a:r>
              <a:rPr sz="1050">
                <a:solidFill>
                  <a:srgbClr val="E6EDF3"/>
                </a:solidFill>
                <a:latin typeface="Consolas"/>
              </a:rPr>
              <a:t>  - kind: ServiceAccount</a:t>
            </a:r>
          </a:p>
          <a:p>
            <a:pPr>
              <a:lnSpc>
                <a:spcPts val="1272"/>
              </a:lnSpc>
              <a:spcAft>
                <a:spcPts val="0"/>
              </a:spcAft>
            </a:pPr>
            <a:r>
              <a:rPr sz="1050">
                <a:solidFill>
                  <a:srgbClr val="E6EDF3"/>
                </a:solidFill>
                <a:latin typeface="Consolas"/>
              </a:rPr>
              <a:t>    name: ops-reader</a:t>
            </a:r>
          </a:p>
          <a:p>
            <a:pPr>
              <a:lnSpc>
                <a:spcPts val="1272"/>
              </a:lnSpc>
              <a:spcAft>
                <a:spcPts val="0"/>
              </a:spcAft>
            </a:pPr>
            <a:r>
              <a:rPr sz="1050">
                <a:solidFill>
                  <a:srgbClr val="E6EDF3"/>
                </a:solidFill>
                <a:latin typeface="Consolas"/>
              </a:rPr>
              <a:t>    namespace: kcna-lab14</a:t>
            </a:r>
          </a:p>
          <a:p>
            <a:pPr>
              <a:lnSpc>
                <a:spcPts val="1272"/>
              </a:lnSpc>
              <a:spcAft>
                <a:spcPts val="0"/>
              </a:spcAft>
            </a:pPr>
            <a:r>
              <a:rPr sz="1050">
                <a:solidFill>
                  <a:srgbClr val="E6EDF3"/>
                </a:solidFill>
                <a:latin typeface="Consolas"/>
              </a:rPr>
              <a:t>roleRef:</a:t>
            </a:r>
          </a:p>
          <a:p>
            <a:pPr>
              <a:lnSpc>
                <a:spcPts val="1272"/>
              </a:lnSpc>
              <a:spcAft>
                <a:spcPts val="0"/>
              </a:spcAft>
            </a:pPr>
            <a:r>
              <a:rPr sz="1050">
                <a:solidFill>
                  <a:srgbClr val="E6EDF3"/>
                </a:solidFill>
                <a:latin typeface="Consolas"/>
              </a:rPr>
              <a:t>  kind: Role</a:t>
            </a:r>
          </a:p>
          <a:p>
            <a:pPr>
              <a:lnSpc>
                <a:spcPts val="1272"/>
              </a:lnSpc>
              <a:spcAft>
                <a:spcPts val="0"/>
              </a:spcAft>
            </a:pPr>
            <a:r>
              <a:rPr sz="1050">
                <a:solidFill>
                  <a:srgbClr val="E6EDF3"/>
                </a:solidFill>
                <a:latin typeface="Consolas"/>
              </a:rPr>
              <a:t>  name: pod-reader</a:t>
            </a:r>
          </a:p>
          <a:p>
            <a:pPr>
              <a:lnSpc>
                <a:spcPts val="1272"/>
              </a:lnSpc>
              <a:spcAft>
                <a:spcPts val="0"/>
              </a:spcAft>
            </a:pPr>
            <a:r>
              <a:rPr sz="1050">
                <a:solidFill>
                  <a:srgbClr val="E6EDF3"/>
                </a:solidFill>
                <a:latin typeface="Consolas"/>
              </a:rPr>
              <a:t>  apiGroup: rbac.authorization.k8s.io</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rule is apiGroups × resources × verbs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All three are lists, and the rule is their cross product. "" is the core group, not a wildcard.</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Subresources are separate resources</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pods/log must be listed explicitly. Granting pods does not grant pods/log, exec or portforward.</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Role alone grants nothing</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Rules are inert until a binding attaches them to a subject. Two objects, always.</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roleRef is immutable</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To repoint a binding you delete and recreate it. This is deliberate — it prevents silent privilege changes.</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dangling roleRef fails silently</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Binding to a Role that does not exist is accepted and grants nothing. No error is ever printed.</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 · kubernetes.io/docs/reference/access-authn-authz/rbac/</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324</a:t>
            </a:r>
          </a:p>
        </p:txBody>
      </p:sp>
    </p:spTree>
  </p:cSld>
  <p:clrMapOvr>
    <a:masterClrMapping/>
  </p:clrMapOvr>
  <p:transition xmlns:ns1="http://schemas.openxmlformats.org/markup-compatibility/2006" spd="fast" ns1:Ignorable="p14">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ClusterRole, and the two ways to bind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ClusterRole and ClusterRoleBindings are a named registered-outline item. The binding decides the scope.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30-clusterrole-configmap-viewer.yaml (Lab 14)</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kind: ClusterRole               # cluster-scoped rules</a:t>
            </a:r>
          </a:p>
          <a:p>
            <a:pPr>
              <a:lnSpc>
                <a:spcPts val="1413"/>
              </a:lnSpc>
              <a:spcAft>
                <a:spcPts val="0"/>
              </a:spcAft>
            </a:pPr>
            <a:r>
              <a:rPr sz="1050">
                <a:solidFill>
                  <a:srgbClr val="E6EDF3"/>
                </a:solidFill>
                <a:latin typeface="Consolas"/>
              </a:rPr>
              <a:t>metadata: {name: kcna-lab14-configmap-viewer}</a:t>
            </a:r>
          </a:p>
          <a:p>
            <a:pPr>
              <a:lnSpc>
                <a:spcPts val="1413"/>
              </a:lnSpc>
              <a:spcAft>
                <a:spcPts val="0"/>
              </a:spcAft>
            </a:pPr>
            <a:r>
              <a:rPr sz="1050">
                <a:solidFill>
                  <a:srgbClr val="E6EDF3"/>
                </a:solidFill>
                <a:latin typeface="Consolas"/>
              </a:rPr>
              <a:t>rules:</a:t>
            </a:r>
          </a:p>
          <a:p>
            <a:pPr>
              <a:lnSpc>
                <a:spcPts val="1413"/>
              </a:lnSpc>
              <a:spcAft>
                <a:spcPts val="0"/>
              </a:spcAft>
            </a:pPr>
            <a:r>
              <a:rPr sz="1050">
                <a:solidFill>
                  <a:srgbClr val="E6EDF3"/>
                </a:solidFill>
                <a:latin typeface="Consolas"/>
              </a:rPr>
              <a:t>  - apiGroups: [""]</a:t>
            </a:r>
          </a:p>
          <a:p>
            <a:pPr>
              <a:lnSpc>
                <a:spcPts val="1413"/>
              </a:lnSpc>
              <a:spcAft>
                <a:spcPts val="0"/>
              </a:spcAft>
            </a:pPr>
            <a:r>
              <a:rPr sz="1050">
                <a:solidFill>
                  <a:srgbClr val="E6EDF3"/>
                </a:solidFill>
                <a:latin typeface="Consolas"/>
              </a:rPr>
              <a:t>    resources: ["configmaps"]</a:t>
            </a:r>
          </a:p>
          <a:p>
            <a:pPr>
              <a:lnSpc>
                <a:spcPts val="1413"/>
              </a:lnSpc>
              <a:spcAft>
                <a:spcPts val="0"/>
              </a:spcAft>
            </a:pPr>
            <a:r>
              <a:rPr sz="1050">
                <a:solidFill>
                  <a:srgbClr val="E6EDF3"/>
                </a:solidFill>
                <a:latin typeface="Consolas"/>
              </a:rPr>
              <a:t>    verbs: ["get", "list", "watch"]</a:t>
            </a:r>
          </a:p>
          <a:p>
            <a:pPr>
              <a:lnSpc>
                <a:spcPts val="1413"/>
              </a:lnSpc>
              <a:spcAft>
                <a:spcPts val="0"/>
              </a:spcAft>
            </a:pPr>
            <a:r>
              <a:rPr sz="1050">
                <a:solidFill>
                  <a:srgbClr val="E6EDF3"/>
                </a:solidFill>
                <a:latin typeface="Consolas"/>
              </a:rPr>
              <a:t>---</a:t>
            </a:r>
          </a:p>
          <a:p>
            <a:pPr>
              <a:lnSpc>
                <a:spcPts val="1413"/>
              </a:lnSpc>
              <a:spcAft>
                <a:spcPts val="0"/>
              </a:spcAft>
            </a:pPr>
            <a:r>
              <a:rPr sz="1050">
                <a:solidFill>
                  <a:srgbClr val="7D8A99"/>
                </a:solidFill>
                <a:latin typeface="Consolas"/>
              </a:rPr>
              <a:t># BINDING A — RoleBinding: grants ONLY in this namespace</a:t>
            </a:r>
          </a:p>
          <a:p>
            <a:pPr>
              <a:lnSpc>
                <a:spcPts val="1413"/>
              </a:lnSpc>
              <a:spcAft>
                <a:spcPts val="0"/>
              </a:spcAft>
            </a:pPr>
            <a:r>
              <a:rPr sz="1050">
                <a:solidFill>
                  <a:srgbClr val="E6EDF3"/>
                </a:solidFill>
                <a:latin typeface="Consolas"/>
              </a:rPr>
              <a:t>kind: RoleBinding</a:t>
            </a:r>
          </a:p>
          <a:p>
            <a:pPr>
              <a:lnSpc>
                <a:spcPts val="1413"/>
              </a:lnSpc>
              <a:spcAft>
                <a:spcPts val="0"/>
              </a:spcAft>
            </a:pPr>
            <a:r>
              <a:rPr sz="1050">
                <a:solidFill>
                  <a:srgbClr val="E6EDF3"/>
                </a:solidFill>
                <a:latin typeface="Consolas"/>
              </a:rPr>
              <a:t>metadata: {namespace: kcna-lab14, name: cm-view}</a:t>
            </a:r>
          </a:p>
          <a:p>
            <a:pPr>
              <a:lnSpc>
                <a:spcPts val="1413"/>
              </a:lnSpc>
              <a:spcAft>
                <a:spcPts val="0"/>
              </a:spcAft>
            </a:pPr>
            <a:r>
              <a:rPr sz="1050">
                <a:solidFill>
                  <a:srgbClr val="E6EDF3"/>
                </a:solidFill>
                <a:latin typeface="Consolas"/>
              </a:rPr>
              <a:t>roleRef: {kind: ClusterRole,</a:t>
            </a:r>
          </a:p>
          <a:p>
            <a:pPr>
              <a:lnSpc>
                <a:spcPts val="1413"/>
              </a:lnSpc>
              <a:spcAft>
                <a:spcPts val="0"/>
              </a:spcAft>
            </a:pPr>
            <a:r>
              <a:rPr sz="1050">
                <a:solidFill>
                  <a:srgbClr val="E6EDF3"/>
                </a:solidFill>
                <a:latin typeface="Consolas"/>
              </a:rPr>
              <a:t>          name: kcna-lab14-configmap-viewer}</a:t>
            </a:r>
          </a:p>
          <a:p>
            <a:pPr>
              <a:lnSpc>
                <a:spcPts val="1413"/>
              </a:lnSpc>
              <a:spcAft>
                <a:spcPts val="0"/>
              </a:spcAft>
            </a:pPr>
            <a:r>
              <a:rPr sz="1050">
                <a:solidFill>
                  <a:srgbClr val="E6EDF3"/>
                </a:solidFill>
                <a:latin typeface="Consolas"/>
              </a:rPr>
              <a:t>---</a:t>
            </a:r>
          </a:p>
          <a:p>
            <a:pPr>
              <a:lnSpc>
                <a:spcPts val="1413"/>
              </a:lnSpc>
              <a:spcAft>
                <a:spcPts val="0"/>
              </a:spcAft>
            </a:pPr>
            <a:r>
              <a:rPr sz="1050">
                <a:solidFill>
                  <a:srgbClr val="7D8A99"/>
                </a:solidFill>
                <a:latin typeface="Consolas"/>
              </a:rPr>
              <a:t># BINDING B — ClusterRoleBinding: grants CLUSTER-WIDE</a:t>
            </a:r>
          </a:p>
          <a:p>
            <a:pPr>
              <a:lnSpc>
                <a:spcPts val="1413"/>
              </a:lnSpc>
              <a:spcAft>
                <a:spcPts val="0"/>
              </a:spcAft>
            </a:pPr>
            <a:r>
              <a:rPr sz="1050">
                <a:solidFill>
                  <a:srgbClr val="E6EDF3"/>
                </a:solidFill>
                <a:latin typeface="Consolas"/>
              </a:rPr>
              <a:t>kind: ClusterRoleBinding</a:t>
            </a:r>
          </a:p>
          <a:p>
            <a:pPr>
              <a:lnSpc>
                <a:spcPts val="1413"/>
              </a:lnSpc>
              <a:spcAft>
                <a:spcPts val="0"/>
              </a:spcAft>
            </a:pPr>
            <a:r>
              <a:rPr sz="1050">
                <a:solidFill>
                  <a:srgbClr val="E6EDF3"/>
                </a:solidFill>
                <a:latin typeface="Consolas"/>
              </a:rPr>
              <a:t>metadata: {name: cm-view-everywhere}</a:t>
            </a:r>
          </a:p>
          <a:p>
            <a:pPr>
              <a:lnSpc>
                <a:spcPts val="1413"/>
              </a:lnSpc>
              <a:spcAft>
                <a:spcPts val="0"/>
              </a:spcAft>
            </a:pPr>
            <a:r>
              <a:rPr sz="1050">
                <a:solidFill>
                  <a:srgbClr val="E6EDF3"/>
                </a:solidFill>
                <a:latin typeface="Consolas"/>
              </a:rPr>
              <a:t>roleRef: {kind: ClusterRole,</a:t>
            </a:r>
          </a:p>
          <a:p>
            <a:pPr>
              <a:lnSpc>
                <a:spcPts val="1413"/>
              </a:lnSpc>
              <a:spcAft>
                <a:spcPts val="0"/>
              </a:spcAft>
            </a:pPr>
            <a:r>
              <a:rPr sz="1050">
                <a:solidFill>
                  <a:srgbClr val="E6EDF3"/>
                </a:solidFill>
                <a:latin typeface="Consolas"/>
              </a:rPr>
              <a:t>          name: kcna-lab14-configmap-viewer}</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One rule set, two blast radii</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identical ClusterRole grants one namespace under A and every namespace under B. Read the BINDING, not the role.</a:t>
            </a:r>
          </a:p>
        </p:txBody>
      </p:sp>
      <p:sp>
        <p:nvSpPr>
          <p:cNvPr id="15" name="Oval 14"/>
          <p:cNvSpPr/>
          <p:nvPr/>
        </p:nvSpPr>
        <p:spPr>
          <a:xfrm>
            <a:off x="7626096" y="345092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4326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ClusterRole + RoleBinding is the idiom</a:t>
            </a:r>
          </a:p>
        </p:txBody>
      </p:sp>
      <p:sp>
        <p:nvSpPr>
          <p:cNvPr id="17" name="TextBox 16"/>
          <p:cNvSpPr txBox="1"/>
          <p:nvPr/>
        </p:nvSpPr>
        <p:spPr>
          <a:xfrm>
            <a:off x="7973567" y="36494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Write reusable rules once, grant them namespace by namespace. This is the pattern to prefer.</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ClusterRoleBinding is the sharp edge</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the only construct that grants cluster-wide. Treat every one as a security review item.</a:t>
            </a:r>
          </a:p>
        </p:txBody>
      </p:sp>
      <p:sp>
        <p:nvSpPr>
          <p:cNvPr id="21" name="Oval 20"/>
          <p:cNvSpPr/>
          <p:nvPr/>
        </p:nvSpPr>
        <p:spPr>
          <a:xfrm>
            <a:off x="7626096" y="4657622"/>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6393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Cluster-scoped resources need B</a:t>
            </a:r>
          </a:p>
        </p:txBody>
      </p:sp>
      <p:sp>
        <p:nvSpPr>
          <p:cNvPr id="23" name="TextBox 22"/>
          <p:cNvSpPr txBox="1"/>
          <p:nvPr/>
        </p:nvSpPr>
        <p:spPr>
          <a:xfrm>
            <a:off x="7973567" y="48561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Nodes, PersistentVolumes and StorageClasses live outside namespaces, so only a ClusterRoleBinding can grant them.</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survives namespace deletion</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ClusterRole is cluster-scoped. Deleting kcna-lab14 leaves it behind — delete it by name.</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 · kubernetes.io/docs/reference/access-authn-authz/rbac/</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325</a:t>
            </a:r>
          </a:p>
        </p:txBody>
      </p:sp>
    </p:spTree>
  </p:cSld>
  <p:clrMapOvr>
    <a:masterClrMapping/>
  </p:clrMapOvr>
  <p:transition xmlns:ns1="http://schemas.openxmlformats.org/markup-compatibility/2006" spd="fast" ns1:Ignorable="p14">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MATRIX</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Four combinations, and exactly what each grants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binding first. The role supplies the verbs; the binding supplies the scope.</a:t>
            </a:r>
          </a:p>
        </p:txBody>
      </p:sp>
      <p:sp>
        <p:nvSpPr>
          <p:cNvPr id="7" name="Rectangle 6"/>
          <p:cNvSpPr/>
          <p:nvPr/>
        </p:nvSpPr>
        <p:spPr>
          <a:xfrm>
            <a:off x="777240" y="2200046"/>
            <a:ext cx="1925726"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166969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Role kind</a:t>
            </a:r>
          </a:p>
        </p:txBody>
      </p:sp>
      <p:sp>
        <p:nvSpPr>
          <p:cNvPr id="9" name="Rectangle 8"/>
          <p:cNvSpPr/>
          <p:nvPr/>
        </p:nvSpPr>
        <p:spPr>
          <a:xfrm>
            <a:off x="2702966" y="2200046"/>
            <a:ext cx="246065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2830982" y="2300630"/>
            <a:ext cx="220461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Binding kind</a:t>
            </a:r>
          </a:p>
        </p:txBody>
      </p:sp>
      <p:sp>
        <p:nvSpPr>
          <p:cNvPr id="11" name="Rectangle 10"/>
          <p:cNvSpPr/>
          <p:nvPr/>
        </p:nvSpPr>
        <p:spPr>
          <a:xfrm>
            <a:off x="5163616" y="2200046"/>
            <a:ext cx="3209544"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5291632" y="2300630"/>
            <a:ext cx="295351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Where it grants</a:t>
            </a:r>
          </a:p>
        </p:txBody>
      </p:sp>
      <p:sp>
        <p:nvSpPr>
          <p:cNvPr id="13" name="Rectangle 12"/>
          <p:cNvSpPr/>
          <p:nvPr/>
        </p:nvSpPr>
        <p:spPr>
          <a:xfrm>
            <a:off x="8373160" y="2200046"/>
            <a:ext cx="3102559"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501176" y="2300630"/>
            <a:ext cx="284652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Typical use</a:t>
            </a:r>
          </a:p>
        </p:txBody>
      </p:sp>
      <p:sp>
        <p:nvSpPr>
          <p:cNvPr id="15" name="Rectangle 14"/>
          <p:cNvSpPr/>
          <p:nvPr/>
        </p:nvSpPr>
        <p:spPr>
          <a:xfrm>
            <a:off x="777240" y="2620670"/>
            <a:ext cx="1925726"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16696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Role (namespaced)</a:t>
            </a:r>
          </a:p>
        </p:txBody>
      </p:sp>
      <p:sp>
        <p:nvSpPr>
          <p:cNvPr id="17" name="Rectangle 16"/>
          <p:cNvSpPr/>
          <p:nvPr/>
        </p:nvSpPr>
        <p:spPr>
          <a:xfrm>
            <a:off x="2702966" y="2620670"/>
            <a:ext cx="246065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830982" y="2702966"/>
            <a:ext cx="2204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RoleBinding (same namespace)</a:t>
            </a:r>
          </a:p>
        </p:txBody>
      </p:sp>
      <p:sp>
        <p:nvSpPr>
          <p:cNvPr id="19" name="Rectangle 18"/>
          <p:cNvSpPr/>
          <p:nvPr/>
        </p:nvSpPr>
        <p:spPr>
          <a:xfrm>
            <a:off x="5163616" y="2620670"/>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5291632" y="2702966"/>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That one namespace only</a:t>
            </a:r>
          </a:p>
        </p:txBody>
      </p:sp>
      <p:sp>
        <p:nvSpPr>
          <p:cNvPr id="21" name="Rectangle 20"/>
          <p:cNvSpPr/>
          <p:nvPr/>
        </p:nvSpPr>
        <p:spPr>
          <a:xfrm>
            <a:off x="8373160" y="2620670"/>
            <a:ext cx="3102559"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501176" y="2702966"/>
            <a:ext cx="284652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grant specific to one team's namespace</a:t>
            </a:r>
          </a:p>
        </p:txBody>
      </p:sp>
      <p:sp>
        <p:nvSpPr>
          <p:cNvPr id="23" name="Rectangle 22"/>
          <p:cNvSpPr/>
          <p:nvPr/>
        </p:nvSpPr>
        <p:spPr>
          <a:xfrm>
            <a:off x="777240" y="3171870"/>
            <a:ext cx="1925726"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16696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ClusterRole</a:t>
            </a:r>
          </a:p>
        </p:txBody>
      </p:sp>
      <p:sp>
        <p:nvSpPr>
          <p:cNvPr id="25" name="Rectangle 24"/>
          <p:cNvSpPr/>
          <p:nvPr/>
        </p:nvSpPr>
        <p:spPr>
          <a:xfrm>
            <a:off x="2702966" y="3171870"/>
            <a:ext cx="2460650"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2830982" y="3254166"/>
            <a:ext cx="2204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RoleBinding</a:t>
            </a:r>
          </a:p>
        </p:txBody>
      </p:sp>
      <p:sp>
        <p:nvSpPr>
          <p:cNvPr id="27" name="Rectangle 26"/>
          <p:cNvSpPr/>
          <p:nvPr/>
        </p:nvSpPr>
        <p:spPr>
          <a:xfrm>
            <a:off x="5163616" y="3171870"/>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5291632" y="3254166"/>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That one namespace only — the binding wins</a:t>
            </a:r>
          </a:p>
        </p:txBody>
      </p:sp>
      <p:sp>
        <p:nvSpPr>
          <p:cNvPr id="29" name="Rectangle 28"/>
          <p:cNvSpPr/>
          <p:nvPr/>
        </p:nvSpPr>
        <p:spPr>
          <a:xfrm>
            <a:off x="8373160" y="3171870"/>
            <a:ext cx="3102559"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501176" y="3254166"/>
            <a:ext cx="284652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Reusable rule sets applied namespace by namespace</a:t>
            </a:r>
          </a:p>
        </p:txBody>
      </p:sp>
      <p:sp>
        <p:nvSpPr>
          <p:cNvPr id="31" name="Rectangle 30"/>
          <p:cNvSpPr/>
          <p:nvPr/>
        </p:nvSpPr>
        <p:spPr>
          <a:xfrm>
            <a:off x="777240" y="3723071"/>
            <a:ext cx="1925726"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16696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ClusterRole</a:t>
            </a:r>
          </a:p>
        </p:txBody>
      </p:sp>
      <p:sp>
        <p:nvSpPr>
          <p:cNvPr id="33" name="Rectangle 32"/>
          <p:cNvSpPr/>
          <p:nvPr/>
        </p:nvSpPr>
        <p:spPr>
          <a:xfrm>
            <a:off x="2702966" y="3723071"/>
            <a:ext cx="2460650"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830982" y="3805367"/>
            <a:ext cx="2204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ClusterRoleBinding</a:t>
            </a:r>
          </a:p>
        </p:txBody>
      </p:sp>
      <p:sp>
        <p:nvSpPr>
          <p:cNvPr id="35" name="Rectangle 34"/>
          <p:cNvSpPr/>
          <p:nvPr/>
        </p:nvSpPr>
        <p:spPr>
          <a:xfrm>
            <a:off x="5163616" y="37230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5291632" y="38053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 namespace, plus cluster-scoped resources</a:t>
            </a:r>
          </a:p>
        </p:txBody>
      </p:sp>
      <p:sp>
        <p:nvSpPr>
          <p:cNvPr id="37" name="Rectangle 36"/>
          <p:cNvSpPr/>
          <p:nvPr/>
        </p:nvSpPr>
        <p:spPr>
          <a:xfrm>
            <a:off x="8373160" y="3723071"/>
            <a:ext cx="3102559"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501176" y="3805367"/>
            <a:ext cx="284652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Platform administrators and cluster-wide controllers</a:t>
            </a:r>
          </a:p>
        </p:txBody>
      </p:sp>
      <p:sp>
        <p:nvSpPr>
          <p:cNvPr id="39" name="Rectangle 38"/>
          <p:cNvSpPr/>
          <p:nvPr/>
        </p:nvSpPr>
        <p:spPr>
          <a:xfrm>
            <a:off x="777240" y="4274271"/>
            <a:ext cx="1925726"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16696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Role (namespaced)</a:t>
            </a:r>
          </a:p>
        </p:txBody>
      </p:sp>
      <p:sp>
        <p:nvSpPr>
          <p:cNvPr id="41" name="Rectangle 40"/>
          <p:cNvSpPr/>
          <p:nvPr/>
        </p:nvSpPr>
        <p:spPr>
          <a:xfrm>
            <a:off x="2702966" y="4274271"/>
            <a:ext cx="2460650"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2830982" y="4356567"/>
            <a:ext cx="2204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ClusterRoleBinding</a:t>
            </a:r>
          </a:p>
        </p:txBody>
      </p:sp>
      <p:sp>
        <p:nvSpPr>
          <p:cNvPr id="43" name="Rectangle 42"/>
          <p:cNvSpPr/>
          <p:nvPr/>
        </p:nvSpPr>
        <p:spPr>
          <a:xfrm>
            <a:off x="5163616" y="4274271"/>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5291632" y="43565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 permitted — a ClusterRoleBinding cannot reference a Role</a:t>
            </a:r>
          </a:p>
        </p:txBody>
      </p:sp>
      <p:sp>
        <p:nvSpPr>
          <p:cNvPr id="45" name="Rectangle 44"/>
          <p:cNvSpPr/>
          <p:nvPr/>
        </p:nvSpPr>
        <p:spPr>
          <a:xfrm>
            <a:off x="8373160" y="4274271"/>
            <a:ext cx="3102559"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501176" y="4356567"/>
            <a:ext cx="284652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Rejected; the API enforces this</a:t>
            </a:r>
          </a:p>
        </p:txBody>
      </p:sp>
      <p:sp>
        <p:nvSpPr>
          <p:cNvPr id="47" name="Rectangle 46"/>
          <p:cNvSpPr/>
          <p:nvPr/>
        </p:nvSpPr>
        <p:spPr>
          <a:xfrm>
            <a:off x="777240" y="4825471"/>
            <a:ext cx="1925726"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1669694"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Any</a:t>
            </a:r>
          </a:p>
        </p:txBody>
      </p:sp>
      <p:sp>
        <p:nvSpPr>
          <p:cNvPr id="49" name="Rectangle 48"/>
          <p:cNvSpPr/>
          <p:nvPr/>
        </p:nvSpPr>
        <p:spPr>
          <a:xfrm>
            <a:off x="2702966" y="4825471"/>
            <a:ext cx="2460650"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830982" y="4907767"/>
            <a:ext cx="220461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Binding to a non-existent role</a:t>
            </a:r>
          </a:p>
        </p:txBody>
      </p:sp>
      <p:sp>
        <p:nvSpPr>
          <p:cNvPr id="51" name="Rectangle 50"/>
          <p:cNvSpPr/>
          <p:nvPr/>
        </p:nvSpPr>
        <p:spPr>
          <a:xfrm>
            <a:off x="5163616" y="48254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5291632" y="4907767"/>
            <a:ext cx="295351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 accepted and silently useless</a:t>
            </a:r>
          </a:p>
        </p:txBody>
      </p:sp>
      <p:sp>
        <p:nvSpPr>
          <p:cNvPr id="53" name="Rectangle 52"/>
          <p:cNvSpPr/>
          <p:nvPr/>
        </p:nvSpPr>
        <p:spPr>
          <a:xfrm>
            <a:off x="8373160" y="4825471"/>
            <a:ext cx="3102559"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501176" y="4907767"/>
            <a:ext cx="284652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dangling roleRef bug, seen in Lab 14</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ClusterRole + RoleBinding by default; reserve ClusterRoleBinding for genuinely cluster-wide need.</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kubernetes.io/docs/reference/access-authn-authz/rbac/</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326</a:t>
            </a:r>
          </a:p>
        </p:txBody>
      </p:sp>
    </p:spTree>
  </p:cSld>
  <p:clrMapOvr>
    <a:masterClrMapping/>
  </p:clrMapOvr>
  <p:transition xmlns:ns1="http://schemas.openxmlformats.org/markup-compatibility/2006" spd="fast" ns1:Ignorable="p14">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RBAC fields and verbs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reference facts. Rows 1, 5 and 9 cause the most real-world surprises.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Read verbs</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get, list, watch — list leaks whole objects, so treat it as read-all</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Write verbs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create, update, patch, delete, deletecollection</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apiGroups</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 is the core group; apps, batch, rbac.authorization.k8s.io and so on</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resources</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Plural, lowercase, as shown by kubectl api-resources</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Subresources</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pods/log, pods/exec, pods/portforward, deployments/scale — granted separately</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resourceNames</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Restrict a rule to named objects; does not work with list or watch</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nonResourceURLs</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Grants paths such as /healthz; only valid in a ClusterRole</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Aggregation</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aggregationRule composes a ClusterRole from labelled ClusterRoles</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Additive only</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There is no deny rule anywhere in RBAC; permissions are a union</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Escalation guard</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You cannot grant permissions you do not hold, absent the escalate verb</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kubernetes.io/docs/reference/access-authn-authz/rbac/</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327</a:t>
            </a:r>
          </a:p>
        </p:txBody>
      </p:sp>
    </p:spTree>
  </p:cSld>
  <p:clrMapOvr>
    <a:masterClrMapping/>
  </p:clrMapOvr>
  <p:transition xmlns:ns1="http://schemas.openxmlformats.org/markup-compatibility/2006" spd="fast" ns1:Ignorable="p14">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Proving a grant instead of asserting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RBAC questions have a definitive answer available on demand. Never argue about a grant; ask.</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14 — replaying data/rbac-matrix.csv</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D8A99"/>
                </a:solidFill>
                <a:latin typeface="Consolas"/>
              </a:rPr>
              <a:t># Impersonate the ServiceAccount and ask the API server</a:t>
            </a:r>
          </a:p>
          <a:p>
            <a:pPr>
              <a:lnSpc>
                <a:spcPts val="1413"/>
              </a:lnSpc>
              <a:spcAft>
                <a:spcPts val="0"/>
              </a:spcAft>
            </a:pPr>
            <a:r>
              <a:rPr sz="1000">
                <a:solidFill>
                  <a:srgbClr val="7EE787"/>
                </a:solidFill>
                <a:latin typeface="Consolas"/>
              </a:rPr>
              <a:t>$ kubectl auth can-i list pods \</a:t>
            </a:r>
          </a:p>
          <a:p>
            <a:pPr>
              <a:lnSpc>
                <a:spcPts val="1413"/>
              </a:lnSpc>
              <a:spcAft>
                <a:spcPts val="0"/>
              </a:spcAft>
            </a:pPr>
            <a:r>
              <a:rPr sz="1000">
                <a:solidFill>
                  <a:srgbClr val="E6EDF3"/>
                </a:solidFill>
                <a:latin typeface="Consolas"/>
              </a:rPr>
              <a:t>    --as=system:serviceaccount:kcna-lab14:ops-reader \</a:t>
            </a:r>
          </a:p>
          <a:p>
            <a:pPr>
              <a:lnSpc>
                <a:spcPts val="1413"/>
              </a:lnSpc>
              <a:spcAft>
                <a:spcPts val="0"/>
              </a:spcAft>
            </a:pPr>
            <a:r>
              <a:rPr sz="1000">
                <a:solidFill>
                  <a:srgbClr val="E6EDF3"/>
                </a:solidFill>
                <a:latin typeface="Consolas"/>
              </a:rPr>
              <a:t>    -n kcna-lab14</a:t>
            </a:r>
          </a:p>
          <a:p>
            <a:pPr>
              <a:lnSpc>
                <a:spcPts val="1413"/>
              </a:lnSpc>
              <a:spcAft>
                <a:spcPts val="0"/>
              </a:spcAft>
            </a:pPr>
            <a:r>
              <a:rPr sz="1000">
                <a:solidFill>
                  <a:srgbClr val="E6EDF3"/>
                </a:solidFill>
                <a:latin typeface="Consolas"/>
              </a:rPr>
              <a:t>yes</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auth can-i list pods \</a:t>
            </a:r>
          </a:p>
          <a:p>
            <a:pPr>
              <a:lnSpc>
                <a:spcPts val="1413"/>
              </a:lnSpc>
              <a:spcAft>
                <a:spcPts val="0"/>
              </a:spcAft>
            </a:pPr>
            <a:r>
              <a:rPr sz="1000">
                <a:solidFill>
                  <a:srgbClr val="E6EDF3"/>
                </a:solidFill>
                <a:latin typeface="Consolas"/>
              </a:rPr>
              <a:t>    --as=system:serviceaccount:kcna-lab14:ops-reader \</a:t>
            </a:r>
          </a:p>
          <a:p>
            <a:pPr>
              <a:lnSpc>
                <a:spcPts val="1413"/>
              </a:lnSpc>
              <a:spcAft>
                <a:spcPts val="0"/>
              </a:spcAft>
            </a:pPr>
            <a:r>
              <a:rPr sz="1000">
                <a:solidFill>
                  <a:srgbClr val="E6EDF3"/>
                </a:solidFill>
                <a:latin typeface="Consolas"/>
              </a:rPr>
              <a:t>    -n default</a:t>
            </a:r>
          </a:p>
          <a:p>
            <a:pPr>
              <a:lnSpc>
                <a:spcPts val="1413"/>
              </a:lnSpc>
              <a:spcAft>
                <a:spcPts val="0"/>
              </a:spcAft>
            </a:pPr>
            <a:r>
              <a:rPr sz="1000">
                <a:solidFill>
                  <a:srgbClr val="E6EDF3"/>
                </a:solidFill>
                <a:latin typeface="Consolas"/>
              </a:rPr>
              <a:t>no</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auth can-i list configmaps \</a:t>
            </a:r>
          </a:p>
          <a:p>
            <a:pPr>
              <a:lnSpc>
                <a:spcPts val="1413"/>
              </a:lnSpc>
              <a:spcAft>
                <a:spcPts val="0"/>
              </a:spcAft>
            </a:pPr>
            <a:r>
              <a:rPr sz="1000">
                <a:solidFill>
                  <a:srgbClr val="E6EDF3"/>
                </a:solidFill>
                <a:latin typeface="Consolas"/>
              </a:rPr>
              <a:t>    --as=system:serviceaccount:kcna-lab14:ops-reader \</a:t>
            </a:r>
          </a:p>
          <a:p>
            <a:pPr>
              <a:lnSpc>
                <a:spcPts val="1413"/>
              </a:lnSpc>
              <a:spcAft>
                <a:spcPts val="0"/>
              </a:spcAft>
            </a:pPr>
            <a:r>
              <a:rPr sz="1000">
                <a:solidFill>
                  <a:srgbClr val="E6EDF3"/>
                </a:solidFill>
                <a:latin typeface="Consolas"/>
              </a:rPr>
              <a:t>    -n default</a:t>
            </a:r>
          </a:p>
          <a:p>
            <a:pPr>
              <a:lnSpc>
                <a:spcPts val="1413"/>
              </a:lnSpc>
              <a:spcAft>
                <a:spcPts val="0"/>
              </a:spcAft>
            </a:pPr>
            <a:r>
              <a:rPr sz="1000">
                <a:solidFill>
                  <a:srgbClr val="E6EDF3"/>
                </a:solidFill>
                <a:latin typeface="Consolas"/>
              </a:rPr>
              <a:t>no</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auth can-i --list -n kcna-lab14 \</a:t>
            </a:r>
          </a:p>
          <a:p>
            <a:pPr>
              <a:lnSpc>
                <a:spcPts val="1413"/>
              </a:lnSpc>
              <a:spcAft>
                <a:spcPts val="0"/>
              </a:spcAft>
            </a:pPr>
            <a:r>
              <a:rPr sz="1000">
                <a:solidFill>
                  <a:srgbClr val="E6EDF3"/>
                </a:solidFill>
                <a:latin typeface="Consolas"/>
              </a:rPr>
              <a:t>    --as=system:serviceaccount:kcna-lab14:ops-reader</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subject string is exact</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system:serviceaccount:&lt;ns&gt;:&lt;name&gt;. Any typo silently impersonates a different, unbound identity.</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last two lines are the lesson</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configmaps came from a ClusterRole — and still returns no outside the RoleBinding's namespace.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Exit status is machine-readable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yes exits 0, no exits 1, so a permission matrix can be replayed as an automated test.</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--list enumerates everything</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prints every rule that applies to that subject in that namespace — the fastest audit you have.</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Impersonation needs privilege</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--as requires the impersonate verb. On a shared cluster, test from inside a Pod instead.</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328</a:t>
            </a:r>
          </a:p>
        </p:txBody>
      </p:sp>
    </p:spTree>
  </p:cSld>
  <p:clrMapOvr>
    <a:masterClrMapping/>
  </p:clrMapOvr>
  <p:transition xmlns:ns1="http://schemas.openxmlformats.org/markup-compatibility/2006" spd="fast" ns1:Ignorable="p14">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LAB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Lab 14 permission matrix, counted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Twelve verb/resource/namespace assertions from data/rbac-matrix.csv, each replayed against the live API server.</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3"/>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Assertions in the lab's permission matrix</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Five allows, seven denies</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denies are the valuable half: they are what proves the grant is actually bounded.</a:t>
            </a:r>
          </a:p>
        </p:txBody>
      </p:sp>
      <p:sp>
        <p:nvSpPr>
          <p:cNvPr id="14" name="Rectangle 13"/>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ops-reader: 5 of 9 allowed</a:t>
            </a:r>
          </a:p>
        </p:txBody>
      </p:sp>
      <p:sp>
        <p:nvSpPr>
          <p:cNvPr id="16" name="TextBox 15"/>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get/list/watch on pods, get on pods/log, list on configmaps. Everything else is refused.</a:t>
            </a:r>
          </a:p>
        </p:txBody>
      </p:sp>
      <p:sp>
        <p:nvSpPr>
          <p:cNvPr id="17" name="Rectangle 16"/>
          <p:cNvSpPr/>
          <p:nvPr/>
        </p:nvSpPr>
        <p:spPr>
          <a:xfrm>
            <a:off x="7927848" y="40742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559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deploy-bot: 0 of 2</a:t>
            </a:r>
          </a:p>
        </p:txBody>
      </p:sp>
      <p:sp>
        <p:nvSpPr>
          <p:cNvPr id="19" name="TextBox 18"/>
          <p:cNvSpPr txBox="1"/>
          <p:nvPr/>
        </p:nvSpPr>
        <p:spPr>
          <a:xfrm>
            <a:off x="8092440" y="42754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ServiceAccount exists and has no binding at all. Existence is not permission.</a:t>
            </a:r>
          </a:p>
        </p:txBody>
      </p:sp>
      <p:sp>
        <p:nvSpPr>
          <p:cNvPr id="20" name="Rectangle 19"/>
          <p:cNvSpPr/>
          <p:nvPr/>
        </p:nvSpPr>
        <p:spPr>
          <a:xfrm>
            <a:off x="7927848" y="47692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509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default: 0 of 1</a:t>
            </a:r>
          </a:p>
        </p:txBody>
      </p:sp>
      <p:sp>
        <p:nvSpPr>
          <p:cNvPr id="22" name="TextBox 21"/>
          <p:cNvSpPr txBox="1"/>
          <p:nvPr/>
        </p:nvSpPr>
        <p:spPr>
          <a:xfrm>
            <a:off x="8092440" y="49703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auto-created default ServiceAccount is unprivileged — which is why Pods should not silently rely on it.</a:t>
            </a:r>
          </a:p>
        </p:txBody>
      </p:sp>
      <p:sp>
        <p:nvSpPr>
          <p:cNvPr id="23" name="Rectangle 22"/>
          <p:cNvSpPr/>
          <p:nvPr/>
        </p:nvSpPr>
        <p:spPr>
          <a:xfrm>
            <a:off x="7927848" y="5464149"/>
            <a:ext cx="41148" cy="566928"/>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8092440" y="5445861"/>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Counts, not estimates</a:t>
            </a:r>
          </a:p>
        </p:txBody>
      </p:sp>
      <p:sp>
        <p:nvSpPr>
          <p:cNvPr id="25" name="TextBox 24"/>
          <p:cNvSpPr txBox="1"/>
          <p:nvPr/>
        </p:nvSpPr>
        <p:spPr>
          <a:xfrm>
            <a:off x="8092440" y="5665317"/>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are row counts from the shipped CSV, replayed by the lab's verifier. Nothing here is modelled.</a:t>
            </a:r>
          </a:p>
        </p:txBody>
      </p:sp>
      <p:sp>
        <p:nvSpPr>
          <p:cNvPr id="26" name="TextBox 2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 · courseware/labs/lab-14-namespaces-serviceaccounts-rbac/data/rbac-matrix.csv</a:t>
            </a:r>
          </a:p>
        </p:txBody>
      </p:sp>
      <p:sp>
        <p:nvSpPr>
          <p:cNvPr id="27" name="TextBox 2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8" name="TextBox 2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9" name="TextBox 2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329</a:t>
            </a:r>
          </a:p>
        </p:txBody>
      </p:sp>
    </p:spTree>
  </p:cSld>
  <p:clrMapOvr>
    <a:masterClrMapping/>
  </p:clrMapOvr>
  <p:transition xmlns:ns1="http://schemas.openxmlformats.org/markup-compatibility/2006" spd="fast" ns1:Ignorable="p14">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 Forbidden message as a specification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Subject, verb, resource, apiGroup, namespace. Read them in that order and the fix writes itself.</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An in-cluster client is refused. The error names every field you need to write the fix.</a:t>
            </a:r>
          </a:p>
        </p:txBody>
      </p:sp>
      <p:sp>
        <p:nvSpPr>
          <p:cNvPr id="11" name="Rectangle 10"/>
          <p:cNvSpPr/>
          <p:nvPr/>
        </p:nvSpPr>
        <p:spPr>
          <a:xfrm>
            <a:off x="777240" y="2913278"/>
            <a:ext cx="6172200" cy="3003804"/>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436876"/>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get secrets -n kcna-lab14 \</a:t>
            </a:r>
          </a:p>
          <a:p>
            <a:pPr>
              <a:lnSpc>
                <a:spcPts val="1476"/>
              </a:lnSpc>
              <a:spcAft>
                <a:spcPts val="0"/>
              </a:spcAft>
            </a:pPr>
            <a:r>
              <a:rPr sz="950">
                <a:solidFill>
                  <a:srgbClr val="E6EDF3"/>
                </a:solidFill>
                <a:latin typeface="Consolas"/>
              </a:rPr>
              <a:t>    --as=system:serviceaccount:kcna-lab14:ops-reader</a:t>
            </a:r>
          </a:p>
          <a:p>
            <a:pPr>
              <a:lnSpc>
                <a:spcPts val="1476"/>
              </a:lnSpc>
              <a:spcAft>
                <a:spcPts val="0"/>
              </a:spcAft>
            </a:pPr>
            <a:r>
              <a:rPr sz="950">
                <a:solidFill>
                  <a:srgbClr val="E6EDF3"/>
                </a:solidFill>
                <a:latin typeface="Consolas"/>
              </a:rPr>
              <a:t>Error from server (Forbidden): secrets is forbidden:</a:t>
            </a:r>
          </a:p>
          <a:p>
            <a:pPr>
              <a:lnSpc>
                <a:spcPts val="1476"/>
              </a:lnSpc>
              <a:spcAft>
                <a:spcPts val="0"/>
              </a:spcAft>
            </a:pPr>
            <a:r>
              <a:rPr sz="950">
                <a:solidFill>
                  <a:srgbClr val="E6EDF3"/>
                </a:solidFill>
                <a:latin typeface="Consolas"/>
              </a:rPr>
              <a:t>  User "system:serviceaccount:kcna-lab14:ops-reader"</a:t>
            </a:r>
          </a:p>
          <a:p>
            <a:pPr>
              <a:lnSpc>
                <a:spcPts val="1476"/>
              </a:lnSpc>
              <a:spcAft>
                <a:spcPts val="0"/>
              </a:spcAft>
            </a:pPr>
            <a:r>
              <a:rPr sz="950">
                <a:solidFill>
                  <a:srgbClr val="E6EDF3"/>
                </a:solidFill>
                <a:latin typeface="Consolas"/>
              </a:rPr>
              <a:t>  cannot list resource "secrets" in API group ""</a:t>
            </a:r>
          </a:p>
          <a:p>
            <a:pPr>
              <a:lnSpc>
                <a:spcPts val="1476"/>
              </a:lnSpc>
              <a:spcAft>
                <a:spcPts val="0"/>
              </a:spcAft>
            </a:pPr>
            <a:r>
              <a:rPr sz="950">
                <a:solidFill>
                  <a:srgbClr val="E6EDF3"/>
                </a:solidFill>
                <a:latin typeface="Consolas"/>
              </a:rPr>
              <a:t>  in the namespace "kcna-lab14"</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D8A99"/>
                </a:solidFill>
                <a:latin typeface="Consolas"/>
              </a:rPr>
              <a:t># The five fields map 1:1 onto an RBAC rule:</a:t>
            </a:r>
          </a:p>
          <a:p>
            <a:pPr>
              <a:lnSpc>
                <a:spcPts val="1476"/>
              </a:lnSpc>
              <a:spcAft>
                <a:spcPts val="0"/>
              </a:spcAft>
            </a:pPr>
            <a:r>
              <a:rPr sz="950">
                <a:solidFill>
                  <a:srgbClr val="7D8A99"/>
                </a:solidFill>
                <a:latin typeface="Consolas"/>
              </a:rPr>
              <a:t>#   subject   -&gt; RoleBinding.subjects[]</a:t>
            </a:r>
          </a:p>
          <a:p>
            <a:pPr>
              <a:lnSpc>
                <a:spcPts val="1476"/>
              </a:lnSpc>
              <a:spcAft>
                <a:spcPts val="0"/>
              </a:spcAft>
            </a:pPr>
            <a:r>
              <a:rPr sz="950">
                <a:solidFill>
                  <a:srgbClr val="7D8A99"/>
                </a:solidFill>
                <a:latin typeface="Consolas"/>
              </a:rPr>
              <a:t>#   verb list -&gt; rules[].verbs</a:t>
            </a:r>
          </a:p>
          <a:p>
            <a:pPr>
              <a:lnSpc>
                <a:spcPts val="1476"/>
              </a:lnSpc>
              <a:spcAft>
                <a:spcPts val="0"/>
              </a:spcAft>
            </a:pPr>
            <a:r>
              <a:rPr sz="950">
                <a:solidFill>
                  <a:srgbClr val="7D8A99"/>
                </a:solidFill>
                <a:latin typeface="Consolas"/>
              </a:rPr>
              <a:t>#   secrets   -&gt; rules[].resources</a:t>
            </a:r>
          </a:p>
          <a:p>
            <a:pPr>
              <a:lnSpc>
                <a:spcPts val="1476"/>
              </a:lnSpc>
              <a:spcAft>
                <a:spcPts val="0"/>
              </a:spcAft>
            </a:pPr>
            <a:r>
              <a:rPr sz="950">
                <a:solidFill>
                  <a:srgbClr val="7D8A99"/>
                </a:solidFill>
                <a:latin typeface="Consolas"/>
              </a:rPr>
              <a:t>#   group ""  -&gt; rules[].apiGroups</a:t>
            </a:r>
          </a:p>
          <a:p>
            <a:pPr>
              <a:lnSpc>
                <a:spcPts val="1476"/>
              </a:lnSpc>
              <a:spcAft>
                <a:spcPts val="0"/>
              </a:spcAft>
            </a:pPr>
            <a:r>
              <a:rPr sz="950">
                <a:solidFill>
                  <a:srgbClr val="7D8A99"/>
                </a:solidFill>
                <a:latin typeface="Consolas"/>
              </a:rPr>
              <a:t>#   namespace -&gt; the Role/RoleBinding's namespace</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No bound rule grants list on secrets to that subject in that namespace</a:t>
            </a:r>
          </a:p>
          <a:p>
            <a:pPr>
              <a:lnSpc>
                <a:spcPct val="112000"/>
              </a:lnSpc>
              <a:spcAft>
                <a:spcPts val="200"/>
              </a:spcAft>
            </a:pPr>
            <a:r>
              <a:rPr sz="950">
                <a:solidFill>
                  <a:srgbClr val="94A3B8"/>
                </a:solidFill>
                <a:latin typeface="Arial"/>
              </a:rPr>
              <a:t>•  </a:t>
            </a:r>
            <a:r>
              <a:rPr sz="950">
                <a:solidFill>
                  <a:srgbClr val="5B6372"/>
                </a:solidFill>
                <a:latin typeface="Arial"/>
              </a:rPr>
              <a:t>RBAC is additive and has no deny rule, so this is an absence of a grant, never an explicit refusal</a:t>
            </a:r>
          </a:p>
          <a:p>
            <a:pPr>
              <a:lnSpc>
                <a:spcPct val="112000"/>
              </a:lnSpc>
              <a:spcAft>
                <a:spcPts val="200"/>
              </a:spcAft>
            </a:pPr>
            <a:r>
              <a:rPr sz="950">
                <a:solidFill>
                  <a:srgbClr val="94A3B8"/>
                </a:solidFill>
                <a:latin typeface="Arial"/>
              </a:rPr>
              <a:t>•  </a:t>
            </a:r>
            <a:r>
              <a:rPr sz="950">
                <a:solidFill>
                  <a:srgbClr val="5B6372"/>
                </a:solidFill>
                <a:latin typeface="Arial"/>
              </a:rPr>
              <a:t>403 means authentication SUCCEEDED — the identity was accepted and then found insufficient</a:t>
            </a:r>
          </a:p>
        </p:txBody>
      </p:sp>
      <p:sp>
        <p:nvSpPr>
          <p:cNvPr id="18" name="Rectangle 17"/>
          <p:cNvSpPr/>
          <p:nvPr/>
        </p:nvSpPr>
        <p:spPr>
          <a:xfrm>
            <a:off x="7205472" y="4535972"/>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Decide first whether the grant SHOULD exist; list on secrets reads every secret value in scope</a:t>
            </a:r>
          </a:p>
          <a:p>
            <a:pPr>
              <a:lnSpc>
                <a:spcPct val="112000"/>
              </a:lnSpc>
              <a:spcAft>
                <a:spcPts val="200"/>
              </a:spcAft>
            </a:pPr>
            <a:r>
              <a:rPr sz="950">
                <a:solidFill>
                  <a:srgbClr val="94A3B8"/>
                </a:solidFill>
                <a:latin typeface="Arial"/>
              </a:rPr>
              <a:t>•  </a:t>
            </a:r>
            <a:r>
              <a:rPr sz="950">
                <a:solidFill>
                  <a:srgbClr val="5B6372"/>
                </a:solidFill>
                <a:latin typeface="Arial"/>
              </a:rPr>
              <a:t>If it should, add the resource to an existing Role rather than creating a broader one</a:t>
            </a:r>
          </a:p>
          <a:p>
            <a:pPr>
              <a:lnSpc>
                <a:spcPct val="112000"/>
              </a:lnSpc>
              <a:spcAft>
                <a:spcPts val="200"/>
              </a:spcAft>
            </a:pPr>
            <a:r>
              <a:rPr sz="950">
                <a:solidFill>
                  <a:srgbClr val="94A3B8"/>
                </a:solidFill>
                <a:latin typeface="Arial"/>
              </a:rPr>
              <a:t>•  </a:t>
            </a:r>
            <a:r>
              <a:rPr sz="950">
                <a:solidFill>
                  <a:srgbClr val="5B6372"/>
                </a:solidFill>
                <a:latin typeface="Arial"/>
              </a:rPr>
              <a:t>Re-verify with kubectl auth can-i, not by re-running the original command by hand</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courseware/labs/lab-14-namespaces-serviceaccounts-rbac/verification/expected-output.md</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330</a:t>
            </a:r>
          </a:p>
        </p:txBody>
      </p:sp>
    </p:spTree>
  </p:cSld>
  <p:clrMapOvr>
    <a:masterClrMapping/>
  </p:clrMapOvr>
  <p:transition xmlns:ns1="http://schemas.openxmlformats.org/markup-compatibility/2006" spd="fast" ns1:Ignorable="p14">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Role or ClusterRole — and which binding?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question is never 'which object is easier'. It is 'what is the smallest blast radius that works'.</a:t>
            </a:r>
          </a:p>
        </p:txBody>
      </p:sp>
      <p:sp>
        <p:nvSpPr>
          <p:cNvPr id="7" name="Diamond 6"/>
          <p:cNvSpPr/>
          <p:nvPr/>
        </p:nvSpPr>
        <p:spPr>
          <a:xfrm>
            <a:off x="4206240" y="227754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the grant cover cluster-scoped resources, or apply across every namespace?</a:t>
            </a:r>
          </a:p>
        </p:txBody>
      </p:sp>
      <p:sp>
        <p:nvSpPr>
          <p:cNvPr id="8" name="Rounded Rectangle 7"/>
          <p:cNvSpPr/>
          <p:nvPr/>
        </p:nvSpPr>
        <p:spPr>
          <a:xfrm>
            <a:off x="777240" y="3914322"/>
            <a:ext cx="5199278" cy="2065853"/>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3914322"/>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genuinely cluster-wide</a:t>
            </a:r>
          </a:p>
        </p:txBody>
      </p:sp>
      <p:sp>
        <p:nvSpPr>
          <p:cNvPr id="11" name="TextBox 10"/>
          <p:cNvSpPr txBox="1"/>
          <p:nvPr/>
        </p:nvSpPr>
        <p:spPr>
          <a:xfrm>
            <a:off x="1014983"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Nodes, PersistentVolumes, StorageClasses, IngressClasses → ClusterRole + ClusterRoleBinding</a:t>
            </a:r>
          </a:p>
          <a:p>
            <a:pPr>
              <a:lnSpc>
                <a:spcPct val="112000"/>
              </a:lnSpc>
              <a:spcAft>
                <a:spcPts val="500"/>
              </a:spcAft>
            </a:pPr>
            <a:r>
              <a:rPr sz="1100">
                <a:solidFill>
                  <a:srgbClr val="94A3B8"/>
                </a:solidFill>
                <a:latin typeface="Arial"/>
              </a:rPr>
              <a:t>•  </a:t>
            </a:r>
            <a:r>
              <a:rPr sz="1100">
                <a:solidFill>
                  <a:srgbClr val="5B6372"/>
                </a:solidFill>
                <a:latin typeface="Arial"/>
              </a:rPr>
              <a:t>A controller that must watch every namespace → the same pair, with the narrowest possible verbs</a:t>
            </a:r>
          </a:p>
          <a:p>
            <a:pPr>
              <a:lnSpc>
                <a:spcPct val="112000"/>
              </a:lnSpc>
              <a:spcAft>
                <a:spcPts val="500"/>
              </a:spcAft>
            </a:pPr>
            <a:r>
              <a:rPr sz="1100">
                <a:solidFill>
                  <a:srgbClr val="94A3B8"/>
                </a:solidFill>
                <a:latin typeface="Arial"/>
              </a:rPr>
              <a:t>•  </a:t>
            </a:r>
            <a:r>
              <a:rPr sz="1100">
                <a:solidFill>
                  <a:srgbClr val="5B6372"/>
                </a:solidFill>
                <a:latin typeface="Arial"/>
              </a:rPr>
              <a:t>Record it: every ClusterRoleBinding deserves a review</a:t>
            </a:r>
          </a:p>
          <a:p>
            <a:pPr>
              <a:lnSpc>
                <a:spcPct val="112000"/>
              </a:lnSpc>
              <a:spcAft>
                <a:spcPts val="500"/>
              </a:spcAft>
            </a:pPr>
            <a:r>
              <a:rPr sz="1100">
                <a:solidFill>
                  <a:srgbClr val="94A3B8"/>
                </a:solidFill>
                <a:latin typeface="Arial"/>
              </a:rPr>
              <a:t>•  </a:t>
            </a:r>
            <a:r>
              <a:rPr sz="1100">
                <a:solidFill>
                  <a:srgbClr val="5B6372"/>
                </a:solidFill>
                <a:latin typeface="Arial"/>
              </a:rPr>
              <a:t>Prefer aggregating existing ClusterRoles over new wide ones</a:t>
            </a:r>
          </a:p>
        </p:txBody>
      </p:sp>
      <p:cxnSp>
        <p:nvCxnSpPr>
          <p:cNvPr id="12" name="Connector 11"/>
          <p:cNvCxnSpPr/>
          <p:nvPr/>
        </p:nvCxnSpPr>
        <p:spPr>
          <a:xfrm flipH="1">
            <a:off x="3376879" y="3182802"/>
            <a:ext cx="1766621" cy="694944"/>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530274"/>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3914322"/>
            <a:ext cx="5199278" cy="2065853"/>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3914322"/>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3960042"/>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one or a few namespaces</a:t>
            </a:r>
          </a:p>
        </p:txBody>
      </p:sp>
      <p:sp>
        <p:nvSpPr>
          <p:cNvPr id="17" name="TextBox 16"/>
          <p:cNvSpPr txBox="1"/>
          <p:nvPr/>
        </p:nvSpPr>
        <p:spPr>
          <a:xfrm>
            <a:off x="6514185" y="4389810"/>
            <a:ext cx="4723790" cy="1480637"/>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Rules used in one namespace only → Role + RoleBinding</a:t>
            </a:r>
          </a:p>
          <a:p>
            <a:pPr>
              <a:lnSpc>
                <a:spcPct val="112000"/>
              </a:lnSpc>
              <a:spcAft>
                <a:spcPts val="500"/>
              </a:spcAft>
            </a:pPr>
            <a:r>
              <a:rPr sz="1100">
                <a:solidFill>
                  <a:srgbClr val="94A3B8"/>
                </a:solidFill>
                <a:latin typeface="Arial"/>
              </a:rPr>
              <a:t>•  </a:t>
            </a:r>
            <a:r>
              <a:rPr sz="1100">
                <a:solidFill>
                  <a:srgbClr val="5B6372"/>
                </a:solidFill>
                <a:latin typeface="Arial"/>
              </a:rPr>
              <a:t>The same rules reused in many namespaces → ClusterRole + a RoleBinding per namespace</a:t>
            </a:r>
          </a:p>
          <a:p>
            <a:pPr>
              <a:lnSpc>
                <a:spcPct val="112000"/>
              </a:lnSpc>
              <a:spcAft>
                <a:spcPts val="500"/>
              </a:spcAft>
            </a:pPr>
            <a:r>
              <a:rPr sz="1100">
                <a:solidFill>
                  <a:srgbClr val="94A3B8"/>
                </a:solidFill>
                <a:latin typeface="Arial"/>
              </a:rPr>
              <a:t>•  </a:t>
            </a:r>
            <a:r>
              <a:rPr sz="1100">
                <a:solidFill>
                  <a:srgbClr val="5B6372"/>
                </a:solidFill>
                <a:latin typeface="Arial"/>
              </a:rPr>
              <a:t>Never reach for ClusterRoleBinding to 'make it work'</a:t>
            </a:r>
          </a:p>
          <a:p>
            <a:pPr>
              <a:lnSpc>
                <a:spcPct val="112000"/>
              </a:lnSpc>
              <a:spcAft>
                <a:spcPts val="500"/>
              </a:spcAft>
            </a:pPr>
            <a:r>
              <a:rPr sz="1100">
                <a:solidFill>
                  <a:srgbClr val="94A3B8"/>
                </a:solidFill>
                <a:latin typeface="Arial"/>
              </a:rPr>
              <a:t>•  </a:t>
            </a:r>
            <a:r>
              <a:rPr sz="1100">
                <a:solidFill>
                  <a:srgbClr val="5B6372"/>
                </a:solidFill>
                <a:latin typeface="Arial"/>
              </a:rPr>
              <a:t>Verify the boundary with can-i in a namespace you did NOT intend to grant</a:t>
            </a:r>
          </a:p>
        </p:txBody>
      </p:sp>
      <p:cxnSp>
        <p:nvCxnSpPr>
          <p:cNvPr id="18" name="Connector 17"/>
          <p:cNvCxnSpPr/>
          <p:nvPr/>
        </p:nvCxnSpPr>
        <p:spPr>
          <a:xfrm>
            <a:off x="7018019" y="3182802"/>
            <a:ext cx="1858061" cy="694944"/>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530274"/>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kubernetes.io/docs/reference/access-authn-authz/rbac/</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331</a:t>
            </a:r>
          </a:p>
        </p:txBody>
      </p:sp>
    </p:spTree>
  </p:cSld>
  <p:clrMapOvr>
    <a:masterClrMapping/>
  </p:clrMapOvr>
  <p:transition xmlns:ns3="http://schemas.openxmlformats.org/markup-compatibility/2006" spd="fast" ns3:Ignorable="p14">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CONTROL POINTS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places a request can be stopped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These are independent layers. A gap in one is not covered by strength in another.</a:t>
            </a:r>
          </a:p>
        </p:txBody>
      </p:sp>
      <p:sp>
        <p:nvSpPr>
          <p:cNvPr id="7" name="Rectangle 6"/>
          <p:cNvSpPr/>
          <p:nvPr/>
        </p:nvSpPr>
        <p:spPr>
          <a:xfrm>
            <a:off x="777240" y="220004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891235"/>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941832" y="2382926"/>
            <a:ext cx="1261872" cy="562051"/>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NETWORK LAYER (L3/L4)</a:t>
            </a:r>
          </a:p>
        </p:txBody>
      </p:sp>
      <p:sp>
        <p:nvSpPr>
          <p:cNvPr id="10" name="Rounded Rectangle 9"/>
          <p:cNvSpPr/>
          <p:nvPr/>
        </p:nvSpPr>
        <p:spPr>
          <a:xfrm>
            <a:off x="2258568" y="227319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NetworkPolicy</a:t>
            </a:r>
          </a:p>
        </p:txBody>
      </p:sp>
      <p:sp>
        <p:nvSpPr>
          <p:cNvPr id="12" name="TextBox 11"/>
          <p:cNvSpPr txBox="1"/>
          <p:nvPr/>
        </p:nvSpPr>
        <p:spPr>
          <a:xfrm>
            <a:off x="2350008"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Selector-based allow rules on Pod ports; enforced by the CNI plugin</a:t>
            </a:r>
          </a:p>
        </p:txBody>
      </p:sp>
      <p:sp>
        <p:nvSpPr>
          <p:cNvPr id="13" name="Rounded Rectangle 12"/>
          <p:cNvSpPr/>
          <p:nvPr/>
        </p:nvSpPr>
        <p:spPr>
          <a:xfrm>
            <a:off x="5318760" y="227319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kube-proxy</a:t>
            </a:r>
          </a:p>
        </p:txBody>
      </p:sp>
      <p:sp>
        <p:nvSpPr>
          <p:cNvPr id="15" name="TextBox 14"/>
          <p:cNvSpPr txBox="1"/>
          <p:nvPr/>
        </p:nvSpPr>
        <p:spPr>
          <a:xfrm>
            <a:off x="5410199"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Not a control — it rewrites destinations, it does not authorise them</a:t>
            </a:r>
          </a:p>
        </p:txBody>
      </p:sp>
      <p:sp>
        <p:nvSpPr>
          <p:cNvPr id="16" name="Rounded Rectangle 15"/>
          <p:cNvSpPr/>
          <p:nvPr/>
        </p:nvSpPr>
        <p:spPr>
          <a:xfrm>
            <a:off x="8378951" y="2273198"/>
            <a:ext cx="2895599" cy="744931"/>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ipBlock / cloud firewall</a:t>
            </a:r>
          </a:p>
        </p:txBody>
      </p:sp>
      <p:sp>
        <p:nvSpPr>
          <p:cNvPr id="18" name="TextBox 17"/>
          <p:cNvSpPr txBox="1"/>
          <p:nvPr/>
        </p:nvSpPr>
        <p:spPr>
          <a:xfrm>
            <a:off x="8470391" y="256123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CIDR-level control for traffic entering or leaving the cluster</a:t>
            </a:r>
          </a:p>
        </p:txBody>
      </p:sp>
      <p:sp>
        <p:nvSpPr>
          <p:cNvPr id="19" name="Rectangle 18"/>
          <p:cNvSpPr/>
          <p:nvPr/>
        </p:nvSpPr>
        <p:spPr>
          <a:xfrm>
            <a:off x="777240" y="3274161"/>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274161"/>
            <a:ext cx="50292" cy="891235"/>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941832" y="3457041"/>
            <a:ext cx="1261872" cy="562051"/>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APPLICATION LAYER (L7)</a:t>
            </a:r>
          </a:p>
        </p:txBody>
      </p:sp>
      <p:sp>
        <p:nvSpPr>
          <p:cNvPr id="22" name="Rounded Rectangle 21"/>
          <p:cNvSpPr/>
          <p:nvPr/>
        </p:nvSpPr>
        <p:spPr>
          <a:xfrm>
            <a:off x="2258568"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2350008"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Ingress / Gateway</a:t>
            </a:r>
          </a:p>
        </p:txBody>
      </p:sp>
      <p:sp>
        <p:nvSpPr>
          <p:cNvPr id="24" name="TextBox 23"/>
          <p:cNvSpPr txBox="1"/>
          <p:nvPr/>
        </p:nvSpPr>
        <p:spPr>
          <a:xfrm>
            <a:off x="2350008"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Host and path routing; TLS termination at the edge</a:t>
            </a:r>
          </a:p>
        </p:txBody>
      </p:sp>
      <p:sp>
        <p:nvSpPr>
          <p:cNvPr id="25" name="Rounded Rectangle 24"/>
          <p:cNvSpPr/>
          <p:nvPr/>
        </p:nvSpPr>
        <p:spPr>
          <a:xfrm>
            <a:off x="5318760"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5410199"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Service mesh policy</a:t>
            </a:r>
          </a:p>
        </p:txBody>
      </p:sp>
      <p:sp>
        <p:nvSpPr>
          <p:cNvPr id="27" name="TextBox 26"/>
          <p:cNvSpPr txBox="1"/>
          <p:nvPr/>
        </p:nvSpPr>
        <p:spPr>
          <a:xfrm>
            <a:off x="5410199"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Identity-based rules — service A may call POST /pay on service B</a:t>
            </a:r>
          </a:p>
        </p:txBody>
      </p:sp>
      <p:sp>
        <p:nvSpPr>
          <p:cNvPr id="28" name="Rounded Rectangle 27"/>
          <p:cNvSpPr/>
          <p:nvPr/>
        </p:nvSpPr>
        <p:spPr>
          <a:xfrm>
            <a:off x="8378951" y="3347313"/>
            <a:ext cx="2895599" cy="744931"/>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8470391" y="3402177"/>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The app itself</a:t>
            </a:r>
          </a:p>
        </p:txBody>
      </p:sp>
      <p:sp>
        <p:nvSpPr>
          <p:cNvPr id="30" name="TextBox 29"/>
          <p:cNvSpPr txBox="1"/>
          <p:nvPr/>
        </p:nvSpPr>
        <p:spPr>
          <a:xfrm>
            <a:off x="8470391" y="3635349"/>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Its own authentication and authorization remain necessary</a:t>
            </a:r>
          </a:p>
        </p:txBody>
      </p:sp>
      <p:sp>
        <p:nvSpPr>
          <p:cNvPr id="31" name="Rectangle 30"/>
          <p:cNvSpPr/>
          <p:nvPr/>
        </p:nvSpPr>
        <p:spPr>
          <a:xfrm>
            <a:off x="777240" y="4348276"/>
            <a:ext cx="10698480" cy="891235"/>
          </a:xfrm>
          <a:prstGeom prst="rect">
            <a:avLst/>
          </a:prstGeom>
          <a:solidFill>
            <a:srgbClr val="F5F8FC"/>
          </a:solidFill>
          <a:ln w="12700">
            <a:solidFill>
              <a:srgbClr val="E2E8F0"/>
            </a:solidFill>
          </a:ln>
          <a:effectLst/>
        </p:spPr>
        <p:txBody>
          <a:bodyPr rtlCol="0" anchor="ctr" wrap="square"/>
          <a:lstStyle/>
          <a:p>
            <a:pPr algn="ctr"/>
          </a:p>
        </p:txBody>
      </p:sp>
      <p:sp>
        <p:nvSpPr>
          <p:cNvPr id="32" name="Rectangle 31"/>
          <p:cNvSpPr/>
          <p:nvPr/>
        </p:nvSpPr>
        <p:spPr>
          <a:xfrm>
            <a:off x="777240" y="4348276"/>
            <a:ext cx="50292" cy="891235"/>
          </a:xfrm>
          <a:prstGeom prst="rect">
            <a:avLst/>
          </a:prstGeom>
          <a:solidFill>
            <a:srgbClr val="1F6FEB"/>
          </a:solidFill>
          <a:ln>
            <a:noFill/>
          </a:ln>
          <a:effectLst/>
        </p:spPr>
        <p:txBody>
          <a:bodyPr rtlCol="0" anchor="ctr" wrap="square"/>
          <a:lstStyle/>
          <a:p>
            <a:pPr algn="ctr"/>
          </a:p>
        </p:txBody>
      </p:sp>
      <p:sp>
        <p:nvSpPr>
          <p:cNvPr id="33" name="TextBox 32"/>
          <p:cNvSpPr txBox="1"/>
          <p:nvPr/>
        </p:nvSpPr>
        <p:spPr>
          <a:xfrm>
            <a:off x="941832" y="4531156"/>
            <a:ext cx="1261872" cy="562051"/>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CONTROL PLANE (API)</a:t>
            </a:r>
          </a:p>
        </p:txBody>
      </p:sp>
      <p:sp>
        <p:nvSpPr>
          <p:cNvPr id="34" name="Rounded Rectangle 33"/>
          <p:cNvSpPr/>
          <p:nvPr/>
        </p:nvSpPr>
        <p:spPr>
          <a:xfrm>
            <a:off x="2258568"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5" name="TextBox 34"/>
          <p:cNvSpPr txBox="1"/>
          <p:nvPr/>
        </p:nvSpPr>
        <p:spPr>
          <a:xfrm>
            <a:off x="2350008"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Authentication</a:t>
            </a:r>
          </a:p>
        </p:txBody>
      </p:sp>
      <p:sp>
        <p:nvSpPr>
          <p:cNvPr id="36" name="TextBox 35"/>
          <p:cNvSpPr txBox="1"/>
          <p:nvPr/>
        </p:nvSpPr>
        <p:spPr>
          <a:xfrm>
            <a:off x="2350008"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Certificate, token or OIDC identity for every API request</a:t>
            </a:r>
          </a:p>
        </p:txBody>
      </p:sp>
      <p:sp>
        <p:nvSpPr>
          <p:cNvPr id="37" name="Rounded Rectangle 36"/>
          <p:cNvSpPr/>
          <p:nvPr/>
        </p:nvSpPr>
        <p:spPr>
          <a:xfrm>
            <a:off x="5318760"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8" name="TextBox 37"/>
          <p:cNvSpPr txBox="1"/>
          <p:nvPr/>
        </p:nvSpPr>
        <p:spPr>
          <a:xfrm>
            <a:off x="5410199"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RBAC</a:t>
            </a:r>
          </a:p>
        </p:txBody>
      </p:sp>
      <p:sp>
        <p:nvSpPr>
          <p:cNvPr id="39" name="TextBox 38"/>
          <p:cNvSpPr txBox="1"/>
          <p:nvPr/>
        </p:nvSpPr>
        <p:spPr>
          <a:xfrm>
            <a:off x="5410199"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Verb and resource authorization, scoped by the binding</a:t>
            </a:r>
          </a:p>
        </p:txBody>
      </p:sp>
      <p:sp>
        <p:nvSpPr>
          <p:cNvPr id="40" name="Rounded Rectangle 39"/>
          <p:cNvSpPr/>
          <p:nvPr/>
        </p:nvSpPr>
        <p:spPr>
          <a:xfrm>
            <a:off x="8378951" y="4421428"/>
            <a:ext cx="2895599" cy="744931"/>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41" name="TextBox 40"/>
          <p:cNvSpPr txBox="1"/>
          <p:nvPr/>
        </p:nvSpPr>
        <p:spPr>
          <a:xfrm>
            <a:off x="8470391" y="447629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Admission</a:t>
            </a:r>
          </a:p>
        </p:txBody>
      </p:sp>
      <p:sp>
        <p:nvSpPr>
          <p:cNvPr id="42" name="TextBox 41"/>
          <p:cNvSpPr txBox="1"/>
          <p:nvPr/>
        </p:nvSpPr>
        <p:spPr>
          <a:xfrm>
            <a:off x="8470391" y="4709464"/>
            <a:ext cx="2712719" cy="383743"/>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Pod Security, quotas and policy engines, immediately before the write</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RBAC controls what may be ASKED OF THE API. NetworkPolicy controls what may be SENT BETWEEN PODS. Neither implies the other, and confusing them is a common audit finding.</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kubernetes.io/docs/concepts/security/overview/  (the 4C's) · kubernetes.io/docs/concepts/services-networking/network-policies/ · kubernetes.io/docs/reference/access-authn-authz/rbac/</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332</a:t>
            </a:r>
          </a:p>
        </p:txBody>
      </p:sp>
    </p:spTree>
  </p:cSld>
  <p:clrMapOvr>
    <a:masterClrMapping/>
  </p:clrMapOvr>
  <p:transition xmlns:ns1="http://schemas.openxmlformats.org/markup-compatibility/2006" spd="fast" ns1:Ignorable="p14">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14 — Namespaces, ServiceAccounts and RBAC</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Grant Meridian Freight's night-shift operators read-only access to one namespace and nothing else, then prove every allow and every deny with kubectl auth can-i instead of asserting it.</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namespaced Role/RoleBinding giving ops-reader get, list, watch on pods plus the separate pods/log subresource</a:t>
            </a:r>
          </a:p>
          <a:p>
            <a:pPr>
              <a:lnSpc>
                <a:spcPct val="112000"/>
              </a:lnSpc>
              <a:spcAft>
                <a:spcPts val="500"/>
              </a:spcAft>
            </a:pPr>
            <a:r>
              <a:rPr sz="1050">
                <a:solidFill>
                  <a:srgbClr val="94A3B8"/>
                </a:solidFill>
                <a:latin typeface="Arial"/>
              </a:rPr>
              <a:t>•  </a:t>
            </a:r>
            <a:r>
              <a:rPr sz="1050">
                <a:solidFill>
                  <a:srgbClr val="5B6372"/>
                </a:solidFill>
                <a:latin typeface="Arial"/>
              </a:rPr>
              <a:t>A read-only ClusterRole bound by a RoleBinding - reusable rules, namespaced grant, and zero ClusterRoleBindings</a:t>
            </a:r>
          </a:p>
          <a:p>
            <a:pPr>
              <a:lnSpc>
                <a:spcPct val="112000"/>
              </a:lnSpc>
              <a:spcAft>
                <a:spcPts val="500"/>
              </a:spcAft>
            </a:pPr>
            <a:r>
              <a:rPr sz="1050">
                <a:solidFill>
                  <a:srgbClr val="94A3B8"/>
                </a:solidFill>
                <a:latin typeface="Arial"/>
              </a:rPr>
              <a:t>•  </a:t>
            </a:r>
            <a:r>
              <a:rPr sz="1050">
                <a:solidFill>
                  <a:srgbClr val="5B6372"/>
                </a:solidFill>
                <a:latin typeface="Arial"/>
              </a:rPr>
              <a:t>A 12-row permission matrix in data/rbac-matrix.csv replayed through kubectl auth can-i --as=system:serviceaccount:kcna-lab14:&lt;sa&gt;</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Namespace scopes names, bindings and quotas - it is not a network, node or privilege boundary</a:t>
            </a:r>
          </a:p>
          <a:p>
            <a:pPr>
              <a:lnSpc>
                <a:spcPct val="112000"/>
              </a:lnSpc>
              <a:spcAft>
                <a:spcPts val="500"/>
              </a:spcAft>
            </a:pPr>
            <a:r>
              <a:rPr sz="1050">
                <a:solidFill>
                  <a:srgbClr val="94A3B8"/>
                </a:solidFill>
                <a:latin typeface="Arial"/>
              </a:rPr>
              <a:t>•  </a:t>
            </a:r>
            <a:r>
              <a:rPr sz="1050">
                <a:solidFill>
                  <a:srgbClr val="5B6372"/>
                </a:solidFill>
                <a:latin typeface="Arial"/>
              </a:rPr>
              <a:t>A ServiceAccount is an identity with zero permissions until a binding grants them</a:t>
            </a:r>
          </a:p>
          <a:p>
            <a:pPr>
              <a:lnSpc>
                <a:spcPct val="112000"/>
              </a:lnSpc>
              <a:spcAft>
                <a:spcPts val="500"/>
              </a:spcAft>
            </a:pPr>
            <a:r>
              <a:rPr sz="1050">
                <a:solidFill>
                  <a:srgbClr val="94A3B8"/>
                </a:solidFill>
                <a:latin typeface="Arial"/>
              </a:rPr>
              <a:t>•  </a:t>
            </a:r>
            <a:r>
              <a:rPr sz="1050">
                <a:solidFill>
                  <a:srgbClr val="5B6372"/>
                </a:solidFill>
                <a:latin typeface="Arial"/>
              </a:rPr>
              <a:t>ClusterRole + RoleBinding grants only inside that namespace; only a ClusterRoleBinding is cluster-wide</a:t>
            </a:r>
          </a:p>
          <a:p>
            <a:pPr>
              <a:lnSpc>
                <a:spcPct val="112000"/>
              </a:lnSpc>
              <a:spcAft>
                <a:spcPts val="500"/>
              </a:spcAft>
            </a:pPr>
            <a:r>
              <a:rPr sz="1050">
                <a:solidFill>
                  <a:srgbClr val="94A3B8"/>
                </a:solidFill>
                <a:latin typeface="Arial"/>
              </a:rPr>
              <a:t>•  </a:t>
            </a:r>
            <a:r>
              <a:rPr sz="1050">
                <a:solidFill>
                  <a:srgbClr val="5B6372"/>
                </a:solidFill>
                <a:latin typeface="Arial"/>
              </a:rPr>
              <a:t>RBAC is additive with no deny rule, and roleRef is immutable while a dangling roleRef fails silently</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14</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kcna-lab14</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courseware/labs/lab-14-namespaces-serviceaccounts-rbac/README.md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333</a:t>
            </a:r>
          </a:p>
        </p:txBody>
      </p:sp>
    </p:spTree>
  </p:cSld>
  <p:clrMapOvr>
    <a:masterClrMapping/>
  </p:clrMapOvr>
  <p:transition xmlns:ns1="http://schemas.openxmlformats.org/markup-compatibility/2006" spd="fast" ns1:Ignorable="p14">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CONFIGURATION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ConfigMap and Secret — what actually differs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difference is real but smaller than most people assume — and it is not encryption.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Both are key/value API objects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Both are namespaced, both cap at roughly 1 MiB, both mount as volumes or inject as environment variables.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Encoding differs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ConfigMap holds plain strings in data. Secret holds base64 in data, or plain strings in stringData on write.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Handling differs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describe masks Secret values; kubelet keeps mounted Secret volumes in memory rather than on node disk.</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RBAC treats them the same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Both are just resources. get on secrets is what protects them — not the object kind.</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Secret has meaningful types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kubernetes.io/tls, dockerconfigjson and others carry required keys the API server validates.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Neither is encrypted by default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Encryption at rest is an API server configuration. Without it, both sit in etcd in plaintext.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kubernetes.io/docs/concepts/configuration/secret/</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334</a:t>
            </a:r>
          </a:p>
        </p:txBody>
      </p:sp>
    </p:spTree>
  </p:cSld>
  <p:clrMapOvr>
    <a:masterClrMapping/>
  </p:clrMapOvr>
  <p:transition xmlns:ns1="http://schemas.openxmlformats.org/markup-compatibility/2006" spd="fast" ns1:Ignorable="p14">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Secret, and the two ways to write its values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in this object is recoverable by anyone who can read it. That is the design, not a defect.</a:t>
            </a:r>
          </a:p>
        </p:txBody>
      </p:sp>
      <p:sp>
        <p:nvSpPr>
          <p:cNvPr id="7" name="Rectangle 6"/>
          <p:cNvSpPr/>
          <p:nvPr/>
        </p:nvSpPr>
        <p:spPr>
          <a:xfrm>
            <a:off x="777240" y="2200046"/>
            <a:ext cx="635508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 Secret manifest, with DUMMY values only</a:t>
            </a:r>
          </a:p>
        </p:txBody>
      </p:sp>
      <p:sp>
        <p:nvSpPr>
          <p:cNvPr id="9" name="TextBox 8"/>
          <p:cNvSpPr txBox="1"/>
          <p:nvPr/>
        </p:nvSpPr>
        <p:spPr>
          <a:xfrm>
            <a:off x="923544" y="2620670"/>
            <a:ext cx="6062472" cy="2624327"/>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Secret</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booking-credentials</a:t>
            </a:r>
          </a:p>
          <a:p>
            <a:pPr>
              <a:lnSpc>
                <a:spcPts val="1476"/>
              </a:lnSpc>
              <a:spcAft>
                <a:spcPts val="0"/>
              </a:spcAft>
            </a:pPr>
            <a:r>
              <a:rPr sz="1050">
                <a:solidFill>
                  <a:srgbClr val="E6EDF3"/>
                </a:solidFill>
                <a:latin typeface="Consolas"/>
              </a:rPr>
              <a:t>  namespace: kcna-lab15</a:t>
            </a:r>
          </a:p>
          <a:p>
            <a:pPr>
              <a:lnSpc>
                <a:spcPts val="1476"/>
              </a:lnSpc>
              <a:spcAft>
                <a:spcPts val="0"/>
              </a:spcAft>
            </a:pPr>
            <a:r>
              <a:rPr sz="1050">
                <a:solidFill>
                  <a:srgbClr val="E6EDF3"/>
                </a:solidFill>
                <a:latin typeface="Consolas"/>
              </a:rPr>
              <a:t>type: Opaque</a:t>
            </a:r>
          </a:p>
          <a:p>
            <a:pPr>
              <a:lnSpc>
                <a:spcPts val="1476"/>
              </a:lnSpc>
              <a:spcAft>
                <a:spcPts val="0"/>
              </a:spcAft>
            </a:pPr>
            <a:r>
              <a:rPr sz="1050">
                <a:solidFill>
                  <a:srgbClr val="E6EDF3"/>
                </a:solidFill>
                <a:latin typeface="Consolas"/>
              </a:rPr>
              <a:t>data:                       # values MUST be base64</a:t>
            </a:r>
          </a:p>
          <a:p>
            <a:pPr>
              <a:lnSpc>
                <a:spcPts val="1476"/>
              </a:lnSpc>
              <a:spcAft>
                <a:spcPts val="0"/>
              </a:spcAft>
            </a:pPr>
            <a:r>
              <a:rPr sz="1050">
                <a:solidFill>
                  <a:srgbClr val="E6EDF3"/>
                </a:solidFill>
                <a:latin typeface="Consolas"/>
              </a:rPr>
              <a:t>  DB_USERNAME: RFVNTVktbm90LWEtcmVhbC11c2VybmFtZQ==</a:t>
            </a:r>
          </a:p>
          <a:p>
            <a:pPr>
              <a:lnSpc>
                <a:spcPts val="1476"/>
              </a:lnSpc>
              <a:spcAft>
                <a:spcPts val="0"/>
              </a:spcAft>
            </a:pPr>
            <a:r>
              <a:rPr sz="1050">
                <a:solidFill>
                  <a:srgbClr val="E6EDF3"/>
                </a:solidFill>
                <a:latin typeface="Consolas"/>
              </a:rPr>
              <a:t>  DB_PASSWORD: RFVNTVktbm90LWEtcmVhbC1wYXNzd29yZA==</a:t>
            </a:r>
          </a:p>
          <a:p>
            <a:pPr>
              <a:lnSpc>
                <a:spcPts val="1476"/>
              </a:lnSpc>
              <a:spcAft>
                <a:spcPts val="0"/>
              </a:spcAft>
            </a:pPr>
            <a:r>
              <a:rPr sz="1050">
                <a:solidFill>
                  <a:srgbClr val="E6EDF3"/>
                </a:solidFill>
                <a:latin typeface="Consolas"/>
              </a:rPr>
              <a:t>stringData:                 # write-only convenience</a:t>
            </a:r>
          </a:p>
          <a:p>
            <a:pPr>
              <a:lnSpc>
                <a:spcPts val="1476"/>
              </a:lnSpc>
              <a:spcAft>
                <a:spcPts val="0"/>
              </a:spcAft>
            </a:pPr>
            <a:r>
              <a:rPr sz="1050">
                <a:solidFill>
                  <a:srgbClr val="E6EDF3"/>
                </a:solidFill>
                <a:latin typeface="Consolas"/>
              </a:rPr>
              <a:t>  DB_HOST: booking-db.kcna-lab15.svc.cluster.local</a:t>
            </a:r>
          </a:p>
          <a:p>
            <a:pPr>
              <a:lnSpc>
                <a:spcPts val="1476"/>
              </a:lnSpc>
              <a:spcAft>
                <a:spcPts val="0"/>
              </a:spcAft>
            </a:pPr>
            <a:r>
              <a:rPr sz="1050">
                <a:solidFill>
                  <a:srgbClr val="E6EDF3"/>
                </a:solidFill>
                <a:latin typeface="Consolas"/>
              </a:rPr>
              <a:t>immutable: true             # optional, one-way</a:t>
            </a:r>
          </a:p>
          <a:p>
            <a:pPr>
              <a:lnSpc>
                <a:spcPts val="1476"/>
              </a:lnSpc>
              <a:spcAft>
                <a:spcPts val="0"/>
              </a:spcAft>
            </a:pPr>
            <a:r>
              <a:rPr sz="1050">
                <a:solidFill>
                  <a:srgbClr val="7D8A99"/>
                </a:solidFill>
                <a:latin typeface="Consolas"/>
              </a:rPr>
              <a:t># base64 -d on either value returns the plaintext.</a:t>
            </a:r>
          </a:p>
          <a:p>
            <a:pPr>
              <a:lnSpc>
                <a:spcPts val="1476"/>
              </a:lnSpc>
              <a:spcAft>
                <a:spcPts val="0"/>
              </a:spcAft>
            </a:pPr>
            <a:r>
              <a:rPr sz="1050">
                <a:solidFill>
                  <a:srgbClr val="7D8A99"/>
                </a:solidFill>
                <a:latin typeface="Consolas"/>
              </a:rPr>
              <a:t># There is no key, no passphrase and no cipher here.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data is base64, always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API server rejects data values that are not valid base64. That is an encoding rule, not a security control.</a:t>
            </a:r>
          </a:p>
        </p:txBody>
      </p:sp>
      <p:sp>
        <p:nvSpPr>
          <p:cNvPr id="15" name="Oval 14"/>
          <p:cNvSpPr/>
          <p:nvPr/>
        </p:nvSpPr>
        <p:spPr>
          <a:xfrm>
            <a:off x="7626096" y="3335609"/>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1732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stringData is write-only sugar</a:t>
            </a:r>
          </a:p>
        </p:txBody>
      </p:sp>
      <p:sp>
        <p:nvSpPr>
          <p:cNvPr id="17" name="TextBox 16"/>
          <p:cNvSpPr txBox="1"/>
          <p:nvPr/>
        </p:nvSpPr>
        <p:spPr>
          <a:xfrm>
            <a:off x="7973567" y="353411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You supply plaintext; the API server encodes it and merges it into data. Read the object back and stringData is gone.</a:t>
            </a:r>
          </a:p>
        </p:txBody>
      </p:sp>
      <p:sp>
        <p:nvSpPr>
          <p:cNvPr id="18" name="Oval 17"/>
          <p:cNvSpPr/>
          <p:nvPr/>
        </p:nvSpPr>
        <p:spPr>
          <a:xfrm>
            <a:off x="7626096" y="4131152"/>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11286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type carries required keys</a:t>
            </a:r>
          </a:p>
        </p:txBody>
      </p:sp>
      <p:sp>
        <p:nvSpPr>
          <p:cNvPr id="20" name="TextBox 19"/>
          <p:cNvSpPr txBox="1"/>
          <p:nvPr/>
        </p:nvSpPr>
        <p:spPr>
          <a:xfrm>
            <a:off x="7973567" y="432965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Opaque means no constraints. kubernetes.io/tls demands tls.crt and tls.key, and is validated.</a:t>
            </a:r>
          </a:p>
        </p:txBody>
      </p:sp>
      <p:sp>
        <p:nvSpPr>
          <p:cNvPr id="21" name="Oval 20"/>
          <p:cNvSpPr/>
          <p:nvPr/>
        </p:nvSpPr>
        <p:spPr>
          <a:xfrm>
            <a:off x="7626096" y="47729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546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immutable: true is one-way</a:t>
            </a:r>
          </a:p>
        </p:txBody>
      </p:sp>
      <p:sp>
        <p:nvSpPr>
          <p:cNvPr id="23" name="TextBox 22"/>
          <p:cNvSpPr txBox="1"/>
          <p:nvPr/>
        </p:nvSpPr>
        <p:spPr>
          <a:xfrm>
            <a:off x="7973567" y="49714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blocks updates, reduces kubelet watch load, and can only be undone by deleting the object.</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Committing this file is the risk</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Anyone with repository access has the credential. This is why the lab generates its Secret rather than shipping it.</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kubernetes.io/docs/concepts/configuration/secret/ · courseware/labs/lab-15-secrets-configmaps/verification/expected-output.md</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335</a:t>
            </a:r>
          </a:p>
        </p:txBody>
      </p:sp>
    </p:spTree>
  </p:cSld>
  <p:clrMapOvr>
    <a:masterClrMapping/>
  </p:clrMapOvr>
  <p:transition xmlns:ns1="http://schemas.openxmlformats.org/markup-compatibility/2006" spd="fast" ns1:Ignorable="p14">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one-line disproof of 'Kubernetes encrypts Secrets'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Learners should perform this themselves once. It permanently changes how they treat Secrets.</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15 — demonstrated, not asserted</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secret booking-credentials -n kcna-lab15 \</a:t>
            </a:r>
          </a:p>
          <a:p>
            <a:pPr>
              <a:lnSpc>
                <a:spcPts val="1476"/>
              </a:lnSpc>
              <a:spcAft>
                <a:spcPts val="0"/>
              </a:spcAft>
            </a:pPr>
            <a:r>
              <a:rPr sz="1000">
                <a:solidFill>
                  <a:srgbClr val="E6EDF3"/>
                </a:solidFill>
                <a:latin typeface="Consolas"/>
              </a:rPr>
              <a:t>    -o jsonpath='{.data.BOOKING_DB_PASSWORD}' | base64 -d</a:t>
            </a:r>
          </a:p>
          <a:p>
            <a:pPr>
              <a:lnSpc>
                <a:spcPts val="1476"/>
              </a:lnSpc>
              <a:spcAft>
                <a:spcPts val="0"/>
              </a:spcAft>
            </a:pPr>
            <a:r>
              <a:rPr sz="1000">
                <a:solidFill>
                  <a:srgbClr val="E6EDF3"/>
                </a:solidFill>
                <a:latin typeface="Consolas"/>
              </a:rPr>
              <a:t>DUMMY-not-a-real-password-change-me</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describe only LOOKS protective:</a:t>
            </a:r>
          </a:p>
          <a:p>
            <a:pPr>
              <a:lnSpc>
                <a:spcPts val="1476"/>
              </a:lnSpc>
              <a:spcAft>
                <a:spcPts val="0"/>
              </a:spcAft>
            </a:pPr>
            <a:r>
              <a:rPr sz="1000">
                <a:solidFill>
                  <a:srgbClr val="7EE787"/>
                </a:solidFill>
                <a:latin typeface="Consolas"/>
              </a:rPr>
              <a:t>$ kubectl describe secret booking-credentials -n kcna-lab15</a:t>
            </a:r>
          </a:p>
          <a:p>
            <a:pPr>
              <a:lnSpc>
                <a:spcPts val="1476"/>
              </a:lnSpc>
              <a:spcAft>
                <a:spcPts val="0"/>
              </a:spcAft>
            </a:pPr>
            <a:r>
              <a:rPr sz="1000">
                <a:solidFill>
                  <a:srgbClr val="E6EDF3"/>
                </a:solidFill>
                <a:latin typeface="Consolas"/>
              </a:rPr>
              <a:t>Data</a:t>
            </a:r>
          </a:p>
          <a:p>
            <a:pPr>
              <a:lnSpc>
                <a:spcPts val="1476"/>
              </a:lnSpc>
              <a:spcAft>
                <a:spcPts val="0"/>
              </a:spcAft>
            </a:pPr>
            <a:r>
              <a:rPr sz="1000">
                <a:solidFill>
                  <a:srgbClr val="E6EDF3"/>
                </a:solidFill>
                <a:latin typeface="Consolas"/>
              </a:rPr>
              <a:t>====</a:t>
            </a:r>
          </a:p>
          <a:p>
            <a:pPr>
              <a:lnSpc>
                <a:spcPts val="1476"/>
              </a:lnSpc>
              <a:spcAft>
                <a:spcPts val="0"/>
              </a:spcAft>
            </a:pPr>
            <a:r>
              <a:rPr sz="1000">
                <a:solidFill>
                  <a:srgbClr val="E6EDF3"/>
                </a:solidFill>
                <a:latin typeface="Consolas"/>
              </a:rPr>
              <a:t>BOOKING_DB_PASSWORD:  35 bytes</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And on this cluster, at rest:</a:t>
            </a:r>
          </a:p>
          <a:p>
            <a:pPr>
              <a:lnSpc>
                <a:spcPts val="1476"/>
              </a:lnSpc>
              <a:spcAft>
                <a:spcPts val="0"/>
              </a:spcAft>
            </a:pPr>
            <a:r>
              <a:rPr sz="1000">
                <a:solidFill>
                  <a:srgbClr val="7EE787"/>
                </a:solidFill>
                <a:latin typeface="Consolas"/>
              </a:rPr>
              <a:t>$ kubectl get pod -n kube-system -l component=kube-apiserver \</a:t>
            </a:r>
          </a:p>
          <a:p>
            <a:pPr>
              <a:lnSpc>
                <a:spcPts val="1476"/>
              </a:lnSpc>
              <a:spcAft>
                <a:spcPts val="0"/>
              </a:spcAft>
            </a:pPr>
            <a:r>
              <a:rPr sz="1000">
                <a:solidFill>
                  <a:srgbClr val="E6EDF3"/>
                </a:solidFill>
                <a:latin typeface="Consolas"/>
              </a:rPr>
              <a:t>    -o jsonpath='{...spec.containers[0].command}' \</a:t>
            </a:r>
          </a:p>
          <a:p>
            <a:pPr>
              <a:lnSpc>
                <a:spcPts val="1476"/>
              </a:lnSpc>
              <a:spcAft>
                <a:spcPts val="0"/>
              </a:spcAft>
            </a:pPr>
            <a:r>
              <a:rPr sz="1000">
                <a:solidFill>
                  <a:srgbClr val="E6EDF3"/>
                </a:solidFill>
                <a:latin typeface="Consolas"/>
              </a:rPr>
              <a:t>    | grep -i encryption-provider \</a:t>
            </a:r>
          </a:p>
          <a:p>
            <a:pPr>
              <a:lnSpc>
                <a:spcPts val="1476"/>
              </a:lnSpc>
              <a:spcAft>
                <a:spcPts val="0"/>
              </a:spcAft>
            </a:pPr>
            <a:r>
              <a:rPr sz="1000">
                <a:solidFill>
                  <a:srgbClr val="E6EDF3"/>
                </a:solidFill>
                <a:latin typeface="Consolas"/>
              </a:rPr>
              <a:t>    || echo "NOT SET -&gt; plaintext in etcd"</a:t>
            </a:r>
          </a:p>
          <a:p>
            <a:pPr>
              <a:lnSpc>
                <a:spcPts val="1476"/>
              </a:lnSpc>
              <a:spcAft>
                <a:spcPts val="0"/>
              </a:spcAft>
            </a:pPr>
            <a:r>
              <a:rPr sz="1000">
                <a:solidFill>
                  <a:srgbClr val="E6EDF3"/>
                </a:solidFill>
                <a:latin typeface="Consolas"/>
              </a:rPr>
              <a:t>NOT SET -&gt; plaintext in etcd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 key was required</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 password, no passphrase, no privileged operation. Only the RBAC verb get on secrets.</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describe masks, it does not protect</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Printing a byte count is a display convenience. The value is one jsonpath away.</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base64 is an encoding</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exists so binary values survive YAML and JSON. It has never been a confidentiality mechanism.</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Check your own cluster</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 --encryption-provider-config means Secret values sit in etcd in plaintext.</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real control is RBAC</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Who holds get and list on secrets is the question that actually protects them.</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courseware/labs/lab-15-secrets-configmaps/verification/expected-output.md</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336</a:t>
            </a:r>
          </a:p>
        </p:txBody>
      </p:sp>
    </p:spTree>
  </p:cSld>
  <p:clrMapOvr>
    <a:masterClrMapping/>
  </p:clrMapOvr>
  <p:transition xmlns:ns1="http://schemas.openxmlformats.org/markup-compatibility/2006" spd="fast" ns1:Ignorable="p14">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MITIGATIONS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actually protects a Secret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controls. Note that not one of them is 'because it is a Secret object rather than a ConfigMap'.</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RBAC first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Restrict get, list and watch on secrets. list is the dangerous one — it returns every value in scope.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Encryption at rest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EncryptionConfiguration on the API server, ideally with a KMS provider so the key lives outside the cluster.</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 secret stores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Vault, cloud secret managers or the Secrets Store CSI driver keep the material outside etcd entirely.</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Never commit Secrets to git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you must, use sealed/encrypted forms so the repository never holds recoverable plaintext.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Prefer volumes over environment variables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Env values are frozen at start, visible in /proc/&lt;pid&gt;/environ and often captured by crash dumps and logs.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Reduce who has a token at all</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automountServiceAccountToken: false removes an entire class of credential-theft path.</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kubernetes.io/docs/concepts/configuration/secret/ · kubernetes.io/docs/tasks/administer-cluster/encrypt-data/</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337</a:t>
            </a:r>
          </a:p>
        </p:txBody>
      </p:sp>
    </p:spTree>
  </p:cSld>
  <p:clrMapOvr>
    <a:masterClrMapping/>
  </p:clrMapOvr>
  <p:transition xmlns:ns1="http://schemas.openxmlformats.org/markup-compatibility/2006" spd="fast" ns1:Ignorable="p14">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INJECTION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Mounting Secrets inside Pods — three routes, three behaviours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Mounting Secrets inside Pods is a registered outline item. The route you pick decides whether rotation works.</a:t>
            </a:r>
          </a:p>
        </p:txBody>
      </p:sp>
      <p:sp>
        <p:nvSpPr>
          <p:cNvPr id="7" name="Rectangle 6"/>
          <p:cNvSpPr/>
          <p:nvPr/>
        </p:nvSpPr>
        <p:spPr>
          <a:xfrm>
            <a:off x="777240" y="2200046"/>
            <a:ext cx="2540888"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284856"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Route</a:t>
            </a:r>
          </a:p>
        </p:txBody>
      </p:sp>
      <p:sp>
        <p:nvSpPr>
          <p:cNvPr id="9" name="Rectangle 8"/>
          <p:cNvSpPr/>
          <p:nvPr/>
        </p:nvSpPr>
        <p:spPr>
          <a:xfrm>
            <a:off x="3318128" y="2200046"/>
            <a:ext cx="4546853"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446145" y="2300630"/>
            <a:ext cx="429082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How it behaves</a:t>
            </a:r>
          </a:p>
        </p:txBody>
      </p:sp>
      <p:sp>
        <p:nvSpPr>
          <p:cNvPr id="11" name="Rectangle 10"/>
          <p:cNvSpPr/>
          <p:nvPr/>
        </p:nvSpPr>
        <p:spPr>
          <a:xfrm>
            <a:off x="7864982" y="2200046"/>
            <a:ext cx="3610737"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7992998" y="2300630"/>
            <a:ext cx="3354705"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When to use it</a:t>
            </a:r>
          </a:p>
        </p:txBody>
      </p:sp>
      <p:sp>
        <p:nvSpPr>
          <p:cNvPr id="13" name="Rectangle 12"/>
          <p:cNvSpPr/>
          <p:nvPr/>
        </p:nvSpPr>
        <p:spPr>
          <a:xfrm>
            <a:off x="777240" y="2620670"/>
            <a:ext cx="2540888"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284856"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env / envFrom</a:t>
            </a:r>
          </a:p>
        </p:txBody>
      </p:sp>
      <p:sp>
        <p:nvSpPr>
          <p:cNvPr id="15" name="Rectangle 14"/>
          <p:cNvSpPr/>
          <p:nvPr/>
        </p:nvSpPr>
        <p:spPr>
          <a:xfrm>
            <a:off x="3318128" y="2620670"/>
            <a:ext cx="4546853"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3446145" y="2702966"/>
            <a:ext cx="429082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Frozen at container start; visible in /proc/&lt;pid&gt;/environ and in any process listing that dumps the environment</a:t>
            </a:r>
          </a:p>
        </p:txBody>
      </p:sp>
      <p:sp>
        <p:nvSpPr>
          <p:cNvPr id="17" name="Rectangle 16"/>
          <p:cNvSpPr/>
          <p:nvPr/>
        </p:nvSpPr>
        <p:spPr>
          <a:xfrm>
            <a:off x="7864982" y="2620670"/>
            <a:ext cx="3610737"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7992998" y="2702966"/>
            <a:ext cx="335470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Legacy apps that only read environment variables</a:t>
            </a:r>
          </a:p>
        </p:txBody>
      </p:sp>
      <p:sp>
        <p:nvSpPr>
          <p:cNvPr id="19" name="Rectangle 18"/>
          <p:cNvSpPr/>
          <p:nvPr/>
        </p:nvSpPr>
        <p:spPr>
          <a:xfrm>
            <a:off x="777240" y="3171870"/>
            <a:ext cx="2540888"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284856"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Volume (directory mount)</a:t>
            </a:r>
          </a:p>
        </p:txBody>
      </p:sp>
      <p:sp>
        <p:nvSpPr>
          <p:cNvPr id="21" name="Rectangle 20"/>
          <p:cNvSpPr/>
          <p:nvPr/>
        </p:nvSpPr>
        <p:spPr>
          <a:xfrm>
            <a:off x="3318128" y="3171870"/>
            <a:ext cx="4546853"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3446145" y="3254166"/>
            <a:ext cx="429082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file per key; kubelet refreshes the files after a change, within about one sync period</a:t>
            </a:r>
          </a:p>
        </p:txBody>
      </p:sp>
      <p:sp>
        <p:nvSpPr>
          <p:cNvPr id="23" name="Rectangle 22"/>
          <p:cNvSpPr/>
          <p:nvPr/>
        </p:nvSpPr>
        <p:spPr>
          <a:xfrm>
            <a:off x="7864982" y="3171870"/>
            <a:ext cx="3610737"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7992998" y="3254166"/>
            <a:ext cx="335470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default choice — supports rotation without a restart</a:t>
            </a:r>
          </a:p>
        </p:txBody>
      </p:sp>
      <p:sp>
        <p:nvSpPr>
          <p:cNvPr id="25" name="Rectangle 24"/>
          <p:cNvSpPr/>
          <p:nvPr/>
        </p:nvSpPr>
        <p:spPr>
          <a:xfrm>
            <a:off x="777240" y="3723071"/>
            <a:ext cx="2540888"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284856"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Volume with subPath</a:t>
            </a:r>
          </a:p>
        </p:txBody>
      </p:sp>
      <p:sp>
        <p:nvSpPr>
          <p:cNvPr id="27" name="Rectangle 26"/>
          <p:cNvSpPr/>
          <p:nvPr/>
        </p:nvSpPr>
        <p:spPr>
          <a:xfrm>
            <a:off x="3318128" y="3723071"/>
            <a:ext cx="4546853"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3446145" y="3805367"/>
            <a:ext cx="429082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point-in-time copy of one file; it NEVER updates for the life of the container</a:t>
            </a:r>
          </a:p>
        </p:txBody>
      </p:sp>
      <p:sp>
        <p:nvSpPr>
          <p:cNvPr id="29" name="Rectangle 28"/>
          <p:cNvSpPr/>
          <p:nvPr/>
        </p:nvSpPr>
        <p:spPr>
          <a:xfrm>
            <a:off x="7864982" y="3723071"/>
            <a:ext cx="3610737"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7992998" y="3805367"/>
            <a:ext cx="335470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Only when a single file must land beside unrelated content</a:t>
            </a:r>
          </a:p>
        </p:txBody>
      </p:sp>
      <p:sp>
        <p:nvSpPr>
          <p:cNvPr id="31" name="Rectangle 30"/>
          <p:cNvSpPr/>
          <p:nvPr/>
        </p:nvSpPr>
        <p:spPr>
          <a:xfrm>
            <a:off x="777240" y="4274271"/>
            <a:ext cx="2540888"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284856"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Projected volume</a:t>
            </a:r>
          </a:p>
        </p:txBody>
      </p:sp>
      <p:sp>
        <p:nvSpPr>
          <p:cNvPr id="33" name="Rectangle 32"/>
          <p:cNvSpPr/>
          <p:nvPr/>
        </p:nvSpPr>
        <p:spPr>
          <a:xfrm>
            <a:off x="3318128" y="4274271"/>
            <a:ext cx="4546853"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3446145" y="4356567"/>
            <a:ext cx="429082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Combines Secret, ConfigMap, downwardAPI and token sources into one directory</a:t>
            </a:r>
          </a:p>
        </p:txBody>
      </p:sp>
      <p:sp>
        <p:nvSpPr>
          <p:cNvPr id="35" name="Rectangle 34"/>
          <p:cNvSpPr/>
          <p:nvPr/>
        </p:nvSpPr>
        <p:spPr>
          <a:xfrm>
            <a:off x="7864982" y="4274271"/>
            <a:ext cx="3610737"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7992998" y="4356567"/>
            <a:ext cx="335470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Service account tokens, and bundling related material</a:t>
            </a:r>
          </a:p>
        </p:txBody>
      </p:sp>
      <p:sp>
        <p:nvSpPr>
          <p:cNvPr id="37" name="Rectangle 36"/>
          <p:cNvSpPr/>
          <p:nvPr/>
        </p:nvSpPr>
        <p:spPr>
          <a:xfrm>
            <a:off x="777240" y="4825471"/>
            <a:ext cx="2540888"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284856"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imagePullSecrets</a:t>
            </a:r>
          </a:p>
        </p:txBody>
      </p:sp>
      <p:sp>
        <p:nvSpPr>
          <p:cNvPr id="39" name="Rectangle 38"/>
          <p:cNvSpPr/>
          <p:nvPr/>
        </p:nvSpPr>
        <p:spPr>
          <a:xfrm>
            <a:off x="3318128" y="4825471"/>
            <a:ext cx="4546853"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3446145" y="4907767"/>
            <a:ext cx="4290821"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Consumed by kubelet to authenticate to a registry; never exposed to the container</a:t>
            </a:r>
          </a:p>
        </p:txBody>
      </p:sp>
      <p:sp>
        <p:nvSpPr>
          <p:cNvPr id="41" name="Rectangle 40"/>
          <p:cNvSpPr/>
          <p:nvPr/>
        </p:nvSpPr>
        <p:spPr>
          <a:xfrm>
            <a:off x="7864982" y="4825471"/>
            <a:ext cx="3610737"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7992998" y="4907767"/>
            <a:ext cx="3354705"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Private image registries</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Volume mount by default; env only for applications that leave you no choice; never subPath for anything that rotates.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kubernetes.io/docs/concepts/configuration/secret/ · courseware/labs/lab-15-secrets-configmaps/verification/expected-output.md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338</a:t>
            </a:r>
          </a:p>
        </p:txBody>
      </p:sp>
    </p:spTree>
  </p:cSld>
  <p:clrMapOvr>
    <a:masterClrMapping/>
  </p:clrMapOvr>
  <p:transition xmlns:ns1="http://schemas.openxmlformats.org/markup-compatibility/2006" spd="fast" ns1:Ignorable="p14">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ENCRYPTION AT REST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Secret values stop being plaintext in etcd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control-plane configuration, not an object you can create with kubectl.</a:t>
            </a:r>
          </a:p>
        </p:txBody>
      </p:sp>
      <p:sp>
        <p:nvSpPr>
          <p:cNvPr id="7" name="Rounded Rectangle 6"/>
          <p:cNvSpPr/>
          <p:nvPr/>
        </p:nvSpPr>
        <p:spPr>
          <a:xfrm>
            <a:off x="7772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Write an EncryptionConfiguration</a:t>
            </a:r>
          </a:p>
        </p:txBody>
      </p:sp>
      <p:sp>
        <p:nvSpPr>
          <p:cNvPr id="11" name="TextBox 10"/>
          <p:cNvSpPr txBox="1"/>
          <p:nvPr/>
        </p:nvSpPr>
        <p:spPr>
          <a:xfrm>
            <a:off x="9235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file listing resources (typically secrets) and an ordered list of providers.</a:t>
            </a:r>
          </a:p>
        </p:txBody>
      </p:sp>
      <p:cxnSp>
        <p:nvCxnSpPr>
          <p:cNvPr id="12" name="Connector 11"/>
          <p:cNvCxnSpPr/>
          <p:nvPr/>
        </p:nvCxnSpPr>
        <p:spPr>
          <a:xfrm>
            <a:off x="271393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09448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Point the API server at it</a:t>
            </a:r>
          </a:p>
        </p:txBody>
      </p:sp>
      <p:sp>
        <p:nvSpPr>
          <p:cNvPr id="17" name="TextBox 16"/>
          <p:cNvSpPr txBox="1"/>
          <p:nvPr/>
        </p:nvSpPr>
        <p:spPr>
          <a:xfrm>
            <a:off x="312541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--encryption-provider-config. The first provider in the list is the one used to ENCRYPT.</a:t>
            </a:r>
          </a:p>
        </p:txBody>
      </p:sp>
      <p:cxnSp>
        <p:nvCxnSpPr>
          <p:cNvPr id="18" name="Connector 17"/>
          <p:cNvCxnSpPr/>
          <p:nvPr/>
        </p:nvCxnSpPr>
        <p:spPr>
          <a:xfrm>
            <a:off x="491581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09448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New writes are encrypted</a:t>
            </a:r>
          </a:p>
        </p:txBody>
      </p:sp>
      <p:sp>
        <p:nvSpPr>
          <p:cNvPr id="23" name="TextBox 22"/>
          <p:cNvSpPr txBox="1"/>
          <p:nvPr/>
        </p:nvSpPr>
        <p:spPr>
          <a:xfrm>
            <a:off x="532729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Every create or update of a Secret is encrypted on its way into etcd.</a:t>
            </a:r>
          </a:p>
        </p:txBody>
      </p:sp>
      <p:cxnSp>
        <p:nvCxnSpPr>
          <p:cNvPr id="24" name="Connector 23"/>
          <p:cNvCxnSpPr/>
          <p:nvPr/>
        </p:nvCxnSpPr>
        <p:spPr>
          <a:xfrm>
            <a:off x="711768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09448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Existing objects are not</a:t>
            </a:r>
          </a:p>
        </p:txBody>
      </p:sp>
      <p:sp>
        <p:nvSpPr>
          <p:cNvPr id="29" name="TextBox 28"/>
          <p:cNvSpPr txBox="1"/>
          <p:nvPr/>
        </p:nvSpPr>
        <p:spPr>
          <a:xfrm>
            <a:off x="752916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They stay as they were until rewritten — commonly forced with a read-and-replace of every Secret.</a:t>
            </a:r>
          </a:p>
        </p:txBody>
      </p:sp>
      <p:cxnSp>
        <p:nvCxnSpPr>
          <p:cNvPr id="30" name="Connector 29"/>
          <p:cNvCxnSpPr/>
          <p:nvPr/>
        </p:nvCxnSpPr>
        <p:spPr>
          <a:xfrm>
            <a:off x="931956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Decryption tries each provider</a:t>
            </a:r>
          </a:p>
        </p:txBody>
      </p:sp>
      <p:sp>
        <p:nvSpPr>
          <p:cNvPr id="35" name="TextBox 34"/>
          <p:cNvSpPr txBox="1"/>
          <p:nvPr/>
        </p:nvSpPr>
        <p:spPr>
          <a:xfrm>
            <a:off x="97310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All listed providers are available for reading, which is what makes key rotation possible.</a:t>
            </a:r>
          </a:p>
        </p:txBody>
      </p:sp>
      <p:sp>
        <p:nvSpPr>
          <p:cNvPr id="36" name="Rectangle 35"/>
          <p:cNvSpPr/>
          <p:nvPr/>
        </p:nvSpPr>
        <p:spPr>
          <a:xfrm>
            <a:off x="777240" y="478830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78830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87060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09920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With a KMS provider the key material lives outside the cluster, so an etcd backup on its own is no longer enough to recover Secret values.</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kubernetes.io/docs/tasks/administer-cluster/encrypt-data/</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339</a:t>
            </a:r>
          </a:p>
        </p:txBody>
      </p:sp>
    </p:spTree>
  </p:cSld>
  <p:clrMapOvr>
    <a:masterClrMapping/>
  </p:clrMapOvr>
  <p:transition xmlns:ns5="http://schemas.openxmlformats.org/markup-compatibility/2006" spd="fast" ns5:Ignorable="p14">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key that does not exist — CreateContainerConfigError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Configuration references are resolved late. That is why this class of bug survives every static check.</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Pod is admitted, scheduled and then never starts. Neither apply nor any static validator saw the problem.</a:t>
            </a:r>
          </a:p>
        </p:txBody>
      </p:sp>
      <p:sp>
        <p:nvSpPr>
          <p:cNvPr id="11" name="Rectangle 10"/>
          <p:cNvSpPr/>
          <p:nvPr/>
        </p:nvSpPr>
        <p:spPr>
          <a:xfrm>
            <a:off x="777240" y="2913278"/>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manifests/50-pod-broken-key.yaml</a:t>
            </a:r>
          </a:p>
          <a:p>
            <a:pPr>
              <a:lnSpc>
                <a:spcPts val="1476"/>
              </a:lnSpc>
              <a:spcAft>
                <a:spcPts val="0"/>
              </a:spcAft>
            </a:pPr>
            <a:r>
              <a:rPr sz="950">
                <a:solidFill>
                  <a:srgbClr val="E6EDF3"/>
                </a:solidFill>
                <a:latin typeface="Consolas"/>
              </a:rPr>
              <a:t>pod/broken-key-consumer created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 broken-key-consumer -n kcna-lab15</a:t>
            </a:r>
          </a:p>
          <a:p>
            <a:pPr>
              <a:lnSpc>
                <a:spcPts val="1476"/>
              </a:lnSpc>
              <a:spcAft>
                <a:spcPts val="0"/>
              </a:spcAft>
            </a:pPr>
            <a:r>
              <a:rPr sz="950">
                <a:solidFill>
                  <a:srgbClr val="E6EDF3"/>
                </a:solidFill>
                <a:latin typeface="Consolas"/>
              </a:rPr>
              <a:t>NAME                  READY  STATUS</a:t>
            </a:r>
          </a:p>
          <a:p>
            <a:pPr>
              <a:lnSpc>
                <a:spcPts val="1476"/>
              </a:lnSpc>
              <a:spcAft>
                <a:spcPts val="0"/>
              </a:spcAft>
            </a:pPr>
            <a:r>
              <a:rPr sz="950">
                <a:solidFill>
                  <a:srgbClr val="E6EDF3"/>
                </a:solidFill>
                <a:latin typeface="Consolas"/>
              </a:rPr>
              <a:t>broken-key-consumer   0/1    CreateContainerConfigError</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describe pod broken-key-consumer -n kcna-lab15</a:t>
            </a:r>
          </a:p>
          <a:p>
            <a:pPr>
              <a:lnSpc>
                <a:spcPts val="1476"/>
              </a:lnSpc>
              <a:spcAft>
                <a:spcPts val="0"/>
              </a:spcAft>
            </a:pPr>
            <a:r>
              <a:rPr sz="950">
                <a:solidFill>
                  <a:srgbClr val="E6EDF3"/>
                </a:solidFill>
                <a:latin typeface="Consolas"/>
              </a:rPr>
              <a:t>Warning  Failed  10s (x3 over 24s)  kubelet</a:t>
            </a:r>
          </a:p>
          <a:p>
            <a:pPr>
              <a:lnSpc>
                <a:spcPts val="1476"/>
              </a:lnSpc>
              <a:spcAft>
                <a:spcPts val="0"/>
              </a:spcAft>
            </a:pPr>
            <a:r>
              <a:rPr sz="950">
                <a:solidFill>
                  <a:srgbClr val="E6EDF3"/>
                </a:solidFill>
                <a:latin typeface="Consolas"/>
              </a:rPr>
              <a:t>  Error: couldn't find key APP_TIER in ConfigMap</a:t>
            </a:r>
          </a:p>
          <a:p>
            <a:pPr>
              <a:lnSpc>
                <a:spcPts val="1476"/>
              </a:lnSpc>
              <a:spcAft>
                <a:spcPts val="0"/>
              </a:spcAft>
            </a:pPr>
            <a:r>
              <a:rPr sz="950">
                <a:solidFill>
                  <a:srgbClr val="E6EDF3"/>
                </a:solidFill>
                <a:latin typeface="Consolas"/>
              </a:rPr>
              <a:t>  kcna-lab15/booking-app-config</a:t>
            </a:r>
          </a:p>
        </p:txBody>
      </p:sp>
      <p:sp>
        <p:nvSpPr>
          <p:cNvPr id="14" name="Rectangle 13"/>
          <p:cNvSpPr/>
          <p:nvPr/>
        </p:nvSpPr>
        <p:spPr>
          <a:xfrm>
            <a:off x="7205472" y="2913278"/>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configMapKeyRef names a key that is not in the object</a:t>
            </a:r>
          </a:p>
          <a:p>
            <a:pPr>
              <a:lnSpc>
                <a:spcPct val="112000"/>
              </a:lnSpc>
              <a:spcAft>
                <a:spcPts val="200"/>
              </a:spcAft>
            </a:pPr>
            <a:r>
              <a:rPr sz="950">
                <a:solidFill>
                  <a:srgbClr val="94A3B8"/>
                </a:solidFill>
                <a:latin typeface="Arial"/>
              </a:rPr>
              <a:t>•  </a:t>
            </a:r>
            <a:r>
              <a:rPr sz="950">
                <a:solidFill>
                  <a:srgbClr val="5B6372"/>
                </a:solidFill>
                <a:latin typeface="Arial"/>
              </a:rPr>
              <a:t>The reference is resolved by kubelet at container-creation time — long after admission has already accepted the Pod</a:t>
            </a:r>
          </a:p>
          <a:p>
            <a:pPr>
              <a:lnSpc>
                <a:spcPct val="112000"/>
              </a:lnSpc>
              <a:spcAft>
                <a:spcPts val="200"/>
              </a:spcAft>
            </a:pPr>
            <a:r>
              <a:rPr sz="950">
                <a:solidFill>
                  <a:srgbClr val="94A3B8"/>
                </a:solidFill>
                <a:latin typeface="Arial"/>
              </a:rPr>
              <a:t>•  </a:t>
            </a:r>
            <a:r>
              <a:rPr sz="950">
                <a:solidFill>
                  <a:srgbClr val="5B6372"/>
                </a:solidFill>
                <a:latin typeface="Arial"/>
              </a:rPr>
              <a:t>The same failure occurs for a missing secretKeyRef key, and for a missing ConfigMap or Secret entirely</a:t>
            </a:r>
          </a:p>
        </p:txBody>
      </p:sp>
      <p:sp>
        <p:nvSpPr>
          <p:cNvPr id="18" name="Rectangle 17"/>
          <p:cNvSpPr/>
          <p:nvPr/>
        </p:nvSpPr>
        <p:spPr>
          <a:xfrm>
            <a:off x="7205472" y="4376521"/>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376521"/>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413097"/>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723993"/>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Correct the key name, or set optional: true if absence is genuinely acceptable</a:t>
            </a:r>
          </a:p>
          <a:p>
            <a:pPr>
              <a:lnSpc>
                <a:spcPct val="112000"/>
              </a:lnSpc>
              <a:spcAft>
                <a:spcPts val="200"/>
              </a:spcAft>
            </a:pPr>
            <a:r>
              <a:rPr sz="950">
                <a:solidFill>
                  <a:srgbClr val="94A3B8"/>
                </a:solidFill>
                <a:latin typeface="Arial"/>
              </a:rPr>
              <a:t>•  </a:t>
            </a:r>
            <a:r>
              <a:rPr sz="950">
                <a:solidFill>
                  <a:srgbClr val="5B6372"/>
                </a:solidFill>
                <a:latin typeface="Arial"/>
              </a:rPr>
              <a:t>Read the event text — it names the exact key and the exact object</a:t>
            </a:r>
          </a:p>
          <a:p>
            <a:pPr>
              <a:lnSpc>
                <a:spcPct val="112000"/>
              </a:lnSpc>
              <a:spcAft>
                <a:spcPts val="200"/>
              </a:spcAft>
            </a:pPr>
            <a:r>
              <a:rPr sz="950">
                <a:solidFill>
                  <a:srgbClr val="94A3B8"/>
                </a:solidFill>
                <a:latin typeface="Arial"/>
              </a:rPr>
              <a:t>•  </a:t>
            </a:r>
            <a:r>
              <a:rPr sz="950">
                <a:solidFill>
                  <a:srgbClr val="5B6372"/>
                </a:solidFill>
                <a:latin typeface="Arial"/>
              </a:rPr>
              <a:t>Distinguish this from CreateContainerError (runtime refused) and ImagePullBackOff (registry problem)</a:t>
            </a:r>
          </a:p>
        </p:txBody>
      </p:sp>
      <p:sp>
        <p:nvSpPr>
          <p:cNvPr id="22" name="Rectangle 21"/>
          <p:cNvSpPr/>
          <p:nvPr/>
        </p:nvSpPr>
        <p:spPr>
          <a:xfrm>
            <a:off x="777240" y="5688482"/>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798210"/>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kubectl get pod shows Running 1/1 and the event no longer recurs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courseware/labs/lab-15-secrets-configmaps/verification/expected-output.md</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340</a:t>
            </a:r>
          </a:p>
        </p:txBody>
      </p:sp>
    </p:spTree>
  </p:cSld>
  <p:clrMapOvr>
    <a:masterClrMapping/>
  </p:clrMapOvr>
  <p:transition xmlns:ns1="http://schemas.openxmlformats.org/markup-compatibility/2006" spd="fast" ns1:Ignorable="p14">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Secret types and limits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reference rows. The type field is not cosmetic — it is validated and consumed by other controllers.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Opaque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default. Arbitrary keys, no validation</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kubernetes.io/tls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Requires exactly tls.crt and tls.key — used by Ingress</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kubernetes.io/dockerconfigjson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Registry credentials for imagePullSecrets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kubernetes.io/basic-auth</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username and password keys</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kubernetes.io/ssh-auth</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ssh-privatekey key</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kubernetes.io/service-account-token</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Legacy long-lived token; projected tokens are preferred</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bootstrap.kubernetes.io/token</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Node bootstrap tokens in kube-system</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Size limit</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Roughly 1 MiB per object, as for ConfigMap</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immutable: true</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Blocks updates and reduces kubelet watch load; irreversible</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Node-scoped delivery</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kubelet only receives Secrets used by Pods scheduled to that node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kubernetes.io/docs/concepts/configuration/secret/</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341</a:t>
            </a:r>
          </a:p>
        </p:txBody>
      </p:sp>
    </p:spTree>
  </p:cSld>
  <p:clrMapOvr>
    <a:masterClrMapping/>
  </p:clrMapOvr>
  <p:transition xmlns:ns1="http://schemas.openxmlformats.org/markup-compatibility/2006" spd="fast" ns1:Ignorable="p14">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15 — Secrets, ConfigMaps and Safe Injection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Split the Meridian Freight booking-api configuration into ConfigMaps and a Secret, inject each by the safest route, and prove with your own hands that a Kubernetes Secret is base64-encoded rather than encrypted.</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booking-app-config ConfigMap built three ways - from-file, from-env-file and from-literal - kept byte-identical to data/app-settings.json and data/feature-flags.env</a:t>
            </a:r>
          </a:p>
          <a:p>
            <a:pPr>
              <a:lnSpc>
                <a:spcPct val="112000"/>
              </a:lnSpc>
              <a:spcAft>
                <a:spcPts val="500"/>
              </a:spcAft>
            </a:pPr>
            <a:r>
              <a:rPr sz="1050">
                <a:solidFill>
                  <a:srgbClr val="94A3B8"/>
                </a:solidFill>
                <a:latin typeface="Arial"/>
              </a:rPr>
              <a:t>•  </a:t>
            </a:r>
            <a:r>
              <a:rPr sz="1050">
                <a:solidFill>
                  <a:srgbClr val="5B6372"/>
                </a:solidFill>
                <a:latin typeface="Arial"/>
              </a:rPr>
              <a:t>A booking-credentials Secret generated from data/dummy-credentials.env and deliberately never committed as a manifest, decoded live with base64 -d</a:t>
            </a:r>
          </a:p>
          <a:p>
            <a:pPr>
              <a:lnSpc>
                <a:spcPct val="112000"/>
              </a:lnSpc>
              <a:spcAft>
                <a:spcPts val="500"/>
              </a:spcAft>
            </a:pPr>
            <a:r>
              <a:rPr sz="1050">
                <a:solidFill>
                  <a:srgbClr val="94A3B8"/>
                </a:solidFill>
                <a:latin typeface="Arial"/>
              </a:rPr>
              <a:t>•  </a:t>
            </a:r>
            <a:r>
              <a:rPr sz="1050">
                <a:solidFill>
                  <a:srgbClr val="5B6372"/>
                </a:solidFill>
                <a:latin typeface="Arial"/>
              </a:rPr>
              <a:t>Two consumer Pods contrasting env injection with volume injection, including a subPath mount that provably never updates</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Secret is base64-encoded, not encrypted; RBAC, encryption at rest and external stores are the real controls</a:t>
            </a:r>
          </a:p>
          <a:p>
            <a:pPr>
              <a:lnSpc>
                <a:spcPct val="112000"/>
              </a:lnSpc>
              <a:spcAft>
                <a:spcPts val="500"/>
              </a:spcAft>
            </a:pPr>
            <a:r>
              <a:rPr sz="1050">
                <a:solidFill>
                  <a:srgbClr val="94A3B8"/>
                </a:solidFill>
                <a:latin typeface="Arial"/>
              </a:rPr>
              <a:t>•  </a:t>
            </a:r>
            <a:r>
              <a:rPr sz="1050">
                <a:solidFill>
                  <a:srgbClr val="5B6372"/>
                </a:solidFill>
                <a:latin typeface="Arial"/>
              </a:rPr>
              <a:t>env injection freezes values at container start and leaks through /proc/&lt;pid&gt;/environ; volume mounts update live</a:t>
            </a:r>
          </a:p>
          <a:p>
            <a:pPr>
              <a:lnSpc>
                <a:spcPct val="112000"/>
              </a:lnSpc>
              <a:spcAft>
                <a:spcPts val="500"/>
              </a:spcAft>
            </a:pPr>
            <a:r>
              <a:rPr sz="1050">
                <a:solidFill>
                  <a:srgbClr val="94A3B8"/>
                </a:solidFill>
                <a:latin typeface="Arial"/>
              </a:rPr>
              <a:t>•  </a:t>
            </a:r>
            <a:r>
              <a:rPr sz="1050">
                <a:solidFill>
                  <a:srgbClr val="5B6372"/>
                </a:solidFill>
                <a:latin typeface="Arial"/>
              </a:rPr>
              <a:t>A subPath mount is a point-in-time copy and never tracks ConfigMap changes, unlike the directory mount beside it</a:t>
            </a:r>
          </a:p>
          <a:p>
            <a:pPr>
              <a:lnSpc>
                <a:spcPct val="112000"/>
              </a:lnSpc>
              <a:spcAft>
                <a:spcPts val="500"/>
              </a:spcAft>
            </a:pPr>
            <a:r>
              <a:rPr sz="1050">
                <a:solidFill>
                  <a:srgbClr val="94A3B8"/>
                </a:solidFill>
                <a:latin typeface="Arial"/>
              </a:rPr>
              <a:t>•  </a:t>
            </a:r>
            <a:r>
              <a:rPr sz="1050">
                <a:solidFill>
                  <a:srgbClr val="5B6372"/>
                </a:solidFill>
                <a:latin typeface="Arial"/>
              </a:rPr>
              <a:t>A missing key is invisible to apply and to static validation - it surfaces as CreateContainerConfigError</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15</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kcna-lab15</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courseware/labs/lab-15-secrets-configmaps/README.md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342</a:t>
            </a:r>
          </a:p>
        </p:txBody>
      </p:sp>
    </p:spTree>
  </p:cSld>
  <p:clrMapOvr>
    <a:masterClrMapping/>
  </p:clrMapOvr>
  <p:transition xmlns:ns1="http://schemas.openxmlformats.org/markup-compatibility/2006" spd="fast" ns1:Ignorable="p14">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DEFAULT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Before any policy exists, everything is open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auditors' finding in Lab 16 is the normal state of every cluster that has never had a policy written.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Every Pod can reach every Pod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Across namespaces, across nodes, on any port the target listens on. This is the network model working as designed.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Services do not restrict anything</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ClusterIP is dialable from every Pod, and the backend Pod IPs are dialable directly as well.</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Namespaces do not restrict anything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They scope names and RBAC. They have no effect on packets whatsoever.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NetworkPolicy is the L3/L4 control</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networking.k8s.io/v1: select Pods, declare policy types, list allowed peers and ports.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API is universal; enforcement is not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server accepts your policy on any cluster. Only an enforcing CNI plugin actually applies it.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So verify enforcement, never assume it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kind's default kindnet stores NetworkPolicy objects and enforces none of them.</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kubernetes.io/docs/concepts/services-networking/network-policies/ · courseware/labs/lab-16-networkpolicy-isolation/verification/expected-output.md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343</a:t>
            </a:r>
          </a:p>
        </p:txBody>
      </p:sp>
    </p:spTree>
  </p:cSld>
  <p:clrMapOvr>
    <a:masterClrMapping/>
  </p:clrMapOvr>
  <p:transition xmlns:ns1="http://schemas.openxmlformats.org/markup-compatibility/2006" spd="fast" ns1:Ignorable="p14">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Default-deny, and one selective allow</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objects express 'nothing may talk, except this one path'. That is the whole pattern.</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40-networkpolicy-default-deny.yaml + 60-allow-frontend</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272"/>
              </a:lnSpc>
              <a:spcAft>
                <a:spcPts val="0"/>
              </a:spcAft>
            </a:pPr>
            <a:r>
              <a:rPr sz="1050">
                <a:solidFill>
                  <a:srgbClr val="7D8A99"/>
                </a:solidFill>
                <a:latin typeface="Consolas"/>
              </a:rPr>
              <a:t># A — deny everything in this namespace</a:t>
            </a:r>
          </a:p>
          <a:p>
            <a:pPr>
              <a:lnSpc>
                <a:spcPts val="1272"/>
              </a:lnSpc>
              <a:spcAft>
                <a:spcPts val="0"/>
              </a:spcAft>
            </a:pPr>
            <a:r>
              <a:rPr sz="1050">
                <a:solidFill>
                  <a:srgbClr val="E6EDF3"/>
                </a:solidFill>
                <a:latin typeface="Consolas"/>
              </a:rPr>
              <a:t>kind: NetworkPolicy</a:t>
            </a:r>
          </a:p>
          <a:p>
            <a:pPr>
              <a:lnSpc>
                <a:spcPts val="1272"/>
              </a:lnSpc>
              <a:spcAft>
                <a:spcPts val="0"/>
              </a:spcAft>
            </a:pPr>
            <a:r>
              <a:rPr sz="1050">
                <a:solidFill>
                  <a:srgbClr val="E6EDF3"/>
                </a:solidFill>
                <a:latin typeface="Consolas"/>
              </a:rPr>
              <a:t>metadata: {name: default-deny-all, namespace: kcna-lab16}</a:t>
            </a:r>
          </a:p>
          <a:p>
            <a:pPr>
              <a:lnSpc>
                <a:spcPts val="1272"/>
              </a:lnSpc>
              <a:spcAft>
                <a:spcPts val="0"/>
              </a:spcAft>
            </a:pPr>
            <a:r>
              <a:rPr sz="1050">
                <a:solidFill>
                  <a:srgbClr val="E6EDF3"/>
                </a:solidFill>
                <a:latin typeface="Consolas"/>
              </a:rPr>
              <a:t>spec:</a:t>
            </a:r>
          </a:p>
          <a:p>
            <a:pPr>
              <a:lnSpc>
                <a:spcPts val="1272"/>
              </a:lnSpc>
              <a:spcAft>
                <a:spcPts val="0"/>
              </a:spcAft>
            </a:pPr>
            <a:r>
              <a:rPr sz="1050">
                <a:solidFill>
                  <a:srgbClr val="E6EDF3"/>
                </a:solidFill>
                <a:latin typeface="Consolas"/>
              </a:rPr>
              <a:t>  podSelector: {}          # {} = ALL pods, not none</a:t>
            </a:r>
          </a:p>
          <a:p>
            <a:pPr>
              <a:lnSpc>
                <a:spcPts val="1272"/>
              </a:lnSpc>
              <a:spcAft>
                <a:spcPts val="0"/>
              </a:spcAft>
            </a:pPr>
            <a:r>
              <a:rPr sz="1050">
                <a:solidFill>
                  <a:srgbClr val="E6EDF3"/>
                </a:solidFill>
                <a:latin typeface="Consolas"/>
              </a:rPr>
              <a:t>  policyTypes: [Ingress, Egress]</a:t>
            </a:r>
          </a:p>
          <a:p>
            <a:pPr>
              <a:lnSpc>
                <a:spcPts val="1272"/>
              </a:lnSpc>
              <a:spcAft>
                <a:spcPts val="0"/>
              </a:spcAft>
            </a:pPr>
            <a:r>
              <a:rPr sz="1050">
                <a:solidFill>
                  <a:srgbClr val="7D8A99"/>
                </a:solidFill>
                <a:latin typeface="Consolas"/>
              </a:rPr>
              <a:t>  # no ingress: and no egress: rules -&gt; nothing allowed</a:t>
            </a:r>
          </a:p>
          <a:p>
            <a:pPr>
              <a:lnSpc>
                <a:spcPts val="1272"/>
              </a:lnSpc>
              <a:spcAft>
                <a:spcPts val="0"/>
              </a:spcAft>
            </a:pPr>
            <a:r>
              <a:rPr sz="1050">
                <a:solidFill>
                  <a:srgbClr val="E6EDF3"/>
                </a:solidFill>
                <a:latin typeface="Consolas"/>
              </a:rPr>
              <a:t>---</a:t>
            </a:r>
          </a:p>
          <a:p>
            <a:pPr>
              <a:lnSpc>
                <a:spcPts val="1272"/>
              </a:lnSpc>
              <a:spcAft>
                <a:spcPts val="0"/>
              </a:spcAft>
            </a:pPr>
            <a:r>
              <a:rPr sz="1050">
                <a:solidFill>
                  <a:srgbClr val="7D8A99"/>
                </a:solidFill>
                <a:latin typeface="Consolas"/>
              </a:rPr>
              <a:t># B — allow one source to one destination port</a:t>
            </a:r>
          </a:p>
          <a:p>
            <a:pPr>
              <a:lnSpc>
                <a:spcPts val="1272"/>
              </a:lnSpc>
              <a:spcAft>
                <a:spcPts val="0"/>
              </a:spcAft>
            </a:pPr>
            <a:r>
              <a:rPr sz="1050">
                <a:solidFill>
                  <a:srgbClr val="E6EDF3"/>
                </a:solidFill>
                <a:latin typeface="Consolas"/>
              </a:rPr>
              <a:t>kind: NetworkPolicy</a:t>
            </a:r>
          </a:p>
          <a:p>
            <a:pPr>
              <a:lnSpc>
                <a:spcPts val="1272"/>
              </a:lnSpc>
              <a:spcAft>
                <a:spcPts val="0"/>
              </a:spcAft>
            </a:pPr>
            <a:r>
              <a:rPr sz="1050">
                <a:solidFill>
                  <a:srgbClr val="E6EDF3"/>
                </a:solidFill>
                <a:latin typeface="Consolas"/>
              </a:rPr>
              <a:t>metadata: {name: allow-frontend-to-payments}</a:t>
            </a:r>
          </a:p>
          <a:p>
            <a:pPr>
              <a:lnSpc>
                <a:spcPts val="1272"/>
              </a:lnSpc>
              <a:spcAft>
                <a:spcPts val="0"/>
              </a:spcAft>
            </a:pPr>
            <a:r>
              <a:rPr sz="1050">
                <a:solidFill>
                  <a:srgbClr val="E6EDF3"/>
                </a:solidFill>
                <a:latin typeface="Consolas"/>
              </a:rPr>
              <a:t>spec:</a:t>
            </a:r>
          </a:p>
          <a:p>
            <a:pPr>
              <a:lnSpc>
                <a:spcPts val="1272"/>
              </a:lnSpc>
              <a:spcAft>
                <a:spcPts val="0"/>
              </a:spcAft>
            </a:pPr>
            <a:r>
              <a:rPr sz="1050">
                <a:solidFill>
                  <a:srgbClr val="E6EDF3"/>
                </a:solidFill>
                <a:latin typeface="Consolas"/>
              </a:rPr>
              <a:t>  podSelector:</a:t>
            </a:r>
          </a:p>
          <a:p>
            <a:pPr>
              <a:lnSpc>
                <a:spcPts val="1272"/>
              </a:lnSpc>
              <a:spcAft>
                <a:spcPts val="0"/>
              </a:spcAft>
            </a:pPr>
            <a:r>
              <a:rPr sz="1050">
                <a:solidFill>
                  <a:srgbClr val="E6EDF3"/>
                </a:solidFill>
                <a:latin typeface="Consolas"/>
              </a:rPr>
              <a:t>    matchLabels: {app: payments-api}</a:t>
            </a:r>
          </a:p>
          <a:p>
            <a:pPr>
              <a:lnSpc>
                <a:spcPts val="1272"/>
              </a:lnSpc>
              <a:spcAft>
                <a:spcPts val="0"/>
              </a:spcAft>
            </a:pPr>
            <a:r>
              <a:rPr sz="1050">
                <a:solidFill>
                  <a:srgbClr val="E6EDF3"/>
                </a:solidFill>
                <a:latin typeface="Consolas"/>
              </a:rPr>
              <a:t>  policyTypes: [Ingress]</a:t>
            </a:r>
          </a:p>
          <a:p>
            <a:pPr>
              <a:lnSpc>
                <a:spcPts val="1272"/>
              </a:lnSpc>
              <a:spcAft>
                <a:spcPts val="0"/>
              </a:spcAft>
            </a:pPr>
            <a:r>
              <a:rPr sz="1050">
                <a:solidFill>
                  <a:srgbClr val="E6EDF3"/>
                </a:solidFill>
                <a:latin typeface="Consolas"/>
              </a:rPr>
              <a:t>  ingress:</a:t>
            </a:r>
          </a:p>
          <a:p>
            <a:pPr>
              <a:lnSpc>
                <a:spcPts val="1272"/>
              </a:lnSpc>
              <a:spcAft>
                <a:spcPts val="0"/>
              </a:spcAft>
            </a:pPr>
            <a:r>
              <a:rPr sz="1050">
                <a:solidFill>
                  <a:srgbClr val="E6EDF3"/>
                </a:solidFill>
                <a:latin typeface="Consolas"/>
              </a:rPr>
              <a:t>    - from:</a:t>
            </a:r>
          </a:p>
          <a:p>
            <a:pPr>
              <a:lnSpc>
                <a:spcPts val="1272"/>
              </a:lnSpc>
              <a:spcAft>
                <a:spcPts val="0"/>
              </a:spcAft>
            </a:pPr>
            <a:r>
              <a:rPr sz="1050">
                <a:solidFill>
                  <a:srgbClr val="E6EDF3"/>
                </a:solidFill>
                <a:latin typeface="Consolas"/>
              </a:rPr>
              <a:t>        - podSelector:</a:t>
            </a:r>
          </a:p>
          <a:p>
            <a:pPr>
              <a:lnSpc>
                <a:spcPts val="1272"/>
              </a:lnSpc>
              <a:spcAft>
                <a:spcPts val="0"/>
              </a:spcAft>
            </a:pPr>
            <a:r>
              <a:rPr sz="1050">
                <a:solidFill>
                  <a:srgbClr val="E6EDF3"/>
                </a:solidFill>
                <a:latin typeface="Consolas"/>
              </a:rPr>
              <a:t>            matchLabels: {role: frontend}</a:t>
            </a:r>
          </a:p>
          <a:p>
            <a:pPr>
              <a:lnSpc>
                <a:spcPts val="1272"/>
              </a:lnSpc>
              <a:spcAft>
                <a:spcPts val="0"/>
              </a:spcAft>
            </a:pPr>
            <a:r>
              <a:rPr sz="1050">
                <a:solidFill>
                  <a:srgbClr val="E6EDF3"/>
                </a:solidFill>
                <a:latin typeface="Consolas"/>
              </a:rPr>
              <a:t>      ports: [{protocol: TCP, port: 8080}]</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podSelector: {} means ALL Pods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 empty selector is no constraint. It is the single most misread line in the whole API.</a:t>
            </a:r>
          </a:p>
        </p:txBody>
      </p:sp>
      <p:sp>
        <p:nvSpPr>
          <p:cNvPr id="15" name="Oval 14"/>
          <p:cNvSpPr/>
          <p:nvPr/>
        </p:nvSpPr>
        <p:spPr>
          <a:xfrm>
            <a:off x="7626096" y="337404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5576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policyTypes decides the directions</a:t>
            </a:r>
          </a:p>
        </p:txBody>
      </p:sp>
      <p:sp>
        <p:nvSpPr>
          <p:cNvPr id="17" name="TextBox 16"/>
          <p:cNvSpPr txBox="1"/>
          <p:nvPr/>
        </p:nvSpPr>
        <p:spPr>
          <a:xfrm>
            <a:off x="7973567" y="3572549"/>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Listing Egress with no egress rules denies all egress — including DNS, which breaks name resolution.</a:t>
            </a:r>
          </a:p>
        </p:txBody>
      </p:sp>
      <p:sp>
        <p:nvSpPr>
          <p:cNvPr id="18" name="Oval 17"/>
          <p:cNvSpPr/>
          <p:nvPr/>
        </p:nvSpPr>
        <p:spPr>
          <a:xfrm>
            <a:off x="7626096" y="405427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3598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Selection implies isolation</a:t>
            </a:r>
          </a:p>
        </p:txBody>
      </p:sp>
      <p:sp>
        <p:nvSpPr>
          <p:cNvPr id="20" name="TextBox 19"/>
          <p:cNvSpPr txBox="1"/>
          <p:nvPr/>
        </p:nvSpPr>
        <p:spPr>
          <a:xfrm>
            <a:off x="7973567" y="4252775"/>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Pod becomes deny-by-default for a direction the moment ANY policy selects it for that direction.</a:t>
            </a:r>
          </a:p>
        </p:txBody>
      </p:sp>
      <p:sp>
        <p:nvSpPr>
          <p:cNvPr id="21" name="Oval 20"/>
          <p:cNvSpPr/>
          <p:nvPr/>
        </p:nvSpPr>
        <p:spPr>
          <a:xfrm>
            <a:off x="7626096" y="4734500"/>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716212"/>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Allows are a union</a:t>
            </a:r>
          </a:p>
        </p:txBody>
      </p:sp>
      <p:sp>
        <p:nvSpPr>
          <p:cNvPr id="23" name="TextBox 22"/>
          <p:cNvSpPr txBox="1"/>
          <p:nvPr/>
        </p:nvSpPr>
        <p:spPr>
          <a:xfrm>
            <a:off x="7973567" y="4933001"/>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Multiple policies selecting the same Pod add their allowed peers together. There is no deny rule to override them.</a:t>
            </a:r>
          </a:p>
        </p:txBody>
      </p:sp>
      <p:sp>
        <p:nvSpPr>
          <p:cNvPr id="24" name="Oval 23"/>
          <p:cNvSpPr/>
          <p:nvPr/>
        </p:nvSpPr>
        <p:spPr>
          <a:xfrm>
            <a:off x="7626096" y="5414726"/>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5</a:t>
            </a:r>
          </a:p>
        </p:txBody>
      </p:sp>
      <p:sp>
        <p:nvSpPr>
          <p:cNvPr id="25" name="TextBox 24"/>
          <p:cNvSpPr txBox="1"/>
          <p:nvPr/>
        </p:nvSpPr>
        <p:spPr>
          <a:xfrm>
            <a:off x="7973567" y="539643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port is the POD port</a:t>
            </a:r>
          </a:p>
        </p:txBody>
      </p:sp>
      <p:sp>
        <p:nvSpPr>
          <p:cNvPr id="26" name="TextBox 25"/>
          <p:cNvSpPr txBox="1"/>
          <p:nvPr/>
        </p:nvSpPr>
        <p:spPr>
          <a:xfrm>
            <a:off x="7973567" y="561322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8080 is the container's port. The Service's port 80 is irrelevant — kube-proxy already rewrote the destination.</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courseware/labs/lab-16-networkpolicy-isolation/verification/expected-output.md · kubernetes.io/docs/concepts/services-networking/network-policies/</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344</a:t>
            </a:r>
          </a:p>
        </p:txBody>
      </p:sp>
    </p:spTree>
  </p:cSld>
  <p:clrMapOvr>
    <a:masterClrMapping/>
  </p:clrMapOvr>
  <p:transition xmlns:ns1="http://schemas.openxmlformats.org/markup-compatibility/2006" spd="fast" ns1:Ignorable="p14">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describe netpol, read literally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lines of describe output that are routinely read backwards.</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16 — kcna-lab16</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339"/>
              </a:lnSpc>
              <a:spcAft>
                <a:spcPts val="0"/>
              </a:spcAft>
            </a:pPr>
            <a:r>
              <a:rPr sz="1000">
                <a:solidFill>
                  <a:srgbClr val="7EE787"/>
                </a:solidFill>
                <a:latin typeface="Consolas"/>
              </a:rPr>
              <a:t>$ kubectl describe networkpolicy default-deny-all -n kcna-lab16</a:t>
            </a:r>
          </a:p>
          <a:p>
            <a:pPr>
              <a:lnSpc>
                <a:spcPts val="1339"/>
              </a:lnSpc>
              <a:spcAft>
                <a:spcPts val="0"/>
              </a:spcAft>
            </a:pPr>
            <a:r>
              <a:rPr sz="1000">
                <a:solidFill>
                  <a:srgbClr val="E6EDF3"/>
                </a:solidFill>
                <a:latin typeface="Consolas"/>
              </a:rPr>
              <a:t>Spec:</a:t>
            </a:r>
          </a:p>
          <a:p>
            <a:pPr>
              <a:lnSpc>
                <a:spcPts val="1339"/>
              </a:lnSpc>
              <a:spcAft>
                <a:spcPts val="0"/>
              </a:spcAft>
            </a:pPr>
            <a:r>
              <a:rPr sz="1000">
                <a:solidFill>
                  <a:srgbClr val="E6EDF3"/>
                </a:solidFill>
                <a:latin typeface="Consolas"/>
              </a:rPr>
              <a:t>  PodSelector:  &lt;none&gt; (Allowing the specific traffic to</a:t>
            </a:r>
          </a:p>
          <a:p>
            <a:pPr>
              <a:lnSpc>
                <a:spcPts val="1339"/>
              </a:lnSpc>
              <a:spcAft>
                <a:spcPts val="0"/>
              </a:spcAft>
            </a:pPr>
            <a:r>
              <a:rPr sz="1000">
                <a:solidFill>
                  <a:srgbClr val="E6EDF3"/>
                </a:solidFill>
                <a:latin typeface="Consolas"/>
              </a:rPr>
              <a:t>                all pods in this namespace)</a:t>
            </a:r>
          </a:p>
          <a:p>
            <a:pPr>
              <a:lnSpc>
                <a:spcPts val="1339"/>
              </a:lnSpc>
              <a:spcAft>
                <a:spcPts val="0"/>
              </a:spcAft>
            </a:pPr>
            <a:r>
              <a:rPr sz="1000">
                <a:solidFill>
                  <a:srgbClr val="E6EDF3"/>
                </a:solidFill>
                <a:latin typeface="Consolas"/>
              </a:rPr>
              <a:t>  Allowing ingress traffic:</a:t>
            </a:r>
          </a:p>
          <a:p>
            <a:pPr>
              <a:lnSpc>
                <a:spcPts val="1339"/>
              </a:lnSpc>
              <a:spcAft>
                <a:spcPts val="0"/>
              </a:spcAft>
            </a:pPr>
            <a:r>
              <a:rPr sz="1000">
                <a:solidFill>
                  <a:srgbClr val="E6EDF3"/>
                </a:solidFill>
                <a:latin typeface="Consolas"/>
              </a:rPr>
              <a:t>    &lt;none&gt; (Selected pods are isolated for ingress)</a:t>
            </a:r>
          </a:p>
          <a:p>
            <a:pPr>
              <a:lnSpc>
                <a:spcPts val="1339"/>
              </a:lnSpc>
              <a:spcAft>
                <a:spcPts val="0"/>
              </a:spcAft>
            </a:pPr>
            <a:r>
              <a:rPr sz="1000">
                <a:solidFill>
                  <a:srgbClr val="E6EDF3"/>
                </a:solidFill>
                <a:latin typeface="Consolas"/>
              </a:rPr>
              <a:t>  Allowing egress traffic:</a:t>
            </a:r>
          </a:p>
          <a:p>
            <a:pPr>
              <a:lnSpc>
                <a:spcPts val="1339"/>
              </a:lnSpc>
              <a:spcAft>
                <a:spcPts val="0"/>
              </a:spcAft>
            </a:pPr>
            <a:r>
              <a:rPr sz="1000">
                <a:solidFill>
                  <a:srgbClr val="E6EDF3"/>
                </a:solidFill>
                <a:latin typeface="Consolas"/>
              </a:rPr>
              <a:t>    &lt;none&gt; (Selected pods are isolated for egress)</a:t>
            </a:r>
          </a:p>
          <a:p>
            <a:pPr>
              <a:lnSpc>
                <a:spcPts val="1339"/>
              </a:lnSpc>
              <a:spcAft>
                <a:spcPts val="0"/>
              </a:spcAft>
            </a:pPr>
            <a:r>
              <a:rPr sz="1000">
                <a:solidFill>
                  <a:srgbClr val="E6EDF3"/>
                </a:solidFill>
                <a:latin typeface="Consolas"/>
              </a:rPr>
              <a:t>  Policy Types: Ingress, Egress</a:t>
            </a:r>
          </a:p>
          <a:p>
            <a:pPr>
              <a:lnSpc>
                <a:spcPts val="1339"/>
              </a:lnSpc>
              <a:spcAft>
                <a:spcPts val="0"/>
              </a:spcAft>
            </a:pPr>
            <a:r>
              <a:rPr sz="1000">
                <a:solidFill>
                  <a:srgbClr val="E6EDF3"/>
                </a:solidFill>
                <a:latin typeface="Consolas"/>
              </a:rPr>
              <a:t> </a:t>
            </a:r>
          </a:p>
          <a:p>
            <a:pPr>
              <a:lnSpc>
                <a:spcPts val="1339"/>
              </a:lnSpc>
              <a:spcAft>
                <a:spcPts val="0"/>
              </a:spcAft>
            </a:pPr>
            <a:r>
              <a:rPr sz="1000">
                <a:solidFill>
                  <a:srgbClr val="7EE787"/>
                </a:solidFill>
                <a:latin typeface="Consolas"/>
              </a:rPr>
              <a:t>$ kubectl describe networkpolicy allow-frontend-to-payments</a:t>
            </a:r>
          </a:p>
          <a:p>
            <a:pPr>
              <a:lnSpc>
                <a:spcPts val="1339"/>
              </a:lnSpc>
              <a:spcAft>
                <a:spcPts val="0"/>
              </a:spcAft>
            </a:pPr>
            <a:r>
              <a:rPr sz="1000">
                <a:solidFill>
                  <a:srgbClr val="E6EDF3"/>
                </a:solidFill>
                <a:latin typeface="Consolas"/>
              </a:rPr>
              <a:t>Spec:</a:t>
            </a:r>
          </a:p>
          <a:p>
            <a:pPr>
              <a:lnSpc>
                <a:spcPts val="1339"/>
              </a:lnSpc>
              <a:spcAft>
                <a:spcPts val="0"/>
              </a:spcAft>
            </a:pPr>
            <a:r>
              <a:rPr sz="1000">
                <a:solidFill>
                  <a:srgbClr val="E6EDF3"/>
                </a:solidFill>
                <a:latin typeface="Consolas"/>
              </a:rPr>
              <a:t>  PodSelector:  app=payments-api</a:t>
            </a:r>
          </a:p>
          <a:p>
            <a:pPr>
              <a:lnSpc>
                <a:spcPts val="1339"/>
              </a:lnSpc>
              <a:spcAft>
                <a:spcPts val="0"/>
              </a:spcAft>
            </a:pPr>
            <a:r>
              <a:rPr sz="1000">
                <a:solidFill>
                  <a:srgbClr val="E6EDF3"/>
                </a:solidFill>
                <a:latin typeface="Consolas"/>
              </a:rPr>
              <a:t>  Allowing ingress traffic:</a:t>
            </a:r>
          </a:p>
          <a:p>
            <a:pPr>
              <a:lnSpc>
                <a:spcPts val="1339"/>
              </a:lnSpc>
              <a:spcAft>
                <a:spcPts val="0"/>
              </a:spcAft>
            </a:pPr>
            <a:r>
              <a:rPr sz="1000">
                <a:solidFill>
                  <a:srgbClr val="E6EDF3"/>
                </a:solidFill>
                <a:latin typeface="Consolas"/>
              </a:rPr>
              <a:t>    To Port: 8080/TCP</a:t>
            </a:r>
          </a:p>
          <a:p>
            <a:pPr>
              <a:lnSpc>
                <a:spcPts val="1339"/>
              </a:lnSpc>
              <a:spcAft>
                <a:spcPts val="0"/>
              </a:spcAft>
            </a:pPr>
            <a:r>
              <a:rPr sz="1000">
                <a:solidFill>
                  <a:srgbClr val="E6EDF3"/>
                </a:solidFill>
                <a:latin typeface="Consolas"/>
              </a:rPr>
              <a:t>    From:</a:t>
            </a:r>
          </a:p>
          <a:p>
            <a:pPr>
              <a:lnSpc>
                <a:spcPts val="1339"/>
              </a:lnSpc>
              <a:spcAft>
                <a:spcPts val="0"/>
              </a:spcAft>
            </a:pPr>
            <a:r>
              <a:rPr sz="1000">
                <a:solidFill>
                  <a:srgbClr val="E6EDF3"/>
                </a:solidFill>
                <a:latin typeface="Consolas"/>
              </a:rPr>
              <a:t>      PodSelector: role=frontend</a:t>
            </a:r>
          </a:p>
          <a:p>
            <a:pPr>
              <a:lnSpc>
                <a:spcPts val="1339"/>
              </a:lnSpc>
              <a:spcAft>
                <a:spcPts val="0"/>
              </a:spcAft>
            </a:pPr>
            <a:r>
              <a:rPr sz="1000">
                <a:solidFill>
                  <a:srgbClr val="E6EDF3"/>
                </a:solidFill>
                <a:latin typeface="Consolas"/>
              </a:rPr>
              <a:t>  Not affecting egress traffic</a:t>
            </a:r>
          </a:p>
          <a:p>
            <a:pPr>
              <a:lnSpc>
                <a:spcPts val="1339"/>
              </a:lnSpc>
              <a:spcAft>
                <a:spcPts val="0"/>
              </a:spcAft>
            </a:pPr>
            <a:r>
              <a:rPr sz="1000">
                <a:solidFill>
                  <a:srgbClr val="E6EDF3"/>
                </a:solidFill>
                <a:latin typeface="Consolas"/>
              </a:rPr>
              <a:t>  Policy Types: Ingress</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PodSelector: &lt;none&gt; means ALL pods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parenthesised text kubectl prints is the authoritative reading. It does not mean zero Pods.</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'Selected pods are isolated' is the deny</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There is no deny keyword in the API. Isolation with no allow rules IS the denial.</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 affecting egress traffic' matters</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second policy lists only Ingress in policyTypes, so it makes no egress statement at all.</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To Port is the Pod port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8080, not the Service's 80. Policy is evaluated after kube-proxy's DNAT.</a:t>
            </a:r>
          </a:p>
        </p:txBody>
      </p:sp>
      <p:sp>
        <p:nvSpPr>
          <p:cNvPr id="25" name="Oval 24"/>
          <p:cNvSpPr/>
          <p:nvPr/>
        </p:nvSpPr>
        <p:spPr>
          <a:xfrm>
            <a:off x="8119871" y="557418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5</a:t>
            </a:r>
          </a:p>
        </p:txBody>
      </p:sp>
      <p:sp>
        <p:nvSpPr>
          <p:cNvPr id="26" name="TextBox 25"/>
          <p:cNvSpPr txBox="1"/>
          <p:nvPr/>
        </p:nvSpPr>
        <p:spPr>
          <a:xfrm>
            <a:off x="8439912" y="554675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describe shows intent, not enforcement</a:t>
            </a:r>
          </a:p>
        </p:txBody>
      </p:sp>
      <p:sp>
        <p:nvSpPr>
          <p:cNvPr id="27" name="TextBox 26"/>
          <p:cNvSpPr txBox="1"/>
          <p:nvPr/>
        </p:nvSpPr>
        <p:spPr>
          <a:xfrm>
            <a:off x="8439912" y="575706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Everything above prints identically on a CNI that enforces nothing. Determine enforcement separately.</a:t>
            </a:r>
          </a:p>
        </p:txBody>
      </p:sp>
      <p:sp>
        <p:nvSpPr>
          <p:cNvPr id="28" name="TextBox 27"/>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courseware/labs/lab-16-networkpolicy-isolation/verification/expected-output.md</a:t>
            </a:r>
          </a:p>
        </p:txBody>
      </p:sp>
      <p:sp>
        <p:nvSpPr>
          <p:cNvPr id="29" name="TextBox 28"/>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0" name="TextBox 29"/>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1" name="TextBox 30"/>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345</a:t>
            </a:r>
          </a:p>
        </p:txBody>
      </p:sp>
    </p:spTree>
  </p:cSld>
  <p:clrMapOvr>
    <a:masterClrMapping/>
  </p:clrMapOvr>
  <p:transition xmlns:ns1="http://schemas.openxmlformats.org/markup-compatibility/2006" spd="fast" ns1:Ignorable="p14">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SEMANTICS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Six rules that decide what a policy actually does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Rules 4 and 5 differ by two characters of YAML indentation and change the security outcome completely.</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 deny rule exists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can only express allows. Denial is what happens to traffic no allow rule covers.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Isolation is per direction</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Pod can be isolated for ingress and wide open for egress, depending on the policyTypes that select it.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Rules are ORed across policies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Two policies selecting one Pod produce the union of their allowed peers — never the intersection.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Peers in one list item are ANDed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namespaceSelector and podSelector inside ONE from[] entry must both match.</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Split across items they are ORed</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Two separate from[] entries mean either may match — which silently widens the policy.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Ports are Pod ports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Policy is applied below the Service abstraction, after the destination has already been rewritten.</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kubernetes.io/docs/concepts/services-networking/network-policies/ · courseware/labs/lab-16-networkpolicy-isolation/verification/expected-output.md</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346</a:t>
            </a:r>
          </a:p>
        </p:txBody>
      </p:sp>
    </p:spTree>
  </p:cSld>
  <p:clrMapOvr>
    <a:masterClrMapping/>
  </p:clrMapOvr>
  <p:transition xmlns:ns1="http://schemas.openxmlformats.org/markup-compatibility/2006" spd="fast" ns1:Ignorable="p14">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PEER TYPES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Selecting the other end of the connection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peer forms. Choosing the wrong one usually widens access rather than breaking it, so it fails silently.</a:t>
            </a:r>
          </a:p>
        </p:txBody>
      </p:sp>
      <p:sp>
        <p:nvSpPr>
          <p:cNvPr id="7" name="Rectangle 6"/>
          <p:cNvSpPr/>
          <p:nvPr/>
        </p:nvSpPr>
        <p:spPr>
          <a:xfrm>
            <a:off x="777240" y="2200046"/>
            <a:ext cx="3209544"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953511"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Peer</a:t>
            </a:r>
          </a:p>
        </p:txBody>
      </p:sp>
      <p:sp>
        <p:nvSpPr>
          <p:cNvPr id="9" name="Rectangle 8"/>
          <p:cNvSpPr/>
          <p:nvPr/>
        </p:nvSpPr>
        <p:spPr>
          <a:xfrm>
            <a:off x="3986783" y="2200046"/>
            <a:ext cx="4011929"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114799" y="2300630"/>
            <a:ext cx="375589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Matches</a:t>
            </a:r>
          </a:p>
        </p:txBody>
      </p:sp>
      <p:sp>
        <p:nvSpPr>
          <p:cNvPr id="11" name="Rectangle 10"/>
          <p:cNvSpPr/>
          <p:nvPr/>
        </p:nvSpPr>
        <p:spPr>
          <a:xfrm>
            <a:off x="7998713" y="2200046"/>
            <a:ext cx="3477006"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26729" y="2300630"/>
            <a:ext cx="3220974"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Watch out for</a:t>
            </a:r>
          </a:p>
        </p:txBody>
      </p:sp>
      <p:sp>
        <p:nvSpPr>
          <p:cNvPr id="13" name="Rectangle 12"/>
          <p:cNvSpPr/>
          <p:nvPr/>
        </p:nvSpPr>
        <p:spPr>
          <a:xfrm>
            <a:off x="777240" y="2620670"/>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2953511"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podSelector</a:t>
            </a:r>
          </a:p>
        </p:txBody>
      </p:sp>
      <p:sp>
        <p:nvSpPr>
          <p:cNvPr id="15" name="Rectangle 14"/>
          <p:cNvSpPr/>
          <p:nvPr/>
        </p:nvSpPr>
        <p:spPr>
          <a:xfrm>
            <a:off x="3986783" y="2620670"/>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114799" y="2702966"/>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Pods in the POLICY'S OWN namespace carrying those labels</a:t>
            </a:r>
          </a:p>
        </p:txBody>
      </p:sp>
      <p:sp>
        <p:nvSpPr>
          <p:cNvPr id="17" name="Rectangle 16"/>
          <p:cNvSpPr/>
          <p:nvPr/>
        </p:nvSpPr>
        <p:spPr>
          <a:xfrm>
            <a:off x="7998713" y="2620670"/>
            <a:ext cx="3477006"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126729" y="2702966"/>
            <a:ext cx="32209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It never reaches other namespaces on its own</a:t>
            </a:r>
          </a:p>
        </p:txBody>
      </p:sp>
      <p:sp>
        <p:nvSpPr>
          <p:cNvPr id="19" name="Rectangle 18"/>
          <p:cNvSpPr/>
          <p:nvPr/>
        </p:nvSpPr>
        <p:spPr>
          <a:xfrm>
            <a:off x="777240" y="3171870"/>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2953511"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namespaceSelector</a:t>
            </a:r>
          </a:p>
        </p:txBody>
      </p:sp>
      <p:sp>
        <p:nvSpPr>
          <p:cNvPr id="21" name="Rectangle 20"/>
          <p:cNvSpPr/>
          <p:nvPr/>
        </p:nvSpPr>
        <p:spPr>
          <a:xfrm>
            <a:off x="3986783" y="3171870"/>
            <a:ext cx="4011929"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114799" y="3254166"/>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All Pods in namespaces carrying those labels</a:t>
            </a:r>
          </a:p>
        </p:txBody>
      </p:sp>
      <p:sp>
        <p:nvSpPr>
          <p:cNvPr id="23" name="Rectangle 22"/>
          <p:cNvSpPr/>
          <p:nvPr/>
        </p:nvSpPr>
        <p:spPr>
          <a:xfrm>
            <a:off x="7998713" y="3171870"/>
            <a:ext cx="3477006"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126729" y="3254166"/>
            <a:ext cx="32209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Alone, it allows EVERY Pod in the matched namespaces</a:t>
            </a:r>
          </a:p>
        </p:txBody>
      </p:sp>
      <p:sp>
        <p:nvSpPr>
          <p:cNvPr id="25" name="Rectangle 24"/>
          <p:cNvSpPr/>
          <p:nvPr/>
        </p:nvSpPr>
        <p:spPr>
          <a:xfrm>
            <a:off x="777240" y="37230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2953511"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namespaceSelector + podSelector (one item)</a:t>
            </a:r>
          </a:p>
        </p:txBody>
      </p:sp>
      <p:sp>
        <p:nvSpPr>
          <p:cNvPr id="27" name="Rectangle 26"/>
          <p:cNvSpPr/>
          <p:nvPr/>
        </p:nvSpPr>
        <p:spPr>
          <a:xfrm>
            <a:off x="3986783" y="3723071"/>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114799" y="38053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Pods with those labels, in namespaces with those labels</a:t>
            </a:r>
          </a:p>
        </p:txBody>
      </p:sp>
      <p:sp>
        <p:nvSpPr>
          <p:cNvPr id="29" name="Rectangle 28"/>
          <p:cNvSpPr/>
          <p:nvPr/>
        </p:nvSpPr>
        <p:spPr>
          <a:xfrm>
            <a:off x="7998713" y="3723071"/>
            <a:ext cx="3477006"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126729" y="3805367"/>
            <a:ext cx="32209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Indentation decides AND versus OR — verify with describe</a:t>
            </a:r>
          </a:p>
        </p:txBody>
      </p:sp>
      <p:sp>
        <p:nvSpPr>
          <p:cNvPr id="31" name="Rectangle 30"/>
          <p:cNvSpPr/>
          <p:nvPr/>
        </p:nvSpPr>
        <p:spPr>
          <a:xfrm>
            <a:off x="777240" y="4274271"/>
            <a:ext cx="3209544"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2953511"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ipBlock</a:t>
            </a:r>
          </a:p>
        </p:txBody>
      </p:sp>
      <p:sp>
        <p:nvSpPr>
          <p:cNvPr id="33" name="Rectangle 32"/>
          <p:cNvSpPr/>
          <p:nvPr/>
        </p:nvSpPr>
        <p:spPr>
          <a:xfrm>
            <a:off x="3986783" y="4274271"/>
            <a:ext cx="4011929"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114799" y="43565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CIDR, with optional except ranges</a:t>
            </a:r>
          </a:p>
        </p:txBody>
      </p:sp>
      <p:sp>
        <p:nvSpPr>
          <p:cNvPr id="35" name="Rectangle 34"/>
          <p:cNvSpPr/>
          <p:nvPr/>
        </p:nvSpPr>
        <p:spPr>
          <a:xfrm>
            <a:off x="7998713" y="4274271"/>
            <a:ext cx="3477006"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126729" y="4356567"/>
            <a:ext cx="32209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For traffic outside the cluster; Pod IPs churn, so do not use it for in-cluster peers</a:t>
            </a:r>
          </a:p>
        </p:txBody>
      </p:sp>
      <p:sp>
        <p:nvSpPr>
          <p:cNvPr id="37" name="Rectangle 36"/>
          <p:cNvSpPr/>
          <p:nvPr/>
        </p:nvSpPr>
        <p:spPr>
          <a:xfrm>
            <a:off x="777240" y="4825471"/>
            <a:ext cx="3209544"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2953511"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No from / to at all</a:t>
            </a:r>
          </a:p>
        </p:txBody>
      </p:sp>
      <p:sp>
        <p:nvSpPr>
          <p:cNvPr id="39" name="Rectangle 38"/>
          <p:cNvSpPr/>
          <p:nvPr/>
        </p:nvSpPr>
        <p:spPr>
          <a:xfrm>
            <a:off x="3986783" y="4825471"/>
            <a:ext cx="4011929"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114799" y="4907767"/>
            <a:ext cx="375589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With the direction listed in policyTypes, nothing is allowed in that direction</a:t>
            </a:r>
          </a:p>
        </p:txBody>
      </p:sp>
      <p:sp>
        <p:nvSpPr>
          <p:cNvPr id="41" name="Rectangle 40"/>
          <p:cNvSpPr/>
          <p:nvPr/>
        </p:nvSpPr>
        <p:spPr>
          <a:xfrm>
            <a:off x="7998713" y="4825471"/>
            <a:ext cx="3477006"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126729" y="4907767"/>
            <a:ext cx="3220974"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This is how default-deny is written — deliberately empty</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Label namespaces deliberately — kubernetes.io/metadata.name is set for you on every namespace.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kubernetes.io/docs/concepts/services-networking/network-policies/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347</a:t>
            </a:r>
          </a:p>
        </p:txBody>
      </p:sp>
    </p:spTree>
  </p:cSld>
  <p:clrMapOvr>
    <a:masterClrMapping/>
  </p:clrMapOvr>
  <p:transition xmlns:ns1="http://schemas.openxmlformats.org/markup-compatibility/2006" spd="fast" ns1:Ignorable="p14">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policy that is accepted, valid and matches nothing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An empty-matching NetworkPolicy is more dangerous than no policy: it looks like a control.</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Three selector typos in one object. It applies without a warning and protects precisely nothing.</a:t>
            </a:r>
          </a:p>
        </p:txBody>
      </p:sp>
      <p:sp>
        <p:nvSpPr>
          <p:cNvPr id="11" name="Rectangle 10"/>
          <p:cNvSpPr/>
          <p:nvPr/>
        </p:nvSpPr>
        <p:spPr>
          <a:xfrm>
            <a:off x="777240" y="2913278"/>
            <a:ext cx="6172200" cy="3003804"/>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436876"/>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apply -f manifests/70-networkpolicy-broken-selector.yaml</a:t>
            </a:r>
          </a:p>
          <a:p>
            <a:pPr>
              <a:lnSpc>
                <a:spcPts val="1476"/>
              </a:lnSpc>
              <a:spcAft>
                <a:spcPts val="0"/>
              </a:spcAft>
            </a:pPr>
            <a:r>
              <a:rPr sz="950">
                <a:solidFill>
                  <a:srgbClr val="E6EDF3"/>
                </a:solidFill>
                <a:latin typeface="Consolas"/>
              </a:rPr>
              <a:t>networkpolicy.networking.k8s.io/allow-broken created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describe networkpolicy allow-broken -n kcna-lab16</a:t>
            </a:r>
          </a:p>
          <a:p>
            <a:pPr>
              <a:lnSpc>
                <a:spcPts val="1476"/>
              </a:lnSpc>
              <a:spcAft>
                <a:spcPts val="0"/>
              </a:spcAft>
            </a:pPr>
            <a:r>
              <a:rPr sz="950">
                <a:solidFill>
                  <a:srgbClr val="E6EDF3"/>
                </a:solidFill>
                <a:latin typeface="Consolas"/>
              </a:rPr>
              <a:t>Spec:</a:t>
            </a:r>
          </a:p>
          <a:p>
            <a:pPr>
              <a:lnSpc>
                <a:spcPts val="1476"/>
              </a:lnSpc>
              <a:spcAft>
                <a:spcPts val="0"/>
              </a:spcAft>
            </a:pPr>
            <a:r>
              <a:rPr sz="950">
                <a:solidFill>
                  <a:srgbClr val="E6EDF3"/>
                </a:solidFill>
                <a:latin typeface="Consolas"/>
              </a:rPr>
              <a:t>  PodSelector:  app=payments      &lt;- pods are app=payments-api</a:t>
            </a:r>
          </a:p>
          <a:p>
            <a:pPr>
              <a:lnSpc>
                <a:spcPts val="1476"/>
              </a:lnSpc>
              <a:spcAft>
                <a:spcPts val="0"/>
              </a:spcAft>
            </a:pPr>
            <a:r>
              <a:rPr sz="950">
                <a:solidFill>
                  <a:srgbClr val="E6EDF3"/>
                </a:solidFill>
                <a:latin typeface="Consolas"/>
              </a:rPr>
              <a:t>  Allowing ingress traffic:</a:t>
            </a:r>
          </a:p>
          <a:p>
            <a:pPr>
              <a:lnSpc>
                <a:spcPts val="1476"/>
              </a:lnSpc>
              <a:spcAft>
                <a:spcPts val="0"/>
              </a:spcAft>
            </a:pPr>
            <a:r>
              <a:rPr sz="950">
                <a:solidFill>
                  <a:srgbClr val="E6EDF3"/>
                </a:solidFill>
                <a:latin typeface="Consolas"/>
              </a:rPr>
              <a:t>    To Port: 80/TCP               &lt;- pod port is 8080</a:t>
            </a:r>
          </a:p>
          <a:p>
            <a:pPr>
              <a:lnSpc>
                <a:spcPts val="1476"/>
              </a:lnSpc>
              <a:spcAft>
                <a:spcPts val="0"/>
              </a:spcAft>
            </a:pPr>
            <a:r>
              <a:rPr sz="950">
                <a:solidFill>
                  <a:srgbClr val="E6EDF3"/>
                </a:solidFill>
                <a:latin typeface="Consolas"/>
              </a:rPr>
              <a:t>    From:</a:t>
            </a:r>
          </a:p>
          <a:p>
            <a:pPr>
              <a:lnSpc>
                <a:spcPts val="1476"/>
              </a:lnSpc>
              <a:spcAft>
                <a:spcPts val="0"/>
              </a:spcAft>
            </a:pPr>
            <a:r>
              <a:rPr sz="950">
                <a:solidFill>
                  <a:srgbClr val="E6EDF3"/>
                </a:solidFill>
                <a:latin typeface="Consolas"/>
              </a:rPr>
              <a:t>      PodSelector: role=frontends &lt;- pods are role=frontend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pods -n kcna-lab16 -l app=payments</a:t>
            </a:r>
          </a:p>
          <a:p>
            <a:pPr>
              <a:lnSpc>
                <a:spcPts val="1476"/>
              </a:lnSpc>
              <a:spcAft>
                <a:spcPts val="0"/>
              </a:spcAft>
            </a:pPr>
            <a:r>
              <a:rPr sz="950">
                <a:solidFill>
                  <a:srgbClr val="E6EDF3"/>
                </a:solidFill>
                <a:latin typeface="Consolas"/>
              </a:rPr>
              <a:t>No resources found in kcna-lab16 namespace.</a:t>
            </a:r>
          </a:p>
        </p:txBody>
      </p:sp>
      <p:sp>
        <p:nvSpPr>
          <p:cNvPr id="14" name="Rectangle 13"/>
          <p:cNvSpPr/>
          <p:nvPr/>
        </p:nvSpPr>
        <p:spPr>
          <a:xfrm>
            <a:off x="7205472" y="2913278"/>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Selectors are live label queries; a query that matches nothing is perfectly valid</a:t>
            </a:r>
          </a:p>
          <a:p>
            <a:pPr>
              <a:lnSpc>
                <a:spcPct val="112000"/>
              </a:lnSpc>
              <a:spcAft>
                <a:spcPts val="200"/>
              </a:spcAft>
            </a:pPr>
            <a:r>
              <a:rPr sz="950">
                <a:solidFill>
                  <a:srgbClr val="94A3B8"/>
                </a:solidFill>
                <a:latin typeface="Arial"/>
              </a:rPr>
              <a:t>•  </a:t>
            </a:r>
            <a:r>
              <a:rPr sz="950">
                <a:solidFill>
                  <a:srgbClr val="5B6372"/>
                </a:solidFill>
                <a:latin typeface="Arial"/>
              </a:rPr>
              <a:t>The port names the Service's 80 instead of the Pod's 8080, so even a correct selector would not match the traffic</a:t>
            </a:r>
          </a:p>
          <a:p>
            <a:pPr>
              <a:lnSpc>
                <a:spcPct val="112000"/>
              </a:lnSpc>
              <a:spcAft>
                <a:spcPts val="200"/>
              </a:spcAft>
            </a:pPr>
            <a:r>
              <a:rPr sz="950">
                <a:solidFill>
                  <a:srgbClr val="94A3B8"/>
                </a:solidFill>
                <a:latin typeface="Arial"/>
              </a:rPr>
              <a:t>•  </a:t>
            </a:r>
            <a:r>
              <a:rPr sz="950">
                <a:solidFill>
                  <a:srgbClr val="5B6372"/>
                </a:solidFill>
                <a:latin typeface="Arial"/>
              </a:rPr>
              <a:t>Nothing in the API validates that a selector is USEFUL — only that it is well-formed</a:t>
            </a:r>
          </a:p>
        </p:txBody>
      </p:sp>
      <p:sp>
        <p:nvSpPr>
          <p:cNvPr id="18" name="Rectangle 17"/>
          <p:cNvSpPr/>
          <p:nvPr/>
        </p:nvSpPr>
        <p:spPr>
          <a:xfrm>
            <a:off x="7205472" y="4535972"/>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535972"/>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572548"/>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883444"/>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Re-run every selector in the policy as a kubectl label query before trusting it</a:t>
            </a:r>
          </a:p>
          <a:p>
            <a:pPr>
              <a:lnSpc>
                <a:spcPct val="112000"/>
              </a:lnSpc>
              <a:spcAft>
                <a:spcPts val="200"/>
              </a:spcAft>
            </a:pPr>
            <a:r>
              <a:rPr sz="950">
                <a:solidFill>
                  <a:srgbClr val="94A3B8"/>
                </a:solidFill>
                <a:latin typeface="Arial"/>
              </a:rPr>
              <a:t>•  </a:t>
            </a:r>
            <a:r>
              <a:rPr sz="950">
                <a:solidFill>
                  <a:srgbClr val="5B6372"/>
                </a:solidFill>
                <a:latin typeface="Arial"/>
              </a:rPr>
              <a:t>Take ports from the container spec, never from the Service</a:t>
            </a:r>
          </a:p>
          <a:p>
            <a:pPr>
              <a:lnSpc>
                <a:spcPct val="112000"/>
              </a:lnSpc>
              <a:spcAft>
                <a:spcPts val="200"/>
              </a:spcAft>
            </a:pPr>
            <a:r>
              <a:rPr sz="950">
                <a:solidFill>
                  <a:srgbClr val="94A3B8"/>
                </a:solidFill>
                <a:latin typeface="Arial"/>
              </a:rPr>
              <a:t>•  </a:t>
            </a:r>
            <a:r>
              <a:rPr sz="950">
                <a:solidFill>
                  <a:srgbClr val="5B6372"/>
                </a:solidFill>
                <a:latin typeface="Arial"/>
              </a:rPr>
              <a:t>Then test the intended allow AND the intended deny with a real connection attempt</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courseware/labs/lab-16-networkpolicy-isolation/verification/expected-output.md</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348</a:t>
            </a:r>
          </a:p>
        </p:txBody>
      </p:sp>
    </p:spTree>
  </p:cSld>
  <p:clrMapOvr>
    <a:masterClrMapping/>
  </p:clrMapOvr>
  <p:transition xmlns:ns1="http://schemas.openxmlformats.org/markup-compatibility/2006" spd="fast" ns1:Ignorable="p14">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METHOD</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Building a policy set that does not cause an outage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Mechanism, not a run-book: the order exists because two of these steps cause outages if reversed.</a:t>
            </a:r>
          </a:p>
        </p:txBody>
      </p:sp>
      <p:sp>
        <p:nvSpPr>
          <p:cNvPr id="7" name="Rounded Rectangle 6"/>
          <p:cNvSpPr/>
          <p:nvPr/>
        </p:nvSpPr>
        <p:spPr>
          <a:xfrm>
            <a:off x="7772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Inventory the real traffic</a:t>
            </a:r>
          </a:p>
        </p:txBody>
      </p:sp>
      <p:sp>
        <p:nvSpPr>
          <p:cNvPr id="11" name="TextBox 10"/>
          <p:cNvSpPr txBox="1"/>
          <p:nvPr/>
        </p:nvSpPr>
        <p:spPr>
          <a:xfrm>
            <a:off x="9235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Write down source, destination, Pod port and protocol for every flow that must work. Lab 16 uses a CSV.</a:t>
            </a:r>
          </a:p>
        </p:txBody>
      </p:sp>
      <p:cxnSp>
        <p:nvCxnSpPr>
          <p:cNvPr id="12" name="Connector 11"/>
          <p:cNvCxnSpPr/>
          <p:nvPr/>
        </p:nvCxnSpPr>
        <p:spPr>
          <a:xfrm>
            <a:off x="271393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Allow DNS first</a:t>
            </a:r>
          </a:p>
        </p:txBody>
      </p:sp>
      <p:sp>
        <p:nvSpPr>
          <p:cNvPr id="17" name="TextBox 16"/>
          <p:cNvSpPr txBox="1"/>
          <p:nvPr/>
        </p:nvSpPr>
        <p:spPr>
          <a:xfrm>
            <a:off x="312541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 egress rule to kube-system's DNS Pods on port 53. Adding default-deny without this breaks all resolution.</a:t>
            </a:r>
          </a:p>
        </p:txBody>
      </p:sp>
      <p:cxnSp>
        <p:nvCxnSpPr>
          <p:cNvPr id="18" name="Connector 17"/>
          <p:cNvCxnSpPr/>
          <p:nvPr/>
        </p:nvCxnSpPr>
        <p:spPr>
          <a:xfrm>
            <a:off x="491581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Apply default-deny</a:t>
            </a:r>
          </a:p>
        </p:txBody>
      </p:sp>
      <p:sp>
        <p:nvSpPr>
          <p:cNvPr id="23" name="TextBox 22"/>
          <p:cNvSpPr txBox="1"/>
          <p:nvPr/>
        </p:nvSpPr>
        <p:spPr>
          <a:xfrm>
            <a:off x="532729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podSelector {} with both policyTypes. The namespace is now closed except for what you allowed.</a:t>
            </a:r>
          </a:p>
        </p:txBody>
      </p:sp>
      <p:cxnSp>
        <p:nvCxnSpPr>
          <p:cNvPr id="24" name="Connector 23"/>
          <p:cNvCxnSpPr/>
          <p:nvPr/>
        </p:nvCxnSpPr>
        <p:spPr>
          <a:xfrm>
            <a:off x="7117689"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Add one allow per flow</a:t>
            </a:r>
          </a:p>
        </p:txBody>
      </p:sp>
      <p:sp>
        <p:nvSpPr>
          <p:cNvPr id="29" name="TextBox 28"/>
          <p:cNvSpPr txBox="1"/>
          <p:nvPr/>
        </p:nvSpPr>
        <p:spPr>
          <a:xfrm>
            <a:off x="7529169"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Matched ingress and egress pairs. Both ends need permission — an ingress allow alone is not enough under default-deny.</a:t>
            </a:r>
          </a:p>
        </p:txBody>
      </p:sp>
      <p:cxnSp>
        <p:nvCxnSpPr>
          <p:cNvPr id="30" name="Connector 29"/>
          <p:cNvCxnSpPr/>
          <p:nvPr/>
        </p:nvCxnSpPr>
        <p:spPr>
          <a:xfrm>
            <a:off x="9319564" y="344667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Test allow AND deny</a:t>
            </a:r>
          </a:p>
        </p:txBody>
      </p:sp>
      <p:sp>
        <p:nvSpPr>
          <p:cNvPr id="35" name="TextBox 34"/>
          <p:cNvSpPr txBox="1"/>
          <p:nvPr/>
        </p:nvSpPr>
        <p:spPr>
          <a:xfrm>
            <a:off x="9731044" y="3333902"/>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Prove the permitted flow works and the forbidden one does not. A test that only checks allows proves nothing.</a:t>
            </a:r>
          </a:p>
        </p:txBody>
      </p:sp>
      <p:sp>
        <p:nvSpPr>
          <p:cNvPr id="36" name="Rectangle 35"/>
          <p:cNvSpPr/>
          <p:nvPr/>
        </p:nvSpPr>
        <p:spPr>
          <a:xfrm>
            <a:off x="777240" y="4821326"/>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21326"/>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0362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32222"/>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Under default-deny both directions are evaluated: the caller needs an egress allow and the target needs an ingress allow. Forgetting one is the usual cause of a 'policy broke everything' incident.</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kubernetes.io/docs/concepts/services-networking/network-policies/ · courseware/labs/lab-16-networkpolicy-isolation/verification/expected-output.md</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349</a:t>
            </a:r>
          </a:p>
        </p:txBody>
      </p:sp>
    </p:spTree>
  </p:cSld>
  <p:clrMapOvr>
    <a:masterClrMapping/>
  </p:clrMapOvr>
  <p:transition xmlns:ns5="http://schemas.openxmlformats.org/markup-compatibility/2006" spd="fast" ns5:Ignorable="p14">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NetworkPolicy fields and honest caveats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Ten rows. The last four are the ones that keep a claim about your cluster honest.</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apiVersion</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networking.k8s.io/v1 — namespaced object</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podSelector: {}</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Selects ALL Pods in the namespace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policyTypes</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[Ingress], [Egress] or both; decides which directions are isolated</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Empty ingress list</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Direction isolated, nothing allowed</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Ports</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ports; port ranges via endPort where supported</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Protocols</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TCP, UDP and SCTP — SCTP support is plugin-dependent</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Enforcement</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Performed by the CNI plugin, not by Kubernetes itself</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kindnet</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Stores policies and enforces none — verified on this course's training cluster</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Managed clusters</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Many enforce, but some require an explicit add-on or option — check your provider</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How to verify</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Inventory the CNI DaemonSet, then run a real connection probe and report the result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kubernetes.io/docs/concepts/services-networking/network-policies/ · courseware/labs/lab-16-networkpolicy-isolation/verification/expected-output.md · qa/PARENT-VERIFIED-FACTS.md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350</a:t>
            </a:r>
          </a:p>
        </p:txBody>
      </p:sp>
    </p:spTree>
  </p:cSld>
  <p:clrMapOvr>
    <a:masterClrMapping/>
  </p:clrMapOvr>
  <p:transition xmlns:ns1="http://schemas.openxmlformats.org/markup-compatibility/2006" spd="fast" ns1:Ignorable="p14">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16 — NetworkPolicy and Default-Deny Isolation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Close the auditors' finding that any Pod can reach Meridian Freight's payments-api by building default-deny plus one selective allow - and then determine honestly whether this cluster's CNI enforces any of it.</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default-deny-all NetworkPolicy (podSelector {}, Ingress and Egress) plus the DNS egress rule that default-deny otherwise breaks</a:t>
            </a:r>
          </a:p>
          <a:p>
            <a:pPr>
              <a:lnSpc>
                <a:spcPct val="112000"/>
              </a:lnSpc>
              <a:spcAft>
                <a:spcPts val="500"/>
              </a:spcAft>
            </a:pPr>
            <a:r>
              <a:rPr sz="1050">
                <a:solidFill>
                  <a:srgbClr val="94A3B8"/>
                </a:solidFill>
                <a:latin typeface="Arial"/>
              </a:rPr>
              <a:t>•  </a:t>
            </a:r>
            <a:r>
              <a:rPr sz="1050">
                <a:solidFill>
                  <a:srgbClr val="5B6372"/>
                </a:solidFill>
                <a:latin typeface="Arial"/>
              </a:rPr>
              <a:t>A matched ingress/egress pair admitting only role=frontend to app=payments-api on the POD port 8080, diffed against data/traffic-matrix.csv</a:t>
            </a:r>
          </a:p>
          <a:p>
            <a:pPr>
              <a:lnSpc>
                <a:spcPct val="112000"/>
              </a:lnSpc>
              <a:spcAft>
                <a:spcPts val="500"/>
              </a:spcAft>
            </a:pPr>
            <a:r>
              <a:rPr sz="1050">
                <a:solidFill>
                  <a:srgbClr val="94A3B8"/>
                </a:solidFill>
                <a:latin typeface="Arial"/>
              </a:rPr>
              <a:t>•  </a:t>
            </a:r>
            <a:r>
              <a:rPr sz="1050">
                <a:solidFill>
                  <a:srgbClr val="5B6372"/>
                </a:solidFill>
                <a:latin typeface="Arial"/>
              </a:rPr>
              <a:t>A recorded enforcement determination: the CNI DaemonSet inventory and a live probe whose result is reported rather than assumed</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kind's default CNI kindnet stores NetworkPolicies and enforces none - the API is universal, enforcement is the CNI's job</a:t>
            </a:r>
          </a:p>
          <a:p>
            <a:pPr>
              <a:lnSpc>
                <a:spcPct val="112000"/>
              </a:lnSpc>
              <a:spcAft>
                <a:spcPts val="500"/>
              </a:spcAft>
            </a:pPr>
            <a:r>
              <a:rPr sz="1050">
                <a:solidFill>
                  <a:srgbClr val="94A3B8"/>
                </a:solidFill>
                <a:latin typeface="Arial"/>
              </a:rPr>
              <a:t>•  </a:t>
            </a:r>
            <a:r>
              <a:rPr sz="1050">
                <a:solidFill>
                  <a:srgbClr val="5B6372"/>
                </a:solidFill>
                <a:latin typeface="Arial"/>
              </a:rPr>
              <a:t>There is no deny rule: a Pod becomes deny-by-default the moment any policy selects it, and allows are the union of all matching rules</a:t>
            </a:r>
          </a:p>
          <a:p>
            <a:pPr>
              <a:lnSpc>
                <a:spcPct val="112000"/>
              </a:lnSpc>
              <a:spcAft>
                <a:spcPts val="500"/>
              </a:spcAft>
            </a:pPr>
            <a:r>
              <a:rPr sz="1050">
                <a:solidFill>
                  <a:srgbClr val="94A3B8"/>
                </a:solidFill>
                <a:latin typeface="Arial"/>
              </a:rPr>
              <a:t>•  </a:t>
            </a:r>
            <a:r>
              <a:rPr sz="1050">
                <a:solidFill>
                  <a:srgbClr val="5B6372"/>
                </a:solidFill>
                <a:latin typeface="Arial"/>
              </a:rPr>
              <a:t>NetworkPolicy ports are Pod ports, evaluated below the Service abstraction after kube-proxy's DNAT</a:t>
            </a:r>
          </a:p>
          <a:p>
            <a:pPr>
              <a:lnSpc>
                <a:spcPct val="112000"/>
              </a:lnSpc>
              <a:spcAft>
                <a:spcPts val="500"/>
              </a:spcAft>
            </a:pPr>
            <a:r>
              <a:rPr sz="1050">
                <a:solidFill>
                  <a:srgbClr val="94A3B8"/>
                </a:solidFill>
                <a:latin typeface="Arial"/>
              </a:rPr>
              <a:t>•  </a:t>
            </a:r>
            <a:r>
              <a:rPr sz="1050">
                <a:solidFill>
                  <a:srgbClr val="5B6372"/>
                </a:solidFill>
                <a:latin typeface="Arial"/>
              </a:rPr>
              <a:t>namespaceSelector and podSelector in one peer item are ANDed; split across two items they are ORed</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16</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kcna-lab16</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courseware/labs/lab-16-networkpolicy-isolation/README.md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351</a:t>
            </a:r>
          </a:p>
        </p:txBody>
      </p:sp>
    </p:spTree>
  </p:cSld>
  <p:clrMapOvr>
    <a:masterClrMapping/>
  </p:clrMapOvr>
  <p:transition xmlns:ns1="http://schemas.openxmlformats.org/markup-compatibility/2006" spd="fast" ns1:Ignorable="p14">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POD SECURITY STANDARDS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levels that replaced PodSecurityPolicy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Built-in, namespace-scoped and free. There is no reason for a production namespace to be unlabelled.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privileged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Entirely unrestricted. Intended for trusted, infrastructure workloads such as CNI and CSI DaemonSets.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baseline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Blocks known privilege escalations: no privileged containers, no hostPath, no host namespaces, no hostPort.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restricted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Baseline plus hardening: run as non-root, drop ALL capabilities, seccomp RuntimeDefault, no privilege escalation.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Applied by namespace label</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pod-security.kubernetes.io/enforce, warn and audit. No CRD, no controller to install.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PodSecurityPolicy is gone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PSP was removed in Kubernetes v1.25. Pod Security admission is the built-in successor.</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Policy engines go further</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Kyverno or OPA Gatekeeper express rules PSS cannot — required labels, registry allow-lists, image digests.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kubernetes.io/docs/concepts/security/pod-security-standards/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352</a:t>
            </a:r>
          </a:p>
        </p:txBody>
      </p:sp>
    </p:spTree>
  </p:cSld>
  <p:clrMapOvr>
    <a:masterClrMapping/>
  </p:clrMapOvr>
  <p:transition xmlns:ns1="http://schemas.openxmlformats.org/markup-compatibility/2006" spd="fast" ns1:Ignorable="p14">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Pod Security admission, in one panel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modes, two label keys and one very common blocker.</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enforce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Rejects violating Pods outright at admission</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audit</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Records a violation annotation in the audit log; Pod is admitted</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warn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Prints a warning to the client; Pod is admitted</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Label form</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pod-security.kubernetes.io/&lt;mode&gt;: &lt;level&gt;</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Version pinning</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pod-security.kubernetes.io/&lt;mode&gt;-version: v1.31 or latest</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Scope</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Evaluated per namespace, at Pod admission time</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Existing Pods</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Are not evicted when a label is added — only new Pods are checked</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restricted essentials</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runAsNonRoot, allowPrivilegeEscalation: false, capabilities drop ALL, seccomp RuntimeDefault</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Common blocker</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An image whose process insists on binding a port below 1024</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Exemptions</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Configurable by username, RuntimeClass or namespace in the admission configuration</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kubernetes.io/docs/concepts/security/pod-security-standards/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353</a:t>
            </a:r>
          </a:p>
        </p:txBody>
      </p:sp>
    </p:spTree>
  </p:cSld>
  <p:clrMapOvr>
    <a:masterClrMapping/>
  </p:clrMapOvr>
  <p:transition xmlns:ns1="http://schemas.openxmlformats.org/markup-compatibility/2006" spd="fast" ns1:Ignorable="p14">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ADMISSION CONTROL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last gate before an object exists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Mutate first, validate second — deliberately, so injected changes are still policed.</a:t>
            </a:r>
          </a:p>
        </p:txBody>
      </p:sp>
      <p:sp>
        <p:nvSpPr>
          <p:cNvPr id="7" name="Rounded Rectangle 6"/>
          <p:cNvSpPr/>
          <p:nvPr/>
        </p:nvSpPr>
        <p:spPr>
          <a:xfrm>
            <a:off x="7772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Request is authenticated and authorized</a:t>
            </a:r>
          </a:p>
        </p:txBody>
      </p:sp>
      <p:sp>
        <p:nvSpPr>
          <p:cNvPr id="11" name="TextBox 10"/>
          <p:cNvSpPr txBox="1"/>
          <p:nvPr/>
        </p:nvSpPr>
        <p:spPr>
          <a:xfrm>
            <a:off x="9235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Gates 1 and 2 have already passed. The object is well-formed JSON but not yet persisted.</a:t>
            </a:r>
          </a:p>
        </p:txBody>
      </p:sp>
      <p:cxnSp>
        <p:nvCxnSpPr>
          <p:cNvPr id="12" name="Connector 11"/>
          <p:cNvCxnSpPr/>
          <p:nvPr/>
        </p:nvCxnSpPr>
        <p:spPr>
          <a:xfrm>
            <a:off x="271393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09448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Mutating admission runs</a:t>
            </a:r>
          </a:p>
        </p:txBody>
      </p:sp>
      <p:sp>
        <p:nvSpPr>
          <p:cNvPr id="17" name="TextBox 16"/>
          <p:cNvSpPr txBox="1"/>
          <p:nvPr/>
        </p:nvSpPr>
        <p:spPr>
          <a:xfrm>
            <a:off x="312541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Built-in plugins and mutating webhooks may CHANGE the object — defaults, sidecar injection, label stamping.</a:t>
            </a:r>
          </a:p>
        </p:txBody>
      </p:sp>
      <p:cxnSp>
        <p:nvCxnSpPr>
          <p:cNvPr id="18" name="Connector 17"/>
          <p:cNvCxnSpPr/>
          <p:nvPr/>
        </p:nvCxnSpPr>
        <p:spPr>
          <a:xfrm>
            <a:off x="491581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09448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Object schema validation</a:t>
            </a:r>
          </a:p>
        </p:txBody>
      </p:sp>
      <p:sp>
        <p:nvSpPr>
          <p:cNvPr id="23" name="TextBox 22"/>
          <p:cNvSpPr txBox="1"/>
          <p:nvPr/>
        </p:nvSpPr>
        <p:spPr>
          <a:xfrm>
            <a:off x="532729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API server validates the mutated object against the resource schema. Mutation cannot bypass this.</a:t>
            </a:r>
          </a:p>
        </p:txBody>
      </p:sp>
      <p:cxnSp>
        <p:nvCxnSpPr>
          <p:cNvPr id="24" name="Connector 23"/>
          <p:cNvCxnSpPr/>
          <p:nvPr/>
        </p:nvCxnSpPr>
        <p:spPr>
          <a:xfrm>
            <a:off x="711768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09448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Validating admission runs</a:t>
            </a:r>
          </a:p>
        </p:txBody>
      </p:sp>
      <p:sp>
        <p:nvSpPr>
          <p:cNvPr id="29" name="TextBox 28"/>
          <p:cNvSpPr txBox="1"/>
          <p:nvPr/>
        </p:nvSpPr>
        <p:spPr>
          <a:xfrm>
            <a:off x="752916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Validating webhooks, Pod Security admission and CEL-based ValidatingAdmissionPolicy accept or reject.</a:t>
            </a:r>
          </a:p>
        </p:txBody>
      </p:sp>
      <p:cxnSp>
        <p:nvCxnSpPr>
          <p:cNvPr id="30" name="Connector 29"/>
          <p:cNvCxnSpPr/>
          <p:nvPr/>
        </p:nvCxnSpPr>
        <p:spPr>
          <a:xfrm>
            <a:off x="931956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Persisted to etcd</a:t>
            </a:r>
          </a:p>
        </p:txBody>
      </p:sp>
      <p:sp>
        <p:nvSpPr>
          <p:cNvPr id="35" name="TextBox 34"/>
          <p:cNvSpPr txBox="1"/>
          <p:nvPr/>
        </p:nvSpPr>
        <p:spPr>
          <a:xfrm>
            <a:off x="97310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Only now does the object exist, become visible to watchers and trigger controllers.</a:t>
            </a:r>
          </a:p>
        </p:txBody>
      </p:sp>
      <p:sp>
        <p:nvSpPr>
          <p:cNvPr id="36" name="Rectangle 35"/>
          <p:cNvSpPr/>
          <p:nvPr/>
        </p:nvSpPr>
        <p:spPr>
          <a:xfrm>
            <a:off x="777240" y="478830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78830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87060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09920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ValidatingAdmissionPolicy expresses rules in CEL inside the API server, avoiding a webhook service on the critical path of every write.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kubernetes.io/docs/reference/access-authn-authz/admission-controllers/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354</a:t>
            </a:r>
          </a:p>
        </p:txBody>
      </p:sp>
    </p:spTree>
  </p:cSld>
  <p:clrMapOvr>
    <a:masterClrMapping/>
  </p:clrMapOvr>
  <p:transition xmlns:ns5="http://schemas.openxmlformats.org/markup-compatibility/2006" spd="fast" ns5:Ignorable="p14">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SUPPLY CHAIN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Trusting what actually runs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will run any image the node can pull. Every control here is something you add.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Pin by digest, not by tag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Tags are mutable pointers. image@sha256:… names exactly one set of bytes, forever.</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Sign images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Sigstore/cosign signatures let admission verify the publisher before a Pod is allowed to run.</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Publish an SBOM</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SPDX or CycloneDX inventories what is inside the image, so a new CVE can be answered by query rather than rebuild.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Record provenance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in-toto attestations and SLSA levels describe how the artifact was built and by which pipeline.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Enforce at admission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Registry allow-lists, digest requirements and signature verification belong in an admission policy.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Scan continuously</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image that was clean at build time is not clean forever. Re-scan what is actually running.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kubernetes.io/docs/concepts/security/supply-chain-security/ · slsa.dev</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355</a:t>
            </a:r>
          </a:p>
        </p:txBody>
      </p:sp>
    </p:spTree>
  </p:cSld>
  <p:clrMapOvr>
    <a:masterClrMapping/>
  </p:clrMapOvr>
  <p:transition xmlns:ns1="http://schemas.openxmlformats.org/markup-compatibility/2006" spd="fast" ns1:Ignorable="p14">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POLICY ENGINES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a rule can live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tiers, increasing in power and in operational responsibility.</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Built-in admission</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Pod Security admission for the three PSS levels</a:t>
            </a:r>
          </a:p>
          <a:p>
            <a:pPr>
              <a:lnSpc>
                <a:spcPct val="112000"/>
              </a:lnSpc>
              <a:spcAft>
                <a:spcPts val="500"/>
              </a:spcAft>
            </a:pPr>
            <a:r>
              <a:rPr sz="1100">
                <a:solidFill>
                  <a:srgbClr val="94A3B8"/>
                </a:solidFill>
                <a:latin typeface="Arial"/>
              </a:rPr>
              <a:t>•  </a:t>
            </a:r>
            <a:r>
              <a:rPr sz="1100">
                <a:solidFill>
                  <a:srgbClr val="5B6372"/>
                </a:solidFill>
                <a:latin typeface="Arial"/>
              </a:rPr>
              <a:t>ResourceQuota and LimitRange for consumption</a:t>
            </a:r>
          </a:p>
          <a:p>
            <a:pPr>
              <a:lnSpc>
                <a:spcPct val="112000"/>
              </a:lnSpc>
              <a:spcAft>
                <a:spcPts val="500"/>
              </a:spcAft>
            </a:pPr>
            <a:r>
              <a:rPr sz="1100">
                <a:solidFill>
                  <a:srgbClr val="94A3B8"/>
                </a:solidFill>
                <a:latin typeface="Arial"/>
              </a:rPr>
              <a:t>•  </a:t>
            </a:r>
            <a:r>
              <a:rPr sz="1100">
                <a:solidFill>
                  <a:srgbClr val="5B6372"/>
                </a:solidFill>
                <a:latin typeface="Arial"/>
              </a:rPr>
              <a:t>No installation, no extra failure domain</a:t>
            </a:r>
          </a:p>
          <a:p>
            <a:pPr>
              <a:lnSpc>
                <a:spcPct val="112000"/>
              </a:lnSpc>
              <a:spcAft>
                <a:spcPts val="500"/>
              </a:spcAft>
            </a:pPr>
            <a:r>
              <a:rPr sz="1100">
                <a:solidFill>
                  <a:srgbClr val="94A3B8"/>
                </a:solidFill>
                <a:latin typeface="Arial"/>
              </a:rPr>
              <a:t>•  </a:t>
            </a:r>
            <a:r>
              <a:rPr sz="1100">
                <a:solidFill>
                  <a:srgbClr val="5B6372"/>
                </a:solidFill>
                <a:latin typeface="Arial"/>
              </a:rPr>
              <a:t>Limited to what the built-in plugins express</a:t>
            </a:r>
          </a:p>
        </p:txBody>
      </p:sp>
      <p:sp>
        <p:nvSpPr>
          <p:cNvPr id="11" name="Rounded Rectangle 10"/>
          <p:cNvSpPr/>
          <p:nvPr/>
        </p:nvSpPr>
        <p:spPr>
          <a:xfrm>
            <a:off x="1033271" y="5532120"/>
            <a:ext cx="8686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no install</a:t>
            </a:r>
          </a:p>
        </p:txBody>
      </p:sp>
      <p:sp>
        <p:nvSpPr>
          <p:cNvPr id="12" name="Rectangle 11"/>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ValidatingAdmissionPolicy</a:t>
            </a:r>
          </a:p>
        </p:txBody>
      </p:sp>
      <p:sp>
        <p:nvSpPr>
          <p:cNvPr id="15" name="TextBox 14"/>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Rules written in CEL, evaluated inside the API server</a:t>
            </a:r>
          </a:p>
          <a:p>
            <a:pPr>
              <a:lnSpc>
                <a:spcPct val="112000"/>
              </a:lnSpc>
              <a:spcAft>
                <a:spcPts val="500"/>
              </a:spcAft>
            </a:pPr>
            <a:r>
              <a:rPr sz="1100">
                <a:solidFill>
                  <a:srgbClr val="94A3B8"/>
                </a:solidFill>
                <a:latin typeface="Arial"/>
              </a:rPr>
              <a:t>•  </a:t>
            </a:r>
            <a:r>
              <a:rPr sz="1100">
                <a:solidFill>
                  <a:srgbClr val="5B6372"/>
                </a:solidFill>
                <a:latin typeface="Arial"/>
              </a:rPr>
              <a:t>No webhook service on the write path</a:t>
            </a:r>
          </a:p>
          <a:p>
            <a:pPr>
              <a:lnSpc>
                <a:spcPct val="112000"/>
              </a:lnSpc>
              <a:spcAft>
                <a:spcPts val="500"/>
              </a:spcAft>
            </a:pPr>
            <a:r>
              <a:rPr sz="1100">
                <a:solidFill>
                  <a:srgbClr val="94A3B8"/>
                </a:solidFill>
                <a:latin typeface="Arial"/>
              </a:rPr>
              <a:t>•  </a:t>
            </a:r>
            <a:r>
              <a:rPr sz="1100">
                <a:solidFill>
                  <a:srgbClr val="5B6372"/>
                </a:solidFill>
                <a:latin typeface="Arial"/>
              </a:rPr>
              <a:t>Bound to resources by a policy binding object</a:t>
            </a:r>
          </a:p>
          <a:p>
            <a:pPr>
              <a:lnSpc>
                <a:spcPct val="112000"/>
              </a:lnSpc>
              <a:spcAft>
                <a:spcPts val="500"/>
              </a:spcAft>
            </a:pPr>
            <a:r>
              <a:rPr sz="1100">
                <a:solidFill>
                  <a:srgbClr val="94A3B8"/>
                </a:solidFill>
                <a:latin typeface="Arial"/>
              </a:rPr>
              <a:t>•  </a:t>
            </a:r>
            <a:r>
              <a:rPr sz="1100">
                <a:solidFill>
                  <a:srgbClr val="5B6372"/>
                </a:solidFill>
                <a:latin typeface="Arial"/>
              </a:rPr>
              <a:t>Good fit for straightforward structural constraints</a:t>
            </a:r>
          </a:p>
        </p:txBody>
      </p:sp>
      <p:sp>
        <p:nvSpPr>
          <p:cNvPr id="16" name="Rounded Rectangle 15"/>
          <p:cNvSpPr/>
          <p:nvPr/>
        </p:nvSpPr>
        <p:spPr>
          <a:xfrm>
            <a:off x="4739335" y="5532120"/>
            <a:ext cx="8686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in-process</a:t>
            </a:r>
          </a:p>
        </p:txBody>
      </p:sp>
      <p:sp>
        <p:nvSpPr>
          <p:cNvPr id="17" name="Rounded Rectangle 16"/>
          <p:cNvSpPr/>
          <p:nvPr/>
        </p:nvSpPr>
        <p:spPr>
          <a:xfrm>
            <a:off x="5699455" y="5532120"/>
            <a:ext cx="38862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CEL</a:t>
            </a:r>
          </a:p>
        </p:txBody>
      </p:sp>
      <p:sp>
        <p:nvSpPr>
          <p:cNvPr id="18" name="Rectangle 17"/>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0" name="TextBox 19"/>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Webhook policy engines</a:t>
            </a:r>
          </a:p>
        </p:txBody>
      </p:sp>
      <p:sp>
        <p:nvSpPr>
          <p:cNvPr id="21" name="TextBox 20"/>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Kyverno and OPA Gatekeeper are the CNCF-project options</a:t>
            </a:r>
          </a:p>
          <a:p>
            <a:pPr>
              <a:lnSpc>
                <a:spcPct val="112000"/>
              </a:lnSpc>
              <a:spcAft>
                <a:spcPts val="500"/>
              </a:spcAft>
            </a:pPr>
            <a:r>
              <a:rPr sz="1100">
                <a:solidFill>
                  <a:srgbClr val="94A3B8"/>
                </a:solidFill>
                <a:latin typeface="Arial"/>
              </a:rPr>
              <a:t>•  </a:t>
            </a:r>
            <a:r>
              <a:rPr sz="1100">
                <a:solidFill>
                  <a:srgbClr val="5B6372"/>
                </a:solidFill>
                <a:latin typeface="Arial"/>
              </a:rPr>
              <a:t>Can mutate as well as validate, and generate objects</a:t>
            </a:r>
          </a:p>
          <a:p>
            <a:pPr>
              <a:lnSpc>
                <a:spcPct val="112000"/>
              </a:lnSpc>
              <a:spcAft>
                <a:spcPts val="500"/>
              </a:spcAft>
            </a:pPr>
            <a:r>
              <a:rPr sz="1100">
                <a:solidFill>
                  <a:srgbClr val="94A3B8"/>
                </a:solidFill>
                <a:latin typeface="Arial"/>
              </a:rPr>
              <a:t>•  </a:t>
            </a:r>
            <a:r>
              <a:rPr sz="1100">
                <a:solidFill>
                  <a:srgbClr val="5B6372"/>
                </a:solidFill>
                <a:latin typeface="Arial"/>
              </a:rPr>
              <a:t>Richest expressiveness — and an extra service to operate</a:t>
            </a:r>
          </a:p>
          <a:p>
            <a:pPr>
              <a:lnSpc>
                <a:spcPct val="112000"/>
              </a:lnSpc>
              <a:spcAft>
                <a:spcPts val="500"/>
              </a:spcAft>
            </a:pPr>
            <a:r>
              <a:rPr sz="1100">
                <a:solidFill>
                  <a:srgbClr val="94A3B8"/>
                </a:solidFill>
                <a:latin typeface="Arial"/>
              </a:rPr>
              <a:t>•  </a:t>
            </a:r>
            <a:r>
              <a:rPr sz="1100">
                <a:solidFill>
                  <a:srgbClr val="5B6372"/>
                </a:solidFill>
                <a:latin typeface="Arial"/>
              </a:rPr>
              <a:t>Mind failurePolicy: Fail can block writes during an outage</a:t>
            </a:r>
          </a:p>
        </p:txBody>
      </p:sp>
      <p:sp>
        <p:nvSpPr>
          <p:cNvPr id="22" name="Rounded Rectangle 21"/>
          <p:cNvSpPr/>
          <p:nvPr/>
        </p:nvSpPr>
        <p:spPr>
          <a:xfrm>
            <a:off x="8445398" y="5532120"/>
            <a:ext cx="12115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most expressive</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kubernetes.io/docs/reference/access-authn-authz/admission-controllers/ · kyverno.io · openpolicyagent.org/docs/gatekeeper</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356</a:t>
            </a:r>
          </a:p>
        </p:txBody>
      </p:sp>
    </p:spTree>
  </p:cSld>
  <p:clrMapOvr>
    <a:masterClrMapping/>
  </p:clrMapOvr>
  <p:transition xmlns:ns1="http://schemas.openxmlformats.org/markup-compatibility/2006" spd="fast" ns1:Ignorable="p14">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Projects behind today's concepts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Twelve CNCF projects that implement the mechanisms taught today. Recognising the names is KCNA-relevant.</a:t>
            </a:r>
          </a:p>
        </p:txBody>
      </p:sp>
      <p:sp>
        <p:nvSpPr>
          <p:cNvPr id="7" name="Rectangle 6"/>
          <p:cNvSpPr/>
          <p:nvPr/>
        </p:nvSpPr>
        <p:spPr>
          <a:xfrm>
            <a:off x="777240"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1661159" cy="45720"/>
          </a:xfrm>
          <a:prstGeom prst="rect">
            <a:avLst/>
          </a:prstGeom>
          <a:solidFill>
            <a:srgbClr val="1F6FEB"/>
          </a:solidFill>
          <a:ln>
            <a:noFill/>
          </a:ln>
          <a:effectLst/>
        </p:spPr>
        <p:txBody>
          <a:bodyPr rtlCol="0" anchor="ctr" wrap="square"/>
          <a:lstStyle/>
          <a:p>
            <a:pPr algn="ctr"/>
          </a:p>
        </p:txBody>
      </p:sp>
      <p:pic>
        <p:nvPicPr>
          <p:cNvPr id="9" name="Picture 8" descr="coredns.png"/>
          <p:cNvPicPr>
            <a:picLocks noChangeAspect="1"/>
          </p:cNvPicPr>
          <p:nvPr/>
        </p:nvPicPr>
        <p:blipFill>
          <a:blip r:embed="rId3"/>
          <a:stretch>
            <a:fillRect/>
          </a:stretch>
        </p:blipFill>
        <p:spPr>
          <a:xfrm>
            <a:off x="1315211" y="2346350"/>
            <a:ext cx="585216" cy="585216"/>
          </a:xfrm>
          <a:prstGeom prst="rect">
            <a:avLst/>
          </a:prstGeom>
        </p:spPr>
      </p:pic>
      <p:sp>
        <p:nvSpPr>
          <p:cNvPr id="10" name="TextBox 9"/>
          <p:cNvSpPr txBox="1"/>
          <p:nvPr/>
        </p:nvSpPr>
        <p:spPr>
          <a:xfrm>
            <a:off x="850392"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CoreDNS</a:t>
            </a:r>
          </a:p>
        </p:txBody>
      </p:sp>
      <p:sp>
        <p:nvSpPr>
          <p:cNvPr id="11" name="TextBox 10"/>
          <p:cNvSpPr txBox="1"/>
          <p:nvPr/>
        </p:nvSpPr>
        <p:spPr>
          <a:xfrm>
            <a:off x="850392"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Cluster DNS</a:t>
            </a:r>
          </a:p>
        </p:txBody>
      </p:sp>
      <p:sp>
        <p:nvSpPr>
          <p:cNvPr id="12" name="Rectangle 11"/>
          <p:cNvSpPr/>
          <p:nvPr/>
        </p:nvSpPr>
        <p:spPr>
          <a:xfrm>
            <a:off x="2584703"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2584703" y="2200046"/>
            <a:ext cx="1661159" cy="45720"/>
          </a:xfrm>
          <a:prstGeom prst="rect">
            <a:avLst/>
          </a:prstGeom>
          <a:solidFill>
            <a:srgbClr val="10B981"/>
          </a:solidFill>
          <a:ln>
            <a:noFill/>
          </a:ln>
          <a:effectLst/>
        </p:spPr>
        <p:txBody>
          <a:bodyPr rtlCol="0" anchor="ctr" wrap="square"/>
          <a:lstStyle/>
          <a:p>
            <a:pPr algn="ctr"/>
          </a:p>
        </p:txBody>
      </p:sp>
      <p:pic>
        <p:nvPicPr>
          <p:cNvPr id="14" name="Picture 13" descr="cilium.png"/>
          <p:cNvPicPr>
            <a:picLocks noChangeAspect="1"/>
          </p:cNvPicPr>
          <p:nvPr/>
        </p:nvPicPr>
        <p:blipFill>
          <a:blip r:embed="rId4"/>
          <a:stretch>
            <a:fillRect/>
          </a:stretch>
        </p:blipFill>
        <p:spPr>
          <a:xfrm>
            <a:off x="3126598" y="2346350"/>
            <a:ext cx="577370" cy="585216"/>
          </a:xfrm>
          <a:prstGeom prst="rect">
            <a:avLst/>
          </a:prstGeom>
        </p:spPr>
      </p:pic>
      <p:sp>
        <p:nvSpPr>
          <p:cNvPr id="15" name="TextBox 14"/>
          <p:cNvSpPr txBox="1"/>
          <p:nvPr/>
        </p:nvSpPr>
        <p:spPr>
          <a:xfrm>
            <a:off x="2657855"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Cilium</a:t>
            </a:r>
          </a:p>
        </p:txBody>
      </p:sp>
      <p:sp>
        <p:nvSpPr>
          <p:cNvPr id="16" name="TextBox 15"/>
          <p:cNvSpPr txBox="1"/>
          <p:nvPr/>
        </p:nvSpPr>
        <p:spPr>
          <a:xfrm>
            <a:off x="2657855"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eBPF CNI + policy</a:t>
            </a:r>
          </a:p>
        </p:txBody>
      </p:sp>
      <p:sp>
        <p:nvSpPr>
          <p:cNvPr id="17" name="Rectangle 16"/>
          <p:cNvSpPr/>
          <p:nvPr/>
        </p:nvSpPr>
        <p:spPr>
          <a:xfrm>
            <a:off x="4392167"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4392167" y="2200046"/>
            <a:ext cx="1661159" cy="45720"/>
          </a:xfrm>
          <a:prstGeom prst="rect">
            <a:avLst/>
          </a:prstGeom>
          <a:solidFill>
            <a:srgbClr val="7C3AED"/>
          </a:solidFill>
          <a:ln>
            <a:noFill/>
          </a:ln>
          <a:effectLst/>
        </p:spPr>
        <p:txBody>
          <a:bodyPr rtlCol="0" anchor="ctr" wrap="square"/>
          <a:lstStyle/>
          <a:p>
            <a:pPr algn="ctr"/>
          </a:p>
        </p:txBody>
      </p:sp>
      <p:pic>
        <p:nvPicPr>
          <p:cNvPr id="19" name="Picture 18" descr="envoy.png"/>
          <p:cNvPicPr>
            <a:picLocks noChangeAspect="1"/>
          </p:cNvPicPr>
          <p:nvPr/>
        </p:nvPicPr>
        <p:blipFill>
          <a:blip r:embed="rId5"/>
          <a:stretch>
            <a:fillRect/>
          </a:stretch>
        </p:blipFill>
        <p:spPr>
          <a:xfrm>
            <a:off x="4930139" y="2346350"/>
            <a:ext cx="585216" cy="585216"/>
          </a:xfrm>
          <a:prstGeom prst="rect">
            <a:avLst/>
          </a:prstGeom>
        </p:spPr>
      </p:pic>
      <p:sp>
        <p:nvSpPr>
          <p:cNvPr id="20" name="TextBox 19"/>
          <p:cNvSpPr txBox="1"/>
          <p:nvPr/>
        </p:nvSpPr>
        <p:spPr>
          <a:xfrm>
            <a:off x="4465320"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Envoy</a:t>
            </a:r>
          </a:p>
        </p:txBody>
      </p:sp>
      <p:sp>
        <p:nvSpPr>
          <p:cNvPr id="21" name="TextBox 20"/>
          <p:cNvSpPr txBox="1"/>
          <p:nvPr/>
        </p:nvSpPr>
        <p:spPr>
          <a:xfrm>
            <a:off x="4465320"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Proxy data plane</a:t>
            </a:r>
          </a:p>
        </p:txBody>
      </p:sp>
      <p:sp>
        <p:nvSpPr>
          <p:cNvPr id="22" name="Rectangle 21"/>
          <p:cNvSpPr/>
          <p:nvPr/>
        </p:nvSpPr>
        <p:spPr>
          <a:xfrm>
            <a:off x="6199631"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3" name="Rectangle 22"/>
          <p:cNvSpPr/>
          <p:nvPr/>
        </p:nvSpPr>
        <p:spPr>
          <a:xfrm>
            <a:off x="6199631" y="2200046"/>
            <a:ext cx="1661159" cy="45720"/>
          </a:xfrm>
          <a:prstGeom prst="rect">
            <a:avLst/>
          </a:prstGeom>
          <a:solidFill>
            <a:srgbClr val="F59E0B"/>
          </a:solidFill>
          <a:ln>
            <a:noFill/>
          </a:ln>
          <a:effectLst/>
        </p:spPr>
        <p:txBody>
          <a:bodyPr rtlCol="0" anchor="ctr" wrap="square"/>
          <a:lstStyle/>
          <a:p>
            <a:pPr algn="ctr"/>
          </a:p>
        </p:txBody>
      </p:sp>
      <p:pic>
        <p:nvPicPr>
          <p:cNvPr id="24" name="Picture 23" descr="istio.png"/>
          <p:cNvPicPr>
            <a:picLocks noChangeAspect="1"/>
          </p:cNvPicPr>
          <p:nvPr/>
        </p:nvPicPr>
        <p:blipFill>
          <a:blip r:embed="rId6"/>
          <a:stretch>
            <a:fillRect/>
          </a:stretch>
        </p:blipFill>
        <p:spPr>
          <a:xfrm>
            <a:off x="6808853" y="2346350"/>
            <a:ext cx="442716" cy="585216"/>
          </a:xfrm>
          <a:prstGeom prst="rect">
            <a:avLst/>
          </a:prstGeom>
        </p:spPr>
      </p:pic>
      <p:sp>
        <p:nvSpPr>
          <p:cNvPr id="25" name="TextBox 24"/>
          <p:cNvSpPr txBox="1"/>
          <p:nvPr/>
        </p:nvSpPr>
        <p:spPr>
          <a:xfrm>
            <a:off x="6272783"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Istio</a:t>
            </a:r>
          </a:p>
        </p:txBody>
      </p:sp>
      <p:sp>
        <p:nvSpPr>
          <p:cNvPr id="26" name="TextBox 25"/>
          <p:cNvSpPr txBox="1"/>
          <p:nvPr/>
        </p:nvSpPr>
        <p:spPr>
          <a:xfrm>
            <a:off x="6272783"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Service mesh</a:t>
            </a:r>
          </a:p>
        </p:txBody>
      </p:sp>
      <p:sp>
        <p:nvSpPr>
          <p:cNvPr id="27" name="Rectangle 26"/>
          <p:cNvSpPr/>
          <p:nvPr/>
        </p:nvSpPr>
        <p:spPr>
          <a:xfrm>
            <a:off x="8007095"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8007095" y="2200046"/>
            <a:ext cx="1661159" cy="45720"/>
          </a:xfrm>
          <a:prstGeom prst="rect">
            <a:avLst/>
          </a:prstGeom>
          <a:solidFill>
            <a:srgbClr val="1F6FEB"/>
          </a:solidFill>
          <a:ln>
            <a:noFill/>
          </a:ln>
          <a:effectLst/>
        </p:spPr>
        <p:txBody>
          <a:bodyPr rtlCol="0" anchor="ctr" wrap="square"/>
          <a:lstStyle/>
          <a:p>
            <a:pPr algn="ctr"/>
          </a:p>
        </p:txBody>
      </p:sp>
      <p:pic>
        <p:nvPicPr>
          <p:cNvPr id="29" name="Picture 28" descr="linkerd.png"/>
          <p:cNvPicPr>
            <a:picLocks noChangeAspect="1"/>
          </p:cNvPicPr>
          <p:nvPr/>
        </p:nvPicPr>
        <p:blipFill>
          <a:blip r:embed="rId7"/>
          <a:stretch>
            <a:fillRect/>
          </a:stretch>
        </p:blipFill>
        <p:spPr>
          <a:xfrm>
            <a:off x="8545067" y="2346350"/>
            <a:ext cx="585216" cy="585216"/>
          </a:xfrm>
          <a:prstGeom prst="rect">
            <a:avLst/>
          </a:prstGeom>
        </p:spPr>
      </p:pic>
      <p:sp>
        <p:nvSpPr>
          <p:cNvPr id="30" name="TextBox 29"/>
          <p:cNvSpPr txBox="1"/>
          <p:nvPr/>
        </p:nvSpPr>
        <p:spPr>
          <a:xfrm>
            <a:off x="8080247"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Linkerd</a:t>
            </a:r>
          </a:p>
        </p:txBody>
      </p:sp>
      <p:sp>
        <p:nvSpPr>
          <p:cNvPr id="31" name="TextBox 30"/>
          <p:cNvSpPr txBox="1"/>
          <p:nvPr/>
        </p:nvSpPr>
        <p:spPr>
          <a:xfrm>
            <a:off x="8080247"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Service mesh</a:t>
            </a:r>
          </a:p>
        </p:txBody>
      </p:sp>
      <p:sp>
        <p:nvSpPr>
          <p:cNvPr id="32" name="Rectangle 31"/>
          <p:cNvSpPr/>
          <p:nvPr/>
        </p:nvSpPr>
        <p:spPr>
          <a:xfrm>
            <a:off x="9814559"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3" name="Rectangle 32"/>
          <p:cNvSpPr/>
          <p:nvPr/>
        </p:nvSpPr>
        <p:spPr>
          <a:xfrm>
            <a:off x="9814559" y="2200046"/>
            <a:ext cx="1661159" cy="45720"/>
          </a:xfrm>
          <a:prstGeom prst="rect">
            <a:avLst/>
          </a:prstGeom>
          <a:solidFill>
            <a:srgbClr val="10B981"/>
          </a:solidFill>
          <a:ln>
            <a:noFill/>
          </a:ln>
          <a:effectLst/>
        </p:spPr>
        <p:txBody>
          <a:bodyPr rtlCol="0" anchor="ctr" wrap="square"/>
          <a:lstStyle/>
          <a:p>
            <a:pPr algn="ctr"/>
          </a:p>
        </p:txBody>
      </p:sp>
      <p:pic>
        <p:nvPicPr>
          <p:cNvPr id="34" name="Picture 33" descr="contour.png"/>
          <p:cNvPicPr>
            <a:picLocks noChangeAspect="1"/>
          </p:cNvPicPr>
          <p:nvPr/>
        </p:nvPicPr>
        <p:blipFill>
          <a:blip r:embed="rId8"/>
          <a:stretch>
            <a:fillRect/>
          </a:stretch>
        </p:blipFill>
        <p:spPr>
          <a:xfrm>
            <a:off x="10352531" y="2346350"/>
            <a:ext cx="585216" cy="585216"/>
          </a:xfrm>
          <a:prstGeom prst="rect">
            <a:avLst/>
          </a:prstGeom>
        </p:spPr>
      </p:pic>
      <p:sp>
        <p:nvSpPr>
          <p:cNvPr id="35" name="TextBox 34"/>
          <p:cNvSpPr txBox="1"/>
          <p:nvPr/>
        </p:nvSpPr>
        <p:spPr>
          <a:xfrm>
            <a:off x="9887711"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Contour</a:t>
            </a:r>
          </a:p>
        </p:txBody>
      </p:sp>
      <p:sp>
        <p:nvSpPr>
          <p:cNvPr id="36" name="TextBox 35"/>
          <p:cNvSpPr txBox="1"/>
          <p:nvPr/>
        </p:nvSpPr>
        <p:spPr>
          <a:xfrm>
            <a:off x="9887711"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Ingress / Gateway</a:t>
            </a:r>
          </a:p>
        </p:txBody>
      </p:sp>
      <p:sp>
        <p:nvSpPr>
          <p:cNvPr id="37" name="Rectangle 36"/>
          <p:cNvSpPr/>
          <p:nvPr/>
        </p:nvSpPr>
        <p:spPr>
          <a:xfrm>
            <a:off x="777240"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8" name="Rectangle 37"/>
          <p:cNvSpPr/>
          <p:nvPr/>
        </p:nvSpPr>
        <p:spPr>
          <a:xfrm>
            <a:off x="777240" y="3809390"/>
            <a:ext cx="1661159" cy="45720"/>
          </a:xfrm>
          <a:prstGeom prst="rect">
            <a:avLst/>
          </a:prstGeom>
          <a:solidFill>
            <a:srgbClr val="7C3AED"/>
          </a:solidFill>
          <a:ln>
            <a:noFill/>
          </a:ln>
          <a:effectLst/>
        </p:spPr>
        <p:txBody>
          <a:bodyPr rtlCol="0" anchor="ctr" wrap="square"/>
          <a:lstStyle/>
          <a:p>
            <a:pPr algn="ctr"/>
          </a:p>
        </p:txBody>
      </p:sp>
      <p:pic>
        <p:nvPicPr>
          <p:cNvPr id="39" name="Picture 38" descr="helm.png"/>
          <p:cNvPicPr>
            <a:picLocks noChangeAspect="1"/>
          </p:cNvPicPr>
          <p:nvPr/>
        </p:nvPicPr>
        <p:blipFill>
          <a:blip r:embed="rId9"/>
          <a:stretch>
            <a:fillRect/>
          </a:stretch>
        </p:blipFill>
        <p:spPr>
          <a:xfrm>
            <a:off x="1315211" y="3955694"/>
            <a:ext cx="585216" cy="585216"/>
          </a:xfrm>
          <a:prstGeom prst="rect">
            <a:avLst/>
          </a:prstGeom>
        </p:spPr>
      </p:pic>
      <p:sp>
        <p:nvSpPr>
          <p:cNvPr id="40" name="TextBox 39"/>
          <p:cNvSpPr txBox="1"/>
          <p:nvPr/>
        </p:nvSpPr>
        <p:spPr>
          <a:xfrm>
            <a:off x="850392"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Helm</a:t>
            </a:r>
          </a:p>
        </p:txBody>
      </p:sp>
      <p:sp>
        <p:nvSpPr>
          <p:cNvPr id="41" name="TextBox 40"/>
          <p:cNvSpPr txBox="1"/>
          <p:nvPr/>
        </p:nvSpPr>
        <p:spPr>
          <a:xfrm>
            <a:off x="850392"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Chart packaging</a:t>
            </a:r>
          </a:p>
        </p:txBody>
      </p:sp>
      <p:sp>
        <p:nvSpPr>
          <p:cNvPr id="42" name="Rectangle 41"/>
          <p:cNvSpPr/>
          <p:nvPr/>
        </p:nvSpPr>
        <p:spPr>
          <a:xfrm>
            <a:off x="2584703"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3" name="Rectangle 42"/>
          <p:cNvSpPr/>
          <p:nvPr/>
        </p:nvSpPr>
        <p:spPr>
          <a:xfrm>
            <a:off x="2584703" y="3809390"/>
            <a:ext cx="1661159" cy="45720"/>
          </a:xfrm>
          <a:prstGeom prst="rect">
            <a:avLst/>
          </a:prstGeom>
          <a:solidFill>
            <a:srgbClr val="F59E0B"/>
          </a:solidFill>
          <a:ln>
            <a:noFill/>
          </a:ln>
          <a:effectLst/>
        </p:spPr>
        <p:txBody>
          <a:bodyPr rtlCol="0" anchor="ctr" wrap="square"/>
          <a:lstStyle/>
          <a:p>
            <a:pPr algn="ctr"/>
          </a:p>
        </p:txBody>
      </p:sp>
      <p:pic>
        <p:nvPicPr>
          <p:cNvPr id="44" name="Picture 43" descr="spiffe.png"/>
          <p:cNvPicPr>
            <a:picLocks noChangeAspect="1"/>
          </p:cNvPicPr>
          <p:nvPr/>
        </p:nvPicPr>
        <p:blipFill>
          <a:blip r:embed="rId10"/>
          <a:stretch>
            <a:fillRect/>
          </a:stretch>
        </p:blipFill>
        <p:spPr>
          <a:xfrm>
            <a:off x="3122675" y="3955694"/>
            <a:ext cx="585216" cy="585216"/>
          </a:xfrm>
          <a:prstGeom prst="rect">
            <a:avLst/>
          </a:prstGeom>
        </p:spPr>
      </p:pic>
      <p:sp>
        <p:nvSpPr>
          <p:cNvPr id="45" name="TextBox 44"/>
          <p:cNvSpPr txBox="1"/>
          <p:nvPr/>
        </p:nvSpPr>
        <p:spPr>
          <a:xfrm>
            <a:off x="2657855"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SPIFFE</a:t>
            </a:r>
          </a:p>
        </p:txBody>
      </p:sp>
      <p:sp>
        <p:nvSpPr>
          <p:cNvPr id="46" name="TextBox 45"/>
          <p:cNvSpPr txBox="1"/>
          <p:nvPr/>
        </p:nvSpPr>
        <p:spPr>
          <a:xfrm>
            <a:off x="2657855"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Workload identity</a:t>
            </a:r>
          </a:p>
        </p:txBody>
      </p:sp>
      <p:sp>
        <p:nvSpPr>
          <p:cNvPr id="47" name="Rectangle 46"/>
          <p:cNvSpPr/>
          <p:nvPr/>
        </p:nvSpPr>
        <p:spPr>
          <a:xfrm>
            <a:off x="4392167"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8" name="Rectangle 47"/>
          <p:cNvSpPr/>
          <p:nvPr/>
        </p:nvSpPr>
        <p:spPr>
          <a:xfrm>
            <a:off x="4392167" y="3809390"/>
            <a:ext cx="1661159" cy="45720"/>
          </a:xfrm>
          <a:prstGeom prst="rect">
            <a:avLst/>
          </a:prstGeom>
          <a:solidFill>
            <a:srgbClr val="1F6FEB"/>
          </a:solidFill>
          <a:ln>
            <a:noFill/>
          </a:ln>
          <a:effectLst/>
        </p:spPr>
        <p:txBody>
          <a:bodyPr rtlCol="0" anchor="ctr" wrap="square"/>
          <a:lstStyle/>
          <a:p>
            <a:pPr algn="ctr"/>
          </a:p>
        </p:txBody>
      </p:sp>
      <p:pic>
        <p:nvPicPr>
          <p:cNvPr id="49" name="Picture 48" descr="opa.png"/>
          <p:cNvPicPr>
            <a:picLocks noChangeAspect="1"/>
          </p:cNvPicPr>
          <p:nvPr/>
        </p:nvPicPr>
        <p:blipFill>
          <a:blip r:embed="rId11"/>
          <a:stretch>
            <a:fillRect/>
          </a:stretch>
        </p:blipFill>
        <p:spPr>
          <a:xfrm>
            <a:off x="4931434" y="3955694"/>
            <a:ext cx="582627" cy="585216"/>
          </a:xfrm>
          <a:prstGeom prst="rect">
            <a:avLst/>
          </a:prstGeom>
        </p:spPr>
      </p:pic>
      <p:sp>
        <p:nvSpPr>
          <p:cNvPr id="50" name="TextBox 49"/>
          <p:cNvSpPr txBox="1"/>
          <p:nvPr/>
        </p:nvSpPr>
        <p:spPr>
          <a:xfrm>
            <a:off x="4465320"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OPA</a:t>
            </a:r>
          </a:p>
        </p:txBody>
      </p:sp>
      <p:sp>
        <p:nvSpPr>
          <p:cNvPr id="51" name="TextBox 50"/>
          <p:cNvSpPr txBox="1"/>
          <p:nvPr/>
        </p:nvSpPr>
        <p:spPr>
          <a:xfrm>
            <a:off x="4465320"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Policy engine</a:t>
            </a:r>
          </a:p>
        </p:txBody>
      </p:sp>
      <p:sp>
        <p:nvSpPr>
          <p:cNvPr id="52" name="Rectangle 51"/>
          <p:cNvSpPr/>
          <p:nvPr/>
        </p:nvSpPr>
        <p:spPr>
          <a:xfrm>
            <a:off x="6199631"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3" name="Rectangle 52"/>
          <p:cNvSpPr/>
          <p:nvPr/>
        </p:nvSpPr>
        <p:spPr>
          <a:xfrm>
            <a:off x="6199631" y="3809390"/>
            <a:ext cx="1661159" cy="45720"/>
          </a:xfrm>
          <a:prstGeom prst="rect">
            <a:avLst/>
          </a:prstGeom>
          <a:solidFill>
            <a:srgbClr val="10B981"/>
          </a:solidFill>
          <a:ln>
            <a:noFill/>
          </a:ln>
          <a:effectLst/>
        </p:spPr>
        <p:txBody>
          <a:bodyPr rtlCol="0" anchor="ctr" wrap="square"/>
          <a:lstStyle/>
          <a:p>
            <a:pPr algn="ctr"/>
          </a:p>
        </p:txBody>
      </p:sp>
      <p:pic>
        <p:nvPicPr>
          <p:cNvPr id="54" name="Picture 53" descr="kyverno.png"/>
          <p:cNvPicPr>
            <a:picLocks noChangeAspect="1"/>
          </p:cNvPicPr>
          <p:nvPr/>
        </p:nvPicPr>
        <p:blipFill>
          <a:blip r:embed="rId12"/>
          <a:stretch>
            <a:fillRect/>
          </a:stretch>
        </p:blipFill>
        <p:spPr>
          <a:xfrm>
            <a:off x="6737744" y="3955694"/>
            <a:ext cx="584935" cy="585216"/>
          </a:xfrm>
          <a:prstGeom prst="rect">
            <a:avLst/>
          </a:prstGeom>
        </p:spPr>
      </p:pic>
      <p:sp>
        <p:nvSpPr>
          <p:cNvPr id="55" name="TextBox 54"/>
          <p:cNvSpPr txBox="1"/>
          <p:nvPr/>
        </p:nvSpPr>
        <p:spPr>
          <a:xfrm>
            <a:off x="6272783"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Kyverno</a:t>
            </a:r>
          </a:p>
        </p:txBody>
      </p:sp>
      <p:sp>
        <p:nvSpPr>
          <p:cNvPr id="56" name="TextBox 55"/>
          <p:cNvSpPr txBox="1"/>
          <p:nvPr/>
        </p:nvSpPr>
        <p:spPr>
          <a:xfrm>
            <a:off x="6272783"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Kubernetes policy</a:t>
            </a:r>
          </a:p>
        </p:txBody>
      </p:sp>
      <p:sp>
        <p:nvSpPr>
          <p:cNvPr id="57" name="Rectangle 56"/>
          <p:cNvSpPr/>
          <p:nvPr/>
        </p:nvSpPr>
        <p:spPr>
          <a:xfrm>
            <a:off x="8007095"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8" name="Rectangle 57"/>
          <p:cNvSpPr/>
          <p:nvPr/>
        </p:nvSpPr>
        <p:spPr>
          <a:xfrm>
            <a:off x="8007095" y="3809390"/>
            <a:ext cx="1661159" cy="45720"/>
          </a:xfrm>
          <a:prstGeom prst="rect">
            <a:avLst/>
          </a:prstGeom>
          <a:solidFill>
            <a:srgbClr val="7C3AED"/>
          </a:solidFill>
          <a:ln>
            <a:noFill/>
          </a:ln>
          <a:effectLst/>
        </p:spPr>
        <p:txBody>
          <a:bodyPr rtlCol="0" anchor="ctr" wrap="square"/>
          <a:lstStyle/>
          <a:p>
            <a:pPr algn="ctr"/>
          </a:p>
        </p:txBody>
      </p:sp>
      <p:pic>
        <p:nvPicPr>
          <p:cNvPr id="59" name="Picture 58" descr="falco.png"/>
          <p:cNvPicPr>
            <a:picLocks noChangeAspect="1"/>
          </p:cNvPicPr>
          <p:nvPr/>
        </p:nvPicPr>
        <p:blipFill>
          <a:blip r:embed="rId13"/>
          <a:stretch>
            <a:fillRect/>
          </a:stretch>
        </p:blipFill>
        <p:spPr>
          <a:xfrm>
            <a:off x="8544946" y="3955694"/>
            <a:ext cx="585459" cy="585216"/>
          </a:xfrm>
          <a:prstGeom prst="rect">
            <a:avLst/>
          </a:prstGeom>
        </p:spPr>
      </p:pic>
      <p:sp>
        <p:nvSpPr>
          <p:cNvPr id="60" name="TextBox 59"/>
          <p:cNvSpPr txBox="1"/>
          <p:nvPr/>
        </p:nvSpPr>
        <p:spPr>
          <a:xfrm>
            <a:off x="8080247"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Falco</a:t>
            </a:r>
          </a:p>
        </p:txBody>
      </p:sp>
      <p:sp>
        <p:nvSpPr>
          <p:cNvPr id="61" name="TextBox 60"/>
          <p:cNvSpPr txBox="1"/>
          <p:nvPr/>
        </p:nvSpPr>
        <p:spPr>
          <a:xfrm>
            <a:off x="8080247"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Runtime security</a:t>
            </a:r>
          </a:p>
        </p:txBody>
      </p:sp>
      <p:sp>
        <p:nvSpPr>
          <p:cNvPr id="62" name="Rectangle 61"/>
          <p:cNvSpPr/>
          <p:nvPr/>
        </p:nvSpPr>
        <p:spPr>
          <a:xfrm>
            <a:off x="9814559"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63" name="Rectangle 62"/>
          <p:cNvSpPr/>
          <p:nvPr/>
        </p:nvSpPr>
        <p:spPr>
          <a:xfrm>
            <a:off x="9814559" y="3809390"/>
            <a:ext cx="1661159" cy="45720"/>
          </a:xfrm>
          <a:prstGeom prst="rect">
            <a:avLst/>
          </a:prstGeom>
          <a:solidFill>
            <a:srgbClr val="F59E0B"/>
          </a:solidFill>
          <a:ln>
            <a:noFill/>
          </a:ln>
          <a:effectLst/>
        </p:spPr>
        <p:txBody>
          <a:bodyPr rtlCol="0" anchor="ctr" wrap="square"/>
          <a:lstStyle/>
          <a:p>
            <a:pPr algn="ctr"/>
          </a:p>
        </p:txBody>
      </p:sp>
      <p:pic>
        <p:nvPicPr>
          <p:cNvPr id="64" name="Picture 63" descr="notary.png"/>
          <p:cNvPicPr>
            <a:picLocks noChangeAspect="1"/>
          </p:cNvPicPr>
          <p:nvPr/>
        </p:nvPicPr>
        <p:blipFill>
          <a:blip r:embed="rId14"/>
          <a:stretch>
            <a:fillRect/>
          </a:stretch>
        </p:blipFill>
        <p:spPr>
          <a:xfrm>
            <a:off x="10352531" y="3955694"/>
            <a:ext cx="585216" cy="585216"/>
          </a:xfrm>
          <a:prstGeom prst="rect">
            <a:avLst/>
          </a:prstGeom>
        </p:spPr>
      </p:pic>
      <p:sp>
        <p:nvSpPr>
          <p:cNvPr id="65" name="TextBox 64"/>
          <p:cNvSpPr txBox="1"/>
          <p:nvPr/>
        </p:nvSpPr>
        <p:spPr>
          <a:xfrm>
            <a:off x="9887711"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Notary</a:t>
            </a:r>
          </a:p>
        </p:txBody>
      </p:sp>
      <p:sp>
        <p:nvSpPr>
          <p:cNvPr id="66" name="TextBox 65"/>
          <p:cNvSpPr txBox="1"/>
          <p:nvPr/>
        </p:nvSpPr>
        <p:spPr>
          <a:xfrm>
            <a:off x="9887711"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Content trust</a:t>
            </a:r>
          </a:p>
        </p:txBody>
      </p:sp>
      <p:sp>
        <p:nvSpPr>
          <p:cNvPr id="67" name="TextBox 6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cncf.io/projects — project marks from courseware/assets/logos/MANIFEST.json</a:t>
            </a:r>
          </a:p>
        </p:txBody>
      </p:sp>
      <p:sp>
        <p:nvSpPr>
          <p:cNvPr id="68" name="TextBox 6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9" name="TextBox 6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0" name="TextBox 6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357</a:t>
            </a:r>
          </a:p>
        </p:txBody>
      </p:sp>
    </p:spTree>
  </p:cSld>
  <p:clrMapOvr>
    <a:masterClrMapping/>
  </p:clrMapOvr>
  <p:transition xmlns:ns1="http://schemas.openxmlformats.org/markup-compatibility/2006" spd="fast" ns1:Ignorable="p14">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LAB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Day 3's six labs actually verify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Counted from the shipped verifiers, not estimated: 106 automated assertions across the day.</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3"/>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PASS assertions on a clean run</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106 checks in one day</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Every claim a learner makes today is machine-checkable against their own cluster.</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 14 carries the most</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22 checks, because a 12-row permission matrix is replayed one assertion at a time.</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Denials are counted too</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Several checks assert that something correctly does NOT work — the wrong-namespace DNS name, the unbound ServiceAccount.</a:t>
            </a:r>
          </a:p>
        </p:txBody>
      </p:sp>
      <p:sp>
        <p:nvSpPr>
          <p:cNvPr id="20" name="Rectangle 19"/>
          <p:cNvSpPr/>
          <p:nvPr/>
        </p:nvSpPr>
        <p:spPr>
          <a:xfrm>
            <a:off x="7927848" y="48519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336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Lab 16 reports rather than assumes</a:t>
            </a:r>
          </a:p>
        </p:txBody>
      </p:sp>
      <p:sp>
        <p:nvSpPr>
          <p:cNvPr id="22" name="TextBox 21"/>
          <p:cNvSpPr txBox="1"/>
          <p:nvPr/>
        </p:nvSpPr>
        <p:spPr>
          <a:xfrm>
            <a:off x="8092440" y="50530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On an enforcing CNI the same script asserts more; on kindnet it records non-enforcement honestly.</a:t>
            </a:r>
          </a:p>
        </p:txBody>
      </p:sp>
      <p:sp>
        <p:nvSpPr>
          <p:cNvPr id="23" name="Rectangle 22"/>
          <p:cNvSpPr/>
          <p:nvPr/>
        </p:nvSpPr>
        <p:spPr>
          <a:xfrm>
            <a:off x="7927848" y="5546849"/>
            <a:ext cx="41148" cy="566928"/>
          </a:xfrm>
          <a:prstGeom prst="rect">
            <a:avLst/>
          </a:prstGeom>
          <a:solidFill>
            <a:srgbClr val="1F6FEB"/>
          </a:solidFill>
          <a:ln>
            <a:noFill/>
          </a:ln>
          <a:effectLst/>
        </p:spPr>
        <p:txBody>
          <a:bodyPr rtlCol="0" anchor="ctr" wrap="square"/>
          <a:lstStyle/>
          <a:p>
            <a:pPr algn="ctr"/>
          </a:p>
        </p:txBody>
      </p:sp>
      <p:sp>
        <p:nvSpPr>
          <p:cNvPr id="24" name="TextBox 23"/>
          <p:cNvSpPr txBox="1"/>
          <p:nvPr/>
        </p:nvSpPr>
        <p:spPr>
          <a:xfrm>
            <a:off x="8092440" y="5528561"/>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Measured, not modelled</a:t>
            </a:r>
          </a:p>
        </p:txBody>
      </p:sp>
      <p:sp>
        <p:nvSpPr>
          <p:cNvPr id="25" name="TextBox 24"/>
          <p:cNvSpPr txBox="1"/>
          <p:nvPr/>
        </p:nvSpPr>
        <p:spPr>
          <a:xfrm>
            <a:off x="8092440" y="5748017"/>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are PASS counts from each lab's expected-output reference on a clean run.</a:t>
            </a:r>
          </a:p>
        </p:txBody>
      </p:sp>
      <p:sp>
        <p:nvSpPr>
          <p:cNvPr id="26" name="TextBox 2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courseware/labs/lab-11-services-endpoints/verification/expected-output.md and the equivalent files for Labs 12-16</a:t>
            </a:r>
          </a:p>
        </p:txBody>
      </p:sp>
      <p:sp>
        <p:nvSpPr>
          <p:cNvPr id="27" name="TextBox 2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8" name="TextBox 2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9" name="TextBox 2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358</a:t>
            </a:r>
          </a:p>
        </p:txBody>
      </p:sp>
    </p:spTree>
  </p:cSld>
  <p:clrMapOvr>
    <a:masterClrMapping/>
  </p:clrMapOvr>
  <p:transition xmlns:ns1="http://schemas.openxmlformats.org/markup-compatibility/2006" spd="fast" ns1:Ignorable="p14">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3 RECAP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Networking and security, consolidated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registered topics, twelve load-bearing facts, six labs of evidence.</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TOPIC 3 — SERVICES AND NETWORKING</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IP per Pod, no NAT; ClusterIP is a rule, not an interface</a:t>
            </a:r>
          </a:p>
          <a:p>
            <a:pPr>
              <a:lnSpc>
                <a:spcPct val="112000"/>
              </a:lnSpc>
              <a:spcAft>
                <a:spcPts val="700"/>
              </a:spcAft>
            </a:pPr>
            <a:r>
              <a:rPr sz="1150">
                <a:solidFill>
                  <a:srgbClr val="94A3B8"/>
                </a:solidFill>
                <a:latin typeface="Arial"/>
              </a:rPr>
              <a:t>•  </a:t>
            </a:r>
            <a:r>
              <a:rPr sz="1150">
                <a:solidFill>
                  <a:srgbClr val="5B6372"/>
                </a:solidFill>
                <a:latin typeface="Arial"/>
              </a:rPr>
              <a:t>A Service holds a selector; EndpointSlice holds the result — v1 Endpoints is deprecated since v1.33</a:t>
            </a:r>
          </a:p>
          <a:p>
            <a:pPr>
              <a:lnSpc>
                <a:spcPct val="112000"/>
              </a:lnSpc>
              <a:spcAft>
                <a:spcPts val="700"/>
              </a:spcAft>
            </a:pPr>
            <a:r>
              <a:rPr sz="1150">
                <a:solidFill>
                  <a:srgbClr val="94A3B8"/>
                </a:solidFill>
                <a:latin typeface="Arial"/>
              </a:rPr>
              <a:t>•  </a:t>
            </a:r>
            <a:r>
              <a:rPr sz="1150">
                <a:solidFill>
                  <a:srgbClr val="5B6372"/>
                </a:solidFill>
                <a:latin typeface="Arial"/>
              </a:rPr>
              <a:t>port / targetPort / nodePort / named port each answer a different question</a:t>
            </a:r>
          </a:p>
          <a:p>
            <a:pPr>
              <a:lnSpc>
                <a:spcPct val="112000"/>
              </a:lnSpc>
              <a:spcAft>
                <a:spcPts val="700"/>
              </a:spcAft>
            </a:pPr>
            <a:r>
              <a:rPr sz="1150">
                <a:solidFill>
                  <a:srgbClr val="94A3B8"/>
                </a:solidFill>
                <a:latin typeface="Arial"/>
              </a:rPr>
              <a:t>•  </a:t>
            </a:r>
            <a:r>
              <a:rPr sz="1150">
                <a:solidFill>
                  <a:srgbClr val="5B6372"/>
                </a:solidFill>
                <a:latin typeface="Arial"/>
              </a:rPr>
              <a:t>CoreDNS, the search path and ndots:5 explain both the convenience and the cost of short names</a:t>
            </a:r>
          </a:p>
          <a:p>
            <a:pPr>
              <a:lnSpc>
                <a:spcPct val="112000"/>
              </a:lnSpc>
              <a:spcAft>
                <a:spcPts val="700"/>
              </a:spcAft>
            </a:pPr>
            <a:r>
              <a:rPr sz="1150">
                <a:solidFill>
                  <a:srgbClr val="94A3B8"/>
                </a:solidFill>
                <a:latin typeface="Arial"/>
              </a:rPr>
              <a:t>•  </a:t>
            </a:r>
            <a:r>
              <a:rPr sz="1150">
                <a:solidFill>
                  <a:srgbClr val="5B6372"/>
                </a:solidFill>
                <a:latin typeface="Arial"/>
              </a:rPr>
              <a:t>Ingress declares L7 routing; a controller must implement it — and Gateway API is where new features go</a:t>
            </a:r>
          </a:p>
          <a:p>
            <a:pPr>
              <a:lnSpc>
                <a:spcPct val="112000"/>
              </a:lnSpc>
              <a:spcAft>
                <a:spcPts val="700"/>
              </a:spcAft>
            </a:pPr>
            <a:r>
              <a:rPr sz="1150">
                <a:solidFill>
                  <a:srgbClr val="94A3B8"/>
                </a:solidFill>
                <a:latin typeface="Arial"/>
              </a:rPr>
              <a:t>•  </a:t>
            </a:r>
            <a:r>
              <a:rPr sz="1150">
                <a:solidFill>
                  <a:srgbClr val="5B6372"/>
                </a:solidFill>
                <a:latin typeface="Arial"/>
              </a:rPr>
              <a:t>Namespaces scope names, RBAC, quota and DNS. Nothing else</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TOPIC 4 — SECURITY</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The 4C's: Cloud, Cluster, Container, Code — nested, not parallel</a:t>
            </a:r>
          </a:p>
          <a:p>
            <a:pPr>
              <a:lnSpc>
                <a:spcPct val="112000"/>
              </a:lnSpc>
              <a:spcAft>
                <a:spcPts val="700"/>
              </a:spcAft>
            </a:pPr>
            <a:r>
              <a:rPr sz="1150">
                <a:solidFill>
                  <a:srgbClr val="94A3B8"/>
                </a:solidFill>
                <a:latin typeface="Arial"/>
              </a:rPr>
              <a:t>•  </a:t>
            </a:r>
            <a:r>
              <a:rPr sz="1150">
                <a:solidFill>
                  <a:srgbClr val="5B6372"/>
                </a:solidFill>
                <a:latin typeface="Arial"/>
              </a:rPr>
              <a:t>Every request: authenticate, authorize, admit, persist. 401, 403 and admission errors are different gates</a:t>
            </a:r>
          </a:p>
          <a:p>
            <a:pPr>
              <a:lnSpc>
                <a:spcPct val="112000"/>
              </a:lnSpc>
              <a:spcAft>
                <a:spcPts val="700"/>
              </a:spcAft>
            </a:pPr>
            <a:r>
              <a:rPr sz="1150">
                <a:solidFill>
                  <a:srgbClr val="94A3B8"/>
                </a:solidFill>
                <a:latin typeface="Arial"/>
              </a:rPr>
              <a:t>•  </a:t>
            </a:r>
            <a:r>
              <a:rPr sz="1150">
                <a:solidFill>
                  <a:srgbClr val="5B6372"/>
                </a:solidFill>
                <a:latin typeface="Arial"/>
              </a:rPr>
              <a:t>No User object exists; ServiceAccounts do, and hold zero permission until bound</a:t>
            </a:r>
          </a:p>
          <a:p>
            <a:pPr>
              <a:lnSpc>
                <a:spcPct val="112000"/>
              </a:lnSpc>
              <a:spcAft>
                <a:spcPts val="700"/>
              </a:spcAft>
            </a:pPr>
            <a:r>
              <a:rPr sz="1150">
                <a:solidFill>
                  <a:srgbClr val="94A3B8"/>
                </a:solidFill>
                <a:latin typeface="Arial"/>
              </a:rPr>
              <a:t>•  </a:t>
            </a:r>
            <a:r>
              <a:rPr sz="1150">
                <a:solidFill>
                  <a:srgbClr val="5B6372"/>
                </a:solidFill>
                <a:latin typeface="Arial"/>
              </a:rPr>
              <a:t>The binding decides RBAC scope; prove grants with kubectl auth can-i, including the denies</a:t>
            </a:r>
          </a:p>
          <a:p>
            <a:pPr>
              <a:lnSpc>
                <a:spcPct val="112000"/>
              </a:lnSpc>
              <a:spcAft>
                <a:spcPts val="700"/>
              </a:spcAft>
            </a:pPr>
            <a:r>
              <a:rPr sz="1150">
                <a:solidFill>
                  <a:srgbClr val="94A3B8"/>
                </a:solidFill>
                <a:latin typeface="Arial"/>
              </a:rPr>
              <a:t>•  </a:t>
            </a:r>
            <a:r>
              <a:rPr sz="1150">
                <a:solidFill>
                  <a:srgbClr val="5B6372"/>
                </a:solidFill>
                <a:latin typeface="Arial"/>
              </a:rPr>
              <a:t>Secrets are base64-encoded, not encrypted — RBAC, encryption at rest and external stores are the controls</a:t>
            </a:r>
          </a:p>
          <a:p>
            <a:pPr>
              <a:lnSpc>
                <a:spcPct val="112000"/>
              </a:lnSpc>
              <a:spcAft>
                <a:spcPts val="700"/>
              </a:spcAft>
            </a:pPr>
            <a:r>
              <a:rPr sz="1150">
                <a:solidFill>
                  <a:srgbClr val="94A3B8"/>
                </a:solidFill>
                <a:latin typeface="Arial"/>
              </a:rPr>
              <a:t>•  </a:t>
            </a:r>
            <a:r>
              <a:rPr sz="1150">
                <a:solidFill>
                  <a:srgbClr val="5B6372"/>
                </a:solidFill>
                <a:latin typeface="Arial"/>
              </a:rPr>
              <a:t>NetworkPolicy is the L3/L4 control, and needs an enforcing CNI to mean anything</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kubernetes.io/docs/concepts/services-networking/service/ · kubernetes.io/docs/reference/access-authn-authz/rbac/ · kubernetes.io/docs/concepts/services-networking/network-policies/</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359</a:t>
            </a:r>
          </a:p>
        </p:txBody>
      </p:sp>
    </p:spTree>
  </p:cSld>
  <p:clrMapOvr>
    <a:masterClrMapping/>
  </p:clrMapOvr>
  <p:transition xmlns:ns1="http://schemas.openxmlformats.org/markup-compatibility/2006" spd="fast" ns1:Ignorable="p14">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FOCUS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today's material is asked about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recurring question shapes drawn from the Container Orchestration domain's Networking and Security sub-topics.</a:t>
            </a:r>
          </a:p>
        </p:txBody>
      </p:sp>
      <p:sp>
        <p:nvSpPr>
          <p:cNvPr id="7" name="Rectangle 6"/>
          <p:cNvSpPr/>
          <p:nvPr/>
        </p:nvSpPr>
        <p:spPr>
          <a:xfrm>
            <a:off x="777240"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62608"/>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559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Definition swaps</a:t>
            </a:r>
          </a:p>
        </p:txBody>
      </p:sp>
      <p:sp>
        <p:nvSpPr>
          <p:cNvPr id="11" name="TextBox 10"/>
          <p:cNvSpPr txBox="1"/>
          <p:nvPr/>
        </p:nvSpPr>
        <p:spPr>
          <a:xfrm>
            <a:off x="1399032"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ClusterIP versus NodePort versus LoadBalancer; Role versus ClusterRole. Know what each one adds.</a:t>
            </a:r>
          </a:p>
        </p:txBody>
      </p:sp>
      <p:sp>
        <p:nvSpPr>
          <p:cNvPr id="12" name="Rectangle 11"/>
          <p:cNvSpPr/>
          <p:nvPr/>
        </p:nvSpPr>
        <p:spPr>
          <a:xfrm>
            <a:off x="6199631" y="2208885"/>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8885"/>
            <a:ext cx="50292" cy="1162608"/>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559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6433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Which object does X?</a:t>
            </a:r>
          </a:p>
        </p:txBody>
      </p:sp>
      <p:sp>
        <p:nvSpPr>
          <p:cNvPr id="16" name="TextBox 15"/>
          <p:cNvSpPr txBox="1"/>
          <p:nvPr/>
        </p:nvSpPr>
        <p:spPr>
          <a:xfrm>
            <a:off x="6821423" y="2666085"/>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Selector lives on the Service; addresses live on the EndpointSlice; L7 rules live on the Ingress.</a:t>
            </a:r>
          </a:p>
        </p:txBody>
      </p:sp>
      <p:sp>
        <p:nvSpPr>
          <p:cNvPr id="17" name="Rectangle 16"/>
          <p:cNvSpPr/>
          <p:nvPr/>
        </p:nvSpPr>
        <p:spPr>
          <a:xfrm>
            <a:off x="777240"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7798"/>
            <a:ext cx="50292" cy="1162608"/>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451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Which layer enforces it?</a:t>
            </a:r>
          </a:p>
        </p:txBody>
      </p:sp>
      <p:sp>
        <p:nvSpPr>
          <p:cNvPr id="21" name="TextBox 20"/>
          <p:cNvSpPr txBox="1"/>
          <p:nvPr/>
        </p:nvSpPr>
        <p:spPr>
          <a:xfrm>
            <a:off x="1399032"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kube-proxy is L4. Ingress and mesh are L7. NetworkPolicy is L3/L4 and is enforced by the CNI.</a:t>
            </a:r>
          </a:p>
        </p:txBody>
      </p:sp>
      <p:sp>
        <p:nvSpPr>
          <p:cNvPr id="22" name="Rectangle 21"/>
          <p:cNvSpPr/>
          <p:nvPr/>
        </p:nvSpPr>
        <p:spPr>
          <a:xfrm>
            <a:off x="6199631" y="3517798"/>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7798"/>
            <a:ext cx="50292" cy="1162608"/>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451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3246"/>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Security true/false</a:t>
            </a:r>
          </a:p>
        </p:txBody>
      </p:sp>
      <p:sp>
        <p:nvSpPr>
          <p:cNvPr id="26" name="TextBox 25"/>
          <p:cNvSpPr txBox="1"/>
          <p:nvPr/>
        </p:nvSpPr>
        <p:spPr>
          <a:xfrm>
            <a:off x="6821423" y="3974998"/>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Secrets are not encrypted by default; namespaces are not network boundaries; RBAC has no deny rule.</a:t>
            </a:r>
          </a:p>
        </p:txBody>
      </p:sp>
      <p:sp>
        <p:nvSpPr>
          <p:cNvPr id="27" name="Rectangle 26"/>
          <p:cNvSpPr/>
          <p:nvPr/>
        </p:nvSpPr>
        <p:spPr>
          <a:xfrm>
            <a:off x="777240"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6711"/>
            <a:ext cx="50292" cy="1162608"/>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3423"/>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Order questions</a:t>
            </a:r>
          </a:p>
        </p:txBody>
      </p:sp>
      <p:sp>
        <p:nvSpPr>
          <p:cNvPr id="31" name="TextBox 30"/>
          <p:cNvSpPr txBox="1"/>
          <p:nvPr/>
        </p:nvSpPr>
        <p:spPr>
          <a:xfrm>
            <a:off x="1399032"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Authenticate, authorize, mutate, validate, persist. And default-deny before allows, with DNS allowed first.</a:t>
            </a:r>
          </a:p>
        </p:txBody>
      </p:sp>
      <p:sp>
        <p:nvSpPr>
          <p:cNvPr id="32" name="Rectangle 31"/>
          <p:cNvSpPr/>
          <p:nvPr/>
        </p:nvSpPr>
        <p:spPr>
          <a:xfrm>
            <a:off x="6199631" y="4826711"/>
            <a:ext cx="5276088" cy="1162608"/>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6711"/>
            <a:ext cx="50292" cy="1162608"/>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3423"/>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82159"/>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Current versus legacy</a:t>
            </a:r>
          </a:p>
        </p:txBody>
      </p:sp>
      <p:sp>
        <p:nvSpPr>
          <p:cNvPr id="36" name="TextBox 35"/>
          <p:cNvSpPr txBox="1"/>
          <p:nvPr/>
        </p:nvSpPr>
        <p:spPr>
          <a:xfrm>
            <a:off x="6821423" y="5283911"/>
            <a:ext cx="4453127" cy="632256"/>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EndpointSlice over Endpoints; Pod Security Standards over PodSecurityPolicy; Gateway API as the successor surface.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360</a:t>
            </a:r>
          </a:p>
        </p:txBody>
      </p:sp>
    </p:spTree>
  </p:cSld>
  <p:clrMapOvr>
    <a:masterClrMapping/>
  </p:clrMapOvr>
  <p:transition xmlns:ns1="http://schemas.openxmlformats.org/markup-compatibility/2006" spd="fast" ns1:Ignorable="p14">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04</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DAY FOUR</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Storage, Cluster Architecture &amp; Application Delivery</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Where data outlives Pods, how a cluster is actually built, and how declarative software reaches it.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361</a:t>
            </a:r>
          </a:p>
        </p:txBody>
      </p:sp>
    </p:spTree>
  </p:cSld>
  <p:clrMapOvr>
    <a:masterClrMapping/>
  </p:clrMapOvr>
  <p:transition xmlns:ns1="http://schemas.openxmlformats.org/markup-compatibility/2006" spd="med" ns1:Ignorable="p14">
    <p:push dir="l"/>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LESSON PLAN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4 — Storage, Cluster Architecture &amp; Delivery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instructional sessions, five labs, 8.0 hours of instructional time.</a:t>
            </a:r>
          </a:p>
        </p:txBody>
      </p:sp>
      <p:sp>
        <p:nvSpPr>
          <p:cNvPr id="7" name="Rectangle 6"/>
          <p:cNvSpPr/>
          <p:nvPr/>
        </p:nvSpPr>
        <p:spPr>
          <a:xfrm>
            <a:off x="777240" y="2200046"/>
            <a:ext cx="1691640" cy="384048"/>
          </a:xfrm>
          <a:prstGeom prst="rect">
            <a:avLst/>
          </a:prstGeom>
          <a:solidFill>
            <a:srgbClr val="7C3AED"/>
          </a:solidFill>
          <a:ln>
            <a:noFill/>
          </a:ln>
          <a:effectLst/>
        </p:spPr>
        <p:txBody>
          <a:bodyPr rtlCol="0" anchor="ctr" wrap="square"/>
          <a:lstStyle/>
          <a:p>
            <a:pPr algn="ctr"/>
          </a:p>
        </p:txBody>
      </p:sp>
      <p:sp>
        <p:nvSpPr>
          <p:cNvPr id="8" name="TextBox 7"/>
          <p:cNvSpPr txBox="1"/>
          <p:nvPr/>
        </p:nvSpPr>
        <p:spPr>
          <a:xfrm>
            <a:off x="905256" y="2291486"/>
            <a:ext cx="143560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Time</a:t>
            </a:r>
          </a:p>
        </p:txBody>
      </p:sp>
      <p:sp>
        <p:nvSpPr>
          <p:cNvPr id="9" name="Rectangle 8"/>
          <p:cNvSpPr/>
          <p:nvPr/>
        </p:nvSpPr>
        <p:spPr>
          <a:xfrm>
            <a:off x="2468880" y="2200046"/>
            <a:ext cx="1143000" cy="384048"/>
          </a:xfrm>
          <a:prstGeom prst="rect">
            <a:avLst/>
          </a:prstGeom>
          <a:solidFill>
            <a:srgbClr val="7C3AED"/>
          </a:solidFill>
          <a:ln>
            <a:noFill/>
          </a:ln>
          <a:effectLst/>
        </p:spPr>
        <p:txBody>
          <a:bodyPr rtlCol="0" anchor="ctr" wrap="square"/>
          <a:lstStyle/>
          <a:p>
            <a:pPr algn="ctr"/>
          </a:p>
        </p:txBody>
      </p:sp>
      <p:sp>
        <p:nvSpPr>
          <p:cNvPr id="10" name="TextBox 9"/>
          <p:cNvSpPr txBox="1"/>
          <p:nvPr/>
        </p:nvSpPr>
        <p:spPr>
          <a:xfrm>
            <a:off x="2596896" y="2291486"/>
            <a:ext cx="886968"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Duration</a:t>
            </a:r>
          </a:p>
        </p:txBody>
      </p:sp>
      <p:sp>
        <p:nvSpPr>
          <p:cNvPr id="11" name="Rectangle 10"/>
          <p:cNvSpPr/>
          <p:nvPr/>
        </p:nvSpPr>
        <p:spPr>
          <a:xfrm>
            <a:off x="3611880" y="2200046"/>
            <a:ext cx="5577840" cy="384048"/>
          </a:xfrm>
          <a:prstGeom prst="rect">
            <a:avLst/>
          </a:prstGeom>
          <a:solidFill>
            <a:srgbClr val="7C3AED"/>
          </a:solidFill>
          <a:ln>
            <a:noFill/>
          </a:ln>
          <a:effectLst/>
        </p:spPr>
        <p:txBody>
          <a:bodyPr rtlCol="0" anchor="ctr" wrap="square"/>
          <a:lstStyle/>
          <a:p>
            <a:pPr algn="ctr"/>
          </a:p>
        </p:txBody>
      </p:sp>
      <p:sp>
        <p:nvSpPr>
          <p:cNvPr id="12" name="TextBox 11"/>
          <p:cNvSpPr txBox="1"/>
          <p:nvPr/>
        </p:nvSpPr>
        <p:spPr>
          <a:xfrm>
            <a:off x="3739896" y="2291486"/>
            <a:ext cx="532180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Session</a:t>
            </a:r>
          </a:p>
        </p:txBody>
      </p:sp>
      <p:sp>
        <p:nvSpPr>
          <p:cNvPr id="13" name="Rectangle 12"/>
          <p:cNvSpPr/>
          <p:nvPr/>
        </p:nvSpPr>
        <p:spPr>
          <a:xfrm>
            <a:off x="9189720" y="2200046"/>
            <a:ext cx="2286000" cy="384048"/>
          </a:xfrm>
          <a:prstGeom prst="rect">
            <a:avLst/>
          </a:prstGeom>
          <a:solidFill>
            <a:srgbClr val="7C3AED"/>
          </a:solidFill>
          <a:ln>
            <a:noFill/>
          </a:ln>
          <a:effectLst/>
        </p:spPr>
        <p:txBody>
          <a:bodyPr rtlCol="0" anchor="ctr" wrap="square"/>
          <a:lstStyle/>
          <a:p>
            <a:pPr algn="ctr"/>
          </a:p>
        </p:txBody>
      </p:sp>
      <p:sp>
        <p:nvSpPr>
          <p:cNvPr id="14" name="TextBox 13"/>
          <p:cNvSpPr txBox="1"/>
          <p:nvPr/>
        </p:nvSpPr>
        <p:spPr>
          <a:xfrm>
            <a:off x="9317736" y="2291486"/>
            <a:ext cx="2029967" cy="237744"/>
          </a:xfrm>
          <a:prstGeom prst="rect">
            <a:avLst/>
          </a:prstGeom>
          <a:noFill/>
        </p:spPr>
        <p:txBody>
          <a:bodyPr wrap="square" lIns="0" rIns="0" tIns="0" bIns="0" anchor="t">
            <a:spAutoFit/>
          </a:bodyPr>
          <a:lstStyle/>
          <a:p>
            <a:pPr algn="l">
              <a:lnSpc>
                <a:spcPct val="100000"/>
              </a:lnSpc>
            </a:pPr>
            <a:r>
              <a:rPr sz="1050" b="1" i="0">
                <a:solidFill>
                  <a:srgbClr val="FFFFFF"/>
                </a:solidFill>
                <a:latin typeface="Arial"/>
              </a:rPr>
              <a:t>Method</a:t>
            </a:r>
          </a:p>
        </p:txBody>
      </p:sp>
      <p:sp>
        <p:nvSpPr>
          <p:cNvPr id="15" name="Rectangle 14"/>
          <p:cNvSpPr/>
          <p:nvPr/>
        </p:nvSpPr>
        <p:spPr>
          <a:xfrm>
            <a:off x="777240" y="25840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657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9:30 – 11:00 AM</a:t>
            </a:r>
          </a:p>
        </p:txBody>
      </p:sp>
      <p:sp>
        <p:nvSpPr>
          <p:cNvPr id="17" name="Rectangle 16"/>
          <p:cNvSpPr/>
          <p:nvPr/>
        </p:nvSpPr>
        <p:spPr>
          <a:xfrm>
            <a:off x="2468880" y="25840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2596896" y="2657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 h 30 m</a:t>
            </a:r>
          </a:p>
        </p:txBody>
      </p:sp>
      <p:sp>
        <p:nvSpPr>
          <p:cNvPr id="19" name="Rectangle 18"/>
          <p:cNvSpPr/>
          <p:nvPr/>
        </p:nvSpPr>
        <p:spPr>
          <a:xfrm>
            <a:off x="3611880" y="25840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3739896" y="2657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1</a:t>
            </a:r>
          </a:p>
        </p:txBody>
      </p:sp>
      <p:sp>
        <p:nvSpPr>
          <p:cNvPr id="21" name="Rectangle 20"/>
          <p:cNvSpPr/>
          <p:nvPr/>
        </p:nvSpPr>
        <p:spPr>
          <a:xfrm>
            <a:off x="9189720" y="25840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9317736" y="2657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Demo</a:t>
            </a:r>
          </a:p>
        </p:txBody>
      </p:sp>
      <p:sp>
        <p:nvSpPr>
          <p:cNvPr id="23" name="Rectangle 22"/>
          <p:cNvSpPr/>
          <p:nvPr/>
        </p:nvSpPr>
        <p:spPr>
          <a:xfrm>
            <a:off x="777240" y="30412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24" name="TextBox 23"/>
          <p:cNvSpPr txBox="1"/>
          <p:nvPr/>
        </p:nvSpPr>
        <p:spPr>
          <a:xfrm>
            <a:off x="905256" y="3114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11:00 – 11:10 AM</a:t>
            </a:r>
          </a:p>
        </p:txBody>
      </p:sp>
      <p:sp>
        <p:nvSpPr>
          <p:cNvPr id="25" name="Rectangle 24"/>
          <p:cNvSpPr/>
          <p:nvPr/>
        </p:nvSpPr>
        <p:spPr>
          <a:xfrm>
            <a:off x="2468880" y="30412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26" name="TextBox 25"/>
          <p:cNvSpPr txBox="1"/>
          <p:nvPr/>
        </p:nvSpPr>
        <p:spPr>
          <a:xfrm>
            <a:off x="2596896" y="3114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27" name="Rectangle 26"/>
          <p:cNvSpPr/>
          <p:nvPr/>
        </p:nvSpPr>
        <p:spPr>
          <a:xfrm>
            <a:off x="3611880" y="30412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28" name="TextBox 27"/>
          <p:cNvSpPr txBox="1"/>
          <p:nvPr/>
        </p:nvSpPr>
        <p:spPr>
          <a:xfrm>
            <a:off x="3739896" y="3114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Morning Break</a:t>
            </a:r>
          </a:p>
        </p:txBody>
      </p:sp>
      <p:sp>
        <p:nvSpPr>
          <p:cNvPr id="29" name="Rectangle 28"/>
          <p:cNvSpPr/>
          <p:nvPr/>
        </p:nvSpPr>
        <p:spPr>
          <a:xfrm>
            <a:off x="9189720" y="30412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30" name="TextBox 29"/>
          <p:cNvSpPr txBox="1"/>
          <p:nvPr/>
        </p:nvSpPr>
        <p:spPr>
          <a:xfrm>
            <a:off x="9317736" y="3114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31" name="Rectangle 30"/>
          <p:cNvSpPr/>
          <p:nvPr/>
        </p:nvSpPr>
        <p:spPr>
          <a:xfrm>
            <a:off x="777240" y="34984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5716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11:10 AM – 1:10 PM</a:t>
            </a:r>
          </a:p>
        </p:txBody>
      </p:sp>
      <p:sp>
        <p:nvSpPr>
          <p:cNvPr id="33" name="Rectangle 32"/>
          <p:cNvSpPr/>
          <p:nvPr/>
        </p:nvSpPr>
        <p:spPr>
          <a:xfrm>
            <a:off x="2468880" y="34984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2596896" y="35716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35" name="Rectangle 34"/>
          <p:cNvSpPr/>
          <p:nvPr/>
        </p:nvSpPr>
        <p:spPr>
          <a:xfrm>
            <a:off x="3611880" y="34984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3739896" y="35716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2</a:t>
            </a:r>
          </a:p>
        </p:txBody>
      </p:sp>
      <p:sp>
        <p:nvSpPr>
          <p:cNvPr id="37" name="Rectangle 36"/>
          <p:cNvSpPr/>
          <p:nvPr/>
        </p:nvSpPr>
        <p:spPr>
          <a:xfrm>
            <a:off x="9189720" y="34984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317736" y="35716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Lecture · Practical</a:t>
            </a:r>
          </a:p>
        </p:txBody>
      </p:sp>
      <p:sp>
        <p:nvSpPr>
          <p:cNvPr id="39" name="Rectangle 38"/>
          <p:cNvSpPr/>
          <p:nvPr/>
        </p:nvSpPr>
        <p:spPr>
          <a:xfrm>
            <a:off x="777240" y="39556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40" name="TextBox 39"/>
          <p:cNvSpPr txBox="1"/>
          <p:nvPr/>
        </p:nvSpPr>
        <p:spPr>
          <a:xfrm>
            <a:off x="905256" y="40288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1:10 – 1:50 PM</a:t>
            </a:r>
          </a:p>
        </p:txBody>
      </p:sp>
      <p:sp>
        <p:nvSpPr>
          <p:cNvPr id="41" name="Rectangle 40"/>
          <p:cNvSpPr/>
          <p:nvPr/>
        </p:nvSpPr>
        <p:spPr>
          <a:xfrm>
            <a:off x="2468880" y="39556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42" name="TextBox 41"/>
          <p:cNvSpPr txBox="1"/>
          <p:nvPr/>
        </p:nvSpPr>
        <p:spPr>
          <a:xfrm>
            <a:off x="2596896" y="40288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40 m</a:t>
            </a:r>
          </a:p>
        </p:txBody>
      </p:sp>
      <p:sp>
        <p:nvSpPr>
          <p:cNvPr id="43" name="Rectangle 42"/>
          <p:cNvSpPr/>
          <p:nvPr/>
        </p:nvSpPr>
        <p:spPr>
          <a:xfrm>
            <a:off x="3611880" y="39556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44" name="TextBox 43"/>
          <p:cNvSpPr txBox="1"/>
          <p:nvPr/>
        </p:nvSpPr>
        <p:spPr>
          <a:xfrm>
            <a:off x="3739896" y="40288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Lunch Break</a:t>
            </a:r>
          </a:p>
        </p:txBody>
      </p:sp>
      <p:sp>
        <p:nvSpPr>
          <p:cNvPr id="45" name="Rectangle 44"/>
          <p:cNvSpPr/>
          <p:nvPr/>
        </p:nvSpPr>
        <p:spPr>
          <a:xfrm>
            <a:off x="9189720" y="39556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46" name="TextBox 45"/>
          <p:cNvSpPr txBox="1"/>
          <p:nvPr/>
        </p:nvSpPr>
        <p:spPr>
          <a:xfrm>
            <a:off x="9317736" y="40288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47" name="Rectangle 46"/>
          <p:cNvSpPr/>
          <p:nvPr/>
        </p:nvSpPr>
        <p:spPr>
          <a:xfrm>
            <a:off x="777240" y="44128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4860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1:50 – 3:50 PM</a:t>
            </a:r>
          </a:p>
        </p:txBody>
      </p:sp>
      <p:sp>
        <p:nvSpPr>
          <p:cNvPr id="49" name="Rectangle 48"/>
          <p:cNvSpPr/>
          <p:nvPr/>
        </p:nvSpPr>
        <p:spPr>
          <a:xfrm>
            <a:off x="2468880" y="44128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2596896" y="44860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00 m</a:t>
            </a:r>
          </a:p>
        </p:txBody>
      </p:sp>
      <p:sp>
        <p:nvSpPr>
          <p:cNvPr id="51" name="Rectangle 50"/>
          <p:cNvSpPr/>
          <p:nvPr/>
        </p:nvSpPr>
        <p:spPr>
          <a:xfrm>
            <a:off x="3611880" y="44128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3739896" y="44860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3</a:t>
            </a:r>
          </a:p>
        </p:txBody>
      </p:sp>
      <p:sp>
        <p:nvSpPr>
          <p:cNvPr id="53" name="Rectangle 52"/>
          <p:cNvSpPr/>
          <p:nvPr/>
        </p:nvSpPr>
        <p:spPr>
          <a:xfrm>
            <a:off x="9189720" y="44128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9317736" y="44860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Didactic questioning</a:t>
            </a:r>
          </a:p>
        </p:txBody>
      </p:sp>
      <p:sp>
        <p:nvSpPr>
          <p:cNvPr id="55" name="Rectangle 54"/>
          <p:cNvSpPr/>
          <p:nvPr/>
        </p:nvSpPr>
        <p:spPr>
          <a:xfrm>
            <a:off x="777240" y="4870094"/>
            <a:ext cx="1691640" cy="457200"/>
          </a:xfrm>
          <a:prstGeom prst="rect">
            <a:avLst/>
          </a:prstGeom>
          <a:solidFill>
            <a:srgbClr val="FEF3C7"/>
          </a:solidFill>
          <a:ln w="9525">
            <a:solidFill>
              <a:srgbClr val="E2E8F0"/>
            </a:solidFill>
          </a:ln>
          <a:effectLst/>
        </p:spPr>
        <p:txBody>
          <a:bodyPr rtlCol="0" anchor="ctr" wrap="square"/>
          <a:lstStyle/>
          <a:p>
            <a:pPr algn="ctr"/>
          </a:p>
        </p:txBody>
      </p:sp>
      <p:sp>
        <p:nvSpPr>
          <p:cNvPr id="56" name="TextBox 55"/>
          <p:cNvSpPr txBox="1"/>
          <p:nvPr/>
        </p:nvSpPr>
        <p:spPr>
          <a:xfrm>
            <a:off x="905256" y="49432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3:50 – 4:00 PM</a:t>
            </a:r>
          </a:p>
        </p:txBody>
      </p:sp>
      <p:sp>
        <p:nvSpPr>
          <p:cNvPr id="57" name="Rectangle 56"/>
          <p:cNvSpPr/>
          <p:nvPr/>
        </p:nvSpPr>
        <p:spPr>
          <a:xfrm>
            <a:off x="2468880" y="4870094"/>
            <a:ext cx="1143000" cy="457200"/>
          </a:xfrm>
          <a:prstGeom prst="rect">
            <a:avLst/>
          </a:prstGeom>
          <a:solidFill>
            <a:srgbClr val="FEF3C7"/>
          </a:solidFill>
          <a:ln w="9525">
            <a:solidFill>
              <a:srgbClr val="E2E8F0"/>
            </a:solidFill>
          </a:ln>
          <a:effectLst/>
        </p:spPr>
        <p:txBody>
          <a:bodyPr rtlCol="0" anchor="ctr" wrap="square"/>
          <a:lstStyle/>
          <a:p>
            <a:pPr algn="ctr"/>
          </a:p>
        </p:txBody>
      </p:sp>
      <p:sp>
        <p:nvSpPr>
          <p:cNvPr id="58" name="TextBox 57"/>
          <p:cNvSpPr txBox="1"/>
          <p:nvPr/>
        </p:nvSpPr>
        <p:spPr>
          <a:xfrm>
            <a:off x="2596896" y="49432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10 m</a:t>
            </a:r>
          </a:p>
        </p:txBody>
      </p:sp>
      <p:sp>
        <p:nvSpPr>
          <p:cNvPr id="59" name="Rectangle 58"/>
          <p:cNvSpPr/>
          <p:nvPr/>
        </p:nvSpPr>
        <p:spPr>
          <a:xfrm>
            <a:off x="3611880" y="4870094"/>
            <a:ext cx="5577840" cy="457200"/>
          </a:xfrm>
          <a:prstGeom prst="rect">
            <a:avLst/>
          </a:prstGeom>
          <a:solidFill>
            <a:srgbClr val="FEF3C7"/>
          </a:solidFill>
          <a:ln w="9525">
            <a:solidFill>
              <a:srgbClr val="E2E8F0"/>
            </a:solidFill>
          </a:ln>
          <a:effectLst/>
        </p:spPr>
        <p:txBody>
          <a:bodyPr rtlCol="0" anchor="ctr" wrap="square"/>
          <a:lstStyle/>
          <a:p>
            <a:pPr algn="ctr"/>
          </a:p>
        </p:txBody>
      </p:sp>
      <p:sp>
        <p:nvSpPr>
          <p:cNvPr id="60" name="TextBox 59"/>
          <p:cNvSpPr txBox="1"/>
          <p:nvPr/>
        </p:nvSpPr>
        <p:spPr>
          <a:xfrm>
            <a:off x="3739896" y="49432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Afternoon Break</a:t>
            </a:r>
          </a:p>
        </p:txBody>
      </p:sp>
      <p:sp>
        <p:nvSpPr>
          <p:cNvPr id="61" name="Rectangle 60"/>
          <p:cNvSpPr/>
          <p:nvPr/>
        </p:nvSpPr>
        <p:spPr>
          <a:xfrm>
            <a:off x="9189720" y="4870094"/>
            <a:ext cx="2286000" cy="457200"/>
          </a:xfrm>
          <a:prstGeom prst="rect">
            <a:avLst/>
          </a:prstGeom>
          <a:solidFill>
            <a:srgbClr val="FEF3C7"/>
          </a:solidFill>
          <a:ln w="9525">
            <a:solidFill>
              <a:srgbClr val="E2E8F0"/>
            </a:solidFill>
          </a:ln>
          <a:effectLst/>
        </p:spPr>
        <p:txBody>
          <a:bodyPr rtlCol="0" anchor="ctr" wrap="square"/>
          <a:lstStyle/>
          <a:p>
            <a:pPr algn="ctr"/>
          </a:p>
        </p:txBody>
      </p:sp>
      <p:sp>
        <p:nvSpPr>
          <p:cNvPr id="62" name="TextBox 61"/>
          <p:cNvSpPr txBox="1"/>
          <p:nvPr/>
        </p:nvSpPr>
        <p:spPr>
          <a:xfrm>
            <a:off x="9317736" y="49432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Break</a:t>
            </a:r>
          </a:p>
        </p:txBody>
      </p:sp>
      <p:sp>
        <p:nvSpPr>
          <p:cNvPr id="63" name="Rectangle 62"/>
          <p:cNvSpPr/>
          <p:nvPr/>
        </p:nvSpPr>
        <p:spPr>
          <a:xfrm>
            <a:off x="777240" y="5327294"/>
            <a:ext cx="1691640" cy="457200"/>
          </a:xfrm>
          <a:prstGeom prst="rect">
            <a:avLst/>
          </a:prstGeom>
          <a:solidFill>
            <a:srgbClr val="FFFFFF"/>
          </a:solidFill>
          <a:ln w="9525">
            <a:solidFill>
              <a:srgbClr val="E2E8F0"/>
            </a:solidFill>
          </a:ln>
          <a:effectLst/>
        </p:spPr>
        <p:txBody>
          <a:bodyPr rtlCol="0" anchor="ctr" wrap="square"/>
          <a:lstStyle/>
          <a:p>
            <a:pPr algn="ctr"/>
          </a:p>
        </p:txBody>
      </p:sp>
      <p:sp>
        <p:nvSpPr>
          <p:cNvPr id="64" name="TextBox 63"/>
          <p:cNvSpPr txBox="1"/>
          <p:nvPr/>
        </p:nvSpPr>
        <p:spPr>
          <a:xfrm>
            <a:off x="905256" y="5400446"/>
            <a:ext cx="1435608" cy="310896"/>
          </a:xfrm>
          <a:prstGeom prst="rect">
            <a:avLst/>
          </a:prstGeom>
          <a:noFill/>
        </p:spPr>
        <p:txBody>
          <a:bodyPr wrap="square" lIns="0" rIns="0" tIns="0" bIns="0" anchor="t">
            <a:spAutoFit/>
          </a:bodyPr>
          <a:lstStyle/>
          <a:p>
            <a:pPr algn="l">
              <a:lnSpc>
                <a:spcPct val="100000"/>
              </a:lnSpc>
            </a:pPr>
            <a:r>
              <a:rPr sz="950" b="1" i="0">
                <a:solidFill>
                  <a:srgbClr val="161B26"/>
                </a:solidFill>
                <a:latin typeface="Arial"/>
              </a:rPr>
              <a:t>4:00 – 6:30 PM</a:t>
            </a:r>
          </a:p>
        </p:txBody>
      </p:sp>
      <p:sp>
        <p:nvSpPr>
          <p:cNvPr id="65" name="Rectangle 64"/>
          <p:cNvSpPr/>
          <p:nvPr/>
        </p:nvSpPr>
        <p:spPr>
          <a:xfrm>
            <a:off x="2468880" y="5327294"/>
            <a:ext cx="1143000" cy="457200"/>
          </a:xfrm>
          <a:prstGeom prst="rect">
            <a:avLst/>
          </a:prstGeom>
          <a:solidFill>
            <a:srgbClr val="FFFFFF"/>
          </a:solidFill>
          <a:ln w="9525">
            <a:solidFill>
              <a:srgbClr val="E2E8F0"/>
            </a:solidFill>
          </a:ln>
          <a:effectLst/>
        </p:spPr>
        <p:txBody>
          <a:bodyPr rtlCol="0" anchor="ctr" wrap="square"/>
          <a:lstStyle/>
          <a:p>
            <a:pPr algn="ctr"/>
          </a:p>
        </p:txBody>
      </p:sp>
      <p:sp>
        <p:nvSpPr>
          <p:cNvPr id="66" name="TextBox 65"/>
          <p:cNvSpPr txBox="1"/>
          <p:nvPr/>
        </p:nvSpPr>
        <p:spPr>
          <a:xfrm>
            <a:off x="2596896" y="5400446"/>
            <a:ext cx="886968"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2 h 30 m</a:t>
            </a:r>
          </a:p>
        </p:txBody>
      </p:sp>
      <p:sp>
        <p:nvSpPr>
          <p:cNvPr id="67" name="Rectangle 66"/>
          <p:cNvSpPr/>
          <p:nvPr/>
        </p:nvSpPr>
        <p:spPr>
          <a:xfrm>
            <a:off x="3611880" y="5327294"/>
            <a:ext cx="5577840" cy="457200"/>
          </a:xfrm>
          <a:prstGeom prst="rect">
            <a:avLst/>
          </a:prstGeom>
          <a:solidFill>
            <a:srgbClr val="FFFFFF"/>
          </a:solidFill>
          <a:ln w="9525">
            <a:solidFill>
              <a:srgbClr val="E2E8F0"/>
            </a:solidFill>
          </a:ln>
          <a:effectLst/>
        </p:spPr>
        <p:txBody>
          <a:bodyPr rtlCol="0" anchor="ctr" wrap="square"/>
          <a:lstStyle/>
          <a:p>
            <a:pPr algn="ctr"/>
          </a:p>
        </p:txBody>
      </p:sp>
      <p:sp>
        <p:nvSpPr>
          <p:cNvPr id="68" name="TextBox 67"/>
          <p:cNvSpPr txBox="1"/>
          <p:nvPr/>
        </p:nvSpPr>
        <p:spPr>
          <a:xfrm>
            <a:off x="3739896" y="5400446"/>
            <a:ext cx="5321807" cy="310896"/>
          </a:xfrm>
          <a:prstGeom prst="rect">
            <a:avLst/>
          </a:prstGeom>
          <a:noFill/>
        </p:spPr>
        <p:txBody>
          <a:bodyPr wrap="square" lIns="0" rIns="0" tIns="0" bIns="0" anchor="t">
            <a:spAutoFit/>
          </a:bodyPr>
          <a:lstStyle/>
          <a:p>
            <a:pPr algn="l">
              <a:lnSpc>
                <a:spcPct val="100000"/>
              </a:lnSpc>
            </a:pPr>
            <a:r>
              <a:rPr sz="950" b="0" i="0">
                <a:solidFill>
                  <a:srgbClr val="161B26"/>
                </a:solidFill>
                <a:latin typeface="Arial"/>
              </a:rPr>
              <a:t>Session 4</a:t>
            </a:r>
          </a:p>
        </p:txBody>
      </p:sp>
      <p:sp>
        <p:nvSpPr>
          <p:cNvPr id="69" name="Rectangle 68"/>
          <p:cNvSpPr/>
          <p:nvPr/>
        </p:nvSpPr>
        <p:spPr>
          <a:xfrm>
            <a:off x="9189720" y="5327294"/>
            <a:ext cx="2286000" cy="457200"/>
          </a:xfrm>
          <a:prstGeom prst="rect">
            <a:avLst/>
          </a:prstGeom>
          <a:solidFill>
            <a:srgbClr val="FFFFFF"/>
          </a:solidFill>
          <a:ln w="9525">
            <a:solidFill>
              <a:srgbClr val="E2E8F0"/>
            </a:solidFill>
          </a:ln>
          <a:effectLst/>
        </p:spPr>
        <p:txBody>
          <a:bodyPr rtlCol="0" anchor="ctr" wrap="square"/>
          <a:lstStyle/>
          <a:p>
            <a:pPr algn="ctr"/>
          </a:p>
        </p:txBody>
      </p:sp>
      <p:sp>
        <p:nvSpPr>
          <p:cNvPr id="70" name="TextBox 69"/>
          <p:cNvSpPr txBox="1"/>
          <p:nvPr/>
        </p:nvSpPr>
        <p:spPr>
          <a:xfrm>
            <a:off x="9317736" y="5400446"/>
            <a:ext cx="2029967" cy="310896"/>
          </a:xfrm>
          <a:prstGeom prst="rect">
            <a:avLst/>
          </a:prstGeom>
          <a:noFill/>
        </p:spPr>
        <p:txBody>
          <a:bodyPr wrap="square" lIns="0" rIns="0" tIns="0" bIns="0" anchor="t">
            <a:spAutoFit/>
          </a:bodyPr>
          <a:lstStyle/>
          <a:p>
            <a:pPr algn="l">
              <a:lnSpc>
                <a:spcPct val="100000"/>
              </a:lnSpc>
            </a:pPr>
            <a:r>
              <a:rPr sz="950" b="0" i="0">
                <a:solidFill>
                  <a:srgbClr val="5B6372"/>
                </a:solidFill>
                <a:latin typeface="Arial"/>
              </a:rPr>
              <a:t>Practical · Demonstration</a:t>
            </a:r>
          </a:p>
        </p:txBody>
      </p:sp>
      <p:sp>
        <p:nvSpPr>
          <p:cNvPr id="71" name="TextBox 7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2" name="TextBox 7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3" name="TextBox 7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362</a:t>
            </a:r>
          </a:p>
        </p:txBody>
      </p:sp>
    </p:spTree>
  </p:cSld>
  <p:clrMapOvr>
    <a:masterClrMapping/>
  </p:clrMapOvr>
  <p:transition xmlns:ns1="http://schemas.openxmlformats.org/markup-compatibility/2006" spd="fast" ns1:Ignorable="p14">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4 ORIENTATION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Today Adds to Your Model of Kubernetes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registered topics and the 16% KCNA application-delivery domain, in one day.</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Data outlives the Pod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PersistentVolume, PersistentVolumeClaim and StorageClass decouple a workload from the disk it happens to be using.</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Storage is pluggable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Container Storage Interface moved every driver out of the Kubernetes tree and behind a gRPC contract.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Identity plus storage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volumeClaimTemplates give each StatefulSet ordinal its own PVC that deliberately outlives the controller.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cluster is built, not conjured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kubeadm produces PKI, static Pod manifests, bootstrap tokens, a kubelet config and add-ons — nothing more magical than that.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etcd is the cluster's memory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Raft quorum, snapshot save/status, and a restore that rewinds every object in the API.</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Git becomes the deployment interface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Helm and Kustomize render; a GitOps controller reconciles and self-heals against drift.</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363</a:t>
            </a:r>
          </a:p>
        </p:txBody>
      </p:sp>
    </p:spTree>
  </p:cSld>
  <p:clrMapOvr>
    <a:masterClrMapping/>
  </p:clrMapOvr>
  <p:transition xmlns:ns1="http://schemas.openxmlformats.org/markup-compatibility/2006" spd="fast" ns1:Ignorable="p14">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COVERAGE MAP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Day 4 Maps to the Registered Outline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slide today serves a registered topic or a current KCNA domain objective.</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Topic 5 — Storage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Registered · LO4 · A4 · K6</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Topic 6 — Cluster Architecture</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Registered · LO5 · A5 · K5</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KCNA module — App Delivery</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Cloud Native Application Delivery, 16%</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 17</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Volumes: emptyDir, hostPath, container filesystem</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 18</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PersistentVolumes, Claims and StorageClasses</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 19</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StatefulSets, headless Services, stable identity</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 20</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Control plane anatomy and etcd backup/restore</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Lab 21</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Packaging and delivery: Helm, Kustomize, GitOps</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Assessment link</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PP Task 4 (A4) and Task 5 (A5) draw on today</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Exam link</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Storage sits inside Container Orchestration (28%)</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364</a:t>
            </a:r>
          </a:p>
        </p:txBody>
      </p:sp>
    </p:spTree>
  </p:cSld>
  <p:clrMapOvr>
    <a:masterClrMapping/>
  </p:clrMapOvr>
  <p:transition xmlns:ns1="http://schemas.openxmlformats.org/markup-compatibility/2006" spd="fast" ns1:Ignorable="p14">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05</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5 · REGISTERED</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Storage</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Storage in container orchestration, from the Docker vocabulary that preceded it to the CSI contract that replaced it.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365</a:t>
            </a:r>
          </a:p>
        </p:txBody>
      </p:sp>
    </p:spTree>
  </p:cSld>
  <p:clrMapOvr>
    <a:masterClrMapping/>
  </p:clrMapOvr>
  <p:transition xmlns:ns1="http://schemas.openxmlformats.org/markup-compatibility/2006" spd="med" ns1:Ignorable="p14">
    <p:push dir="l"/>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10B981"/>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10B981"/>
                </a:solidFill>
                <a:latin typeface="Arial"/>
              </a:rPr>
              <a:t>WHY STORAGE EXISTS</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A container's filesystem dies with the container. Every storage feature in Kubernetes follows from that one fact.</a:t>
            </a:r>
          </a:p>
        </p:txBody>
      </p:sp>
      <p:sp>
        <p:nvSpPr>
          <p:cNvPr id="6" name="Rectangle 5"/>
          <p:cNvSpPr/>
          <p:nvPr/>
        </p:nvSpPr>
        <p:spPr>
          <a:xfrm>
            <a:off x="1143000" y="4187952"/>
            <a:ext cx="2194560" cy="32004"/>
          </a:xfrm>
          <a:prstGeom prst="rect">
            <a:avLst/>
          </a:prstGeom>
          <a:solidFill>
            <a:srgbClr val="10B981"/>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The image is read-only. The writable layer is scratch space owned by one container instance. Volumes are the only bytes that survive.</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366</a:t>
            </a:r>
          </a:p>
        </p:txBody>
      </p:sp>
    </p:spTree>
  </p:cSld>
  <p:clrMapOvr>
    <a:masterClrMapping/>
  </p:clrMapOvr>
  <p:transition xmlns:ns1="http://schemas.openxmlformats.org/markup-compatibility/2006" spd="fast" ns1:Ignorable="p14">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a Container's Bytes Actually Live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storage regions with three different lifetimes — the whole topic is knowing which region a file landed in.</a:t>
            </a:r>
          </a:p>
        </p:txBody>
      </p:sp>
      <p:sp>
        <p:nvSpPr>
          <p:cNvPr id="7" name="Rectangle 6"/>
          <p:cNvSpPr/>
          <p:nvPr/>
        </p:nvSpPr>
        <p:spPr>
          <a:xfrm>
            <a:off x="777240" y="2200046"/>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10691"/>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781507"/>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IMAGE — READ-ONLY</a:t>
            </a:r>
          </a:p>
        </p:txBody>
      </p:sp>
      <p:sp>
        <p:nvSpPr>
          <p:cNvPr id="10" name="Rounded Rectangle 9"/>
          <p:cNvSpPr/>
          <p:nvPr/>
        </p:nvSpPr>
        <p:spPr>
          <a:xfrm>
            <a:off x="2258568"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Base layer</a:t>
            </a:r>
          </a:p>
        </p:txBody>
      </p:sp>
      <p:sp>
        <p:nvSpPr>
          <p:cNvPr id="12" name="TextBox 11"/>
          <p:cNvSpPr txBox="1"/>
          <p:nvPr/>
        </p:nvSpPr>
        <p:spPr>
          <a:xfrm>
            <a:off x="2350008"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Distro rootfs from the registry</a:t>
            </a:r>
          </a:p>
        </p:txBody>
      </p:sp>
      <p:sp>
        <p:nvSpPr>
          <p:cNvPr id="13" name="Rounded Rectangle 12"/>
          <p:cNvSpPr/>
          <p:nvPr/>
        </p:nvSpPr>
        <p:spPr>
          <a:xfrm>
            <a:off x="4553712"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645151"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Dependency layer</a:t>
            </a:r>
          </a:p>
        </p:txBody>
      </p:sp>
      <p:sp>
        <p:nvSpPr>
          <p:cNvPr id="15" name="TextBox 14"/>
          <p:cNvSpPr txBox="1"/>
          <p:nvPr/>
        </p:nvSpPr>
        <p:spPr>
          <a:xfrm>
            <a:off x="4645151"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Runtime and libraries</a:t>
            </a:r>
          </a:p>
        </p:txBody>
      </p:sp>
      <p:sp>
        <p:nvSpPr>
          <p:cNvPr id="16" name="Rounded Rectangle 15"/>
          <p:cNvSpPr/>
          <p:nvPr/>
        </p:nvSpPr>
        <p:spPr>
          <a:xfrm>
            <a:off x="6848855"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940295"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Application layer</a:t>
            </a:r>
          </a:p>
        </p:txBody>
      </p:sp>
      <p:sp>
        <p:nvSpPr>
          <p:cNvPr id="18" name="TextBox 17"/>
          <p:cNvSpPr txBox="1"/>
          <p:nvPr/>
        </p:nvSpPr>
        <p:spPr>
          <a:xfrm>
            <a:off x="6940295"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Your binary and assets</a:t>
            </a:r>
          </a:p>
        </p:txBody>
      </p:sp>
      <p:sp>
        <p:nvSpPr>
          <p:cNvPr id="19" name="Rounded Rectangle 18"/>
          <p:cNvSpPr/>
          <p:nvPr/>
        </p:nvSpPr>
        <p:spPr>
          <a:xfrm>
            <a:off x="9143999"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9235439"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Layer digests</a:t>
            </a:r>
          </a:p>
        </p:txBody>
      </p:sp>
      <p:sp>
        <p:nvSpPr>
          <p:cNvPr id="21" name="TextBox 20"/>
          <p:cNvSpPr txBox="1"/>
          <p:nvPr/>
        </p:nvSpPr>
        <p:spPr>
          <a:xfrm>
            <a:off x="9235439"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Content-addressed, shared, cached</a:t>
            </a:r>
          </a:p>
        </p:txBody>
      </p:sp>
      <p:sp>
        <p:nvSpPr>
          <p:cNvPr id="22" name="Rectangle 21"/>
          <p:cNvSpPr/>
          <p:nvPr/>
        </p:nvSpPr>
        <p:spPr>
          <a:xfrm>
            <a:off x="777240" y="3493617"/>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493617"/>
            <a:ext cx="50292" cy="1110691"/>
          </a:xfrm>
          <a:prstGeom prst="rect">
            <a:avLst/>
          </a:prstGeom>
          <a:solidFill>
            <a:srgbClr val="F59E0B"/>
          </a:solidFill>
          <a:ln>
            <a:noFill/>
          </a:ln>
          <a:effectLst/>
        </p:spPr>
        <p:txBody>
          <a:bodyPr rtlCol="0" anchor="ctr" wrap="square"/>
          <a:lstStyle/>
          <a:p>
            <a:pPr algn="ctr"/>
          </a:p>
        </p:txBody>
      </p:sp>
      <p:sp>
        <p:nvSpPr>
          <p:cNvPr id="24" name="TextBox 23"/>
          <p:cNvSpPr txBox="1"/>
          <p:nvPr/>
        </p:nvSpPr>
        <p:spPr>
          <a:xfrm>
            <a:off x="941832" y="3676497"/>
            <a:ext cx="1261872" cy="781507"/>
          </a:xfrm>
          <a:prstGeom prst="rect">
            <a:avLst/>
          </a:prstGeom>
          <a:noFill/>
        </p:spPr>
        <p:txBody>
          <a:bodyPr wrap="square" lIns="0" rIns="0" tIns="0" bIns="0" anchor="t">
            <a:spAutoFit/>
          </a:bodyPr>
          <a:lstStyle/>
          <a:p>
            <a:pPr algn="l">
              <a:lnSpc>
                <a:spcPct val="112000"/>
              </a:lnSpc>
            </a:pPr>
            <a:r>
              <a:rPr sz="950" b="1" i="0">
                <a:solidFill>
                  <a:srgbClr val="F59E0B"/>
                </a:solidFill>
                <a:latin typeface="Arial"/>
              </a:rPr>
              <a:t>CONTAINER — EPHEMERAL</a:t>
            </a:r>
          </a:p>
        </p:txBody>
      </p:sp>
      <p:sp>
        <p:nvSpPr>
          <p:cNvPr id="25" name="Rounded Rectangle 24"/>
          <p:cNvSpPr/>
          <p:nvPr/>
        </p:nvSpPr>
        <p:spPr>
          <a:xfrm>
            <a:off x="2258568" y="3566769"/>
            <a:ext cx="2130551" cy="964387"/>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6" name="TextBox 25"/>
          <p:cNvSpPr txBox="1"/>
          <p:nvPr/>
        </p:nvSpPr>
        <p:spPr>
          <a:xfrm>
            <a:off x="2350008"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Writable layer</a:t>
            </a:r>
          </a:p>
        </p:txBody>
      </p:sp>
      <p:sp>
        <p:nvSpPr>
          <p:cNvPr id="27" name="TextBox 26"/>
          <p:cNvSpPr txBox="1"/>
          <p:nvPr/>
        </p:nvSpPr>
        <p:spPr>
          <a:xfrm>
            <a:off x="2350008"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Copy-on-write upper directory</a:t>
            </a:r>
          </a:p>
        </p:txBody>
      </p:sp>
      <p:sp>
        <p:nvSpPr>
          <p:cNvPr id="28" name="Rounded Rectangle 27"/>
          <p:cNvSpPr/>
          <p:nvPr/>
        </p:nvSpPr>
        <p:spPr>
          <a:xfrm>
            <a:off x="4553712" y="3566769"/>
            <a:ext cx="2130551" cy="964387"/>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9" name="TextBox 28"/>
          <p:cNvSpPr txBox="1"/>
          <p:nvPr/>
        </p:nvSpPr>
        <p:spPr>
          <a:xfrm>
            <a:off x="4645151"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Merged view</a:t>
            </a:r>
          </a:p>
        </p:txBody>
      </p:sp>
      <p:sp>
        <p:nvSpPr>
          <p:cNvPr id="30" name="TextBox 29"/>
          <p:cNvSpPr txBox="1"/>
          <p:nvPr/>
        </p:nvSpPr>
        <p:spPr>
          <a:xfrm>
            <a:off x="4645151"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What the process sees as /</a:t>
            </a:r>
          </a:p>
        </p:txBody>
      </p:sp>
      <p:sp>
        <p:nvSpPr>
          <p:cNvPr id="31" name="Rounded Rectangle 30"/>
          <p:cNvSpPr/>
          <p:nvPr/>
        </p:nvSpPr>
        <p:spPr>
          <a:xfrm>
            <a:off x="6848855" y="3566769"/>
            <a:ext cx="2130551" cy="964387"/>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32" name="TextBox 31"/>
          <p:cNvSpPr txBox="1"/>
          <p:nvPr/>
        </p:nvSpPr>
        <p:spPr>
          <a:xfrm>
            <a:off x="6940295"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Scope</a:t>
            </a:r>
          </a:p>
        </p:txBody>
      </p:sp>
      <p:sp>
        <p:nvSpPr>
          <p:cNvPr id="33" name="TextBox 32"/>
          <p:cNvSpPr txBox="1"/>
          <p:nvPr/>
        </p:nvSpPr>
        <p:spPr>
          <a:xfrm>
            <a:off x="6940295"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One container instance only</a:t>
            </a:r>
          </a:p>
        </p:txBody>
      </p:sp>
      <p:sp>
        <p:nvSpPr>
          <p:cNvPr id="34" name="Rounded Rectangle 33"/>
          <p:cNvSpPr/>
          <p:nvPr/>
        </p:nvSpPr>
        <p:spPr>
          <a:xfrm>
            <a:off x="9143999" y="3566769"/>
            <a:ext cx="2130551" cy="964387"/>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35" name="TextBox 34"/>
          <p:cNvSpPr txBox="1"/>
          <p:nvPr/>
        </p:nvSpPr>
        <p:spPr>
          <a:xfrm>
            <a:off x="9235439"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On exit</a:t>
            </a:r>
          </a:p>
        </p:txBody>
      </p:sp>
      <p:sp>
        <p:nvSpPr>
          <p:cNvPr id="36" name="TextBox 35"/>
          <p:cNvSpPr txBox="1"/>
          <p:nvPr/>
        </p:nvSpPr>
        <p:spPr>
          <a:xfrm>
            <a:off x="9235439"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Discarded by the runtime</a:t>
            </a:r>
          </a:p>
        </p:txBody>
      </p:sp>
      <p:sp>
        <p:nvSpPr>
          <p:cNvPr id="37" name="Rectangle 36"/>
          <p:cNvSpPr/>
          <p:nvPr/>
        </p:nvSpPr>
        <p:spPr>
          <a:xfrm>
            <a:off x="777240" y="4787188"/>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38" name="Rectangle 37"/>
          <p:cNvSpPr/>
          <p:nvPr/>
        </p:nvSpPr>
        <p:spPr>
          <a:xfrm>
            <a:off x="777240" y="4787188"/>
            <a:ext cx="50292" cy="1110691"/>
          </a:xfrm>
          <a:prstGeom prst="rect">
            <a:avLst/>
          </a:prstGeom>
          <a:solidFill>
            <a:srgbClr val="10B981"/>
          </a:solidFill>
          <a:ln>
            <a:noFill/>
          </a:ln>
          <a:effectLst/>
        </p:spPr>
        <p:txBody>
          <a:bodyPr rtlCol="0" anchor="ctr" wrap="square"/>
          <a:lstStyle/>
          <a:p>
            <a:pPr algn="ctr"/>
          </a:p>
        </p:txBody>
      </p:sp>
      <p:sp>
        <p:nvSpPr>
          <p:cNvPr id="39" name="TextBox 38"/>
          <p:cNvSpPr txBox="1"/>
          <p:nvPr/>
        </p:nvSpPr>
        <p:spPr>
          <a:xfrm>
            <a:off x="941832" y="4970068"/>
            <a:ext cx="1261872" cy="781507"/>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VOLUME — OUTSIDE THE UNION</a:t>
            </a:r>
          </a:p>
        </p:txBody>
      </p:sp>
      <p:sp>
        <p:nvSpPr>
          <p:cNvPr id="40" name="Rounded Rectangle 39"/>
          <p:cNvSpPr/>
          <p:nvPr/>
        </p:nvSpPr>
        <p:spPr>
          <a:xfrm>
            <a:off x="2258568"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2350008"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emptyDir</a:t>
            </a:r>
          </a:p>
        </p:txBody>
      </p:sp>
      <p:sp>
        <p:nvSpPr>
          <p:cNvPr id="42" name="TextBox 41"/>
          <p:cNvSpPr txBox="1"/>
          <p:nvPr/>
        </p:nvSpPr>
        <p:spPr>
          <a:xfrm>
            <a:off x="2350008"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Lives as long as the Pod</a:t>
            </a:r>
          </a:p>
        </p:txBody>
      </p:sp>
      <p:sp>
        <p:nvSpPr>
          <p:cNvPr id="43" name="Rounded Rectangle 42"/>
          <p:cNvSpPr/>
          <p:nvPr/>
        </p:nvSpPr>
        <p:spPr>
          <a:xfrm>
            <a:off x="4553712"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4" name="TextBox 43"/>
          <p:cNvSpPr txBox="1"/>
          <p:nvPr/>
        </p:nvSpPr>
        <p:spPr>
          <a:xfrm>
            <a:off x="4645151"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PVC-backed</a:t>
            </a:r>
          </a:p>
        </p:txBody>
      </p:sp>
      <p:sp>
        <p:nvSpPr>
          <p:cNvPr id="45" name="TextBox 44"/>
          <p:cNvSpPr txBox="1"/>
          <p:nvPr/>
        </p:nvSpPr>
        <p:spPr>
          <a:xfrm>
            <a:off x="4645151"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Lives independently of the Pod</a:t>
            </a:r>
          </a:p>
        </p:txBody>
      </p:sp>
      <p:sp>
        <p:nvSpPr>
          <p:cNvPr id="46" name="Rounded Rectangle 45"/>
          <p:cNvSpPr/>
          <p:nvPr/>
        </p:nvSpPr>
        <p:spPr>
          <a:xfrm>
            <a:off x="6848855"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7" name="TextBox 46"/>
          <p:cNvSpPr txBox="1"/>
          <p:nvPr/>
        </p:nvSpPr>
        <p:spPr>
          <a:xfrm>
            <a:off x="6940295"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configMap / secret</a:t>
            </a:r>
          </a:p>
        </p:txBody>
      </p:sp>
      <p:sp>
        <p:nvSpPr>
          <p:cNvPr id="48" name="TextBox 47"/>
          <p:cNvSpPr txBox="1"/>
          <p:nvPr/>
        </p:nvSpPr>
        <p:spPr>
          <a:xfrm>
            <a:off x="6940295"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Projected, read-only</a:t>
            </a:r>
          </a:p>
        </p:txBody>
      </p:sp>
      <p:sp>
        <p:nvSpPr>
          <p:cNvPr id="49" name="Rounded Rectangle 48"/>
          <p:cNvSpPr/>
          <p:nvPr/>
        </p:nvSpPr>
        <p:spPr>
          <a:xfrm>
            <a:off x="9143999"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0" name="TextBox 49"/>
          <p:cNvSpPr txBox="1"/>
          <p:nvPr/>
        </p:nvSpPr>
        <p:spPr>
          <a:xfrm>
            <a:off x="9235439"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hostPath</a:t>
            </a:r>
          </a:p>
        </p:txBody>
      </p:sp>
      <p:sp>
        <p:nvSpPr>
          <p:cNvPr id="51" name="TextBox 50"/>
          <p:cNvSpPr txBox="1"/>
          <p:nvPr/>
        </p:nvSpPr>
        <p:spPr>
          <a:xfrm>
            <a:off x="9235439"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path on one specific node</a:t>
            </a:r>
          </a:p>
        </p:txBody>
      </p:sp>
      <p:sp>
        <p:nvSpPr>
          <p:cNvPr id="52" name="TextBox 5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53" name="TextBox 5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4" name="TextBox 5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5" name="TextBox 5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367</a:t>
            </a:r>
          </a:p>
        </p:txBody>
      </p:sp>
    </p:spTree>
  </p:cSld>
  <p:clrMapOvr>
    <a:masterClrMapping/>
  </p:clrMapOvr>
  <p:transition xmlns:ns1="http://schemas.openxmlformats.org/markup-compatibility/2006" spd="fast" ns1:Ignorable="p14">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the Writable Layer Is Not Storage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Copy-on-write is an efficiency mechanism, not a durability one.</a:t>
            </a:r>
          </a:p>
        </p:txBody>
      </p:sp>
      <p:sp>
        <p:nvSpPr>
          <p:cNvPr id="7" name="Rounded Rectangle 6"/>
          <p:cNvSpPr/>
          <p:nvPr/>
        </p:nvSpPr>
        <p:spPr>
          <a:xfrm>
            <a:off x="7772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Process writes</a:t>
            </a:r>
          </a:p>
        </p:txBody>
      </p:sp>
      <p:sp>
        <p:nvSpPr>
          <p:cNvPr id="11" name="TextBox 10"/>
          <p:cNvSpPr txBox="1"/>
          <p:nvPr/>
        </p:nvSpPr>
        <p:spPr>
          <a:xfrm>
            <a:off x="9235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union filesystem intercepts the write to a path that exists in a read-only image layer.</a:t>
            </a:r>
          </a:p>
        </p:txBody>
      </p:sp>
      <p:cxnSp>
        <p:nvCxnSpPr>
          <p:cNvPr id="12" name="Connector 11"/>
          <p:cNvCxnSpPr/>
          <p:nvPr/>
        </p:nvCxnSpPr>
        <p:spPr>
          <a:xfrm>
            <a:off x="271393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Copy-up</a:t>
            </a:r>
          </a:p>
        </p:txBody>
      </p:sp>
      <p:sp>
        <p:nvSpPr>
          <p:cNvPr id="17" name="TextBox 16"/>
          <p:cNvSpPr txBox="1"/>
          <p:nvPr/>
        </p:nvSpPr>
        <p:spPr>
          <a:xfrm>
            <a:off x="312541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file is copied into the container's writable upper directory, then modified there.</a:t>
            </a:r>
          </a:p>
        </p:txBody>
      </p:sp>
      <p:cxnSp>
        <p:nvCxnSpPr>
          <p:cNvPr id="18" name="Connector 17"/>
          <p:cNvCxnSpPr/>
          <p:nvPr/>
        </p:nvCxnSpPr>
        <p:spPr>
          <a:xfrm>
            <a:off x="491581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Container exits</a:t>
            </a:r>
          </a:p>
        </p:txBody>
      </p:sp>
      <p:sp>
        <p:nvSpPr>
          <p:cNvPr id="23" name="TextBox 22"/>
          <p:cNvSpPr txBox="1"/>
          <p:nvPr/>
        </p:nvSpPr>
        <p:spPr>
          <a:xfrm>
            <a:off x="532729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Non-zero exit, OOM kill or a failed probe ends this container instance.</a:t>
            </a:r>
          </a:p>
        </p:txBody>
      </p:sp>
      <p:cxnSp>
        <p:nvCxnSpPr>
          <p:cNvPr id="24" name="Connector 23"/>
          <p:cNvCxnSpPr/>
          <p:nvPr/>
        </p:nvCxnSpPr>
        <p:spPr>
          <a:xfrm>
            <a:off x="711768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Layer discarded</a:t>
            </a:r>
          </a:p>
        </p:txBody>
      </p:sp>
      <p:sp>
        <p:nvSpPr>
          <p:cNvPr id="29" name="TextBox 28"/>
          <p:cNvSpPr txBox="1"/>
          <p:nvPr/>
        </p:nvSpPr>
        <p:spPr>
          <a:xfrm>
            <a:off x="752916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runtime deletes the upper directory when the container is removed.</a:t>
            </a:r>
          </a:p>
        </p:txBody>
      </p:sp>
      <p:cxnSp>
        <p:nvCxnSpPr>
          <p:cNvPr id="30" name="Connector 29"/>
          <p:cNvCxnSpPr/>
          <p:nvPr/>
        </p:nvCxnSpPr>
        <p:spPr>
          <a:xfrm>
            <a:off x="931956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Restart is a new container</a:t>
            </a:r>
          </a:p>
        </p:txBody>
      </p:sp>
      <p:sp>
        <p:nvSpPr>
          <p:cNvPr id="35" name="TextBox 34"/>
          <p:cNvSpPr txBox="1"/>
          <p:nvPr/>
        </p:nvSpPr>
        <p:spPr>
          <a:xfrm>
            <a:off x="97310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restarted container gets a fresh writable layer and a new container ID — the file is gone.</a:t>
            </a:r>
          </a:p>
        </p:txBody>
      </p:sp>
      <p:sp>
        <p:nvSpPr>
          <p:cNvPr id="36" name="Rectangle 35"/>
          <p:cNvSpPr/>
          <p:nvPr/>
        </p:nvSpPr>
        <p:spPr>
          <a:xfrm>
            <a:off x="777240" y="4491634"/>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491634"/>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802530"/>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Restart-safety is not persistence. Only a volume survives the container that wrote to it.</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368</a:t>
            </a:r>
          </a:p>
        </p:txBody>
      </p:sp>
    </p:spTree>
  </p:cSld>
  <p:clrMapOvr>
    <a:masterClrMapping/>
  </p:clrMapOvr>
  <p:transition xmlns:ns5="http://schemas.openxmlformats.org/markup-compatibility/2006" spd="fast" ns5:Ignorable="p14">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LAB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Proving the Filesystem Is Ephemeral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Same manifest, same path, different bytes.</a:t>
            </a:r>
          </a:p>
        </p:txBody>
      </p:sp>
      <p:sp>
        <p:nvSpPr>
          <p:cNvPr id="7" name="Rectangle 6"/>
          <p:cNvSpPr/>
          <p:nvPr/>
        </p:nvSpPr>
        <p:spPr>
          <a:xfrm>
            <a:off x="777240" y="2200046"/>
            <a:ext cx="690372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kcna-lab17</a:t>
            </a:r>
          </a:p>
        </p:txBody>
      </p:sp>
      <p:sp>
        <p:nvSpPr>
          <p:cNvPr id="9" name="TextBox 8"/>
          <p:cNvSpPr txBox="1"/>
          <p:nvPr/>
        </p:nvSpPr>
        <p:spPr>
          <a:xfrm>
            <a:off x="923544" y="2620670"/>
            <a:ext cx="6611112" cy="224942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kcna-lab17 exec lane-scratch -- cat /data/first-boot</a:t>
            </a:r>
          </a:p>
          <a:p>
            <a:pPr>
              <a:lnSpc>
                <a:spcPts val="1476"/>
              </a:lnSpc>
              <a:spcAft>
                <a:spcPts val="0"/>
              </a:spcAft>
            </a:pPr>
            <a:r>
              <a:rPr sz="1000">
                <a:solidFill>
                  <a:srgbClr val="E6EDF3"/>
                </a:solidFill>
                <a:latin typeface="Consolas"/>
              </a:rPr>
              <a:t>2026-09-05T04:11:23Z</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kcna-lab17 delete pod lane-scratch --now</a:t>
            </a:r>
          </a:p>
          <a:p>
            <a:pPr>
              <a:lnSpc>
                <a:spcPts val="1476"/>
              </a:lnSpc>
              <a:spcAft>
                <a:spcPts val="0"/>
              </a:spcAft>
            </a:pPr>
            <a:r>
              <a:rPr sz="1000">
                <a:solidFill>
                  <a:srgbClr val="7EE787"/>
                </a:solidFill>
                <a:latin typeface="Consolas"/>
              </a:rPr>
              <a:t>$ kubectl -n kcna-lab17 apply -f manifests/lane-scratch.yaml</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kcna-lab17 exec lane-scratch -- cat /data/first-boot</a:t>
            </a:r>
          </a:p>
          <a:p>
            <a:pPr>
              <a:lnSpc>
                <a:spcPts val="1476"/>
              </a:lnSpc>
              <a:spcAft>
                <a:spcPts val="0"/>
              </a:spcAft>
            </a:pPr>
            <a:r>
              <a:rPr sz="1000">
                <a:solidFill>
                  <a:srgbClr val="E6EDF3"/>
                </a:solidFill>
                <a:latin typeface="Consolas"/>
              </a:rPr>
              <a:t>2026-09-05T04:12:57Z</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kcna-lab17 get pod lane-scratch \</a:t>
            </a:r>
          </a:p>
          <a:p>
            <a:pPr>
              <a:lnSpc>
                <a:spcPts val="1476"/>
              </a:lnSpc>
              <a:spcAft>
                <a:spcPts val="0"/>
              </a:spcAft>
            </a:pPr>
            <a:r>
              <a:rPr sz="1000">
                <a:solidFill>
                  <a:srgbClr val="E6EDF3"/>
                </a:solidFill>
                <a:latin typeface="Consolas"/>
              </a:rPr>
              <a:t>    -o jsonpath='{.status.containerStatuses[0].containerID}'</a:t>
            </a:r>
          </a:p>
          <a:p>
            <a:pPr>
              <a:lnSpc>
                <a:spcPts val="1476"/>
              </a:lnSpc>
              <a:spcAft>
                <a:spcPts val="0"/>
              </a:spcAft>
            </a:pPr>
            <a:r>
              <a:rPr sz="1000">
                <a:solidFill>
                  <a:srgbClr val="E6EDF3"/>
                </a:solidFill>
                <a:latin typeface="Consolas"/>
              </a:rPr>
              <a:t>containerd://8f1c...  # a different container ID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timestamp moved</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file the first container wrote was never seen by the second.</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container ID changed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new container instance means a new writable layer, always.</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Nothing errored</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There is no warning event for lost scratch data — the API is behaving exactly as designed.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fix is structural</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Declare a volume; do not rely on the container filesystem.</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369</a:t>
            </a:r>
          </a:p>
        </p:txBody>
      </p:sp>
    </p:spTree>
  </p:cSld>
  <p:clrMapOvr>
    <a:masterClrMapping/>
  </p:clrMapOvr>
  <p:transition xmlns:ns1="http://schemas.openxmlformats.org/markup-compatibility/2006" spd="fast" ns1:Ignorable="p14">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PRIOR ART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Docker Storage — the Vocabulary Kubernetes Inherited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did not invent these ideas; it generalised them across a cluster.</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Storage driver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overlay2 and friends assemble image layers plus a writable layer into one merged filesystem. Not a persistence feature.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Bind mount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host path spliced into the container. Fast, powerful, and tied to one machine's directory layout.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Named volume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Docker-managed storage with a lifecycle independent of the container: docker volume create / ls / rm.</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tmpfs mount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RAM-backed mount that never reaches disk and vanishes with the container.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Volume driver plugin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out-of-process plugin implementing Create / Mount / Unmount / Remove so third-party storage could back a named volume.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it mattered</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plugin API proved the idea of pluggable storage — and exposed how per-engine and non-portable that idea was.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Docker documentation — Storage overview, volumes, storage drivers and the Volume plugin API (docs.docker.com).</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370</a:t>
            </a:r>
          </a:p>
        </p:txBody>
      </p:sp>
    </p:spTree>
  </p:cSld>
  <p:clrMapOvr>
    <a:masterClrMapping/>
  </p:clrMapOvr>
  <p:transition xmlns:ns1="http://schemas.openxmlformats.org/markup-compatibility/2006" spd="fast" ns1:Ignorable="p14">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TRANSLATE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Docker Concept → Kubernetes Equivalent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mapping is close enough to be useful and different enough to be dangerous.</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Docker</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Kubernetes</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changes in a cluster</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Bind mount (-v /host:/ctr)</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hostPath volume</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Now node-specific: the Pod must land on the node that has the path</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Named volume</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PersistentVolumeClaim + PersistentVolume</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claim is portable; the backing volume is provisioned for you</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tmpfs mount</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emptyDir with medium: Memory</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Counts against the writing container's memory limit</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Volume driver plugin</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CSI driver (controller + node plugins)</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versioned gRPC contract, not an engine-specific plugin</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docker volume create</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StorageClass + dynamic provisioning</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Volumes are created on demand by a controller, not by an operator</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Learn the Kubernetes object, not the Docker flag — the cluster has to answer 'which node?' as well as 'which path?'.</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Docker documentation — Storage overview, volumes, storage drivers and the Volume plugin API (docs.docker.com).</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371</a:t>
            </a:r>
          </a:p>
        </p:txBody>
      </p:sp>
    </p:spTree>
  </p:cSld>
  <p:clrMapOvr>
    <a:masterClrMapping/>
  </p:clrMapOvr>
  <p:transition xmlns:ns1="http://schemas.openxmlformats.org/markup-compatibility/2006" spd="fast" ns1:Ignorable="p14">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HISTORY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From Volume Plugins to the Container Storage Interface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attempts at the same problem: how do you extend storage without extending Kubernetes itself?</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In-tree plugins</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Every storage vendor's code shipped inside the Kubernetes binary and moved on the Kubernetes release train.</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FlexVolume</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Exec-based drivers dropped onto every node's filesystem. Out-of-tree, but fragile and hard to package.</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CSI arrives</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versioned gRPC specification shared with Mesos and Nomad; drivers ship as ordinary Pods.</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CSI migration</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In-tree plugin calls were transparently redirected to CSI drivers with the PVC YAML unchanged.</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In-tree removal</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legacy plugins were deleted from the core tree; CSI is now the only supported extension point.</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 PVC written for an in-tree plugin still reads the same — the compatibility was preserved deliberately at the API surface.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 Plugin Migration / CSI migration; kubernetes-csi.github.io external sidecar docs.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372</a:t>
            </a:r>
          </a:p>
        </p:txBody>
      </p:sp>
    </p:spTree>
  </p:cSld>
  <p:clrMapOvr>
    <a:masterClrMapping/>
  </p:clrMapOvr>
  <p:transition xmlns:ns5="http://schemas.openxmlformats.org/markup-compatibility/2006" spd="fast" ns5:Ignorable="p14">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TAXONOMY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Kubernetes Volume Types You Must Recognise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Pod.spec.volumes is a discriminated union — the key you set decides everything else.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emptyDir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Created empty when the Pod is assigned to a node; deleted when the Pod is removed. Shared by every container in the Pod.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hostPath</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file or directory from the node's own filesystem. Node-coupled and a documented security hazard.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persistentVolumeClaim</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portable option: the Pod references a claim, and the claim is bound to a PersistentVolume.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configMap / secret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Key-value data projected as read-only files. Updated in place by the kubelet for non-subPath mounts.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downwardAPI</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 metadata — labels, annotations, resource limits — exposed as files without an API call.</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projected</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One mount point combining configMap, secret, downwardAPI and bound serviceAccountToken sources.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373</a:t>
            </a:r>
          </a:p>
        </p:txBody>
      </p:sp>
    </p:spTree>
  </p:cSld>
  <p:clrMapOvr>
    <a:masterClrMapping/>
  </p:clrMapOvr>
  <p:transition xmlns:ns1="http://schemas.openxmlformats.org/markup-compatibility/2006" spd="fast" ns1:Ignorable="p14">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an emptyDir — Disk-Backed and Memory-Backed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most common volume in Kubernetes, and the most commonly misunderstood lifetime.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lane-report.yaml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apiVersion: v1</a:t>
            </a:r>
          </a:p>
          <a:p>
            <a:pPr>
              <a:lnSpc>
                <a:spcPts val="1339"/>
              </a:lnSpc>
              <a:spcAft>
                <a:spcPts val="0"/>
              </a:spcAft>
            </a:pPr>
            <a:r>
              <a:rPr sz="1050">
                <a:solidFill>
                  <a:srgbClr val="E6EDF3"/>
                </a:solidFill>
                <a:latin typeface="Consolas"/>
              </a:rPr>
              <a:t>kind: Pod</a:t>
            </a:r>
          </a:p>
          <a:p>
            <a:pPr>
              <a:lnSpc>
                <a:spcPts val="1339"/>
              </a:lnSpc>
              <a:spcAft>
                <a:spcPts val="0"/>
              </a:spcAft>
            </a:pPr>
            <a:r>
              <a:rPr sz="1050">
                <a:solidFill>
                  <a:srgbClr val="E6EDF3"/>
                </a:solidFill>
                <a:latin typeface="Consolas"/>
              </a:rPr>
              <a:t>metadata:</a:t>
            </a:r>
          </a:p>
          <a:p>
            <a:pPr>
              <a:lnSpc>
                <a:spcPts val="1339"/>
              </a:lnSpc>
              <a:spcAft>
                <a:spcPts val="0"/>
              </a:spcAft>
            </a:pPr>
            <a:r>
              <a:rPr sz="1050">
                <a:solidFill>
                  <a:srgbClr val="E6EDF3"/>
                </a:solidFill>
                <a:latin typeface="Consolas"/>
              </a:rPr>
              <a:t>  name: lane-report</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containers:</a:t>
            </a:r>
          </a:p>
          <a:p>
            <a:pPr>
              <a:lnSpc>
                <a:spcPts val="1339"/>
              </a:lnSpc>
              <a:spcAft>
                <a:spcPts val="0"/>
              </a:spcAft>
            </a:pPr>
            <a:r>
              <a:rPr sz="1050">
                <a:solidFill>
                  <a:srgbClr val="E6EDF3"/>
                </a:solidFill>
                <a:latin typeface="Consolas"/>
              </a:rPr>
              <a:t>  - name: report-builder</a:t>
            </a:r>
          </a:p>
          <a:p>
            <a:pPr>
              <a:lnSpc>
                <a:spcPts val="1339"/>
              </a:lnSpc>
              <a:spcAft>
                <a:spcPts val="0"/>
              </a:spcAft>
            </a:pPr>
            <a:r>
              <a:rPr sz="1050">
                <a:solidFill>
                  <a:srgbClr val="E6EDF3"/>
                </a:solidFill>
                <a:latin typeface="Consolas"/>
              </a:rPr>
              <a:t>    volumeMounts:</a:t>
            </a:r>
          </a:p>
          <a:p>
            <a:pPr>
              <a:lnSpc>
                <a:spcPts val="1339"/>
              </a:lnSpc>
              <a:spcAft>
                <a:spcPts val="0"/>
              </a:spcAft>
            </a:pPr>
            <a:r>
              <a:rPr sz="1050">
                <a:solidFill>
                  <a:srgbClr val="E6EDF3"/>
                </a:solidFill>
                <a:latin typeface="Consolas"/>
              </a:rPr>
              <a:t>    - name: report</a:t>
            </a:r>
          </a:p>
          <a:p>
            <a:pPr>
              <a:lnSpc>
                <a:spcPts val="1339"/>
              </a:lnSpc>
              <a:spcAft>
                <a:spcPts val="0"/>
              </a:spcAft>
            </a:pPr>
            <a:r>
              <a:rPr sz="1050">
                <a:solidFill>
                  <a:srgbClr val="E6EDF3"/>
                </a:solidFill>
                <a:latin typeface="Consolas"/>
              </a:rPr>
              <a:t>      mountPath: /shared</a:t>
            </a:r>
          </a:p>
          <a:p>
            <a:pPr>
              <a:lnSpc>
                <a:spcPts val="1339"/>
              </a:lnSpc>
              <a:spcAft>
                <a:spcPts val="0"/>
              </a:spcAft>
            </a:pPr>
            <a:r>
              <a:rPr sz="1050">
                <a:solidFill>
                  <a:srgbClr val="E6EDF3"/>
                </a:solidFill>
                <a:latin typeface="Consolas"/>
              </a:rPr>
              <a:t>  - name: report-web</a:t>
            </a:r>
          </a:p>
          <a:p>
            <a:pPr>
              <a:lnSpc>
                <a:spcPts val="1339"/>
              </a:lnSpc>
              <a:spcAft>
                <a:spcPts val="0"/>
              </a:spcAft>
            </a:pPr>
            <a:r>
              <a:rPr sz="1050">
                <a:solidFill>
                  <a:srgbClr val="E6EDF3"/>
                </a:solidFill>
                <a:latin typeface="Consolas"/>
              </a:rPr>
              <a:t>    volumeMounts:</a:t>
            </a:r>
          </a:p>
          <a:p>
            <a:pPr>
              <a:lnSpc>
                <a:spcPts val="1339"/>
              </a:lnSpc>
              <a:spcAft>
                <a:spcPts val="0"/>
              </a:spcAft>
            </a:pPr>
            <a:r>
              <a:rPr sz="1050">
                <a:solidFill>
                  <a:srgbClr val="E6EDF3"/>
                </a:solidFill>
                <a:latin typeface="Consolas"/>
              </a:rPr>
              <a:t>    - name: report</a:t>
            </a:r>
          </a:p>
          <a:p>
            <a:pPr>
              <a:lnSpc>
                <a:spcPts val="1339"/>
              </a:lnSpc>
              <a:spcAft>
                <a:spcPts val="0"/>
              </a:spcAft>
            </a:pPr>
            <a:r>
              <a:rPr sz="1050">
                <a:solidFill>
                  <a:srgbClr val="E6EDF3"/>
                </a:solidFill>
                <a:latin typeface="Consolas"/>
              </a:rPr>
              <a:t>      mountPath: /shared</a:t>
            </a:r>
          </a:p>
          <a:p>
            <a:pPr>
              <a:lnSpc>
                <a:spcPts val="1339"/>
              </a:lnSpc>
              <a:spcAft>
                <a:spcPts val="0"/>
              </a:spcAft>
            </a:pPr>
            <a:r>
              <a:rPr sz="1050">
                <a:solidFill>
                  <a:srgbClr val="E6EDF3"/>
                </a:solidFill>
                <a:latin typeface="Consolas"/>
              </a:rPr>
              <a:t>      readOnly: true</a:t>
            </a:r>
          </a:p>
          <a:p>
            <a:pPr>
              <a:lnSpc>
                <a:spcPts val="1339"/>
              </a:lnSpc>
              <a:spcAft>
                <a:spcPts val="0"/>
              </a:spcAft>
            </a:pPr>
            <a:r>
              <a:rPr sz="1050">
                <a:solidFill>
                  <a:srgbClr val="E6EDF3"/>
                </a:solidFill>
                <a:latin typeface="Consolas"/>
              </a:rPr>
              <a:t>  volumes:</a:t>
            </a:r>
          </a:p>
          <a:p>
            <a:pPr>
              <a:lnSpc>
                <a:spcPts val="1339"/>
              </a:lnSpc>
              <a:spcAft>
                <a:spcPts val="0"/>
              </a:spcAft>
            </a:pPr>
            <a:r>
              <a:rPr sz="1050">
                <a:solidFill>
                  <a:srgbClr val="E6EDF3"/>
                </a:solidFill>
                <a:latin typeface="Consolas"/>
              </a:rPr>
              <a:t>  - name: report</a:t>
            </a:r>
          </a:p>
          <a:p>
            <a:pPr>
              <a:lnSpc>
                <a:spcPts val="1339"/>
              </a:lnSpc>
              <a:spcAft>
                <a:spcPts val="0"/>
              </a:spcAft>
            </a:pPr>
            <a:r>
              <a:rPr sz="1050">
                <a:solidFill>
                  <a:srgbClr val="E6EDF3"/>
                </a:solidFill>
                <a:latin typeface="Consolas"/>
              </a:rPr>
              <a:t>    emptyDir:</a:t>
            </a:r>
          </a:p>
          <a:p>
            <a:pPr>
              <a:lnSpc>
                <a:spcPts val="1339"/>
              </a:lnSpc>
              <a:spcAft>
                <a:spcPts val="0"/>
              </a:spcAft>
            </a:pPr>
            <a:r>
              <a:rPr sz="1050">
                <a:solidFill>
                  <a:srgbClr val="E6EDF3"/>
                </a:solidFill>
                <a:latin typeface="Consolas"/>
              </a:rPr>
              <a:t>      sizeLimit: 64Mi</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One volume, two mounts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Both containers name the same volume; the sidecar pattern is just a shared emptyDir.</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readOnly is per mount</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same volume can be writable in one container and read-only in another.</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sizeLimit is an eviction bound</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Exceeding it makes the Pod a candidate for eviction; it is not a hard filesystem quota on every backend.</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Lifetime is the Pod</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container restart keeps the data; deleting the Pod destroys it.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374</a:t>
            </a:r>
          </a:p>
        </p:txBody>
      </p:sp>
    </p:spTree>
  </p:cSld>
  <p:clrMapOvr>
    <a:masterClrMapping/>
  </p:clrMapOvr>
  <p:transition xmlns:ns1="http://schemas.openxmlformats.org/markup-compatibility/2006" spd="fast" ns1:Ignorable="p14">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EXACT SEMANTICS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emptyDir: The Facts That Get Examined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of these are exam favourites: the lifetime is the Pod, and memory-backed files are charged to the writing container.</a:t>
            </a:r>
          </a:p>
        </p:txBody>
      </p:sp>
      <p:sp>
        <p:nvSpPr>
          <p:cNvPr id="7" name="Rectangle 6"/>
          <p:cNvSpPr/>
          <p:nvPr/>
        </p:nvSpPr>
        <p:spPr>
          <a:xfrm>
            <a:off x="777240" y="220888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8885"/>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9118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Created when</a:t>
            </a:r>
          </a:p>
        </p:txBody>
      </p:sp>
      <p:sp>
        <p:nvSpPr>
          <p:cNvPr id="10" name="TextBox 9"/>
          <p:cNvSpPr txBox="1"/>
          <p:nvPr/>
        </p:nvSpPr>
        <p:spPr>
          <a:xfrm>
            <a:off x="3235147" y="229118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Pod is assigned to a node — not before</a:t>
            </a:r>
          </a:p>
        </p:txBody>
      </p:sp>
      <p:sp>
        <p:nvSpPr>
          <p:cNvPr id="11" name="Rectangle 10"/>
          <p:cNvSpPr/>
          <p:nvPr/>
        </p:nvSpPr>
        <p:spPr>
          <a:xfrm>
            <a:off x="777240" y="275752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57525"/>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982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Destroyed when</a:t>
            </a:r>
          </a:p>
        </p:txBody>
      </p:sp>
      <p:sp>
        <p:nvSpPr>
          <p:cNvPr id="14" name="TextBox 13"/>
          <p:cNvSpPr txBox="1"/>
          <p:nvPr/>
        </p:nvSpPr>
        <p:spPr>
          <a:xfrm>
            <a:off x="3235147" y="283982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Pod is removed from the node, for any reason</a:t>
            </a:r>
          </a:p>
        </p:txBody>
      </p:sp>
      <p:sp>
        <p:nvSpPr>
          <p:cNvPr id="15" name="Rectangle 14"/>
          <p:cNvSpPr/>
          <p:nvPr/>
        </p:nvSpPr>
        <p:spPr>
          <a:xfrm>
            <a:off x="777240" y="330616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306165"/>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8846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Container restart</a:t>
            </a:r>
          </a:p>
        </p:txBody>
      </p:sp>
      <p:sp>
        <p:nvSpPr>
          <p:cNvPr id="18" name="TextBox 17"/>
          <p:cNvSpPr txBox="1"/>
          <p:nvPr/>
        </p:nvSpPr>
        <p:spPr>
          <a:xfrm>
            <a:off x="3235147" y="338846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Data survives; the volume outlives the container</a:t>
            </a:r>
          </a:p>
        </p:txBody>
      </p:sp>
      <p:sp>
        <p:nvSpPr>
          <p:cNvPr id="19" name="Rectangle 18"/>
          <p:cNvSpPr/>
          <p:nvPr/>
        </p:nvSpPr>
        <p:spPr>
          <a:xfrm>
            <a:off x="777240" y="385480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54805"/>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3710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backing</a:t>
            </a:r>
          </a:p>
        </p:txBody>
      </p:sp>
      <p:sp>
        <p:nvSpPr>
          <p:cNvPr id="22" name="TextBox 21"/>
          <p:cNvSpPr txBox="1"/>
          <p:nvPr/>
        </p:nvSpPr>
        <p:spPr>
          <a:xfrm>
            <a:off x="3235147" y="393710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node's ephemeral-storage medium (disk)</a:t>
            </a:r>
          </a:p>
        </p:txBody>
      </p:sp>
      <p:sp>
        <p:nvSpPr>
          <p:cNvPr id="23" name="Rectangle 22"/>
          <p:cNvSpPr/>
          <p:nvPr/>
        </p:nvSpPr>
        <p:spPr>
          <a:xfrm>
            <a:off x="777240" y="440344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403445"/>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8574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medium: Memory</a:t>
            </a:r>
          </a:p>
        </p:txBody>
      </p:sp>
      <p:sp>
        <p:nvSpPr>
          <p:cNvPr id="26" name="TextBox 25"/>
          <p:cNvSpPr txBox="1"/>
          <p:nvPr/>
        </p:nvSpPr>
        <p:spPr>
          <a:xfrm>
            <a:off x="3235147" y="448574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tmpfs — RAM-backed, cleared on node reboot</a:t>
            </a:r>
          </a:p>
        </p:txBody>
      </p:sp>
      <p:sp>
        <p:nvSpPr>
          <p:cNvPr id="27" name="Rectangle 26"/>
          <p:cNvSpPr/>
          <p:nvPr/>
        </p:nvSpPr>
        <p:spPr>
          <a:xfrm>
            <a:off x="6263639" y="220888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8885"/>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9118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Memory accounting</a:t>
            </a:r>
          </a:p>
        </p:txBody>
      </p:sp>
      <p:sp>
        <p:nvSpPr>
          <p:cNvPr id="30" name="TextBox 29"/>
          <p:cNvSpPr txBox="1"/>
          <p:nvPr/>
        </p:nvSpPr>
        <p:spPr>
          <a:xfrm>
            <a:off x="8721547" y="229118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Files count against the memory limit of the container that writes them</a:t>
            </a:r>
          </a:p>
        </p:txBody>
      </p:sp>
      <p:sp>
        <p:nvSpPr>
          <p:cNvPr id="31" name="Rectangle 30"/>
          <p:cNvSpPr/>
          <p:nvPr/>
        </p:nvSpPr>
        <p:spPr>
          <a:xfrm>
            <a:off x="6263639" y="275752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57525"/>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982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sizeLimit</a:t>
            </a:r>
          </a:p>
        </p:txBody>
      </p:sp>
      <p:sp>
        <p:nvSpPr>
          <p:cNvPr id="34" name="TextBox 33"/>
          <p:cNvSpPr txBox="1"/>
          <p:nvPr/>
        </p:nvSpPr>
        <p:spPr>
          <a:xfrm>
            <a:off x="8721547" y="283982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Bounds the volume; drives eviction, not a hard quota</a:t>
            </a:r>
          </a:p>
        </p:txBody>
      </p:sp>
      <p:sp>
        <p:nvSpPr>
          <p:cNvPr id="35" name="Rectangle 34"/>
          <p:cNvSpPr/>
          <p:nvPr/>
        </p:nvSpPr>
        <p:spPr>
          <a:xfrm>
            <a:off x="6263639" y="330616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306165"/>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8846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SizeMemoryBackedVolumes</a:t>
            </a:r>
          </a:p>
        </p:txBody>
      </p:sp>
      <p:sp>
        <p:nvSpPr>
          <p:cNvPr id="38" name="TextBox 37"/>
          <p:cNvSpPr txBox="1"/>
          <p:nvPr/>
        </p:nvSpPr>
        <p:spPr>
          <a:xfrm>
            <a:off x="8721547" y="338846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Feature gate: beta in v1.22, generally available in v1.32</a:t>
            </a:r>
          </a:p>
        </p:txBody>
      </p:sp>
      <p:sp>
        <p:nvSpPr>
          <p:cNvPr id="39" name="Rectangle 38"/>
          <p:cNvSpPr/>
          <p:nvPr/>
        </p:nvSpPr>
        <p:spPr>
          <a:xfrm>
            <a:off x="6263639" y="3854805"/>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54805"/>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3710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Sharing</a:t>
            </a:r>
          </a:p>
        </p:txBody>
      </p:sp>
      <p:sp>
        <p:nvSpPr>
          <p:cNvPr id="42" name="TextBox 41"/>
          <p:cNvSpPr txBox="1"/>
          <p:nvPr/>
        </p:nvSpPr>
        <p:spPr>
          <a:xfrm>
            <a:off x="8721547" y="393710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Every container in the Pod may mount it; no cross-Pod sharing</a:t>
            </a:r>
          </a:p>
        </p:txBody>
      </p:sp>
      <p:sp>
        <p:nvSpPr>
          <p:cNvPr id="43" name="Rectangle 42"/>
          <p:cNvSpPr/>
          <p:nvPr/>
        </p:nvSpPr>
        <p:spPr>
          <a:xfrm>
            <a:off x="6263639" y="4403445"/>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403445"/>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85741"/>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Not a substitute for</a:t>
            </a:r>
          </a:p>
        </p:txBody>
      </p:sp>
      <p:sp>
        <p:nvSpPr>
          <p:cNvPr id="46" name="TextBox 45"/>
          <p:cNvSpPr txBox="1"/>
          <p:nvPr/>
        </p:nvSpPr>
        <p:spPr>
          <a:xfrm>
            <a:off x="8721547" y="4485741"/>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PersistentVolumeClaim — it is never durable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reference — Feature Gates. SizeMemoryBackedVolumes: beta v1.22, GA v1.32. Retrieved 5 Sep 2026.</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375</a:t>
            </a:r>
          </a:p>
        </p:txBody>
      </p:sp>
    </p:spTree>
  </p:cSld>
  <p:clrMapOvr>
    <a:masterClrMapping/>
  </p:clrMapOvr>
  <p:transition xmlns:ns1="http://schemas.openxmlformats.org/markup-compatibility/2006" spd="fast" ns1:Ignorable="p14">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LAB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Memory-Backed emptyDir Is Really a tmpfs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Declared 32Mi of medium: Memory; the container sees a 32.0M tmpfs.</a:t>
            </a:r>
          </a:p>
        </p:txBody>
      </p:sp>
      <p:sp>
        <p:nvSpPr>
          <p:cNvPr id="7" name="Rectangle 6"/>
          <p:cNvSpPr/>
          <p:nvPr/>
        </p:nvSpPr>
        <p:spPr>
          <a:xfrm>
            <a:off x="777240" y="2200046"/>
            <a:ext cx="6903720" cy="3003804"/>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kcna-lab17</a:t>
            </a:r>
          </a:p>
        </p:txBody>
      </p:sp>
      <p:sp>
        <p:nvSpPr>
          <p:cNvPr id="9" name="TextBox 8"/>
          <p:cNvSpPr txBox="1"/>
          <p:nvPr/>
        </p:nvSpPr>
        <p:spPr>
          <a:xfrm>
            <a:off x="923544" y="2620670"/>
            <a:ext cx="6611112" cy="2436876"/>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kcna-lab17 exec lane-cache -- df -h /cache</a:t>
            </a:r>
          </a:p>
          <a:p>
            <a:pPr>
              <a:lnSpc>
                <a:spcPts val="1476"/>
              </a:lnSpc>
              <a:spcAft>
                <a:spcPts val="0"/>
              </a:spcAft>
            </a:pPr>
            <a:r>
              <a:rPr sz="1000">
                <a:solidFill>
                  <a:srgbClr val="E6EDF3"/>
                </a:solidFill>
                <a:latin typeface="Consolas"/>
              </a:rPr>
              <a:t>Filesystem                Size      Used Available Use% Mounted on</a:t>
            </a:r>
          </a:p>
          <a:p>
            <a:pPr>
              <a:lnSpc>
                <a:spcPts val="1476"/>
              </a:lnSpc>
              <a:spcAft>
                <a:spcPts val="0"/>
              </a:spcAft>
            </a:pPr>
            <a:r>
              <a:rPr sz="1000">
                <a:solidFill>
                  <a:srgbClr val="E6EDF3"/>
                </a:solidFill>
                <a:latin typeface="Consolas"/>
              </a:rPr>
              <a:t>tmpfs                    32.0M         0     32.0M   0% /cache</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kcna-lab17 exec lane-cache -- mount | grep /cache</a:t>
            </a:r>
          </a:p>
          <a:p>
            <a:pPr>
              <a:lnSpc>
                <a:spcPts val="1476"/>
              </a:lnSpc>
              <a:spcAft>
                <a:spcPts val="0"/>
              </a:spcAft>
            </a:pPr>
            <a:r>
              <a:rPr sz="1000">
                <a:solidFill>
                  <a:srgbClr val="E6EDF3"/>
                </a:solidFill>
                <a:latin typeface="Consolas"/>
              </a:rPr>
              <a:t>tmpfs on /cache type tmpfs (rw,relatime,size=32768k,inode64)</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the Pod spec that produced it</a:t>
            </a:r>
          </a:p>
          <a:p>
            <a:pPr>
              <a:lnSpc>
                <a:spcPts val="1476"/>
              </a:lnSpc>
              <a:spcAft>
                <a:spcPts val="0"/>
              </a:spcAft>
            </a:pPr>
            <a:r>
              <a:rPr sz="1000">
                <a:solidFill>
                  <a:srgbClr val="E6EDF3"/>
                </a:solidFill>
                <a:latin typeface="Consolas"/>
              </a:rPr>
              <a:t>  volumes:</a:t>
            </a:r>
          </a:p>
          <a:p>
            <a:pPr>
              <a:lnSpc>
                <a:spcPts val="1476"/>
              </a:lnSpc>
              <a:spcAft>
                <a:spcPts val="0"/>
              </a:spcAft>
            </a:pPr>
            <a:r>
              <a:rPr sz="1000">
                <a:solidFill>
                  <a:srgbClr val="E6EDF3"/>
                </a:solidFill>
                <a:latin typeface="Consolas"/>
              </a:rPr>
              <a:t>  - name: cache</a:t>
            </a:r>
          </a:p>
          <a:p>
            <a:pPr>
              <a:lnSpc>
                <a:spcPts val="1476"/>
              </a:lnSpc>
              <a:spcAft>
                <a:spcPts val="0"/>
              </a:spcAft>
            </a:pPr>
            <a:r>
              <a:rPr sz="1000">
                <a:solidFill>
                  <a:srgbClr val="E6EDF3"/>
                </a:solidFill>
                <a:latin typeface="Consolas"/>
              </a:rPr>
              <a:t>    emptyDir:</a:t>
            </a:r>
          </a:p>
          <a:p>
            <a:pPr>
              <a:lnSpc>
                <a:spcPts val="1476"/>
              </a:lnSpc>
              <a:spcAft>
                <a:spcPts val="0"/>
              </a:spcAft>
            </a:pPr>
            <a:r>
              <a:rPr sz="1000">
                <a:solidFill>
                  <a:srgbClr val="E6EDF3"/>
                </a:solidFill>
                <a:latin typeface="Consolas"/>
              </a:rPr>
              <a:t>      medium: Memory</a:t>
            </a:r>
          </a:p>
          <a:p>
            <a:pPr>
              <a:lnSpc>
                <a:spcPts val="1476"/>
              </a:lnSpc>
              <a:spcAft>
                <a:spcPts val="0"/>
              </a:spcAft>
            </a:pPr>
            <a:r>
              <a:rPr sz="1000">
                <a:solidFill>
                  <a:srgbClr val="E6EDF3"/>
                </a:solidFill>
                <a:latin typeface="Consolas"/>
              </a:rPr>
              <a:t>      sizeLimit: 32Mi</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Size matches sizeLimit exactly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32Mi declared, 32.0M reported — the tmpfs is sized from the spec.</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Filesystem type is tmpfs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 overlay, not ext4 — this mount is served from page cache.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Charged to the writer</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Bytes written here count against the memory limit of the container doing the writing.</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Use it for</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Secrets materialised at runtime, hot caches and scratch space you want gone at Pod teardown.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376</a:t>
            </a:r>
          </a:p>
        </p:txBody>
      </p:sp>
    </p:spTree>
  </p:cSld>
  <p:clrMapOvr>
    <a:masterClrMapping/>
  </p:clrMapOvr>
  <p:transition xmlns:ns1="http://schemas.openxmlformats.org/markup-compatibility/2006" spd="fast" ns1:Ignorable="p14">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hostPath and Its type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one volume type that reaches outside the cluster's abstractions and touches a specific machine.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node-log-peek.yaml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  volumes:</a:t>
            </a:r>
          </a:p>
          <a:p>
            <a:pPr>
              <a:lnSpc>
                <a:spcPts val="1339"/>
              </a:lnSpc>
              <a:spcAft>
                <a:spcPts val="0"/>
              </a:spcAft>
            </a:pPr>
            <a:r>
              <a:rPr sz="1050">
                <a:solidFill>
                  <a:srgbClr val="E6EDF3"/>
                </a:solidFill>
                <a:latin typeface="Consolas"/>
              </a:rPr>
              <a:t>  - name: node-logs</a:t>
            </a:r>
          </a:p>
          <a:p>
            <a:pPr>
              <a:lnSpc>
                <a:spcPts val="1339"/>
              </a:lnSpc>
              <a:spcAft>
                <a:spcPts val="0"/>
              </a:spcAft>
            </a:pPr>
            <a:r>
              <a:rPr sz="1050">
                <a:solidFill>
                  <a:srgbClr val="E6EDF3"/>
                </a:solidFill>
                <a:latin typeface="Consolas"/>
              </a:rPr>
              <a:t>    hostPath:</a:t>
            </a:r>
          </a:p>
          <a:p>
            <a:pPr>
              <a:lnSpc>
                <a:spcPts val="1339"/>
              </a:lnSpc>
              <a:spcAft>
                <a:spcPts val="0"/>
              </a:spcAft>
            </a:pPr>
            <a:r>
              <a:rPr sz="1050">
                <a:solidFill>
                  <a:srgbClr val="E6EDF3"/>
                </a:solidFill>
                <a:latin typeface="Consolas"/>
              </a:rPr>
              <a:t>      path: /var/log</a:t>
            </a:r>
          </a:p>
          <a:p>
            <a:pPr>
              <a:lnSpc>
                <a:spcPts val="1339"/>
              </a:lnSpc>
              <a:spcAft>
                <a:spcPts val="0"/>
              </a:spcAft>
            </a:pPr>
            <a:r>
              <a:rPr sz="1050">
                <a:solidFill>
                  <a:srgbClr val="E6EDF3"/>
                </a:solidFill>
                <a:latin typeface="Consolas"/>
              </a:rPr>
              <a:t>      type: Directory</a:t>
            </a:r>
          </a:p>
          <a:p>
            <a:pPr>
              <a:lnSpc>
                <a:spcPts val="1339"/>
              </a:lnSpc>
              <a:spcAft>
                <a:spcPts val="0"/>
              </a:spcAft>
            </a:pPr>
            <a:r>
              <a:rPr sz="1050">
                <a:solidFill>
                  <a:srgbClr val="E6EDF3"/>
                </a:solidFill>
                <a:latin typeface="Consolas"/>
              </a:rPr>
              <a:t> </a:t>
            </a:r>
          </a:p>
          <a:p>
            <a:pPr>
              <a:lnSpc>
                <a:spcPts val="1339"/>
              </a:lnSpc>
              <a:spcAft>
                <a:spcPts val="0"/>
              </a:spcAft>
            </a:pPr>
            <a:r>
              <a:rPr sz="1050">
                <a:solidFill>
                  <a:srgbClr val="E6EDF3"/>
                </a:solidFill>
                <a:latin typeface="Consolas"/>
              </a:rPr>
              <a:t>  containers:</a:t>
            </a:r>
          </a:p>
          <a:p>
            <a:pPr>
              <a:lnSpc>
                <a:spcPts val="1339"/>
              </a:lnSpc>
              <a:spcAft>
                <a:spcPts val="0"/>
              </a:spcAft>
            </a:pPr>
            <a:r>
              <a:rPr sz="1050">
                <a:solidFill>
                  <a:srgbClr val="E6EDF3"/>
                </a:solidFill>
                <a:latin typeface="Consolas"/>
              </a:rPr>
              <a:t>  - name: peek</a:t>
            </a:r>
          </a:p>
          <a:p>
            <a:pPr>
              <a:lnSpc>
                <a:spcPts val="1339"/>
              </a:lnSpc>
              <a:spcAft>
                <a:spcPts val="0"/>
              </a:spcAft>
            </a:pPr>
            <a:r>
              <a:rPr sz="1050">
                <a:solidFill>
                  <a:srgbClr val="E6EDF3"/>
                </a:solidFill>
                <a:latin typeface="Consolas"/>
              </a:rPr>
              <a:t>    volumeMounts:</a:t>
            </a:r>
          </a:p>
          <a:p>
            <a:pPr>
              <a:lnSpc>
                <a:spcPts val="1339"/>
              </a:lnSpc>
              <a:spcAft>
                <a:spcPts val="0"/>
              </a:spcAft>
            </a:pPr>
            <a:r>
              <a:rPr sz="1050">
                <a:solidFill>
                  <a:srgbClr val="E6EDF3"/>
                </a:solidFill>
                <a:latin typeface="Consolas"/>
              </a:rPr>
              <a:t>    - name: node-logs</a:t>
            </a:r>
          </a:p>
          <a:p>
            <a:pPr>
              <a:lnSpc>
                <a:spcPts val="1339"/>
              </a:lnSpc>
              <a:spcAft>
                <a:spcPts val="0"/>
              </a:spcAft>
            </a:pPr>
            <a:r>
              <a:rPr sz="1050">
                <a:solidFill>
                  <a:srgbClr val="E6EDF3"/>
                </a:solidFill>
                <a:latin typeface="Consolas"/>
              </a:rPr>
              <a:t>      mountPath: /host/var/log</a:t>
            </a:r>
          </a:p>
          <a:p>
            <a:pPr>
              <a:lnSpc>
                <a:spcPts val="1339"/>
              </a:lnSpc>
              <a:spcAft>
                <a:spcPts val="0"/>
              </a:spcAft>
            </a:pPr>
            <a:r>
              <a:rPr sz="1050">
                <a:solidFill>
                  <a:srgbClr val="E6EDF3"/>
                </a:solidFill>
                <a:latin typeface="Consolas"/>
              </a:rPr>
              <a:t>      readOnly: true</a:t>
            </a:r>
          </a:p>
          <a:p>
            <a:pPr>
              <a:lnSpc>
                <a:spcPts val="1339"/>
              </a:lnSpc>
              <a:spcAft>
                <a:spcPts val="0"/>
              </a:spcAft>
            </a:pPr>
            <a:r>
              <a:rPr sz="1050">
                <a:solidFill>
                  <a:srgbClr val="E6EDF3"/>
                </a:solidFill>
                <a:latin typeface="Consolas"/>
              </a:rPr>
              <a:t> </a:t>
            </a:r>
          </a:p>
          <a:p>
            <a:pPr>
              <a:lnSpc>
                <a:spcPts val="1339"/>
              </a:lnSpc>
              <a:spcAft>
                <a:spcPts val="0"/>
              </a:spcAft>
            </a:pPr>
            <a:r>
              <a:rPr sz="1050">
                <a:solidFill>
                  <a:srgbClr val="7D8A99"/>
                </a:solidFill>
                <a:latin typeface="Consolas"/>
              </a:rPr>
              <a:t># type values you should know:</a:t>
            </a:r>
          </a:p>
          <a:p>
            <a:pPr>
              <a:lnSpc>
                <a:spcPts val="1339"/>
              </a:lnSpc>
              <a:spcAft>
                <a:spcPts val="0"/>
              </a:spcAft>
            </a:pPr>
            <a:r>
              <a:rPr sz="1050">
                <a:solidFill>
                  <a:srgbClr val="7D8A99"/>
                </a:solidFill>
                <a:latin typeface="Consolas"/>
              </a:rPr>
              <a:t>#   ""                 no check at all</a:t>
            </a:r>
          </a:p>
          <a:p>
            <a:pPr>
              <a:lnSpc>
                <a:spcPts val="1339"/>
              </a:lnSpc>
              <a:spcAft>
                <a:spcPts val="0"/>
              </a:spcAft>
            </a:pPr>
            <a:r>
              <a:rPr sz="1050">
                <a:solidFill>
                  <a:srgbClr val="7D8A99"/>
                </a:solidFill>
                <a:latin typeface="Consolas"/>
              </a:rPr>
              <a:t>#   Directory          must already exist</a:t>
            </a:r>
          </a:p>
          <a:p>
            <a:pPr>
              <a:lnSpc>
                <a:spcPts val="1339"/>
              </a:lnSpc>
              <a:spcAft>
                <a:spcPts val="0"/>
              </a:spcAft>
            </a:pPr>
            <a:r>
              <a:rPr sz="1050">
                <a:solidFill>
                  <a:srgbClr val="7D8A99"/>
                </a:solidFill>
                <a:latin typeface="Consolas"/>
              </a:rPr>
              <a:t>#   DirectoryOrCreate  kubelet creates it, 0755</a:t>
            </a:r>
          </a:p>
          <a:p>
            <a:pPr>
              <a:lnSpc>
                <a:spcPts val="1339"/>
              </a:lnSpc>
              <a:spcAft>
                <a:spcPts val="0"/>
              </a:spcAft>
            </a:pPr>
            <a:r>
              <a:rPr sz="1050">
                <a:solidFill>
                  <a:srgbClr val="7D8A99"/>
                </a:solidFill>
                <a:latin typeface="Consolas"/>
              </a:rPr>
              <a:t>#   File / FileOrCreate  same, for files</a:t>
            </a:r>
          </a:p>
          <a:p>
            <a:pPr>
              <a:lnSpc>
                <a:spcPts val="1339"/>
              </a:lnSpc>
              <a:spcAft>
                <a:spcPts val="0"/>
              </a:spcAft>
            </a:pPr>
            <a:r>
              <a:rPr sz="1050">
                <a:solidFill>
                  <a:srgbClr val="7D8A99"/>
                </a:solidFill>
                <a:latin typeface="Consolas"/>
              </a:rPr>
              <a:t>#   Socket             must be a unix socket</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F59E0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type is a precondition</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kubelet checks it before mounting; an unmet check fails the mount rather than silently creating a path.</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Directory vs DirectoryOrCreate</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first refuses to invent state on a node; the second happily creates a directory you may not have intended.</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readOnly on the mount</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Read-only is enforced at the mount, and is the only sane default for node paths.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Empty type is the trap</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No check means a typo mounts a newly created empty directory and the Pod starts anyway.</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377</a:t>
            </a:r>
          </a:p>
        </p:txBody>
      </p:sp>
    </p:spTree>
  </p:cSld>
  <p:clrMapOvr>
    <a:masterClrMapping/>
  </p:clrMapOvr>
  <p:transition xmlns:ns1="http://schemas.openxmlformats.org/markup-compatibility/2006" spd="fast" ns1:Ignorable="p14">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hostPath type: Directory Refuses to Invent State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useful failure: it proves the check runs before the container is created.</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Pod stays ContainerCreating; no container image is ever pulled.</a:t>
            </a:r>
          </a:p>
        </p:txBody>
      </p:sp>
      <p:sp>
        <p:nvSpPr>
          <p:cNvPr id="11" name="Rectangle 10"/>
          <p:cNvSpPr/>
          <p:nvPr/>
        </p:nvSpPr>
        <p:spPr>
          <a:xfrm>
            <a:off x="777240" y="2913278"/>
            <a:ext cx="6172200" cy="2628900"/>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061972"/>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kcna-lab17 get pod archive-peek</a:t>
            </a:r>
          </a:p>
          <a:p>
            <a:pPr>
              <a:lnSpc>
                <a:spcPts val="1476"/>
              </a:lnSpc>
              <a:spcAft>
                <a:spcPts val="0"/>
              </a:spcAft>
            </a:pPr>
            <a:r>
              <a:rPr sz="950">
                <a:solidFill>
                  <a:srgbClr val="E6EDF3"/>
                </a:solidFill>
                <a:latin typeface="Consolas"/>
              </a:rPr>
              <a:t>NAME            READY   STATUS              RESTARTS   AGE</a:t>
            </a:r>
          </a:p>
          <a:p>
            <a:pPr>
              <a:lnSpc>
                <a:spcPts val="1476"/>
              </a:lnSpc>
              <a:spcAft>
                <a:spcPts val="0"/>
              </a:spcAft>
            </a:pPr>
            <a:r>
              <a:rPr sz="950">
                <a:solidFill>
                  <a:srgbClr val="E6EDF3"/>
                </a:solidFill>
                <a:latin typeface="Consolas"/>
              </a:rPr>
              <a:t>archive-peek    0/1     ContainerCreating   0          46s</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kcna-lab17 describe pod archive-peek</a:t>
            </a:r>
          </a:p>
          <a:p>
            <a:pPr>
              <a:lnSpc>
                <a:spcPts val="1476"/>
              </a:lnSpc>
              <a:spcAft>
                <a:spcPts val="0"/>
              </a:spcAft>
            </a:pPr>
            <a:r>
              <a:rPr sz="950">
                <a:solidFill>
                  <a:srgbClr val="E6EDF3"/>
                </a:solidFill>
                <a:latin typeface="Consolas"/>
              </a:rPr>
              <a:t>Events:</a:t>
            </a:r>
          </a:p>
          <a:p>
            <a:pPr>
              <a:lnSpc>
                <a:spcPts val="1476"/>
              </a:lnSpc>
              <a:spcAft>
                <a:spcPts val="0"/>
              </a:spcAft>
            </a:pPr>
            <a:r>
              <a:rPr sz="950">
                <a:solidFill>
                  <a:srgbClr val="E6EDF3"/>
                </a:solidFill>
                <a:latin typeface="Consolas"/>
              </a:rPr>
              <a:t>  Type     Reason       Age   From     Message</a:t>
            </a:r>
          </a:p>
          <a:p>
            <a:pPr>
              <a:lnSpc>
                <a:spcPts val="1476"/>
              </a:lnSpc>
              <a:spcAft>
                <a:spcPts val="0"/>
              </a:spcAft>
            </a:pPr>
            <a:r>
              <a:rPr sz="950">
                <a:solidFill>
                  <a:srgbClr val="E6EDF3"/>
                </a:solidFill>
                <a:latin typeface="Consolas"/>
              </a:rPr>
              <a:t>  ----     ------       ----  ----     -------</a:t>
            </a:r>
          </a:p>
          <a:p>
            <a:pPr>
              <a:lnSpc>
                <a:spcPts val="1476"/>
              </a:lnSpc>
              <a:spcAft>
                <a:spcPts val="0"/>
              </a:spcAft>
            </a:pPr>
            <a:r>
              <a:rPr sz="950">
                <a:solidFill>
                  <a:srgbClr val="E6EDF3"/>
                </a:solidFill>
                <a:latin typeface="Consolas"/>
              </a:rPr>
              <a:t>  Warning  FailedMount  12s   kubelet  MountVolume.SetUp failed for</a:t>
            </a:r>
          </a:p>
          <a:p>
            <a:pPr>
              <a:lnSpc>
                <a:spcPts val="1476"/>
              </a:lnSpc>
              <a:spcAft>
                <a:spcPts val="0"/>
              </a:spcAft>
            </a:pPr>
            <a:r>
              <a:rPr sz="950">
                <a:solidFill>
                  <a:srgbClr val="E6EDF3"/>
                </a:solidFill>
                <a:latin typeface="Consolas"/>
              </a:rPr>
              <a:t>    volume "archive" : hostPath type check failed:</a:t>
            </a:r>
          </a:p>
          <a:p>
            <a:pPr>
              <a:lnSpc>
                <a:spcPts val="1476"/>
              </a:lnSpc>
              <a:spcAft>
                <a:spcPts val="0"/>
              </a:spcAft>
            </a:pPr>
            <a:r>
              <a:rPr sz="950">
                <a:solidFill>
                  <a:srgbClr val="E6EDF3"/>
                </a:solidFill>
                <a:latin typeface="Consolas"/>
              </a:rPr>
              <a:t>    /mnt/tracklane-archive is not a directory</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manifest declared type: Directory, but no such directory exists on the node the scheduler chose. The kubelet refuses the mount rather than fabricating the path.</a:t>
            </a:r>
          </a:p>
        </p:txBody>
      </p:sp>
      <p:sp>
        <p:nvSpPr>
          <p:cNvPr id="18" name="Rectangle 17"/>
          <p:cNvSpPr/>
          <p:nvPr/>
        </p:nvSpPr>
        <p:spPr>
          <a:xfrm>
            <a:off x="7205472" y="3927157"/>
            <a:ext cx="4270247" cy="1194064"/>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791728"/>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Read the FailedMount event — the message names the exact path</a:t>
            </a:r>
          </a:p>
          <a:p>
            <a:pPr>
              <a:lnSpc>
                <a:spcPct val="112000"/>
              </a:lnSpc>
              <a:spcAft>
                <a:spcPts val="200"/>
              </a:spcAft>
            </a:pPr>
            <a:r>
              <a:rPr sz="950">
                <a:solidFill>
                  <a:srgbClr val="94A3B8"/>
                </a:solidFill>
                <a:latin typeface="Arial"/>
              </a:rPr>
              <a:t>•  </a:t>
            </a:r>
            <a:r>
              <a:rPr sz="950">
                <a:solidFill>
                  <a:srgbClr val="5B6372"/>
                </a:solidFill>
                <a:latin typeface="Arial"/>
              </a:rPr>
              <a:t>Decide deliberately: pre-create on the node, or switch to DirectoryOrCreate and accept that the kubelet will create it</a:t>
            </a:r>
          </a:p>
          <a:p>
            <a:pPr>
              <a:lnSpc>
                <a:spcPct val="112000"/>
              </a:lnSpc>
              <a:spcAft>
                <a:spcPts val="200"/>
              </a:spcAft>
            </a:pPr>
            <a:r>
              <a:rPr sz="950">
                <a:solidFill>
                  <a:srgbClr val="94A3B8"/>
                </a:solidFill>
                <a:latin typeface="Arial"/>
              </a:rPr>
              <a:t>•  </a:t>
            </a:r>
            <a:r>
              <a:rPr sz="950">
                <a:solidFill>
                  <a:srgbClr val="5B6372"/>
                </a:solidFill>
                <a:latin typeface="Arial"/>
              </a:rPr>
              <a:t>Better: stop using hostPath for application data and use a PVC</a:t>
            </a:r>
          </a:p>
        </p:txBody>
      </p:sp>
      <p:sp>
        <p:nvSpPr>
          <p:cNvPr id="22" name="Rectangle 21"/>
          <p:cNvSpPr/>
          <p:nvPr/>
        </p:nvSpPr>
        <p:spPr>
          <a:xfrm>
            <a:off x="777240" y="5688482"/>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798210"/>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STATUS reaches Running and the mount appears in describe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378</a:t>
            </a:r>
          </a:p>
        </p:txBody>
      </p:sp>
    </p:spTree>
  </p:cSld>
  <p:clrMapOvr>
    <a:masterClrMapping/>
  </p:clrMapOvr>
  <p:transition xmlns:ns1="http://schemas.openxmlformats.org/markup-compatibility/2006" spd="fast" ns1:Ignorable="p14">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RISK</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hostPath Is Treated as Dangerous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 forbidden; deliberately uncomfortable, so you have to justify each use.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escapes the container boundary</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Pod reads and writes the node's filesystem directly, outside everything the container isolation model promises.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is a privilege-escalation path</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Mounting the kubelet's directories, container socket or a writable /etc can hand an attacker the node.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breaks portability</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Pod is only correct on nodes that happen to have that path with that content and those permissions.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defeats the scheduler</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Nothing in the scheduler knows the path exists; you must pin the Pod yourself with a selector or affinity.</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Pod Security Standards restrict it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baseline and restricted policies disallow hostPath volumes; only privileged permits them.</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Legitimate uses exist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 agents — log shippers, CNI plugins, monitoring DaemonSets — genuinely need node paths and are deployed knowingly.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Volumes (kubernetes.io/docs/concepts/storage/volumes/). Retrieved 5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379</a:t>
            </a:r>
          </a:p>
        </p:txBody>
      </p:sp>
    </p:spTree>
  </p:cSld>
  <p:clrMapOvr>
    <a:masterClrMapping/>
  </p:clrMapOvr>
  <p:transition xmlns:ns1="http://schemas.openxmlformats.org/markup-compatibility/2006" spd="fast" ns1:Ignorable="p14">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500" b="1" i="0">
                <a:solidFill>
                  <a:srgbClr val="161B26"/>
                </a:solidFill>
                <a:latin typeface="Arial"/>
              </a:rPr>
              <a:t>Lab 17 — Volumes: emptyDir, hostPath and the Container Filesystem</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Prove that a container's writable layer is discarded with the Pod, then use emptyDir to share scratch state between containers in one Pod and hostPath to reach the node's filesystem — while learning exactly why hostPath is a security liability.</a:t>
            </a:r>
          </a:p>
        </p:txBody>
      </p:sp>
      <p:sp>
        <p:nvSpPr>
          <p:cNvPr id="10" name="Rectangle 9"/>
          <p:cNvSpPr/>
          <p:nvPr/>
        </p:nvSpPr>
        <p:spPr>
          <a:xfrm>
            <a:off x="777240"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destroyed-and-recreated Pod that demonstrably loses its container-layer data, and an emptyDir-backed report served over HTTP by a sibling container.</a:t>
            </a:r>
          </a:p>
          <a:p>
            <a:pPr>
              <a:lnSpc>
                <a:spcPct val="112000"/>
              </a:lnSpc>
              <a:spcAft>
                <a:spcPts val="500"/>
              </a:spcAft>
            </a:pPr>
            <a:r>
              <a:rPr sz="1050">
                <a:solidFill>
                  <a:srgbClr val="94A3B8"/>
                </a:solidFill>
                <a:latin typeface="Arial"/>
              </a:rPr>
              <a:t>•  </a:t>
            </a:r>
            <a:r>
              <a:rPr sz="1050">
                <a:solidFill>
                  <a:srgbClr val="5B6372"/>
                </a:solidFill>
                <a:latin typeface="Arial"/>
              </a:rPr>
              <a:t>A memory-backed emptyDir (tmpfs) with an enforced sizeLimit, evidenced by mount output and an ENOSPC write failure.</a:t>
            </a:r>
          </a:p>
          <a:p>
            <a:pPr>
              <a:lnSpc>
                <a:spcPct val="112000"/>
              </a:lnSpc>
              <a:spcAft>
                <a:spcPts val="500"/>
              </a:spcAft>
            </a:pPr>
            <a:r>
              <a:rPr sz="1050">
                <a:solidFill>
                  <a:srgbClr val="94A3B8"/>
                </a:solidFill>
                <a:latin typeface="Arial"/>
              </a:rPr>
              <a:t>•  </a:t>
            </a:r>
            <a:r>
              <a:rPr sz="1050">
                <a:solidFill>
                  <a:srgbClr val="5B6372"/>
                </a:solidFill>
                <a:latin typeface="Arial"/>
              </a:rPr>
              <a:t>A read-only hostPath mount of the node's /var/log plus a diagnosed FailedMount event from a hostPath type assertion.</a:t>
            </a:r>
          </a:p>
        </p:txBody>
      </p:sp>
      <p:sp>
        <p:nvSpPr>
          <p:cNvPr id="14" name="Rectangle 13"/>
          <p:cNvSpPr/>
          <p:nvPr/>
        </p:nvSpPr>
        <p:spPr>
          <a:xfrm>
            <a:off x="6276441" y="2668219"/>
            <a:ext cx="5199278" cy="2103120"/>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55447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Container filesystem ephemerality and the copy-on-write writable layer</a:t>
            </a:r>
          </a:p>
          <a:p>
            <a:pPr>
              <a:lnSpc>
                <a:spcPct val="112000"/>
              </a:lnSpc>
              <a:spcAft>
                <a:spcPts val="500"/>
              </a:spcAft>
            </a:pPr>
            <a:r>
              <a:rPr sz="1050">
                <a:solidFill>
                  <a:srgbClr val="94A3B8"/>
                </a:solidFill>
                <a:latin typeface="Arial"/>
              </a:rPr>
              <a:t>•  </a:t>
            </a:r>
            <a:r>
              <a:rPr sz="1050">
                <a:solidFill>
                  <a:srgbClr val="5B6372"/>
                </a:solidFill>
                <a:latin typeface="Arial"/>
              </a:rPr>
              <a:t>emptyDir lifecycle: created on Pod scheduling, destroyed on Pod removal</a:t>
            </a:r>
          </a:p>
          <a:p>
            <a:pPr>
              <a:lnSpc>
                <a:spcPct val="112000"/>
              </a:lnSpc>
              <a:spcAft>
                <a:spcPts val="500"/>
              </a:spcAft>
            </a:pPr>
            <a:r>
              <a:rPr sz="1050">
                <a:solidFill>
                  <a:srgbClr val="94A3B8"/>
                </a:solidFill>
                <a:latin typeface="Arial"/>
              </a:rPr>
              <a:t>•  </a:t>
            </a:r>
            <a:r>
              <a:rPr sz="1050">
                <a:solidFill>
                  <a:srgbClr val="5B6372"/>
                </a:solidFill>
                <a:latin typeface="Arial"/>
              </a:rPr>
              <a:t>emptyDir.medium Memory (tmpfs) versus node-disk backing, and sizeLimit enforcement</a:t>
            </a:r>
          </a:p>
          <a:p>
            <a:pPr>
              <a:lnSpc>
                <a:spcPct val="112000"/>
              </a:lnSpc>
              <a:spcAft>
                <a:spcPts val="500"/>
              </a:spcAft>
            </a:pPr>
            <a:r>
              <a:rPr sz="1050">
                <a:solidFill>
                  <a:srgbClr val="94A3B8"/>
                </a:solidFill>
                <a:latin typeface="Arial"/>
              </a:rPr>
              <a:t>•  </a:t>
            </a:r>
            <a:r>
              <a:rPr sz="1050">
                <a:solidFill>
                  <a:srgbClr val="5B6372"/>
                </a:solidFill>
                <a:latin typeface="Arial"/>
              </a:rPr>
              <a:t>hostPath type assertions, readOnly mounts, and node-escape risk</a:t>
            </a:r>
          </a:p>
        </p:txBody>
      </p:sp>
      <p:sp>
        <p:nvSpPr>
          <p:cNvPr id="18" name="Rectangle 17"/>
          <p:cNvSpPr/>
          <p:nvPr/>
        </p:nvSpPr>
        <p:spPr>
          <a:xfrm>
            <a:off x="777240"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4954219"/>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018227"/>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17</a:t>
            </a:r>
          </a:p>
        </p:txBody>
      </p:sp>
      <p:sp>
        <p:nvSpPr>
          <p:cNvPr id="22" name="Rectangle 21"/>
          <p:cNvSpPr/>
          <p:nvPr/>
        </p:nvSpPr>
        <p:spPr>
          <a:xfrm>
            <a:off x="3488436"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4954219"/>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018227"/>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kcna-lab17</a:t>
            </a:r>
          </a:p>
        </p:txBody>
      </p:sp>
      <p:sp>
        <p:nvSpPr>
          <p:cNvPr id="26" name="Rectangle 25"/>
          <p:cNvSpPr/>
          <p:nvPr/>
        </p:nvSpPr>
        <p:spPr>
          <a:xfrm>
            <a:off x="6199631"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4954219"/>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018227"/>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495421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4954219"/>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018227"/>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0110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594299"/>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courseware/labs/lab-17-volumes-emptydir-hostpath/README.md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380</a:t>
            </a:r>
          </a:p>
        </p:txBody>
      </p:sp>
    </p:spTree>
  </p:cSld>
  <p:clrMapOvr>
    <a:masterClrMapping/>
  </p:clrMapOvr>
  <p:transition xmlns:ns1="http://schemas.openxmlformats.org/markup-compatibility/2006" spd="fast" ns1:Ignorable="p14">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Morning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11:00 – 11:10 AM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381</a:t>
            </a:r>
          </a:p>
        </p:txBody>
      </p:sp>
    </p:spTree>
  </p:cSld>
  <p:clrMapOvr>
    <a:masterClrMapping/>
  </p:clrMapOvr>
  <p:transition xmlns:ns1="http://schemas.openxmlformats.org/markup-compatibility/2006" spd="fast" ns1:Ignorable="p14">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LIFECYCLE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PersistentVolume Lifecycle, End to End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phases, and the exam asks about the boundaries between them.</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Provisioning</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PV exists — either created by an administrator in advance (static) or by a provisioner on demand (dynamic).</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Binding</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control loop matches a PVC to a PV on class, capacity and access modes, then writes a one-to-one binding.</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Using</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Pod references the claim by name; the volume is attached to the node and mounted into the container.</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Releasing</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claim is deleted. The PV enters Released and still carries the old claimRef — it is not reusable yet.</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Reclaiming</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reclaim policy decides: Retain keeps the data for an operator, Delete removes the PV and the backing volume.</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 PVC never binds to two PVs and a PV never serves two claims — binding is exclusive and one-to-one.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382</a:t>
            </a:r>
          </a:p>
        </p:txBody>
      </p:sp>
    </p:spTree>
  </p:cSld>
  <p:clrMapOvr>
    <a:masterClrMapping/>
  </p:clrMapOvr>
  <p:transition xmlns:ns5="http://schemas.openxmlformats.org/markup-compatibility/2006" spd="fast" ns5:Ignorable="p14">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SCOPING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Who Owns Which Storage Object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namespace boundary is exactly where the tenant/operator split sits in storage.</a:t>
            </a:r>
          </a:p>
        </p:txBody>
      </p:sp>
      <p:sp>
        <p:nvSpPr>
          <p:cNvPr id="7" name="Rectangle 6"/>
          <p:cNvSpPr/>
          <p:nvPr/>
        </p:nvSpPr>
        <p:spPr>
          <a:xfrm>
            <a:off x="777240" y="2200046"/>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428292"/>
          </a:xfrm>
          <a:prstGeom prst="rect">
            <a:avLst/>
          </a:prstGeom>
          <a:solidFill>
            <a:srgbClr val="7C3AED"/>
          </a:solidFill>
          <a:ln>
            <a:noFill/>
          </a:ln>
          <a:effectLst/>
        </p:spPr>
        <p:txBody>
          <a:bodyPr rtlCol="0" anchor="ctr" wrap="square"/>
          <a:lstStyle/>
          <a:p>
            <a:pPr algn="ctr"/>
          </a:p>
        </p:txBody>
      </p:sp>
      <p:sp>
        <p:nvSpPr>
          <p:cNvPr id="9" name="TextBox 8"/>
          <p:cNvSpPr txBox="1"/>
          <p:nvPr/>
        </p:nvSpPr>
        <p:spPr>
          <a:xfrm>
            <a:off x="941832" y="2382926"/>
            <a:ext cx="1261872" cy="1099108"/>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CLUSTER-SCOPED</a:t>
            </a:r>
          </a:p>
        </p:txBody>
      </p:sp>
      <p:sp>
        <p:nvSpPr>
          <p:cNvPr id="10" name="Rounded Rectangle 9"/>
          <p:cNvSpPr/>
          <p:nvPr/>
        </p:nvSpPr>
        <p:spPr>
          <a:xfrm>
            <a:off x="2258568" y="2273198"/>
            <a:ext cx="1671523"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1" name="TextBox 10"/>
          <p:cNvSpPr txBox="1"/>
          <p:nvPr/>
        </p:nvSpPr>
        <p:spPr>
          <a:xfrm>
            <a:off x="2350008"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PersistentVolume</a:t>
            </a:r>
          </a:p>
        </p:txBody>
      </p:sp>
      <p:sp>
        <p:nvSpPr>
          <p:cNvPr id="12" name="TextBox 11"/>
          <p:cNvSpPr txBox="1"/>
          <p:nvPr/>
        </p:nvSpPr>
        <p:spPr>
          <a:xfrm>
            <a:off x="2350008"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real volume registered in the API</a:t>
            </a:r>
          </a:p>
        </p:txBody>
      </p:sp>
      <p:sp>
        <p:nvSpPr>
          <p:cNvPr id="13" name="Rounded Rectangle 12"/>
          <p:cNvSpPr/>
          <p:nvPr/>
        </p:nvSpPr>
        <p:spPr>
          <a:xfrm>
            <a:off x="4094683" y="2273198"/>
            <a:ext cx="1671523"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4" name="TextBox 13"/>
          <p:cNvSpPr txBox="1"/>
          <p:nvPr/>
        </p:nvSpPr>
        <p:spPr>
          <a:xfrm>
            <a:off x="4186123"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StorageClass</a:t>
            </a:r>
          </a:p>
        </p:txBody>
      </p:sp>
      <p:sp>
        <p:nvSpPr>
          <p:cNvPr id="15" name="TextBox 14"/>
          <p:cNvSpPr txBox="1"/>
          <p:nvPr/>
        </p:nvSpPr>
        <p:spPr>
          <a:xfrm>
            <a:off x="4186123"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named provisioning recipe</a:t>
            </a:r>
          </a:p>
        </p:txBody>
      </p:sp>
      <p:sp>
        <p:nvSpPr>
          <p:cNvPr id="16" name="Rounded Rectangle 15"/>
          <p:cNvSpPr/>
          <p:nvPr/>
        </p:nvSpPr>
        <p:spPr>
          <a:xfrm>
            <a:off x="5930798" y="2273198"/>
            <a:ext cx="1671523"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17" name="TextBox 16"/>
          <p:cNvSpPr txBox="1"/>
          <p:nvPr/>
        </p:nvSpPr>
        <p:spPr>
          <a:xfrm>
            <a:off x="6022238"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CSIDriver / CSINode</a:t>
            </a:r>
          </a:p>
        </p:txBody>
      </p:sp>
      <p:sp>
        <p:nvSpPr>
          <p:cNvPr id="18" name="TextBox 17"/>
          <p:cNvSpPr txBox="1"/>
          <p:nvPr/>
        </p:nvSpPr>
        <p:spPr>
          <a:xfrm>
            <a:off x="6022238"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Driver capability registration</a:t>
            </a:r>
          </a:p>
        </p:txBody>
      </p:sp>
      <p:sp>
        <p:nvSpPr>
          <p:cNvPr id="19" name="Rounded Rectangle 18"/>
          <p:cNvSpPr/>
          <p:nvPr/>
        </p:nvSpPr>
        <p:spPr>
          <a:xfrm>
            <a:off x="7766913" y="2273198"/>
            <a:ext cx="1671523"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0" name="TextBox 19"/>
          <p:cNvSpPr txBox="1"/>
          <p:nvPr/>
        </p:nvSpPr>
        <p:spPr>
          <a:xfrm>
            <a:off x="7858353" y="2328062"/>
            <a:ext cx="1488643" cy="352552"/>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VolumeSnapshot</a:t>
            </a:r>
          </a:p>
          <a:p>
            <a:pPr algn="ctr">
              <a:lnSpc>
                <a:spcPct val="100000"/>
              </a:lnSpc>
            </a:pPr>
            <a:r>
              <a:rPr sz="1100" b="1" i="0">
                <a:solidFill>
                  <a:srgbClr val="161B26"/>
                </a:solidFill>
                <a:latin typeface="Arial"/>
              </a:rPr>
              <a:t>Class</a:t>
            </a:r>
          </a:p>
        </p:txBody>
      </p:sp>
      <p:sp>
        <p:nvSpPr>
          <p:cNvPr id="21" name="TextBox 20"/>
          <p:cNvSpPr txBox="1"/>
          <p:nvPr/>
        </p:nvSpPr>
        <p:spPr>
          <a:xfrm>
            <a:off x="7858353" y="2694330"/>
            <a:ext cx="1488643" cy="787704"/>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Snapshot recipe per driver</a:t>
            </a:r>
          </a:p>
        </p:txBody>
      </p:sp>
      <p:sp>
        <p:nvSpPr>
          <p:cNvPr id="22" name="Rounded Rectangle 21"/>
          <p:cNvSpPr/>
          <p:nvPr/>
        </p:nvSpPr>
        <p:spPr>
          <a:xfrm>
            <a:off x="9603028" y="2273198"/>
            <a:ext cx="1671523" cy="1281988"/>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3" name="TextBox 22"/>
          <p:cNvSpPr txBox="1"/>
          <p:nvPr/>
        </p:nvSpPr>
        <p:spPr>
          <a:xfrm>
            <a:off x="9694468" y="2328062"/>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VolumeAttachment</a:t>
            </a:r>
          </a:p>
        </p:txBody>
      </p:sp>
      <p:sp>
        <p:nvSpPr>
          <p:cNvPr id="24" name="TextBox 23"/>
          <p:cNvSpPr txBox="1"/>
          <p:nvPr/>
        </p:nvSpPr>
        <p:spPr>
          <a:xfrm>
            <a:off x="9694468" y="2561234"/>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Node-to-volume attach record</a:t>
            </a:r>
          </a:p>
        </p:txBody>
      </p:sp>
      <p:sp>
        <p:nvSpPr>
          <p:cNvPr id="25" name="Rectangle 24"/>
          <p:cNvSpPr/>
          <p:nvPr/>
        </p:nvSpPr>
        <p:spPr>
          <a:xfrm>
            <a:off x="777240" y="3811219"/>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26" name="Rectangle 25"/>
          <p:cNvSpPr/>
          <p:nvPr/>
        </p:nvSpPr>
        <p:spPr>
          <a:xfrm>
            <a:off x="777240" y="3811219"/>
            <a:ext cx="50292" cy="1428292"/>
          </a:xfrm>
          <a:prstGeom prst="rect">
            <a:avLst/>
          </a:prstGeom>
          <a:solidFill>
            <a:srgbClr val="10B981"/>
          </a:solidFill>
          <a:ln>
            <a:noFill/>
          </a:ln>
          <a:effectLst/>
        </p:spPr>
        <p:txBody>
          <a:bodyPr rtlCol="0" anchor="ctr" wrap="square"/>
          <a:lstStyle/>
          <a:p>
            <a:pPr algn="ctr"/>
          </a:p>
        </p:txBody>
      </p:sp>
      <p:sp>
        <p:nvSpPr>
          <p:cNvPr id="27" name="TextBox 26"/>
          <p:cNvSpPr txBox="1"/>
          <p:nvPr/>
        </p:nvSpPr>
        <p:spPr>
          <a:xfrm>
            <a:off x="941832" y="3994099"/>
            <a:ext cx="1261872" cy="1099108"/>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NAMESPACED</a:t>
            </a:r>
          </a:p>
        </p:txBody>
      </p:sp>
      <p:sp>
        <p:nvSpPr>
          <p:cNvPr id="28" name="Rounded Rectangle 27"/>
          <p:cNvSpPr/>
          <p:nvPr/>
        </p:nvSpPr>
        <p:spPr>
          <a:xfrm>
            <a:off x="225856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29" name="TextBox 28"/>
          <p:cNvSpPr txBox="1"/>
          <p:nvPr/>
        </p:nvSpPr>
        <p:spPr>
          <a:xfrm>
            <a:off x="2350008" y="3939235"/>
            <a:ext cx="1488643" cy="352552"/>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PersistentVolume</a:t>
            </a:r>
          </a:p>
          <a:p>
            <a:pPr algn="ctr">
              <a:lnSpc>
                <a:spcPct val="100000"/>
              </a:lnSpc>
            </a:pPr>
            <a:r>
              <a:rPr sz="1100" b="1" i="0">
                <a:solidFill>
                  <a:srgbClr val="161B26"/>
                </a:solidFill>
                <a:latin typeface="Arial"/>
              </a:rPr>
              <a:t>Claim</a:t>
            </a:r>
          </a:p>
        </p:txBody>
      </p:sp>
      <p:sp>
        <p:nvSpPr>
          <p:cNvPr id="30" name="TextBox 29"/>
          <p:cNvSpPr txBox="1"/>
          <p:nvPr/>
        </p:nvSpPr>
        <p:spPr>
          <a:xfrm>
            <a:off x="2350008" y="4305503"/>
            <a:ext cx="1488643" cy="787704"/>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tenant's request for storage</a:t>
            </a:r>
          </a:p>
        </p:txBody>
      </p:sp>
      <p:sp>
        <p:nvSpPr>
          <p:cNvPr id="31" name="Rounded Rectangle 30"/>
          <p:cNvSpPr/>
          <p:nvPr/>
        </p:nvSpPr>
        <p:spPr>
          <a:xfrm>
            <a:off x="4094683"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2" name="TextBox 31"/>
          <p:cNvSpPr txBox="1"/>
          <p:nvPr/>
        </p:nvSpPr>
        <p:spPr>
          <a:xfrm>
            <a:off x="4186123"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Pod</a:t>
            </a:r>
          </a:p>
        </p:txBody>
      </p:sp>
      <p:sp>
        <p:nvSpPr>
          <p:cNvPr id="33" name="TextBox 32"/>
          <p:cNvSpPr txBox="1"/>
          <p:nvPr/>
        </p:nvSpPr>
        <p:spPr>
          <a:xfrm>
            <a:off x="4186123"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References the claim by name</a:t>
            </a:r>
          </a:p>
        </p:txBody>
      </p:sp>
      <p:sp>
        <p:nvSpPr>
          <p:cNvPr id="34" name="Rounded Rectangle 33"/>
          <p:cNvSpPr/>
          <p:nvPr/>
        </p:nvSpPr>
        <p:spPr>
          <a:xfrm>
            <a:off x="593079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5" name="TextBox 34"/>
          <p:cNvSpPr txBox="1"/>
          <p:nvPr/>
        </p:nvSpPr>
        <p:spPr>
          <a:xfrm>
            <a:off x="6022238"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VolumeSnapshot</a:t>
            </a:r>
          </a:p>
        </p:txBody>
      </p:sp>
      <p:sp>
        <p:nvSpPr>
          <p:cNvPr id="36" name="TextBox 35"/>
          <p:cNvSpPr txBox="1"/>
          <p:nvPr/>
        </p:nvSpPr>
        <p:spPr>
          <a:xfrm>
            <a:off x="6022238"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 point-in-time copy request</a:t>
            </a:r>
          </a:p>
        </p:txBody>
      </p:sp>
      <p:sp>
        <p:nvSpPr>
          <p:cNvPr id="37" name="Rounded Rectangle 36"/>
          <p:cNvSpPr/>
          <p:nvPr/>
        </p:nvSpPr>
        <p:spPr>
          <a:xfrm>
            <a:off x="7766913"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38" name="TextBox 37"/>
          <p:cNvSpPr txBox="1"/>
          <p:nvPr/>
        </p:nvSpPr>
        <p:spPr>
          <a:xfrm>
            <a:off x="7858353"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ResourceQuota</a:t>
            </a:r>
          </a:p>
        </p:txBody>
      </p:sp>
      <p:sp>
        <p:nvSpPr>
          <p:cNvPr id="39" name="TextBox 38"/>
          <p:cNvSpPr txBox="1"/>
          <p:nvPr/>
        </p:nvSpPr>
        <p:spPr>
          <a:xfrm>
            <a:off x="7858353"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Caps storage per class per namespace</a:t>
            </a:r>
          </a:p>
        </p:txBody>
      </p:sp>
      <p:sp>
        <p:nvSpPr>
          <p:cNvPr id="40" name="Rounded Rectangle 39"/>
          <p:cNvSpPr/>
          <p:nvPr/>
        </p:nvSpPr>
        <p:spPr>
          <a:xfrm>
            <a:off x="9603028" y="3884371"/>
            <a:ext cx="1671523"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9694468" y="3939235"/>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ConfigMap / Secret</a:t>
            </a:r>
          </a:p>
        </p:txBody>
      </p:sp>
      <p:sp>
        <p:nvSpPr>
          <p:cNvPr id="42" name="TextBox 41"/>
          <p:cNvSpPr txBox="1"/>
          <p:nvPr/>
        </p:nvSpPr>
        <p:spPr>
          <a:xfrm>
            <a:off x="9694468" y="4172407"/>
            <a:ext cx="1488643"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Driver credentials and parameters</a:t>
            </a:r>
          </a:p>
        </p:txBody>
      </p:sp>
      <p:sp>
        <p:nvSpPr>
          <p:cNvPr id="43" name="Rectangle 42"/>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44" name="Rectangle 43"/>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45" name="TextBox 44"/>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46" name="TextBox 45"/>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Tenants create claims; only cluster administrators create the PersistentVolumes and StorageClasses that satisfy them.</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383</a:t>
            </a:r>
          </a:p>
        </p:txBody>
      </p:sp>
    </p:spTree>
  </p:cSld>
  <p:clrMapOvr>
    <a:masterClrMapping/>
  </p:clrMapOvr>
  <p:transition xmlns:ns1="http://schemas.openxmlformats.org/markup-compatibility/2006" spd="fast" ns1:Ignorable="p14">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 PersistentVolume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static PersistentVolume: the administrator's half of the contract.</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tracklane-archive-pv.yaml</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PersistentVolume</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tracklane-archive-pv</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capacity:</a:t>
            </a:r>
          </a:p>
          <a:p>
            <a:pPr>
              <a:lnSpc>
                <a:spcPts val="1476"/>
              </a:lnSpc>
              <a:spcAft>
                <a:spcPts val="0"/>
              </a:spcAft>
            </a:pPr>
            <a:r>
              <a:rPr sz="1050">
                <a:solidFill>
                  <a:srgbClr val="E6EDF3"/>
                </a:solidFill>
                <a:latin typeface="Consolas"/>
              </a:rPr>
              <a:t>    storage: 1Gi</a:t>
            </a:r>
          </a:p>
          <a:p>
            <a:pPr>
              <a:lnSpc>
                <a:spcPts val="1476"/>
              </a:lnSpc>
              <a:spcAft>
                <a:spcPts val="0"/>
              </a:spcAft>
            </a:pPr>
            <a:r>
              <a:rPr sz="1050">
                <a:solidFill>
                  <a:srgbClr val="E6EDF3"/>
                </a:solidFill>
                <a:latin typeface="Consolas"/>
              </a:rPr>
              <a:t>  accessModes:</a:t>
            </a:r>
          </a:p>
          <a:p>
            <a:pPr>
              <a:lnSpc>
                <a:spcPts val="1476"/>
              </a:lnSpc>
              <a:spcAft>
                <a:spcPts val="0"/>
              </a:spcAft>
            </a:pPr>
            <a:r>
              <a:rPr sz="1050">
                <a:solidFill>
                  <a:srgbClr val="E6EDF3"/>
                </a:solidFill>
                <a:latin typeface="Consolas"/>
              </a:rPr>
              <a:t>    - ReadWriteOnce</a:t>
            </a:r>
          </a:p>
          <a:p>
            <a:pPr>
              <a:lnSpc>
                <a:spcPts val="1476"/>
              </a:lnSpc>
              <a:spcAft>
                <a:spcPts val="0"/>
              </a:spcAft>
            </a:pPr>
            <a:r>
              <a:rPr sz="1050">
                <a:solidFill>
                  <a:srgbClr val="E6EDF3"/>
                </a:solidFill>
                <a:latin typeface="Consolas"/>
              </a:rPr>
              <a:t>  persistentVolumeReclaimPolicy: Retain</a:t>
            </a:r>
          </a:p>
          <a:p>
            <a:pPr>
              <a:lnSpc>
                <a:spcPts val="1476"/>
              </a:lnSpc>
              <a:spcAft>
                <a:spcPts val="0"/>
              </a:spcAft>
            </a:pPr>
            <a:r>
              <a:rPr sz="1050">
                <a:solidFill>
                  <a:srgbClr val="E6EDF3"/>
                </a:solidFill>
                <a:latin typeface="Consolas"/>
              </a:rPr>
              <a:t>  storageClassName: tracklane-manual</a:t>
            </a:r>
          </a:p>
          <a:p>
            <a:pPr>
              <a:lnSpc>
                <a:spcPts val="1476"/>
              </a:lnSpc>
              <a:spcAft>
                <a:spcPts val="0"/>
              </a:spcAft>
            </a:pPr>
            <a:r>
              <a:rPr sz="1050">
                <a:solidFill>
                  <a:srgbClr val="E6EDF3"/>
                </a:solidFill>
                <a:latin typeface="Consolas"/>
              </a:rPr>
              <a:t>  claimRef:</a:t>
            </a:r>
          </a:p>
          <a:p>
            <a:pPr>
              <a:lnSpc>
                <a:spcPts val="1476"/>
              </a:lnSpc>
              <a:spcAft>
                <a:spcPts val="0"/>
              </a:spcAft>
            </a:pPr>
            <a:r>
              <a:rPr sz="1050">
                <a:solidFill>
                  <a:srgbClr val="E6EDF3"/>
                </a:solidFill>
                <a:latin typeface="Consolas"/>
              </a:rPr>
              <a:t>    namespace: kcna-lab18</a:t>
            </a:r>
          </a:p>
          <a:p>
            <a:pPr>
              <a:lnSpc>
                <a:spcPts val="1476"/>
              </a:lnSpc>
              <a:spcAft>
                <a:spcPts val="0"/>
              </a:spcAft>
            </a:pPr>
            <a:r>
              <a:rPr sz="1050">
                <a:solidFill>
                  <a:srgbClr val="E6EDF3"/>
                </a:solidFill>
                <a:latin typeface="Consolas"/>
              </a:rPr>
              <a:t>    name: archive-claim</a:t>
            </a:r>
          </a:p>
          <a:p>
            <a:pPr>
              <a:lnSpc>
                <a:spcPts val="1476"/>
              </a:lnSpc>
              <a:spcAft>
                <a:spcPts val="0"/>
              </a:spcAft>
            </a:pPr>
            <a:r>
              <a:rPr sz="1050">
                <a:solidFill>
                  <a:srgbClr val="E6EDF3"/>
                </a:solidFill>
                <a:latin typeface="Consolas"/>
              </a:rPr>
              <a:t>  hostPath:</a:t>
            </a:r>
          </a:p>
          <a:p>
            <a:pPr>
              <a:lnSpc>
                <a:spcPts val="1476"/>
              </a:lnSpc>
              <a:spcAft>
                <a:spcPts val="0"/>
              </a:spcAft>
            </a:pPr>
            <a:r>
              <a:rPr sz="1050">
                <a:solidFill>
                  <a:srgbClr val="E6EDF3"/>
                </a:solidFill>
                <a:latin typeface="Consolas"/>
              </a:rPr>
              <a:t>    path: /mnt/tracklane-archive</a:t>
            </a:r>
          </a:p>
          <a:p>
            <a:pPr>
              <a:lnSpc>
                <a:spcPts val="1476"/>
              </a:lnSpc>
              <a:spcAft>
                <a:spcPts val="0"/>
              </a:spcAft>
            </a:pPr>
            <a:r>
              <a:rPr sz="1050">
                <a:solidFill>
                  <a:srgbClr val="E6EDF3"/>
                </a:solidFill>
                <a:latin typeface="Consolas"/>
              </a:rPr>
              <a:t>    type: DirectoryOrCreate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7C3AED"/>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capacity is an advertisement</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tells the binder how big this volume is. A claim asking for less still gets the whole volume.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accessModes are capabilities</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What this volume is able to support — not what the Pod will do with it.</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persistentVolumeReclaimPolicy: Retain</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When the claim goes away the data stays and an administrator must act. The safe default for real data.</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claimRef pre-binds it</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Naming the claim in advance reserves this PV so no other claim in the cluster can take it.</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384</a:t>
            </a:r>
          </a:p>
        </p:txBody>
      </p:sp>
    </p:spTree>
  </p:cSld>
  <p:clrMapOvr>
    <a:masterClrMapping/>
  </p:clrMapOvr>
  <p:transition xmlns:ns1="http://schemas.openxmlformats.org/markup-compatibility/2006" spd="fast" ns1:Ignorable="p14">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Claim and the Fields That Prove It Bound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Requested 512Mi. Bound to 1Gi. Both are correct.</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archive-claim.yaml (spec + observed status)</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v1</a:t>
            </a:r>
          </a:p>
          <a:p>
            <a:pPr>
              <a:lnSpc>
                <a:spcPts val="1476"/>
              </a:lnSpc>
              <a:spcAft>
                <a:spcPts val="0"/>
              </a:spcAft>
            </a:pPr>
            <a:r>
              <a:rPr sz="1050">
                <a:solidFill>
                  <a:srgbClr val="E6EDF3"/>
                </a:solidFill>
                <a:latin typeface="Consolas"/>
              </a:rPr>
              <a:t>kind: PersistentVolumeClaim</a:t>
            </a:r>
          </a:p>
          <a:p>
            <a:pPr>
              <a:lnSpc>
                <a:spcPts val="1476"/>
              </a:lnSpc>
              <a:spcAft>
                <a:spcPts val="0"/>
              </a:spcAft>
            </a:pPr>
            <a:r>
              <a:rPr sz="1050">
                <a:solidFill>
                  <a:srgbClr val="E6EDF3"/>
                </a:solidFill>
                <a:latin typeface="Consolas"/>
              </a:rPr>
              <a:t>metadata:</a:t>
            </a:r>
          </a:p>
          <a:p>
            <a:pPr>
              <a:lnSpc>
                <a:spcPts val="1476"/>
              </a:lnSpc>
              <a:spcAft>
                <a:spcPts val="0"/>
              </a:spcAft>
            </a:pPr>
            <a:r>
              <a:rPr sz="1050">
                <a:solidFill>
                  <a:srgbClr val="E6EDF3"/>
                </a:solidFill>
                <a:latin typeface="Consolas"/>
              </a:rPr>
              <a:t>  name: archive-claim</a:t>
            </a:r>
          </a:p>
          <a:p>
            <a:pPr>
              <a:lnSpc>
                <a:spcPts val="1476"/>
              </a:lnSpc>
              <a:spcAft>
                <a:spcPts val="0"/>
              </a:spcAft>
            </a:pPr>
            <a:r>
              <a:rPr sz="1050">
                <a:solidFill>
                  <a:srgbClr val="E6EDF3"/>
                </a:solidFill>
                <a:latin typeface="Consolas"/>
              </a:rPr>
              <a:t>  namespace: kcna-lab18</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accessModes: [ReadWriteOnce]</a:t>
            </a:r>
          </a:p>
          <a:p>
            <a:pPr>
              <a:lnSpc>
                <a:spcPts val="1476"/>
              </a:lnSpc>
              <a:spcAft>
                <a:spcPts val="0"/>
              </a:spcAft>
            </a:pPr>
            <a:r>
              <a:rPr sz="1050">
                <a:solidFill>
                  <a:srgbClr val="E6EDF3"/>
                </a:solidFill>
                <a:latin typeface="Consolas"/>
              </a:rPr>
              <a:t>  storageClassName: tracklane-manual</a:t>
            </a:r>
          </a:p>
          <a:p>
            <a:pPr>
              <a:lnSpc>
                <a:spcPts val="1476"/>
              </a:lnSpc>
              <a:spcAft>
                <a:spcPts val="0"/>
              </a:spcAft>
            </a:pPr>
            <a:r>
              <a:rPr sz="1050">
                <a:solidFill>
                  <a:srgbClr val="E6EDF3"/>
                </a:solidFill>
                <a:latin typeface="Consolas"/>
              </a:rPr>
              <a:t>  resources:</a:t>
            </a:r>
          </a:p>
          <a:p>
            <a:pPr>
              <a:lnSpc>
                <a:spcPts val="1476"/>
              </a:lnSpc>
              <a:spcAft>
                <a:spcPts val="0"/>
              </a:spcAft>
            </a:pPr>
            <a:r>
              <a:rPr sz="1050">
                <a:solidFill>
                  <a:srgbClr val="E6EDF3"/>
                </a:solidFill>
                <a:latin typeface="Consolas"/>
              </a:rPr>
              <a:t>    requests:</a:t>
            </a:r>
          </a:p>
          <a:p>
            <a:pPr>
              <a:lnSpc>
                <a:spcPts val="1476"/>
              </a:lnSpc>
              <a:spcAft>
                <a:spcPts val="0"/>
              </a:spcAft>
            </a:pPr>
            <a:r>
              <a:rPr sz="1050">
                <a:solidFill>
                  <a:srgbClr val="E6EDF3"/>
                </a:solidFill>
                <a:latin typeface="Consolas"/>
              </a:rPr>
              <a:t>      storage: 512Mi</a:t>
            </a:r>
          </a:p>
          <a:p>
            <a:pPr>
              <a:lnSpc>
                <a:spcPts val="1476"/>
              </a:lnSpc>
              <a:spcAft>
                <a:spcPts val="0"/>
              </a:spcAft>
            </a:pPr>
            <a:r>
              <a:rPr sz="1050">
                <a:solidFill>
                  <a:srgbClr val="E6EDF3"/>
                </a:solidFill>
                <a:latin typeface="Consolas"/>
              </a:rPr>
              <a:t>status:</a:t>
            </a:r>
          </a:p>
          <a:p>
            <a:pPr>
              <a:lnSpc>
                <a:spcPts val="1476"/>
              </a:lnSpc>
              <a:spcAft>
                <a:spcPts val="0"/>
              </a:spcAft>
            </a:pPr>
            <a:r>
              <a:rPr sz="1050">
                <a:solidFill>
                  <a:srgbClr val="E6EDF3"/>
                </a:solidFill>
                <a:latin typeface="Consolas"/>
              </a:rPr>
              <a:t>  phase: Bound</a:t>
            </a:r>
          </a:p>
          <a:p>
            <a:pPr>
              <a:lnSpc>
                <a:spcPts val="1476"/>
              </a:lnSpc>
              <a:spcAft>
                <a:spcPts val="0"/>
              </a:spcAft>
            </a:pPr>
            <a:r>
              <a:rPr sz="1050">
                <a:solidFill>
                  <a:srgbClr val="E6EDF3"/>
                </a:solidFill>
                <a:latin typeface="Consolas"/>
              </a:rPr>
              <a:t>  accessModes: [ReadWriteOnce]</a:t>
            </a:r>
          </a:p>
          <a:p>
            <a:pPr>
              <a:lnSpc>
                <a:spcPts val="1476"/>
              </a:lnSpc>
              <a:spcAft>
                <a:spcPts val="0"/>
              </a:spcAft>
            </a:pPr>
            <a:r>
              <a:rPr sz="1050">
                <a:solidFill>
                  <a:srgbClr val="E6EDF3"/>
                </a:solidFill>
                <a:latin typeface="Consolas"/>
              </a:rPr>
              <a:t>  capacity:</a:t>
            </a:r>
          </a:p>
          <a:p>
            <a:pPr>
              <a:lnSpc>
                <a:spcPts val="1476"/>
              </a:lnSpc>
              <a:spcAft>
                <a:spcPts val="0"/>
              </a:spcAft>
            </a:pPr>
            <a:r>
              <a:rPr sz="1050">
                <a:solidFill>
                  <a:srgbClr val="E6EDF3"/>
                </a:solidFill>
                <a:latin typeface="Consolas"/>
              </a:rPr>
              <a:t>    storage: 1Gi        # not 512Mi</a:t>
            </a:r>
          </a:p>
          <a:p>
            <a:pPr>
              <a:lnSpc>
                <a:spcPts val="1476"/>
              </a:lnSpc>
              <a:spcAft>
                <a:spcPts val="0"/>
              </a:spcAft>
            </a:pPr>
            <a:r>
              <a:rPr sz="1050">
                <a:solidFill>
                  <a:srgbClr val="7D8A99"/>
                </a:solidFill>
                <a:latin typeface="Consolas"/>
              </a:rPr>
              <a:t>  # spec.volumeName is filled in by the binder</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requests.storage is a minimum</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the smallest acceptable volume, not an allocation. The binder may hand you a larger one.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status.capacity is the truth</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Requested 512Mi, granted 1Gi — always read status, never assume spec was honoured verbatim.</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storageClassName must match</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An empty string means 'no class, static only'; omitting the field means 'use the default class'.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spec.volumeName appears after binding</a:t>
            </a:r>
          </a:p>
        </p:txBody>
      </p:sp>
      <p:sp>
        <p:nvSpPr>
          <p:cNvPr id="23" name="TextBox 22"/>
          <p:cNvSpPr txBox="1"/>
          <p:nvPr/>
        </p:nvSpPr>
        <p:spPr>
          <a:xfrm>
            <a:off x="7973567" y="5027584"/>
            <a:ext cx="3246119" cy="176616"/>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binder writes it. You normally do not set it by hand.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385</a:t>
            </a:r>
          </a:p>
        </p:txBody>
      </p:sp>
    </p:spTree>
  </p:cSld>
  <p:clrMapOvr>
    <a:masterClrMapping/>
  </p:clrMapOvr>
  <p:transition xmlns:ns1="http://schemas.openxmlformats.org/markup-compatibility/2006" spd="fast" ns1:Ignorable="p14">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get pv,pvc — Bound Next to Pending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columns answer almost every storage question you will be asked in the exam.</a:t>
            </a:r>
          </a:p>
        </p:txBody>
      </p:sp>
      <p:sp>
        <p:nvSpPr>
          <p:cNvPr id="7" name="Rectangle 6"/>
          <p:cNvSpPr/>
          <p:nvPr/>
        </p:nvSpPr>
        <p:spPr>
          <a:xfrm>
            <a:off x="777240" y="2200046"/>
            <a:ext cx="6903720" cy="2816352"/>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kcna-lab18</a:t>
            </a:r>
          </a:p>
        </p:txBody>
      </p:sp>
      <p:sp>
        <p:nvSpPr>
          <p:cNvPr id="9" name="TextBox 8"/>
          <p:cNvSpPr txBox="1"/>
          <p:nvPr/>
        </p:nvSpPr>
        <p:spPr>
          <a:xfrm>
            <a:off x="923544" y="2620670"/>
            <a:ext cx="6611112" cy="224942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kcna-lab18 get pv,pvc</a:t>
            </a:r>
          </a:p>
          <a:p>
            <a:pPr>
              <a:lnSpc>
                <a:spcPts val="1476"/>
              </a:lnSpc>
              <a:spcAft>
                <a:spcPts val="0"/>
              </a:spcAft>
            </a:pPr>
            <a:r>
              <a:rPr sz="1000">
                <a:solidFill>
                  <a:srgbClr val="E6EDF3"/>
                </a:solidFill>
                <a:latin typeface="Consolas"/>
              </a:rPr>
              <a:t>NAME                          CAPACITY  ACCESS  RECLAIM  STATUS</a:t>
            </a:r>
          </a:p>
          <a:p>
            <a:pPr>
              <a:lnSpc>
                <a:spcPts val="1476"/>
              </a:lnSpc>
              <a:spcAft>
                <a:spcPts val="0"/>
              </a:spcAft>
            </a:pPr>
            <a:r>
              <a:rPr sz="1000">
                <a:solidFill>
                  <a:srgbClr val="E6EDF3"/>
                </a:solidFill>
                <a:latin typeface="Consolas"/>
              </a:rPr>
              <a:t>pv/tracklane-archive-pv       1Gi       RWO     Retain   Bound</a:t>
            </a:r>
          </a:p>
          <a:p>
            <a:pPr>
              <a:lnSpc>
                <a:spcPts val="1476"/>
              </a:lnSpc>
              <a:spcAft>
                <a:spcPts val="0"/>
              </a:spcAft>
            </a:pPr>
            <a:r>
              <a:rPr sz="1000">
                <a:solidFill>
                  <a:srgbClr val="E6EDF3"/>
                </a:solidFill>
                <a:latin typeface="Consolas"/>
              </a:rPr>
              <a:t>pv/pvc-8b2e17d4-05c9-4f36     256Mi     RWO     Delete   Bound</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NAME                    STATUS    VOLUME                  CAPACITY</a:t>
            </a:r>
          </a:p>
          <a:p>
            <a:pPr>
              <a:lnSpc>
                <a:spcPts val="1476"/>
              </a:lnSpc>
              <a:spcAft>
                <a:spcPts val="0"/>
              </a:spcAft>
            </a:pPr>
            <a:r>
              <a:rPr sz="1000">
                <a:solidFill>
                  <a:srgbClr val="E6EDF3"/>
                </a:solidFill>
                <a:latin typeface="Consolas"/>
              </a:rPr>
              <a:t>pvc/archive-claim       Bound     tracklane-archive-pv    1Gi</a:t>
            </a:r>
          </a:p>
          <a:p>
            <a:pPr>
              <a:lnSpc>
                <a:spcPts val="1476"/>
              </a:lnSpc>
              <a:spcAft>
                <a:spcPts val="0"/>
              </a:spcAft>
            </a:pPr>
            <a:r>
              <a:rPr sz="1000">
                <a:solidFill>
                  <a:srgbClr val="E6EDF3"/>
                </a:solidFill>
                <a:latin typeface="Consolas"/>
              </a:rPr>
              <a:t>pvc/render-cache        Bound     pvc-8b2e17d4-05c9-4f36  256Mi</a:t>
            </a:r>
          </a:p>
          <a:p>
            <a:pPr>
              <a:lnSpc>
                <a:spcPts val="1476"/>
              </a:lnSpc>
              <a:spcAft>
                <a:spcPts val="0"/>
              </a:spcAft>
            </a:pPr>
            <a:r>
              <a:rPr sz="1000">
                <a:solidFill>
                  <a:srgbClr val="E6EDF3"/>
                </a:solidFill>
                <a:latin typeface="Consolas"/>
              </a:rPr>
              <a:t>pvc/report-claim        Pending                           </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D8A99"/>
                </a:solidFill>
                <a:latin typeface="Consolas"/>
              </a:rPr>
              <a:t># STORAGECLASS column (trimmed above):</a:t>
            </a:r>
          </a:p>
          <a:p>
            <a:pPr>
              <a:lnSpc>
                <a:spcPts val="1476"/>
              </a:lnSpc>
              <a:spcAft>
                <a:spcPts val="0"/>
              </a:spcAft>
            </a:pPr>
            <a:r>
              <a:rPr sz="1000">
                <a:solidFill>
                  <a:srgbClr val="7D8A99"/>
                </a:solidFill>
                <a:latin typeface="Consolas"/>
              </a:rPr>
              <a:t>#   archive-claim  tracklane-manual   report-claim  tracklane-manul</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7C3AED"/>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PVs, two origins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named one was authored by hand; the pvc-&lt;uid&gt; one was created by a dynamic provisioner.</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RECLAIM differs per PV</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Retain on the static volume, Delete inherited from the StorageClass on the dynamic one.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CAPACITY reflects the PV</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archive-claim shows 1Gi even though the claim asked for 512Mi.</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Pending has no VOLUME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An empty VOLUME column is the whole diagnosis — nothing bound. describe tells you why.</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386</a:t>
            </a:r>
          </a:p>
        </p:txBody>
      </p:sp>
    </p:spTree>
  </p:cSld>
  <p:clrMapOvr>
    <a:masterClrMapping/>
  </p:clrMapOvr>
  <p:transition xmlns:ns1="http://schemas.openxmlformats.org/markup-compatibility/2006" spd="fast" ns1:Ignorable="p14">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Access Modes — and Why They Are Node-Scoped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of the four modes are counted per node; only ReadWriteOncePod is counted per Pod.</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Mode</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Short</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actually permits</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Typical backend</a:t>
            </a:r>
          </a:p>
        </p:txBody>
      </p:sp>
      <p:sp>
        <p:nvSpPr>
          <p:cNvPr id="15" name="Rectangle 14"/>
          <p:cNvSpPr/>
          <p:nvPr/>
        </p:nvSpPr>
        <p:spPr>
          <a:xfrm>
            <a:off x="77724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ReadWriteOnce</a:t>
            </a:r>
          </a:p>
        </p:txBody>
      </p:sp>
      <p:sp>
        <p:nvSpPr>
          <p:cNvPr id="17" name="Rectangle 16"/>
          <p:cNvSpPr/>
          <p:nvPr/>
        </p:nvSpPr>
        <p:spPr>
          <a:xfrm>
            <a:off x="345186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RWO</a:t>
            </a:r>
          </a:p>
        </p:txBody>
      </p:sp>
      <p:sp>
        <p:nvSpPr>
          <p:cNvPr id="19" name="Rectangle 18"/>
          <p:cNvSpPr/>
          <p:nvPr/>
        </p:nvSpPr>
        <p:spPr>
          <a:xfrm>
            <a:off x="6126479"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Read-write by many Pods, but only on ONE node at a time</a:t>
            </a:r>
          </a:p>
        </p:txBody>
      </p:sp>
      <p:sp>
        <p:nvSpPr>
          <p:cNvPr id="21" name="Rectangle 20"/>
          <p:cNvSpPr/>
          <p:nvPr/>
        </p:nvSpPr>
        <p:spPr>
          <a:xfrm>
            <a:off x="880110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Cloud block storage, iSCSI, local disks</a:t>
            </a:r>
          </a:p>
        </p:txBody>
      </p:sp>
      <p:sp>
        <p:nvSpPr>
          <p:cNvPr id="23" name="Rectangle 22"/>
          <p:cNvSpPr/>
          <p:nvPr/>
        </p:nvSpPr>
        <p:spPr>
          <a:xfrm>
            <a:off x="77724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ReadOnlyMany</a:t>
            </a:r>
          </a:p>
        </p:txBody>
      </p:sp>
      <p:sp>
        <p:nvSpPr>
          <p:cNvPr id="25" name="Rectangle 24"/>
          <p:cNvSpPr/>
          <p:nvPr/>
        </p:nvSpPr>
        <p:spPr>
          <a:xfrm>
            <a:off x="345186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ROX</a:t>
            </a:r>
          </a:p>
        </p:txBody>
      </p:sp>
      <p:sp>
        <p:nvSpPr>
          <p:cNvPr id="27" name="Rectangle 26"/>
          <p:cNvSpPr/>
          <p:nvPr/>
        </p:nvSpPr>
        <p:spPr>
          <a:xfrm>
            <a:off x="6126479"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Read-only, mounted by many nodes simultaneously</a:t>
            </a:r>
          </a:p>
        </p:txBody>
      </p:sp>
      <p:sp>
        <p:nvSpPr>
          <p:cNvPr id="29" name="Rectangle 28"/>
          <p:cNvSpPr/>
          <p:nvPr/>
        </p:nvSpPr>
        <p:spPr>
          <a:xfrm>
            <a:off x="880110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Pre-populated NFS exports, read-only datasets</a:t>
            </a:r>
          </a:p>
        </p:txBody>
      </p:sp>
      <p:sp>
        <p:nvSpPr>
          <p:cNvPr id="31" name="Rectangle 30"/>
          <p:cNvSpPr/>
          <p:nvPr/>
        </p:nvSpPr>
        <p:spPr>
          <a:xfrm>
            <a:off x="77724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ReadWriteMany</a:t>
            </a:r>
          </a:p>
        </p:txBody>
      </p:sp>
      <p:sp>
        <p:nvSpPr>
          <p:cNvPr id="33" name="Rectangle 32"/>
          <p:cNvSpPr/>
          <p:nvPr/>
        </p:nvSpPr>
        <p:spPr>
          <a:xfrm>
            <a:off x="345186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RWX</a:t>
            </a:r>
          </a:p>
        </p:txBody>
      </p:sp>
      <p:sp>
        <p:nvSpPr>
          <p:cNvPr id="35" name="Rectangle 34"/>
          <p:cNvSpPr/>
          <p:nvPr/>
        </p:nvSpPr>
        <p:spPr>
          <a:xfrm>
            <a:off x="6126479"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Read-write, mounted by many nodes simultaneously</a:t>
            </a:r>
          </a:p>
        </p:txBody>
      </p:sp>
      <p:sp>
        <p:nvSpPr>
          <p:cNvPr id="37" name="Rectangle 36"/>
          <p:cNvSpPr/>
          <p:nvPr/>
        </p:nvSpPr>
        <p:spPr>
          <a:xfrm>
            <a:off x="880110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NFS, CephFS, Azure Files — a file, not block, protocol</a:t>
            </a:r>
          </a:p>
        </p:txBody>
      </p:sp>
      <p:sp>
        <p:nvSpPr>
          <p:cNvPr id="39" name="Rectangle 38"/>
          <p:cNvSpPr/>
          <p:nvPr/>
        </p:nvSpPr>
        <p:spPr>
          <a:xfrm>
            <a:off x="77724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ReadWriteOncePod</a:t>
            </a:r>
          </a:p>
        </p:txBody>
      </p:sp>
      <p:sp>
        <p:nvSpPr>
          <p:cNvPr id="41" name="Rectangle 40"/>
          <p:cNvSpPr/>
          <p:nvPr/>
        </p:nvSpPr>
        <p:spPr>
          <a:xfrm>
            <a:off x="345186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RWOP</a:t>
            </a:r>
          </a:p>
        </p:txBody>
      </p:sp>
      <p:sp>
        <p:nvSpPr>
          <p:cNvPr id="43" name="Rectangle 42"/>
          <p:cNvSpPr/>
          <p:nvPr/>
        </p:nvSpPr>
        <p:spPr>
          <a:xfrm>
            <a:off x="6126479"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Read-write by exactly ONE Pod in the whole cluster</a:t>
            </a:r>
          </a:p>
        </p:txBody>
      </p:sp>
      <p:sp>
        <p:nvSpPr>
          <p:cNvPr id="45" name="Rectangle 44"/>
          <p:cNvSpPr/>
          <p:nvPr/>
        </p:nvSpPr>
        <p:spPr>
          <a:xfrm>
            <a:off x="880110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CSI drivers that opt in; the only Pod-scoped mode</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RWO does not mean 'one Pod'. Two Pods on the same node can both mount an RWO volume — that surprise is a standard exam distractor.</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387</a:t>
            </a:r>
          </a:p>
        </p:txBody>
      </p:sp>
    </p:spTree>
  </p:cSld>
  <p:clrMapOvr>
    <a:masterClrMapping/>
  </p:clrMapOvr>
  <p:transition xmlns:ns1="http://schemas.openxmlformats.org/markup-compatibility/2006" spd="fast" ns1:Ignorable="p14">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Reclaim Policies — What Happens to the Data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single field most likely to destroy production data by accident.</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Policy</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When the claim is deleted</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The data</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Use it when</a:t>
            </a:r>
          </a:p>
        </p:txBody>
      </p:sp>
      <p:sp>
        <p:nvSpPr>
          <p:cNvPr id="15" name="Rectangle 14"/>
          <p:cNvSpPr/>
          <p:nvPr/>
        </p:nvSpPr>
        <p:spPr>
          <a:xfrm>
            <a:off x="77724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Retain</a:t>
            </a:r>
          </a:p>
        </p:txBody>
      </p:sp>
      <p:sp>
        <p:nvSpPr>
          <p:cNvPr id="17" name="Rectangle 16"/>
          <p:cNvSpPr/>
          <p:nvPr/>
        </p:nvSpPr>
        <p:spPr>
          <a:xfrm>
            <a:off x="345186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PV moves to Released and keeps the old claimRef</a:t>
            </a:r>
          </a:p>
        </p:txBody>
      </p:sp>
      <p:sp>
        <p:nvSpPr>
          <p:cNvPr id="19" name="Rectangle 18"/>
          <p:cNvSpPr/>
          <p:nvPr/>
        </p:nvSpPr>
        <p:spPr>
          <a:xfrm>
            <a:off x="6126479"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Preserved until an administrator acts</a:t>
            </a:r>
          </a:p>
        </p:txBody>
      </p:sp>
      <p:sp>
        <p:nvSpPr>
          <p:cNvPr id="21" name="Rectangle 20"/>
          <p:cNvSpPr/>
          <p:nvPr/>
        </p:nvSpPr>
        <p:spPr>
          <a:xfrm>
            <a:off x="880110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data has value: archives, databases, anything auditable</a:t>
            </a:r>
          </a:p>
        </p:txBody>
      </p:sp>
      <p:sp>
        <p:nvSpPr>
          <p:cNvPr id="23" name="Rectangle 22"/>
          <p:cNvSpPr/>
          <p:nvPr/>
        </p:nvSpPr>
        <p:spPr>
          <a:xfrm>
            <a:off x="77724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Delete</a:t>
            </a:r>
          </a:p>
        </p:txBody>
      </p:sp>
      <p:sp>
        <p:nvSpPr>
          <p:cNvPr id="25" name="Rectangle 24"/>
          <p:cNvSpPr/>
          <p:nvPr/>
        </p:nvSpPr>
        <p:spPr>
          <a:xfrm>
            <a:off x="345186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PV object and the backing volume are both removed</a:t>
            </a:r>
          </a:p>
        </p:txBody>
      </p:sp>
      <p:sp>
        <p:nvSpPr>
          <p:cNvPr id="27" name="Rectangle 26"/>
          <p:cNvSpPr/>
          <p:nvPr/>
        </p:nvSpPr>
        <p:spPr>
          <a:xfrm>
            <a:off x="6126479"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Destroyed, usually irrecoverably</a:t>
            </a:r>
          </a:p>
        </p:txBody>
      </p:sp>
      <p:sp>
        <p:nvSpPr>
          <p:cNvPr id="29" name="Rectangle 28"/>
          <p:cNvSpPr/>
          <p:nvPr/>
        </p:nvSpPr>
        <p:spPr>
          <a:xfrm>
            <a:off x="880110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Genuinely disposable caches, ephemeral CI workspaces</a:t>
            </a:r>
          </a:p>
        </p:txBody>
      </p:sp>
      <p:sp>
        <p:nvSpPr>
          <p:cNvPr id="31" name="Rectangle 30"/>
          <p:cNvSpPr/>
          <p:nvPr/>
        </p:nvSpPr>
        <p:spPr>
          <a:xfrm>
            <a:off x="77724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Recycle (deprecated)</a:t>
            </a:r>
          </a:p>
        </p:txBody>
      </p:sp>
      <p:sp>
        <p:nvSpPr>
          <p:cNvPr id="33" name="Rectangle 32"/>
          <p:cNvSpPr/>
          <p:nvPr/>
        </p:nvSpPr>
        <p:spPr>
          <a:xfrm>
            <a:off x="345186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scrubber Pod ran rm -rf on the volume, then re-offered it</a:t>
            </a:r>
          </a:p>
        </p:txBody>
      </p:sp>
      <p:sp>
        <p:nvSpPr>
          <p:cNvPr id="35" name="Rectangle 34"/>
          <p:cNvSpPr/>
          <p:nvPr/>
        </p:nvSpPr>
        <p:spPr>
          <a:xfrm>
            <a:off x="6126479"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Wiped, then reused</a:t>
            </a:r>
          </a:p>
        </p:txBody>
      </p:sp>
      <p:sp>
        <p:nvSpPr>
          <p:cNvPr id="37" name="Rectangle 36"/>
          <p:cNvSpPr/>
          <p:nvPr/>
        </p:nvSpPr>
        <p:spPr>
          <a:xfrm>
            <a:off x="880110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Never — superseded by dynamic provisioning; do not design with it</a:t>
            </a:r>
          </a:p>
        </p:txBody>
      </p:sp>
      <p:sp>
        <p:nvSpPr>
          <p:cNvPr id="39" name="Rectangle 38"/>
          <p:cNvSpPr/>
          <p:nvPr/>
        </p:nvSpPr>
        <p:spPr>
          <a:xfrm>
            <a:off x="777240" y="4504334"/>
            <a:ext cx="10698480" cy="566928"/>
          </a:xfrm>
          <a:prstGeom prst="rect">
            <a:avLst/>
          </a:prstGeom>
          <a:solidFill>
            <a:srgbClr val="E8F7EE"/>
          </a:solidFill>
          <a:ln>
            <a:noFill/>
          </a:ln>
          <a:effectLst/>
        </p:spPr>
        <p:txBody>
          <a:bodyPr rtlCol="0" anchor="ctr" wrap="square"/>
          <a:lstStyle/>
          <a:p>
            <a:pPr algn="ctr"/>
          </a:p>
        </p:txBody>
      </p:sp>
      <p:sp>
        <p:nvSpPr>
          <p:cNvPr id="40" name="Rectangle 39"/>
          <p:cNvSpPr/>
          <p:nvPr/>
        </p:nvSpPr>
        <p:spPr>
          <a:xfrm>
            <a:off x="777240" y="4504334"/>
            <a:ext cx="50292" cy="566928"/>
          </a:xfrm>
          <a:prstGeom prst="rect">
            <a:avLst/>
          </a:prstGeom>
          <a:solidFill>
            <a:srgbClr val="10B981"/>
          </a:solidFill>
          <a:ln>
            <a:noFill/>
          </a:ln>
          <a:effectLst/>
        </p:spPr>
        <p:txBody>
          <a:bodyPr rtlCol="0" anchor="ctr" wrap="square"/>
          <a:lstStyle/>
          <a:p>
            <a:pPr algn="ctr"/>
          </a:p>
        </p:txBody>
      </p:sp>
      <p:sp>
        <p:nvSpPr>
          <p:cNvPr id="41" name="TextBox 40"/>
          <p:cNvSpPr txBox="1"/>
          <p:nvPr/>
        </p:nvSpPr>
        <p:spPr>
          <a:xfrm>
            <a:off x="996695" y="4559198"/>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2" name="TextBox 41"/>
          <p:cNvSpPr txBox="1"/>
          <p:nvPr/>
        </p:nvSpPr>
        <p:spPr>
          <a:xfrm>
            <a:off x="996695" y="476036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Dynamic provisioning defaults to Delete. If your data matters, create a StorageClass with reclaimPolicy: Retain and use it deliberately.</a:t>
            </a:r>
          </a:p>
        </p:txBody>
      </p:sp>
      <p:sp>
        <p:nvSpPr>
          <p:cNvPr id="43" name="TextBox 4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44" name="TextBox 4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5" name="TextBox 4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6" name="TextBox 4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388</a:t>
            </a:r>
          </a:p>
        </p:txBody>
      </p:sp>
    </p:spTree>
  </p:cSld>
  <p:clrMapOvr>
    <a:masterClrMapping/>
  </p:clrMapOvr>
  <p:transition xmlns:ns1="http://schemas.openxmlformats.org/markup-compatibility/2006" spd="fast" ns1:Ignorable="p14">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Retain in Action — a Released Volume Will Not Rebind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Retain is doing its job precisely when the new claim stays Pending.</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kcna-lab18</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delete pvc archive-claim -n kcna-lab18</a:t>
            </a:r>
          </a:p>
          <a:p>
            <a:pPr>
              <a:lnSpc>
                <a:spcPts val="1476"/>
              </a:lnSpc>
              <a:spcAft>
                <a:spcPts val="0"/>
              </a:spcAft>
            </a:pPr>
            <a:r>
              <a:rPr sz="1000">
                <a:solidFill>
                  <a:srgbClr val="E6EDF3"/>
                </a:solidFill>
                <a:latin typeface="Consolas"/>
              </a:rPr>
              <a:t>persistentvolumeclaim "archive-claim" deleted</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pv tracklane-archive-pv</a:t>
            </a:r>
          </a:p>
          <a:p>
            <a:pPr>
              <a:lnSpc>
                <a:spcPts val="1476"/>
              </a:lnSpc>
              <a:spcAft>
                <a:spcPts val="0"/>
              </a:spcAft>
            </a:pPr>
            <a:r>
              <a:rPr sz="1000">
                <a:solidFill>
                  <a:srgbClr val="E6EDF3"/>
                </a:solidFill>
                <a:latin typeface="Consolas"/>
              </a:rPr>
              <a:t>NAME                   CAPACITY  RECLAIM  STATUS     CLAIM</a:t>
            </a:r>
          </a:p>
          <a:p>
            <a:pPr>
              <a:lnSpc>
                <a:spcPts val="1476"/>
              </a:lnSpc>
              <a:spcAft>
                <a:spcPts val="0"/>
              </a:spcAft>
            </a:pPr>
            <a:r>
              <a:rPr sz="1000">
                <a:solidFill>
                  <a:srgbClr val="E6EDF3"/>
                </a:solidFill>
                <a:latin typeface="Consolas"/>
              </a:rPr>
              <a:t>tracklane-archive-pv   1Gi       Retain   Released   kcna-lab18/...</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apply -f archive-claim.yaml   # same name, new object</a:t>
            </a:r>
          </a:p>
          <a:p>
            <a:pPr>
              <a:lnSpc>
                <a:spcPts val="1476"/>
              </a:lnSpc>
              <a:spcAft>
                <a:spcPts val="0"/>
              </a:spcAft>
            </a:pPr>
            <a:r>
              <a:rPr sz="1000">
                <a:solidFill>
                  <a:srgbClr val="7EE787"/>
                </a:solidFill>
                <a:latin typeface="Consolas"/>
              </a:rPr>
              <a:t>$ kubectl -n kcna-lab18 get pvc archive-claim</a:t>
            </a:r>
          </a:p>
          <a:p>
            <a:pPr>
              <a:lnSpc>
                <a:spcPts val="1476"/>
              </a:lnSpc>
              <a:spcAft>
                <a:spcPts val="0"/>
              </a:spcAft>
            </a:pPr>
            <a:r>
              <a:rPr sz="1000">
                <a:solidFill>
                  <a:srgbClr val="E6EDF3"/>
                </a:solidFill>
                <a:latin typeface="Consolas"/>
              </a:rPr>
              <a:t>NAME            STATUS    VOLUME   CAPACITY</a:t>
            </a:r>
          </a:p>
          <a:p>
            <a:pPr>
              <a:lnSpc>
                <a:spcPts val="1476"/>
              </a:lnSpc>
              <a:spcAft>
                <a:spcPts val="0"/>
              </a:spcAft>
            </a:pPr>
            <a:r>
              <a:rPr sz="1000">
                <a:solidFill>
                  <a:srgbClr val="E6EDF3"/>
                </a:solidFill>
                <a:latin typeface="Consolas"/>
              </a:rPr>
              <a:t>archive-claim   Pending                       </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pv tracklane-archive-pv -o jsonpath='{.spec.claimRef.uid}'</a:t>
            </a:r>
          </a:p>
          <a:p>
            <a:pPr>
              <a:lnSpc>
                <a:spcPts val="1476"/>
              </a:lnSpc>
              <a:spcAft>
                <a:spcPts val="0"/>
              </a:spcAft>
            </a:pPr>
            <a:r>
              <a:rPr sz="1000">
                <a:solidFill>
                  <a:srgbClr val="E6EDF3"/>
                </a:solidFill>
                <a:latin typeface="Consolas"/>
              </a:rPr>
              <a:t>3c9a1f60-77bd-4b32-9d21-0e5c6f4a1b88   # the OLD claim's UID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F59E0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Released is not Available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Retain deliberately parks the volume so nobody else can bind to it and read your data.</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claimRef holds a UID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Recreating a claim with the same name creates a different object with a different UID, so the reference no longer matches.</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Recovery is an admin action</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An administrator clears the stale claimRef; the data on the volume was never touched.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This is the safety feature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Automatic rebinding would leak one tenant's data to the next claimant of the same name.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389</a:t>
            </a:r>
          </a:p>
        </p:txBody>
      </p:sp>
    </p:spTree>
  </p:cSld>
  <p:clrMapOvr>
    <a:masterClrMapping/>
  </p:clrMapOvr>
  <p:transition xmlns:ns1="http://schemas.openxmlformats.org/markup-compatibility/2006" spd="fast" ns1:Ignorable="p14">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Static or Dynamic Provisioning?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question is not which is better; it is whether a driver exists that can create the volume for you.</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Can a controller create this volume on demand?</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dynamic provisioning</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Define a StorageClass with a provisioner and parameters</a:t>
            </a:r>
          </a:p>
          <a:p>
            <a:pPr>
              <a:lnSpc>
                <a:spcPct val="112000"/>
              </a:lnSpc>
              <a:spcAft>
                <a:spcPts val="500"/>
              </a:spcAft>
            </a:pPr>
            <a:r>
              <a:rPr sz="1100">
                <a:solidFill>
                  <a:srgbClr val="94A3B8"/>
                </a:solidFill>
                <a:latin typeface="Arial"/>
              </a:rPr>
              <a:t>•  </a:t>
            </a:r>
            <a:r>
              <a:rPr sz="1100">
                <a:solidFill>
                  <a:srgbClr val="5B6372"/>
                </a:solidFill>
                <a:latin typeface="Arial"/>
              </a:rPr>
              <a:t>Tenants create PVCs; PVs appear named pvc-&lt;uid&gt;</a:t>
            </a:r>
          </a:p>
          <a:p>
            <a:pPr>
              <a:lnSpc>
                <a:spcPct val="112000"/>
              </a:lnSpc>
              <a:spcAft>
                <a:spcPts val="500"/>
              </a:spcAft>
            </a:pPr>
            <a:r>
              <a:rPr sz="1100">
                <a:solidFill>
                  <a:srgbClr val="94A3B8"/>
                </a:solidFill>
                <a:latin typeface="Arial"/>
              </a:rPr>
              <a:t>•  </a:t>
            </a:r>
            <a:r>
              <a:rPr sz="1100">
                <a:solidFill>
                  <a:srgbClr val="5B6372"/>
                </a:solidFill>
                <a:latin typeface="Arial"/>
              </a:rPr>
              <a:t>Reclaim policy and binding mode come from the class</a:t>
            </a:r>
          </a:p>
          <a:p>
            <a:pPr>
              <a:lnSpc>
                <a:spcPct val="112000"/>
              </a:lnSpc>
              <a:spcAft>
                <a:spcPts val="500"/>
              </a:spcAft>
            </a:pPr>
            <a:r>
              <a:rPr sz="1100">
                <a:solidFill>
                  <a:srgbClr val="94A3B8"/>
                </a:solidFill>
                <a:latin typeface="Arial"/>
              </a:rPr>
              <a:t>•  </a:t>
            </a:r>
            <a:r>
              <a:rPr sz="1100">
                <a:solidFill>
                  <a:srgbClr val="5B6372"/>
                </a:solidFill>
                <a:latin typeface="Arial"/>
              </a:rPr>
              <a:t>Scales to many namespaces without operator involvement</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static provisioning</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An administrator creates each PersistentVolume by hand</a:t>
            </a:r>
          </a:p>
          <a:p>
            <a:pPr>
              <a:lnSpc>
                <a:spcPct val="112000"/>
              </a:lnSpc>
              <a:spcAft>
                <a:spcPts val="500"/>
              </a:spcAft>
            </a:pPr>
            <a:r>
              <a:rPr sz="1100">
                <a:solidFill>
                  <a:srgbClr val="94A3B8"/>
                </a:solidFill>
                <a:latin typeface="Arial"/>
              </a:rPr>
              <a:t>•  </a:t>
            </a:r>
            <a:r>
              <a:rPr sz="1100">
                <a:solidFill>
                  <a:srgbClr val="5B6372"/>
                </a:solidFill>
                <a:latin typeface="Arial"/>
              </a:rPr>
              <a:t>Use for pre-existing NFS exports, LUNs, licensed appliances</a:t>
            </a:r>
          </a:p>
          <a:p>
            <a:pPr>
              <a:lnSpc>
                <a:spcPct val="112000"/>
              </a:lnSpc>
              <a:spcAft>
                <a:spcPts val="500"/>
              </a:spcAft>
            </a:pPr>
            <a:r>
              <a:rPr sz="1100">
                <a:solidFill>
                  <a:srgbClr val="94A3B8"/>
                </a:solidFill>
                <a:latin typeface="Arial"/>
              </a:rPr>
              <a:t>•  </a:t>
            </a:r>
            <a:r>
              <a:rPr sz="1100">
                <a:solidFill>
                  <a:srgbClr val="5B6372"/>
                </a:solidFill>
                <a:latin typeface="Arial"/>
              </a:rPr>
              <a:t>Pre-bind with claimRef so the right claim gets the right volume</a:t>
            </a:r>
          </a:p>
          <a:p>
            <a:pPr>
              <a:lnSpc>
                <a:spcPct val="112000"/>
              </a:lnSpc>
              <a:spcAft>
                <a:spcPts val="500"/>
              </a:spcAft>
            </a:pPr>
            <a:r>
              <a:rPr sz="1100">
                <a:solidFill>
                  <a:srgbClr val="94A3B8"/>
                </a:solidFill>
                <a:latin typeface="Arial"/>
              </a:rPr>
              <a:t>•  </a:t>
            </a:r>
            <a:r>
              <a:rPr sz="1100">
                <a:solidFill>
                  <a:srgbClr val="5B6372"/>
                </a:solidFill>
                <a:latin typeface="Arial"/>
              </a:rPr>
              <a:t>Operational cost is per-volume and does not scale</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Storage Classes (kubernetes.io/docs/concepts/storage/storage-classes/).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390</a:t>
            </a:r>
          </a:p>
        </p:txBody>
      </p:sp>
    </p:spTree>
  </p:cSld>
  <p:clrMapOvr>
    <a:masterClrMapping/>
  </p:clrMapOvr>
  <p:transition xmlns:ns3="http://schemas.openxmlformats.org/markup-compatibility/2006" spd="fast" ns3:Ignorable="p14">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THREE PATHS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Volume Actually Reaches a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Same mountPath in the container; three very different operational models behind it.</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Static PersistentVolume</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Administrator authors the PV up front</a:t>
            </a:r>
          </a:p>
          <a:p>
            <a:pPr>
              <a:lnSpc>
                <a:spcPct val="112000"/>
              </a:lnSpc>
              <a:spcAft>
                <a:spcPts val="500"/>
              </a:spcAft>
            </a:pPr>
            <a:r>
              <a:rPr sz="1100">
                <a:solidFill>
                  <a:srgbClr val="94A3B8"/>
                </a:solidFill>
                <a:latin typeface="Arial"/>
              </a:rPr>
              <a:t>•  </a:t>
            </a:r>
            <a:r>
              <a:rPr sz="1100">
                <a:solidFill>
                  <a:srgbClr val="5B6372"/>
                </a:solidFill>
                <a:latin typeface="Arial"/>
              </a:rPr>
              <a:t>PVC matches on class, size, access mode</a:t>
            </a:r>
          </a:p>
          <a:p>
            <a:pPr>
              <a:lnSpc>
                <a:spcPct val="112000"/>
              </a:lnSpc>
              <a:spcAft>
                <a:spcPts val="500"/>
              </a:spcAft>
            </a:pPr>
            <a:r>
              <a:rPr sz="1100">
                <a:solidFill>
                  <a:srgbClr val="94A3B8"/>
                </a:solidFill>
                <a:latin typeface="Arial"/>
              </a:rPr>
              <a:t>•  </a:t>
            </a:r>
            <a:r>
              <a:rPr sz="1100">
                <a:solidFill>
                  <a:srgbClr val="5B6372"/>
                </a:solidFill>
                <a:latin typeface="Arial"/>
              </a:rPr>
              <a:t>claimRef can reserve it for one claim</a:t>
            </a:r>
          </a:p>
          <a:p>
            <a:pPr>
              <a:lnSpc>
                <a:spcPct val="112000"/>
              </a:lnSpc>
              <a:spcAft>
                <a:spcPts val="500"/>
              </a:spcAft>
            </a:pPr>
            <a:r>
              <a:rPr sz="1100">
                <a:solidFill>
                  <a:srgbClr val="94A3B8"/>
                </a:solidFill>
                <a:latin typeface="Arial"/>
              </a:rPr>
              <a:t>•  </a:t>
            </a:r>
            <a:r>
              <a:rPr sz="1100">
                <a:solidFill>
                  <a:srgbClr val="5B6372"/>
                </a:solidFill>
                <a:latin typeface="Arial"/>
              </a:rPr>
              <a:t>Data survives the claim under Retain</a:t>
            </a:r>
          </a:p>
        </p:txBody>
      </p:sp>
      <p:sp>
        <p:nvSpPr>
          <p:cNvPr id="11" name="Rounded Rectangle 10"/>
          <p:cNvSpPr/>
          <p:nvPr/>
        </p:nvSpPr>
        <p:spPr>
          <a:xfrm>
            <a:off x="1033271" y="5532120"/>
            <a:ext cx="128016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operator-created</a:t>
            </a:r>
          </a:p>
        </p:txBody>
      </p:sp>
      <p:sp>
        <p:nvSpPr>
          <p:cNvPr id="12" name="Rounded Rectangle 11"/>
          <p:cNvSpPr/>
          <p:nvPr/>
        </p:nvSpPr>
        <p:spPr>
          <a:xfrm>
            <a:off x="2404872" y="5532120"/>
            <a:ext cx="594359"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Retain</a:t>
            </a:r>
          </a:p>
        </p:txBody>
      </p:sp>
      <p:sp>
        <p:nvSpPr>
          <p:cNvPr id="13" name="Rectangle 12"/>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Dynamic via StorageClass</a:t>
            </a:r>
          </a:p>
        </p:txBody>
      </p:sp>
      <p:sp>
        <p:nvSpPr>
          <p:cNvPr id="16" name="TextBox 15"/>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PVC names a class; provisioner creates the volume</a:t>
            </a:r>
          </a:p>
          <a:p>
            <a:pPr>
              <a:lnSpc>
                <a:spcPct val="112000"/>
              </a:lnSpc>
              <a:spcAft>
                <a:spcPts val="500"/>
              </a:spcAft>
            </a:pPr>
            <a:r>
              <a:rPr sz="1100">
                <a:solidFill>
                  <a:srgbClr val="94A3B8"/>
                </a:solidFill>
                <a:latin typeface="Arial"/>
              </a:rPr>
              <a:t>•  </a:t>
            </a:r>
            <a:r>
              <a:rPr sz="1100">
                <a:solidFill>
                  <a:srgbClr val="5B6372"/>
                </a:solidFill>
                <a:latin typeface="Arial"/>
              </a:rPr>
              <a:t>PV name is pvc-&lt;claim-uid&gt;</a:t>
            </a:r>
          </a:p>
          <a:p>
            <a:pPr>
              <a:lnSpc>
                <a:spcPct val="112000"/>
              </a:lnSpc>
              <a:spcAft>
                <a:spcPts val="500"/>
              </a:spcAft>
            </a:pPr>
            <a:r>
              <a:rPr sz="1100">
                <a:solidFill>
                  <a:srgbClr val="94A3B8"/>
                </a:solidFill>
                <a:latin typeface="Arial"/>
              </a:rPr>
              <a:t>•  </a:t>
            </a:r>
            <a:r>
              <a:rPr sz="1100">
                <a:solidFill>
                  <a:srgbClr val="5B6372"/>
                </a:solidFill>
                <a:latin typeface="Arial"/>
              </a:rPr>
              <a:t>Class supplies reclaim policy and binding mode</a:t>
            </a:r>
          </a:p>
          <a:p>
            <a:pPr>
              <a:lnSpc>
                <a:spcPct val="112000"/>
              </a:lnSpc>
              <a:spcAft>
                <a:spcPts val="500"/>
              </a:spcAft>
            </a:pPr>
            <a:r>
              <a:rPr sz="1100">
                <a:solidFill>
                  <a:srgbClr val="94A3B8"/>
                </a:solidFill>
                <a:latin typeface="Arial"/>
              </a:rPr>
              <a:t>•  </a:t>
            </a:r>
            <a:r>
              <a:rPr sz="1100">
                <a:solidFill>
                  <a:srgbClr val="5B6372"/>
                </a:solidFill>
                <a:latin typeface="Arial"/>
              </a:rPr>
              <a:t>The default class applies when the field is omitted</a:t>
            </a:r>
          </a:p>
        </p:txBody>
      </p:sp>
      <p:sp>
        <p:nvSpPr>
          <p:cNvPr id="17" name="Rounded Rectangle 16"/>
          <p:cNvSpPr/>
          <p:nvPr/>
        </p:nvSpPr>
        <p:spPr>
          <a:xfrm>
            <a:off x="4739335" y="5532120"/>
            <a:ext cx="8001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on demand</a:t>
            </a:r>
          </a:p>
        </p:txBody>
      </p:sp>
      <p:sp>
        <p:nvSpPr>
          <p:cNvPr id="18" name="Rounded Rectangle 17"/>
          <p:cNvSpPr/>
          <p:nvPr/>
        </p:nvSpPr>
        <p:spPr>
          <a:xfrm>
            <a:off x="5630875" y="5532120"/>
            <a:ext cx="8001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pvc-&lt;uid&gt;</a:t>
            </a:r>
          </a:p>
        </p:txBody>
      </p:sp>
      <p:sp>
        <p:nvSpPr>
          <p:cNvPr id="19" name="Rectangle 18"/>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Inline ephemeral CSI volume</a:t>
            </a:r>
          </a:p>
        </p:txBody>
      </p:sp>
      <p:sp>
        <p:nvSpPr>
          <p:cNvPr id="22" name="TextBox 21"/>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Declared inside Pod.spec.volumes, no PVC object</a:t>
            </a:r>
          </a:p>
          <a:p>
            <a:pPr>
              <a:lnSpc>
                <a:spcPct val="112000"/>
              </a:lnSpc>
              <a:spcAft>
                <a:spcPts val="500"/>
              </a:spcAft>
            </a:pPr>
            <a:r>
              <a:rPr sz="1100">
                <a:solidFill>
                  <a:srgbClr val="94A3B8"/>
                </a:solidFill>
                <a:latin typeface="Arial"/>
              </a:rPr>
              <a:t>•  </a:t>
            </a:r>
            <a:r>
              <a:rPr sz="1100">
                <a:solidFill>
                  <a:srgbClr val="5B6372"/>
                </a:solidFill>
                <a:latin typeface="Arial"/>
              </a:rPr>
              <a:t>Generic ephemeral volumes still create a PVC for you</a:t>
            </a:r>
          </a:p>
          <a:p>
            <a:pPr>
              <a:lnSpc>
                <a:spcPct val="112000"/>
              </a:lnSpc>
              <a:spcAft>
                <a:spcPts val="500"/>
              </a:spcAft>
            </a:pPr>
            <a:r>
              <a:rPr sz="1100">
                <a:solidFill>
                  <a:srgbClr val="94A3B8"/>
                </a:solidFill>
                <a:latin typeface="Arial"/>
              </a:rPr>
              <a:t>•  </a:t>
            </a:r>
            <a:r>
              <a:rPr sz="1100">
                <a:solidFill>
                  <a:srgbClr val="5B6372"/>
                </a:solidFill>
                <a:latin typeface="Arial"/>
              </a:rPr>
              <a:t>Lifetime is bound to the Pod</a:t>
            </a:r>
          </a:p>
          <a:p>
            <a:pPr>
              <a:lnSpc>
                <a:spcPct val="112000"/>
              </a:lnSpc>
              <a:spcAft>
                <a:spcPts val="500"/>
              </a:spcAft>
            </a:pPr>
            <a:r>
              <a:rPr sz="1100">
                <a:solidFill>
                  <a:srgbClr val="94A3B8"/>
                </a:solidFill>
                <a:latin typeface="Arial"/>
              </a:rPr>
              <a:t>•  </a:t>
            </a:r>
            <a:r>
              <a:rPr sz="1100">
                <a:solidFill>
                  <a:srgbClr val="5B6372"/>
                </a:solidFill>
                <a:latin typeface="Arial"/>
              </a:rPr>
              <a:t>For per-Pod scratch on real storage hardware</a:t>
            </a:r>
          </a:p>
        </p:txBody>
      </p:sp>
      <p:sp>
        <p:nvSpPr>
          <p:cNvPr id="23" name="Rounded Rectangle 22"/>
          <p:cNvSpPr/>
          <p:nvPr/>
        </p:nvSpPr>
        <p:spPr>
          <a:xfrm>
            <a:off x="8445398" y="5532120"/>
            <a:ext cx="8686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Pod-scoped</a:t>
            </a:r>
          </a:p>
        </p:txBody>
      </p:sp>
      <p:sp>
        <p:nvSpPr>
          <p:cNvPr id="24" name="Rounded Rectangle 23"/>
          <p:cNvSpPr/>
          <p:nvPr/>
        </p:nvSpPr>
        <p:spPr>
          <a:xfrm>
            <a:off x="9405518" y="5532120"/>
            <a:ext cx="128016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no PVC to manage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Ephemeral Volumes; Images (kubernetes.io/docs/concepts/storage/ephemeral-volumes/).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391</a:t>
            </a:r>
          </a:p>
        </p:txBody>
      </p:sp>
    </p:spTree>
  </p:cSld>
  <p:clrMapOvr>
    <a:masterClrMapping/>
  </p:clrMapOvr>
  <p:transition xmlns:ns1="http://schemas.openxmlformats.org/markup-compatibility/2006" spd="fast" ns1:Ignorable="p14">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StorageClass Is a Provisioning Recipe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Change the class, change the behaviour of every volume it creates — retroactively for none of them.</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storageclass-tracklane-retain.yaml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storage.k8s.io/v1</a:t>
            </a:r>
          </a:p>
          <a:p>
            <a:pPr>
              <a:lnSpc>
                <a:spcPts val="1413"/>
              </a:lnSpc>
              <a:spcAft>
                <a:spcPts val="0"/>
              </a:spcAft>
            </a:pPr>
            <a:r>
              <a:rPr sz="1050">
                <a:solidFill>
                  <a:srgbClr val="E6EDF3"/>
                </a:solidFill>
                <a:latin typeface="Consolas"/>
              </a:rPr>
              <a:t>kind: StorageClass</a:t>
            </a:r>
          </a:p>
          <a:p>
            <a:pPr>
              <a:lnSpc>
                <a:spcPts val="1413"/>
              </a:lnSpc>
              <a:spcAft>
                <a:spcPts val="0"/>
              </a:spcAft>
            </a:pPr>
            <a:r>
              <a:rPr sz="1050">
                <a:solidFill>
                  <a:srgbClr val="E6EDF3"/>
                </a:solidFill>
                <a:latin typeface="Consolas"/>
              </a:rPr>
              <a:t>metadata:</a:t>
            </a:r>
          </a:p>
          <a:p>
            <a:pPr>
              <a:lnSpc>
                <a:spcPts val="1413"/>
              </a:lnSpc>
              <a:spcAft>
                <a:spcPts val="0"/>
              </a:spcAft>
            </a:pPr>
            <a:r>
              <a:rPr sz="1050">
                <a:solidFill>
                  <a:srgbClr val="E6EDF3"/>
                </a:solidFill>
                <a:latin typeface="Consolas"/>
              </a:rPr>
              <a:t>  name: tracklane-retain</a:t>
            </a:r>
          </a:p>
          <a:p>
            <a:pPr>
              <a:lnSpc>
                <a:spcPts val="1413"/>
              </a:lnSpc>
              <a:spcAft>
                <a:spcPts val="0"/>
              </a:spcAft>
            </a:pPr>
            <a:r>
              <a:rPr sz="1050">
                <a:solidFill>
                  <a:srgbClr val="E6EDF3"/>
                </a:solidFill>
                <a:latin typeface="Consolas"/>
              </a:rPr>
              <a:t>  annotations:</a:t>
            </a:r>
          </a:p>
          <a:p>
            <a:pPr>
              <a:lnSpc>
                <a:spcPts val="1413"/>
              </a:lnSpc>
              <a:spcAft>
                <a:spcPts val="0"/>
              </a:spcAft>
            </a:pPr>
            <a:r>
              <a:rPr sz="1050">
                <a:solidFill>
                  <a:srgbClr val="E6EDF3"/>
                </a:solidFill>
                <a:latin typeface="Consolas"/>
              </a:rPr>
              <a:t>    storageclass.kubernetes.io/is-default-class: "false"</a:t>
            </a:r>
          </a:p>
          <a:p>
            <a:pPr>
              <a:lnSpc>
                <a:spcPts val="1413"/>
              </a:lnSpc>
              <a:spcAft>
                <a:spcPts val="0"/>
              </a:spcAft>
            </a:pPr>
            <a:r>
              <a:rPr sz="1050">
                <a:solidFill>
                  <a:srgbClr val="E6EDF3"/>
                </a:solidFill>
                <a:latin typeface="Consolas"/>
              </a:rPr>
              <a:t>provisioner: rancher.io/local-path</a:t>
            </a:r>
          </a:p>
          <a:p>
            <a:pPr>
              <a:lnSpc>
                <a:spcPts val="1413"/>
              </a:lnSpc>
              <a:spcAft>
                <a:spcPts val="0"/>
              </a:spcAft>
            </a:pPr>
            <a:r>
              <a:rPr sz="1050">
                <a:solidFill>
                  <a:srgbClr val="E6EDF3"/>
                </a:solidFill>
                <a:latin typeface="Consolas"/>
              </a:rPr>
              <a:t>reclaimPolicy: Retain</a:t>
            </a:r>
          </a:p>
          <a:p>
            <a:pPr>
              <a:lnSpc>
                <a:spcPts val="1413"/>
              </a:lnSpc>
              <a:spcAft>
                <a:spcPts val="0"/>
              </a:spcAft>
            </a:pPr>
            <a:r>
              <a:rPr sz="1050">
                <a:solidFill>
                  <a:srgbClr val="E6EDF3"/>
                </a:solidFill>
                <a:latin typeface="Consolas"/>
              </a:rPr>
              <a:t>volumeBindingMode: WaitForFirstConsumer</a:t>
            </a:r>
          </a:p>
          <a:p>
            <a:pPr>
              <a:lnSpc>
                <a:spcPts val="1413"/>
              </a:lnSpc>
              <a:spcAft>
                <a:spcPts val="0"/>
              </a:spcAft>
            </a:pPr>
            <a:r>
              <a:rPr sz="1050">
                <a:solidFill>
                  <a:srgbClr val="E6EDF3"/>
                </a:solidFill>
                <a:latin typeface="Consolas"/>
              </a:rPr>
              <a:t>allowVolumeExpansion: true</a:t>
            </a:r>
          </a:p>
          <a:p>
            <a:pPr>
              <a:lnSpc>
                <a:spcPts val="1413"/>
              </a:lnSpc>
              <a:spcAft>
                <a:spcPts val="0"/>
              </a:spcAft>
            </a:pPr>
            <a:r>
              <a:rPr sz="1050">
                <a:solidFill>
                  <a:srgbClr val="E6EDF3"/>
                </a:solidFill>
                <a:latin typeface="Consolas"/>
              </a:rPr>
              <a:t>parameters:</a:t>
            </a:r>
          </a:p>
          <a:p>
            <a:pPr>
              <a:lnSpc>
                <a:spcPts val="1413"/>
              </a:lnSpc>
              <a:spcAft>
                <a:spcPts val="0"/>
              </a:spcAft>
            </a:pPr>
            <a:r>
              <a:rPr sz="1050">
                <a:solidFill>
                  <a:srgbClr val="E6EDF3"/>
                </a:solidFill>
                <a:latin typeface="Consolas"/>
              </a:rPr>
              <a:t>  nodePath: /opt/local-path-provisioner</a:t>
            </a:r>
          </a:p>
          <a:p>
            <a:pPr>
              <a:lnSpc>
                <a:spcPts val="1413"/>
              </a:lnSpc>
              <a:spcAft>
                <a:spcPts val="0"/>
              </a:spcAft>
            </a:pPr>
            <a:r>
              <a:rPr sz="1050">
                <a:solidFill>
                  <a:srgbClr val="E6EDF3"/>
                </a:solidFill>
                <a:latin typeface="Consolas"/>
              </a:rPr>
              <a:t>---</a:t>
            </a:r>
          </a:p>
          <a:p>
            <a:pPr>
              <a:lnSpc>
                <a:spcPts val="1413"/>
              </a:lnSpc>
              <a:spcAft>
                <a:spcPts val="0"/>
              </a:spcAft>
            </a:pPr>
            <a:r>
              <a:rPr sz="1050">
                <a:solidFill>
                  <a:srgbClr val="7D8A99"/>
                </a:solidFill>
                <a:latin typeface="Consolas"/>
              </a:rPr>
              <a:t># the cluster default in this training environment</a:t>
            </a:r>
          </a:p>
          <a:p>
            <a:pPr>
              <a:lnSpc>
                <a:spcPts val="1413"/>
              </a:lnSpc>
              <a:spcAft>
                <a:spcPts val="0"/>
              </a:spcAft>
            </a:pPr>
            <a:r>
              <a:rPr sz="1050">
                <a:solidFill>
                  <a:srgbClr val="7D8A99"/>
                </a:solidFill>
                <a:latin typeface="Consolas"/>
              </a:rPr>
              <a:t># name: standard</a:t>
            </a:r>
          </a:p>
          <a:p>
            <a:pPr>
              <a:lnSpc>
                <a:spcPts val="1413"/>
              </a:lnSpc>
              <a:spcAft>
                <a:spcPts val="0"/>
              </a:spcAft>
            </a:pPr>
            <a:r>
              <a:rPr sz="1050">
                <a:solidFill>
                  <a:srgbClr val="7D8A99"/>
                </a:solidFill>
                <a:latin typeface="Consolas"/>
              </a:rPr>
              <a:t># provisioner: rancher.io/local-path</a:t>
            </a:r>
          </a:p>
          <a:p>
            <a:pPr>
              <a:lnSpc>
                <a:spcPts val="1413"/>
              </a:lnSpc>
              <a:spcAft>
                <a:spcPts val="0"/>
              </a:spcAft>
            </a:pPr>
            <a:r>
              <a:rPr sz="1050">
                <a:solidFill>
                  <a:srgbClr val="7D8A99"/>
                </a:solidFill>
                <a:latin typeface="Consolas"/>
              </a:rPr>
              <a:t># reclaimPolicy: Delete</a:t>
            </a:r>
          </a:p>
          <a:p>
            <a:pPr>
              <a:lnSpc>
                <a:spcPts val="1413"/>
              </a:lnSpc>
              <a:spcAft>
                <a:spcPts val="0"/>
              </a:spcAft>
            </a:pPr>
            <a:r>
              <a:rPr sz="1050">
                <a:solidFill>
                  <a:srgbClr val="7D8A99"/>
                </a:solidFill>
                <a:latin typeface="Consolas"/>
              </a:rPr>
              <a:t># volumeBindingMode: WaitForFirstConsumer</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provisioner selects the driver</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Usually a CSI driver name. It is the only field a claim cannot override.</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reclaimPolicy is inherited</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Every PV this class creates gets this policy. Retain here is what makes the class safe for real data.</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volumeBindingMode changes when</a:t>
            </a:r>
          </a:p>
        </p:txBody>
      </p:sp>
      <p:sp>
        <p:nvSpPr>
          <p:cNvPr id="20" name="TextBox 19"/>
          <p:cNvSpPr txBox="1"/>
          <p:nvPr/>
        </p:nvSpPr>
        <p:spPr>
          <a:xfrm>
            <a:off x="7973567" y="431583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Immediate binds as soon as the claim exists; WaitForFirstConsumer waits for a Pod so topology can be honoured.</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allowVolumeExpansion: true</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Without it, editing requests.storage on a bound PVC is rejected.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Storage Classes (kubernetes.io/docs/concepts/storage/storage-classes/).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392</a:t>
            </a:r>
          </a:p>
        </p:txBody>
      </p:sp>
    </p:spTree>
  </p:cSld>
  <p:clrMapOvr>
    <a:masterClrMapping/>
  </p:clrMapOvr>
  <p:transition xmlns:ns1="http://schemas.openxmlformats.org/markup-compatibility/2006" spd="fast" ns1:Ignorable="p14">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WaitForFirstConsumer: Why Pending Is the Correct State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Pending PVC with no Pod is not a fault — it is the design.</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PVC created</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claim exists and names a class whose volumeBindingMode is WaitForFirstConsumer.</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Binding deferred</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provisioner deliberately does nothing and emits a WaitForFirstConsumer event. Status is Pending.</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Pod created</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scheduler now has both the Pod's constraints and the claim's topology requirements.</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Node chosen</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Scheduling and provisioning are decided together, so the volume is created in the zone the Pod will actually run in.</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Bind and mount</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PV is created, bound, attached and mounted. Pending resolves without anyone intervening.</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Immediate binding can strand a volume in zone A while the only schedulable node is in zone B. WaitForFirstConsumer exists to prevent exactly that.</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Storage Classes (kubernetes.io/docs/concepts/storage/storage-classes/).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393</a:t>
            </a:r>
          </a:p>
        </p:txBody>
      </p:sp>
    </p:spTree>
  </p:cSld>
  <p:clrMapOvr>
    <a:masterClrMapping/>
  </p:clrMapOvr>
  <p:transition xmlns:ns5="http://schemas.openxmlformats.org/markup-compatibility/2006" spd="fast" ns5:Ignorable="p14">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describe pvc — the Event That Means 'Working as Intended'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Learn to read this event; it stops you 'fixing' a healthy cluster.</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kcna-lab18</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kcna-lab18 describe pvc render-cache</a:t>
            </a:r>
          </a:p>
          <a:p>
            <a:pPr>
              <a:lnSpc>
                <a:spcPts val="1476"/>
              </a:lnSpc>
              <a:spcAft>
                <a:spcPts val="0"/>
              </a:spcAft>
            </a:pPr>
            <a:r>
              <a:rPr sz="1000">
                <a:solidFill>
                  <a:srgbClr val="E6EDF3"/>
                </a:solidFill>
                <a:latin typeface="Consolas"/>
              </a:rPr>
              <a:t>Name:          render-cache</a:t>
            </a:r>
          </a:p>
          <a:p>
            <a:pPr>
              <a:lnSpc>
                <a:spcPts val="1476"/>
              </a:lnSpc>
              <a:spcAft>
                <a:spcPts val="0"/>
              </a:spcAft>
            </a:pPr>
            <a:r>
              <a:rPr sz="1000">
                <a:solidFill>
                  <a:srgbClr val="E6EDF3"/>
                </a:solidFill>
                <a:latin typeface="Consolas"/>
              </a:rPr>
              <a:t>Namespace:     kcna-lab18</a:t>
            </a:r>
          </a:p>
          <a:p>
            <a:pPr>
              <a:lnSpc>
                <a:spcPts val="1476"/>
              </a:lnSpc>
              <a:spcAft>
                <a:spcPts val="0"/>
              </a:spcAft>
            </a:pPr>
            <a:r>
              <a:rPr sz="1000">
                <a:solidFill>
                  <a:srgbClr val="E6EDF3"/>
                </a:solidFill>
                <a:latin typeface="Consolas"/>
              </a:rPr>
              <a:t>StorageClass:  standard</a:t>
            </a:r>
          </a:p>
          <a:p>
            <a:pPr>
              <a:lnSpc>
                <a:spcPts val="1476"/>
              </a:lnSpc>
              <a:spcAft>
                <a:spcPts val="0"/>
              </a:spcAft>
            </a:pPr>
            <a:r>
              <a:rPr sz="1000">
                <a:solidFill>
                  <a:srgbClr val="E6EDF3"/>
                </a:solidFill>
                <a:latin typeface="Consolas"/>
              </a:rPr>
              <a:t>Status:        Pending</a:t>
            </a:r>
          </a:p>
          <a:p>
            <a:pPr>
              <a:lnSpc>
                <a:spcPts val="1476"/>
              </a:lnSpc>
              <a:spcAft>
                <a:spcPts val="0"/>
              </a:spcAft>
            </a:pPr>
            <a:r>
              <a:rPr sz="1000">
                <a:solidFill>
                  <a:srgbClr val="E6EDF3"/>
                </a:solidFill>
                <a:latin typeface="Consolas"/>
              </a:rPr>
              <a:t>Volume:</a:t>
            </a:r>
          </a:p>
          <a:p>
            <a:pPr>
              <a:lnSpc>
                <a:spcPts val="1476"/>
              </a:lnSpc>
              <a:spcAft>
                <a:spcPts val="0"/>
              </a:spcAft>
            </a:pPr>
            <a:r>
              <a:rPr sz="1000">
                <a:solidFill>
                  <a:srgbClr val="E6EDF3"/>
                </a:solidFill>
                <a:latin typeface="Consolas"/>
              </a:rPr>
              <a:t>Capacity:</a:t>
            </a:r>
          </a:p>
          <a:p>
            <a:pPr>
              <a:lnSpc>
                <a:spcPts val="1476"/>
              </a:lnSpc>
              <a:spcAft>
                <a:spcPts val="0"/>
              </a:spcAft>
            </a:pPr>
            <a:r>
              <a:rPr sz="1000">
                <a:solidFill>
                  <a:srgbClr val="E6EDF3"/>
                </a:solidFill>
                <a:latin typeface="Consolas"/>
              </a:rPr>
              <a:t>Access Modes:</a:t>
            </a:r>
          </a:p>
          <a:p>
            <a:pPr>
              <a:lnSpc>
                <a:spcPts val="1476"/>
              </a:lnSpc>
              <a:spcAft>
                <a:spcPts val="0"/>
              </a:spcAft>
            </a:pPr>
            <a:r>
              <a:rPr sz="1000">
                <a:solidFill>
                  <a:srgbClr val="E6EDF3"/>
                </a:solidFill>
                <a:latin typeface="Consolas"/>
              </a:rPr>
              <a:t>Used By:       &lt;none&gt;</a:t>
            </a:r>
          </a:p>
          <a:p>
            <a:pPr>
              <a:lnSpc>
                <a:spcPts val="1476"/>
              </a:lnSpc>
              <a:spcAft>
                <a:spcPts val="0"/>
              </a:spcAft>
            </a:pPr>
            <a:r>
              <a:rPr sz="1000">
                <a:solidFill>
                  <a:srgbClr val="E6EDF3"/>
                </a:solidFill>
                <a:latin typeface="Consolas"/>
              </a:rPr>
              <a:t>Events:</a:t>
            </a:r>
          </a:p>
          <a:p>
            <a:pPr>
              <a:lnSpc>
                <a:spcPts val="1476"/>
              </a:lnSpc>
              <a:spcAft>
                <a:spcPts val="0"/>
              </a:spcAft>
            </a:pPr>
            <a:r>
              <a:rPr sz="1000">
                <a:solidFill>
                  <a:srgbClr val="E6EDF3"/>
                </a:solidFill>
                <a:latin typeface="Consolas"/>
              </a:rPr>
              <a:t>  Type    Reason                Age   From                Message</a:t>
            </a:r>
          </a:p>
          <a:p>
            <a:pPr>
              <a:lnSpc>
                <a:spcPts val="1476"/>
              </a:lnSpc>
              <a:spcAft>
                <a:spcPts val="0"/>
              </a:spcAft>
            </a:pPr>
            <a:r>
              <a:rPr sz="1000">
                <a:solidFill>
                  <a:srgbClr val="E6EDF3"/>
                </a:solidFill>
                <a:latin typeface="Consolas"/>
              </a:rPr>
              <a:t>  ----    ------                ----  ----                -------</a:t>
            </a:r>
          </a:p>
          <a:p>
            <a:pPr>
              <a:lnSpc>
                <a:spcPts val="1476"/>
              </a:lnSpc>
              <a:spcAft>
                <a:spcPts val="0"/>
              </a:spcAft>
            </a:pPr>
            <a:r>
              <a:rPr sz="1000">
                <a:solidFill>
                  <a:srgbClr val="E6EDF3"/>
                </a:solidFill>
                <a:latin typeface="Consolas"/>
              </a:rPr>
              <a:t>  Normal  WaitForFirstConsumer  14s   persistentvolume-   waiting</a:t>
            </a:r>
          </a:p>
          <a:p>
            <a:pPr>
              <a:lnSpc>
                <a:spcPts val="1476"/>
              </a:lnSpc>
              <a:spcAft>
                <a:spcPts val="0"/>
              </a:spcAft>
            </a:pPr>
            <a:r>
              <a:rPr sz="1000">
                <a:solidFill>
                  <a:srgbClr val="E6EDF3"/>
                </a:solidFill>
                <a:latin typeface="Consolas"/>
              </a:rPr>
              <a:t>          (x3 over 44s)               controller          for first</a:t>
            </a:r>
          </a:p>
          <a:p>
            <a:pPr>
              <a:lnSpc>
                <a:spcPts val="1476"/>
              </a:lnSpc>
              <a:spcAft>
                <a:spcPts val="0"/>
              </a:spcAft>
            </a:pPr>
            <a:r>
              <a:rPr sz="1000">
                <a:solidFill>
                  <a:srgbClr val="E6EDF3"/>
                </a:solidFill>
                <a:latin typeface="Consolas"/>
              </a:rPr>
              <a:t>                                       consumer to be created</a:t>
            </a:r>
          </a:p>
          <a:p>
            <a:pPr>
              <a:lnSpc>
                <a:spcPts val="1476"/>
              </a:lnSpc>
              <a:spcAft>
                <a:spcPts val="0"/>
              </a:spcAft>
            </a:pPr>
            <a:r>
              <a:rPr sz="1000">
                <a:solidFill>
                  <a:srgbClr val="E6EDF3"/>
                </a:solidFill>
                <a:latin typeface="Consolas"/>
              </a:rPr>
              <a:t>                                       before binding</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Type is Normal, not Warning</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event class tells you immediately this is expected behaviour, not an error.</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Used By: &lt;none&gt;</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 Pod references this claim yet, which is precisely the condition the binder is waiting on.</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reporter is the PV controller</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 the scheduler and not the driver — the binding decision is being held open on purpose.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Resolution needs no action</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Create a Pod that mounts the claim and the volume is provisioned in the same scheduling decision.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394</a:t>
            </a:r>
          </a:p>
        </p:txBody>
      </p:sp>
    </p:spTree>
  </p:cSld>
  <p:clrMapOvr>
    <a:masterClrMapping/>
  </p:clrMapOvr>
  <p:transition xmlns:ns1="http://schemas.openxmlformats.org/markup-compatibility/2006" spd="fast" ns1:Ignorable="p14">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PVC Pending Because the Class Name Has a Typo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Pending claims, two completely different meanings — the event type separates them.</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 claim stays Pending forever and no PersistentVolume is ever created.</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321"/>
              </a:lnSpc>
              <a:spcAft>
                <a:spcPts val="0"/>
              </a:spcAft>
            </a:pPr>
            <a:r>
              <a:rPr sz="950">
                <a:solidFill>
                  <a:srgbClr val="7EE787"/>
                </a:solidFill>
                <a:latin typeface="Consolas"/>
              </a:rPr>
              <a:t>$ kubectl -n kcna-lab18 get pvc report-claim</a:t>
            </a:r>
          </a:p>
          <a:p>
            <a:pPr>
              <a:lnSpc>
                <a:spcPts val="1321"/>
              </a:lnSpc>
              <a:spcAft>
                <a:spcPts val="0"/>
              </a:spcAft>
            </a:pPr>
            <a:r>
              <a:rPr sz="950">
                <a:solidFill>
                  <a:srgbClr val="E6EDF3"/>
                </a:solidFill>
                <a:latin typeface="Consolas"/>
              </a:rPr>
              <a:t>NAME           STATUS    VOLUME   CAPACITY   STORAGECLASS</a:t>
            </a:r>
          </a:p>
          <a:p>
            <a:pPr>
              <a:lnSpc>
                <a:spcPts val="1321"/>
              </a:lnSpc>
              <a:spcAft>
                <a:spcPts val="0"/>
              </a:spcAft>
            </a:pPr>
            <a:r>
              <a:rPr sz="950">
                <a:solidFill>
                  <a:srgbClr val="E6EDF3"/>
                </a:solidFill>
                <a:latin typeface="Consolas"/>
              </a:rPr>
              <a:t>report-claim   Pending                       tracklane-manul</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-n kcna-lab18 describe pvc report-claim</a:t>
            </a:r>
          </a:p>
          <a:p>
            <a:pPr>
              <a:lnSpc>
                <a:spcPts val="1321"/>
              </a:lnSpc>
              <a:spcAft>
                <a:spcPts val="0"/>
              </a:spcAft>
            </a:pPr>
            <a:r>
              <a:rPr sz="950">
                <a:solidFill>
                  <a:srgbClr val="E6EDF3"/>
                </a:solidFill>
                <a:latin typeface="Consolas"/>
              </a:rPr>
              <a:t>Events:</a:t>
            </a:r>
          </a:p>
          <a:p>
            <a:pPr>
              <a:lnSpc>
                <a:spcPts val="1321"/>
              </a:lnSpc>
              <a:spcAft>
                <a:spcPts val="0"/>
              </a:spcAft>
            </a:pPr>
            <a:r>
              <a:rPr sz="950">
                <a:solidFill>
                  <a:srgbClr val="E6EDF3"/>
                </a:solidFill>
                <a:latin typeface="Consolas"/>
              </a:rPr>
              <a:t>  Type     Reason              Age   Message</a:t>
            </a:r>
          </a:p>
          <a:p>
            <a:pPr>
              <a:lnSpc>
                <a:spcPts val="1321"/>
              </a:lnSpc>
              <a:spcAft>
                <a:spcPts val="0"/>
              </a:spcAft>
            </a:pPr>
            <a:r>
              <a:rPr sz="950">
                <a:solidFill>
                  <a:srgbClr val="E6EDF3"/>
                </a:solidFill>
                <a:latin typeface="Consolas"/>
              </a:rPr>
              <a:t>  ----     ------              ----  -------</a:t>
            </a:r>
          </a:p>
          <a:p>
            <a:pPr>
              <a:lnSpc>
                <a:spcPts val="1321"/>
              </a:lnSpc>
              <a:spcAft>
                <a:spcPts val="0"/>
              </a:spcAft>
            </a:pPr>
            <a:r>
              <a:rPr sz="950">
                <a:solidFill>
                  <a:srgbClr val="E6EDF3"/>
                </a:solidFill>
                <a:latin typeface="Consolas"/>
              </a:rPr>
              <a:t>  Warning  ProvisioningFailed  8s    storageclass.storage.k8s.io</a:t>
            </a:r>
          </a:p>
          <a:p>
            <a:pPr>
              <a:lnSpc>
                <a:spcPts val="1321"/>
              </a:lnSpc>
              <a:spcAft>
                <a:spcPts val="0"/>
              </a:spcAft>
            </a:pPr>
            <a:r>
              <a:rPr sz="950">
                <a:solidFill>
                  <a:srgbClr val="E6EDF3"/>
                </a:solidFill>
                <a:latin typeface="Consolas"/>
              </a:rPr>
              <a:t>                                     "tracklane-manul" not found</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get storageclass</a:t>
            </a:r>
          </a:p>
          <a:p>
            <a:pPr>
              <a:lnSpc>
                <a:spcPts val="1321"/>
              </a:lnSpc>
              <a:spcAft>
                <a:spcPts val="0"/>
              </a:spcAft>
            </a:pPr>
            <a:r>
              <a:rPr sz="950">
                <a:solidFill>
                  <a:srgbClr val="E6EDF3"/>
                </a:solidFill>
                <a:latin typeface="Consolas"/>
              </a:rPr>
              <a:t>NAME                 PROVISIONER            RECLAIMPOLICY</a:t>
            </a:r>
          </a:p>
          <a:p>
            <a:pPr>
              <a:lnSpc>
                <a:spcPts val="1321"/>
              </a:lnSpc>
              <a:spcAft>
                <a:spcPts val="0"/>
              </a:spcAft>
            </a:pPr>
            <a:r>
              <a:rPr sz="950">
                <a:solidFill>
                  <a:srgbClr val="E6EDF3"/>
                </a:solidFill>
                <a:latin typeface="Consolas"/>
              </a:rPr>
              <a:t>standard (default)   rancher.io/local-path  Delete</a:t>
            </a:r>
          </a:p>
          <a:p>
            <a:pPr>
              <a:lnSpc>
                <a:spcPts val="1321"/>
              </a:lnSpc>
              <a:spcAft>
                <a:spcPts val="0"/>
              </a:spcAft>
            </a:pPr>
            <a:r>
              <a:rPr sz="950">
                <a:solidFill>
                  <a:srgbClr val="E6EDF3"/>
                </a:solidFill>
                <a:latin typeface="Consolas"/>
              </a:rPr>
              <a:t>tracklane-retain     rancher.io/local-path  Retain</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storageClassName is a free-text reference with no foreign-key check. 'tracklane-manul' is missing an 'a', so no class matches and nothing provisions the volume.</a:t>
            </a:r>
          </a:p>
        </p:txBody>
      </p:sp>
      <p:sp>
        <p:nvSpPr>
          <p:cNvPr id="18" name="Rectangle 17"/>
          <p:cNvSpPr/>
          <p:nvPr/>
        </p:nvSpPr>
        <p:spPr>
          <a:xfrm>
            <a:off x="7205472" y="3927157"/>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Compare the claim's STORAGECLASS column against kubectl get sc</a:t>
            </a:r>
          </a:p>
          <a:p>
            <a:pPr>
              <a:lnSpc>
                <a:spcPct val="112000"/>
              </a:lnSpc>
              <a:spcAft>
                <a:spcPts val="200"/>
              </a:spcAft>
            </a:pPr>
            <a:r>
              <a:rPr sz="950">
                <a:solidFill>
                  <a:srgbClr val="94A3B8"/>
                </a:solidFill>
                <a:latin typeface="Arial"/>
              </a:rPr>
              <a:t>•  </a:t>
            </a:r>
            <a:r>
              <a:rPr sz="950">
                <a:solidFill>
                  <a:srgbClr val="5B6372"/>
                </a:solidFill>
                <a:latin typeface="Arial"/>
              </a:rPr>
              <a:t>Note that Warning + ProvisioningFailed distinguishes this from the Normal WaitForFirstConsumer case</a:t>
            </a:r>
          </a:p>
          <a:p>
            <a:pPr>
              <a:lnSpc>
                <a:spcPct val="112000"/>
              </a:lnSpc>
              <a:spcAft>
                <a:spcPts val="200"/>
              </a:spcAft>
            </a:pPr>
            <a:r>
              <a:rPr sz="950">
                <a:solidFill>
                  <a:srgbClr val="94A3B8"/>
                </a:solidFill>
                <a:latin typeface="Arial"/>
              </a:rPr>
              <a:t>•  </a:t>
            </a:r>
            <a:r>
              <a:rPr sz="950">
                <a:solidFill>
                  <a:srgbClr val="5B6372"/>
                </a:solidFill>
                <a:latin typeface="Arial"/>
              </a:rPr>
              <a:t>storageClassName is immutable on a bound claim — recreate the PVC with the correct name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395</a:t>
            </a:r>
          </a:p>
        </p:txBody>
      </p:sp>
    </p:spTree>
  </p:cSld>
  <p:clrMapOvr>
    <a:masterClrMapping/>
  </p:clrMapOvr>
  <p:transition xmlns:ns1="http://schemas.openxmlformats.org/markup-compatibility/2006" spd="fast" ns1:Ignorable="p14">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DEFAULTS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Default StorageClass and Its Three-Way Trap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Omitted, empty and named are three distinct states of one field.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Marked by an annotation</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storageclass.kubernetes.io/is-default-class: "true". There should be exactly one such class in the cluster.</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Field omitted entirely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default class is substituted into the claim at admission time and written into spec.storageClassName.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Field set to "" (empty string)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Explicitly opts out of dynamic provisioning. Only a matching pre-created PV can satisfy the claim.</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Field set to a name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That class is used, whether or not it exists — see the previous failure slide.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Two defaults is a defect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more than one class is marked default, the behaviour is not one you want to depend on. Audit it.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 this training cluster</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standard / rancher.io/local-path / Delete / WaitForFirstConsumer — know your environment's default before you design against it.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Storage Classes (kubernetes.io/docs/concepts/storage/storage-classes/).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396</a:t>
            </a:r>
          </a:p>
        </p:txBody>
      </p:sp>
    </p:spTree>
  </p:cSld>
  <p:clrMapOvr>
    <a:masterClrMapping/>
  </p:clrMapOvr>
  <p:transition xmlns:ns1="http://schemas.openxmlformats.org/markup-compatibility/2006" spd="fast" ns1:Ignorable="p14">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Using a PVC in a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lines connect a workload to durable storage — and one of them is a common scaling trap.</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render-cache-deployment.yaml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apps/v1</a:t>
            </a:r>
          </a:p>
          <a:p>
            <a:pPr>
              <a:lnSpc>
                <a:spcPts val="1413"/>
              </a:lnSpc>
              <a:spcAft>
                <a:spcPts val="0"/>
              </a:spcAft>
            </a:pPr>
            <a:r>
              <a:rPr sz="1050">
                <a:solidFill>
                  <a:srgbClr val="E6EDF3"/>
                </a:solidFill>
                <a:latin typeface="Consolas"/>
              </a:rPr>
              <a:t>kind: Deployment</a:t>
            </a:r>
          </a:p>
          <a:p>
            <a:pPr>
              <a:lnSpc>
                <a:spcPts val="1413"/>
              </a:lnSpc>
              <a:spcAft>
                <a:spcPts val="0"/>
              </a:spcAft>
            </a:pPr>
            <a:r>
              <a:rPr sz="1050">
                <a:solidFill>
                  <a:srgbClr val="E6EDF3"/>
                </a:solidFill>
                <a:latin typeface="Consolas"/>
              </a:rPr>
              <a:t>metadata: {name: render-cache}</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template:</a:t>
            </a:r>
          </a:p>
          <a:p>
            <a:pPr>
              <a:lnSpc>
                <a:spcPts val="1413"/>
              </a:lnSpc>
              <a:spcAft>
                <a:spcPts val="0"/>
              </a:spcAft>
            </a:pPr>
            <a:r>
              <a:rPr sz="1050">
                <a:solidFill>
                  <a:srgbClr val="E6EDF3"/>
                </a:solidFill>
                <a:latin typeface="Consolas"/>
              </a:rPr>
              <a:t>    spec:</a:t>
            </a:r>
          </a:p>
          <a:p>
            <a:pPr>
              <a:lnSpc>
                <a:spcPts val="1413"/>
              </a:lnSpc>
              <a:spcAft>
                <a:spcPts val="0"/>
              </a:spcAft>
            </a:pPr>
            <a:r>
              <a:rPr sz="1050">
                <a:solidFill>
                  <a:srgbClr val="E6EDF3"/>
                </a:solidFill>
                <a:latin typeface="Consolas"/>
              </a:rPr>
              <a:t>      containers:</a:t>
            </a:r>
          </a:p>
          <a:p>
            <a:pPr>
              <a:lnSpc>
                <a:spcPts val="1413"/>
              </a:lnSpc>
              <a:spcAft>
                <a:spcPts val="0"/>
              </a:spcAft>
            </a:pPr>
            <a:r>
              <a:rPr sz="1050">
                <a:solidFill>
                  <a:srgbClr val="E6EDF3"/>
                </a:solidFill>
                <a:latin typeface="Consolas"/>
              </a:rPr>
              <a:t>      - name: renderer</a:t>
            </a:r>
          </a:p>
          <a:p>
            <a:pPr>
              <a:lnSpc>
                <a:spcPts val="1413"/>
              </a:lnSpc>
              <a:spcAft>
                <a:spcPts val="0"/>
              </a:spcAft>
            </a:pPr>
            <a:r>
              <a:rPr sz="1050">
                <a:solidFill>
                  <a:srgbClr val="E6EDF3"/>
                </a:solidFill>
                <a:latin typeface="Consolas"/>
              </a:rPr>
              <a:t>        volumeMounts:</a:t>
            </a:r>
          </a:p>
          <a:p>
            <a:pPr>
              <a:lnSpc>
                <a:spcPts val="1413"/>
              </a:lnSpc>
              <a:spcAft>
                <a:spcPts val="0"/>
              </a:spcAft>
            </a:pPr>
            <a:r>
              <a:rPr sz="1050">
                <a:solidFill>
                  <a:srgbClr val="E6EDF3"/>
                </a:solidFill>
                <a:latin typeface="Consolas"/>
              </a:rPr>
              <a:t>        - name: cache</a:t>
            </a:r>
          </a:p>
          <a:p>
            <a:pPr>
              <a:lnSpc>
                <a:spcPts val="1413"/>
              </a:lnSpc>
              <a:spcAft>
                <a:spcPts val="0"/>
              </a:spcAft>
            </a:pPr>
            <a:r>
              <a:rPr sz="1050">
                <a:solidFill>
                  <a:srgbClr val="E6EDF3"/>
                </a:solidFill>
                <a:latin typeface="Consolas"/>
              </a:rPr>
              <a:t>          mountPath: /cache</a:t>
            </a:r>
          </a:p>
          <a:p>
            <a:pPr>
              <a:lnSpc>
                <a:spcPts val="1413"/>
              </a:lnSpc>
              <a:spcAft>
                <a:spcPts val="0"/>
              </a:spcAft>
            </a:pPr>
            <a:r>
              <a:rPr sz="1050">
                <a:solidFill>
                  <a:srgbClr val="E6EDF3"/>
                </a:solidFill>
                <a:latin typeface="Consolas"/>
              </a:rPr>
              <a:t>          subPath: renders</a:t>
            </a:r>
          </a:p>
          <a:p>
            <a:pPr>
              <a:lnSpc>
                <a:spcPts val="1413"/>
              </a:lnSpc>
              <a:spcAft>
                <a:spcPts val="0"/>
              </a:spcAft>
            </a:pPr>
            <a:r>
              <a:rPr sz="1050">
                <a:solidFill>
                  <a:srgbClr val="E6EDF3"/>
                </a:solidFill>
                <a:latin typeface="Consolas"/>
              </a:rPr>
              <a:t>          readOnly: false</a:t>
            </a:r>
          </a:p>
          <a:p>
            <a:pPr>
              <a:lnSpc>
                <a:spcPts val="1413"/>
              </a:lnSpc>
              <a:spcAft>
                <a:spcPts val="0"/>
              </a:spcAft>
            </a:pPr>
            <a:r>
              <a:rPr sz="1050">
                <a:solidFill>
                  <a:srgbClr val="E6EDF3"/>
                </a:solidFill>
                <a:latin typeface="Consolas"/>
              </a:rPr>
              <a:t>      volumes:</a:t>
            </a:r>
          </a:p>
          <a:p>
            <a:pPr>
              <a:lnSpc>
                <a:spcPts val="1413"/>
              </a:lnSpc>
              <a:spcAft>
                <a:spcPts val="0"/>
              </a:spcAft>
            </a:pPr>
            <a:r>
              <a:rPr sz="1050">
                <a:solidFill>
                  <a:srgbClr val="E6EDF3"/>
                </a:solidFill>
                <a:latin typeface="Consolas"/>
              </a:rPr>
              <a:t>      - name: cache</a:t>
            </a:r>
          </a:p>
          <a:p>
            <a:pPr>
              <a:lnSpc>
                <a:spcPts val="1413"/>
              </a:lnSpc>
              <a:spcAft>
                <a:spcPts val="0"/>
              </a:spcAft>
            </a:pPr>
            <a:r>
              <a:rPr sz="1050">
                <a:solidFill>
                  <a:srgbClr val="E6EDF3"/>
                </a:solidFill>
                <a:latin typeface="Consolas"/>
              </a:rPr>
              <a:t>        persistentVolumeClaim:</a:t>
            </a:r>
          </a:p>
          <a:p>
            <a:pPr>
              <a:lnSpc>
                <a:spcPts val="1413"/>
              </a:lnSpc>
              <a:spcAft>
                <a:spcPts val="0"/>
              </a:spcAft>
            </a:pPr>
            <a:r>
              <a:rPr sz="1050">
                <a:solidFill>
                  <a:srgbClr val="E6EDF3"/>
                </a:solidFill>
                <a:latin typeface="Consolas"/>
              </a:rPr>
              <a:t>          claimName: render-cache</a:t>
            </a:r>
          </a:p>
          <a:p>
            <a:pPr>
              <a:lnSpc>
                <a:spcPts val="1413"/>
              </a:lnSpc>
              <a:spcAft>
                <a:spcPts val="0"/>
              </a:spcAft>
            </a:pPr>
            <a:r>
              <a:rPr sz="1050">
                <a:solidFill>
                  <a:srgbClr val="E6EDF3"/>
                </a:solidFill>
                <a:latin typeface="Consolas"/>
              </a:rPr>
              <a:t>          readOnly: false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Pod names the claim, not the volume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claimName is a same-namespace reference. The Pod never knows which PersistentVolume it got.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mountPath is inside the container</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has no relationship to any path on the node or on the backing storage.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subPath mounts a subdirectory</a:t>
            </a:r>
          </a:p>
        </p:txBody>
      </p:sp>
      <p:sp>
        <p:nvSpPr>
          <p:cNvPr id="20" name="TextBox 19"/>
          <p:cNvSpPr txBox="1"/>
          <p:nvPr/>
        </p:nvSpPr>
        <p:spPr>
          <a:xfrm>
            <a:off x="7973567" y="431583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Useful to share one volume between containers without collisions — but subPath mounts do not receive configMap updates.</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 Deployment can use a PVC</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But every replica mounts the SAME claim. With RWO and more than one node that will not schedule.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397</a:t>
            </a:r>
          </a:p>
        </p:txBody>
      </p:sp>
    </p:spTree>
  </p:cSld>
  <p:clrMapOvr>
    <a:masterClrMapping/>
  </p:clrMapOvr>
  <p:transition xmlns:ns1="http://schemas.openxmlformats.org/markup-compatibility/2006" spd="fast" ns1:Ignorable="p14">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18 — PersistentVolumes, Claims and StorageClasses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Give the TrackLane customs archive storage that outlives the Pod that wrote it — first by hand-binding a static PersistentVolume, then by letting a StorageClass provision one dynamically — and diagnose a Pending claim from describe events alone.</a:t>
            </a:r>
          </a:p>
        </p:txBody>
      </p:sp>
      <p:sp>
        <p:nvSpPr>
          <p:cNvPr id="10" name="Rectangle 9"/>
          <p:cNvSpPr/>
          <p:nvPr/>
        </p:nvSpPr>
        <p:spPr>
          <a:xfrm>
            <a:off x="777240" y="2668219"/>
            <a:ext cx="5199278" cy="219931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65067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statically provisioned PV bound to a namespaced PVC, seeded with 30 archive rows by one Pod and read back by a second Pod after the writer was deleted.</a:t>
            </a:r>
          </a:p>
          <a:p>
            <a:pPr>
              <a:lnSpc>
                <a:spcPct val="112000"/>
              </a:lnSpc>
              <a:spcAft>
                <a:spcPts val="500"/>
              </a:spcAft>
            </a:pPr>
            <a:r>
              <a:rPr sz="1050">
                <a:solidFill>
                  <a:srgbClr val="94A3B8"/>
                </a:solidFill>
                <a:latin typeface="Arial"/>
              </a:rPr>
              <a:t>•  </a:t>
            </a:r>
            <a:r>
              <a:rPr sz="1050">
                <a:solidFill>
                  <a:srgbClr val="5B6372"/>
                </a:solidFill>
                <a:latin typeface="Arial"/>
              </a:rPr>
              <a:t>A dynamically provisioned volume from kind's default `standard` StorageClass, observed transitioning from Pending (WaitForFirstConsumer) to Bound the moment a consumer is scheduled.</a:t>
            </a:r>
          </a:p>
          <a:p>
            <a:pPr>
              <a:lnSpc>
                <a:spcPct val="112000"/>
              </a:lnSpc>
              <a:spcAft>
                <a:spcPts val="500"/>
              </a:spcAft>
            </a:pPr>
            <a:r>
              <a:rPr sz="1050">
                <a:solidFill>
                  <a:srgbClr val="94A3B8"/>
                </a:solidFill>
                <a:latin typeface="Arial"/>
              </a:rPr>
              <a:t>•  </a:t>
            </a:r>
            <a:r>
              <a:rPr sz="1050">
                <a:solidFill>
                  <a:srgbClr val="5B6372"/>
                </a:solidFill>
                <a:latin typeface="Arial"/>
              </a:rPr>
              <a:t>A diagnosed Pending PVC whose root cause is a StorageClass name typo, evidenced by a ProvisioningFailed event.</a:t>
            </a:r>
          </a:p>
        </p:txBody>
      </p:sp>
      <p:sp>
        <p:nvSpPr>
          <p:cNvPr id="14" name="Rectangle 13"/>
          <p:cNvSpPr/>
          <p:nvPr/>
        </p:nvSpPr>
        <p:spPr>
          <a:xfrm>
            <a:off x="6276441" y="2668219"/>
            <a:ext cx="5199278" cy="219931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65067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PV/PVC binding: capacity, access modes, volumeMode, storageClassName and claimRef pre-binding</a:t>
            </a:r>
          </a:p>
          <a:p>
            <a:pPr>
              <a:lnSpc>
                <a:spcPct val="112000"/>
              </a:lnSpc>
              <a:spcAft>
                <a:spcPts val="500"/>
              </a:spcAft>
            </a:pPr>
            <a:r>
              <a:rPr sz="1050">
                <a:solidFill>
                  <a:srgbClr val="94A3B8"/>
                </a:solidFill>
                <a:latin typeface="Arial"/>
              </a:rPr>
              <a:t>•  </a:t>
            </a:r>
            <a:r>
              <a:rPr sz="1050">
                <a:solidFill>
                  <a:srgbClr val="5B6372"/>
                </a:solidFill>
                <a:latin typeface="Arial"/>
              </a:rPr>
              <a:t>Reclaim policies Retain vs Delete, and the Released phase</a:t>
            </a:r>
          </a:p>
          <a:p>
            <a:pPr>
              <a:lnSpc>
                <a:spcPct val="112000"/>
              </a:lnSpc>
              <a:spcAft>
                <a:spcPts val="500"/>
              </a:spcAft>
            </a:pPr>
            <a:r>
              <a:rPr sz="1050">
                <a:solidFill>
                  <a:srgbClr val="94A3B8"/>
                </a:solidFill>
                <a:latin typeface="Arial"/>
              </a:rPr>
              <a:t>•  </a:t>
            </a:r>
            <a:r>
              <a:rPr sz="1050">
                <a:solidFill>
                  <a:srgbClr val="5B6372"/>
                </a:solidFill>
                <a:latin typeface="Arial"/>
              </a:rPr>
              <a:t>StorageClass, dynamic provisioning and volumeBindingMode WaitForFirstConsumer</a:t>
            </a:r>
          </a:p>
          <a:p>
            <a:pPr>
              <a:lnSpc>
                <a:spcPct val="112000"/>
              </a:lnSpc>
              <a:spcAft>
                <a:spcPts val="500"/>
              </a:spcAft>
            </a:pPr>
            <a:r>
              <a:rPr sz="1050">
                <a:solidFill>
                  <a:srgbClr val="94A3B8"/>
                </a:solidFill>
                <a:latin typeface="Arial"/>
              </a:rPr>
              <a:t>•  </a:t>
            </a:r>
            <a:r>
              <a:rPr sz="1050">
                <a:solidFill>
                  <a:srgbClr val="5B6372"/>
                </a:solidFill>
                <a:latin typeface="Arial"/>
              </a:rPr>
              <a:t>CSI as the out-of-tree plugin interface between Kubernetes and storage vendors</a:t>
            </a:r>
          </a:p>
        </p:txBody>
      </p:sp>
      <p:sp>
        <p:nvSpPr>
          <p:cNvPr id="18" name="Rectangle 17"/>
          <p:cNvSpPr/>
          <p:nvPr/>
        </p:nvSpPr>
        <p:spPr>
          <a:xfrm>
            <a:off x="777240" y="505041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05041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11442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29730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18</a:t>
            </a:r>
          </a:p>
        </p:txBody>
      </p:sp>
      <p:sp>
        <p:nvSpPr>
          <p:cNvPr id="22" name="Rectangle 21"/>
          <p:cNvSpPr/>
          <p:nvPr/>
        </p:nvSpPr>
        <p:spPr>
          <a:xfrm>
            <a:off x="3488436" y="505041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05041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11442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29730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kcna-lab18</a:t>
            </a:r>
          </a:p>
        </p:txBody>
      </p:sp>
      <p:sp>
        <p:nvSpPr>
          <p:cNvPr id="26" name="Rectangle 25"/>
          <p:cNvSpPr/>
          <p:nvPr/>
        </p:nvSpPr>
        <p:spPr>
          <a:xfrm>
            <a:off x="6199631" y="505041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05041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11442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29730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505041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05041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11442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29730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569049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courseware/labs/lab-18-pv-pvc-storageclass/README.md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398</a:t>
            </a:r>
          </a:p>
        </p:txBody>
      </p:sp>
    </p:spTree>
  </p:cSld>
  <p:clrMapOvr>
    <a:masterClrMapping/>
  </p:clrMapOvr>
  <p:transition xmlns:ns1="http://schemas.openxmlformats.org/markup-compatibility/2006" spd="fast" ns1:Ignorable="p14">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CSI Controller / Node Split and Its Sidecars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driver, two deployments: cluster-wide volume management and per-node mounting are different jobs with different privileges.</a:t>
            </a:r>
          </a:p>
        </p:txBody>
      </p:sp>
      <p:sp>
        <p:nvSpPr>
          <p:cNvPr id="7" name="Rectangle 6"/>
          <p:cNvSpPr/>
          <p:nvPr/>
        </p:nvSpPr>
        <p:spPr>
          <a:xfrm>
            <a:off x="777240" y="2208885"/>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0774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91765"/>
            <a:ext cx="1261872" cy="778560"/>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KUBERNETES CONTROL PLANE</a:t>
            </a:r>
          </a:p>
        </p:txBody>
      </p:sp>
      <p:sp>
        <p:nvSpPr>
          <p:cNvPr id="10" name="Rounded Rectangle 9"/>
          <p:cNvSpPr/>
          <p:nvPr/>
        </p:nvSpPr>
        <p:spPr>
          <a:xfrm>
            <a:off x="2258568"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kube-apiserver</a:t>
            </a:r>
          </a:p>
        </p:txBody>
      </p:sp>
      <p:sp>
        <p:nvSpPr>
          <p:cNvPr id="12" name="TextBox 11"/>
          <p:cNvSpPr txBox="1"/>
          <p:nvPr/>
        </p:nvSpPr>
        <p:spPr>
          <a:xfrm>
            <a:off x="2350008"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Only writer of PV/PVC objects</a:t>
            </a:r>
          </a:p>
        </p:txBody>
      </p:sp>
      <p:sp>
        <p:nvSpPr>
          <p:cNvPr id="13" name="Rounded Rectangle 12"/>
          <p:cNvSpPr/>
          <p:nvPr/>
        </p:nvSpPr>
        <p:spPr>
          <a:xfrm>
            <a:off x="4553712"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645151"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PV controller</a:t>
            </a:r>
          </a:p>
        </p:txBody>
      </p:sp>
      <p:sp>
        <p:nvSpPr>
          <p:cNvPr id="15" name="TextBox 14"/>
          <p:cNvSpPr txBox="1"/>
          <p:nvPr/>
        </p:nvSpPr>
        <p:spPr>
          <a:xfrm>
            <a:off x="4645151"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Binds claims to volumes</a:t>
            </a:r>
          </a:p>
        </p:txBody>
      </p:sp>
      <p:sp>
        <p:nvSpPr>
          <p:cNvPr id="16" name="Rounded Rectangle 15"/>
          <p:cNvSpPr/>
          <p:nvPr/>
        </p:nvSpPr>
        <p:spPr>
          <a:xfrm>
            <a:off x="6848855"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940295"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AttachDetach controller</a:t>
            </a:r>
          </a:p>
        </p:txBody>
      </p:sp>
      <p:sp>
        <p:nvSpPr>
          <p:cNvPr id="18" name="TextBox 17"/>
          <p:cNvSpPr txBox="1"/>
          <p:nvPr/>
        </p:nvSpPr>
        <p:spPr>
          <a:xfrm>
            <a:off x="6940295"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Creates VolumeAttachment</a:t>
            </a:r>
          </a:p>
        </p:txBody>
      </p:sp>
      <p:sp>
        <p:nvSpPr>
          <p:cNvPr id="19" name="Rounded Rectangle 18"/>
          <p:cNvSpPr/>
          <p:nvPr/>
        </p:nvSpPr>
        <p:spPr>
          <a:xfrm>
            <a:off x="9143999"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9235439"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kube-scheduler</a:t>
            </a:r>
          </a:p>
        </p:txBody>
      </p:sp>
      <p:sp>
        <p:nvSpPr>
          <p:cNvPr id="21" name="TextBox 20"/>
          <p:cNvSpPr txBox="1"/>
          <p:nvPr/>
        </p:nvSpPr>
        <p:spPr>
          <a:xfrm>
            <a:off x="9235439"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Honours volume topology</a:t>
            </a:r>
          </a:p>
        </p:txBody>
      </p:sp>
      <p:sp>
        <p:nvSpPr>
          <p:cNvPr id="22" name="Rectangle 21"/>
          <p:cNvSpPr/>
          <p:nvPr/>
        </p:nvSpPr>
        <p:spPr>
          <a:xfrm>
            <a:off x="777240" y="3499510"/>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499510"/>
            <a:ext cx="50292" cy="1107744"/>
          </a:xfrm>
          <a:prstGeom prst="rect">
            <a:avLst/>
          </a:prstGeom>
          <a:solidFill>
            <a:srgbClr val="7C3AED"/>
          </a:solidFill>
          <a:ln>
            <a:noFill/>
          </a:ln>
          <a:effectLst/>
        </p:spPr>
        <p:txBody>
          <a:bodyPr rtlCol="0" anchor="ctr" wrap="square"/>
          <a:lstStyle/>
          <a:p>
            <a:pPr algn="ctr"/>
          </a:p>
        </p:txBody>
      </p:sp>
      <p:sp>
        <p:nvSpPr>
          <p:cNvPr id="24" name="TextBox 23"/>
          <p:cNvSpPr txBox="1"/>
          <p:nvPr/>
        </p:nvSpPr>
        <p:spPr>
          <a:xfrm>
            <a:off x="941832" y="3682390"/>
            <a:ext cx="1261872" cy="778560"/>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CSI CONTROLLER PLUGIN — A DEPLOYMENT</a:t>
            </a:r>
          </a:p>
        </p:txBody>
      </p:sp>
      <p:sp>
        <p:nvSpPr>
          <p:cNvPr id="25" name="Rounded Rectangle 24"/>
          <p:cNvSpPr/>
          <p:nvPr/>
        </p:nvSpPr>
        <p:spPr>
          <a:xfrm>
            <a:off x="225856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235000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external-provisioner</a:t>
            </a:r>
          </a:p>
        </p:txBody>
      </p:sp>
      <p:sp>
        <p:nvSpPr>
          <p:cNvPr id="27" name="TextBox 26"/>
          <p:cNvSpPr txBox="1"/>
          <p:nvPr/>
        </p:nvSpPr>
        <p:spPr>
          <a:xfrm>
            <a:off x="235000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PVC to CreateVolume</a:t>
            </a:r>
          </a:p>
        </p:txBody>
      </p:sp>
      <p:sp>
        <p:nvSpPr>
          <p:cNvPr id="28" name="Rounded Rectangle 27"/>
          <p:cNvSpPr/>
          <p:nvPr/>
        </p:nvSpPr>
        <p:spPr>
          <a:xfrm>
            <a:off x="4094683"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4186123"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external-attacher</a:t>
            </a:r>
          </a:p>
        </p:txBody>
      </p:sp>
      <p:sp>
        <p:nvSpPr>
          <p:cNvPr id="30" name="TextBox 29"/>
          <p:cNvSpPr txBox="1"/>
          <p:nvPr/>
        </p:nvSpPr>
        <p:spPr>
          <a:xfrm>
            <a:off x="4186123"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ControllerPublishVolume</a:t>
            </a:r>
          </a:p>
        </p:txBody>
      </p:sp>
      <p:sp>
        <p:nvSpPr>
          <p:cNvPr id="31" name="Rounded Rectangle 30"/>
          <p:cNvSpPr/>
          <p:nvPr/>
        </p:nvSpPr>
        <p:spPr>
          <a:xfrm>
            <a:off x="593079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2" name="TextBox 31"/>
          <p:cNvSpPr txBox="1"/>
          <p:nvPr/>
        </p:nvSpPr>
        <p:spPr>
          <a:xfrm>
            <a:off x="602223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external-resizer</a:t>
            </a:r>
          </a:p>
        </p:txBody>
      </p:sp>
      <p:sp>
        <p:nvSpPr>
          <p:cNvPr id="33" name="TextBox 32"/>
          <p:cNvSpPr txBox="1"/>
          <p:nvPr/>
        </p:nvSpPr>
        <p:spPr>
          <a:xfrm>
            <a:off x="602223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ControllerExpandVolume</a:t>
            </a:r>
          </a:p>
        </p:txBody>
      </p:sp>
      <p:sp>
        <p:nvSpPr>
          <p:cNvPr id="34" name="Rounded Rectangle 33"/>
          <p:cNvSpPr/>
          <p:nvPr/>
        </p:nvSpPr>
        <p:spPr>
          <a:xfrm>
            <a:off x="7766913"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5" name="TextBox 34"/>
          <p:cNvSpPr txBox="1"/>
          <p:nvPr/>
        </p:nvSpPr>
        <p:spPr>
          <a:xfrm>
            <a:off x="7858353"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external-snapshotter</a:t>
            </a:r>
          </a:p>
        </p:txBody>
      </p:sp>
      <p:sp>
        <p:nvSpPr>
          <p:cNvPr id="36" name="TextBox 35"/>
          <p:cNvSpPr txBox="1"/>
          <p:nvPr/>
        </p:nvSpPr>
        <p:spPr>
          <a:xfrm>
            <a:off x="7858353"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CreateSnapshot</a:t>
            </a:r>
          </a:p>
        </p:txBody>
      </p:sp>
      <p:sp>
        <p:nvSpPr>
          <p:cNvPr id="37" name="Rounded Rectangle 36"/>
          <p:cNvSpPr/>
          <p:nvPr/>
        </p:nvSpPr>
        <p:spPr>
          <a:xfrm>
            <a:off x="960302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8" name="TextBox 37"/>
          <p:cNvSpPr txBox="1"/>
          <p:nvPr/>
        </p:nvSpPr>
        <p:spPr>
          <a:xfrm>
            <a:off x="969446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Driver controller svc</a:t>
            </a:r>
          </a:p>
        </p:txBody>
      </p:sp>
      <p:sp>
        <p:nvSpPr>
          <p:cNvPr id="39" name="TextBox 38"/>
          <p:cNvSpPr txBox="1"/>
          <p:nvPr/>
        </p:nvSpPr>
        <p:spPr>
          <a:xfrm>
            <a:off x="969446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Vendor gRPC endpoint</a:t>
            </a:r>
          </a:p>
        </p:txBody>
      </p:sp>
      <p:sp>
        <p:nvSpPr>
          <p:cNvPr id="40" name="Rectangle 39"/>
          <p:cNvSpPr/>
          <p:nvPr/>
        </p:nvSpPr>
        <p:spPr>
          <a:xfrm>
            <a:off x="777240" y="4790135"/>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41" name="Rectangle 40"/>
          <p:cNvSpPr/>
          <p:nvPr/>
        </p:nvSpPr>
        <p:spPr>
          <a:xfrm>
            <a:off x="777240" y="4790135"/>
            <a:ext cx="50292" cy="1107744"/>
          </a:xfrm>
          <a:prstGeom prst="rect">
            <a:avLst/>
          </a:prstGeom>
          <a:solidFill>
            <a:srgbClr val="10B981"/>
          </a:solidFill>
          <a:ln>
            <a:noFill/>
          </a:ln>
          <a:effectLst/>
        </p:spPr>
        <p:txBody>
          <a:bodyPr rtlCol="0" anchor="ctr" wrap="square"/>
          <a:lstStyle/>
          <a:p>
            <a:pPr algn="ctr"/>
          </a:p>
        </p:txBody>
      </p:sp>
      <p:sp>
        <p:nvSpPr>
          <p:cNvPr id="42" name="TextBox 41"/>
          <p:cNvSpPr txBox="1"/>
          <p:nvPr/>
        </p:nvSpPr>
        <p:spPr>
          <a:xfrm>
            <a:off x="941832" y="4973015"/>
            <a:ext cx="1261872" cy="778560"/>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CSI NODE PLUGIN — A DAEMONSET</a:t>
            </a:r>
          </a:p>
        </p:txBody>
      </p:sp>
      <p:sp>
        <p:nvSpPr>
          <p:cNvPr id="43" name="Rounded Rectangle 42"/>
          <p:cNvSpPr/>
          <p:nvPr/>
        </p:nvSpPr>
        <p:spPr>
          <a:xfrm>
            <a:off x="2258568"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4" name="TextBox 43"/>
          <p:cNvSpPr txBox="1"/>
          <p:nvPr/>
        </p:nvSpPr>
        <p:spPr>
          <a:xfrm>
            <a:off x="2350008"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node-driver-registrar</a:t>
            </a:r>
          </a:p>
        </p:txBody>
      </p:sp>
      <p:sp>
        <p:nvSpPr>
          <p:cNvPr id="45" name="TextBox 44"/>
          <p:cNvSpPr txBox="1"/>
          <p:nvPr/>
        </p:nvSpPr>
        <p:spPr>
          <a:xfrm>
            <a:off x="2350008"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Registers with kubelet</a:t>
            </a:r>
          </a:p>
        </p:txBody>
      </p:sp>
      <p:sp>
        <p:nvSpPr>
          <p:cNvPr id="46" name="Rounded Rectangle 45"/>
          <p:cNvSpPr/>
          <p:nvPr/>
        </p:nvSpPr>
        <p:spPr>
          <a:xfrm>
            <a:off x="4553712"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7" name="TextBox 46"/>
          <p:cNvSpPr txBox="1"/>
          <p:nvPr/>
        </p:nvSpPr>
        <p:spPr>
          <a:xfrm>
            <a:off x="4645151"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Driver node service</a:t>
            </a:r>
          </a:p>
        </p:txBody>
      </p:sp>
      <p:sp>
        <p:nvSpPr>
          <p:cNvPr id="48" name="TextBox 47"/>
          <p:cNvSpPr txBox="1"/>
          <p:nvPr/>
        </p:nvSpPr>
        <p:spPr>
          <a:xfrm>
            <a:off x="4645151"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Stage and publish</a:t>
            </a:r>
          </a:p>
        </p:txBody>
      </p:sp>
      <p:sp>
        <p:nvSpPr>
          <p:cNvPr id="49" name="Rounded Rectangle 48"/>
          <p:cNvSpPr/>
          <p:nvPr/>
        </p:nvSpPr>
        <p:spPr>
          <a:xfrm>
            <a:off x="6848855"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0" name="TextBox 49"/>
          <p:cNvSpPr txBox="1"/>
          <p:nvPr/>
        </p:nvSpPr>
        <p:spPr>
          <a:xfrm>
            <a:off x="6940295"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a:t>
            </a:r>
          </a:p>
        </p:txBody>
      </p:sp>
      <p:sp>
        <p:nvSpPr>
          <p:cNvPr id="51" name="TextBox 50"/>
          <p:cNvSpPr txBox="1"/>
          <p:nvPr/>
        </p:nvSpPr>
        <p:spPr>
          <a:xfrm>
            <a:off x="6940295"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Calls the socket</a:t>
            </a:r>
          </a:p>
        </p:txBody>
      </p:sp>
      <p:sp>
        <p:nvSpPr>
          <p:cNvPr id="52" name="Rounded Rectangle 51"/>
          <p:cNvSpPr/>
          <p:nvPr/>
        </p:nvSpPr>
        <p:spPr>
          <a:xfrm>
            <a:off x="9143999"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3" name="TextBox 52"/>
          <p:cNvSpPr txBox="1"/>
          <p:nvPr/>
        </p:nvSpPr>
        <p:spPr>
          <a:xfrm>
            <a:off x="9235439"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livenessprobe</a:t>
            </a:r>
          </a:p>
        </p:txBody>
      </p:sp>
      <p:sp>
        <p:nvSpPr>
          <p:cNvPr id="54" name="TextBox 53"/>
          <p:cNvSpPr txBox="1"/>
          <p:nvPr/>
        </p:nvSpPr>
        <p:spPr>
          <a:xfrm>
            <a:off x="9235439"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Health of the socket</a:t>
            </a:r>
          </a:p>
        </p:txBody>
      </p:sp>
      <p:sp>
        <p:nvSpPr>
          <p:cNvPr id="55" name="TextBox 5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Container Storage Interface specification (github.com/container-storage-interface/spec) and Kubernetes documentation — Volume Plugin FAQ / CSI Drivers.</a:t>
            </a:r>
          </a:p>
        </p:txBody>
      </p:sp>
      <p:sp>
        <p:nvSpPr>
          <p:cNvPr id="56" name="TextBox 5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7" name="TextBox 5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8" name="TextBox 5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399</a:t>
            </a:r>
          </a:p>
        </p:txBody>
      </p:sp>
    </p:spTree>
  </p:cSld>
  <p:clrMapOvr>
    <a:masterClrMapping/>
  </p:clrMapOvr>
  <p:transition xmlns:ns1="http://schemas.openxmlformats.org/markup-compatibility/2006" spd="fast" ns1:Ignorable="p14">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COMPONENTS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Each Sidecar Watches One Kubernetes Object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never speaks CSI directly — sidecars translate API objects into gRPC calls.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external-provisioner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PersistentVolumeClaims. Calls CreateVolume, then creates the PersistentVolume object that the binder will use.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external-attacher</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VolumeAttachment objects and calls ControllerPublishVolume / ControllerUnpublishVolume.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external-resizer</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for a change to PVC spec.resources.requests.storage and calls ControllerExpandVolume.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external-snapshotter</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Watches VolumeSnapshot and VolumeSnapshotContent; calls CreateSnapshot and DeleteSnapshot.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node-driver-registrar</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Registers the driver's unix socket with the kubelet plugin registry so the kubelet knows the driver exists.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livenessprobe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Exposes the driver's gRPC Probe response as an HTTP endpoint the kubelet can use for a liveness probe.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 Plugin Migration / CSI migration; kubernetes-csi.github.io external sidecar docs.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400</a:t>
            </a:r>
          </a:p>
        </p:txBody>
      </p:sp>
    </p:spTree>
  </p:cSld>
  <p:clrMapOvr>
    <a:masterClrMapping/>
  </p:clrMapOvr>
  <p:transition xmlns:ns1="http://schemas.openxmlformats.org/markup-compatibility/2006" spd="fast" ns1:Ignorable="p14">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RPC Sequence Behind One Mounted Volume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attach steps and two mount steps, each idempotent by specification.</a:t>
            </a:r>
          </a:p>
        </p:txBody>
      </p:sp>
      <p:sp>
        <p:nvSpPr>
          <p:cNvPr id="7" name="Rounded Rectangle 6"/>
          <p:cNvSpPr/>
          <p:nvPr/>
        </p:nvSpPr>
        <p:spPr>
          <a:xfrm>
            <a:off x="7772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CreateVolume</a:t>
            </a:r>
          </a:p>
        </p:txBody>
      </p:sp>
      <p:sp>
        <p:nvSpPr>
          <p:cNvPr id="11" name="TextBox 10"/>
          <p:cNvSpPr txBox="1"/>
          <p:nvPr/>
        </p:nvSpPr>
        <p:spPr>
          <a:xfrm>
            <a:off x="9235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Controller service provisions the volume on the backend and returns a volume handle.</a:t>
            </a:r>
          </a:p>
        </p:txBody>
      </p:sp>
      <p:cxnSp>
        <p:nvCxnSpPr>
          <p:cNvPr id="12" name="Connector 11"/>
          <p:cNvCxnSpPr/>
          <p:nvPr/>
        </p:nvCxnSpPr>
        <p:spPr>
          <a:xfrm>
            <a:off x="271393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ControllerPublishVolume</a:t>
            </a:r>
          </a:p>
        </p:txBody>
      </p:sp>
      <p:sp>
        <p:nvSpPr>
          <p:cNvPr id="17" name="TextBox 16"/>
          <p:cNvSpPr txBox="1"/>
          <p:nvPr/>
        </p:nvSpPr>
        <p:spPr>
          <a:xfrm>
            <a:off x="312541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volume is attached to the chosen node — the cloud-level 'plug it in' step.</a:t>
            </a:r>
          </a:p>
        </p:txBody>
      </p:sp>
      <p:cxnSp>
        <p:nvCxnSpPr>
          <p:cNvPr id="18" name="Connector 17"/>
          <p:cNvCxnSpPr/>
          <p:nvPr/>
        </p:nvCxnSpPr>
        <p:spPr>
          <a:xfrm>
            <a:off x="491581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NodeStageVolume</a:t>
            </a:r>
          </a:p>
        </p:txBody>
      </p:sp>
      <p:sp>
        <p:nvSpPr>
          <p:cNvPr id="23" name="TextBox 22"/>
          <p:cNvSpPr txBox="1"/>
          <p:nvPr/>
        </p:nvSpPr>
        <p:spPr>
          <a:xfrm>
            <a:off x="532729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node service formats if needed and mounts once to a global staging path on that node.</a:t>
            </a:r>
          </a:p>
        </p:txBody>
      </p:sp>
      <p:cxnSp>
        <p:nvCxnSpPr>
          <p:cNvPr id="24" name="Connector 23"/>
          <p:cNvCxnSpPr/>
          <p:nvPr/>
        </p:nvCxnSpPr>
        <p:spPr>
          <a:xfrm>
            <a:off x="711768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NodePublishVolume</a:t>
            </a:r>
          </a:p>
        </p:txBody>
      </p:sp>
      <p:sp>
        <p:nvSpPr>
          <p:cNvPr id="29" name="TextBox 28"/>
          <p:cNvSpPr txBox="1"/>
          <p:nvPr/>
        </p:nvSpPr>
        <p:spPr>
          <a:xfrm>
            <a:off x="752916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bind mount from the staging path into the Pod's directory. Called once per Pod using the volume.</a:t>
            </a:r>
          </a:p>
        </p:txBody>
      </p:sp>
      <p:cxnSp>
        <p:nvCxnSpPr>
          <p:cNvPr id="30" name="Connector 29"/>
          <p:cNvCxnSpPr/>
          <p:nvPr/>
        </p:nvCxnSpPr>
        <p:spPr>
          <a:xfrm>
            <a:off x="931956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Unpublish / Unstage</a:t>
            </a:r>
          </a:p>
        </p:txBody>
      </p:sp>
      <p:sp>
        <p:nvSpPr>
          <p:cNvPr id="35" name="TextBox 34"/>
          <p:cNvSpPr txBox="1"/>
          <p:nvPr/>
        </p:nvSpPr>
        <p:spPr>
          <a:xfrm>
            <a:off x="97310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Teardown runs in exact reverse; only the last Pod triggers NodeUnstageVolume.</a:t>
            </a:r>
          </a:p>
        </p:txBody>
      </p:sp>
      <p:sp>
        <p:nvSpPr>
          <p:cNvPr id="36" name="Rectangle 35"/>
          <p:cNvSpPr/>
          <p:nvPr/>
        </p:nvSpPr>
        <p:spPr>
          <a:xfrm>
            <a:off x="777240" y="4491634"/>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491634"/>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802530"/>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Staging exists so that several Pods on one node can share a single mount of the same volume without mounting it twice.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Container Storage Interface specification (github.com/container-storage-interface/spec) and Kubernetes documentation — Volume Plugin FAQ / CSI Drivers.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401</a:t>
            </a:r>
          </a:p>
        </p:txBody>
      </p:sp>
    </p:spTree>
  </p:cSld>
  <p:clrMapOvr>
    <a:masterClrMapping/>
  </p:clrMapOvr>
  <p:transition xmlns:ns5="http://schemas.openxmlformats.org/markup-compatibility/2006" spd="fast" ns5:Ignorable="p14">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RATIONALE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the In-Tree Drivers Had to Go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An architectural clean-up done without breaking a single user-authored manifest.</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The problems with in-tree storage</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Vendor code shipped inside the kube-controller-manager and kubelet</a:t>
            </a:r>
          </a:p>
          <a:p>
            <a:pPr>
              <a:lnSpc>
                <a:spcPct val="112000"/>
              </a:lnSpc>
              <a:spcAft>
                <a:spcPts val="700"/>
              </a:spcAft>
            </a:pPr>
            <a:r>
              <a:rPr sz="1150">
                <a:solidFill>
                  <a:srgbClr val="94A3B8"/>
                </a:solidFill>
                <a:latin typeface="Arial"/>
              </a:rPr>
              <a:t>•  </a:t>
            </a:r>
            <a:r>
              <a:rPr sz="1150">
                <a:solidFill>
                  <a:srgbClr val="5B6372"/>
                </a:solidFill>
                <a:latin typeface="Arial"/>
              </a:rPr>
              <a:t>A driver bug fix had to wait for a Kubernetes release</a:t>
            </a:r>
          </a:p>
          <a:p>
            <a:pPr>
              <a:lnSpc>
                <a:spcPct val="112000"/>
              </a:lnSpc>
              <a:spcAft>
                <a:spcPts val="700"/>
              </a:spcAft>
            </a:pPr>
            <a:r>
              <a:rPr sz="1150">
                <a:solidFill>
                  <a:srgbClr val="94A3B8"/>
                </a:solidFill>
                <a:latin typeface="Arial"/>
              </a:rPr>
              <a:t>•  </a:t>
            </a:r>
            <a:r>
              <a:rPr sz="1150">
                <a:solidFill>
                  <a:srgbClr val="5B6372"/>
                </a:solidFill>
                <a:latin typeface="Arial"/>
              </a:rPr>
              <a:t>Every cluster carried every vendor's code and its CVE surface</a:t>
            </a:r>
          </a:p>
          <a:p>
            <a:pPr>
              <a:lnSpc>
                <a:spcPct val="112000"/>
              </a:lnSpc>
              <a:spcAft>
                <a:spcPts val="700"/>
              </a:spcAft>
            </a:pPr>
            <a:r>
              <a:rPr sz="1150">
                <a:solidFill>
                  <a:srgbClr val="94A3B8"/>
                </a:solidFill>
                <a:latin typeface="Arial"/>
              </a:rPr>
              <a:t>•  </a:t>
            </a:r>
            <a:r>
              <a:rPr sz="1150">
                <a:solidFill>
                  <a:srgbClr val="5B6372"/>
                </a:solidFill>
                <a:latin typeface="Arial"/>
              </a:rPr>
              <a:t>Cloud credentials had to be readable by core components</a:t>
            </a:r>
          </a:p>
          <a:p>
            <a:pPr>
              <a:lnSpc>
                <a:spcPct val="112000"/>
              </a:lnSpc>
              <a:spcAft>
                <a:spcPts val="700"/>
              </a:spcAft>
            </a:pPr>
            <a:r>
              <a:rPr sz="1150">
                <a:solidFill>
                  <a:srgbClr val="94A3B8"/>
                </a:solidFill>
                <a:latin typeface="Arial"/>
              </a:rPr>
              <a:t>•  </a:t>
            </a:r>
            <a:r>
              <a:rPr sz="1150">
                <a:solidFill>
                  <a:srgbClr val="5B6372"/>
                </a:solidFill>
                <a:latin typeface="Arial"/>
              </a:rPr>
              <a:t>The core repository accumulated code nobody in SIG could test</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CSI migration preserved</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The same PVC and StorageClass YAML keeps working</a:t>
            </a:r>
          </a:p>
          <a:p>
            <a:pPr>
              <a:lnSpc>
                <a:spcPct val="112000"/>
              </a:lnSpc>
              <a:spcAft>
                <a:spcPts val="700"/>
              </a:spcAft>
            </a:pPr>
            <a:r>
              <a:rPr sz="1150">
                <a:solidFill>
                  <a:srgbClr val="94A3B8"/>
                </a:solidFill>
                <a:latin typeface="Arial"/>
              </a:rPr>
              <a:t>•  </a:t>
            </a:r>
            <a:r>
              <a:rPr sz="1150">
                <a:solidFill>
                  <a:srgbClr val="5B6372"/>
                </a:solidFill>
                <a:latin typeface="Arial"/>
              </a:rPr>
              <a:t>In-tree plugin names were transparently redirected to CSI drivers</a:t>
            </a:r>
          </a:p>
          <a:p>
            <a:pPr>
              <a:lnSpc>
                <a:spcPct val="112000"/>
              </a:lnSpc>
              <a:spcAft>
                <a:spcPts val="700"/>
              </a:spcAft>
            </a:pPr>
            <a:r>
              <a:rPr sz="1150">
                <a:solidFill>
                  <a:srgbClr val="94A3B8"/>
                </a:solidFill>
                <a:latin typeface="Arial"/>
              </a:rPr>
              <a:t>•  </a:t>
            </a:r>
            <a:r>
              <a:rPr sz="1150">
                <a:solidFill>
                  <a:srgbClr val="5B6372"/>
                </a:solidFill>
                <a:latin typeface="Arial"/>
              </a:rPr>
              <a:t>Migration graduated per provider, then the in-tree code was removed</a:t>
            </a:r>
          </a:p>
          <a:p>
            <a:pPr>
              <a:lnSpc>
                <a:spcPct val="112000"/>
              </a:lnSpc>
              <a:spcAft>
                <a:spcPts val="700"/>
              </a:spcAft>
            </a:pPr>
            <a:r>
              <a:rPr sz="1150">
                <a:solidFill>
                  <a:srgbClr val="94A3B8"/>
                </a:solidFill>
                <a:latin typeface="Arial"/>
              </a:rPr>
              <a:t>•  </a:t>
            </a:r>
            <a:r>
              <a:rPr sz="1150">
                <a:solidFill>
                  <a:srgbClr val="5B6372"/>
                </a:solidFill>
                <a:latin typeface="Arial"/>
              </a:rPr>
              <a:t>Drivers now release on their own schedule as ordinary workloads</a:t>
            </a:r>
          </a:p>
          <a:p>
            <a:pPr>
              <a:lnSpc>
                <a:spcPct val="112000"/>
              </a:lnSpc>
              <a:spcAft>
                <a:spcPts val="700"/>
              </a:spcAft>
            </a:pPr>
            <a:r>
              <a:rPr sz="1150">
                <a:solidFill>
                  <a:srgbClr val="94A3B8"/>
                </a:solidFill>
                <a:latin typeface="Arial"/>
              </a:rPr>
              <a:t>•  </a:t>
            </a:r>
            <a:r>
              <a:rPr sz="1150">
                <a:solidFill>
                  <a:srgbClr val="5B6372"/>
                </a:solidFill>
                <a:latin typeface="Arial"/>
              </a:rPr>
              <a:t>The extension point is a published spec, not a Kubernetes internal</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 Plugin Migration / CSI migration; kubernetes-csi.github.io external sidecar docs.</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402</a:t>
            </a:r>
          </a:p>
        </p:txBody>
      </p:sp>
    </p:spTree>
  </p:cSld>
  <p:clrMapOvr>
    <a:masterClrMapping/>
  </p:clrMapOvr>
  <p:transition xmlns:ns1="http://schemas.openxmlformats.org/markup-compatibility/2006" spd="fast" ns1:Ignorable="p14">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Capabilities CSI Unlocked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one of these is a driver capability — the API accepts the field, the driver decides whether it works.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Dynamic provisioning</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CreateVolume driven by a StorageClass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Attach / detach</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VolumeAttachment objects, per node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Topology awareness</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allowedTopologies + WaitForFirstConsumer</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Volume snapshots</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snapshot.storage.k8s.io/v1: VolumeSnapshot, VolumeSnapshotClass, VolumeSnapshotContent</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Volume cloning</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PVC dataSource kind: PersistentVolumeClaim</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Online expansion</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allowVolumeExpansion + ControllerExpandVolume</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Inline ephemeral volumes</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csi: block inside Pod.spec.volumes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Generic ephemeral volumes</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ephemeral.volumeClaimTemplate — a PVC scoped to the Pod's life</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Raw block volumes</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volumeMode: Block instead of Filesystem</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Capability discovery</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CSIDriver and CSINode objects in the API</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 Snapshots (snapshot.storage.k8s.io/v1).</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403</a:t>
            </a:r>
          </a:p>
        </p:txBody>
      </p:sp>
    </p:spTree>
  </p:cSld>
  <p:clrMapOvr>
    <a:masterClrMapping/>
  </p:clrMapOvr>
  <p:transition xmlns:ns1="http://schemas.openxmlformats.org/markup-compatibility/2006" spd="fast" ns1:Ignorable="p14">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Snapshot, Then Restore Into a New Claim</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Backup at the storage layer, expressed as ordinary Kubernetes objects.</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snapshot-and-restore.yaml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apiVersion: snapshot.storage.k8s.io/v1</a:t>
            </a:r>
          </a:p>
          <a:p>
            <a:pPr>
              <a:lnSpc>
                <a:spcPts val="1339"/>
              </a:lnSpc>
              <a:spcAft>
                <a:spcPts val="0"/>
              </a:spcAft>
            </a:pPr>
            <a:r>
              <a:rPr sz="1050">
                <a:solidFill>
                  <a:srgbClr val="E6EDF3"/>
                </a:solidFill>
                <a:latin typeface="Consolas"/>
              </a:rPr>
              <a:t>kind: VolumeSnapshot</a:t>
            </a:r>
          </a:p>
          <a:p>
            <a:pPr>
              <a:lnSpc>
                <a:spcPts val="1339"/>
              </a:lnSpc>
              <a:spcAft>
                <a:spcPts val="0"/>
              </a:spcAft>
            </a:pPr>
            <a:r>
              <a:rPr sz="1050">
                <a:solidFill>
                  <a:srgbClr val="E6EDF3"/>
                </a:solidFill>
                <a:latin typeface="Consolas"/>
              </a:rPr>
              <a:t>metadata:</a:t>
            </a:r>
          </a:p>
          <a:p>
            <a:pPr>
              <a:lnSpc>
                <a:spcPts val="1339"/>
              </a:lnSpc>
              <a:spcAft>
                <a:spcPts val="0"/>
              </a:spcAft>
            </a:pPr>
            <a:r>
              <a:rPr sz="1050">
                <a:solidFill>
                  <a:srgbClr val="E6EDF3"/>
                </a:solidFill>
                <a:latin typeface="Consolas"/>
              </a:rPr>
              <a:t>  name: archive-2026-09-05</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volumeSnapshotClassName: csi-hostpath-snapclass</a:t>
            </a:r>
          </a:p>
          <a:p>
            <a:pPr>
              <a:lnSpc>
                <a:spcPts val="1339"/>
              </a:lnSpc>
              <a:spcAft>
                <a:spcPts val="0"/>
              </a:spcAft>
            </a:pPr>
            <a:r>
              <a:rPr sz="1050">
                <a:solidFill>
                  <a:srgbClr val="E6EDF3"/>
                </a:solidFill>
                <a:latin typeface="Consolas"/>
              </a:rPr>
              <a:t>  source:</a:t>
            </a:r>
          </a:p>
          <a:p>
            <a:pPr>
              <a:lnSpc>
                <a:spcPts val="1339"/>
              </a:lnSpc>
              <a:spcAft>
                <a:spcPts val="0"/>
              </a:spcAft>
            </a:pPr>
            <a:r>
              <a:rPr sz="1050">
                <a:solidFill>
                  <a:srgbClr val="E6EDF3"/>
                </a:solidFill>
                <a:latin typeface="Consolas"/>
              </a:rPr>
              <a:t>    persistentVolumeClaimName: archive-claim</a:t>
            </a:r>
          </a:p>
          <a:p>
            <a:pPr>
              <a:lnSpc>
                <a:spcPts val="1339"/>
              </a:lnSpc>
              <a:spcAft>
                <a:spcPts val="0"/>
              </a:spcAft>
            </a:pPr>
            <a:r>
              <a:rPr sz="1050">
                <a:solidFill>
                  <a:srgbClr val="E6EDF3"/>
                </a:solidFill>
                <a:latin typeface="Consolas"/>
              </a:rPr>
              <a:t>---</a:t>
            </a:r>
          </a:p>
          <a:p>
            <a:pPr>
              <a:lnSpc>
                <a:spcPts val="1339"/>
              </a:lnSpc>
              <a:spcAft>
                <a:spcPts val="0"/>
              </a:spcAft>
            </a:pPr>
            <a:r>
              <a:rPr sz="1050">
                <a:solidFill>
                  <a:srgbClr val="E6EDF3"/>
                </a:solidFill>
                <a:latin typeface="Consolas"/>
              </a:rPr>
              <a:t>apiVersion: v1</a:t>
            </a:r>
          </a:p>
          <a:p>
            <a:pPr>
              <a:lnSpc>
                <a:spcPts val="1339"/>
              </a:lnSpc>
              <a:spcAft>
                <a:spcPts val="0"/>
              </a:spcAft>
            </a:pPr>
            <a:r>
              <a:rPr sz="1050">
                <a:solidFill>
                  <a:srgbClr val="E6EDF3"/>
                </a:solidFill>
                <a:latin typeface="Consolas"/>
              </a:rPr>
              <a:t>kind: PersistentVolumeClaim</a:t>
            </a:r>
          </a:p>
          <a:p>
            <a:pPr>
              <a:lnSpc>
                <a:spcPts val="1339"/>
              </a:lnSpc>
              <a:spcAft>
                <a:spcPts val="0"/>
              </a:spcAft>
            </a:pPr>
            <a:r>
              <a:rPr sz="1050">
                <a:solidFill>
                  <a:srgbClr val="E6EDF3"/>
                </a:solidFill>
                <a:latin typeface="Consolas"/>
              </a:rPr>
              <a:t>metadata: {name: archive-restore}</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accessModes: [ReadWriteOnce]</a:t>
            </a:r>
          </a:p>
          <a:p>
            <a:pPr>
              <a:lnSpc>
                <a:spcPts val="1339"/>
              </a:lnSpc>
              <a:spcAft>
                <a:spcPts val="0"/>
              </a:spcAft>
            </a:pPr>
            <a:r>
              <a:rPr sz="1050">
                <a:solidFill>
                  <a:srgbClr val="E6EDF3"/>
                </a:solidFill>
                <a:latin typeface="Consolas"/>
              </a:rPr>
              <a:t>  resources: {requests: {storage: 1Gi}}</a:t>
            </a:r>
          </a:p>
          <a:p>
            <a:pPr>
              <a:lnSpc>
                <a:spcPts val="1339"/>
              </a:lnSpc>
              <a:spcAft>
                <a:spcPts val="0"/>
              </a:spcAft>
            </a:pPr>
            <a:r>
              <a:rPr sz="1050">
                <a:solidFill>
                  <a:srgbClr val="E6EDF3"/>
                </a:solidFill>
                <a:latin typeface="Consolas"/>
              </a:rPr>
              <a:t>  dataSource:</a:t>
            </a:r>
          </a:p>
          <a:p>
            <a:pPr>
              <a:lnSpc>
                <a:spcPts val="1339"/>
              </a:lnSpc>
              <a:spcAft>
                <a:spcPts val="0"/>
              </a:spcAft>
            </a:pPr>
            <a:r>
              <a:rPr sz="1050">
                <a:solidFill>
                  <a:srgbClr val="E6EDF3"/>
                </a:solidFill>
                <a:latin typeface="Consolas"/>
              </a:rPr>
              <a:t>    apiGroup: snapshot.storage.k8s.io</a:t>
            </a:r>
          </a:p>
          <a:p>
            <a:pPr>
              <a:lnSpc>
                <a:spcPts val="1339"/>
              </a:lnSpc>
              <a:spcAft>
                <a:spcPts val="0"/>
              </a:spcAft>
            </a:pPr>
            <a:r>
              <a:rPr sz="1050">
                <a:solidFill>
                  <a:srgbClr val="E6EDF3"/>
                </a:solidFill>
                <a:latin typeface="Consolas"/>
              </a:rPr>
              <a:t>    kind: VolumeSnapshot</a:t>
            </a:r>
          </a:p>
          <a:p>
            <a:pPr>
              <a:lnSpc>
                <a:spcPts val="1339"/>
              </a:lnSpc>
              <a:spcAft>
                <a:spcPts val="0"/>
              </a:spcAft>
            </a:pPr>
            <a:r>
              <a:rPr sz="1050">
                <a:solidFill>
                  <a:srgbClr val="E6EDF3"/>
                </a:solidFill>
                <a:latin typeface="Consolas"/>
              </a:rPr>
              <a:t>    name: archive-2026-09-05</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7C3AED"/>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Snapshots are namespaced</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VolumeSnapshot lives beside the claim; VolumeSnapshotContent is the cluster-scoped counterpart, like PV to PVC.</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readyToUse gates the restore</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status.readyToUse must be true before the snapshot can be used as a data source.</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dataSource creates a new volume</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restore is a fresh PVC and a fresh PV — it never overwrites the source claim.</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Requires CRDs and a controller</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snapshot API is not built into the API server; it is CRDs plus the external-snapshotter.</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Volume Snapshots (snapshot.storage.k8s.io/v1).</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404</a:t>
            </a:r>
          </a:p>
        </p:txBody>
      </p:sp>
    </p:spTree>
  </p:cSld>
  <p:clrMapOvr>
    <a:masterClrMapping/>
  </p:clrMapOvr>
  <p:transition xmlns:ns1="http://schemas.openxmlformats.org/markup-compatibility/2006" spd="fast" ns1:Ignorable="p14">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Volume Expansion — Grow Only, Never Shrink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actors touch one number: you, the resizer, the backend and the node.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class must permit it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allowVolumeExpansion: true on the StorageClass. Without it the API server rejects the edit outright.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You edit the claim</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Increase spec.resources.requests.storage on the bound PVC. The PV is updated for you; you never edit it directly.</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Controller expands the volume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external-resizer calls ControllerExpandVolume against the storage backend.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Then the filesystem grows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node service runs NodeExpandVolume. Until it does, the PVC carries the FileSystemResizePending condition.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Some drivers need a restart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Offline expansion requires the Pod to be recreated; online expansion does not. This is a driver property.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Shrinking is not supported</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Reducing requests.storage is rejected. Plan capacity, or restore into a smaller volume from a snapshot.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Persistent Volumes (kubernetes.io/docs/concepts/storage/persistent-volumes/).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405</a:t>
            </a:r>
          </a:p>
        </p:txBody>
      </p:sp>
    </p:spTree>
  </p:cSld>
  <p:clrMapOvr>
    <a:masterClrMapping/>
  </p:clrMapOvr>
  <p:transition xmlns:ns1="http://schemas.openxmlformats.org/markup-compatibility/2006" spd="fast" ns1:Ignorable="p14">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volumeClaimTemplates — One PVC per Ordinal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only workload API that provisions storage per replica.</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depot-ledger-statefulset.yaml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211"/>
              </a:lnSpc>
              <a:spcAft>
                <a:spcPts val="0"/>
              </a:spcAft>
            </a:pPr>
            <a:r>
              <a:rPr sz="1050">
                <a:solidFill>
                  <a:srgbClr val="E6EDF3"/>
                </a:solidFill>
                <a:latin typeface="Consolas"/>
              </a:rPr>
              <a:t>apiVersion: apps/v1</a:t>
            </a:r>
          </a:p>
          <a:p>
            <a:pPr>
              <a:lnSpc>
                <a:spcPts val="1211"/>
              </a:lnSpc>
              <a:spcAft>
                <a:spcPts val="0"/>
              </a:spcAft>
            </a:pPr>
            <a:r>
              <a:rPr sz="1050">
                <a:solidFill>
                  <a:srgbClr val="E6EDF3"/>
                </a:solidFill>
                <a:latin typeface="Consolas"/>
              </a:rPr>
              <a:t>kind: StatefulSet</a:t>
            </a:r>
          </a:p>
          <a:p>
            <a:pPr>
              <a:lnSpc>
                <a:spcPts val="1211"/>
              </a:lnSpc>
              <a:spcAft>
                <a:spcPts val="0"/>
              </a:spcAft>
            </a:pPr>
            <a:r>
              <a:rPr sz="1050">
                <a:solidFill>
                  <a:srgbClr val="E6EDF3"/>
                </a:solidFill>
                <a:latin typeface="Consolas"/>
              </a:rPr>
              <a:t>metadata: {name: depot-ledger}</a:t>
            </a:r>
          </a:p>
          <a:p>
            <a:pPr>
              <a:lnSpc>
                <a:spcPts val="1211"/>
              </a:lnSpc>
              <a:spcAft>
                <a:spcPts val="0"/>
              </a:spcAft>
            </a:pPr>
            <a:r>
              <a:rPr sz="1050">
                <a:solidFill>
                  <a:srgbClr val="E6EDF3"/>
                </a:solidFill>
                <a:latin typeface="Consolas"/>
              </a:rPr>
              <a:t>spec:</a:t>
            </a:r>
          </a:p>
          <a:p>
            <a:pPr>
              <a:lnSpc>
                <a:spcPts val="1211"/>
              </a:lnSpc>
              <a:spcAft>
                <a:spcPts val="0"/>
              </a:spcAft>
            </a:pPr>
            <a:r>
              <a:rPr sz="1050">
                <a:solidFill>
                  <a:srgbClr val="E6EDF3"/>
                </a:solidFill>
                <a:latin typeface="Consolas"/>
              </a:rPr>
              <a:t>  serviceName: depot-ledger      # the headless Service</a:t>
            </a:r>
          </a:p>
          <a:p>
            <a:pPr>
              <a:lnSpc>
                <a:spcPts val="1211"/>
              </a:lnSpc>
              <a:spcAft>
                <a:spcPts val="0"/>
              </a:spcAft>
            </a:pPr>
            <a:r>
              <a:rPr sz="1050">
                <a:solidFill>
                  <a:srgbClr val="E6EDF3"/>
                </a:solidFill>
                <a:latin typeface="Consolas"/>
              </a:rPr>
              <a:t>  replicas: 3</a:t>
            </a:r>
          </a:p>
          <a:p>
            <a:pPr>
              <a:lnSpc>
                <a:spcPts val="1211"/>
              </a:lnSpc>
              <a:spcAft>
                <a:spcPts val="0"/>
              </a:spcAft>
            </a:pPr>
            <a:r>
              <a:rPr sz="1050">
                <a:solidFill>
                  <a:srgbClr val="E6EDF3"/>
                </a:solidFill>
                <a:latin typeface="Consolas"/>
              </a:rPr>
              <a:t>  podManagementPolicy: OrderedReady</a:t>
            </a:r>
          </a:p>
          <a:p>
            <a:pPr>
              <a:lnSpc>
                <a:spcPts val="1211"/>
              </a:lnSpc>
              <a:spcAft>
                <a:spcPts val="0"/>
              </a:spcAft>
            </a:pPr>
            <a:r>
              <a:rPr sz="1050">
                <a:solidFill>
                  <a:srgbClr val="E6EDF3"/>
                </a:solidFill>
                <a:latin typeface="Consolas"/>
              </a:rPr>
              <a:t>  persistentVolumeClaimRetentionPolicy:</a:t>
            </a:r>
          </a:p>
          <a:p>
            <a:pPr>
              <a:lnSpc>
                <a:spcPts val="1211"/>
              </a:lnSpc>
              <a:spcAft>
                <a:spcPts val="0"/>
              </a:spcAft>
            </a:pPr>
            <a:r>
              <a:rPr sz="1050">
                <a:solidFill>
                  <a:srgbClr val="E6EDF3"/>
                </a:solidFill>
                <a:latin typeface="Consolas"/>
              </a:rPr>
              <a:t>    whenDeleted: Retain</a:t>
            </a:r>
          </a:p>
          <a:p>
            <a:pPr>
              <a:lnSpc>
                <a:spcPts val="1211"/>
              </a:lnSpc>
              <a:spcAft>
                <a:spcPts val="0"/>
              </a:spcAft>
            </a:pPr>
            <a:r>
              <a:rPr sz="1050">
                <a:solidFill>
                  <a:srgbClr val="E6EDF3"/>
                </a:solidFill>
                <a:latin typeface="Consolas"/>
              </a:rPr>
              <a:t>    whenScaled: Retain</a:t>
            </a:r>
          </a:p>
          <a:p>
            <a:pPr>
              <a:lnSpc>
                <a:spcPts val="1211"/>
              </a:lnSpc>
              <a:spcAft>
                <a:spcPts val="0"/>
              </a:spcAft>
            </a:pPr>
            <a:r>
              <a:rPr sz="1050">
                <a:solidFill>
                  <a:srgbClr val="E6EDF3"/>
                </a:solidFill>
                <a:latin typeface="Consolas"/>
              </a:rPr>
              <a:t>  template:</a:t>
            </a:r>
          </a:p>
          <a:p>
            <a:pPr>
              <a:lnSpc>
                <a:spcPts val="1211"/>
              </a:lnSpc>
              <a:spcAft>
                <a:spcPts val="0"/>
              </a:spcAft>
            </a:pPr>
            <a:r>
              <a:rPr sz="1050">
                <a:solidFill>
                  <a:srgbClr val="E6EDF3"/>
                </a:solidFill>
                <a:latin typeface="Consolas"/>
              </a:rPr>
              <a:t>    spec:</a:t>
            </a:r>
          </a:p>
          <a:p>
            <a:pPr>
              <a:lnSpc>
                <a:spcPts val="1211"/>
              </a:lnSpc>
              <a:spcAft>
                <a:spcPts val="0"/>
              </a:spcAft>
            </a:pPr>
            <a:r>
              <a:rPr sz="1050">
                <a:solidFill>
                  <a:srgbClr val="E6EDF3"/>
                </a:solidFill>
                <a:latin typeface="Consolas"/>
              </a:rPr>
              <a:t>      containers:</a:t>
            </a:r>
          </a:p>
          <a:p>
            <a:pPr>
              <a:lnSpc>
                <a:spcPts val="1211"/>
              </a:lnSpc>
              <a:spcAft>
                <a:spcPts val="0"/>
              </a:spcAft>
            </a:pPr>
            <a:r>
              <a:rPr sz="1050">
                <a:solidFill>
                  <a:srgbClr val="E6EDF3"/>
                </a:solidFill>
                <a:latin typeface="Consolas"/>
              </a:rPr>
              <a:t>      - name: ledger</a:t>
            </a:r>
          </a:p>
          <a:p>
            <a:pPr>
              <a:lnSpc>
                <a:spcPts val="1211"/>
              </a:lnSpc>
              <a:spcAft>
                <a:spcPts val="0"/>
              </a:spcAft>
            </a:pPr>
            <a:r>
              <a:rPr sz="1050">
                <a:solidFill>
                  <a:srgbClr val="E6EDF3"/>
                </a:solidFill>
                <a:latin typeface="Consolas"/>
              </a:rPr>
              <a:t>        volumeMounts:</a:t>
            </a:r>
          </a:p>
          <a:p>
            <a:pPr>
              <a:lnSpc>
                <a:spcPts val="1211"/>
              </a:lnSpc>
              <a:spcAft>
                <a:spcPts val="0"/>
              </a:spcAft>
            </a:pPr>
            <a:r>
              <a:rPr sz="1050">
                <a:solidFill>
                  <a:srgbClr val="E6EDF3"/>
                </a:solidFill>
                <a:latin typeface="Consolas"/>
              </a:rPr>
              <a:t>        - {name: ledger, mountPath: /var/lib/ledger}</a:t>
            </a:r>
          </a:p>
          <a:p>
            <a:pPr>
              <a:lnSpc>
                <a:spcPts val="1211"/>
              </a:lnSpc>
              <a:spcAft>
                <a:spcPts val="0"/>
              </a:spcAft>
            </a:pPr>
            <a:r>
              <a:rPr sz="1050">
                <a:solidFill>
                  <a:srgbClr val="E6EDF3"/>
                </a:solidFill>
                <a:latin typeface="Consolas"/>
              </a:rPr>
              <a:t>  volumeClaimTemplates:</a:t>
            </a:r>
          </a:p>
          <a:p>
            <a:pPr>
              <a:lnSpc>
                <a:spcPts val="1211"/>
              </a:lnSpc>
              <a:spcAft>
                <a:spcPts val="0"/>
              </a:spcAft>
            </a:pPr>
            <a:r>
              <a:rPr sz="1050">
                <a:solidFill>
                  <a:srgbClr val="E6EDF3"/>
                </a:solidFill>
                <a:latin typeface="Consolas"/>
              </a:rPr>
              <a:t>  - metadata: {name: ledger}</a:t>
            </a:r>
          </a:p>
          <a:p>
            <a:pPr>
              <a:lnSpc>
                <a:spcPts val="1211"/>
              </a:lnSpc>
              <a:spcAft>
                <a:spcPts val="0"/>
              </a:spcAft>
            </a:pPr>
            <a:r>
              <a:rPr sz="1050">
                <a:solidFill>
                  <a:srgbClr val="E6EDF3"/>
                </a:solidFill>
                <a:latin typeface="Consolas"/>
              </a:rPr>
              <a:t>    spec:</a:t>
            </a:r>
          </a:p>
          <a:p>
            <a:pPr>
              <a:lnSpc>
                <a:spcPts val="1211"/>
              </a:lnSpc>
              <a:spcAft>
                <a:spcPts val="0"/>
              </a:spcAft>
            </a:pPr>
            <a:r>
              <a:rPr sz="1050">
                <a:solidFill>
                  <a:srgbClr val="E6EDF3"/>
                </a:solidFill>
                <a:latin typeface="Consolas"/>
              </a:rPr>
              <a:t>      accessModes: [ReadWriteOnce]</a:t>
            </a:r>
          </a:p>
          <a:p>
            <a:pPr>
              <a:lnSpc>
                <a:spcPts val="1211"/>
              </a:lnSpc>
              <a:spcAft>
                <a:spcPts val="0"/>
              </a:spcAft>
            </a:pPr>
            <a:r>
              <a:rPr sz="1050">
                <a:solidFill>
                  <a:srgbClr val="E6EDF3"/>
                </a:solidFill>
                <a:latin typeface="Consolas"/>
              </a:rPr>
              <a:t>      resources: {requests: {storage: 128Mi}}</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7C3AED"/>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is a template, not a claim</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controller creates one real PVC per ordinal, named &lt;template&gt;-&lt;statefulset&gt;-&lt;ordinal&gt;.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binding is sticky</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depot-ledger-1 always remounts ledger-depot-ledger-1, even after deletion and rescheduling to another node.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Retention policy is the safety net</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Retain/Retain means the claims outlive both scale-down and the StatefulSet itself.</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serviceName is mandatory</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names the headless Service that gives each ordinal its stable DNS record.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StatefulSets; StatefulSet.spec.persistentVolumeClaimRetentionPolicy.</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406</a:t>
            </a:r>
          </a:p>
        </p:txBody>
      </p:sp>
    </p:spTree>
  </p:cSld>
  <p:clrMapOvr>
    <a:masterClrMapping/>
  </p:clrMapOvr>
  <p:transition xmlns:ns1="http://schemas.openxmlformats.org/markup-compatibility/2006" spd="fast" ns1:Ignorable="p14">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One Claim per Ordinal, Named Predictably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Stable name plus stable claim equals stable identity.</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kcna-lab19</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kcna-lab19 get pod,pvc</a:t>
            </a:r>
          </a:p>
          <a:p>
            <a:pPr>
              <a:lnSpc>
                <a:spcPts val="1476"/>
              </a:lnSpc>
              <a:spcAft>
                <a:spcPts val="0"/>
              </a:spcAft>
            </a:pPr>
            <a:r>
              <a:rPr sz="1000">
                <a:solidFill>
                  <a:srgbClr val="E6EDF3"/>
                </a:solidFill>
                <a:latin typeface="Consolas"/>
              </a:rPr>
              <a:t>NAME                 READY   STATUS    AGE</a:t>
            </a:r>
          </a:p>
          <a:p>
            <a:pPr>
              <a:lnSpc>
                <a:spcPts val="1476"/>
              </a:lnSpc>
              <a:spcAft>
                <a:spcPts val="0"/>
              </a:spcAft>
            </a:pPr>
            <a:r>
              <a:rPr sz="1000">
                <a:solidFill>
                  <a:srgbClr val="E6EDF3"/>
                </a:solidFill>
                <a:latin typeface="Consolas"/>
              </a:rPr>
              <a:t>pod/depot-ledger-0   1/1     Running   3m</a:t>
            </a:r>
          </a:p>
          <a:p>
            <a:pPr>
              <a:lnSpc>
                <a:spcPts val="1476"/>
              </a:lnSpc>
              <a:spcAft>
                <a:spcPts val="0"/>
              </a:spcAft>
            </a:pPr>
            <a:r>
              <a:rPr sz="1000">
                <a:solidFill>
                  <a:srgbClr val="E6EDF3"/>
                </a:solidFill>
                <a:latin typeface="Consolas"/>
              </a:rPr>
              <a:t>pod/depot-ledger-1   1/1     Running   2m52s</a:t>
            </a:r>
          </a:p>
          <a:p>
            <a:pPr>
              <a:lnSpc>
                <a:spcPts val="1476"/>
              </a:lnSpc>
              <a:spcAft>
                <a:spcPts val="0"/>
              </a:spcAft>
            </a:pPr>
            <a:r>
              <a:rPr sz="1000">
                <a:solidFill>
                  <a:srgbClr val="E6EDF3"/>
                </a:solidFill>
                <a:latin typeface="Consolas"/>
              </a:rPr>
              <a:t>pod/depot-ledger-2   1/1     Running   2m44s</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E6EDF3"/>
                </a:solidFill>
                <a:latin typeface="Consolas"/>
              </a:rPr>
              <a:t>NAME                             STATUS   VOLUME       CAPACITY</a:t>
            </a:r>
          </a:p>
          <a:p>
            <a:pPr>
              <a:lnSpc>
                <a:spcPts val="1476"/>
              </a:lnSpc>
              <a:spcAft>
                <a:spcPts val="0"/>
              </a:spcAft>
            </a:pPr>
            <a:r>
              <a:rPr sz="1000">
                <a:solidFill>
                  <a:srgbClr val="E6EDF3"/>
                </a:solidFill>
                <a:latin typeface="Consolas"/>
              </a:rPr>
              <a:t>pvc/ledger-depot-ledger-0        Bound    pvc-4a1c..   128Mi</a:t>
            </a:r>
          </a:p>
          <a:p>
            <a:pPr>
              <a:lnSpc>
                <a:spcPts val="1476"/>
              </a:lnSpc>
              <a:spcAft>
                <a:spcPts val="0"/>
              </a:spcAft>
            </a:pPr>
            <a:r>
              <a:rPr sz="1000">
                <a:solidFill>
                  <a:srgbClr val="E6EDF3"/>
                </a:solidFill>
                <a:latin typeface="Consolas"/>
              </a:rPr>
              <a:t>pvc/ledger-depot-ledger-1        Bound    pvc-9e77..   128Mi</a:t>
            </a:r>
          </a:p>
          <a:p>
            <a:pPr>
              <a:lnSpc>
                <a:spcPts val="1476"/>
              </a:lnSpc>
              <a:spcAft>
                <a:spcPts val="0"/>
              </a:spcAft>
            </a:pPr>
            <a:r>
              <a:rPr sz="1000">
                <a:solidFill>
                  <a:srgbClr val="E6EDF3"/>
                </a:solidFill>
                <a:latin typeface="Consolas"/>
              </a:rPr>
              <a:t>pvc/ledger-depot-ledger-2        Bound    pvc-2b30..   128Mi</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kcna-lab19 exec depot-ledger-1 -- cat /var/lib/ledger/mounts.log</a:t>
            </a:r>
          </a:p>
          <a:p>
            <a:pPr>
              <a:lnSpc>
                <a:spcPts val="1476"/>
              </a:lnSpc>
              <a:spcAft>
                <a:spcPts val="0"/>
              </a:spcAft>
            </a:pPr>
            <a:r>
              <a:rPr sz="1000">
                <a:solidFill>
                  <a:srgbClr val="E6EDF3"/>
                </a:solidFill>
                <a:latin typeface="Consolas"/>
              </a:rPr>
              <a:t>2026-09-05T07:14:02Z mounted by depot-ledger-1</a:t>
            </a:r>
          </a:p>
          <a:p>
            <a:pPr>
              <a:lnSpc>
                <a:spcPts val="1476"/>
              </a:lnSpc>
              <a:spcAft>
                <a:spcPts val="0"/>
              </a:spcAft>
            </a:pPr>
            <a:r>
              <a:rPr sz="1000">
                <a:solidFill>
                  <a:srgbClr val="E6EDF3"/>
                </a:solidFill>
                <a:latin typeface="Consolas"/>
              </a:rPr>
              <a:t>2026-09-05T07:21:36Z mounted by depot-ledger-1   # after deletion</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name encodes the identity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&lt;claimTemplate&gt;-&lt;statefulSet&gt;-&lt;ordinal&gt;: entirely derivable, which is what makes reattachment deterministic.</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Ages are staggered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OrderedReady creates 0, then 1, then 2 — each waits for the previous Pod to become Ready.</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mount records, one volume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Pod was deleted and recreated on a different IP, yet the same volume came back with its data.</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Capacity is per ordinal</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Three claims of 128Mi, not one shared 384Mi volume.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407</a:t>
            </a:r>
          </a:p>
        </p:txBody>
      </p:sp>
    </p:spTree>
  </p:cSld>
  <p:clrMapOvr>
    <a:masterClrMapping/>
  </p:clrMapOvr>
  <p:transition xmlns:ns1="http://schemas.openxmlformats.org/markup-compatibility/2006" spd="fast" ns1:Ignorable="p14">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ARITHMETIC</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PVCs Do Not Disappear When You Scale Down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worked model of the documented retention policy, not a measurement.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Object count</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Exact, not measured</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Derived from the documented persistentVolumeClaimRetentionPolicy semantics applied to a 3-to-5-to-1 scaling sequence.</a:t>
            </a:r>
          </a:p>
        </p:txBody>
      </p:sp>
      <p:sp>
        <p:nvSpPr>
          <p:cNvPr id="14" name="Rectangle 13"/>
          <p:cNvSpPr/>
          <p:nvPr/>
        </p:nvSpPr>
        <p:spPr>
          <a:xfrm>
            <a:off x="7927848" y="34620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437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Retain is the default</a:t>
            </a:r>
          </a:p>
        </p:txBody>
      </p:sp>
      <p:sp>
        <p:nvSpPr>
          <p:cNvPr id="16" name="TextBox 15"/>
          <p:cNvSpPr txBox="1"/>
          <p:nvPr/>
        </p:nvSpPr>
        <p:spPr>
          <a:xfrm>
            <a:off x="8092440" y="36631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Both whenScaled and whenDeleted default to Retain, so claims accumulate unless you opt out.</a:t>
            </a:r>
          </a:p>
        </p:txBody>
      </p:sp>
      <p:sp>
        <p:nvSpPr>
          <p:cNvPr id="17" name="Rectangle 16"/>
          <p:cNvSpPr/>
          <p:nvPr/>
        </p:nvSpPr>
        <p:spPr>
          <a:xfrm>
            <a:off x="7927848" y="41569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1386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Scale-up re-adopts</a:t>
            </a:r>
          </a:p>
        </p:txBody>
      </p:sp>
      <p:sp>
        <p:nvSpPr>
          <p:cNvPr id="19" name="TextBox 18"/>
          <p:cNvSpPr txBox="1"/>
          <p:nvPr/>
        </p:nvSpPr>
        <p:spPr>
          <a:xfrm>
            <a:off x="8092440" y="43581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Returning to 3 replicas reuses ledger-...-2, data intact, rather than provisioning a new claim.</a:t>
            </a:r>
          </a:p>
        </p:txBody>
      </p:sp>
      <p:sp>
        <p:nvSpPr>
          <p:cNvPr id="20" name="Rectangle 19"/>
          <p:cNvSpPr/>
          <p:nvPr/>
        </p:nvSpPr>
        <p:spPr>
          <a:xfrm>
            <a:off x="7927848" y="48519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336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cost is real</a:t>
            </a:r>
          </a:p>
        </p:txBody>
      </p:sp>
      <p:sp>
        <p:nvSpPr>
          <p:cNvPr id="22" name="TextBox 21"/>
          <p:cNvSpPr txBox="1"/>
          <p:nvPr/>
        </p:nvSpPr>
        <p:spPr>
          <a:xfrm>
            <a:off x="8092440" y="50530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Five 128Mi claims persist after scaling to one Pod. Storage quota is consumed by Pods that no longer exist.</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StatefulSets; StatefulSet.spec.persistentVolumeClaimRetentionPolicy.</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408</a:t>
            </a:r>
          </a:p>
        </p:txBody>
      </p:sp>
    </p:spTree>
  </p:cSld>
  <p:clrMapOvr>
    <a:masterClrMapping/>
  </p:clrMapOvr>
  <p:transition xmlns:ns1="http://schemas.openxmlformats.org/markup-compatibility/2006" spd="fast" ns1:Ignorable="p14">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CONCEPT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Stable Identity Has Exactly Three Parts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Identity is the reason to choose a StatefulSet; replicas alone never are.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stable name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Ordinal Pod names 0..N-1. Deleting depot-ledger-1 creates another Pod with the same name, not a random suffix.</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stable network identity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&lt;pod&gt;.&lt;service&gt;.&lt;ns&gt;.svc.cluster.local, published by the headless Service named in spec.serviceName.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stable claim</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One PVC per ordinal from volumeClaimTemplates, reattached on every reschedule.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OrderedReady</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Default policy: create and scale up in order, terminate in reverse order, one at a time.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Parallel</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podManagementPolicy: Parallel starts and stops all Pods at once. Identity is kept; ordering is abandoned.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What is NOT stable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Pod IP. It changes on every reschedule — which is exactly why the DNS name exists.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StatefulSets; StatefulSet.spec.persistentVolumeClaimRetentionPolicy.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409</a:t>
            </a:r>
          </a:p>
        </p:txBody>
      </p:sp>
    </p:spTree>
  </p:cSld>
  <p:clrMapOvr>
    <a:masterClrMapping/>
  </p:clrMapOvr>
  <p:transition xmlns:ns1="http://schemas.openxmlformats.org/markup-compatibility/2006" spd="fast" ns1:Ignorable="p14">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Deployment Storage vs StatefulSet Storage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difference is not durability; it is whether replicas are interchangeable.</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Question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Deployment + one PVC</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StatefulSet + volumeClaimTemplates</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How many volumes?</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shared by every replica</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per ordinal, created automatically</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Scaling to 3 on RWO</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Fails to schedule beyond the node holding the volume</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Works — each replica gets its own volume</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Pod identity after restart</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New random name, no volume affinity</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Same ordinal name, same claim, same data</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Deleting the controller</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PVC you authored remains</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Claims remain by default (whenDeleted: Retain)</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Right for</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Shared read-mostly data on RWX, or no data at all</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Databases, queues, ledgers — anything with per-replica state</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If each replica needs its own disk, you need volumeClaimTemplates — no amount of Deployment configuration substitutes for it.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StatefulSets; StatefulSet.spec.persistentVolumeClaimRetentionPolicy.</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410</a:t>
            </a:r>
          </a:p>
        </p:txBody>
      </p:sp>
    </p:spTree>
  </p:cSld>
  <p:clrMapOvr>
    <a:masterClrMapping/>
  </p:clrMapOvr>
  <p:transition xmlns:ns1="http://schemas.openxmlformats.org/markup-compatibility/2006" spd="fast" ns1:Ignorable="p14">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StatefulSet With No Headless Service Looks Healthy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Ready status measures the container, not the contract.</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All replicas report Running and Ready, yet per-Pod DNS does not resolve and peers cannot find each other.</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-n kcna-lab19 get statefulset ghost-ledger</a:t>
            </a:r>
          </a:p>
          <a:p>
            <a:pPr>
              <a:lnSpc>
                <a:spcPts val="1476"/>
              </a:lnSpc>
              <a:spcAft>
                <a:spcPts val="0"/>
              </a:spcAft>
            </a:pPr>
            <a:r>
              <a:rPr sz="950">
                <a:solidFill>
                  <a:srgbClr val="E6EDF3"/>
                </a:solidFill>
                <a:latin typeface="Consolas"/>
              </a:rPr>
              <a:t>NAME           READY   AGE</a:t>
            </a:r>
          </a:p>
          <a:p>
            <a:pPr>
              <a:lnSpc>
                <a:spcPts val="1476"/>
              </a:lnSpc>
              <a:spcAft>
                <a:spcPts val="0"/>
              </a:spcAft>
            </a:pPr>
            <a:r>
              <a:rPr sz="950">
                <a:solidFill>
                  <a:srgbClr val="E6EDF3"/>
                </a:solidFill>
                <a:latin typeface="Consolas"/>
              </a:rPr>
              <a:t>ghost-ledger   1/1     54s        # no warning of any kind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kcna-lab19 get endpointslices -l \</a:t>
            </a:r>
          </a:p>
          <a:p>
            <a:pPr>
              <a:lnSpc>
                <a:spcPts val="1476"/>
              </a:lnSpc>
              <a:spcAft>
                <a:spcPts val="0"/>
              </a:spcAft>
            </a:pPr>
            <a:r>
              <a:rPr sz="950">
                <a:solidFill>
                  <a:srgbClr val="E6EDF3"/>
                </a:solidFill>
                <a:latin typeface="Consolas"/>
              </a:rPr>
              <a:t>    kubernetes.io/service-name=ghost-ledger</a:t>
            </a:r>
          </a:p>
          <a:p>
            <a:pPr>
              <a:lnSpc>
                <a:spcPts val="1476"/>
              </a:lnSpc>
              <a:spcAft>
                <a:spcPts val="0"/>
              </a:spcAft>
            </a:pPr>
            <a:r>
              <a:rPr sz="950">
                <a:solidFill>
                  <a:srgbClr val="E6EDF3"/>
                </a:solidFill>
                <a:latin typeface="Consolas"/>
              </a:rPr>
              <a:t>No resources found in kcna-lab19 namespace.</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-n kcna-lab19 exec ledger-client -- \</a:t>
            </a:r>
          </a:p>
          <a:p>
            <a:pPr>
              <a:lnSpc>
                <a:spcPts val="1476"/>
              </a:lnSpc>
              <a:spcAft>
                <a:spcPts val="0"/>
              </a:spcAft>
            </a:pPr>
            <a:r>
              <a:rPr sz="950">
                <a:solidFill>
                  <a:srgbClr val="E6EDF3"/>
                </a:solidFill>
                <a:latin typeface="Consolas"/>
              </a:rPr>
              <a:t>    nslookup ghost-ledger-0.ghost-ledger.kcna-lab19.svc.cluster.local</a:t>
            </a:r>
          </a:p>
          <a:p>
            <a:pPr>
              <a:lnSpc>
                <a:spcPts val="1476"/>
              </a:lnSpc>
              <a:spcAft>
                <a:spcPts val="0"/>
              </a:spcAft>
            </a:pPr>
            <a:r>
              <a:rPr sz="950">
                <a:solidFill>
                  <a:srgbClr val="E6EDF3"/>
                </a:solidFill>
                <a:latin typeface="Consolas"/>
              </a:rPr>
              <a:t>** server can't find ghost-ledger-0.ghost-ledger.kcna-lab19</a:t>
            </a:r>
          </a:p>
          <a:p>
            <a:pPr>
              <a:lnSpc>
                <a:spcPts val="1476"/>
              </a:lnSpc>
              <a:spcAft>
                <a:spcPts val="0"/>
              </a:spcAft>
            </a:pPr>
            <a:r>
              <a:rPr sz="950">
                <a:solidFill>
                  <a:srgbClr val="E6EDF3"/>
                </a:solidFill>
                <a:latin typeface="Consolas"/>
              </a:rPr>
              <a:t>   .svc.cluster.local: NXDOMAIN</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spec.serviceName names a headless Service that was never created. The StatefulSet controller does not validate that the Service exists, so the workload runs while its identity guarantee is silently absent.</a:t>
            </a:r>
          </a:p>
        </p:txBody>
      </p:sp>
      <p:sp>
        <p:nvSpPr>
          <p:cNvPr id="18" name="Rectangle 17"/>
          <p:cNvSpPr/>
          <p:nvPr/>
        </p:nvSpPr>
        <p:spPr>
          <a:xfrm>
            <a:off x="7205472" y="3927157"/>
            <a:ext cx="4270247" cy="1353515"/>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951179"/>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Create the headless Service with clusterIP: None and a selector matching the Pod labels</a:t>
            </a:r>
          </a:p>
          <a:p>
            <a:pPr>
              <a:lnSpc>
                <a:spcPct val="112000"/>
              </a:lnSpc>
              <a:spcAft>
                <a:spcPts val="200"/>
              </a:spcAft>
            </a:pPr>
            <a:r>
              <a:rPr sz="950">
                <a:solidFill>
                  <a:srgbClr val="94A3B8"/>
                </a:solidFill>
                <a:latin typeface="Arial"/>
              </a:rPr>
              <a:t>•  </a:t>
            </a:r>
            <a:r>
              <a:rPr sz="950">
                <a:solidFill>
                  <a:srgbClr val="5B6372"/>
                </a:solidFill>
                <a:latin typeface="Arial"/>
              </a:rPr>
              <a:t>Confirm with kubectl get endpointslices — one address per ready Pod</a:t>
            </a:r>
          </a:p>
          <a:p>
            <a:pPr>
              <a:lnSpc>
                <a:spcPct val="112000"/>
              </a:lnSpc>
              <a:spcAft>
                <a:spcPts val="200"/>
              </a:spcAft>
            </a:pPr>
            <a:r>
              <a:rPr sz="950">
                <a:solidFill>
                  <a:srgbClr val="94A3B8"/>
                </a:solidFill>
                <a:latin typeface="Arial"/>
              </a:rPr>
              <a:t>•  </a:t>
            </a:r>
            <a:r>
              <a:rPr sz="950">
                <a:solidFill>
                  <a:srgbClr val="5B6372"/>
                </a:solidFill>
                <a:latin typeface="Arial"/>
              </a:rPr>
              <a:t>Re-resolve &lt;pod&gt;.&lt;service&gt;.&lt;ns&gt;.svc.cluster.local from a client Pod</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nslookup returns one A record per ordinal</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411</a:t>
            </a:r>
          </a:p>
        </p:txBody>
      </p:sp>
    </p:spTree>
  </p:cSld>
  <p:clrMapOvr>
    <a:masterClrMapping/>
  </p:clrMapOvr>
  <p:transition xmlns:ns1="http://schemas.openxmlformats.org/markup-compatibility/2006" spd="fast" ns1:Ignorable="p14">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Lab 19 — StatefulSets, Headless Services and Stable Identity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991666"/>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991666"/>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625906"/>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Give the TrackLane depot ledger stable per-replica identity — ordinal Pod names, per-Pod DNS through a headless Service, and one automatically created PersistentVolumeClaim per ordinal — then prove that identity survives Pod deletion and that the volumes deliberately outlive the StatefulSet.</a:t>
            </a:r>
          </a:p>
        </p:txBody>
      </p:sp>
      <p:sp>
        <p:nvSpPr>
          <p:cNvPr id="10" name="Rectangle 9"/>
          <p:cNvSpPr/>
          <p:nvPr/>
        </p:nvSpPr>
        <p:spPr>
          <a:xfrm>
            <a:off x="777240" y="2857042"/>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857042"/>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295954"/>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three-replica StatefulSet whose Pods each serve a different ledger shard from their own PVC, resolvable at &lt;pod&gt;.&lt;svc&gt;.&lt;ns&gt;.svc.cluster.local.</a:t>
            </a:r>
          </a:p>
          <a:p>
            <a:pPr>
              <a:lnSpc>
                <a:spcPct val="112000"/>
              </a:lnSpc>
              <a:spcAft>
                <a:spcPts val="500"/>
              </a:spcAft>
            </a:pPr>
            <a:r>
              <a:rPr sz="1050">
                <a:solidFill>
                  <a:srgbClr val="94A3B8"/>
                </a:solidFill>
                <a:latin typeface="Arial"/>
              </a:rPr>
              <a:t>•  </a:t>
            </a:r>
            <a:r>
              <a:rPr sz="1050">
                <a:solidFill>
                  <a:srgbClr val="5B6372"/>
                </a:solidFill>
                <a:latin typeface="Arial"/>
              </a:rPr>
              <a:t>Evidence of ordered creation and reverse-ordered termination, and of a deleted Pod reattaching to its original volume with an incremented mount counter.</a:t>
            </a:r>
          </a:p>
          <a:p>
            <a:pPr>
              <a:lnSpc>
                <a:spcPct val="112000"/>
              </a:lnSpc>
              <a:spcAft>
                <a:spcPts val="500"/>
              </a:spcAft>
            </a:pPr>
            <a:r>
              <a:rPr sz="1050">
                <a:solidFill>
                  <a:srgbClr val="94A3B8"/>
                </a:solidFill>
                <a:latin typeface="Arial"/>
              </a:rPr>
              <a:t>•  </a:t>
            </a:r>
            <a:r>
              <a:rPr sz="1050">
                <a:solidFill>
                  <a:srgbClr val="5B6372"/>
                </a:solidFill>
                <a:latin typeface="Arial"/>
              </a:rPr>
              <a:t>A diagnosed NXDOMAIN caused by a StatefulSet whose serviceName names a headless Service that was never created.</a:t>
            </a:r>
          </a:p>
        </p:txBody>
      </p:sp>
      <p:sp>
        <p:nvSpPr>
          <p:cNvPr id="14" name="Rectangle 13"/>
          <p:cNvSpPr/>
          <p:nvPr/>
        </p:nvSpPr>
        <p:spPr>
          <a:xfrm>
            <a:off x="6276441" y="2857042"/>
            <a:ext cx="5199278" cy="2109439"/>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857042"/>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295954"/>
            <a:ext cx="4796942" cy="1560799"/>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StatefulSet versus Deployment: stable ordinals and identity versus interchangeable replicas</a:t>
            </a:r>
          </a:p>
          <a:p>
            <a:pPr>
              <a:lnSpc>
                <a:spcPct val="112000"/>
              </a:lnSpc>
              <a:spcAft>
                <a:spcPts val="500"/>
              </a:spcAft>
            </a:pPr>
            <a:r>
              <a:rPr sz="1050">
                <a:solidFill>
                  <a:srgbClr val="94A3B8"/>
                </a:solidFill>
                <a:latin typeface="Arial"/>
              </a:rPr>
              <a:t>•  </a:t>
            </a:r>
            <a:r>
              <a:rPr sz="1050">
                <a:solidFill>
                  <a:srgbClr val="5B6372"/>
                </a:solidFill>
                <a:latin typeface="Arial"/>
              </a:rPr>
              <a:t>Headless Services (clusterIP: None) and per-Pod DNS records</a:t>
            </a:r>
          </a:p>
          <a:p>
            <a:pPr>
              <a:lnSpc>
                <a:spcPct val="112000"/>
              </a:lnSpc>
              <a:spcAft>
                <a:spcPts val="500"/>
              </a:spcAft>
            </a:pPr>
            <a:r>
              <a:rPr sz="1050">
                <a:solidFill>
                  <a:srgbClr val="94A3B8"/>
                </a:solidFill>
                <a:latin typeface="Arial"/>
              </a:rPr>
              <a:t>•  </a:t>
            </a:r>
            <a:r>
              <a:rPr sz="1050">
                <a:solidFill>
                  <a:srgbClr val="5B6372"/>
                </a:solidFill>
                <a:latin typeface="Arial"/>
              </a:rPr>
              <a:t>volumeClaimTemplates: one PVC per ordinal, and why they are not garbage-collected</a:t>
            </a:r>
          </a:p>
          <a:p>
            <a:pPr>
              <a:lnSpc>
                <a:spcPct val="112000"/>
              </a:lnSpc>
              <a:spcAft>
                <a:spcPts val="500"/>
              </a:spcAft>
            </a:pPr>
            <a:r>
              <a:rPr sz="1050">
                <a:solidFill>
                  <a:srgbClr val="94A3B8"/>
                </a:solidFill>
                <a:latin typeface="Arial"/>
              </a:rPr>
              <a:t>•  </a:t>
            </a:r>
            <a:r>
              <a:rPr sz="1050">
                <a:solidFill>
                  <a:srgbClr val="5B6372"/>
                </a:solidFill>
                <a:latin typeface="Arial"/>
              </a:rPr>
              <a:t>podManagementPolicy OrderedReady versus Parallel, and rolling updates with partition</a:t>
            </a:r>
          </a:p>
        </p:txBody>
      </p:sp>
      <p:sp>
        <p:nvSpPr>
          <p:cNvPr id="18" name="Rectangle 17"/>
          <p:cNvSpPr/>
          <p:nvPr/>
        </p:nvSpPr>
        <p:spPr>
          <a:xfrm>
            <a:off x="777240" y="5149362"/>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49362"/>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13370"/>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96250"/>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19</a:t>
            </a:r>
          </a:p>
        </p:txBody>
      </p:sp>
      <p:sp>
        <p:nvSpPr>
          <p:cNvPr id="22" name="Rectangle 21"/>
          <p:cNvSpPr/>
          <p:nvPr/>
        </p:nvSpPr>
        <p:spPr>
          <a:xfrm>
            <a:off x="3488436" y="5149362"/>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49362"/>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13370"/>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96250"/>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kcna-lab19</a:t>
            </a:r>
          </a:p>
        </p:txBody>
      </p:sp>
      <p:sp>
        <p:nvSpPr>
          <p:cNvPr id="26" name="Rectangle 25"/>
          <p:cNvSpPr/>
          <p:nvPr/>
        </p:nvSpPr>
        <p:spPr>
          <a:xfrm>
            <a:off x="6199631" y="5149362"/>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49362"/>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13370"/>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96250"/>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LO4 · A4 · K6</a:t>
            </a:r>
          </a:p>
        </p:txBody>
      </p:sp>
      <p:sp>
        <p:nvSpPr>
          <p:cNvPr id="30" name="Rectangle 29"/>
          <p:cNvSpPr/>
          <p:nvPr/>
        </p:nvSpPr>
        <p:spPr>
          <a:xfrm>
            <a:off x="8910828" y="5149362"/>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49362"/>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13370"/>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96250"/>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789442"/>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courseware/labs/lab-19-statefulset-headless/README.md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412</a:t>
            </a:r>
          </a:p>
        </p:txBody>
      </p:sp>
    </p:spTree>
  </p:cSld>
  <p:clrMapOvr>
    <a:masterClrMapping/>
  </p:clrMapOvr>
  <p:transition xmlns:ns1="http://schemas.openxmlformats.org/markup-compatibility/2006" spd="fast" ns1:Ignorable="p14">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Lunch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 – 1:50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413</a:t>
            </a:r>
          </a:p>
        </p:txBody>
      </p:sp>
    </p:spTree>
  </p:cSld>
  <p:clrMapOvr>
    <a:masterClrMapping/>
  </p:clrMapOvr>
  <p:transition xmlns:ns1="http://schemas.openxmlformats.org/markup-compatibility/2006" spd="fast" ns1:Ignorable="p14">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06</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TOPIC 6 · REGISTERED</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Cluster Architecture, Installation &amp; Configuration</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What kubeadm actually builds, how upgrades are sequenced, and how etcd keeps the whole thing consistent.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414</a:t>
            </a:r>
          </a:p>
        </p:txBody>
      </p:sp>
    </p:spTree>
  </p:cSld>
  <p:clrMapOvr>
    <a:masterClrMapping/>
  </p:clrMapOvr>
  <p:transition xmlns:ns1="http://schemas.openxmlformats.org/markup-compatibility/2006" spd="med" ns1:Ignorable="p14">
    <p:push dir="l"/>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BEFORE INSTALLATION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Decisions You Make Before kubeadm Runs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Installation is mostly decisions; the commands are the easy part and live in the Learner Guide.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Control-plane endpoint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stable DNS name or VIP in front of the API servers. Adding it later means reissuing certificates — decide up front.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Topology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Stacked etcd on the control-plane nodes, or an external etcd cluster with its own failure domain.</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Networking CIDRs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 and Service CIDRs must not overlap each other, the node network, or anything you might peer with later.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CNI plugin</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Chosen before the first workload, and it determines whether NetworkPolicy is enforced at all.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Container runtime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CRI implementation on every node, with the cgroup driver matching the kubelet's.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Certificate strategy</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kubeadm issues a 10-year CA and one-year leaf certificates. Renewal has to be somebody's scheduled job.</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415</a:t>
            </a:r>
          </a:p>
        </p:txBody>
      </p:sp>
    </p:spTree>
  </p:cSld>
  <p:clrMapOvr>
    <a:masterClrMapping/>
  </p:clrMapOvr>
  <p:transition xmlns:ns1="http://schemas.openxmlformats.org/markup-compatibility/2006" spd="fast" ns1:Ignorable="p14">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kubeadm Leaves Behind on a Control-Plane Node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control plane is not special software management — it is four containers the kubelet starts from files on disk.</a:t>
            </a:r>
          </a:p>
        </p:txBody>
      </p:sp>
      <p:sp>
        <p:nvSpPr>
          <p:cNvPr id="7" name="Rectangle 6"/>
          <p:cNvSpPr/>
          <p:nvPr/>
        </p:nvSpPr>
        <p:spPr>
          <a:xfrm>
            <a:off x="777240" y="2200046"/>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10691"/>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781507"/>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NODE FILESYSTEM</a:t>
            </a:r>
          </a:p>
        </p:txBody>
      </p:sp>
      <p:sp>
        <p:nvSpPr>
          <p:cNvPr id="10" name="Rounded Rectangle 9"/>
          <p:cNvSpPr/>
          <p:nvPr/>
        </p:nvSpPr>
        <p:spPr>
          <a:xfrm>
            <a:off x="2258568"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/etc/kubernetes/manifests</a:t>
            </a:r>
          </a:p>
        </p:txBody>
      </p:sp>
      <p:sp>
        <p:nvSpPr>
          <p:cNvPr id="12" name="TextBox 11"/>
          <p:cNvSpPr txBox="1"/>
          <p:nvPr/>
        </p:nvSpPr>
        <p:spPr>
          <a:xfrm>
            <a:off x="2350008"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Static Pod manifests</a:t>
            </a:r>
          </a:p>
        </p:txBody>
      </p:sp>
      <p:sp>
        <p:nvSpPr>
          <p:cNvPr id="13" name="Rounded Rectangle 12"/>
          <p:cNvSpPr/>
          <p:nvPr/>
        </p:nvSpPr>
        <p:spPr>
          <a:xfrm>
            <a:off x="4553712"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645151"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/etc/kubernetes/pki</a:t>
            </a:r>
          </a:p>
        </p:txBody>
      </p:sp>
      <p:sp>
        <p:nvSpPr>
          <p:cNvPr id="15" name="TextBox 14"/>
          <p:cNvSpPr txBox="1"/>
          <p:nvPr/>
        </p:nvSpPr>
        <p:spPr>
          <a:xfrm>
            <a:off x="4645151"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CA and leaf certificates</a:t>
            </a:r>
          </a:p>
        </p:txBody>
      </p:sp>
      <p:sp>
        <p:nvSpPr>
          <p:cNvPr id="16" name="Rounded Rectangle 15"/>
          <p:cNvSpPr/>
          <p:nvPr/>
        </p:nvSpPr>
        <p:spPr>
          <a:xfrm>
            <a:off x="6848855"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940295"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admin.conf / kubelet.conf</a:t>
            </a:r>
          </a:p>
        </p:txBody>
      </p:sp>
      <p:sp>
        <p:nvSpPr>
          <p:cNvPr id="18" name="TextBox 17"/>
          <p:cNvSpPr txBox="1"/>
          <p:nvPr/>
        </p:nvSpPr>
        <p:spPr>
          <a:xfrm>
            <a:off x="6940295"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kubeconfig files</a:t>
            </a:r>
          </a:p>
        </p:txBody>
      </p:sp>
      <p:sp>
        <p:nvSpPr>
          <p:cNvPr id="19" name="Rounded Rectangle 18"/>
          <p:cNvSpPr/>
          <p:nvPr/>
        </p:nvSpPr>
        <p:spPr>
          <a:xfrm>
            <a:off x="9143999" y="2273198"/>
            <a:ext cx="2130551" cy="964387"/>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9235439" y="2328062"/>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/var/lib/kubelet/config.yaml</a:t>
            </a:r>
          </a:p>
        </p:txBody>
      </p:sp>
      <p:sp>
        <p:nvSpPr>
          <p:cNvPr id="21" name="TextBox 20"/>
          <p:cNvSpPr txBox="1"/>
          <p:nvPr/>
        </p:nvSpPr>
        <p:spPr>
          <a:xfrm>
            <a:off x="9235439" y="2561234"/>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Kubelet configuration</a:t>
            </a:r>
          </a:p>
        </p:txBody>
      </p:sp>
      <p:sp>
        <p:nvSpPr>
          <p:cNvPr id="22" name="Rectangle 21"/>
          <p:cNvSpPr/>
          <p:nvPr/>
        </p:nvSpPr>
        <p:spPr>
          <a:xfrm>
            <a:off x="777240" y="3493617"/>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493617"/>
            <a:ext cx="50292" cy="1110691"/>
          </a:xfrm>
          <a:prstGeom prst="rect">
            <a:avLst/>
          </a:prstGeom>
          <a:solidFill>
            <a:srgbClr val="7C3AED"/>
          </a:solidFill>
          <a:ln>
            <a:noFill/>
          </a:ln>
          <a:effectLst/>
        </p:spPr>
        <p:txBody>
          <a:bodyPr rtlCol="0" anchor="ctr" wrap="square"/>
          <a:lstStyle/>
          <a:p>
            <a:pPr algn="ctr"/>
          </a:p>
        </p:txBody>
      </p:sp>
      <p:sp>
        <p:nvSpPr>
          <p:cNvPr id="24" name="TextBox 23"/>
          <p:cNvSpPr txBox="1"/>
          <p:nvPr/>
        </p:nvSpPr>
        <p:spPr>
          <a:xfrm>
            <a:off x="941832" y="3676497"/>
            <a:ext cx="1261872" cy="781507"/>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STATIC PODS — KUBELET-MANAGED</a:t>
            </a:r>
          </a:p>
        </p:txBody>
      </p:sp>
      <p:sp>
        <p:nvSpPr>
          <p:cNvPr id="25" name="Rounded Rectangle 24"/>
          <p:cNvSpPr/>
          <p:nvPr/>
        </p:nvSpPr>
        <p:spPr>
          <a:xfrm>
            <a:off x="2258568" y="3566769"/>
            <a:ext cx="2130551" cy="964387"/>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2350008"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etcd</a:t>
            </a:r>
          </a:p>
        </p:txBody>
      </p:sp>
      <p:sp>
        <p:nvSpPr>
          <p:cNvPr id="27" name="TextBox 26"/>
          <p:cNvSpPr txBox="1"/>
          <p:nvPr/>
        </p:nvSpPr>
        <p:spPr>
          <a:xfrm>
            <a:off x="2350008"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Consistent key-value store</a:t>
            </a:r>
          </a:p>
        </p:txBody>
      </p:sp>
      <p:sp>
        <p:nvSpPr>
          <p:cNvPr id="28" name="Rounded Rectangle 27"/>
          <p:cNvSpPr/>
          <p:nvPr/>
        </p:nvSpPr>
        <p:spPr>
          <a:xfrm>
            <a:off x="4553712" y="3566769"/>
            <a:ext cx="2130551" cy="964387"/>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4645151"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kube-apiserver</a:t>
            </a:r>
          </a:p>
        </p:txBody>
      </p:sp>
      <p:sp>
        <p:nvSpPr>
          <p:cNvPr id="30" name="TextBox 29"/>
          <p:cNvSpPr txBox="1"/>
          <p:nvPr/>
        </p:nvSpPr>
        <p:spPr>
          <a:xfrm>
            <a:off x="4645151"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only writer to etcd</a:t>
            </a:r>
          </a:p>
        </p:txBody>
      </p:sp>
      <p:sp>
        <p:nvSpPr>
          <p:cNvPr id="31" name="Rounded Rectangle 30"/>
          <p:cNvSpPr/>
          <p:nvPr/>
        </p:nvSpPr>
        <p:spPr>
          <a:xfrm>
            <a:off x="6848855" y="3566769"/>
            <a:ext cx="2130551" cy="964387"/>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2" name="TextBox 31"/>
          <p:cNvSpPr txBox="1"/>
          <p:nvPr/>
        </p:nvSpPr>
        <p:spPr>
          <a:xfrm>
            <a:off x="6940295"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kube-controller-manager</a:t>
            </a:r>
          </a:p>
        </p:txBody>
      </p:sp>
      <p:sp>
        <p:nvSpPr>
          <p:cNvPr id="33" name="TextBox 32"/>
          <p:cNvSpPr txBox="1"/>
          <p:nvPr/>
        </p:nvSpPr>
        <p:spPr>
          <a:xfrm>
            <a:off x="6940295"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Reconciliation loops</a:t>
            </a:r>
          </a:p>
        </p:txBody>
      </p:sp>
      <p:sp>
        <p:nvSpPr>
          <p:cNvPr id="34" name="Rounded Rectangle 33"/>
          <p:cNvSpPr/>
          <p:nvPr/>
        </p:nvSpPr>
        <p:spPr>
          <a:xfrm>
            <a:off x="9143999" y="3566769"/>
            <a:ext cx="2130551" cy="964387"/>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5" name="TextBox 34"/>
          <p:cNvSpPr txBox="1"/>
          <p:nvPr/>
        </p:nvSpPr>
        <p:spPr>
          <a:xfrm>
            <a:off x="9235439" y="3621633"/>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kube-scheduler</a:t>
            </a:r>
          </a:p>
        </p:txBody>
      </p:sp>
      <p:sp>
        <p:nvSpPr>
          <p:cNvPr id="36" name="TextBox 35"/>
          <p:cNvSpPr txBox="1"/>
          <p:nvPr/>
        </p:nvSpPr>
        <p:spPr>
          <a:xfrm>
            <a:off x="9235439" y="3854805"/>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Binds Pods to nodes</a:t>
            </a:r>
          </a:p>
        </p:txBody>
      </p:sp>
      <p:sp>
        <p:nvSpPr>
          <p:cNvPr id="37" name="Rectangle 36"/>
          <p:cNvSpPr/>
          <p:nvPr/>
        </p:nvSpPr>
        <p:spPr>
          <a:xfrm>
            <a:off x="777240" y="4787188"/>
            <a:ext cx="10698480" cy="1110691"/>
          </a:xfrm>
          <a:prstGeom prst="rect">
            <a:avLst/>
          </a:prstGeom>
          <a:solidFill>
            <a:srgbClr val="F5F8FC"/>
          </a:solidFill>
          <a:ln w="12700">
            <a:solidFill>
              <a:srgbClr val="E2E8F0"/>
            </a:solidFill>
          </a:ln>
          <a:effectLst/>
        </p:spPr>
        <p:txBody>
          <a:bodyPr rtlCol="0" anchor="ctr" wrap="square"/>
          <a:lstStyle/>
          <a:p>
            <a:pPr algn="ctr"/>
          </a:p>
        </p:txBody>
      </p:sp>
      <p:sp>
        <p:nvSpPr>
          <p:cNvPr id="38" name="Rectangle 37"/>
          <p:cNvSpPr/>
          <p:nvPr/>
        </p:nvSpPr>
        <p:spPr>
          <a:xfrm>
            <a:off x="777240" y="4787188"/>
            <a:ext cx="50292" cy="1110691"/>
          </a:xfrm>
          <a:prstGeom prst="rect">
            <a:avLst/>
          </a:prstGeom>
          <a:solidFill>
            <a:srgbClr val="10B981"/>
          </a:solidFill>
          <a:ln>
            <a:noFill/>
          </a:ln>
          <a:effectLst/>
        </p:spPr>
        <p:txBody>
          <a:bodyPr rtlCol="0" anchor="ctr" wrap="square"/>
          <a:lstStyle/>
          <a:p>
            <a:pPr algn="ctr"/>
          </a:p>
        </p:txBody>
      </p:sp>
      <p:sp>
        <p:nvSpPr>
          <p:cNvPr id="39" name="TextBox 38"/>
          <p:cNvSpPr txBox="1"/>
          <p:nvPr/>
        </p:nvSpPr>
        <p:spPr>
          <a:xfrm>
            <a:off x="941832" y="4970068"/>
            <a:ext cx="1261872" cy="781507"/>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ADD-ONS — API-MANAGED</a:t>
            </a:r>
          </a:p>
        </p:txBody>
      </p:sp>
      <p:sp>
        <p:nvSpPr>
          <p:cNvPr id="40" name="Rounded Rectangle 39"/>
          <p:cNvSpPr/>
          <p:nvPr/>
        </p:nvSpPr>
        <p:spPr>
          <a:xfrm>
            <a:off x="2258568"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1" name="TextBox 40"/>
          <p:cNvSpPr txBox="1"/>
          <p:nvPr/>
        </p:nvSpPr>
        <p:spPr>
          <a:xfrm>
            <a:off x="2350008"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CoreDNS</a:t>
            </a:r>
          </a:p>
        </p:txBody>
      </p:sp>
      <p:sp>
        <p:nvSpPr>
          <p:cNvPr id="42" name="TextBox 41"/>
          <p:cNvSpPr txBox="1"/>
          <p:nvPr/>
        </p:nvSpPr>
        <p:spPr>
          <a:xfrm>
            <a:off x="2350008"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Deployment; cluster DNS</a:t>
            </a:r>
          </a:p>
        </p:txBody>
      </p:sp>
      <p:sp>
        <p:nvSpPr>
          <p:cNvPr id="43" name="Rounded Rectangle 42"/>
          <p:cNvSpPr/>
          <p:nvPr/>
        </p:nvSpPr>
        <p:spPr>
          <a:xfrm>
            <a:off x="4553712"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4" name="TextBox 43"/>
          <p:cNvSpPr txBox="1"/>
          <p:nvPr/>
        </p:nvSpPr>
        <p:spPr>
          <a:xfrm>
            <a:off x="4645151"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kube-proxy</a:t>
            </a:r>
          </a:p>
        </p:txBody>
      </p:sp>
      <p:sp>
        <p:nvSpPr>
          <p:cNvPr id="45" name="TextBox 44"/>
          <p:cNvSpPr txBox="1"/>
          <p:nvPr/>
        </p:nvSpPr>
        <p:spPr>
          <a:xfrm>
            <a:off x="4645151"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DaemonSet; Service dataplane</a:t>
            </a:r>
          </a:p>
        </p:txBody>
      </p:sp>
      <p:sp>
        <p:nvSpPr>
          <p:cNvPr id="46" name="Rounded Rectangle 45"/>
          <p:cNvSpPr/>
          <p:nvPr/>
        </p:nvSpPr>
        <p:spPr>
          <a:xfrm>
            <a:off x="6848855"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7" name="TextBox 46"/>
          <p:cNvSpPr txBox="1"/>
          <p:nvPr/>
        </p:nvSpPr>
        <p:spPr>
          <a:xfrm>
            <a:off x="6940295"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CNI plugin</a:t>
            </a:r>
          </a:p>
        </p:txBody>
      </p:sp>
      <p:sp>
        <p:nvSpPr>
          <p:cNvPr id="48" name="TextBox 47"/>
          <p:cNvSpPr txBox="1"/>
          <p:nvPr/>
        </p:nvSpPr>
        <p:spPr>
          <a:xfrm>
            <a:off x="6940295"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DaemonSet you install</a:t>
            </a:r>
          </a:p>
        </p:txBody>
      </p:sp>
      <p:sp>
        <p:nvSpPr>
          <p:cNvPr id="49" name="Rounded Rectangle 48"/>
          <p:cNvSpPr/>
          <p:nvPr/>
        </p:nvSpPr>
        <p:spPr>
          <a:xfrm>
            <a:off x="9143999" y="4860340"/>
            <a:ext cx="2130551" cy="964387"/>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0" name="TextBox 49"/>
          <p:cNvSpPr txBox="1"/>
          <p:nvPr/>
        </p:nvSpPr>
        <p:spPr>
          <a:xfrm>
            <a:off x="9235439" y="4915204"/>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Storage provisioner</a:t>
            </a:r>
          </a:p>
        </p:txBody>
      </p:sp>
      <p:sp>
        <p:nvSpPr>
          <p:cNvPr id="51" name="TextBox 50"/>
          <p:cNvSpPr txBox="1"/>
          <p:nvPr/>
        </p:nvSpPr>
        <p:spPr>
          <a:xfrm>
            <a:off x="9235439" y="5148376"/>
            <a:ext cx="1947671" cy="603199"/>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Optional, per environment</a:t>
            </a:r>
          </a:p>
        </p:txBody>
      </p:sp>
      <p:sp>
        <p:nvSpPr>
          <p:cNvPr id="52" name="TextBox 5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53" name="TextBox 5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4" name="TextBox 5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5" name="TextBox 5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416</a:t>
            </a:r>
          </a:p>
        </p:txBody>
      </p:sp>
    </p:spTree>
  </p:cSld>
  <p:clrMapOvr>
    <a:masterClrMapping/>
  </p:clrMapOvr>
  <p:transition xmlns:ns1="http://schemas.openxmlformats.org/markup-compatibility/2006" spd="fast" ns1:Ignorable="p14">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Phases kubeadm init Runs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Understand the phases; the exact command lines belong in the Learner Guide, not on a slide.</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preflight</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Checks kernel modules, swap, ports, runtime socket and required images. Refuses to continue on a host that cannot work.</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certs and kubeconfig</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Generates the CA and every leaf certificate, then writes the kubeconfig files that components authenticate with.</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control-plane and etcd</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Writes static Pod manifests into /etc/kubernetes/manifests; the kubelet notices and starts the containers.</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upload-config and mark</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Stores the cluster and kubelet configuration in ConfigMaps and taints the node as control-plane.</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bootstrap-token and addon</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Creates a joining token with its RBAC, then installs CoreDNS and kube-proxy.</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Every phase is separately invocable, which is why kubeadm is described as a toolkit rather than an installer.</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417</a:t>
            </a:r>
          </a:p>
        </p:txBody>
      </p:sp>
    </p:spTree>
  </p:cSld>
  <p:clrMapOvr>
    <a:masterClrMapping/>
  </p:clrMapOvr>
  <p:transition xmlns:ns5="http://schemas.openxmlformats.org/markup-compatibility/2006" spd="fast" ns5:Ignorable="p14">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OWNERSHIP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Three Things kubeadm Really Owns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 an installer of Kubernetes so much as a producer of certificates, files and tokens.</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Public key infrastructure</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self-signed cluster CA plus a separate etcd CA</a:t>
            </a:r>
          </a:p>
          <a:p>
            <a:pPr>
              <a:lnSpc>
                <a:spcPct val="112000"/>
              </a:lnSpc>
              <a:spcAft>
                <a:spcPts val="500"/>
              </a:spcAft>
            </a:pPr>
            <a:r>
              <a:rPr sz="1100">
                <a:solidFill>
                  <a:srgbClr val="94A3B8"/>
                </a:solidFill>
                <a:latin typeface="Arial"/>
              </a:rPr>
              <a:t>•  </a:t>
            </a:r>
            <a:r>
              <a:rPr sz="1100">
                <a:solidFill>
                  <a:srgbClr val="5B6372"/>
                </a:solidFill>
                <a:latin typeface="Arial"/>
              </a:rPr>
              <a:t>Server certs with the right SANs for the endpoint</a:t>
            </a:r>
          </a:p>
          <a:p>
            <a:pPr>
              <a:lnSpc>
                <a:spcPct val="112000"/>
              </a:lnSpc>
              <a:spcAft>
                <a:spcPts val="500"/>
              </a:spcAft>
            </a:pPr>
            <a:r>
              <a:rPr sz="1100">
                <a:solidFill>
                  <a:srgbClr val="94A3B8"/>
                </a:solidFill>
                <a:latin typeface="Arial"/>
              </a:rPr>
              <a:t>•  </a:t>
            </a:r>
            <a:r>
              <a:rPr sz="1100">
                <a:solidFill>
                  <a:srgbClr val="5B6372"/>
                </a:solidFill>
                <a:latin typeface="Arial"/>
              </a:rPr>
              <a:t>Client certs for kubelet, scheduler, controller-manager</a:t>
            </a:r>
          </a:p>
          <a:p>
            <a:pPr>
              <a:lnSpc>
                <a:spcPct val="112000"/>
              </a:lnSpc>
              <a:spcAft>
                <a:spcPts val="500"/>
              </a:spcAft>
            </a:pPr>
            <a:r>
              <a:rPr sz="1100">
                <a:solidFill>
                  <a:srgbClr val="94A3B8"/>
                </a:solidFill>
                <a:latin typeface="Arial"/>
              </a:rPr>
              <a:t>•  </a:t>
            </a:r>
            <a:r>
              <a:rPr sz="1100">
                <a:solidFill>
                  <a:srgbClr val="5B6372"/>
                </a:solidFill>
                <a:latin typeface="Arial"/>
              </a:rPr>
              <a:t>The service-account signing key pair (sa.key / sa.pub)</a:t>
            </a:r>
          </a:p>
        </p:txBody>
      </p:sp>
      <p:sp>
        <p:nvSpPr>
          <p:cNvPr id="11" name="Rounded Rectangle 10"/>
          <p:cNvSpPr/>
          <p:nvPr/>
        </p:nvSpPr>
        <p:spPr>
          <a:xfrm>
            <a:off x="1033271" y="5532120"/>
            <a:ext cx="148590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/etc/kubernetes/pki</a:t>
            </a:r>
          </a:p>
        </p:txBody>
      </p:sp>
      <p:sp>
        <p:nvSpPr>
          <p:cNvPr id="12" name="Rounded Rectangle 11"/>
          <p:cNvSpPr/>
          <p:nvPr/>
        </p:nvSpPr>
        <p:spPr>
          <a:xfrm>
            <a:off x="2610612" y="5532120"/>
            <a:ext cx="8686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10-year CA</a:t>
            </a:r>
          </a:p>
        </p:txBody>
      </p:sp>
      <p:sp>
        <p:nvSpPr>
          <p:cNvPr id="13" name="Rectangle 12"/>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Static Pod manifests</a:t>
            </a:r>
          </a:p>
        </p:txBody>
      </p:sp>
      <p:sp>
        <p:nvSpPr>
          <p:cNvPr id="16" name="TextBox 15"/>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Four YAML files the kubelet watches on disk</a:t>
            </a:r>
          </a:p>
          <a:p>
            <a:pPr>
              <a:lnSpc>
                <a:spcPct val="112000"/>
              </a:lnSpc>
              <a:spcAft>
                <a:spcPts val="500"/>
              </a:spcAft>
            </a:pPr>
            <a:r>
              <a:rPr sz="1100">
                <a:solidFill>
                  <a:srgbClr val="94A3B8"/>
                </a:solidFill>
                <a:latin typeface="Arial"/>
              </a:rPr>
              <a:t>•  </a:t>
            </a:r>
            <a:r>
              <a:rPr sz="1100">
                <a:solidFill>
                  <a:srgbClr val="5B6372"/>
                </a:solidFill>
                <a:latin typeface="Arial"/>
              </a:rPr>
              <a:t>Rewritten in place by kubeadm upgrade apply</a:t>
            </a:r>
          </a:p>
          <a:p>
            <a:pPr>
              <a:lnSpc>
                <a:spcPct val="112000"/>
              </a:lnSpc>
              <a:spcAft>
                <a:spcPts val="500"/>
              </a:spcAft>
            </a:pPr>
            <a:r>
              <a:rPr sz="1100">
                <a:solidFill>
                  <a:srgbClr val="94A3B8"/>
                </a:solidFill>
                <a:latin typeface="Arial"/>
              </a:rPr>
              <a:t>•  </a:t>
            </a:r>
            <a:r>
              <a:rPr sz="1100">
                <a:solidFill>
                  <a:srgbClr val="5B6372"/>
                </a:solidFill>
                <a:latin typeface="Arial"/>
              </a:rPr>
              <a:t>Mirror Pods appear in the API as read-only reflections</a:t>
            </a:r>
          </a:p>
          <a:p>
            <a:pPr>
              <a:lnSpc>
                <a:spcPct val="112000"/>
              </a:lnSpc>
              <a:spcAft>
                <a:spcPts val="500"/>
              </a:spcAft>
            </a:pPr>
            <a:r>
              <a:rPr sz="1100">
                <a:solidFill>
                  <a:srgbClr val="94A3B8"/>
                </a:solidFill>
                <a:latin typeface="Arial"/>
              </a:rPr>
              <a:t>•  </a:t>
            </a:r>
            <a:r>
              <a:rPr sz="1100">
                <a:solidFill>
                  <a:srgbClr val="5B6372"/>
                </a:solidFill>
                <a:latin typeface="Arial"/>
              </a:rPr>
              <a:t>Owned by the Node object, not by any controller</a:t>
            </a:r>
          </a:p>
        </p:txBody>
      </p:sp>
      <p:sp>
        <p:nvSpPr>
          <p:cNvPr id="17" name="Rounded Rectangle 16"/>
          <p:cNvSpPr/>
          <p:nvPr/>
        </p:nvSpPr>
        <p:spPr>
          <a:xfrm>
            <a:off x="4739335" y="5532120"/>
            <a:ext cx="12115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kubelet-managed</a:t>
            </a:r>
          </a:p>
        </p:txBody>
      </p:sp>
      <p:sp>
        <p:nvSpPr>
          <p:cNvPr id="18" name="Rounded Rectangle 17"/>
          <p:cNvSpPr/>
          <p:nvPr/>
        </p:nvSpPr>
        <p:spPr>
          <a:xfrm>
            <a:off x="6042355" y="5532120"/>
            <a:ext cx="1005839"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no scheduler</a:t>
            </a:r>
          </a:p>
        </p:txBody>
      </p:sp>
      <p:sp>
        <p:nvSpPr>
          <p:cNvPr id="19" name="Rectangle 18"/>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Identity for joining</a:t>
            </a:r>
          </a:p>
        </p:txBody>
      </p:sp>
      <p:sp>
        <p:nvSpPr>
          <p:cNvPr id="22" name="TextBox 21"/>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Bootstrap tokens with a TTL and their RBAC bindings</a:t>
            </a:r>
          </a:p>
          <a:p>
            <a:pPr>
              <a:lnSpc>
                <a:spcPct val="112000"/>
              </a:lnSpc>
              <a:spcAft>
                <a:spcPts val="500"/>
              </a:spcAft>
            </a:pPr>
            <a:r>
              <a:rPr sz="1100">
                <a:solidFill>
                  <a:srgbClr val="94A3B8"/>
                </a:solidFill>
                <a:latin typeface="Arial"/>
              </a:rPr>
              <a:t>•  </a:t>
            </a:r>
            <a:r>
              <a:rPr sz="1100">
                <a:solidFill>
                  <a:srgbClr val="5B6372"/>
                </a:solidFill>
                <a:latin typeface="Arial"/>
              </a:rPr>
              <a:t>The discovery CA hash a joiner uses to trust the endpoint</a:t>
            </a:r>
          </a:p>
          <a:p>
            <a:pPr>
              <a:lnSpc>
                <a:spcPct val="112000"/>
              </a:lnSpc>
              <a:spcAft>
                <a:spcPts val="500"/>
              </a:spcAft>
            </a:pPr>
            <a:r>
              <a:rPr sz="1100">
                <a:solidFill>
                  <a:srgbClr val="94A3B8"/>
                </a:solidFill>
                <a:latin typeface="Arial"/>
              </a:rPr>
              <a:t>•  </a:t>
            </a:r>
            <a:r>
              <a:rPr sz="1100">
                <a:solidFill>
                  <a:srgbClr val="5B6372"/>
                </a:solidFill>
                <a:latin typeface="Arial"/>
              </a:rPr>
              <a:t>TLS bootstrap and automatic CSR approval</a:t>
            </a:r>
          </a:p>
          <a:p>
            <a:pPr>
              <a:lnSpc>
                <a:spcPct val="112000"/>
              </a:lnSpc>
              <a:spcAft>
                <a:spcPts val="500"/>
              </a:spcAft>
            </a:pPr>
            <a:r>
              <a:rPr sz="1100">
                <a:solidFill>
                  <a:srgbClr val="94A3B8"/>
                </a:solidFill>
                <a:latin typeface="Arial"/>
              </a:rPr>
              <a:t>•  </a:t>
            </a:r>
            <a:r>
              <a:rPr sz="1100">
                <a:solidFill>
                  <a:srgbClr val="5B6372"/>
                </a:solidFill>
                <a:latin typeface="Arial"/>
              </a:rPr>
              <a:t>The kubelet configuration ConfigMap every node reads</a:t>
            </a:r>
          </a:p>
        </p:txBody>
      </p:sp>
      <p:sp>
        <p:nvSpPr>
          <p:cNvPr id="23" name="Rounded Rectangle 22"/>
          <p:cNvSpPr/>
          <p:nvPr/>
        </p:nvSpPr>
        <p:spPr>
          <a:xfrm>
            <a:off x="8445398" y="5532120"/>
            <a:ext cx="12115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bootstrap-token</a:t>
            </a:r>
          </a:p>
        </p:txBody>
      </p:sp>
      <p:sp>
        <p:nvSpPr>
          <p:cNvPr id="24" name="Rounded Rectangle 23"/>
          <p:cNvSpPr/>
          <p:nvPr/>
        </p:nvSpPr>
        <p:spPr>
          <a:xfrm>
            <a:off x="9748418" y="5532120"/>
            <a:ext cx="1005839"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CSR approval</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418</a:t>
            </a:r>
          </a:p>
        </p:txBody>
      </p:sp>
    </p:spTree>
  </p:cSld>
  <p:clrMapOvr>
    <a:masterClrMapping/>
  </p:clrMapOvr>
  <p:transition xmlns:ns1="http://schemas.openxmlformats.org/markup-compatibility/2006" spd="fast" ns1:Ignorable="p14">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PKI a kubeadm Cluster Depends 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independent trust roots: one for Kubernetes, one for etcd.</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ca.crt / ca.key</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Cluster root CA — signs the Kubernetes leaf certs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apiserver.crt</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Serving cert; SANs must cover every endpoint used</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apiserver-kubelet-client</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API server's identity when calling kubelets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front-proxy-ca</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Separate CA for aggregated API servers</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etcd/ca.crt</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distinct CA — etcd trust is not the cluster CA</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etcd/server + etcd/peer</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Client-facing and member-to-member certs</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sa.key / sa.pub</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Signs and verifies ServiceAccount tokens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CA lifetime</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10 years</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leaf lifetime</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 year — renewed by kubeadm on upgrade</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Rotation risk</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Clusters that never upgrade quietly expire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419</a:t>
            </a:r>
          </a:p>
        </p:txBody>
      </p:sp>
    </p:spTree>
  </p:cSld>
  <p:clrMapOvr>
    <a:masterClrMapping/>
  </p:clrMapOvr>
  <p:transition xmlns:ns1="http://schemas.openxmlformats.org/markup-compatibility/2006" spd="fast" ns1:Ignorable="p14">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Node Proves Who It Is When Joining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Joining is an authentication problem, not a networking one.</a:t>
            </a:r>
          </a:p>
        </p:txBody>
      </p:sp>
      <p:sp>
        <p:nvSpPr>
          <p:cNvPr id="7" name="Rectangle 6"/>
          <p:cNvSpPr/>
          <p:nvPr/>
        </p:nvSpPr>
        <p:spPr>
          <a:xfrm>
            <a:off x="777240" y="2200046"/>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join-config.yaml</a:t>
            </a:r>
          </a:p>
        </p:txBody>
      </p:sp>
      <p:sp>
        <p:nvSpPr>
          <p:cNvPr id="9" name="TextBox 8"/>
          <p:cNvSpPr txBox="1"/>
          <p:nvPr/>
        </p:nvSpPr>
        <p:spPr>
          <a:xfrm>
            <a:off x="923544" y="2620670"/>
            <a:ext cx="6062472" cy="2999232"/>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apiVersion: kubeadm.k8s.io/v1beta4</a:t>
            </a:r>
          </a:p>
          <a:p>
            <a:pPr>
              <a:lnSpc>
                <a:spcPts val="1476"/>
              </a:lnSpc>
              <a:spcAft>
                <a:spcPts val="0"/>
              </a:spcAft>
            </a:pPr>
            <a:r>
              <a:rPr sz="1050">
                <a:solidFill>
                  <a:srgbClr val="E6EDF3"/>
                </a:solidFill>
                <a:latin typeface="Consolas"/>
              </a:rPr>
              <a:t>kind: JoinConfiguration</a:t>
            </a:r>
          </a:p>
          <a:p>
            <a:pPr>
              <a:lnSpc>
                <a:spcPts val="1476"/>
              </a:lnSpc>
              <a:spcAft>
                <a:spcPts val="0"/>
              </a:spcAft>
            </a:pPr>
            <a:r>
              <a:rPr sz="1050">
                <a:solidFill>
                  <a:srgbClr val="E6EDF3"/>
                </a:solidFill>
                <a:latin typeface="Consolas"/>
              </a:rPr>
              <a:t>discovery:</a:t>
            </a:r>
          </a:p>
          <a:p>
            <a:pPr>
              <a:lnSpc>
                <a:spcPts val="1476"/>
              </a:lnSpc>
              <a:spcAft>
                <a:spcPts val="0"/>
              </a:spcAft>
            </a:pPr>
            <a:r>
              <a:rPr sz="1050">
                <a:solidFill>
                  <a:srgbClr val="E6EDF3"/>
                </a:solidFill>
                <a:latin typeface="Consolas"/>
              </a:rPr>
              <a:t>  bootstrapToken:</a:t>
            </a:r>
          </a:p>
          <a:p>
            <a:pPr>
              <a:lnSpc>
                <a:spcPts val="1476"/>
              </a:lnSpc>
              <a:spcAft>
                <a:spcPts val="0"/>
              </a:spcAft>
            </a:pPr>
            <a:r>
              <a:rPr sz="1050">
                <a:solidFill>
                  <a:srgbClr val="E6EDF3"/>
                </a:solidFill>
                <a:latin typeface="Consolas"/>
              </a:rPr>
              <a:t>    apiServerEndpoint: k8s.tracklane.internal:6443</a:t>
            </a:r>
          </a:p>
          <a:p>
            <a:pPr>
              <a:lnSpc>
                <a:spcPts val="1476"/>
              </a:lnSpc>
              <a:spcAft>
                <a:spcPts val="0"/>
              </a:spcAft>
            </a:pPr>
            <a:r>
              <a:rPr sz="1050">
                <a:solidFill>
                  <a:srgbClr val="E6EDF3"/>
                </a:solidFill>
                <a:latin typeface="Consolas"/>
              </a:rPr>
              <a:t>    token: abcdef.0123456789abcdef</a:t>
            </a:r>
          </a:p>
          <a:p>
            <a:pPr>
              <a:lnSpc>
                <a:spcPts val="1476"/>
              </a:lnSpc>
              <a:spcAft>
                <a:spcPts val="0"/>
              </a:spcAft>
            </a:pPr>
            <a:r>
              <a:rPr sz="1050">
                <a:solidFill>
                  <a:srgbClr val="E6EDF3"/>
                </a:solidFill>
                <a:latin typeface="Consolas"/>
              </a:rPr>
              <a:t>    caCertHashes:</a:t>
            </a:r>
          </a:p>
          <a:p>
            <a:pPr>
              <a:lnSpc>
                <a:spcPts val="1476"/>
              </a:lnSpc>
              <a:spcAft>
                <a:spcPts val="0"/>
              </a:spcAft>
            </a:pPr>
            <a:r>
              <a:rPr sz="1050">
                <a:solidFill>
                  <a:srgbClr val="E6EDF3"/>
                </a:solidFill>
                <a:latin typeface="Consolas"/>
              </a:rPr>
              <a:t>      - sha256:1a2b3c4d...   # hash of the cluster CA public key</a:t>
            </a:r>
          </a:p>
          <a:p>
            <a:pPr>
              <a:lnSpc>
                <a:spcPts val="1476"/>
              </a:lnSpc>
              <a:spcAft>
                <a:spcPts val="0"/>
              </a:spcAft>
            </a:pPr>
            <a:r>
              <a:rPr sz="1050">
                <a:solidFill>
                  <a:srgbClr val="E6EDF3"/>
                </a:solidFill>
                <a:latin typeface="Consolas"/>
              </a:rPr>
              <a:t>nodeRegistration:</a:t>
            </a:r>
          </a:p>
          <a:p>
            <a:pPr>
              <a:lnSpc>
                <a:spcPts val="1476"/>
              </a:lnSpc>
              <a:spcAft>
                <a:spcPts val="0"/>
              </a:spcAft>
            </a:pPr>
            <a:r>
              <a:rPr sz="1050">
                <a:solidFill>
                  <a:srgbClr val="E6EDF3"/>
                </a:solidFill>
                <a:latin typeface="Consolas"/>
              </a:rPr>
              <a:t>  criSocket: unix:///run/containerd/containerd.sock</a:t>
            </a:r>
          </a:p>
          <a:p>
            <a:pPr>
              <a:lnSpc>
                <a:spcPts val="1476"/>
              </a:lnSpc>
              <a:spcAft>
                <a:spcPts val="0"/>
              </a:spcAft>
            </a:pPr>
            <a:r>
              <a:rPr sz="1050">
                <a:solidFill>
                  <a:srgbClr val="E6EDF3"/>
                </a:solidFill>
                <a:latin typeface="Consolas"/>
              </a:rPr>
              <a:t>  kubeletExtraArgs:</a:t>
            </a:r>
          </a:p>
          <a:p>
            <a:pPr>
              <a:lnSpc>
                <a:spcPts val="1476"/>
              </a:lnSpc>
              <a:spcAft>
                <a:spcPts val="0"/>
              </a:spcAft>
            </a:pPr>
            <a:r>
              <a:rPr sz="1050">
                <a:solidFill>
                  <a:srgbClr val="E6EDF3"/>
                </a:solidFill>
                <a:latin typeface="Consolas"/>
              </a:rPr>
              <a:t>    - name: node-labels</a:t>
            </a:r>
          </a:p>
          <a:p>
            <a:pPr>
              <a:lnSpc>
                <a:spcPts val="1476"/>
              </a:lnSpc>
              <a:spcAft>
                <a:spcPts val="0"/>
              </a:spcAft>
            </a:pPr>
            <a:r>
              <a:rPr sz="1050">
                <a:solidFill>
                  <a:srgbClr val="E6EDF3"/>
                </a:solidFill>
                <a:latin typeface="Consolas"/>
              </a:rPr>
              <a:t>      value: topology.kubernetes.io/zone=ap-southeast-1a</a:t>
            </a:r>
          </a:p>
          <a:p>
            <a:pPr>
              <a:lnSpc>
                <a:spcPts val="1476"/>
              </a:lnSpc>
              <a:spcAft>
                <a:spcPts val="0"/>
              </a:spcAft>
            </a:pPr>
            <a:r>
              <a:rPr sz="1050">
                <a:solidFill>
                  <a:srgbClr val="E6EDF3"/>
                </a:solidFill>
                <a:latin typeface="Consolas"/>
              </a:rPr>
              <a:t>---</a:t>
            </a:r>
          </a:p>
          <a:p>
            <a:pPr>
              <a:lnSpc>
                <a:spcPts val="1476"/>
              </a:lnSpc>
              <a:spcAft>
                <a:spcPts val="0"/>
              </a:spcAft>
            </a:pPr>
            <a:r>
              <a:rPr sz="1050">
                <a:solidFill>
                  <a:srgbClr val="7D8A99"/>
                </a:solidFill>
                <a:latin typeface="Consolas"/>
              </a:rPr>
              <a:t># the token object itself lives in kube-system as</a:t>
            </a:r>
          </a:p>
          <a:p>
            <a:pPr>
              <a:lnSpc>
                <a:spcPts val="1476"/>
              </a:lnSpc>
              <a:spcAft>
                <a:spcPts val="0"/>
              </a:spcAft>
            </a:pPr>
            <a:r>
              <a:rPr sz="1050">
                <a:solidFill>
                  <a:srgbClr val="7D8A99"/>
                </a:solidFill>
                <a:latin typeface="Consolas"/>
              </a:rPr>
              <a:t># Secret/bootstrap-token-abcdef  type: bootstrap.kubernetes.io/token</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token is mutual</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authenticates the node to the cluster; caCertHashes lets the node verify the cluster before trusting it.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Tokens expire</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Default TTL is 24 hours. A stale token is the most common reason a join fails months later.</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nodeRegistration is durable</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Labels and the CRI socket set here end up in the kubelet's own configuration on that node.</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It is only bootstrap credentials</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 token is used once, to request a real kubelet client certificate — then it is no longer needed.</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420</a:t>
            </a:r>
          </a:p>
        </p:txBody>
      </p:sp>
    </p:spTree>
  </p:cSld>
  <p:clrMapOvr>
    <a:masterClrMapping/>
  </p:clrMapOvr>
  <p:transition xmlns:ns1="http://schemas.openxmlformats.org/markup-compatibility/2006" spd="fast" ns1:Ignorable="p14">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LAB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Static Pods and Their Mirror Objects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API object is a reflection; the manifest on disk is the source of truth.</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kcna-lab20</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kube-system get pod kube-scheduler-kcna-control-plane \</a:t>
            </a:r>
          </a:p>
          <a:p>
            <a:pPr>
              <a:lnSpc>
                <a:spcPts val="1476"/>
              </a:lnSpc>
              <a:spcAft>
                <a:spcPts val="0"/>
              </a:spcAft>
            </a:pPr>
            <a:r>
              <a:rPr sz="1000">
                <a:solidFill>
                  <a:srgbClr val="E6EDF3"/>
                </a:solidFill>
                <a:latin typeface="Consolas"/>
              </a:rPr>
              <a:t>    -o jsonpath='{.metadata.annotations}' | tr ',' '\n'</a:t>
            </a:r>
          </a:p>
          <a:p>
            <a:pPr>
              <a:lnSpc>
                <a:spcPts val="1476"/>
              </a:lnSpc>
              <a:spcAft>
                <a:spcPts val="0"/>
              </a:spcAft>
            </a:pPr>
            <a:r>
              <a:rPr sz="1000">
                <a:solidFill>
                  <a:srgbClr val="E6EDF3"/>
                </a:solidFill>
                <a:latin typeface="Consolas"/>
              </a:rPr>
              <a:t>kubernetes.io/config.source: file</a:t>
            </a:r>
          </a:p>
          <a:p>
            <a:pPr>
              <a:lnSpc>
                <a:spcPts val="1476"/>
              </a:lnSpc>
              <a:spcAft>
                <a:spcPts val="0"/>
              </a:spcAft>
            </a:pPr>
            <a:r>
              <a:rPr sz="1000">
                <a:solidFill>
                  <a:srgbClr val="E6EDF3"/>
                </a:solidFill>
                <a:latin typeface="Consolas"/>
              </a:rPr>
              <a:t>kubernetes.io/config.hash: 9a4c1f7e0b3d2856ac9f4b17e05d3c82</a:t>
            </a:r>
          </a:p>
          <a:p>
            <a:pPr>
              <a:lnSpc>
                <a:spcPts val="1476"/>
              </a:lnSpc>
              <a:spcAft>
                <a:spcPts val="0"/>
              </a:spcAft>
            </a:pPr>
            <a:r>
              <a:rPr sz="1000">
                <a:solidFill>
                  <a:srgbClr val="E6EDF3"/>
                </a:solidFill>
                <a:latin typeface="Consolas"/>
              </a:rPr>
              <a:t>kubernetes.io/config.mirror: 9a4c1f7e0b3d2856ac9f4b17e05d3c82</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kube-system get pod kube-scheduler-kcna-control-plane \</a:t>
            </a:r>
          </a:p>
          <a:p>
            <a:pPr>
              <a:lnSpc>
                <a:spcPts val="1476"/>
              </a:lnSpc>
              <a:spcAft>
                <a:spcPts val="0"/>
              </a:spcAft>
            </a:pPr>
            <a:r>
              <a:rPr sz="1000">
                <a:solidFill>
                  <a:srgbClr val="E6EDF3"/>
                </a:solidFill>
                <a:latin typeface="Consolas"/>
              </a:rPr>
              <a:t>    -o jsonpath='{.metadata.ownerReferences[0].kind}'</a:t>
            </a:r>
          </a:p>
          <a:p>
            <a:pPr>
              <a:lnSpc>
                <a:spcPts val="1476"/>
              </a:lnSpc>
              <a:spcAft>
                <a:spcPts val="0"/>
              </a:spcAft>
            </a:pPr>
            <a:r>
              <a:rPr sz="1000">
                <a:solidFill>
                  <a:srgbClr val="E6EDF3"/>
                </a:solidFill>
                <a:latin typeface="Consolas"/>
              </a:rPr>
              <a:t>Node</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-n kube-system delete pod kube-scheduler-kcna-control-plane</a:t>
            </a:r>
          </a:p>
          <a:p>
            <a:pPr>
              <a:lnSpc>
                <a:spcPts val="1476"/>
              </a:lnSpc>
              <a:spcAft>
                <a:spcPts val="0"/>
              </a:spcAft>
            </a:pPr>
            <a:r>
              <a:rPr sz="1000">
                <a:solidFill>
                  <a:srgbClr val="E6EDF3"/>
                </a:solidFill>
                <a:latin typeface="Consolas"/>
              </a:rPr>
              <a:t>pod "kube-scheduler-kcna-control-plane" deleted</a:t>
            </a:r>
          </a:p>
          <a:p>
            <a:pPr>
              <a:lnSpc>
                <a:spcPts val="1476"/>
              </a:lnSpc>
              <a:spcAft>
                <a:spcPts val="0"/>
              </a:spcAft>
            </a:pPr>
            <a:r>
              <a:rPr sz="1000">
                <a:solidFill>
                  <a:srgbClr val="7EE787"/>
                </a:solidFill>
                <a:latin typeface="Consolas"/>
              </a:rPr>
              <a:t>$ kubectl -n kube-system get pod kube-scheduler-kcna-control-plane</a:t>
            </a:r>
          </a:p>
          <a:p>
            <a:pPr>
              <a:lnSpc>
                <a:spcPts val="1476"/>
              </a:lnSpc>
              <a:spcAft>
                <a:spcPts val="0"/>
              </a:spcAft>
            </a:pPr>
            <a:r>
              <a:rPr sz="1000">
                <a:solidFill>
                  <a:srgbClr val="E6EDF3"/>
                </a:solidFill>
                <a:latin typeface="Consolas"/>
              </a:rPr>
              <a:t>NAME                              READY   STATUS    RESTARTS   AGE</a:t>
            </a:r>
          </a:p>
          <a:p>
            <a:pPr>
              <a:lnSpc>
                <a:spcPts val="1476"/>
              </a:lnSpc>
              <a:spcAft>
                <a:spcPts val="0"/>
              </a:spcAft>
            </a:pPr>
            <a:r>
              <a:rPr sz="1000">
                <a:solidFill>
                  <a:srgbClr val="E6EDF3"/>
                </a:solidFill>
                <a:latin typeface="Consolas"/>
              </a:rPr>
              <a:t>kube-scheduler-kcna-control-plane 1/1     Running   0          7s</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7C3AED"/>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config.source: file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definitive marker of a static Pod — the kubelet read it from disk, not from the API server.</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Owned by the Node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 by a Deployment or DaemonSet. No controller will reschedule it anywhere else.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Deleting it changes nothing</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AGE resets because a new mirror object was created; RESTARTS stays 0 because the container never stopped.</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To actually stop it</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Move the manifest out of /etc/kubernetes/manifests on the node — which is exactly what an etcd restore does.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421</a:t>
            </a:r>
          </a:p>
        </p:txBody>
      </p:sp>
    </p:spTree>
  </p:cSld>
  <p:clrMapOvr>
    <a:masterClrMapping/>
  </p:clrMapOvr>
  <p:transition xmlns:ns1="http://schemas.openxmlformats.org/markup-compatibility/2006" spd="fast" ns1:Ignorable="p14">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CONCEPT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Static Pods vs Mirror Pods vs Everything Else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deliberate bootstrapping trick, and a recurring exam question.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Static Pod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Defined by a file in the kubelet's staticPodPath. The kubelet starts it with no involvement from the scheduler or API server.</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Mirror Pod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read-only API object the kubelet creates so the static Pod is visible to kubectl. It is a reflection, never a controller.</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 suffix</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node name is appended: kube-apiserver-&lt;node&gt;. That is how you recognise one at a glance.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evictable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drain will not move it; kubectl delete only removes the mirror. The container keeps running.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the control plane uses them</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Bootstrapping: the API server cannot be scheduled by a scheduler that needs the API server to exist.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Legitimate other uses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Node-local agents that must run even when the API server is unreachable.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Creating a cluster with kubeadm; kubeadm init phases; kubeadm PKI certificates and requirements.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422</a:t>
            </a:r>
          </a:p>
        </p:txBody>
      </p:sp>
    </p:spTree>
  </p:cSld>
  <p:clrMapOvr>
    <a:masterClrMapping/>
  </p:clrMapOvr>
  <p:transition xmlns:ns1="http://schemas.openxmlformats.org/markup-compatibility/2006" spd="fast" ns1:Ignorable="p14">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Stacked etcd vs External etcd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are supported HA topologies; the difference is how correlated your failures are.</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Dimension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Stacked etcd</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External etcd</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Where etcd runs</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As a static Pod on each control-plane node</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 dedicated hosts with their own lifecycle</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Node count for HA</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3 control-plane nodes total</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3 control-plane nodes plus 3 etcd hosts</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coupling</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Losing a node loses an API server and an etcd member together</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two failure domains are independent</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Certificate management</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kubeadm generates the etcd PKI for you</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 supply the etcd CA and client certificates to kubeadm</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Operational cost</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Lower — this is the kubeadm default</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Higher, but etcd can be tuned, backed up and upgraded separately</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Start stacked. Move to external etcd when etcd's storage profile, backup cadence or upgrade risk genuinely differs from the control plane's.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Options for Highly Available topology (stacked etcd vs external etcd).</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423</a:t>
            </a:r>
          </a:p>
        </p:txBody>
      </p:sp>
    </p:spTree>
  </p:cSld>
  <p:clrMapOvr>
    <a:masterClrMapping/>
  </p:clrMapOvr>
  <p:transition xmlns:ns1="http://schemas.openxmlformats.org/markup-compatibility/2006" spd="fast" ns1:Ignorable="p14">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SEQUENCE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Cluster Upgrade Order — and Why That Order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order is not convention — it is forced by the skew policy.</a:t>
            </a:r>
          </a:p>
        </p:txBody>
      </p:sp>
      <p:sp>
        <p:nvSpPr>
          <p:cNvPr id="7" name="Rounded Rectangle 6"/>
          <p:cNvSpPr/>
          <p:nvPr/>
        </p:nvSpPr>
        <p:spPr>
          <a:xfrm>
            <a:off x="7772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Read before you act</a:t>
            </a:r>
          </a:p>
        </p:txBody>
      </p:sp>
      <p:sp>
        <p:nvSpPr>
          <p:cNvPr id="11" name="TextBox 10"/>
          <p:cNvSpPr txBox="1"/>
          <p:nvPr/>
        </p:nvSpPr>
        <p:spPr>
          <a:xfrm>
            <a:off x="9235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Check the release notes for removed APIs, then confirm you are moving exactly one minor version.</a:t>
            </a:r>
          </a:p>
        </p:txBody>
      </p:sp>
      <p:cxnSp>
        <p:nvCxnSpPr>
          <p:cNvPr id="12" name="Connector 11"/>
          <p:cNvCxnSpPr/>
          <p:nvPr/>
        </p:nvCxnSpPr>
        <p:spPr>
          <a:xfrm>
            <a:off x="271393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209448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First control-plane node</a:t>
            </a:r>
          </a:p>
        </p:txBody>
      </p:sp>
      <p:sp>
        <p:nvSpPr>
          <p:cNvPr id="17" name="TextBox 16"/>
          <p:cNvSpPr txBox="1"/>
          <p:nvPr/>
        </p:nvSpPr>
        <p:spPr>
          <a:xfrm>
            <a:off x="312541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Upgrade the kubeadm binary, then kubeadm upgrade apply. It rewrites the static Pod manifests and renews certificates.</a:t>
            </a:r>
          </a:p>
        </p:txBody>
      </p:sp>
      <p:cxnSp>
        <p:nvCxnSpPr>
          <p:cNvPr id="18" name="Connector 17"/>
          <p:cNvCxnSpPr/>
          <p:nvPr/>
        </p:nvCxnSpPr>
        <p:spPr>
          <a:xfrm>
            <a:off x="491581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209448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Remaining control-plane nodes</a:t>
            </a:r>
          </a:p>
        </p:txBody>
      </p:sp>
      <p:sp>
        <p:nvSpPr>
          <p:cNvPr id="23" name="TextBox 22"/>
          <p:cNvSpPr txBox="1"/>
          <p:nvPr/>
        </p:nvSpPr>
        <p:spPr>
          <a:xfrm>
            <a:off x="532729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kubeadm upgrade node — the cluster-wide configuration is already published, so these nodes only update themselves.</a:t>
            </a:r>
          </a:p>
        </p:txBody>
      </p:sp>
      <p:cxnSp>
        <p:nvCxnSpPr>
          <p:cNvPr id="24" name="Connector 23"/>
          <p:cNvCxnSpPr/>
          <p:nvPr/>
        </p:nvCxnSpPr>
        <p:spPr>
          <a:xfrm>
            <a:off x="7117689"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209448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Each worker, one at a time</a:t>
            </a:r>
          </a:p>
        </p:txBody>
      </p:sp>
      <p:sp>
        <p:nvSpPr>
          <p:cNvPr id="29" name="TextBox 28"/>
          <p:cNvSpPr txBox="1"/>
          <p:nvPr/>
        </p:nvSpPr>
        <p:spPr>
          <a:xfrm>
            <a:off x="7529169"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drain to evict workloads respecting PodDisruptionBudgets, then upgrade kubelet and kubectl on that node.</a:t>
            </a:r>
          </a:p>
        </p:txBody>
      </p:sp>
      <p:cxnSp>
        <p:nvCxnSpPr>
          <p:cNvPr id="30" name="Connector 29"/>
          <p:cNvCxnSpPr/>
          <p:nvPr/>
        </p:nvCxnSpPr>
        <p:spPr>
          <a:xfrm>
            <a:off x="9319564" y="3430168"/>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209448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607313"/>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uncordon and verify</a:t>
            </a:r>
          </a:p>
        </p:txBody>
      </p:sp>
      <p:sp>
        <p:nvSpPr>
          <p:cNvPr id="35" name="TextBox 34"/>
          <p:cNvSpPr txBox="1"/>
          <p:nvPr/>
        </p:nvSpPr>
        <p:spPr>
          <a:xfrm>
            <a:off x="9731044" y="3465728"/>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Return the node to the schedulable pool and confirm workloads rebalance before touching the next one.</a:t>
            </a:r>
          </a:p>
        </p:txBody>
      </p:sp>
      <p:sp>
        <p:nvSpPr>
          <p:cNvPr id="36" name="Rectangle 35"/>
          <p:cNvSpPr/>
          <p:nvPr/>
        </p:nvSpPr>
        <p:spPr>
          <a:xfrm>
            <a:off x="777240" y="4788306"/>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788306"/>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870602"/>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099202"/>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control plane goes first because the version skew policy permits an older kubelet against a newer API server, but never the reverse.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Upgrading kubeadm clusters; Kubernetes Version Skew Policy (kubernetes.io/releases/version-skew-policy/).</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424</a:t>
            </a:r>
          </a:p>
        </p:txBody>
      </p:sp>
    </p:spTree>
  </p:cSld>
  <p:clrMapOvr>
    <a:masterClrMapping/>
  </p:clrMapOvr>
  <p:transition xmlns:ns5="http://schemas.openxmlformats.org/markup-compatibility/2006" spd="fast" ns5:Ignorable="p14">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PUBLISHED POLICY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Version Skew: How Far Apart Components May Be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the upgrade order straight off this chart.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Minor versions</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Published, not estimated</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These are the allowances in the Kubernetes version skew policy, not measured behaviour.</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Nothing may outrun the API server</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Except kubectl, every component must be at or below the kube-apiserver minor version.</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kubelet gets three</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wide kubelet window is what makes rolling node upgrades across a large fleet practical.</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Scheduler and controllers get one</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They are tightly coupled to API behaviour, so their window is deliberately narrow.</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Upgrading kubeadm clusters; Kubernetes Version Skew Policy (kubernetes.io/releases/version-skew-policy/).</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425</a:t>
            </a:r>
          </a:p>
        </p:txBody>
      </p:sp>
    </p:spTree>
  </p:cSld>
  <p:clrMapOvr>
    <a:masterClrMapping/>
  </p:clrMapOvr>
  <p:transition xmlns:ns1="http://schemas.openxmlformats.org/markup-compatibility/2006" spd="fast" ns1:Ignorable="p14">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OPERATIONAL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Upgrade Rules That Bite in Practice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rules that account for most upgrade incidents.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One minor version at a time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1.30 to 1.32 is two upgrades. Skipping is unsupported and the control plane will refuse it.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Never upgrade a kubelet past the API server</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skew policy is one-directional. Control plane first, always.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Deprecated APIs break silently</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Objects stored under a removed API version fail on read after the upgrade. Audit before, not after.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drain respects PodDisruptionBudgets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PDB that can never be satisfied will block the drain forever — that is the PDB working, not a bug.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Static Pod manifests are rewritten</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Local edits to /etc/kubernetes/manifests are overwritten by kubeadm upgrade apply. Keep customisation in configuration.</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Snapshot etcd first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upgrade path forward is well supported; the path backward is a restore from a snapshot you took beforehand.</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Upgrading kubeadm clusters; Kubernetes Version Skew Policy (kubernetes.io/releases/version-skew-policy/).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426</a:t>
            </a:r>
          </a:p>
        </p:txBody>
      </p:sp>
    </p:spTree>
  </p:cSld>
  <p:clrMapOvr>
    <a:masterClrMapping/>
  </p:clrMapOvr>
  <p:transition xmlns:ns1="http://schemas.openxmlformats.org/markup-compatibility/2006" spd="fast" ns1:Ignorable="p14">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VERBS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cordon, drain and uncordon Are Three Different Things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Draining is a request that other people's disruption budgets are allowed to refuse.</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each verb changes</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cordon sets node.spec.unschedulable: true — nothing is evicted</a:t>
            </a:r>
          </a:p>
          <a:p>
            <a:pPr>
              <a:lnSpc>
                <a:spcPct val="112000"/>
              </a:lnSpc>
              <a:spcAft>
                <a:spcPts val="700"/>
              </a:spcAft>
            </a:pPr>
            <a:r>
              <a:rPr sz="1150">
                <a:solidFill>
                  <a:srgbClr val="94A3B8"/>
                </a:solidFill>
                <a:latin typeface="Arial"/>
              </a:rPr>
              <a:t>•  </a:t>
            </a:r>
            <a:r>
              <a:rPr sz="1150">
                <a:solidFill>
                  <a:srgbClr val="5B6372"/>
                </a:solidFill>
                <a:latin typeface="Arial"/>
              </a:rPr>
              <a:t>drain cordons, then evicts every eligible Pod on the node</a:t>
            </a:r>
          </a:p>
          <a:p>
            <a:pPr>
              <a:lnSpc>
                <a:spcPct val="112000"/>
              </a:lnSpc>
              <a:spcAft>
                <a:spcPts val="700"/>
              </a:spcAft>
            </a:pPr>
            <a:r>
              <a:rPr sz="1150">
                <a:solidFill>
                  <a:srgbClr val="94A3B8"/>
                </a:solidFill>
                <a:latin typeface="Arial"/>
              </a:rPr>
              <a:t>•  </a:t>
            </a:r>
            <a:r>
              <a:rPr sz="1150">
                <a:solidFill>
                  <a:srgbClr val="5B6372"/>
                </a:solidFill>
                <a:latin typeface="Arial"/>
              </a:rPr>
              <a:t>Eviction goes through the Eviction API, so PDBs are honoured</a:t>
            </a:r>
          </a:p>
          <a:p>
            <a:pPr>
              <a:lnSpc>
                <a:spcPct val="112000"/>
              </a:lnSpc>
              <a:spcAft>
                <a:spcPts val="700"/>
              </a:spcAft>
            </a:pPr>
            <a:r>
              <a:rPr sz="1150">
                <a:solidFill>
                  <a:srgbClr val="94A3B8"/>
                </a:solidFill>
                <a:latin typeface="Arial"/>
              </a:rPr>
              <a:t>•  </a:t>
            </a:r>
            <a:r>
              <a:rPr sz="1150">
                <a:solidFill>
                  <a:srgbClr val="5B6372"/>
                </a:solidFill>
                <a:latin typeface="Arial"/>
              </a:rPr>
              <a:t>uncordon clears the flag; it does not bring workloads back</a:t>
            </a:r>
          </a:p>
          <a:p>
            <a:pPr>
              <a:lnSpc>
                <a:spcPct val="112000"/>
              </a:lnSpc>
              <a:spcAft>
                <a:spcPts val="700"/>
              </a:spcAft>
            </a:pPr>
            <a:r>
              <a:rPr sz="1150">
                <a:solidFill>
                  <a:srgbClr val="94A3B8"/>
                </a:solidFill>
                <a:latin typeface="Arial"/>
              </a:rPr>
              <a:t>•  </a:t>
            </a:r>
            <a:r>
              <a:rPr sz="1150">
                <a:solidFill>
                  <a:srgbClr val="5B6372"/>
                </a:solidFill>
                <a:latin typeface="Arial"/>
              </a:rPr>
              <a:t>Nothing here moves a Pod — controllers recreate them elsewhere</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refuses to be drained</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Static and mirror Pods — the kubelet owns them, not a controller</a:t>
            </a:r>
          </a:p>
          <a:p>
            <a:pPr>
              <a:lnSpc>
                <a:spcPct val="112000"/>
              </a:lnSpc>
              <a:spcAft>
                <a:spcPts val="700"/>
              </a:spcAft>
            </a:pPr>
            <a:r>
              <a:rPr sz="1150">
                <a:solidFill>
                  <a:srgbClr val="94A3B8"/>
                </a:solidFill>
                <a:latin typeface="Arial"/>
              </a:rPr>
              <a:t>•  </a:t>
            </a:r>
            <a:r>
              <a:rPr sz="1150">
                <a:solidFill>
                  <a:srgbClr val="5B6372"/>
                </a:solidFill>
                <a:latin typeface="Arial"/>
              </a:rPr>
              <a:t>DaemonSet Pods, unless you pass --ignore-daemonsets</a:t>
            </a:r>
          </a:p>
          <a:p>
            <a:pPr>
              <a:lnSpc>
                <a:spcPct val="112000"/>
              </a:lnSpc>
              <a:spcAft>
                <a:spcPts val="700"/>
              </a:spcAft>
            </a:pPr>
            <a:r>
              <a:rPr sz="1150">
                <a:solidFill>
                  <a:srgbClr val="94A3B8"/>
                </a:solidFill>
                <a:latin typeface="Arial"/>
              </a:rPr>
              <a:t>•  </a:t>
            </a:r>
            <a:r>
              <a:rPr sz="1150">
                <a:solidFill>
                  <a:srgbClr val="5B6372"/>
                </a:solidFill>
                <a:latin typeface="Arial"/>
              </a:rPr>
              <a:t>Bare Pods with no controller, unless you accept losing them</a:t>
            </a:r>
          </a:p>
          <a:p>
            <a:pPr>
              <a:lnSpc>
                <a:spcPct val="112000"/>
              </a:lnSpc>
              <a:spcAft>
                <a:spcPts val="700"/>
              </a:spcAft>
            </a:pPr>
            <a:r>
              <a:rPr sz="1150">
                <a:solidFill>
                  <a:srgbClr val="94A3B8"/>
                </a:solidFill>
                <a:latin typeface="Arial"/>
              </a:rPr>
              <a:t>•  </a:t>
            </a:r>
            <a:r>
              <a:rPr sz="1150">
                <a:solidFill>
                  <a:srgbClr val="5B6372"/>
                </a:solidFill>
                <a:latin typeface="Arial"/>
              </a:rPr>
              <a:t>Pods using local storage, unless you accept deleting the data</a:t>
            </a:r>
          </a:p>
          <a:p>
            <a:pPr>
              <a:lnSpc>
                <a:spcPct val="112000"/>
              </a:lnSpc>
              <a:spcAft>
                <a:spcPts val="700"/>
              </a:spcAft>
            </a:pPr>
            <a:r>
              <a:rPr sz="1150">
                <a:solidFill>
                  <a:srgbClr val="94A3B8"/>
                </a:solidFill>
                <a:latin typeface="Arial"/>
              </a:rPr>
              <a:t>•  </a:t>
            </a:r>
            <a:r>
              <a:rPr sz="1150">
                <a:solidFill>
                  <a:srgbClr val="5B6372"/>
                </a:solidFill>
                <a:latin typeface="Arial"/>
              </a:rPr>
              <a:t>Anything a PodDisruptionBudget currently protects</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Upgrading kubeadm clusters; Kubernetes Version Skew Policy (kubernetes.io/releases/version-skew-policy/).</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427</a:t>
            </a:r>
          </a:p>
        </p:txBody>
      </p:sp>
    </p:spTree>
  </p:cSld>
  <p:clrMapOvr>
    <a:masterClrMapping/>
  </p:clrMapOvr>
  <p:transition xmlns:ns1="http://schemas.openxmlformats.org/markup-compatibility/2006" spd="fast" ns1:Ignorable="p14">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etcd Agrees With Itself — Raft in Five Steps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etcd chooses consistency over availability, and the whole control plane inherits that choice.</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Leader election</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Members elect one leader for a term. Only the leader accepts writes; followers replicate from it.</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Append to the log</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client write becomes a log entry on the leader and is sent to every follower.</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Majority acknowledges</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entry is committed once a quorum — more than half the members — has durably stored it.</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Apply to the state machine</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Committed entries are applied in order, producing a new revision of the key-value store.</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Serve reads consistently</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Linearizable reads go through the leader, so a read never returns state older than an acknowledged write.</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Availability is bounded by the majority rule: a cluster that cannot form a quorum stops accepting writes rather than risk divergence.</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Operating etcd clusters for Kubernetes; etcd.io documentation (FAQ, Raft, etcdutl).</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428</a:t>
            </a:r>
          </a:p>
        </p:txBody>
      </p:sp>
    </p:spTree>
  </p:cSld>
  <p:clrMapOvr>
    <a:masterClrMapping/>
  </p:clrMapOvr>
  <p:transition xmlns:ns5="http://schemas.openxmlformats.org/markup-compatibility/2006" spd="fast" ns5:Ignorable="p14">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EXACT ARITHMETIC</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etcd Clusters Have an Odd Number of Members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Quorum = floor(n/2) + 1. Everything else on this slide follows from that.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Members</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Pure arithmetic</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Quorum is floor(n/2)+1 and tolerance is n minus quorum. No measurement is involved — this is the Raft majority rule.</a:t>
            </a:r>
          </a:p>
        </p:txBody>
      </p:sp>
      <p:sp>
        <p:nvSpPr>
          <p:cNvPr id="14" name="Rectangle 13"/>
          <p:cNvSpPr/>
          <p:nvPr/>
        </p:nvSpPr>
        <p:spPr>
          <a:xfrm>
            <a:off x="7927848" y="34620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4437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Even counts add nothing</a:t>
            </a:r>
          </a:p>
        </p:txBody>
      </p:sp>
      <p:sp>
        <p:nvSpPr>
          <p:cNvPr id="16" name="TextBox 15"/>
          <p:cNvSpPr txBox="1"/>
          <p:nvPr/>
        </p:nvSpPr>
        <p:spPr>
          <a:xfrm>
            <a:off x="8092440" y="36631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4 members tolerate the same single failure as 3, while adding another thing that can fail.</a:t>
            </a:r>
          </a:p>
        </p:txBody>
      </p:sp>
      <p:sp>
        <p:nvSpPr>
          <p:cNvPr id="17" name="Rectangle 16"/>
          <p:cNvSpPr/>
          <p:nvPr/>
        </p:nvSpPr>
        <p:spPr>
          <a:xfrm>
            <a:off x="7927848" y="41569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1386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3 is the common answer</a:t>
            </a:r>
          </a:p>
        </p:txBody>
      </p:sp>
      <p:sp>
        <p:nvSpPr>
          <p:cNvPr id="19" name="TextBox 18"/>
          <p:cNvSpPr txBox="1"/>
          <p:nvPr/>
        </p:nvSpPr>
        <p:spPr>
          <a:xfrm>
            <a:off x="8092440" y="43581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survives one member loss, which covers node maintenance and a single host failure.</a:t>
            </a:r>
          </a:p>
        </p:txBody>
      </p:sp>
      <p:sp>
        <p:nvSpPr>
          <p:cNvPr id="20" name="Rectangle 19"/>
          <p:cNvSpPr/>
          <p:nvPr/>
        </p:nvSpPr>
        <p:spPr>
          <a:xfrm>
            <a:off x="7927848" y="48519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8336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5 for larger estates</a:t>
            </a:r>
          </a:p>
        </p:txBody>
      </p:sp>
      <p:sp>
        <p:nvSpPr>
          <p:cNvPr id="22" name="TextBox 21"/>
          <p:cNvSpPr txBox="1"/>
          <p:nvPr/>
        </p:nvSpPr>
        <p:spPr>
          <a:xfrm>
            <a:off x="8092440" y="50530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Two simultaneous failures tolerated, at the cost of more replication traffic per write.</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Operating etcd clusters for Kubernetes; etcd.io documentation (FAQ, Raft, etcdutl).</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429</a:t>
            </a:r>
          </a:p>
        </p:txBody>
      </p:sp>
    </p:spTree>
  </p:cSld>
  <p:clrMapOvr>
    <a:masterClrMapping/>
  </p:clrMapOvr>
  <p:transition xmlns:ns1="http://schemas.openxmlformats.org/markup-compatibility/2006" spd="fast" ns1:Ignorable="p14">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the etcd Static Pod Manifest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Nine flags explain the entire storage layer of a Kubernetes cluster.</a:t>
            </a:r>
          </a:p>
        </p:txBody>
      </p:sp>
      <p:sp>
        <p:nvSpPr>
          <p:cNvPr id="7" name="Rectangle 6"/>
          <p:cNvSpPr/>
          <p:nvPr/>
        </p:nvSpPr>
        <p:spPr>
          <a:xfrm>
            <a:off x="777240" y="2200046"/>
            <a:ext cx="635508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etcd.yaml — as read from the runtime cluster</a:t>
            </a:r>
          </a:p>
        </p:txBody>
      </p:sp>
      <p:sp>
        <p:nvSpPr>
          <p:cNvPr id="9" name="TextBox 8"/>
          <p:cNvSpPr txBox="1"/>
          <p:nvPr/>
        </p:nvSpPr>
        <p:spPr>
          <a:xfrm>
            <a:off x="923544" y="2620670"/>
            <a:ext cx="6062472" cy="2999232"/>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/etc/kubernetes/manifests/etcd.yaml  (extract)</a:t>
            </a:r>
          </a:p>
          <a:p>
            <a:pPr>
              <a:lnSpc>
                <a:spcPts val="1476"/>
              </a:lnSpc>
              <a:spcAft>
                <a:spcPts val="0"/>
              </a:spcAft>
            </a:pPr>
            <a:r>
              <a:rPr sz="1050">
                <a:solidFill>
                  <a:srgbClr val="E6EDF3"/>
                </a:solidFill>
                <a:latin typeface="Consolas"/>
              </a:rPr>
              <a:t>spec:</a:t>
            </a:r>
          </a:p>
          <a:p>
            <a:pPr>
              <a:lnSpc>
                <a:spcPts val="1476"/>
              </a:lnSpc>
              <a:spcAft>
                <a:spcPts val="0"/>
              </a:spcAft>
            </a:pPr>
            <a:r>
              <a:rPr sz="1050">
                <a:solidFill>
                  <a:srgbClr val="E6EDF3"/>
                </a:solidFill>
                <a:latin typeface="Consolas"/>
              </a:rPr>
              <a:t>  containers:</a:t>
            </a:r>
          </a:p>
          <a:p>
            <a:pPr>
              <a:lnSpc>
                <a:spcPts val="1476"/>
              </a:lnSpc>
              <a:spcAft>
                <a:spcPts val="0"/>
              </a:spcAft>
            </a:pPr>
            <a:r>
              <a:rPr sz="1050">
                <a:solidFill>
                  <a:srgbClr val="E6EDF3"/>
                </a:solidFill>
                <a:latin typeface="Consolas"/>
              </a:rPr>
              <a:t>  - image: registry.k8s.io/etcd:3.5.15-0</a:t>
            </a:r>
          </a:p>
          <a:p>
            <a:pPr>
              <a:lnSpc>
                <a:spcPts val="1476"/>
              </a:lnSpc>
              <a:spcAft>
                <a:spcPts val="0"/>
              </a:spcAft>
            </a:pPr>
            <a:r>
              <a:rPr sz="1050">
                <a:solidFill>
                  <a:srgbClr val="E6EDF3"/>
                </a:solidFill>
                <a:latin typeface="Consolas"/>
              </a:rPr>
              <a:t>    command:</a:t>
            </a:r>
          </a:p>
          <a:p>
            <a:pPr>
              <a:lnSpc>
                <a:spcPts val="1476"/>
              </a:lnSpc>
              <a:spcAft>
                <a:spcPts val="0"/>
              </a:spcAft>
            </a:pPr>
            <a:r>
              <a:rPr sz="1050">
                <a:solidFill>
                  <a:srgbClr val="E6EDF3"/>
                </a:solidFill>
                <a:latin typeface="Consolas"/>
              </a:rPr>
              <a:t>    - etcd</a:t>
            </a:r>
          </a:p>
          <a:p>
            <a:pPr>
              <a:lnSpc>
                <a:spcPts val="1476"/>
              </a:lnSpc>
              <a:spcAft>
                <a:spcPts val="0"/>
              </a:spcAft>
            </a:pPr>
            <a:r>
              <a:rPr sz="1050">
                <a:solidFill>
                  <a:srgbClr val="E6EDF3"/>
                </a:solidFill>
                <a:latin typeface="Consolas"/>
              </a:rPr>
              <a:t>    - --data-dir=/var/lib/etcd</a:t>
            </a:r>
          </a:p>
          <a:p>
            <a:pPr>
              <a:lnSpc>
                <a:spcPts val="1476"/>
              </a:lnSpc>
              <a:spcAft>
                <a:spcPts val="0"/>
              </a:spcAft>
            </a:pPr>
            <a:r>
              <a:rPr sz="1050">
                <a:solidFill>
                  <a:srgbClr val="E6EDF3"/>
                </a:solidFill>
                <a:latin typeface="Consolas"/>
              </a:rPr>
              <a:t>    - --listen-client-urls=https://127.0.0.1:2379,</a:t>
            </a:r>
          </a:p>
          <a:p>
            <a:pPr>
              <a:lnSpc>
                <a:spcPts val="1476"/>
              </a:lnSpc>
              <a:spcAft>
                <a:spcPts val="0"/>
              </a:spcAft>
            </a:pPr>
            <a:r>
              <a:rPr sz="1050">
                <a:solidFill>
                  <a:srgbClr val="E6EDF3"/>
                </a:solidFill>
                <a:latin typeface="Consolas"/>
              </a:rPr>
              <a:t>                           https://172.18.0.2:2379</a:t>
            </a:r>
          </a:p>
          <a:p>
            <a:pPr>
              <a:lnSpc>
                <a:spcPts val="1476"/>
              </a:lnSpc>
              <a:spcAft>
                <a:spcPts val="0"/>
              </a:spcAft>
            </a:pPr>
            <a:r>
              <a:rPr sz="1050">
                <a:solidFill>
                  <a:srgbClr val="E6EDF3"/>
                </a:solidFill>
                <a:latin typeface="Consolas"/>
              </a:rPr>
              <a:t>    - --advertise-client-urls=https://172.18.0.2:2379</a:t>
            </a:r>
          </a:p>
          <a:p>
            <a:pPr>
              <a:lnSpc>
                <a:spcPts val="1476"/>
              </a:lnSpc>
              <a:spcAft>
                <a:spcPts val="0"/>
              </a:spcAft>
            </a:pPr>
            <a:r>
              <a:rPr sz="1050">
                <a:solidFill>
                  <a:srgbClr val="E6EDF3"/>
                </a:solidFill>
                <a:latin typeface="Consolas"/>
              </a:rPr>
              <a:t>    - --listen-peer-urls=https://172.18.0.2:2380</a:t>
            </a:r>
          </a:p>
          <a:p>
            <a:pPr>
              <a:lnSpc>
                <a:spcPts val="1476"/>
              </a:lnSpc>
              <a:spcAft>
                <a:spcPts val="0"/>
              </a:spcAft>
            </a:pPr>
            <a:r>
              <a:rPr sz="1050">
                <a:solidFill>
                  <a:srgbClr val="E6EDF3"/>
                </a:solidFill>
                <a:latin typeface="Consolas"/>
              </a:rPr>
              <a:t>    - --initial-cluster=kcna-control-plane=https://172.18.0.2:2380</a:t>
            </a:r>
          </a:p>
          <a:p>
            <a:pPr>
              <a:lnSpc>
                <a:spcPts val="1476"/>
              </a:lnSpc>
              <a:spcAft>
                <a:spcPts val="0"/>
              </a:spcAft>
            </a:pPr>
            <a:r>
              <a:rPr sz="1050">
                <a:solidFill>
                  <a:srgbClr val="E6EDF3"/>
                </a:solidFill>
                <a:latin typeface="Consolas"/>
              </a:rPr>
              <a:t>    - --trusted-ca-file=/etc/kubernetes/pki/etcd/ca.crt</a:t>
            </a:r>
          </a:p>
          <a:p>
            <a:pPr>
              <a:lnSpc>
                <a:spcPts val="1476"/>
              </a:lnSpc>
              <a:spcAft>
                <a:spcPts val="0"/>
              </a:spcAft>
            </a:pPr>
            <a:r>
              <a:rPr sz="1050">
                <a:solidFill>
                  <a:srgbClr val="E6EDF3"/>
                </a:solidFill>
                <a:latin typeface="Consolas"/>
              </a:rPr>
              <a:t>    - --cert-file=/etc/kubernetes/pki/etcd/server.crt</a:t>
            </a:r>
          </a:p>
          <a:p>
            <a:pPr>
              <a:lnSpc>
                <a:spcPts val="1476"/>
              </a:lnSpc>
              <a:spcAft>
                <a:spcPts val="0"/>
              </a:spcAft>
            </a:pPr>
            <a:r>
              <a:rPr sz="1050">
                <a:solidFill>
                  <a:srgbClr val="E6EDF3"/>
                </a:solidFill>
                <a:latin typeface="Consolas"/>
              </a:rPr>
              <a:t>    - --key-file=/etc/kubernetes/pki/etcd/server.key</a:t>
            </a:r>
          </a:p>
          <a:p>
            <a:pPr>
              <a:lnSpc>
                <a:spcPts val="1476"/>
              </a:lnSpc>
              <a:spcAft>
                <a:spcPts val="0"/>
              </a:spcAft>
            </a:pPr>
            <a:r>
              <a:rPr sz="1050">
                <a:solidFill>
                  <a:srgbClr val="E6EDF3"/>
                </a:solidFill>
                <a:latin typeface="Consolas"/>
              </a:rPr>
              <a:t>    - --client-cert-auth=true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F59E0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ports, two purposes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2379 serves clients (only the API server should be one); 2380 carries member-to-member replication.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--data-dir is the whole cluster</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Every object in your Kubernetes API lives under this directory. Back it up, and never share it between members.</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--initial-cluster lists members</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entry here means a single-member cluster: quorum 1, zero failures tolerated.</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Client cert auth is mandatory</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etcd trusts a separate CA from the cluster CA, and requires a client certificate for every connection.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430</a:t>
            </a:r>
          </a:p>
        </p:txBody>
      </p:sp>
    </p:spTree>
  </p:cSld>
  <p:clrMapOvr>
    <a:masterClrMapping/>
  </p:clrMapOvr>
  <p:transition xmlns:ns1="http://schemas.openxmlformats.org/markup-compatibility/2006" spd="fast" ns1:Ignorable="p14">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Verifying a Snapshot Before You Trust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backup you have never verified is a hypothesis, not a backup.</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kcna-lab20</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etcdctl --endpoints=https://127.0.0.1:2379 \</a:t>
            </a:r>
          </a:p>
          <a:p>
            <a:pPr>
              <a:lnSpc>
                <a:spcPts val="1476"/>
              </a:lnSpc>
              <a:spcAft>
                <a:spcPts val="0"/>
              </a:spcAft>
            </a:pPr>
            <a:r>
              <a:rPr sz="1000">
                <a:solidFill>
                  <a:srgbClr val="E6EDF3"/>
                </a:solidFill>
                <a:latin typeface="Consolas"/>
              </a:rPr>
              <a:t>    --cacert=/etc/kubernetes/pki/etcd/ca.crt \</a:t>
            </a:r>
          </a:p>
          <a:p>
            <a:pPr>
              <a:lnSpc>
                <a:spcPts val="1476"/>
              </a:lnSpc>
              <a:spcAft>
                <a:spcPts val="0"/>
              </a:spcAft>
            </a:pPr>
            <a:r>
              <a:rPr sz="1000">
                <a:solidFill>
                  <a:srgbClr val="E6EDF3"/>
                </a:solidFill>
                <a:latin typeface="Consolas"/>
              </a:rPr>
              <a:t>    --cert=/etc/kubernetes/pki/etcd/server.crt \</a:t>
            </a:r>
          </a:p>
          <a:p>
            <a:pPr>
              <a:lnSpc>
                <a:spcPts val="1476"/>
              </a:lnSpc>
              <a:spcAft>
                <a:spcPts val="0"/>
              </a:spcAft>
            </a:pPr>
            <a:r>
              <a:rPr sz="1000">
                <a:solidFill>
                  <a:srgbClr val="E6EDF3"/>
                </a:solidFill>
                <a:latin typeface="Consolas"/>
              </a:rPr>
              <a:t>    --key=/etc/kubernetes/pki/etcd/server.key \</a:t>
            </a:r>
          </a:p>
          <a:p>
            <a:pPr>
              <a:lnSpc>
                <a:spcPts val="1476"/>
              </a:lnSpc>
              <a:spcAft>
                <a:spcPts val="0"/>
              </a:spcAft>
            </a:pPr>
            <a:r>
              <a:rPr sz="1000">
                <a:solidFill>
                  <a:srgbClr val="E6EDF3"/>
                </a:solidFill>
                <a:latin typeface="Consolas"/>
              </a:rPr>
              <a:t>    snapshot save /var/lib/etcd/kcna-lab20-snapshot.db</a:t>
            </a:r>
          </a:p>
          <a:p>
            <a:pPr>
              <a:lnSpc>
                <a:spcPts val="1476"/>
              </a:lnSpc>
              <a:spcAft>
                <a:spcPts val="0"/>
              </a:spcAft>
            </a:pPr>
            <a:r>
              <a:rPr sz="1000">
                <a:solidFill>
                  <a:srgbClr val="E6EDF3"/>
                </a:solidFill>
                <a:latin typeface="Consolas"/>
              </a:rPr>
              <a:t>{"level":"info","msg":"saved",</a:t>
            </a:r>
          </a:p>
          <a:p>
            <a:pPr>
              <a:lnSpc>
                <a:spcPts val="1476"/>
              </a:lnSpc>
              <a:spcAft>
                <a:spcPts val="0"/>
              </a:spcAft>
            </a:pPr>
            <a:r>
              <a:rPr sz="1000">
                <a:solidFill>
                  <a:srgbClr val="E6EDF3"/>
                </a:solidFill>
                <a:latin typeface="Consolas"/>
              </a:rPr>
              <a:t> "path":"/var/lib/etcd/kcna-lab20-snapshot.db"}</a:t>
            </a:r>
          </a:p>
          <a:p>
            <a:pPr>
              <a:lnSpc>
                <a:spcPts val="1476"/>
              </a:lnSpc>
              <a:spcAft>
                <a:spcPts val="0"/>
              </a:spcAft>
            </a:pPr>
            <a:r>
              <a:rPr sz="1000">
                <a:solidFill>
                  <a:srgbClr val="E6EDF3"/>
                </a:solidFill>
                <a:latin typeface="Consolas"/>
              </a:rPr>
              <a:t>Snapshot saved at /var/lib/etcd/kcna-lab20-snapshot.db</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etcdutl snapshot status \</a:t>
            </a:r>
          </a:p>
          <a:p>
            <a:pPr>
              <a:lnSpc>
                <a:spcPts val="1476"/>
              </a:lnSpc>
              <a:spcAft>
                <a:spcPts val="0"/>
              </a:spcAft>
            </a:pPr>
            <a:r>
              <a:rPr sz="1000">
                <a:solidFill>
                  <a:srgbClr val="E6EDF3"/>
                </a:solidFill>
                <a:latin typeface="Consolas"/>
              </a:rPr>
              <a:t>    /var/lib/etcd/kcna-lab20-snapshot.db -w table</a:t>
            </a:r>
          </a:p>
          <a:p>
            <a:pPr>
              <a:lnSpc>
                <a:spcPts val="1476"/>
              </a:lnSpc>
              <a:spcAft>
                <a:spcPts val="0"/>
              </a:spcAft>
            </a:pPr>
            <a:r>
              <a:rPr sz="1000">
                <a:solidFill>
                  <a:srgbClr val="E6EDF3"/>
                </a:solidFill>
                <a:latin typeface="Consolas"/>
              </a:rPr>
              <a:t>+----------+----------+------------+------------+</a:t>
            </a:r>
          </a:p>
          <a:p>
            <a:pPr>
              <a:lnSpc>
                <a:spcPts val="1476"/>
              </a:lnSpc>
              <a:spcAft>
                <a:spcPts val="0"/>
              </a:spcAft>
            </a:pPr>
            <a:r>
              <a:rPr sz="1000">
                <a:solidFill>
                  <a:srgbClr val="E6EDF3"/>
                </a:solidFill>
                <a:latin typeface="Consolas"/>
              </a:rPr>
              <a:t>|   HASH   | REVISION | TOTAL KEYS | TOTAL SIZE |</a:t>
            </a:r>
          </a:p>
          <a:p>
            <a:pPr>
              <a:lnSpc>
                <a:spcPts val="1476"/>
              </a:lnSpc>
              <a:spcAft>
                <a:spcPts val="0"/>
              </a:spcAft>
            </a:pPr>
            <a:r>
              <a:rPr sz="1000">
                <a:solidFill>
                  <a:srgbClr val="E6EDF3"/>
                </a:solidFill>
                <a:latin typeface="Consolas"/>
              </a:rPr>
              <a:t>+----------+----------+------------+------------+</a:t>
            </a:r>
          </a:p>
          <a:p>
            <a:pPr>
              <a:lnSpc>
                <a:spcPts val="1476"/>
              </a:lnSpc>
              <a:spcAft>
                <a:spcPts val="0"/>
              </a:spcAft>
            </a:pPr>
            <a:r>
              <a:rPr sz="1000">
                <a:solidFill>
                  <a:srgbClr val="E6EDF3"/>
                </a:solidFill>
                <a:latin typeface="Consolas"/>
              </a:rPr>
              <a:t>| a41f7b2e |    38412 |       1187 |     7.4 MB |</a:t>
            </a:r>
          </a:p>
          <a:p>
            <a:pPr>
              <a:lnSpc>
                <a:spcPts val="1476"/>
              </a:lnSpc>
              <a:spcAft>
                <a:spcPts val="0"/>
              </a:spcAft>
            </a:pPr>
            <a:r>
              <a:rPr sz="1000">
                <a:solidFill>
                  <a:srgbClr val="E6EDF3"/>
                </a:solidFill>
                <a:latin typeface="Consolas"/>
              </a:rPr>
              <a:t>+----------+----------+------------+------------+</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F59E0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HASH is the integrity check</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computed from the file contents. A snapshot that will not hash is a snapshot you cannot restore.</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REVISION is the point in time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38412 is the global etcd revision captured. Restoring rewinds the cluster to exactly this revision.</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TOTAL KEYS is a sanity signal</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1187 keys for a small single-node cluster. A sudden drop between backups is worth investigating.</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etcdutl, not etcdctl</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snapshot status and snapshot restore moved to etcdutl — they are file operations and need no running cluster.</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431</a:t>
            </a:r>
          </a:p>
        </p:txBody>
      </p:sp>
    </p:spTree>
  </p:cSld>
  <p:clrMapOvr>
    <a:masterClrMapping/>
  </p:clrMapOvr>
  <p:transition xmlns:ns1="http://schemas.openxmlformats.org/markup-compatibility/2006" spd="fast" ns1:Ignorable="p14">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UNDERSTAND, DO NOT RUN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Restore Is a Node Operation, Not an API Call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Read this as a mechanism. The keystrokes belong in a change window with an approved runbook, not in a training lab.</a:t>
            </a:r>
          </a:p>
        </p:txBody>
      </p:sp>
      <p:sp>
        <p:nvSpPr>
          <p:cNvPr id="7" name="Rounded Rectangle 6"/>
          <p:cNvSpPr/>
          <p:nvPr/>
        </p:nvSpPr>
        <p:spPr>
          <a:xfrm>
            <a:off x="777240" y="2391765"/>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91765"/>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Stop the control plane</a:t>
            </a:r>
          </a:p>
        </p:txBody>
      </p:sp>
      <p:sp>
        <p:nvSpPr>
          <p:cNvPr id="11" name="TextBox 10"/>
          <p:cNvSpPr txBox="1"/>
          <p:nvPr/>
        </p:nvSpPr>
        <p:spPr>
          <a:xfrm>
            <a:off x="92354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static Pod manifests are moved out of /etc/kubernetes/manifests so the kubelet tears the containers down. Nothing is writing to etcd.</a:t>
            </a:r>
          </a:p>
        </p:txBody>
      </p:sp>
      <p:cxnSp>
        <p:nvCxnSpPr>
          <p:cNvPr id="12" name="Connector 11"/>
          <p:cNvCxnSpPr/>
          <p:nvPr/>
        </p:nvCxnSpPr>
        <p:spPr>
          <a:xfrm>
            <a:off x="2713939"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91765"/>
            <a:ext cx="1890979" cy="2127504"/>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91765"/>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Restore into a new directory</a:t>
            </a:r>
          </a:p>
        </p:txBody>
      </p:sp>
      <p:sp>
        <p:nvSpPr>
          <p:cNvPr id="17" name="TextBox 16"/>
          <p:cNvSpPr txBox="1"/>
          <p:nvPr/>
        </p:nvSpPr>
        <p:spPr>
          <a:xfrm>
            <a:off x="3125419"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etcdutl snapshot restore writes a fresh data directory. The original is left untouched so the attempt is reversible.</a:t>
            </a:r>
          </a:p>
        </p:txBody>
      </p:sp>
      <p:cxnSp>
        <p:nvCxnSpPr>
          <p:cNvPr id="18" name="Connector 17"/>
          <p:cNvCxnSpPr/>
          <p:nvPr/>
        </p:nvCxnSpPr>
        <p:spPr>
          <a:xfrm>
            <a:off x="4915814"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91765"/>
            <a:ext cx="1890979" cy="2127504"/>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91765"/>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Repoint the data directory</a:t>
            </a:r>
          </a:p>
        </p:txBody>
      </p:sp>
      <p:sp>
        <p:nvSpPr>
          <p:cNvPr id="23" name="TextBox 22"/>
          <p:cNvSpPr txBox="1"/>
          <p:nvPr/>
        </p:nvSpPr>
        <p:spPr>
          <a:xfrm>
            <a:off x="532729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etcd manifest's --data-dir (or the hostPath behind it) is moved to the restored copy.</a:t>
            </a:r>
          </a:p>
        </p:txBody>
      </p:sp>
      <p:cxnSp>
        <p:nvCxnSpPr>
          <p:cNvPr id="24" name="Connector 23"/>
          <p:cNvCxnSpPr/>
          <p:nvPr/>
        </p:nvCxnSpPr>
        <p:spPr>
          <a:xfrm>
            <a:off x="7117689"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91765"/>
            <a:ext cx="1890979" cy="2127504"/>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91765"/>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Restore the manifests</a:t>
            </a:r>
          </a:p>
        </p:txBody>
      </p:sp>
      <p:sp>
        <p:nvSpPr>
          <p:cNvPr id="29" name="TextBox 28"/>
          <p:cNvSpPr txBox="1"/>
          <p:nvPr/>
        </p:nvSpPr>
        <p:spPr>
          <a:xfrm>
            <a:off x="7529169"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kubelet sees the files return and restarts etcd, then the API server, controller-manager and scheduler.</a:t>
            </a:r>
          </a:p>
        </p:txBody>
      </p:sp>
      <p:cxnSp>
        <p:nvCxnSpPr>
          <p:cNvPr id="30" name="Connector 29"/>
          <p:cNvCxnSpPr/>
          <p:nvPr/>
        </p:nvCxnSpPr>
        <p:spPr>
          <a:xfrm>
            <a:off x="9319564" y="3455517"/>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91765"/>
            <a:ext cx="1890979" cy="2127504"/>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91765"/>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9197"/>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94101"/>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Verify before declaring success</a:t>
            </a:r>
          </a:p>
        </p:txBody>
      </p:sp>
      <p:sp>
        <p:nvSpPr>
          <p:cNvPr id="35" name="TextBox 34"/>
          <p:cNvSpPr txBox="1"/>
          <p:nvPr/>
        </p:nvSpPr>
        <p:spPr>
          <a:xfrm>
            <a:off x="9731044" y="3342741"/>
            <a:ext cx="1598371" cy="1066799"/>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/readyz, node readiness and a spot check of workloads. Only then is the cluster considered recovered.</a:t>
            </a:r>
          </a:p>
        </p:txBody>
      </p:sp>
      <p:sp>
        <p:nvSpPr>
          <p:cNvPr id="36" name="Rectangle 35"/>
          <p:cNvSpPr/>
          <p:nvPr/>
        </p:nvSpPr>
        <p:spPr>
          <a:xfrm>
            <a:off x="777240" y="4830165"/>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830165"/>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912461"/>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5141061"/>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NOT RUNNABLE IN CLASS. This is a node-level, cluster-wide, destructive procedure; it is presented so you can reason about it, and it is never executed against a shared cluster.</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Operating etcd clusters for Kubernetes; etcd.io documentation (FAQ, Raft, etcdutl).</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432</a:t>
            </a:r>
          </a:p>
        </p:txBody>
      </p:sp>
    </p:spTree>
  </p:cSld>
  <p:clrMapOvr>
    <a:masterClrMapping/>
  </p:clrMapOvr>
  <p:transition xmlns:ns5="http://schemas.openxmlformats.org/markup-compatibility/2006" spd="fast" ns5:Ignorable="p14">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SCOPE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an etcd Snapshot Does and Does Not Contain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complete cluster recovery plan needs at least three backups, and etcd is only one of them.</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Every API object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Pods, Deployments, Secrets, RBAC, CRDs and their instances, at one consistent revision.</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your PersistentVolume data</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snapshot holds the PV and PVC objects, not the bytes on the storage backend. Those need their own backup.</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container images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restore assumes the registry still serves every image the restored objects reference.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node-local state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Certificates, kubelet configuration and static Pod manifests live on disks the snapshot never saw.</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Encrypted Secrets stay encrypted</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If encryption at rest is enabled, the snapshot is useless without the EncryptionConfiguration key material.</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rewinds deletions too</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Objects created after the snapshot revision disappear on restore. That is the property people forget under pressure.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Operating etcd clusters for Kubernetes; etcd.io documentation (FAQ, Raft, etcdutl).</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433</a:t>
            </a:r>
          </a:p>
        </p:txBody>
      </p:sp>
    </p:spTree>
  </p:cSld>
  <p:clrMapOvr>
    <a:masterClrMapping/>
  </p:clrMapOvr>
  <p:transition xmlns:ns1="http://schemas.openxmlformats.org/markup-compatibility/2006" spd="fast" ns1:Ignorable="p14">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POLICY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Turning 'We Back Up etcd' Into Something Testable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RPO and RTO are the two numbers that turn a wish into an engineering requirement.</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RPO</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30 minutes — the maximum acceptable data loss</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RTO</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60 minutes — the maximum acceptable recovery time</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Snapshot cadence</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*/30 * * * * — derived from the RPO, not guessed</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Snapshot command</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etcdctl snapshot save against a live member</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Verification</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etcdutl snapshot status on every snapshot taken</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On-node copy</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/var/lib/etcd-backup for fast local restore</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Off-site copy</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Required — a node failure must not destroy the backup</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Retention</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48 hourly, 14 daily, 12 monthly</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Restore rehearsal</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 a disposable cluster, on a schedule</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Owner</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Named, because an unowned backup policy is not a policy</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434</a:t>
            </a:r>
          </a:p>
        </p:txBody>
      </p:sp>
    </p:spTree>
  </p:cSld>
  <p:clrMapOvr>
    <a:masterClrMapping/>
  </p:clrMapOvr>
  <p:transition xmlns:ns1="http://schemas.openxmlformats.org/markup-compatibility/2006" spd="fast" ns1:Ignorable="p14">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REGISTERED TOPIC</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NetworkPolicy Model in Six Facts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small API with two behaviours that surprise almost everyone.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Namespaced and Pod-selecting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policy lives in one namespace and applies to the Pods its podSelector matches in that namespace.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Additive allow-lists only</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There is no deny rule. Policies union together; a connection is permitted if any policy allows it.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Selection flips the default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Pod nobody selects accepts everything. The moment one policy selects it for a direction, everything else is denied.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policyTypes is explicit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Ingress and Egress are controlled independently. An ingress-only policy leaves egress completely open.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operates on Pod IPs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Rules are evaluated against endpoints, not Service names — the Service VIP is not what the policy sees.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CNI must enforce it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accepts a NetworkPolicy on any cluster. Whether packets are actually dropped depends entirely on the plugin.</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Network Policies (networking.k8s.io/v1 NetworkPolicy).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435</a:t>
            </a:r>
          </a:p>
        </p:txBody>
      </p:sp>
    </p:spTree>
  </p:cSld>
  <p:clrMapOvr>
    <a:masterClrMapping/>
  </p:clrMapOvr>
  <p:transition xmlns:ns1="http://schemas.openxmlformats.org/markup-compatibility/2006" spd="fast" ns1:Ignorable="p14">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Default-Deny Plus One Deliberate Allow</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objects: one to close the namespace, one to open exactly the path you intended.</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netpol-default-deny.yaml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networking.k8s.io/v1</a:t>
            </a:r>
          </a:p>
          <a:p>
            <a:pPr>
              <a:lnSpc>
                <a:spcPts val="1413"/>
              </a:lnSpc>
              <a:spcAft>
                <a:spcPts val="0"/>
              </a:spcAft>
            </a:pPr>
            <a:r>
              <a:rPr sz="1050">
                <a:solidFill>
                  <a:srgbClr val="E6EDF3"/>
                </a:solidFill>
                <a:latin typeface="Consolas"/>
              </a:rPr>
              <a:t>kind: NetworkPolicy</a:t>
            </a:r>
          </a:p>
          <a:p>
            <a:pPr>
              <a:lnSpc>
                <a:spcPts val="1413"/>
              </a:lnSpc>
              <a:spcAft>
                <a:spcPts val="0"/>
              </a:spcAft>
            </a:pPr>
            <a:r>
              <a:rPr sz="1050">
                <a:solidFill>
                  <a:srgbClr val="E6EDF3"/>
                </a:solidFill>
                <a:latin typeface="Consolas"/>
              </a:rPr>
              <a:t>metadata: {name: default-deny-all, namespace: kcna-lab16}</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podSelector: {}            # every Pod in the namespace</a:t>
            </a:r>
          </a:p>
          <a:p>
            <a:pPr>
              <a:lnSpc>
                <a:spcPts val="1413"/>
              </a:lnSpc>
              <a:spcAft>
                <a:spcPts val="0"/>
              </a:spcAft>
            </a:pPr>
            <a:r>
              <a:rPr sz="1050">
                <a:solidFill>
                  <a:srgbClr val="E6EDF3"/>
                </a:solidFill>
                <a:latin typeface="Consolas"/>
              </a:rPr>
              <a:t>  policyTypes: [Ingress, Egress]</a:t>
            </a:r>
          </a:p>
          <a:p>
            <a:pPr>
              <a:lnSpc>
                <a:spcPts val="1413"/>
              </a:lnSpc>
              <a:spcAft>
                <a:spcPts val="0"/>
              </a:spcAft>
            </a:pPr>
            <a:r>
              <a:rPr sz="1050">
                <a:solidFill>
                  <a:srgbClr val="E6EDF3"/>
                </a:solidFill>
                <a:latin typeface="Consolas"/>
              </a:rPr>
              <a:t>---</a:t>
            </a:r>
          </a:p>
          <a:p>
            <a:pPr>
              <a:lnSpc>
                <a:spcPts val="1413"/>
              </a:lnSpc>
              <a:spcAft>
                <a:spcPts val="0"/>
              </a:spcAft>
            </a:pPr>
            <a:r>
              <a:rPr sz="1050">
                <a:solidFill>
                  <a:srgbClr val="E6EDF3"/>
                </a:solidFill>
                <a:latin typeface="Consolas"/>
              </a:rPr>
              <a:t>apiVersion: networking.k8s.io/v1</a:t>
            </a:r>
          </a:p>
          <a:p>
            <a:pPr>
              <a:lnSpc>
                <a:spcPts val="1413"/>
              </a:lnSpc>
              <a:spcAft>
                <a:spcPts val="0"/>
              </a:spcAft>
            </a:pPr>
            <a:r>
              <a:rPr sz="1050">
                <a:solidFill>
                  <a:srgbClr val="E6EDF3"/>
                </a:solidFill>
                <a:latin typeface="Consolas"/>
              </a:rPr>
              <a:t>kind: NetworkPolicy</a:t>
            </a:r>
          </a:p>
          <a:p>
            <a:pPr>
              <a:lnSpc>
                <a:spcPts val="1413"/>
              </a:lnSpc>
              <a:spcAft>
                <a:spcPts val="0"/>
              </a:spcAft>
            </a:pPr>
            <a:r>
              <a:rPr sz="1050">
                <a:solidFill>
                  <a:srgbClr val="E6EDF3"/>
                </a:solidFill>
                <a:latin typeface="Consolas"/>
              </a:rPr>
              <a:t>metadata: {name: allow-api-from-web, namespace: kcna-lab16}</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podSelector: {matchLabels: {app: api}}</a:t>
            </a:r>
          </a:p>
          <a:p>
            <a:pPr>
              <a:lnSpc>
                <a:spcPts val="1413"/>
              </a:lnSpc>
              <a:spcAft>
                <a:spcPts val="0"/>
              </a:spcAft>
            </a:pPr>
            <a:r>
              <a:rPr sz="1050">
                <a:solidFill>
                  <a:srgbClr val="E6EDF3"/>
                </a:solidFill>
                <a:latin typeface="Consolas"/>
              </a:rPr>
              <a:t>  policyTypes: [Ingress]</a:t>
            </a:r>
          </a:p>
          <a:p>
            <a:pPr>
              <a:lnSpc>
                <a:spcPts val="1413"/>
              </a:lnSpc>
              <a:spcAft>
                <a:spcPts val="0"/>
              </a:spcAft>
            </a:pPr>
            <a:r>
              <a:rPr sz="1050">
                <a:solidFill>
                  <a:srgbClr val="E6EDF3"/>
                </a:solidFill>
                <a:latin typeface="Consolas"/>
              </a:rPr>
              <a:t>  ingress:</a:t>
            </a:r>
          </a:p>
          <a:p>
            <a:pPr>
              <a:lnSpc>
                <a:spcPts val="1413"/>
              </a:lnSpc>
              <a:spcAft>
                <a:spcPts val="0"/>
              </a:spcAft>
            </a:pPr>
            <a:r>
              <a:rPr sz="1050">
                <a:solidFill>
                  <a:srgbClr val="E6EDF3"/>
                </a:solidFill>
                <a:latin typeface="Consolas"/>
              </a:rPr>
              <a:t>  - from:</a:t>
            </a:r>
          </a:p>
          <a:p>
            <a:pPr>
              <a:lnSpc>
                <a:spcPts val="1413"/>
              </a:lnSpc>
              <a:spcAft>
                <a:spcPts val="0"/>
              </a:spcAft>
            </a:pPr>
            <a:r>
              <a:rPr sz="1050">
                <a:solidFill>
                  <a:srgbClr val="E6EDF3"/>
                </a:solidFill>
                <a:latin typeface="Consolas"/>
              </a:rPr>
              <a:t>    - podSelector: {matchLabels: {app: web}}</a:t>
            </a:r>
          </a:p>
          <a:p>
            <a:pPr>
              <a:lnSpc>
                <a:spcPts val="1413"/>
              </a:lnSpc>
              <a:spcAft>
                <a:spcPts val="0"/>
              </a:spcAft>
            </a:pPr>
            <a:r>
              <a:rPr sz="1050">
                <a:solidFill>
                  <a:srgbClr val="E6EDF3"/>
                </a:solidFill>
                <a:latin typeface="Consolas"/>
              </a:rPr>
              <a:t>    ports:</a:t>
            </a:r>
          </a:p>
          <a:p>
            <a:pPr>
              <a:lnSpc>
                <a:spcPts val="1413"/>
              </a:lnSpc>
              <a:spcAft>
                <a:spcPts val="0"/>
              </a:spcAft>
            </a:pPr>
            <a:r>
              <a:rPr sz="1050">
                <a:solidFill>
                  <a:srgbClr val="E6EDF3"/>
                </a:solidFill>
                <a:latin typeface="Consolas"/>
              </a:rPr>
              <a:t>    - {protocol: TCP, port: 8080}</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Empty podSelector means all</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 selects every Pod in the namespace — the idiom for a namespace -wide default.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 ingress key means deny</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Listing the policyType without any rules is what produces the default-deny behaviour.</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second policy adds back</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Union semantics: web to api on 8080 is now allowed, and nothing else is.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Remember DNS</a:t>
            </a:r>
          </a:p>
        </p:txBody>
      </p:sp>
      <p:sp>
        <p:nvSpPr>
          <p:cNvPr id="23" name="TextBox 22"/>
          <p:cNvSpPr txBox="1"/>
          <p:nvPr/>
        </p:nvSpPr>
        <p:spPr>
          <a:xfrm>
            <a:off x="7973567" y="5027584"/>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default-deny egress policy blocks CoreDNS on UDP/TCP 53. Almost every 'my app broke' report starts here.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Network Policies (networking.k8s.io/v1 NetworkPolicy).</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436</a:t>
            </a:r>
          </a:p>
        </p:txBody>
      </p:sp>
    </p:spTree>
  </p:cSld>
  <p:clrMapOvr>
    <a:masterClrMapping/>
  </p:clrMapOvr>
  <p:transition xmlns:ns1="http://schemas.openxmlformats.org/markup-compatibility/2006" spd="fast" ns1:Ignorable="p14">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DEBUGGING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a Correct-Looking Policy Does Nothing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There is no event, no condition and no status field to tell you a policy is inert. You have to test it.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CNI does not enforce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kind's default CNI accepts NetworkPolicy objects without enforcing them. Calico or Cilium is required to see drops.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Egress DNS is blocked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Default-deny egress without a rule for UDP/TCP 53 to kube-dns breaks name resolution before any connection is attempted.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selector matches nothing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label typo means no Pod is selected, so the default-allow behaviour silently continues.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Wrong namespace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policy is namespaced. Applied next door, it protects the wrong workload and reports no error.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hostNetwork Pods bypass it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Traffic on the node's own network stack is not subject to Pod network policy.</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You are testing via a Service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Policy is evaluated on the Pod IP after Service translation — test with the endpoint in mind, not the VIP.</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Network Policies (networking.k8s.io/v1 NetworkPolicy).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437</a:t>
            </a:r>
          </a:p>
        </p:txBody>
      </p:sp>
    </p:spTree>
  </p:cSld>
  <p:clrMapOvr>
    <a:masterClrMapping/>
  </p:clrMapOvr>
  <p:transition xmlns:ns1="http://schemas.openxmlformats.org/markup-compatibility/2006" spd="fast" ns1:Ignorable="p14">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20 — Control Plane Anatomy and etcd Backup/Restore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991666"/>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991666"/>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625906"/>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Open the control plane that has been running every lab so far: read the static Pod manifests the kubelet acts on, trace how apiserver, etcd, scheduler and controller-manager interact, then take and verify a real etcd snapshot to a file — and read, without executing, the destructive restore procedure.</a:t>
            </a:r>
          </a:p>
        </p:txBody>
      </p:sp>
      <p:sp>
        <p:nvSpPr>
          <p:cNvPr id="10" name="Rectangle 9"/>
          <p:cNvSpPr/>
          <p:nvPr/>
        </p:nvSpPr>
        <p:spPr>
          <a:xfrm>
            <a:off x="777240" y="2857042"/>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857042"/>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295954"/>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verified etcd snapshot file with etcdctl snapshot save and a snapshot status table showing hash, revision, total keys and size.</a:t>
            </a:r>
          </a:p>
          <a:p>
            <a:pPr>
              <a:lnSpc>
                <a:spcPct val="112000"/>
              </a:lnSpc>
              <a:spcAft>
                <a:spcPts val="500"/>
              </a:spcAft>
            </a:pPr>
            <a:r>
              <a:rPr sz="1050">
                <a:solidFill>
                  <a:srgbClr val="94A3B8"/>
                </a:solidFill>
                <a:latin typeface="Arial"/>
              </a:rPr>
              <a:t>•  </a:t>
            </a:r>
            <a:r>
              <a:rPr sz="1050">
                <a:solidFill>
                  <a:srgbClr val="5B6372"/>
                </a:solidFill>
                <a:latin typeface="Arial"/>
              </a:rPr>
              <a:t>An annotated control-plane inventory generated from the platform team's dataset, naming the exact mirror-pod objects on this node.</a:t>
            </a:r>
          </a:p>
          <a:p>
            <a:pPr>
              <a:lnSpc>
                <a:spcPct val="112000"/>
              </a:lnSpc>
              <a:spcAft>
                <a:spcPts val="500"/>
              </a:spcAft>
            </a:pPr>
            <a:r>
              <a:rPr sz="1050">
                <a:solidFill>
                  <a:srgbClr val="94A3B8"/>
                </a:solidFill>
                <a:latin typeface="Arial"/>
              </a:rPr>
              <a:t>•  </a:t>
            </a:r>
            <a:r>
              <a:rPr sz="1050">
                <a:solidFill>
                  <a:srgbClr val="5B6372"/>
                </a:solidFill>
                <a:latin typeface="Arial"/>
              </a:rPr>
              <a:t>A version-controlled etcd backup policy (RPO/RTO, retention, off-node copy, what a restore does not recover) applied as a cluster object and read from inside the cluster.</a:t>
            </a:r>
          </a:p>
        </p:txBody>
      </p:sp>
      <p:sp>
        <p:nvSpPr>
          <p:cNvPr id="14" name="Rectangle 13"/>
          <p:cNvSpPr/>
          <p:nvPr/>
        </p:nvSpPr>
        <p:spPr>
          <a:xfrm>
            <a:off x="6276441" y="2857042"/>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857042"/>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295954"/>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Control-plane components and how apiserver, etcd, scheduler, controller-manager and kubelet interact</a:t>
            </a:r>
          </a:p>
          <a:p>
            <a:pPr>
              <a:lnSpc>
                <a:spcPct val="112000"/>
              </a:lnSpc>
              <a:spcAft>
                <a:spcPts val="500"/>
              </a:spcAft>
            </a:pPr>
            <a:r>
              <a:rPr sz="1050">
                <a:solidFill>
                  <a:srgbClr val="94A3B8"/>
                </a:solidFill>
                <a:latin typeface="Arial"/>
              </a:rPr>
              <a:t>•  </a:t>
            </a:r>
            <a:r>
              <a:rPr sz="1050">
                <a:solidFill>
                  <a:srgbClr val="5B6372"/>
                </a:solidFill>
                <a:latin typeface="Arial"/>
              </a:rPr>
              <a:t>Static Pods, the kubelet manifest directory, and mirror Pods in the API server</a:t>
            </a:r>
          </a:p>
          <a:p>
            <a:pPr>
              <a:lnSpc>
                <a:spcPct val="112000"/>
              </a:lnSpc>
              <a:spcAft>
                <a:spcPts val="500"/>
              </a:spcAft>
            </a:pPr>
            <a:r>
              <a:rPr sz="1050">
                <a:solidFill>
                  <a:srgbClr val="94A3B8"/>
                </a:solidFill>
                <a:latin typeface="Arial"/>
              </a:rPr>
              <a:t>•  </a:t>
            </a:r>
            <a:r>
              <a:rPr sz="1050">
                <a:solidFill>
                  <a:srgbClr val="5B6372"/>
                </a:solidFill>
                <a:latin typeface="Arial"/>
              </a:rPr>
              <a:t>etcd as the single source of cluster state, and snapshot save / snapshot status</a:t>
            </a:r>
          </a:p>
          <a:p>
            <a:pPr>
              <a:lnSpc>
                <a:spcPct val="112000"/>
              </a:lnSpc>
              <a:spcAft>
                <a:spcPts val="500"/>
              </a:spcAft>
            </a:pPr>
            <a:r>
              <a:rPr sz="1050">
                <a:solidFill>
                  <a:srgbClr val="94A3B8"/>
                </a:solidFill>
                <a:latin typeface="Arial"/>
              </a:rPr>
              <a:t>•  </a:t>
            </a:r>
            <a:r>
              <a:rPr sz="1050">
                <a:solidFill>
                  <a:srgbClr val="5B6372"/>
                </a:solidFill>
                <a:latin typeface="Arial"/>
              </a:rPr>
              <a:t>Backup policy, RPO/RTO, and the read-only boundary around a destructive restore</a:t>
            </a:r>
          </a:p>
        </p:txBody>
      </p:sp>
      <p:sp>
        <p:nvSpPr>
          <p:cNvPr id="18" name="Rectangle 17"/>
          <p:cNvSpPr/>
          <p:nvPr/>
        </p:nvSpPr>
        <p:spPr>
          <a:xfrm>
            <a:off x="777240" y="5325597"/>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325597"/>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389605"/>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572485"/>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20</a:t>
            </a:r>
          </a:p>
        </p:txBody>
      </p:sp>
      <p:sp>
        <p:nvSpPr>
          <p:cNvPr id="22" name="Rectangle 21"/>
          <p:cNvSpPr/>
          <p:nvPr/>
        </p:nvSpPr>
        <p:spPr>
          <a:xfrm>
            <a:off x="3488436" y="5325597"/>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325597"/>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389605"/>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572485"/>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kcna-lab20</a:t>
            </a:r>
          </a:p>
        </p:txBody>
      </p:sp>
      <p:sp>
        <p:nvSpPr>
          <p:cNvPr id="26" name="Rectangle 25"/>
          <p:cNvSpPr/>
          <p:nvPr/>
        </p:nvSpPr>
        <p:spPr>
          <a:xfrm>
            <a:off x="6199631" y="5325597"/>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325597"/>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389605"/>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572485"/>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LO5 · A5 · K5</a:t>
            </a:r>
          </a:p>
        </p:txBody>
      </p:sp>
      <p:sp>
        <p:nvSpPr>
          <p:cNvPr id="30" name="Rectangle 29"/>
          <p:cNvSpPr/>
          <p:nvPr/>
        </p:nvSpPr>
        <p:spPr>
          <a:xfrm>
            <a:off x="8910828" y="5325597"/>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325597"/>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389605"/>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572485"/>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5965677"/>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courseware/labs/lab-20-cluster-architecture-etcd/README.md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438</a:t>
            </a:r>
          </a:p>
        </p:txBody>
      </p:sp>
    </p:spTree>
  </p:cSld>
  <p:clrMapOvr>
    <a:masterClrMapping/>
  </p:clrMapOvr>
  <p:transition xmlns:ns1="http://schemas.openxmlformats.org/markup-compatibility/2006" spd="fast" ns1:Ignorable="p14">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Afternoon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3:50 – 4:00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439</a:t>
            </a:r>
          </a:p>
        </p:txBody>
      </p:sp>
    </p:spTree>
  </p:cSld>
  <p:clrMapOvr>
    <a:masterClrMapping/>
  </p:clrMapOvr>
  <p:transition xmlns:ns1="http://schemas.openxmlformats.org/markup-compatibility/2006" spd="fast" ns1:Ignorable="p14">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07</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KCNA DOMAIN · 16%</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Cloud Native Application Delivery</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Packaging with Helm and Kustomize, delivering with GitOps, and debugging the gap between 'applied' and 'working'.</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440</a:t>
            </a:r>
          </a:p>
        </p:txBody>
      </p:sp>
    </p:spTree>
  </p:cSld>
  <p:clrMapOvr>
    <a:masterClrMapping/>
  </p:clrMapOvr>
  <p:transition xmlns:ns1="http://schemas.openxmlformats.org/markup-compatibility/2006" spd="med" ns1:Ignorable="p14">
    <p:push dir="l"/>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CONTEXT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Application Delivery Sits in the KCNA Blueprint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domains meet today: 28% Container Orchestration this morning, 16% Application Delivery now.</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Rectangle 7"/>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16% is this afternoon</a:t>
            </a:r>
          </a:p>
        </p:txBody>
      </p:sp>
      <p:sp>
        <p:nvSpPr>
          <p:cNvPr id="12" name="TextBox 11"/>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Cloud Native Application Delivery covers Application Delivery and Debugging — roughly ten of sixty questions.</a:t>
            </a:r>
          </a:p>
        </p:txBody>
      </p:sp>
      <p:sp>
        <p:nvSpPr>
          <p:cNvPr id="13" name="Rectangle 12"/>
          <p:cNvSpPr/>
          <p:nvPr/>
        </p:nvSpPr>
        <p:spPr>
          <a:xfrm>
            <a:off x="7927848" y="3462017"/>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4437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Published weights</a:t>
            </a:r>
          </a:p>
        </p:txBody>
      </p:sp>
      <p:sp>
        <p:nvSpPr>
          <p:cNvPr id="15" name="TextBox 14"/>
          <p:cNvSpPr txBox="1"/>
          <p:nvPr/>
        </p:nvSpPr>
        <p:spPr>
          <a:xfrm>
            <a:off x="8092440" y="36631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Taken from the CNCF curriculum revision effective 24 Nov 2025, not from an older four-way split.</a:t>
            </a:r>
          </a:p>
        </p:txBody>
      </p:sp>
      <p:sp>
        <p:nvSpPr>
          <p:cNvPr id="16" name="Rectangle 15"/>
          <p:cNvSpPr/>
          <p:nvPr/>
        </p:nvSpPr>
        <p:spPr>
          <a:xfrm>
            <a:off x="7927848" y="4156961"/>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1386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Storage sits elsewhere</a:t>
            </a:r>
          </a:p>
        </p:txBody>
      </p:sp>
      <p:sp>
        <p:nvSpPr>
          <p:cNvPr id="18" name="TextBox 17"/>
          <p:cNvSpPr txBox="1"/>
          <p:nvPr/>
        </p:nvSpPr>
        <p:spPr>
          <a:xfrm>
            <a:off x="8092440" y="43581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This morning's storage material is examined under Container Orchestration, which carries 28%.</a:t>
            </a:r>
          </a:p>
        </p:txBody>
      </p:sp>
      <p:sp>
        <p:nvSpPr>
          <p:cNvPr id="19" name="Rectangle 18"/>
          <p:cNvSpPr/>
          <p:nvPr/>
        </p:nvSpPr>
        <p:spPr>
          <a:xfrm>
            <a:off x="7927848" y="4851905"/>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8336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Breadth over depth</a:t>
            </a:r>
          </a:p>
        </p:txBody>
      </p:sp>
      <p:sp>
        <p:nvSpPr>
          <p:cNvPr id="21" name="TextBox 20"/>
          <p:cNvSpPr txBox="1"/>
          <p:nvPr/>
        </p:nvSpPr>
        <p:spPr>
          <a:xfrm>
            <a:off x="8092440" y="50530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Delivery questions test whether you can distinguish Helm, Kustomize and GitOps — not whether you can author charts.</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441</a:t>
            </a:r>
          </a:p>
        </p:txBody>
      </p:sp>
    </p:spTree>
  </p:cSld>
  <p:clrMapOvr>
    <a:masterClrMapping/>
  </p:clrMapOvr>
  <p:transition xmlns:ns1="http://schemas.openxmlformats.org/markup-compatibility/2006" spd="fast" ns1:Ignorable="p14">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THE PROBLEM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'kubectl apply -f' Stops Working at Scale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Packaging solves the first two problems; GitOps solves the rest.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Environments multiply</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Dev, staging and production need the same twelve objects with different replicas, limits, hostnames and feature flags.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Copy-paste diverges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Three directories of near-identical YAML drift within weeks, and nobody can tell which difference was intentional.</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Nobody knows what is deployed</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cluster reflects whoever last ran apply from whichever laptop, with whatever branch was checked out.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Rollback is improvised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Reverting means finding and reapplying the previous YAML — if anyone kept it.</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Credentials spread</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engineer and every pipeline that applies manifests needs cluster-admin-shaped access.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Manual changes are invisible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emergency kubectl edit survives until the next deploy, then silently vanishes.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442</a:t>
            </a:r>
          </a:p>
        </p:txBody>
      </p:sp>
    </p:spTree>
  </p:cSld>
  <p:clrMapOvr>
    <a:masterClrMapping/>
  </p:clrMapOvr>
  <p:transition xmlns:ns1="http://schemas.openxmlformats.org/markup-compatibility/2006" spd="fast" ns1:Ignorable="p14">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VOCABULARY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CI, CD and GitOps Are Three Different Things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Continuous integration never deploys anything. That is the distinction most people blur.</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Question</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CI</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CD (push)</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GitOps (pull)</a:t>
            </a:r>
          </a:p>
        </p:txBody>
      </p:sp>
      <p:sp>
        <p:nvSpPr>
          <p:cNvPr id="15" name="Rectangle 14"/>
          <p:cNvSpPr/>
          <p:nvPr/>
        </p:nvSpPr>
        <p:spPr>
          <a:xfrm>
            <a:off x="77724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triggers it</a:t>
            </a:r>
          </a:p>
        </p:txBody>
      </p:sp>
      <p:sp>
        <p:nvSpPr>
          <p:cNvPr id="17" name="Rectangle 16"/>
          <p:cNvSpPr/>
          <p:nvPr/>
        </p:nvSpPr>
        <p:spPr>
          <a:xfrm>
            <a:off x="345186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commit or pull request</a:t>
            </a:r>
          </a:p>
        </p:txBody>
      </p:sp>
      <p:sp>
        <p:nvSpPr>
          <p:cNvPr id="19" name="Rectangle 18"/>
          <p:cNvSpPr/>
          <p:nvPr/>
        </p:nvSpPr>
        <p:spPr>
          <a:xfrm>
            <a:off x="6126479"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successful CI run</a:t>
            </a:r>
          </a:p>
        </p:txBody>
      </p:sp>
      <p:sp>
        <p:nvSpPr>
          <p:cNvPr id="21" name="Rectangle 20"/>
          <p:cNvSpPr/>
          <p:nvPr/>
        </p:nvSpPr>
        <p:spPr>
          <a:xfrm>
            <a:off x="880110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change in the Git repository, observed</a:t>
            </a:r>
          </a:p>
        </p:txBody>
      </p:sp>
      <p:sp>
        <p:nvSpPr>
          <p:cNvPr id="23" name="Rectangle 22"/>
          <p:cNvSpPr/>
          <p:nvPr/>
        </p:nvSpPr>
        <p:spPr>
          <a:xfrm>
            <a:off x="77724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it produces</a:t>
            </a:r>
          </a:p>
        </p:txBody>
      </p:sp>
      <p:sp>
        <p:nvSpPr>
          <p:cNvPr id="25" name="Rectangle 24"/>
          <p:cNvSpPr/>
          <p:nvPr/>
        </p:nvSpPr>
        <p:spPr>
          <a:xfrm>
            <a:off x="345186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tested, signed artifact and image</a:t>
            </a:r>
          </a:p>
        </p:txBody>
      </p:sp>
      <p:sp>
        <p:nvSpPr>
          <p:cNvPr id="27" name="Rectangle 26"/>
          <p:cNvSpPr/>
          <p:nvPr/>
        </p:nvSpPr>
        <p:spPr>
          <a:xfrm>
            <a:off x="6126479"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cluster mutated by the pipeline</a:t>
            </a:r>
          </a:p>
        </p:txBody>
      </p:sp>
      <p:sp>
        <p:nvSpPr>
          <p:cNvPr id="29" name="Rectangle 28"/>
          <p:cNvSpPr/>
          <p:nvPr/>
        </p:nvSpPr>
        <p:spPr>
          <a:xfrm>
            <a:off x="880110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cluster continuously converged toward Git</a:t>
            </a:r>
          </a:p>
        </p:txBody>
      </p:sp>
      <p:sp>
        <p:nvSpPr>
          <p:cNvPr id="31" name="Rectangle 30"/>
          <p:cNvSpPr/>
          <p:nvPr/>
        </p:nvSpPr>
        <p:spPr>
          <a:xfrm>
            <a:off x="77724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Who holds cluster credentials</a:t>
            </a:r>
          </a:p>
        </p:txBody>
      </p:sp>
      <p:sp>
        <p:nvSpPr>
          <p:cNvPr id="33" name="Rectangle 32"/>
          <p:cNvSpPr/>
          <p:nvPr/>
        </p:nvSpPr>
        <p:spPr>
          <a:xfrm>
            <a:off x="345186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Nobody — it never touches a cluster</a:t>
            </a:r>
          </a:p>
        </p:txBody>
      </p:sp>
      <p:sp>
        <p:nvSpPr>
          <p:cNvPr id="35" name="Rectangle 34"/>
          <p:cNvSpPr/>
          <p:nvPr/>
        </p:nvSpPr>
        <p:spPr>
          <a:xfrm>
            <a:off x="6126479"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pipeline runner, from outside</a:t>
            </a:r>
          </a:p>
        </p:txBody>
      </p:sp>
      <p:sp>
        <p:nvSpPr>
          <p:cNvPr id="37" name="Rectangle 36"/>
          <p:cNvSpPr/>
          <p:nvPr/>
        </p:nvSpPr>
        <p:spPr>
          <a:xfrm>
            <a:off x="880110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in-cluster controller only</a:t>
            </a:r>
          </a:p>
        </p:txBody>
      </p:sp>
      <p:sp>
        <p:nvSpPr>
          <p:cNvPr id="39" name="Rectangle 38"/>
          <p:cNvSpPr/>
          <p:nvPr/>
        </p:nvSpPr>
        <p:spPr>
          <a:xfrm>
            <a:off x="77724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Direction of travel</a:t>
            </a:r>
          </a:p>
        </p:txBody>
      </p:sp>
      <p:sp>
        <p:nvSpPr>
          <p:cNvPr id="41" name="Rectangle 40"/>
          <p:cNvSpPr/>
          <p:nvPr/>
        </p:nvSpPr>
        <p:spPr>
          <a:xfrm>
            <a:off x="345186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a:t>
            </a:r>
          </a:p>
        </p:txBody>
      </p:sp>
      <p:sp>
        <p:nvSpPr>
          <p:cNvPr id="43" name="Rectangle 42"/>
          <p:cNvSpPr/>
          <p:nvPr/>
        </p:nvSpPr>
        <p:spPr>
          <a:xfrm>
            <a:off x="6126479"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Pipeline pushes into the cluster</a:t>
            </a:r>
          </a:p>
        </p:txBody>
      </p:sp>
      <p:sp>
        <p:nvSpPr>
          <p:cNvPr id="45" name="Rectangle 44"/>
          <p:cNvSpPr/>
          <p:nvPr/>
        </p:nvSpPr>
        <p:spPr>
          <a:xfrm>
            <a:off x="880110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Controller pulls from the repository</a:t>
            </a:r>
          </a:p>
        </p:txBody>
      </p:sp>
      <p:sp>
        <p:nvSpPr>
          <p:cNvPr id="47" name="Rectangle 46"/>
          <p:cNvSpPr/>
          <p:nvPr/>
        </p:nvSpPr>
        <p:spPr>
          <a:xfrm>
            <a:off x="77724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happens to drift</a:t>
            </a:r>
          </a:p>
        </p:txBody>
      </p:sp>
      <p:sp>
        <p:nvSpPr>
          <p:cNvPr id="49" name="Rectangle 48"/>
          <p:cNvSpPr/>
          <p:nvPr/>
        </p:nvSpPr>
        <p:spPr>
          <a:xfrm>
            <a:off x="345186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a:t>
            </a:r>
          </a:p>
        </p:txBody>
      </p:sp>
      <p:sp>
        <p:nvSpPr>
          <p:cNvPr id="51" name="Rectangle 50"/>
          <p:cNvSpPr/>
          <p:nvPr/>
        </p:nvSpPr>
        <p:spPr>
          <a:xfrm>
            <a:off x="6126479"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Nothing until the next deployment</a:t>
            </a:r>
          </a:p>
        </p:txBody>
      </p:sp>
      <p:sp>
        <p:nvSpPr>
          <p:cNvPr id="53" name="Rectangle 52"/>
          <p:cNvSpPr/>
          <p:nvPr/>
        </p:nvSpPr>
        <p:spPr>
          <a:xfrm>
            <a:off x="880110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Detected continuously and optionally reverted</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CI proves the artifact is good. CD or GitOps decides how it reaches a cluster. They are routinely conflated in interviews and in exams.</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OpenGitOps v1.0.0 Principles (opengitops.dev), CNCF App Delivery TAG.</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443</a:t>
            </a:r>
          </a:p>
        </p:txBody>
      </p:sp>
    </p:spTree>
  </p:cSld>
  <p:clrMapOvr>
    <a:masterClrMapping/>
  </p:clrMapOvr>
  <p:transition xmlns:ns1="http://schemas.openxmlformats.org/markup-compatibility/2006" spd="fast" ns1:Ignorable="p14">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END TO END</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Delivery Chain From Commit to Running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repositories, one direction of flow, one auditable record.</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Commit</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Application source changes. This repository holds code, not cluster state.</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CI builds and verifies</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Compile, test, scan, build the image, sign it and push it to a registry by immutable digest.</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Config repository updated</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 automated commit changes the image tag or a values file in the environment repository — a reviewable diff.</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Controller reconciles</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in-cluster GitOps controller renders the manifests and applies the difference against live state.</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Cluster converges</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Health is assessed per resource. Drift afterwards is detected and corrected on the next reconcile.</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deployable unit is a Git commit, so 'what is running' and 'who changed it' are answered by git log rather than by memory.</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OpenGitOps v1.0.0 Principles (opengitops.dev), CNCF App Delivery TAG.</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444</a:t>
            </a:r>
          </a:p>
        </p:txBody>
      </p:sp>
    </p:spTree>
  </p:cSld>
  <p:clrMapOvr>
    <a:masterClrMapping/>
  </p:clrMapOvr>
  <p:transition xmlns:ns5="http://schemas.openxmlformats.org/markup-compatibility/2006" spd="fast" ns5:Ignorable="p14">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HELM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Chart Anatomy — What Is in the Directory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chart is a directory with a contract, not a magic format.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Chart.yaml</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apiVersion: v2, the chart name, version (the package version) and appVersion (the software version). Two different numbers.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values.yaml</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default configuration surface. Everything a consumer may reasonably override belongs here, documented.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templates/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Go templates that render Kubernetes manifests. Text templating, which is both the power and the problem.</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templates/_helpers.tpl</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Named templates included elsewhere — fullname, selectorLabels, validation. Underscore means 'renders nothing itself'.</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charts/ and Chart.lock</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Vendored subchart dependencies and their pinned versions, resolved by helm dependency update.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crds/ and NOTES.txt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CRDs are installed before templates and never upgraded by Helm; NOTES.txt prints on install but is not part of the render.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445</a:t>
            </a:r>
          </a:p>
        </p:txBody>
      </p:sp>
    </p:spTree>
  </p:cSld>
  <p:clrMapOvr>
    <a:masterClrMapping/>
  </p:clrMapOvr>
  <p:transition xmlns:ns1="http://schemas.openxmlformats.org/markup-compatibility/2006" spd="fast" ns1:Ignorable="p14">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Helm Template With Values Interpolation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lines of templating and one genuinely important idiom.</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templates/deployment.yaml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272"/>
              </a:lnSpc>
              <a:spcAft>
                <a:spcPts val="0"/>
              </a:spcAft>
            </a:pPr>
            <a:r>
              <a:rPr sz="1050">
                <a:solidFill>
                  <a:srgbClr val="E6EDF3"/>
                </a:solidFill>
                <a:latin typeface="Consolas"/>
              </a:rPr>
              <a:t>apiVersion: apps/v1</a:t>
            </a:r>
          </a:p>
          <a:p>
            <a:pPr>
              <a:lnSpc>
                <a:spcPts val="1272"/>
              </a:lnSpc>
              <a:spcAft>
                <a:spcPts val="0"/>
              </a:spcAft>
            </a:pPr>
            <a:r>
              <a:rPr sz="1050">
                <a:solidFill>
                  <a:srgbClr val="E6EDF3"/>
                </a:solidFill>
                <a:latin typeface="Consolas"/>
              </a:rPr>
              <a:t>kind: Deployment</a:t>
            </a:r>
          </a:p>
          <a:p>
            <a:pPr>
              <a:lnSpc>
                <a:spcPts val="1272"/>
              </a:lnSpc>
              <a:spcAft>
                <a:spcPts val="0"/>
              </a:spcAft>
            </a:pPr>
            <a:r>
              <a:rPr sz="1050">
                <a:solidFill>
                  <a:srgbClr val="E6EDF3"/>
                </a:solidFill>
                <a:latin typeface="Consolas"/>
              </a:rPr>
              <a:t>metadata:</a:t>
            </a:r>
          </a:p>
          <a:p>
            <a:pPr>
              <a:lnSpc>
                <a:spcPts val="1272"/>
              </a:lnSpc>
              <a:spcAft>
                <a:spcPts val="0"/>
              </a:spcAft>
            </a:pPr>
            <a:r>
              <a:rPr sz="1050">
                <a:solidFill>
                  <a:srgbClr val="E6EDF3"/>
                </a:solidFill>
                <a:latin typeface="Consolas"/>
              </a:rPr>
              <a:t>  name: {{ include "tracklane.fullname" . }}</a:t>
            </a:r>
          </a:p>
          <a:p>
            <a:pPr>
              <a:lnSpc>
                <a:spcPts val="1272"/>
              </a:lnSpc>
              <a:spcAft>
                <a:spcPts val="0"/>
              </a:spcAft>
            </a:pPr>
            <a:r>
              <a:rPr sz="1050">
                <a:solidFill>
                  <a:srgbClr val="E6EDF3"/>
                </a:solidFill>
                <a:latin typeface="Consolas"/>
              </a:rPr>
              <a:t>  labels:</a:t>
            </a:r>
          </a:p>
          <a:p>
            <a:pPr>
              <a:lnSpc>
                <a:spcPts val="1272"/>
              </a:lnSpc>
              <a:spcAft>
                <a:spcPts val="0"/>
              </a:spcAft>
            </a:pPr>
            <a:r>
              <a:rPr sz="1050">
                <a:solidFill>
                  <a:srgbClr val="E6EDF3"/>
                </a:solidFill>
                <a:latin typeface="Consolas"/>
              </a:rPr>
              <a:t>    {{- include "tracklane.labels" . | nindent 4 }}</a:t>
            </a:r>
          </a:p>
          <a:p>
            <a:pPr>
              <a:lnSpc>
                <a:spcPts val="1272"/>
              </a:lnSpc>
              <a:spcAft>
                <a:spcPts val="0"/>
              </a:spcAft>
            </a:pPr>
            <a:r>
              <a:rPr sz="1050">
                <a:solidFill>
                  <a:srgbClr val="E6EDF3"/>
                </a:solidFill>
                <a:latin typeface="Consolas"/>
              </a:rPr>
              <a:t>spec:</a:t>
            </a:r>
          </a:p>
          <a:p>
            <a:pPr>
              <a:lnSpc>
                <a:spcPts val="1272"/>
              </a:lnSpc>
              <a:spcAft>
                <a:spcPts val="0"/>
              </a:spcAft>
            </a:pPr>
            <a:r>
              <a:rPr sz="1050">
                <a:solidFill>
                  <a:srgbClr val="E6EDF3"/>
                </a:solidFill>
                <a:latin typeface="Consolas"/>
              </a:rPr>
              <a:t>  replicas: {{ .Values.replicaCount }}</a:t>
            </a:r>
          </a:p>
          <a:p>
            <a:pPr>
              <a:lnSpc>
                <a:spcPts val="1272"/>
              </a:lnSpc>
              <a:spcAft>
                <a:spcPts val="0"/>
              </a:spcAft>
            </a:pPr>
            <a:r>
              <a:rPr sz="1050">
                <a:solidFill>
                  <a:srgbClr val="E6EDF3"/>
                </a:solidFill>
                <a:latin typeface="Consolas"/>
              </a:rPr>
              <a:t>  template:</a:t>
            </a:r>
          </a:p>
          <a:p>
            <a:pPr>
              <a:lnSpc>
                <a:spcPts val="1272"/>
              </a:lnSpc>
              <a:spcAft>
                <a:spcPts val="0"/>
              </a:spcAft>
            </a:pPr>
            <a:r>
              <a:rPr sz="1050">
                <a:solidFill>
                  <a:srgbClr val="E6EDF3"/>
                </a:solidFill>
                <a:latin typeface="Consolas"/>
              </a:rPr>
              <a:t>    metadata:</a:t>
            </a:r>
          </a:p>
          <a:p>
            <a:pPr>
              <a:lnSpc>
                <a:spcPts val="1272"/>
              </a:lnSpc>
              <a:spcAft>
                <a:spcPts val="0"/>
              </a:spcAft>
            </a:pPr>
            <a:r>
              <a:rPr sz="1050">
                <a:solidFill>
                  <a:srgbClr val="E6EDF3"/>
                </a:solidFill>
                <a:latin typeface="Consolas"/>
              </a:rPr>
              <a:t>      annotations:</a:t>
            </a:r>
          </a:p>
          <a:p>
            <a:pPr>
              <a:lnSpc>
                <a:spcPts val="1272"/>
              </a:lnSpc>
              <a:spcAft>
                <a:spcPts val="0"/>
              </a:spcAft>
            </a:pPr>
            <a:r>
              <a:rPr sz="1050">
                <a:solidFill>
                  <a:srgbClr val="E6EDF3"/>
                </a:solidFill>
                <a:latin typeface="Consolas"/>
              </a:rPr>
              <a:t>        checksum/config: {{ include (print $.Template.BasePath</a:t>
            </a:r>
          </a:p>
          <a:p>
            <a:pPr>
              <a:lnSpc>
                <a:spcPts val="1272"/>
              </a:lnSpc>
              <a:spcAft>
                <a:spcPts val="0"/>
              </a:spcAft>
            </a:pPr>
            <a:r>
              <a:rPr sz="1050">
                <a:solidFill>
                  <a:srgbClr val="E6EDF3"/>
                </a:solidFill>
                <a:latin typeface="Consolas"/>
              </a:rPr>
              <a:t>          "/configmap.yaml") . | sha256sum }}</a:t>
            </a:r>
          </a:p>
          <a:p>
            <a:pPr>
              <a:lnSpc>
                <a:spcPts val="1272"/>
              </a:lnSpc>
              <a:spcAft>
                <a:spcPts val="0"/>
              </a:spcAft>
            </a:pPr>
            <a:r>
              <a:rPr sz="1050">
                <a:solidFill>
                  <a:srgbClr val="E6EDF3"/>
                </a:solidFill>
                <a:latin typeface="Consolas"/>
              </a:rPr>
              <a:t>    spec:</a:t>
            </a:r>
          </a:p>
          <a:p>
            <a:pPr>
              <a:lnSpc>
                <a:spcPts val="1272"/>
              </a:lnSpc>
              <a:spcAft>
                <a:spcPts val="0"/>
              </a:spcAft>
            </a:pPr>
            <a:r>
              <a:rPr sz="1050">
                <a:solidFill>
                  <a:srgbClr val="E6EDF3"/>
                </a:solidFill>
                <a:latin typeface="Consolas"/>
              </a:rPr>
              <a:t>      containers:</a:t>
            </a:r>
          </a:p>
          <a:p>
            <a:pPr>
              <a:lnSpc>
                <a:spcPts val="1272"/>
              </a:lnSpc>
              <a:spcAft>
                <a:spcPts val="0"/>
              </a:spcAft>
            </a:pPr>
            <a:r>
              <a:rPr sz="1050">
                <a:solidFill>
                  <a:srgbClr val="E6EDF3"/>
                </a:solidFill>
                <a:latin typeface="Consolas"/>
              </a:rPr>
              <a:t>      - name: {{ .Chart.Name }}</a:t>
            </a:r>
          </a:p>
          <a:p>
            <a:pPr>
              <a:lnSpc>
                <a:spcPts val="1272"/>
              </a:lnSpc>
              <a:spcAft>
                <a:spcPts val="0"/>
              </a:spcAft>
            </a:pPr>
            <a:r>
              <a:rPr sz="1050">
                <a:solidFill>
                  <a:srgbClr val="E6EDF3"/>
                </a:solidFill>
                <a:latin typeface="Consolas"/>
              </a:rPr>
              <a:t>        image: {{ .Values.image | quote }}</a:t>
            </a:r>
          </a:p>
          <a:p>
            <a:pPr>
              <a:lnSpc>
                <a:spcPts val="1272"/>
              </a:lnSpc>
              <a:spcAft>
                <a:spcPts val="0"/>
              </a:spcAft>
            </a:pPr>
            <a:r>
              <a:rPr sz="1050">
                <a:solidFill>
                  <a:srgbClr val="E6EDF3"/>
                </a:solidFill>
                <a:latin typeface="Consolas"/>
              </a:rPr>
              <a:t>        envFrom:</a:t>
            </a:r>
          </a:p>
          <a:p>
            <a:pPr>
              <a:lnSpc>
                <a:spcPts val="1272"/>
              </a:lnSpc>
              <a:spcAft>
                <a:spcPts val="0"/>
              </a:spcAft>
            </a:pPr>
            <a:r>
              <a:rPr sz="1050">
                <a:solidFill>
                  <a:srgbClr val="E6EDF3"/>
                </a:solidFill>
                <a:latin typeface="Consolas"/>
              </a:rPr>
              <a:t>        - configMapRef:</a:t>
            </a:r>
          </a:p>
          <a:p>
            <a:pPr>
              <a:lnSpc>
                <a:spcPts val="1272"/>
              </a:lnSpc>
              <a:spcAft>
                <a:spcPts val="0"/>
              </a:spcAft>
            </a:pPr>
            <a:r>
              <a:rPr sz="1050">
                <a:solidFill>
                  <a:srgbClr val="E6EDF3"/>
                </a:solidFill>
                <a:latin typeface="Consolas"/>
              </a:rPr>
              <a:t>            name: {{ include "tracklane.fullname" . }}-config</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Three built-in objects</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.Values comes from values files and --set; .Chart from Chart.yaml; .Release from the install invocation.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include beats template</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include returns a string, so it can be piped — which is why nindent works here and would not with template.</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checksum/config is the trick</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Hashing the rendered ConfigMap into a Pod annotation forces a rollout whenever configuration changes.</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Without it, envFrom is stale</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Environment variables are read once at container start; updating the ConfigMap alone changes nothing.</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446</a:t>
            </a:r>
          </a:p>
        </p:txBody>
      </p:sp>
    </p:spTree>
  </p:cSld>
  <p:clrMapOvr>
    <a:masterClrMapping/>
  </p:clrMapOvr>
  <p:transition xmlns:ns1="http://schemas.openxmlformats.org/markup-compatibility/2006" spd="fast" ns1:Ignorable="p14">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REFERENCE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Helm Values Precedence and Release State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mechanisms to memorise: how values merge, and where the release lives.</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Lowest precedence</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chart's own values.yaml</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Then</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Values from a parent chart, for subcharts</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Then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 / --values files, applied left to right</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Then</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--set key=value on the command line</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Highest precedence</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--set-file key=path, for file contents</a:t>
            </a:r>
          </a:p>
        </p:txBody>
      </p:sp>
      <p:sp>
        <p:nvSpPr>
          <p:cNvPr id="27" name="Rectangle 26"/>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8" name="Rectangle 27"/>
          <p:cNvSpPr/>
          <p:nvPr/>
        </p:nvSpPr>
        <p:spPr>
          <a:xfrm>
            <a:off x="6263639" y="22000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Where a release is stored</a:t>
            </a:r>
          </a:p>
        </p:txBody>
      </p:sp>
      <p:sp>
        <p:nvSpPr>
          <p:cNvPr id="30" name="TextBox 29"/>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A Secret in the release namespace: sh.helm.release.v1.&lt;name&gt;.v&lt;n&gt;</a:t>
            </a:r>
          </a:p>
        </p:txBody>
      </p:sp>
      <p:sp>
        <p:nvSpPr>
          <p:cNvPr id="31" name="Rectangle 30"/>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2" name="Rectangle 31"/>
          <p:cNvSpPr/>
          <p:nvPr/>
        </p:nvSpPr>
        <p:spPr>
          <a:xfrm>
            <a:off x="6263639" y="274868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Revision history</a:t>
            </a:r>
          </a:p>
        </p:txBody>
      </p:sp>
      <p:sp>
        <p:nvSpPr>
          <p:cNvPr id="34" name="TextBox 33"/>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helm history shows every revision and its status</a:t>
            </a:r>
          </a:p>
        </p:txBody>
      </p:sp>
      <p:sp>
        <p:nvSpPr>
          <p:cNvPr id="35" name="Rectangle 34"/>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329732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Rollback</a:t>
            </a:r>
          </a:p>
        </p:txBody>
      </p:sp>
      <p:sp>
        <p:nvSpPr>
          <p:cNvPr id="38" name="TextBox 37"/>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helm rollback &lt;release&gt; &lt;revision&gt; reapplies a stored manifest</a:t>
            </a:r>
          </a:p>
        </p:txBody>
      </p:sp>
      <p:sp>
        <p:nvSpPr>
          <p:cNvPr id="39" name="Rectangle 38"/>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384596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Chart version vs appVersion</a:t>
            </a:r>
          </a:p>
        </p:txBody>
      </p:sp>
      <p:sp>
        <p:nvSpPr>
          <p:cNvPr id="42" name="TextBox 41"/>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package version and the software version move independently</a:t>
            </a:r>
          </a:p>
        </p:txBody>
      </p:sp>
      <p:sp>
        <p:nvSpPr>
          <p:cNvPr id="43" name="Rectangle 42"/>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439460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Server-side state</a:t>
            </a:r>
          </a:p>
        </p:txBody>
      </p:sp>
      <p:sp>
        <p:nvSpPr>
          <p:cNvPr id="46" name="TextBox 45"/>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There is no Tiller: Helm 3 is a client that stores state as Secrets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447</a:t>
            </a:r>
          </a:p>
        </p:txBody>
      </p:sp>
    </p:spTree>
  </p:cSld>
  <p:clrMapOvr>
    <a:masterClrMapping/>
  </p:clrMapOvr>
  <p:transition xmlns:ns1="http://schemas.openxmlformats.org/markup-compatibility/2006" spd="fast" ns1:Ignorable="p14">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helm template vs helm install vs helm upgrade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of these is safe to run against production by accident.</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Behaviour</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helm template</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helm install / upgrade</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Contacts the cluster</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pure local rendering</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authenticates with your kubeconfig</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Records a release</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a new revision Secret every time</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Runs hooks</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pre-install, post-upgrade and the rest</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lookup function</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Returns empty — nothing to look up</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Queries live objects during rendering</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Right place for it</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CI: render, diff, validate with kubeconform, commit the output</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moment you actually intend to change a cluster</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Render in CI with helm template; let something accountable apply the result. --dry-run is not the same thing: it still talks to the API server.</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448</a:t>
            </a:r>
          </a:p>
        </p:txBody>
      </p:sp>
    </p:spTree>
  </p:cSld>
  <p:clrMapOvr>
    <a:masterClrMapping/>
  </p:clrMapOvr>
  <p:transition xmlns:ns1="http://schemas.openxmlformats.org/markup-compatibility/2006" spd="fast" ns1:Ignorable="p14">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Same Chart, Two Values Files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Conditional resources are what Kustomize cannot do and Helm can.</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kcna-lab21</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helm template tracklane ./chart -f values-dev.yaml \</a:t>
            </a:r>
          </a:p>
          <a:p>
            <a:pPr>
              <a:lnSpc>
                <a:spcPts val="1413"/>
              </a:lnSpc>
              <a:spcAft>
                <a:spcPts val="0"/>
              </a:spcAft>
            </a:pPr>
            <a:r>
              <a:rPr sz="1000">
                <a:solidFill>
                  <a:srgbClr val="E6EDF3"/>
                </a:solidFill>
                <a:latin typeface="Consolas"/>
              </a:rPr>
              <a:t>    | grep -E 'replicas|cpu:|LOG_LEVEL|kind:'</a:t>
            </a:r>
          </a:p>
          <a:p>
            <a:pPr>
              <a:lnSpc>
                <a:spcPts val="1413"/>
              </a:lnSpc>
              <a:spcAft>
                <a:spcPts val="0"/>
              </a:spcAft>
            </a:pPr>
            <a:r>
              <a:rPr sz="1000">
                <a:solidFill>
                  <a:srgbClr val="E6EDF3"/>
                </a:solidFill>
                <a:latin typeface="Consolas"/>
              </a:rPr>
              <a:t>kind: ConfigMap</a:t>
            </a:r>
          </a:p>
          <a:p>
            <a:pPr>
              <a:lnSpc>
                <a:spcPts val="1413"/>
              </a:lnSpc>
              <a:spcAft>
                <a:spcPts val="0"/>
              </a:spcAft>
            </a:pPr>
            <a:r>
              <a:rPr sz="1000">
                <a:solidFill>
                  <a:srgbClr val="E6EDF3"/>
                </a:solidFill>
                <a:latin typeface="Consolas"/>
              </a:rPr>
              <a:t>kind: Service</a:t>
            </a:r>
          </a:p>
          <a:p>
            <a:pPr>
              <a:lnSpc>
                <a:spcPts val="1413"/>
              </a:lnSpc>
              <a:spcAft>
                <a:spcPts val="0"/>
              </a:spcAft>
            </a:pPr>
            <a:r>
              <a:rPr sz="1000">
                <a:solidFill>
                  <a:srgbClr val="E6EDF3"/>
                </a:solidFill>
                <a:latin typeface="Consolas"/>
              </a:rPr>
              <a:t>kind: Deployment</a:t>
            </a:r>
          </a:p>
          <a:p>
            <a:pPr>
              <a:lnSpc>
                <a:spcPts val="1413"/>
              </a:lnSpc>
              <a:spcAft>
                <a:spcPts val="0"/>
              </a:spcAft>
            </a:pPr>
            <a:r>
              <a:rPr sz="1000">
                <a:solidFill>
                  <a:srgbClr val="E6EDF3"/>
                </a:solidFill>
                <a:latin typeface="Consolas"/>
              </a:rPr>
              <a:t>  replicas: 1</a:t>
            </a:r>
          </a:p>
          <a:p>
            <a:pPr>
              <a:lnSpc>
                <a:spcPts val="1413"/>
              </a:lnSpc>
              <a:spcAft>
                <a:spcPts val="0"/>
              </a:spcAft>
            </a:pPr>
            <a:r>
              <a:rPr sz="1000">
                <a:solidFill>
                  <a:srgbClr val="E6EDF3"/>
                </a:solidFill>
                <a:latin typeface="Consolas"/>
              </a:rPr>
              <a:t>            cpu: 50m</a:t>
            </a:r>
          </a:p>
          <a:p>
            <a:pPr>
              <a:lnSpc>
                <a:spcPts val="1413"/>
              </a:lnSpc>
              <a:spcAft>
                <a:spcPts val="0"/>
              </a:spcAft>
            </a:pPr>
            <a:r>
              <a:rPr sz="1000">
                <a:solidFill>
                  <a:srgbClr val="E6EDF3"/>
                </a:solidFill>
                <a:latin typeface="Consolas"/>
              </a:rPr>
              <a:t>          value: debug</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helm template tracklane ./chart -f values-prod.yaml \</a:t>
            </a:r>
          </a:p>
          <a:p>
            <a:pPr>
              <a:lnSpc>
                <a:spcPts val="1413"/>
              </a:lnSpc>
              <a:spcAft>
                <a:spcPts val="0"/>
              </a:spcAft>
            </a:pPr>
            <a:r>
              <a:rPr sz="1000">
                <a:solidFill>
                  <a:srgbClr val="E6EDF3"/>
                </a:solidFill>
                <a:latin typeface="Consolas"/>
              </a:rPr>
              <a:t>    | grep -E 'replicas|cpu:|LOG_LEVEL|kind:'</a:t>
            </a:r>
          </a:p>
          <a:p>
            <a:pPr>
              <a:lnSpc>
                <a:spcPts val="1413"/>
              </a:lnSpc>
              <a:spcAft>
                <a:spcPts val="0"/>
              </a:spcAft>
            </a:pPr>
            <a:r>
              <a:rPr sz="1000">
                <a:solidFill>
                  <a:srgbClr val="E6EDF3"/>
                </a:solidFill>
                <a:latin typeface="Consolas"/>
              </a:rPr>
              <a:t>kind: PodDisruptionBudget      # rendered only for prod</a:t>
            </a:r>
          </a:p>
          <a:p>
            <a:pPr>
              <a:lnSpc>
                <a:spcPts val="1413"/>
              </a:lnSpc>
              <a:spcAft>
                <a:spcPts val="0"/>
              </a:spcAft>
            </a:pPr>
            <a:r>
              <a:rPr sz="1000">
                <a:solidFill>
                  <a:srgbClr val="E6EDF3"/>
                </a:solidFill>
                <a:latin typeface="Consolas"/>
              </a:rPr>
              <a:t>kind: ConfigMap</a:t>
            </a:r>
          </a:p>
          <a:p>
            <a:pPr>
              <a:lnSpc>
                <a:spcPts val="1413"/>
              </a:lnSpc>
              <a:spcAft>
                <a:spcPts val="0"/>
              </a:spcAft>
            </a:pPr>
            <a:r>
              <a:rPr sz="1000">
                <a:solidFill>
                  <a:srgbClr val="E6EDF3"/>
                </a:solidFill>
                <a:latin typeface="Consolas"/>
              </a:rPr>
              <a:t>kind: Service</a:t>
            </a:r>
          </a:p>
          <a:p>
            <a:pPr>
              <a:lnSpc>
                <a:spcPts val="1413"/>
              </a:lnSpc>
              <a:spcAft>
                <a:spcPts val="0"/>
              </a:spcAft>
            </a:pPr>
            <a:r>
              <a:rPr sz="1000">
                <a:solidFill>
                  <a:srgbClr val="E6EDF3"/>
                </a:solidFill>
                <a:latin typeface="Consolas"/>
              </a:rPr>
              <a:t>kind: Deployment</a:t>
            </a:r>
          </a:p>
          <a:p>
            <a:pPr>
              <a:lnSpc>
                <a:spcPts val="1413"/>
              </a:lnSpc>
              <a:spcAft>
                <a:spcPts val="0"/>
              </a:spcAft>
            </a:pPr>
            <a:r>
              <a:rPr sz="1000">
                <a:solidFill>
                  <a:srgbClr val="E6EDF3"/>
                </a:solidFill>
                <a:latin typeface="Consolas"/>
              </a:rPr>
              <a:t>  replicas: 3</a:t>
            </a:r>
          </a:p>
          <a:p>
            <a:pPr>
              <a:lnSpc>
                <a:spcPts val="1413"/>
              </a:lnSpc>
              <a:spcAft>
                <a:spcPts val="0"/>
              </a:spcAft>
            </a:pPr>
            <a:r>
              <a:rPr sz="1000">
                <a:solidFill>
                  <a:srgbClr val="E6EDF3"/>
                </a:solidFill>
                <a:latin typeface="Consolas"/>
              </a:rPr>
              <a:t>            cpu: 100m</a:t>
            </a:r>
          </a:p>
          <a:p>
            <a:pPr>
              <a:lnSpc>
                <a:spcPts val="1413"/>
              </a:lnSpc>
              <a:spcAft>
                <a:spcPts val="0"/>
              </a:spcAft>
            </a:pPr>
            <a:r>
              <a:rPr sz="1000">
                <a:solidFill>
                  <a:srgbClr val="E6EDF3"/>
                </a:solidFill>
                <a:latin typeface="Consolas"/>
              </a:rPr>
              <a:t>          value: warn</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One chart, two renders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 YAML was duplicated. The difference between environments is a values file, reviewable on its own.</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Values changed the numbers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replicas 1 to 3, cpu 50m to 100m, log level debug to warn — all from .Values interpolation.</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 template changed the shape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PodDisruptionBudget exists only in prod, produced by an if guard around the whole file.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This is CI's job</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Render both, validate both against the schema, and diff them before anything reaches a cluster.</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449</a:t>
            </a:r>
          </a:p>
        </p:txBody>
      </p:sp>
    </p:spTree>
  </p:cSld>
  <p:clrMapOvr>
    <a:masterClrMapping/>
  </p:clrMapOvr>
  <p:transition xmlns:ns1="http://schemas.openxmlformats.org/markup-compatibility/2006" spd="fast" ns1:Ignorable="p14">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HONEST ASSESSMENT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Helm Hurts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Helm is the default for distributing software to strangers — and that is a different job from configuring your own.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It templates text, not YAML</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renderer has no idea it is producing YAML until the output is parsed, so indentation bugs are runtime surprises.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Whitespace control is a skill</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 and -}} and nindent are a real learning curve that has nothing to do with Kubernetes.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Values sprawl</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Mature charts expose hundreds of keys; consumers cannot tell which combinations were ever tested.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Diffs are hard to read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pull request shows a changed value, not the resulting manifest change. Render in CI to recover the real diff.</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CRD lifecycle is awkward</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Files under crds/ are installed once and never upgraded or deleted by Helm.</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Hook ordering surprises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Weights, deletion policies and failed hooks produce behaviour that is hard to reason about mid-incident.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450</a:t>
            </a:r>
          </a:p>
        </p:txBody>
      </p:sp>
    </p:spTree>
  </p:cSld>
  <p:clrMapOvr>
    <a:masterClrMapping/>
  </p:clrMapOvr>
  <p:transition xmlns:ns1="http://schemas.openxmlformats.org/markup-compatibility/2006" spd="fast" ns1:Ignorable="p14">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KUSTOMIZE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Base Plus Overlays, With No Templating by Design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is a structured edit to real YAML, which is why there is no template syntax to learn.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kustomization.yaml</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only entry point. It lists resources, transformers, generators and patches for one variant.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Base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Plain, valid, applyable Kubernetes YAML. You can kubectl apply the base directly and it works.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Overlay</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directory that references the base and describes only the differences for one environment.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Transformers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namePrefix, nameSuffix, namespace, images, replicas and labels — declarative field rewrites, not string substitution.</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Generators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configMapGenerator and secretGenerator build objects from literals or files, with a content hash in the name.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Built into kubectl</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kubectl kustomize renders and kubectl apply -k applies. No additional binary is required.</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451</a:t>
            </a:r>
          </a:p>
        </p:txBody>
      </p:sp>
    </p:spTree>
  </p:cSld>
  <p:clrMapOvr>
    <a:masterClrMapping/>
  </p:clrMapOvr>
  <p:transition xmlns:ns1="http://schemas.openxmlformats.org/markup-compatibility/2006" spd="fast" ns1:Ignorable="p14">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Production Overlay,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Sixteen lines describe an entire production variant.</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overlays/prod/kustomization.yaml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kustomize.config.k8s.io/v1beta1</a:t>
            </a:r>
          </a:p>
          <a:p>
            <a:pPr>
              <a:lnSpc>
                <a:spcPts val="1413"/>
              </a:lnSpc>
              <a:spcAft>
                <a:spcPts val="0"/>
              </a:spcAft>
            </a:pPr>
            <a:r>
              <a:rPr sz="1050">
                <a:solidFill>
                  <a:srgbClr val="E6EDF3"/>
                </a:solidFill>
                <a:latin typeface="Consolas"/>
              </a:rPr>
              <a:t>kind: Kustomization</a:t>
            </a:r>
          </a:p>
          <a:p>
            <a:pPr>
              <a:lnSpc>
                <a:spcPts val="1413"/>
              </a:lnSpc>
              <a:spcAft>
                <a:spcPts val="0"/>
              </a:spcAft>
            </a:pPr>
            <a:r>
              <a:rPr sz="1050">
                <a:solidFill>
                  <a:srgbClr val="E6EDF3"/>
                </a:solidFill>
                <a:latin typeface="Consolas"/>
              </a:rPr>
              <a:t>resources:</a:t>
            </a:r>
          </a:p>
          <a:p>
            <a:pPr>
              <a:lnSpc>
                <a:spcPts val="1413"/>
              </a:lnSpc>
              <a:spcAft>
                <a:spcPts val="0"/>
              </a:spcAft>
            </a:pPr>
            <a:r>
              <a:rPr sz="1050">
                <a:solidFill>
                  <a:srgbClr val="E6EDF3"/>
                </a:solidFill>
                <a:latin typeface="Consolas"/>
              </a:rPr>
              <a:t>  - ../../base</a:t>
            </a:r>
          </a:p>
          <a:p>
            <a:pPr>
              <a:lnSpc>
                <a:spcPts val="1413"/>
              </a:lnSpc>
              <a:spcAft>
                <a:spcPts val="0"/>
              </a:spcAft>
            </a:pPr>
            <a:r>
              <a:rPr sz="1050">
                <a:solidFill>
                  <a:srgbClr val="E6EDF3"/>
                </a:solidFill>
                <a:latin typeface="Consolas"/>
              </a:rPr>
              <a:t>nameSuffix: -prod</a:t>
            </a:r>
          </a:p>
          <a:p>
            <a:pPr>
              <a:lnSpc>
                <a:spcPts val="1413"/>
              </a:lnSpc>
              <a:spcAft>
                <a:spcPts val="0"/>
              </a:spcAft>
            </a:pPr>
            <a:r>
              <a:rPr sz="1050">
                <a:solidFill>
                  <a:srgbClr val="E6EDF3"/>
                </a:solidFill>
                <a:latin typeface="Consolas"/>
              </a:rPr>
              <a:t>replicas:</a:t>
            </a:r>
          </a:p>
          <a:p>
            <a:pPr>
              <a:lnSpc>
                <a:spcPts val="1413"/>
              </a:lnSpc>
              <a:spcAft>
                <a:spcPts val="0"/>
              </a:spcAft>
            </a:pPr>
            <a:r>
              <a:rPr sz="1050">
                <a:solidFill>
                  <a:srgbClr val="E6EDF3"/>
                </a:solidFill>
                <a:latin typeface="Consolas"/>
              </a:rPr>
              <a:t>  - name: tracklane</a:t>
            </a:r>
          </a:p>
          <a:p>
            <a:pPr>
              <a:lnSpc>
                <a:spcPts val="1413"/>
              </a:lnSpc>
              <a:spcAft>
                <a:spcPts val="0"/>
              </a:spcAft>
            </a:pPr>
            <a:r>
              <a:rPr sz="1050">
                <a:solidFill>
                  <a:srgbClr val="E6EDF3"/>
                </a:solidFill>
                <a:latin typeface="Consolas"/>
              </a:rPr>
              <a:t>    count: 3</a:t>
            </a:r>
          </a:p>
          <a:p>
            <a:pPr>
              <a:lnSpc>
                <a:spcPts val="1413"/>
              </a:lnSpc>
              <a:spcAft>
                <a:spcPts val="0"/>
              </a:spcAft>
            </a:pPr>
            <a:r>
              <a:rPr sz="1050">
                <a:solidFill>
                  <a:srgbClr val="E6EDF3"/>
                </a:solidFill>
                <a:latin typeface="Consolas"/>
              </a:rPr>
              <a:t>images:</a:t>
            </a:r>
          </a:p>
          <a:p>
            <a:pPr>
              <a:lnSpc>
                <a:spcPts val="1413"/>
              </a:lnSpc>
              <a:spcAft>
                <a:spcPts val="0"/>
              </a:spcAft>
            </a:pPr>
            <a:r>
              <a:rPr sz="1050">
                <a:solidFill>
                  <a:srgbClr val="E6EDF3"/>
                </a:solidFill>
                <a:latin typeface="Consolas"/>
              </a:rPr>
              <a:t>  - name: nginx</a:t>
            </a:r>
          </a:p>
          <a:p>
            <a:pPr>
              <a:lnSpc>
                <a:spcPts val="1413"/>
              </a:lnSpc>
              <a:spcAft>
                <a:spcPts val="0"/>
              </a:spcAft>
            </a:pPr>
            <a:r>
              <a:rPr sz="1050">
                <a:solidFill>
                  <a:srgbClr val="E6EDF3"/>
                </a:solidFill>
                <a:latin typeface="Consolas"/>
              </a:rPr>
              <a:t>    newName: docker.io/library/nginx</a:t>
            </a:r>
          </a:p>
          <a:p>
            <a:pPr>
              <a:lnSpc>
                <a:spcPts val="1413"/>
              </a:lnSpc>
              <a:spcAft>
                <a:spcPts val="0"/>
              </a:spcAft>
            </a:pPr>
            <a:r>
              <a:rPr sz="1050">
                <a:solidFill>
                  <a:srgbClr val="E6EDF3"/>
                </a:solidFill>
                <a:latin typeface="Consolas"/>
              </a:rPr>
              <a:t>    newTag: 1.27-alpine</a:t>
            </a:r>
          </a:p>
          <a:p>
            <a:pPr>
              <a:lnSpc>
                <a:spcPts val="1413"/>
              </a:lnSpc>
              <a:spcAft>
                <a:spcPts val="0"/>
              </a:spcAft>
            </a:pPr>
            <a:r>
              <a:rPr sz="1050">
                <a:solidFill>
                  <a:srgbClr val="E6EDF3"/>
                </a:solidFill>
                <a:latin typeface="Consolas"/>
              </a:rPr>
              <a:t>labels:</a:t>
            </a:r>
          </a:p>
          <a:p>
            <a:pPr>
              <a:lnSpc>
                <a:spcPts val="1413"/>
              </a:lnSpc>
              <a:spcAft>
                <a:spcPts val="0"/>
              </a:spcAft>
            </a:pPr>
            <a:r>
              <a:rPr sz="1050">
                <a:solidFill>
                  <a:srgbClr val="E6EDF3"/>
                </a:solidFill>
                <a:latin typeface="Consolas"/>
              </a:rPr>
              <a:t>  - pairs: {app.kubernetes.io/instance: tracklane-prod}</a:t>
            </a:r>
          </a:p>
          <a:p>
            <a:pPr>
              <a:lnSpc>
                <a:spcPts val="1413"/>
              </a:lnSpc>
              <a:spcAft>
                <a:spcPts val="0"/>
              </a:spcAft>
            </a:pPr>
            <a:r>
              <a:rPr sz="1050">
                <a:solidFill>
                  <a:srgbClr val="E6EDF3"/>
                </a:solidFill>
                <a:latin typeface="Consolas"/>
              </a:rPr>
              <a:t>    includeSelectors: true</a:t>
            </a:r>
          </a:p>
          <a:p>
            <a:pPr>
              <a:lnSpc>
                <a:spcPts val="1413"/>
              </a:lnSpc>
              <a:spcAft>
                <a:spcPts val="0"/>
              </a:spcAft>
            </a:pPr>
            <a:r>
              <a:rPr sz="1050">
                <a:solidFill>
                  <a:srgbClr val="E6EDF3"/>
                </a:solidFill>
                <a:latin typeface="Consolas"/>
              </a:rPr>
              <a:t>patches:</a:t>
            </a:r>
          </a:p>
          <a:p>
            <a:pPr>
              <a:lnSpc>
                <a:spcPts val="1413"/>
              </a:lnSpc>
              <a:spcAft>
                <a:spcPts val="0"/>
              </a:spcAft>
            </a:pPr>
            <a:r>
              <a:rPr sz="1050">
                <a:solidFill>
                  <a:srgbClr val="E6EDF3"/>
                </a:solidFill>
                <a:latin typeface="Consolas"/>
              </a:rPr>
              <a:t>  - path: patch-resources.yaml      # strategic merge</a:t>
            </a:r>
          </a:p>
          <a:p>
            <a:pPr>
              <a:lnSpc>
                <a:spcPts val="1413"/>
              </a:lnSpc>
              <a:spcAft>
                <a:spcPts val="0"/>
              </a:spcAft>
            </a:pPr>
            <a:r>
              <a:rPr sz="1050">
                <a:solidFill>
                  <a:srgbClr val="E6EDF3"/>
                </a:solidFill>
                <a:latin typeface="Consolas"/>
              </a:rPr>
              <a:t>  - path: patch-probe-timing.yaml   # RFC 6902 JSON patch</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resources points at the base</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relative path. The overlay never copies the base; it references and edits it.</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Transformers are typed</a:t>
            </a:r>
          </a:p>
        </p:txBody>
      </p:sp>
      <p:sp>
        <p:nvSpPr>
          <p:cNvPr id="17" name="TextBox 16"/>
          <p:cNvSpPr txBox="1"/>
          <p:nvPr/>
        </p:nvSpPr>
        <p:spPr>
          <a:xfrm>
            <a:off x="7973567" y="360407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replicas and images are structured edits — Kustomize knows which field to change, so a rename cannot corrupt the manifest.</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includeSelectors: true is load-bearing</a:t>
            </a:r>
          </a:p>
        </p:txBody>
      </p:sp>
      <p:sp>
        <p:nvSpPr>
          <p:cNvPr id="20" name="TextBox 19"/>
          <p:cNvSpPr txBox="1"/>
          <p:nvPr/>
        </p:nvSpPr>
        <p:spPr>
          <a:xfrm>
            <a:off x="7973567" y="446958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writes the instance label into selectors as well, which is what stops dev and prod Deployments adopting each other's Pods.</a:t>
            </a:r>
          </a:p>
        </p:txBody>
      </p:sp>
      <p:sp>
        <p:nvSpPr>
          <p:cNvPr id="21" name="Oval 20"/>
          <p:cNvSpPr/>
          <p:nvPr/>
        </p:nvSpPr>
        <p:spPr>
          <a:xfrm>
            <a:off x="7626096" y="5136596"/>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11830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patch dialects, one list</a:t>
            </a:r>
          </a:p>
        </p:txBody>
      </p:sp>
      <p:sp>
        <p:nvSpPr>
          <p:cNvPr id="23" name="TextBox 22"/>
          <p:cNvSpPr txBox="1"/>
          <p:nvPr/>
        </p:nvSpPr>
        <p:spPr>
          <a:xfrm>
            <a:off x="7973567" y="533509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Kustomize infers strategic-merge or JSON 6902 from the file's shape.</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452</a:t>
            </a:r>
          </a:p>
        </p:txBody>
      </p:sp>
    </p:spTree>
  </p:cSld>
  <p:clrMapOvr>
    <a:masterClrMapping/>
  </p:clrMapOvr>
  <p:transition xmlns:ns1="http://schemas.openxmlformats.org/markup-compatibility/2006" spd="fast" ns1:Ignorable="p14">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Strategic Merge Patch vs JSON 6902 Patch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are supported in one patches list; the file's shape decides which is used.</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Dimension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Strategic merge patch</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JSON 6902 patch</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Shape of the file</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partial Kubernetes object, YAML map</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list of {op, path, value} operations</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How it finds a list item</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By merge key — containers match on name</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By index: /spec/template/spec/containers/0</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 it remove a field</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 really; null handling is inconsistent</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op: remove is explicit</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If the list is reordered</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Still correct; matching is by key</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Silently patches the wrong element</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Readability</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High — it looks like the object you are editing</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Low, but unambiguous and precise</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Reach for strategic merge first. Use JSON 6902 when you need removal, precise ordering, or a field the merge keys cannot express.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453</a:t>
            </a:r>
          </a:p>
        </p:txBody>
      </p:sp>
    </p:spTree>
  </p:cSld>
  <p:clrMapOvr>
    <a:masterClrMapping/>
  </p:clrMapOvr>
  <p:transition xmlns:ns1="http://schemas.openxmlformats.org/markup-compatibility/2006" spd="fast" ns1:Ignorable="p14">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Kustomize Patch That Matches Nothing Says Nothing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most instructive failure of the day: correct syntax, successful command, wrong cluster.</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overlay renders successfully, exits 0, and quietly emits the unpatched base.</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321"/>
              </a:lnSpc>
              <a:spcAft>
                <a:spcPts val="0"/>
              </a:spcAft>
            </a:pPr>
            <a:r>
              <a:rPr sz="950">
                <a:solidFill>
                  <a:srgbClr val="7EE787"/>
                </a:solidFill>
                <a:latin typeface="Consolas"/>
              </a:rPr>
              <a:t>$ head -4 overlays/prod/patch-resources.yaml</a:t>
            </a:r>
          </a:p>
          <a:p>
            <a:pPr>
              <a:lnSpc>
                <a:spcPts val="1321"/>
              </a:lnSpc>
              <a:spcAft>
                <a:spcPts val="0"/>
              </a:spcAft>
            </a:pPr>
            <a:r>
              <a:rPr sz="950">
                <a:solidFill>
                  <a:srgbClr val="E6EDF3"/>
                </a:solidFill>
                <a:latin typeface="Consolas"/>
              </a:rPr>
              <a:t>apiVersion: apps/v1</a:t>
            </a:r>
          </a:p>
          <a:p>
            <a:pPr>
              <a:lnSpc>
                <a:spcPts val="1321"/>
              </a:lnSpc>
              <a:spcAft>
                <a:spcPts val="0"/>
              </a:spcAft>
            </a:pPr>
            <a:r>
              <a:rPr sz="950">
                <a:solidFill>
                  <a:srgbClr val="E6EDF3"/>
                </a:solidFill>
                <a:latin typeface="Consolas"/>
              </a:rPr>
              <a:t>kind: Deployment</a:t>
            </a:r>
          </a:p>
          <a:p>
            <a:pPr>
              <a:lnSpc>
                <a:spcPts val="1321"/>
              </a:lnSpc>
              <a:spcAft>
                <a:spcPts val="0"/>
              </a:spcAft>
            </a:pPr>
            <a:r>
              <a:rPr sz="950">
                <a:solidFill>
                  <a:srgbClr val="E6EDF3"/>
                </a:solidFill>
                <a:latin typeface="Consolas"/>
              </a:rPr>
              <a:t>metadata:</a:t>
            </a:r>
          </a:p>
          <a:p>
            <a:pPr>
              <a:lnSpc>
                <a:spcPts val="1321"/>
              </a:lnSpc>
              <a:spcAft>
                <a:spcPts val="0"/>
              </a:spcAft>
            </a:pPr>
            <a:r>
              <a:rPr sz="950">
                <a:solidFill>
                  <a:srgbClr val="E6EDF3"/>
                </a:solidFill>
                <a:latin typeface="Consolas"/>
              </a:rPr>
              <a:t>  name: tracklane-web        # the base is named 'tracklane'</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kustomize overlays/prod | grep -A2 'resources:'</a:t>
            </a:r>
          </a:p>
          <a:p>
            <a:pPr>
              <a:lnSpc>
                <a:spcPts val="1321"/>
              </a:lnSpc>
              <a:spcAft>
                <a:spcPts val="0"/>
              </a:spcAft>
            </a:pPr>
            <a:r>
              <a:rPr sz="950">
                <a:solidFill>
                  <a:srgbClr val="E6EDF3"/>
                </a:solidFill>
                <a:latin typeface="Consolas"/>
              </a:rPr>
              <a:t>        resources:</a:t>
            </a:r>
          </a:p>
          <a:p>
            <a:pPr>
              <a:lnSpc>
                <a:spcPts val="1321"/>
              </a:lnSpc>
              <a:spcAft>
                <a:spcPts val="0"/>
              </a:spcAft>
            </a:pPr>
            <a:r>
              <a:rPr sz="950">
                <a:solidFill>
                  <a:srgbClr val="E6EDF3"/>
                </a:solidFill>
                <a:latin typeface="Consolas"/>
              </a:rPr>
              <a:t>          requests:</a:t>
            </a:r>
          </a:p>
          <a:p>
            <a:pPr>
              <a:lnSpc>
                <a:spcPts val="1321"/>
              </a:lnSpc>
              <a:spcAft>
                <a:spcPts val="0"/>
              </a:spcAft>
            </a:pPr>
            <a:r>
              <a:rPr sz="950">
                <a:solidFill>
                  <a:srgbClr val="E6EDF3"/>
                </a:solidFill>
                <a:latin typeface="Consolas"/>
              </a:rPr>
              <a:t>            cpu: 50m         # expected 100m</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diff &lt;(kubectl kustomize base) \</a:t>
            </a:r>
          </a:p>
          <a:p>
            <a:pPr>
              <a:lnSpc>
                <a:spcPts val="1321"/>
              </a:lnSpc>
              <a:spcAft>
                <a:spcPts val="0"/>
              </a:spcAft>
            </a:pPr>
            <a:r>
              <a:rPr sz="950">
                <a:solidFill>
                  <a:srgbClr val="E6EDF3"/>
                </a:solidFill>
                <a:latin typeface="Consolas"/>
              </a:rPr>
              <a:t>       &lt;(kubectl kustomize overlays/prod) | grep cpu</a:t>
            </a:r>
          </a:p>
          <a:p>
            <a:pPr>
              <a:lnSpc>
                <a:spcPts val="1321"/>
              </a:lnSpc>
              <a:spcAft>
                <a:spcPts val="0"/>
              </a:spcAft>
            </a:pPr>
            <a:r>
              <a:rPr sz="950">
                <a:solidFill>
                  <a:srgbClr val="7EE787"/>
                </a:solidFill>
                <a:latin typeface="Consolas"/>
              </a:rPr>
              <a:t>$ echo $?</a:t>
            </a:r>
          </a:p>
          <a:p>
            <a:pPr>
              <a:lnSpc>
                <a:spcPts val="1321"/>
              </a:lnSpc>
              <a:spcAft>
                <a:spcPts val="0"/>
              </a:spcAft>
            </a:pPr>
            <a:r>
              <a:rPr sz="950">
                <a:solidFill>
                  <a:srgbClr val="E6EDF3"/>
                </a:solidFill>
                <a:latin typeface="Consolas"/>
              </a:rPr>
              <a:t>1                            # no difference at all</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The patch target name does not match any resource in the base. Kustomize applies the patch to zero objects, which is not an error condition, so the render succeeds with the base values intact.</a:t>
            </a:r>
          </a:p>
        </p:txBody>
      </p:sp>
      <p:sp>
        <p:nvSpPr>
          <p:cNvPr id="18" name="Rectangle 17"/>
          <p:cNvSpPr/>
          <p:nvPr/>
        </p:nvSpPr>
        <p:spPr>
          <a:xfrm>
            <a:off x="7205472" y="3927157"/>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Correct the patch target's kind, name and namespace to match the base</a:t>
            </a:r>
          </a:p>
          <a:p>
            <a:pPr>
              <a:lnSpc>
                <a:spcPct val="112000"/>
              </a:lnSpc>
              <a:spcAft>
                <a:spcPts val="200"/>
              </a:spcAft>
            </a:pPr>
            <a:r>
              <a:rPr sz="950">
                <a:solidFill>
                  <a:srgbClr val="94A3B8"/>
                </a:solidFill>
                <a:latin typeface="Arial"/>
              </a:rPr>
              <a:t>•  </a:t>
            </a:r>
            <a:r>
              <a:rPr sz="950">
                <a:solidFill>
                  <a:srgbClr val="5B6372"/>
                </a:solidFill>
                <a:latin typeface="Arial"/>
              </a:rPr>
              <a:t>Never trust exit code 0 from a renderer — assert on the rendered output instead</a:t>
            </a:r>
          </a:p>
          <a:p>
            <a:pPr>
              <a:lnSpc>
                <a:spcPct val="112000"/>
              </a:lnSpc>
              <a:spcAft>
                <a:spcPts val="200"/>
              </a:spcAft>
            </a:pPr>
            <a:r>
              <a:rPr sz="950">
                <a:solidFill>
                  <a:srgbClr val="94A3B8"/>
                </a:solidFill>
                <a:latin typeface="Arial"/>
              </a:rPr>
              <a:t>•  </a:t>
            </a:r>
            <a:r>
              <a:rPr sz="950">
                <a:solidFill>
                  <a:srgbClr val="5B6372"/>
                </a:solidFill>
                <a:latin typeface="Arial"/>
              </a:rPr>
              <a:t>Add a CI check that greps the render for the values the overlay is supposed to produce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lab evidence captured on the isolated runtime cluster, Kubernetes v1.37.0 (courseware/qa runtime reports).</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454</a:t>
            </a:r>
          </a:p>
        </p:txBody>
      </p:sp>
    </p:spTree>
  </p:cSld>
  <p:clrMapOvr>
    <a:masterClrMapping/>
  </p:clrMapOvr>
  <p:transition xmlns:ns1="http://schemas.openxmlformats.org/markup-compatibility/2006" spd="fast" ns1:Ignorable="p14">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THREE OPTIONS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Raw Manifests, Helm and Kustomize Side by Side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They are not rivals in practice — Argo CD and Flux will render either, and charts are frequently post-processed with Kustomize.</a:t>
            </a:r>
          </a:p>
        </p:txBody>
      </p:sp>
      <p:sp>
        <p:nvSpPr>
          <p:cNvPr id="7" name="Rectangle 6"/>
          <p:cNvSpPr/>
          <p:nvPr/>
        </p:nvSpPr>
        <p:spPr>
          <a:xfrm>
            <a:off x="777240"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Raw manifests</a:t>
            </a:r>
          </a:p>
        </p:txBody>
      </p:sp>
      <p:sp>
        <p:nvSpPr>
          <p:cNvPr id="10" name="TextBox 9"/>
          <p:cNvSpPr txBox="1"/>
          <p:nvPr/>
        </p:nvSpPr>
        <p:spPr>
          <a:xfrm>
            <a:off x="1033271"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No tooling, no abstraction, no surprises</a:t>
            </a:r>
          </a:p>
          <a:p>
            <a:pPr>
              <a:lnSpc>
                <a:spcPct val="112000"/>
              </a:lnSpc>
              <a:spcAft>
                <a:spcPts val="500"/>
              </a:spcAft>
            </a:pPr>
            <a:r>
              <a:rPr sz="1100">
                <a:solidFill>
                  <a:srgbClr val="94A3B8"/>
                </a:solidFill>
                <a:latin typeface="Arial"/>
              </a:rPr>
              <a:t>•  </a:t>
            </a:r>
            <a:r>
              <a:rPr sz="1100">
                <a:solidFill>
                  <a:srgbClr val="5B6372"/>
                </a:solidFill>
                <a:latin typeface="Arial"/>
              </a:rPr>
              <a:t>Every environment is a full copy that will drift</a:t>
            </a:r>
          </a:p>
          <a:p>
            <a:pPr>
              <a:lnSpc>
                <a:spcPct val="112000"/>
              </a:lnSpc>
              <a:spcAft>
                <a:spcPts val="500"/>
              </a:spcAft>
            </a:pPr>
            <a:r>
              <a:rPr sz="1100">
                <a:solidFill>
                  <a:srgbClr val="94A3B8"/>
                </a:solidFill>
                <a:latin typeface="Arial"/>
              </a:rPr>
              <a:t>•  </a:t>
            </a:r>
            <a:r>
              <a:rPr sz="1100">
                <a:solidFill>
                  <a:srgbClr val="5B6372"/>
                </a:solidFill>
                <a:latin typeface="Arial"/>
              </a:rPr>
              <a:t>Perfect for a handful of objects or a demo</a:t>
            </a:r>
          </a:p>
          <a:p>
            <a:pPr>
              <a:lnSpc>
                <a:spcPct val="112000"/>
              </a:lnSpc>
              <a:spcAft>
                <a:spcPts val="500"/>
              </a:spcAft>
            </a:pPr>
            <a:r>
              <a:rPr sz="1100">
                <a:solidFill>
                  <a:srgbClr val="94A3B8"/>
                </a:solidFill>
                <a:latin typeface="Arial"/>
              </a:rPr>
              <a:t>•  </a:t>
            </a:r>
            <a:r>
              <a:rPr sz="1100">
                <a:solidFill>
                  <a:srgbClr val="5B6372"/>
                </a:solidFill>
                <a:latin typeface="Arial"/>
              </a:rPr>
              <a:t>Still the substrate everything else renders to</a:t>
            </a:r>
          </a:p>
        </p:txBody>
      </p:sp>
      <p:sp>
        <p:nvSpPr>
          <p:cNvPr id="11" name="Rounded Rectangle 10"/>
          <p:cNvSpPr/>
          <p:nvPr/>
        </p:nvSpPr>
        <p:spPr>
          <a:xfrm>
            <a:off x="1033271" y="5532119"/>
            <a:ext cx="128016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kubectl apply -f</a:t>
            </a:r>
          </a:p>
        </p:txBody>
      </p:sp>
      <p:sp>
        <p:nvSpPr>
          <p:cNvPr id="12" name="Rounded Rectangle 11"/>
          <p:cNvSpPr/>
          <p:nvPr/>
        </p:nvSpPr>
        <p:spPr>
          <a:xfrm>
            <a:off x="2404872" y="5532119"/>
            <a:ext cx="114300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no indirection</a:t>
            </a:r>
          </a:p>
        </p:txBody>
      </p:sp>
      <p:sp>
        <p:nvSpPr>
          <p:cNvPr id="13" name="Rectangle 12"/>
          <p:cNvSpPr/>
          <p:nvPr/>
        </p:nvSpPr>
        <p:spPr>
          <a:xfrm>
            <a:off x="4483303"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8885"/>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Helm</a:t>
            </a:r>
          </a:p>
        </p:txBody>
      </p:sp>
      <p:sp>
        <p:nvSpPr>
          <p:cNvPr id="16" name="TextBox 15"/>
          <p:cNvSpPr txBox="1"/>
          <p:nvPr/>
        </p:nvSpPr>
        <p:spPr>
          <a:xfrm>
            <a:off x="4739335"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Versioned, redistributable packages with dependencies</a:t>
            </a:r>
          </a:p>
          <a:p>
            <a:pPr>
              <a:lnSpc>
                <a:spcPct val="112000"/>
              </a:lnSpc>
              <a:spcAft>
                <a:spcPts val="500"/>
              </a:spcAft>
            </a:pPr>
            <a:r>
              <a:rPr sz="1100">
                <a:solidFill>
                  <a:srgbClr val="94A3B8"/>
                </a:solidFill>
                <a:latin typeface="Arial"/>
              </a:rPr>
              <a:t>•  </a:t>
            </a:r>
            <a:r>
              <a:rPr sz="1100">
                <a:solidFill>
                  <a:srgbClr val="5B6372"/>
                </a:solidFill>
                <a:latin typeface="Arial"/>
              </a:rPr>
              <a:t>Conditional resources and loops via Go templates</a:t>
            </a:r>
          </a:p>
          <a:p>
            <a:pPr>
              <a:lnSpc>
                <a:spcPct val="112000"/>
              </a:lnSpc>
              <a:spcAft>
                <a:spcPts val="500"/>
              </a:spcAft>
            </a:pPr>
            <a:r>
              <a:rPr sz="1100">
                <a:solidFill>
                  <a:srgbClr val="94A3B8"/>
                </a:solidFill>
                <a:latin typeface="Arial"/>
              </a:rPr>
              <a:t>•  </a:t>
            </a:r>
            <a:r>
              <a:rPr sz="1100">
                <a:solidFill>
                  <a:srgbClr val="5B6372"/>
                </a:solidFill>
                <a:latin typeface="Arial"/>
              </a:rPr>
              <a:t>Release history and helm rollback</a:t>
            </a:r>
          </a:p>
          <a:p>
            <a:pPr>
              <a:lnSpc>
                <a:spcPct val="112000"/>
              </a:lnSpc>
              <a:spcAft>
                <a:spcPts val="500"/>
              </a:spcAft>
            </a:pPr>
            <a:r>
              <a:rPr sz="1100">
                <a:solidFill>
                  <a:srgbClr val="94A3B8"/>
                </a:solidFill>
                <a:latin typeface="Arial"/>
              </a:rPr>
              <a:t>•  </a:t>
            </a:r>
            <a:r>
              <a:rPr sz="1100">
                <a:solidFill>
                  <a:srgbClr val="5B6372"/>
                </a:solidFill>
                <a:latin typeface="Arial"/>
              </a:rPr>
              <a:t>The default way third parties ship software</a:t>
            </a:r>
          </a:p>
        </p:txBody>
      </p:sp>
      <p:sp>
        <p:nvSpPr>
          <p:cNvPr id="17" name="Rounded Rectangle 16"/>
          <p:cNvSpPr/>
          <p:nvPr/>
        </p:nvSpPr>
        <p:spPr>
          <a:xfrm>
            <a:off x="4739335" y="5532119"/>
            <a:ext cx="114300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chart + values</a:t>
            </a:r>
          </a:p>
        </p:txBody>
      </p:sp>
      <p:sp>
        <p:nvSpPr>
          <p:cNvPr id="18" name="Rounded Rectangle 17"/>
          <p:cNvSpPr/>
          <p:nvPr/>
        </p:nvSpPr>
        <p:spPr>
          <a:xfrm>
            <a:off x="5973775" y="5532119"/>
            <a:ext cx="107442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release state</a:t>
            </a:r>
          </a:p>
        </p:txBody>
      </p:sp>
      <p:sp>
        <p:nvSpPr>
          <p:cNvPr id="19" name="Rectangle 18"/>
          <p:cNvSpPr/>
          <p:nvPr/>
        </p:nvSpPr>
        <p:spPr>
          <a:xfrm>
            <a:off x="8189366" y="2208885"/>
            <a:ext cx="3286353" cy="3780434"/>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8885"/>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9781"/>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Kustomize</a:t>
            </a:r>
          </a:p>
        </p:txBody>
      </p:sp>
      <p:sp>
        <p:nvSpPr>
          <p:cNvPr id="22" name="TextBox 21"/>
          <p:cNvSpPr txBox="1"/>
          <p:nvPr/>
        </p:nvSpPr>
        <p:spPr>
          <a:xfrm>
            <a:off x="8445398" y="3178149"/>
            <a:ext cx="2774289" cy="2317394"/>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Base plus overlays, no template language at all</a:t>
            </a:r>
          </a:p>
          <a:p>
            <a:pPr>
              <a:lnSpc>
                <a:spcPct val="112000"/>
              </a:lnSpc>
              <a:spcAft>
                <a:spcPts val="500"/>
              </a:spcAft>
            </a:pPr>
            <a:r>
              <a:rPr sz="1100">
                <a:solidFill>
                  <a:srgbClr val="94A3B8"/>
                </a:solidFill>
                <a:latin typeface="Arial"/>
              </a:rPr>
              <a:t>•  </a:t>
            </a:r>
            <a:r>
              <a:rPr sz="1100">
                <a:solidFill>
                  <a:srgbClr val="5B6372"/>
                </a:solidFill>
                <a:latin typeface="Arial"/>
              </a:rPr>
              <a:t>Structured, typed edits to real YAML</a:t>
            </a:r>
          </a:p>
          <a:p>
            <a:pPr>
              <a:lnSpc>
                <a:spcPct val="112000"/>
              </a:lnSpc>
              <a:spcAft>
                <a:spcPts val="500"/>
              </a:spcAft>
            </a:pPr>
            <a:r>
              <a:rPr sz="1100">
                <a:solidFill>
                  <a:srgbClr val="94A3B8"/>
                </a:solidFill>
                <a:latin typeface="Arial"/>
              </a:rPr>
              <a:t>•  </a:t>
            </a:r>
            <a:r>
              <a:rPr sz="1100">
                <a:solidFill>
                  <a:srgbClr val="5B6372"/>
                </a:solidFill>
                <a:latin typeface="Arial"/>
              </a:rPr>
              <a:t>Built into kubectl; nothing extra to install</a:t>
            </a:r>
          </a:p>
          <a:p>
            <a:pPr>
              <a:lnSpc>
                <a:spcPct val="112000"/>
              </a:lnSpc>
              <a:spcAft>
                <a:spcPts val="500"/>
              </a:spcAft>
            </a:pPr>
            <a:r>
              <a:rPr sz="1100">
                <a:solidFill>
                  <a:srgbClr val="94A3B8"/>
                </a:solidFill>
                <a:latin typeface="Arial"/>
              </a:rPr>
              <a:t>•  </a:t>
            </a:r>
            <a:r>
              <a:rPr sz="1100">
                <a:solidFill>
                  <a:srgbClr val="5B6372"/>
                </a:solidFill>
                <a:latin typeface="Arial"/>
              </a:rPr>
              <a:t>Best for your own applications across environments</a:t>
            </a:r>
          </a:p>
        </p:txBody>
      </p:sp>
      <p:sp>
        <p:nvSpPr>
          <p:cNvPr id="23" name="Rounded Rectangle 22"/>
          <p:cNvSpPr/>
          <p:nvPr/>
        </p:nvSpPr>
        <p:spPr>
          <a:xfrm>
            <a:off x="8445398" y="5532119"/>
            <a:ext cx="7315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overlays</a:t>
            </a:r>
          </a:p>
        </p:txBody>
      </p:sp>
      <p:sp>
        <p:nvSpPr>
          <p:cNvPr id="24" name="Rounded Rectangle 23"/>
          <p:cNvSpPr/>
          <p:nvPr/>
        </p:nvSpPr>
        <p:spPr>
          <a:xfrm>
            <a:off x="9268358" y="5532119"/>
            <a:ext cx="86868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in kubectl</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455</a:t>
            </a:r>
          </a:p>
        </p:txBody>
      </p:sp>
    </p:spTree>
  </p:cSld>
  <p:clrMapOvr>
    <a:masterClrMapping/>
  </p:clrMapOvr>
  <p:transition xmlns:ns1="http://schemas.openxmlformats.org/markup-compatibility/2006" spd="fast" ns1:Ignorable="p14">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DESIGN DECISION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Helm or Kustomize for This Repository?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Distribution is the axis that actually decides this, not personal preference.</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Are strangers going to install this?</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package it as a Helm chart</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A versioned artifact you can publish to a registry</a:t>
            </a:r>
          </a:p>
          <a:p>
            <a:pPr>
              <a:lnSpc>
                <a:spcPct val="112000"/>
              </a:lnSpc>
              <a:spcAft>
                <a:spcPts val="500"/>
              </a:spcAft>
            </a:pPr>
            <a:r>
              <a:rPr sz="1100">
                <a:solidFill>
                  <a:srgbClr val="94A3B8"/>
                </a:solidFill>
                <a:latin typeface="Arial"/>
              </a:rPr>
              <a:t>•  </a:t>
            </a:r>
            <a:r>
              <a:rPr sz="1100">
                <a:solidFill>
                  <a:srgbClr val="5B6372"/>
                </a:solidFill>
                <a:latin typeface="Arial"/>
              </a:rPr>
              <a:t>Consumers configure through a documented values surface</a:t>
            </a:r>
          </a:p>
          <a:p>
            <a:pPr>
              <a:lnSpc>
                <a:spcPct val="112000"/>
              </a:lnSpc>
              <a:spcAft>
                <a:spcPts val="500"/>
              </a:spcAft>
            </a:pPr>
            <a:r>
              <a:rPr sz="1100">
                <a:solidFill>
                  <a:srgbClr val="94A3B8"/>
                </a:solidFill>
                <a:latin typeface="Arial"/>
              </a:rPr>
              <a:t>•  </a:t>
            </a:r>
            <a:r>
              <a:rPr sz="1100">
                <a:solidFill>
                  <a:srgbClr val="5B6372"/>
                </a:solidFill>
                <a:latin typeface="Arial"/>
              </a:rPr>
              <a:t>Conditional resources for optional components</a:t>
            </a:r>
          </a:p>
          <a:p>
            <a:pPr>
              <a:lnSpc>
                <a:spcPct val="112000"/>
              </a:lnSpc>
              <a:spcAft>
                <a:spcPts val="500"/>
              </a:spcAft>
            </a:pPr>
            <a:r>
              <a:rPr sz="1100">
                <a:solidFill>
                  <a:srgbClr val="94A3B8"/>
                </a:solidFill>
                <a:latin typeface="Arial"/>
              </a:rPr>
              <a:t>•  </a:t>
            </a:r>
            <a:r>
              <a:rPr sz="1100">
                <a:solidFill>
                  <a:srgbClr val="5B6372"/>
                </a:solidFill>
                <a:latin typeface="Arial"/>
              </a:rPr>
              <a:t>Dependencies and release history come for free</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it is your own app: use Kustomize</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Base plus one overlay per environment, all in your repository</a:t>
            </a:r>
          </a:p>
          <a:p>
            <a:pPr>
              <a:lnSpc>
                <a:spcPct val="112000"/>
              </a:lnSpc>
              <a:spcAft>
                <a:spcPts val="500"/>
              </a:spcAft>
            </a:pPr>
            <a:r>
              <a:rPr sz="1100">
                <a:solidFill>
                  <a:srgbClr val="94A3B8"/>
                </a:solidFill>
                <a:latin typeface="Arial"/>
              </a:rPr>
              <a:t>•  </a:t>
            </a:r>
            <a:r>
              <a:rPr sz="1100">
                <a:solidFill>
                  <a:srgbClr val="5B6372"/>
                </a:solidFill>
                <a:latin typeface="Arial"/>
              </a:rPr>
              <a:t>Diffs stay readable because there is no template layer</a:t>
            </a:r>
          </a:p>
          <a:p>
            <a:pPr>
              <a:lnSpc>
                <a:spcPct val="112000"/>
              </a:lnSpc>
              <a:spcAft>
                <a:spcPts val="500"/>
              </a:spcAft>
            </a:pPr>
            <a:r>
              <a:rPr sz="1100">
                <a:solidFill>
                  <a:srgbClr val="94A3B8"/>
                </a:solidFill>
                <a:latin typeface="Arial"/>
              </a:rPr>
              <a:t>•  </a:t>
            </a:r>
            <a:r>
              <a:rPr sz="1100">
                <a:solidFill>
                  <a:srgbClr val="5B6372"/>
                </a:solidFill>
                <a:latin typeface="Arial"/>
              </a:rPr>
              <a:t>kubectl kustomize needs no extra tooling in CI</a:t>
            </a:r>
          </a:p>
          <a:p>
            <a:pPr>
              <a:lnSpc>
                <a:spcPct val="112000"/>
              </a:lnSpc>
              <a:spcAft>
                <a:spcPts val="500"/>
              </a:spcAft>
            </a:pPr>
            <a:r>
              <a:rPr sz="1100">
                <a:solidFill>
                  <a:srgbClr val="94A3B8"/>
                </a:solidFill>
                <a:latin typeface="Arial"/>
              </a:rPr>
              <a:t>•  </a:t>
            </a:r>
            <a:r>
              <a:rPr sz="1100">
                <a:solidFill>
                  <a:srgbClr val="5B6372"/>
                </a:solidFill>
                <a:latin typeface="Arial"/>
              </a:rPr>
              <a:t>Escalate to Helm only when you need conditionals or loops</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456</a:t>
            </a:r>
          </a:p>
        </p:txBody>
      </p:sp>
    </p:spTree>
  </p:cSld>
  <p:clrMapOvr>
    <a:masterClrMapping/>
  </p:clrMapOvr>
  <p:transition xmlns:ns3="http://schemas.openxmlformats.org/markup-compatibility/2006" spd="fast" ns3:Ignorable="p14">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EVALUATION FRAMEWORK</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Scoring Helm Against Kustomize on Six Criteria</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decision aid you can defend in a design review — clearly labelled as judgement, not measurement.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Fit score (1 = poor, 5 = strong)</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This is a rubric, not data</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Scores are an authored 1-5 evaluation framework for classroom comparison. Nothing here was measured.</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profiles are complementary</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Each tool wins clearly on three criteria — which is why real platforms often use both.</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Weight the criteria yourself</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Redistribution dominates for a vendor; diff readability dominates for a platform team under review.</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Use it as a conversation</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The value is in arguing about the weights with your own constraints, not in the totals.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Helm documentation — Charts, Values, Templates (helm.sh/docs).</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457</a:t>
            </a:r>
          </a:p>
        </p:txBody>
      </p:sp>
    </p:spTree>
  </p:cSld>
  <p:clrMapOvr>
    <a:masterClrMapping/>
  </p:clrMapOvr>
  <p:transition xmlns:ns1="http://schemas.openxmlformats.org/markup-compatibility/2006" spd="fast" ns1:Ignorable="p14">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7C3AED"/>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7C3AED"/>
                </a:solidFill>
                <a:latin typeface="Arial"/>
              </a:rPr>
              <a:t>THE DISTINCTION THAT MATTERS</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GitOps is not a pipeline that runs kubectl. It is a controller inside the cluster that never stops making reality match Git.</a:t>
            </a:r>
          </a:p>
        </p:txBody>
      </p:sp>
      <p:sp>
        <p:nvSpPr>
          <p:cNvPr id="6" name="Rectangle 5"/>
          <p:cNvSpPr/>
          <p:nvPr/>
        </p:nvSpPr>
        <p:spPr>
          <a:xfrm>
            <a:off x="1143000" y="4187952"/>
            <a:ext cx="2194560" cy="32004"/>
          </a:xfrm>
          <a:prstGeom prst="rect">
            <a:avLst/>
          </a:prstGeom>
          <a:solidFill>
            <a:srgbClr val="7C3AED"/>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That single architectural change is what produces drift detection, self-healing and an audit trail you did not have to build.</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458</a:t>
            </a:r>
          </a:p>
        </p:txBody>
      </p:sp>
    </p:spTree>
  </p:cSld>
  <p:clrMapOvr>
    <a:masterClrMapping/>
  </p:clrMapOvr>
  <p:transition xmlns:ns1="http://schemas.openxmlformats.org/markup-compatibility/2006" spd="fast" ns1:Ignorable="p14">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ARCHITECTURE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GitOps Reconciliation Loop</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closed loop with no external actor holding credentials — the same control-loop pattern as every other Kubernetes controller.</a:t>
            </a:r>
          </a:p>
        </p:txBody>
      </p:sp>
      <p:sp>
        <p:nvSpPr>
          <p:cNvPr id="7" name="Rectangle 6"/>
          <p:cNvSpPr/>
          <p:nvPr/>
        </p:nvSpPr>
        <p:spPr>
          <a:xfrm>
            <a:off x="777240" y="2208885"/>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8885"/>
            <a:ext cx="50292" cy="110774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91765"/>
            <a:ext cx="1261872" cy="778560"/>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GIT — DECLARED DESIRED STATE</a:t>
            </a:r>
          </a:p>
        </p:txBody>
      </p:sp>
      <p:sp>
        <p:nvSpPr>
          <p:cNvPr id="10" name="Rounded Rectangle 9"/>
          <p:cNvSpPr/>
          <p:nvPr/>
        </p:nvSpPr>
        <p:spPr>
          <a:xfrm>
            <a:off x="2258568"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Repository</a:t>
            </a:r>
          </a:p>
        </p:txBody>
      </p:sp>
      <p:sp>
        <p:nvSpPr>
          <p:cNvPr id="12" name="TextBox 11"/>
          <p:cNvSpPr txBox="1"/>
          <p:nvPr/>
        </p:nvSpPr>
        <p:spPr>
          <a:xfrm>
            <a:off x="2350008"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Manifests, charts, overlays</a:t>
            </a:r>
          </a:p>
        </p:txBody>
      </p:sp>
      <p:sp>
        <p:nvSpPr>
          <p:cNvPr id="13" name="Rounded Rectangle 12"/>
          <p:cNvSpPr/>
          <p:nvPr/>
        </p:nvSpPr>
        <p:spPr>
          <a:xfrm>
            <a:off x="4553712"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4645151"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Branch or tag</a:t>
            </a:r>
          </a:p>
        </p:txBody>
      </p:sp>
      <p:sp>
        <p:nvSpPr>
          <p:cNvPr id="15" name="TextBox 14"/>
          <p:cNvSpPr txBox="1"/>
          <p:nvPr/>
        </p:nvSpPr>
        <p:spPr>
          <a:xfrm>
            <a:off x="4645151"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revision to track</a:t>
            </a:r>
          </a:p>
        </p:txBody>
      </p:sp>
      <p:sp>
        <p:nvSpPr>
          <p:cNvPr id="16" name="Rounded Rectangle 15"/>
          <p:cNvSpPr/>
          <p:nvPr/>
        </p:nvSpPr>
        <p:spPr>
          <a:xfrm>
            <a:off x="6848855"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6940295"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Pull request</a:t>
            </a:r>
          </a:p>
        </p:txBody>
      </p:sp>
      <p:sp>
        <p:nvSpPr>
          <p:cNvPr id="18" name="TextBox 17"/>
          <p:cNvSpPr txBox="1"/>
          <p:nvPr/>
        </p:nvSpPr>
        <p:spPr>
          <a:xfrm>
            <a:off x="6940295"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Review is the change control</a:t>
            </a:r>
          </a:p>
        </p:txBody>
      </p:sp>
      <p:sp>
        <p:nvSpPr>
          <p:cNvPr id="19" name="Rounded Rectangle 18"/>
          <p:cNvSpPr/>
          <p:nvPr/>
        </p:nvSpPr>
        <p:spPr>
          <a:xfrm>
            <a:off x="9143999" y="2282037"/>
            <a:ext cx="2130551" cy="961440"/>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0" name="TextBox 19"/>
          <p:cNvSpPr txBox="1"/>
          <p:nvPr/>
        </p:nvSpPr>
        <p:spPr>
          <a:xfrm>
            <a:off x="9235439" y="233690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Commit history</a:t>
            </a:r>
          </a:p>
        </p:txBody>
      </p:sp>
      <p:sp>
        <p:nvSpPr>
          <p:cNvPr id="21" name="TextBox 20"/>
          <p:cNvSpPr txBox="1"/>
          <p:nvPr/>
        </p:nvSpPr>
        <p:spPr>
          <a:xfrm>
            <a:off x="9235439" y="257007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Who changed what, and when</a:t>
            </a:r>
          </a:p>
        </p:txBody>
      </p:sp>
      <p:sp>
        <p:nvSpPr>
          <p:cNvPr id="22" name="Rectangle 21"/>
          <p:cNvSpPr/>
          <p:nvPr/>
        </p:nvSpPr>
        <p:spPr>
          <a:xfrm>
            <a:off x="777240" y="3499510"/>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23" name="Rectangle 22"/>
          <p:cNvSpPr/>
          <p:nvPr/>
        </p:nvSpPr>
        <p:spPr>
          <a:xfrm>
            <a:off x="777240" y="3499510"/>
            <a:ext cx="50292" cy="1107744"/>
          </a:xfrm>
          <a:prstGeom prst="rect">
            <a:avLst/>
          </a:prstGeom>
          <a:solidFill>
            <a:srgbClr val="7C3AED"/>
          </a:solidFill>
          <a:ln>
            <a:noFill/>
          </a:ln>
          <a:effectLst/>
        </p:spPr>
        <p:txBody>
          <a:bodyPr rtlCol="0" anchor="ctr" wrap="square"/>
          <a:lstStyle/>
          <a:p>
            <a:pPr algn="ctr"/>
          </a:p>
        </p:txBody>
      </p:sp>
      <p:sp>
        <p:nvSpPr>
          <p:cNvPr id="24" name="TextBox 23"/>
          <p:cNvSpPr txBox="1"/>
          <p:nvPr/>
        </p:nvSpPr>
        <p:spPr>
          <a:xfrm>
            <a:off x="941832" y="3682390"/>
            <a:ext cx="1261872" cy="778560"/>
          </a:xfrm>
          <a:prstGeom prst="rect">
            <a:avLst/>
          </a:prstGeom>
          <a:noFill/>
        </p:spPr>
        <p:txBody>
          <a:bodyPr wrap="square" lIns="0" rIns="0" tIns="0" bIns="0" anchor="t">
            <a:spAutoFit/>
          </a:bodyPr>
          <a:lstStyle/>
          <a:p>
            <a:pPr algn="l">
              <a:lnSpc>
                <a:spcPct val="112000"/>
              </a:lnSpc>
            </a:pPr>
            <a:r>
              <a:rPr sz="950" b="1" i="0">
                <a:solidFill>
                  <a:srgbClr val="7C3AED"/>
                </a:solidFill>
                <a:latin typeface="Arial"/>
              </a:rPr>
              <a:t>CONTROLLER — INSIDE THE CLUSTER</a:t>
            </a:r>
          </a:p>
        </p:txBody>
      </p:sp>
      <p:sp>
        <p:nvSpPr>
          <p:cNvPr id="25" name="Rounded Rectangle 24"/>
          <p:cNvSpPr/>
          <p:nvPr/>
        </p:nvSpPr>
        <p:spPr>
          <a:xfrm>
            <a:off x="225856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6" name="TextBox 25"/>
          <p:cNvSpPr txBox="1"/>
          <p:nvPr/>
        </p:nvSpPr>
        <p:spPr>
          <a:xfrm>
            <a:off x="235000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Source fetch</a:t>
            </a:r>
          </a:p>
        </p:txBody>
      </p:sp>
      <p:sp>
        <p:nvSpPr>
          <p:cNvPr id="27" name="TextBox 26"/>
          <p:cNvSpPr txBox="1"/>
          <p:nvPr/>
        </p:nvSpPr>
        <p:spPr>
          <a:xfrm>
            <a:off x="235000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Clone and verify the revision</a:t>
            </a:r>
          </a:p>
        </p:txBody>
      </p:sp>
      <p:sp>
        <p:nvSpPr>
          <p:cNvPr id="28" name="Rounded Rectangle 27"/>
          <p:cNvSpPr/>
          <p:nvPr/>
        </p:nvSpPr>
        <p:spPr>
          <a:xfrm>
            <a:off x="4094683"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29" name="TextBox 28"/>
          <p:cNvSpPr txBox="1"/>
          <p:nvPr/>
        </p:nvSpPr>
        <p:spPr>
          <a:xfrm>
            <a:off x="4186123"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Render</a:t>
            </a:r>
          </a:p>
        </p:txBody>
      </p:sp>
      <p:sp>
        <p:nvSpPr>
          <p:cNvPr id="30" name="TextBox 29"/>
          <p:cNvSpPr txBox="1"/>
          <p:nvPr/>
        </p:nvSpPr>
        <p:spPr>
          <a:xfrm>
            <a:off x="4186123"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kustomize build or helm template</a:t>
            </a:r>
          </a:p>
        </p:txBody>
      </p:sp>
      <p:sp>
        <p:nvSpPr>
          <p:cNvPr id="31" name="Rounded Rectangle 30"/>
          <p:cNvSpPr/>
          <p:nvPr/>
        </p:nvSpPr>
        <p:spPr>
          <a:xfrm>
            <a:off x="593079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2" name="TextBox 31"/>
          <p:cNvSpPr txBox="1"/>
          <p:nvPr/>
        </p:nvSpPr>
        <p:spPr>
          <a:xfrm>
            <a:off x="602223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Diff</a:t>
            </a:r>
          </a:p>
        </p:txBody>
      </p:sp>
      <p:sp>
        <p:nvSpPr>
          <p:cNvPr id="33" name="TextBox 32"/>
          <p:cNvSpPr txBox="1"/>
          <p:nvPr/>
        </p:nvSpPr>
        <p:spPr>
          <a:xfrm>
            <a:off x="602223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Desired against live objects</a:t>
            </a:r>
          </a:p>
        </p:txBody>
      </p:sp>
      <p:sp>
        <p:nvSpPr>
          <p:cNvPr id="34" name="Rounded Rectangle 33"/>
          <p:cNvSpPr/>
          <p:nvPr/>
        </p:nvSpPr>
        <p:spPr>
          <a:xfrm>
            <a:off x="7766913"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5" name="TextBox 34"/>
          <p:cNvSpPr txBox="1"/>
          <p:nvPr/>
        </p:nvSpPr>
        <p:spPr>
          <a:xfrm>
            <a:off x="7858353"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Apply</a:t>
            </a:r>
          </a:p>
        </p:txBody>
      </p:sp>
      <p:sp>
        <p:nvSpPr>
          <p:cNvPr id="36" name="TextBox 35"/>
          <p:cNvSpPr txBox="1"/>
          <p:nvPr/>
        </p:nvSpPr>
        <p:spPr>
          <a:xfrm>
            <a:off x="7858353"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Server-side apply the difference</a:t>
            </a:r>
          </a:p>
        </p:txBody>
      </p:sp>
      <p:sp>
        <p:nvSpPr>
          <p:cNvPr id="37" name="Rounded Rectangle 36"/>
          <p:cNvSpPr/>
          <p:nvPr/>
        </p:nvSpPr>
        <p:spPr>
          <a:xfrm>
            <a:off x="9603028" y="3572662"/>
            <a:ext cx="1671523" cy="961440"/>
          </a:xfrm>
          <a:prstGeom prst="roundRect">
            <a:avLst>
              <a:gd name="adj" fmla="val 10000"/>
            </a:avLst>
          </a:prstGeom>
          <a:solidFill>
            <a:srgbClr val="FFFFFF"/>
          </a:solidFill>
          <a:ln w="17780">
            <a:solidFill>
              <a:srgbClr val="7C3AED"/>
            </a:solidFill>
          </a:ln>
          <a:effectLst/>
        </p:spPr>
        <p:txBody>
          <a:bodyPr rtlCol="0" anchor="ctr" wrap="square"/>
          <a:lstStyle/>
          <a:p>
            <a:pPr algn="ctr"/>
          </a:p>
        </p:txBody>
      </p:sp>
      <p:sp>
        <p:nvSpPr>
          <p:cNvPr id="38" name="TextBox 37"/>
          <p:cNvSpPr txBox="1"/>
          <p:nvPr/>
        </p:nvSpPr>
        <p:spPr>
          <a:xfrm>
            <a:off x="9694468" y="3627526"/>
            <a:ext cx="1488643"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Health assess</a:t>
            </a:r>
          </a:p>
        </p:txBody>
      </p:sp>
      <p:sp>
        <p:nvSpPr>
          <p:cNvPr id="39" name="TextBox 38"/>
          <p:cNvSpPr txBox="1"/>
          <p:nvPr/>
        </p:nvSpPr>
        <p:spPr>
          <a:xfrm>
            <a:off x="9694468" y="3860698"/>
            <a:ext cx="1488643"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Per-resource readiness</a:t>
            </a:r>
          </a:p>
        </p:txBody>
      </p:sp>
      <p:sp>
        <p:nvSpPr>
          <p:cNvPr id="40" name="Rectangle 39"/>
          <p:cNvSpPr/>
          <p:nvPr/>
        </p:nvSpPr>
        <p:spPr>
          <a:xfrm>
            <a:off x="777240" y="4790135"/>
            <a:ext cx="10698480" cy="1107744"/>
          </a:xfrm>
          <a:prstGeom prst="rect">
            <a:avLst/>
          </a:prstGeom>
          <a:solidFill>
            <a:srgbClr val="F5F8FC"/>
          </a:solidFill>
          <a:ln w="12700">
            <a:solidFill>
              <a:srgbClr val="E2E8F0"/>
            </a:solidFill>
          </a:ln>
          <a:effectLst/>
        </p:spPr>
        <p:txBody>
          <a:bodyPr rtlCol="0" anchor="ctr" wrap="square"/>
          <a:lstStyle/>
          <a:p>
            <a:pPr algn="ctr"/>
          </a:p>
        </p:txBody>
      </p:sp>
      <p:sp>
        <p:nvSpPr>
          <p:cNvPr id="41" name="Rectangle 40"/>
          <p:cNvSpPr/>
          <p:nvPr/>
        </p:nvSpPr>
        <p:spPr>
          <a:xfrm>
            <a:off x="777240" y="4790135"/>
            <a:ext cx="50292" cy="1107744"/>
          </a:xfrm>
          <a:prstGeom prst="rect">
            <a:avLst/>
          </a:prstGeom>
          <a:solidFill>
            <a:srgbClr val="10B981"/>
          </a:solidFill>
          <a:ln>
            <a:noFill/>
          </a:ln>
          <a:effectLst/>
        </p:spPr>
        <p:txBody>
          <a:bodyPr rtlCol="0" anchor="ctr" wrap="square"/>
          <a:lstStyle/>
          <a:p>
            <a:pPr algn="ctr"/>
          </a:p>
        </p:txBody>
      </p:sp>
      <p:sp>
        <p:nvSpPr>
          <p:cNvPr id="42" name="TextBox 41"/>
          <p:cNvSpPr txBox="1"/>
          <p:nvPr/>
        </p:nvSpPr>
        <p:spPr>
          <a:xfrm>
            <a:off x="941832" y="4973015"/>
            <a:ext cx="1261872" cy="778560"/>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CLUSTER — OBSERVED ACTUAL STATE</a:t>
            </a:r>
          </a:p>
        </p:txBody>
      </p:sp>
      <p:sp>
        <p:nvSpPr>
          <p:cNvPr id="43" name="Rounded Rectangle 42"/>
          <p:cNvSpPr/>
          <p:nvPr/>
        </p:nvSpPr>
        <p:spPr>
          <a:xfrm>
            <a:off x="2258568"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4" name="TextBox 43"/>
          <p:cNvSpPr txBox="1"/>
          <p:nvPr/>
        </p:nvSpPr>
        <p:spPr>
          <a:xfrm>
            <a:off x="2350008"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API server</a:t>
            </a:r>
          </a:p>
        </p:txBody>
      </p:sp>
      <p:sp>
        <p:nvSpPr>
          <p:cNvPr id="45" name="TextBox 44"/>
          <p:cNvSpPr txBox="1"/>
          <p:nvPr/>
        </p:nvSpPr>
        <p:spPr>
          <a:xfrm>
            <a:off x="2350008"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live objects</a:t>
            </a:r>
          </a:p>
        </p:txBody>
      </p:sp>
      <p:sp>
        <p:nvSpPr>
          <p:cNvPr id="46" name="Rounded Rectangle 45"/>
          <p:cNvSpPr/>
          <p:nvPr/>
        </p:nvSpPr>
        <p:spPr>
          <a:xfrm>
            <a:off x="4553712"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47" name="TextBox 46"/>
          <p:cNvSpPr txBox="1"/>
          <p:nvPr/>
        </p:nvSpPr>
        <p:spPr>
          <a:xfrm>
            <a:off x="4645151"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Workloads</a:t>
            </a:r>
          </a:p>
        </p:txBody>
      </p:sp>
      <p:sp>
        <p:nvSpPr>
          <p:cNvPr id="48" name="TextBox 47"/>
          <p:cNvSpPr txBox="1"/>
          <p:nvPr/>
        </p:nvSpPr>
        <p:spPr>
          <a:xfrm>
            <a:off x="4645151"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What is really running</a:t>
            </a:r>
          </a:p>
        </p:txBody>
      </p:sp>
      <p:sp>
        <p:nvSpPr>
          <p:cNvPr id="49" name="Rounded Rectangle 48"/>
          <p:cNvSpPr/>
          <p:nvPr/>
        </p:nvSpPr>
        <p:spPr>
          <a:xfrm>
            <a:off x="6848855"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0" name="TextBox 49"/>
          <p:cNvSpPr txBox="1"/>
          <p:nvPr/>
        </p:nvSpPr>
        <p:spPr>
          <a:xfrm>
            <a:off x="6940295"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Drift</a:t>
            </a:r>
          </a:p>
        </p:txBody>
      </p:sp>
      <p:sp>
        <p:nvSpPr>
          <p:cNvPr id="51" name="TextBox 50"/>
          <p:cNvSpPr txBox="1"/>
          <p:nvPr/>
        </p:nvSpPr>
        <p:spPr>
          <a:xfrm>
            <a:off x="6940295"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Manual edits and mutations</a:t>
            </a:r>
          </a:p>
        </p:txBody>
      </p:sp>
      <p:sp>
        <p:nvSpPr>
          <p:cNvPr id="52" name="Rounded Rectangle 51"/>
          <p:cNvSpPr/>
          <p:nvPr/>
        </p:nvSpPr>
        <p:spPr>
          <a:xfrm>
            <a:off x="9143999" y="4863287"/>
            <a:ext cx="2130551" cy="961440"/>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53" name="TextBox 52"/>
          <p:cNvSpPr txBox="1"/>
          <p:nvPr/>
        </p:nvSpPr>
        <p:spPr>
          <a:xfrm>
            <a:off x="9235439" y="4918151"/>
            <a:ext cx="1947671"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Status</a:t>
            </a:r>
          </a:p>
        </p:txBody>
      </p:sp>
      <p:sp>
        <p:nvSpPr>
          <p:cNvPr id="54" name="TextBox 53"/>
          <p:cNvSpPr txBox="1"/>
          <p:nvPr/>
        </p:nvSpPr>
        <p:spPr>
          <a:xfrm>
            <a:off x="9235439" y="5151323"/>
            <a:ext cx="1947671" cy="600252"/>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Reported back to the controller</a:t>
            </a:r>
          </a:p>
        </p:txBody>
      </p:sp>
      <p:sp>
        <p:nvSpPr>
          <p:cNvPr id="55" name="TextBox 5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OpenGitOps v1.0.0 Principles (opengitops.dev), CNCF App Delivery TAG.</a:t>
            </a:r>
          </a:p>
        </p:txBody>
      </p:sp>
      <p:sp>
        <p:nvSpPr>
          <p:cNvPr id="56" name="TextBox 5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7" name="TextBox 5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8" name="TextBox 5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459</a:t>
            </a:r>
          </a:p>
        </p:txBody>
      </p:sp>
      <p:cxnSp>
        <p:nvCxnSpPr>
          <p:cNvPr id="59" name="Connector 58"/>
          <p:cNvCxnSpPr/>
          <p:nvPr/>
        </p:nvCxnSpPr>
        <p:spPr>
          <a:xfrm>
            <a:off x="3323844" y="3243478"/>
            <a:ext cx="0" cy="164592"/>
          </a:xfrm>
          <a:prstGeom prst="line">
            <a:avLst/>
          </a:prstGeom>
          <a:ln w="190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3094329" y="3408070"/>
            <a:ext cx="229515" cy="0"/>
          </a:xfrm>
          <a:prstGeom prst="line">
            <a:avLst/>
          </a:prstGeom>
          <a:ln w="1905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94329" y="3408070"/>
            <a:ext cx="0" cy="164592"/>
          </a:xfrm>
          <a:prstGeom prst="line">
            <a:avLst/>
          </a:prstGeom>
          <a:ln w="1905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602675" y="4534103"/>
            <a:ext cx="0" cy="164592"/>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3323844" y="4698695"/>
            <a:ext cx="5278831" cy="0"/>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323844" y="4698695"/>
            <a:ext cx="0" cy="164592"/>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0209275" y="4698695"/>
            <a:ext cx="0" cy="164592"/>
          </a:xfrm>
          <a:prstGeom prst="line">
            <a:avLst/>
          </a:prstGeom>
          <a:ln w="190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209275" y="4698695"/>
            <a:ext cx="229515" cy="0"/>
          </a:xfrm>
          <a:prstGeom prst="line">
            <a:avLst/>
          </a:prstGeom>
          <a:ln w="190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0438790" y="4534103"/>
            <a:ext cx="0" cy="164592"/>
          </a:xfrm>
          <a:prstGeom prst="line">
            <a:avLst/>
          </a:prstGeom>
          <a:ln w="1905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transition xmlns:ns4="http://schemas.openxmlformats.org/markup-compatibility/2006" spd="fast" ns4:Ignorable="p14">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PRINCIPLES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Four OpenGitOps Principles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sentences, maintained by the CNCF OpenGitOps project, and commonly examined.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Declarative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entire desired state of the system is expressed declaratively — no imperative deployment scripts.</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Versioned and immutable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Desired state is stored so that it is versioned, immutable and retains a complete version history.</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Pulled automatically</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Software agents automatically pull the declared state from source. Nothing external pushes into the cluster.</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Continuously reconciled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Agents continuously observe actual state and attempt to apply the declared state — not once at deploy time.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What follows from these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Rollback is git revert, audit is git log, and the deployment record is the repository itself.</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What is NOT implied</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GitOps says nothing about Git specifically, nor about which renderer, nor about progressive delivery.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OpenGitOps v1.0.0 Principles (opengitops.dev), CNCF App Delivery TAG.</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460</a:t>
            </a:r>
          </a:p>
        </p:txBody>
      </p:sp>
    </p:spTree>
  </p:cSld>
  <p:clrMapOvr>
    <a:masterClrMapping/>
  </p:clrMapOvr>
  <p:transition xmlns:ns1="http://schemas.openxmlformats.org/markup-compatibility/2006" spd="fast" ns1:Ignorable="p14">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Push Delivery vs Pull Delivery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Same YAML, same registry, very different blast radius.</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Dimension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Push (pipeline applies)</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Pull (controller reconciles)</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Cluster credentials</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Held by the CI system, outside the cluster's trust boundary</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Held only by a controller running inside the cluster</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Network direction</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Inbound: CI must reach the API server</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Outbound: the cluster reaches the repository and registry</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Drift detection</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between deployments</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Continuous, on the reconcile interval</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Recovering a cluster</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Re-run the pipeline and hope it is idempotent</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Point a controller at the repository; it rebuilds the state</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Scaling to many clusters</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pipeline target per cluster, with one credential each</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controller per cluster, each pulling the paths it owns</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Pull inverts the trust direction: no external system needs standing write access to your cluster. That is the security argument, and it is the strongest one.</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OpenGitOps v1.0.0 Principles (opengitops.dev), CNCF App Delivery TAG.</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461</a:t>
            </a:r>
          </a:p>
        </p:txBody>
      </p:sp>
    </p:spTree>
  </p:cSld>
  <p:clrMapOvr>
    <a:masterClrMapping/>
  </p:clrMapOvr>
  <p:transition xmlns:ns1="http://schemas.openxmlformats.org/markup-compatibility/2006" spd="fast" ns1:Ignorable="p14">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Argo CD Application, Read Field by Field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Twenty lines that replace an entire deployment pipeline stage.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applications/tracklane-dev.yaml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339"/>
              </a:lnSpc>
              <a:spcAft>
                <a:spcPts val="0"/>
              </a:spcAft>
            </a:pPr>
            <a:r>
              <a:rPr sz="1050">
                <a:solidFill>
                  <a:srgbClr val="E6EDF3"/>
                </a:solidFill>
                <a:latin typeface="Consolas"/>
              </a:rPr>
              <a:t>apiVersion: argoproj.io/v1alpha1</a:t>
            </a:r>
          </a:p>
          <a:p>
            <a:pPr>
              <a:lnSpc>
                <a:spcPts val="1339"/>
              </a:lnSpc>
              <a:spcAft>
                <a:spcPts val="0"/>
              </a:spcAft>
            </a:pPr>
            <a:r>
              <a:rPr sz="1050">
                <a:solidFill>
                  <a:srgbClr val="E6EDF3"/>
                </a:solidFill>
                <a:latin typeface="Consolas"/>
              </a:rPr>
              <a:t>kind: Application</a:t>
            </a:r>
          </a:p>
          <a:p>
            <a:pPr>
              <a:lnSpc>
                <a:spcPts val="1339"/>
              </a:lnSpc>
              <a:spcAft>
                <a:spcPts val="0"/>
              </a:spcAft>
            </a:pPr>
            <a:r>
              <a:rPr sz="1050">
                <a:solidFill>
                  <a:srgbClr val="E6EDF3"/>
                </a:solidFill>
                <a:latin typeface="Consolas"/>
              </a:rPr>
              <a:t>metadata:</a:t>
            </a:r>
          </a:p>
          <a:p>
            <a:pPr>
              <a:lnSpc>
                <a:spcPts val="1339"/>
              </a:lnSpc>
              <a:spcAft>
                <a:spcPts val="0"/>
              </a:spcAft>
            </a:pPr>
            <a:r>
              <a:rPr sz="1050">
                <a:solidFill>
                  <a:srgbClr val="E6EDF3"/>
                </a:solidFill>
                <a:latin typeface="Consolas"/>
              </a:rPr>
              <a:t>  name: tracklane-dev</a:t>
            </a:r>
          </a:p>
          <a:p>
            <a:pPr>
              <a:lnSpc>
                <a:spcPts val="1339"/>
              </a:lnSpc>
              <a:spcAft>
                <a:spcPts val="0"/>
              </a:spcAft>
            </a:pPr>
            <a:r>
              <a:rPr sz="1050">
                <a:solidFill>
                  <a:srgbClr val="E6EDF3"/>
                </a:solidFill>
                <a:latin typeface="Consolas"/>
              </a:rPr>
              <a:t>  namespace: argocd</a:t>
            </a:r>
          </a:p>
          <a:p>
            <a:pPr>
              <a:lnSpc>
                <a:spcPts val="1339"/>
              </a:lnSpc>
              <a:spcAft>
                <a:spcPts val="0"/>
              </a:spcAft>
            </a:pPr>
            <a:r>
              <a:rPr sz="1050">
                <a:solidFill>
                  <a:srgbClr val="E6EDF3"/>
                </a:solidFill>
                <a:latin typeface="Consolas"/>
              </a:rPr>
              <a:t>  finalizers:</a:t>
            </a:r>
          </a:p>
          <a:p>
            <a:pPr>
              <a:lnSpc>
                <a:spcPts val="1339"/>
              </a:lnSpc>
              <a:spcAft>
                <a:spcPts val="0"/>
              </a:spcAft>
            </a:pPr>
            <a:r>
              <a:rPr sz="1050">
                <a:solidFill>
                  <a:srgbClr val="E6EDF3"/>
                </a:solidFill>
                <a:latin typeface="Consolas"/>
              </a:rPr>
              <a:t>    - resources-finalizer.argocd.argoproj.io</a:t>
            </a:r>
          </a:p>
          <a:p>
            <a:pPr>
              <a:lnSpc>
                <a:spcPts val="1339"/>
              </a:lnSpc>
              <a:spcAft>
                <a:spcPts val="0"/>
              </a:spcAft>
            </a:pPr>
            <a:r>
              <a:rPr sz="1050">
                <a:solidFill>
                  <a:srgbClr val="E6EDF3"/>
                </a:solidFill>
                <a:latin typeface="Consolas"/>
              </a:rPr>
              <a:t>spec:</a:t>
            </a:r>
          </a:p>
          <a:p>
            <a:pPr>
              <a:lnSpc>
                <a:spcPts val="1339"/>
              </a:lnSpc>
              <a:spcAft>
                <a:spcPts val="0"/>
              </a:spcAft>
            </a:pPr>
            <a:r>
              <a:rPr sz="1050">
                <a:solidFill>
                  <a:srgbClr val="E6EDF3"/>
                </a:solidFill>
                <a:latin typeface="Consolas"/>
              </a:rPr>
              <a:t>  project: default</a:t>
            </a:r>
          </a:p>
          <a:p>
            <a:pPr>
              <a:lnSpc>
                <a:spcPts val="1339"/>
              </a:lnSpc>
              <a:spcAft>
                <a:spcPts val="0"/>
              </a:spcAft>
            </a:pPr>
            <a:r>
              <a:rPr sz="1050">
                <a:solidFill>
                  <a:srgbClr val="E6EDF3"/>
                </a:solidFill>
                <a:latin typeface="Consolas"/>
              </a:rPr>
              <a:t>  source:</a:t>
            </a:r>
          </a:p>
          <a:p>
            <a:pPr>
              <a:lnSpc>
                <a:spcPts val="1339"/>
              </a:lnSpc>
              <a:spcAft>
                <a:spcPts val="0"/>
              </a:spcAft>
            </a:pPr>
            <a:r>
              <a:rPr sz="1050">
                <a:solidFill>
                  <a:srgbClr val="E6EDF3"/>
                </a:solidFill>
                <a:latin typeface="Consolas"/>
              </a:rPr>
              <a:t>    repoURL: https://github.com/tertiarycourses/...</a:t>
            </a:r>
          </a:p>
          <a:p>
            <a:pPr>
              <a:lnSpc>
                <a:spcPts val="1339"/>
              </a:lnSpc>
              <a:spcAft>
                <a:spcPts val="0"/>
              </a:spcAft>
            </a:pPr>
            <a:r>
              <a:rPr sz="1050">
                <a:solidFill>
                  <a:srgbClr val="E6EDF3"/>
                </a:solidFill>
                <a:latin typeface="Consolas"/>
              </a:rPr>
              <a:t>    targetRevision: main</a:t>
            </a:r>
          </a:p>
          <a:p>
            <a:pPr>
              <a:lnSpc>
                <a:spcPts val="1339"/>
              </a:lnSpc>
              <a:spcAft>
                <a:spcPts val="0"/>
              </a:spcAft>
            </a:pPr>
            <a:r>
              <a:rPr sz="1050">
                <a:solidFill>
                  <a:srgbClr val="E6EDF3"/>
                </a:solidFill>
                <a:latin typeface="Consolas"/>
              </a:rPr>
              <a:t>    path: kustomize/overlays/dev</a:t>
            </a:r>
          </a:p>
          <a:p>
            <a:pPr>
              <a:lnSpc>
                <a:spcPts val="1339"/>
              </a:lnSpc>
              <a:spcAft>
                <a:spcPts val="0"/>
              </a:spcAft>
            </a:pPr>
            <a:r>
              <a:rPr sz="1050">
                <a:solidFill>
                  <a:srgbClr val="E6EDF3"/>
                </a:solidFill>
                <a:latin typeface="Consolas"/>
              </a:rPr>
              <a:t>  destination:</a:t>
            </a:r>
          </a:p>
          <a:p>
            <a:pPr>
              <a:lnSpc>
                <a:spcPts val="1339"/>
              </a:lnSpc>
              <a:spcAft>
                <a:spcPts val="0"/>
              </a:spcAft>
            </a:pPr>
            <a:r>
              <a:rPr sz="1050">
                <a:solidFill>
                  <a:srgbClr val="E6EDF3"/>
                </a:solidFill>
                <a:latin typeface="Consolas"/>
              </a:rPr>
              <a:t>    server: https://kubernetes.default.svc</a:t>
            </a:r>
          </a:p>
          <a:p>
            <a:pPr>
              <a:lnSpc>
                <a:spcPts val="1339"/>
              </a:lnSpc>
              <a:spcAft>
                <a:spcPts val="0"/>
              </a:spcAft>
            </a:pPr>
            <a:r>
              <a:rPr sz="1050">
                <a:solidFill>
                  <a:srgbClr val="E6EDF3"/>
                </a:solidFill>
                <a:latin typeface="Consolas"/>
              </a:rPr>
              <a:t>    namespace: kcna-lab21</a:t>
            </a:r>
          </a:p>
          <a:p>
            <a:pPr>
              <a:lnSpc>
                <a:spcPts val="1339"/>
              </a:lnSpc>
              <a:spcAft>
                <a:spcPts val="0"/>
              </a:spcAft>
            </a:pPr>
            <a:r>
              <a:rPr sz="1050">
                <a:solidFill>
                  <a:srgbClr val="E6EDF3"/>
                </a:solidFill>
                <a:latin typeface="Consolas"/>
              </a:rPr>
              <a:t>  syncPolicy:</a:t>
            </a:r>
          </a:p>
          <a:p>
            <a:pPr>
              <a:lnSpc>
                <a:spcPts val="1339"/>
              </a:lnSpc>
              <a:spcAft>
                <a:spcPts val="0"/>
              </a:spcAft>
            </a:pPr>
            <a:r>
              <a:rPr sz="1050">
                <a:solidFill>
                  <a:srgbClr val="E6EDF3"/>
                </a:solidFill>
                <a:latin typeface="Consolas"/>
              </a:rPr>
              <a:t>    automated: {prune: true, selfHeal: true, allowEmpty: false}</a:t>
            </a:r>
          </a:p>
          <a:p>
            <a:pPr>
              <a:lnSpc>
                <a:spcPts val="1339"/>
              </a:lnSpc>
              <a:spcAft>
                <a:spcPts val="0"/>
              </a:spcAft>
            </a:pPr>
            <a:r>
              <a:rPr sz="1050">
                <a:solidFill>
                  <a:srgbClr val="E6EDF3"/>
                </a:solidFill>
                <a:latin typeface="Consolas"/>
              </a:rPr>
              <a:t>    syncOptions: [CreateNamespace=true, ServerSideApply=true]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7C3AED"/>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Application is the contract</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One custom resource names a source revision, a path and a destination. That triple is the entire reconciliation contract.</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path implies the renderer</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Argo CD detects kustomization.yaml and runs Kustomize; a Chart.yaml would make it render Helm instead.</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prune and selfHeal are the teeth</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prune deletes objects removed from Git; selfHeal reverts manual edits. Without both, drift simply accumulates.</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targetRevision: main is a smell</a:t>
            </a:r>
          </a:p>
        </p:txBody>
      </p:sp>
      <p:sp>
        <p:nvSpPr>
          <p:cNvPr id="23" name="TextBox 22"/>
          <p:cNvSpPr txBox="1"/>
          <p:nvPr/>
        </p:nvSpPr>
        <p:spPr>
          <a:xfrm>
            <a:off x="7973567" y="518134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mutable branch means the deployed revision changes without a commit to this file. Pin a tag or a digest in production.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CD documentation — Application specification and Automated Sync Policy (argo-cd.readthedocs.io).</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462</a:t>
            </a:r>
          </a:p>
        </p:txBody>
      </p:sp>
    </p:spTree>
  </p:cSld>
  <p:clrMapOvr>
    <a:masterClrMapping/>
  </p:clrMapOvr>
  <p:transition xmlns:ns1="http://schemas.openxmlformats.org/markup-compatibility/2006" spd="fast" ns1:Ignorable="p14">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WORKED EXAMPLE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Same Contract Expressed in Flux</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Different objects, identical contract: a revision, a path, a destination, and prune.</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flux/tracklane-dev.yaml</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apiVersion: source.toolkit.fluxcd.io/v1</a:t>
            </a:r>
          </a:p>
          <a:p>
            <a:pPr>
              <a:lnSpc>
                <a:spcPts val="1413"/>
              </a:lnSpc>
              <a:spcAft>
                <a:spcPts val="0"/>
              </a:spcAft>
            </a:pPr>
            <a:r>
              <a:rPr sz="1050">
                <a:solidFill>
                  <a:srgbClr val="E6EDF3"/>
                </a:solidFill>
                <a:latin typeface="Consolas"/>
              </a:rPr>
              <a:t>kind: GitRepository</a:t>
            </a:r>
          </a:p>
          <a:p>
            <a:pPr>
              <a:lnSpc>
                <a:spcPts val="1413"/>
              </a:lnSpc>
              <a:spcAft>
                <a:spcPts val="0"/>
              </a:spcAft>
            </a:pPr>
            <a:r>
              <a:rPr sz="1050">
                <a:solidFill>
                  <a:srgbClr val="E6EDF3"/>
                </a:solidFill>
                <a:latin typeface="Consolas"/>
              </a:rPr>
              <a:t>metadata: {name: tracklane, namespace: flux-system}</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interval: 1m                 # how often to FETCH</a:t>
            </a:r>
          </a:p>
          <a:p>
            <a:pPr>
              <a:lnSpc>
                <a:spcPts val="1413"/>
              </a:lnSpc>
              <a:spcAft>
                <a:spcPts val="0"/>
              </a:spcAft>
            </a:pPr>
            <a:r>
              <a:rPr sz="1050">
                <a:solidFill>
                  <a:srgbClr val="E6EDF3"/>
                </a:solidFill>
                <a:latin typeface="Consolas"/>
              </a:rPr>
              <a:t>  url: https://github.com/tertiarycourses/...</a:t>
            </a:r>
          </a:p>
          <a:p>
            <a:pPr>
              <a:lnSpc>
                <a:spcPts val="1413"/>
              </a:lnSpc>
              <a:spcAft>
                <a:spcPts val="0"/>
              </a:spcAft>
            </a:pPr>
            <a:r>
              <a:rPr sz="1050">
                <a:solidFill>
                  <a:srgbClr val="E6EDF3"/>
                </a:solidFill>
                <a:latin typeface="Consolas"/>
              </a:rPr>
              <a:t>  ref:</a:t>
            </a:r>
          </a:p>
          <a:p>
            <a:pPr>
              <a:lnSpc>
                <a:spcPts val="1413"/>
              </a:lnSpc>
              <a:spcAft>
                <a:spcPts val="0"/>
              </a:spcAft>
            </a:pPr>
            <a:r>
              <a:rPr sz="1050">
                <a:solidFill>
                  <a:srgbClr val="E6EDF3"/>
                </a:solidFill>
                <a:latin typeface="Consolas"/>
              </a:rPr>
              <a:t>    branch: main</a:t>
            </a:r>
          </a:p>
          <a:p>
            <a:pPr>
              <a:lnSpc>
                <a:spcPts val="1413"/>
              </a:lnSpc>
              <a:spcAft>
                <a:spcPts val="0"/>
              </a:spcAft>
            </a:pPr>
            <a:r>
              <a:rPr sz="1050">
                <a:solidFill>
                  <a:srgbClr val="E6EDF3"/>
                </a:solidFill>
                <a:latin typeface="Consolas"/>
              </a:rPr>
              <a:t>---</a:t>
            </a:r>
          </a:p>
          <a:p>
            <a:pPr>
              <a:lnSpc>
                <a:spcPts val="1413"/>
              </a:lnSpc>
              <a:spcAft>
                <a:spcPts val="0"/>
              </a:spcAft>
            </a:pPr>
            <a:r>
              <a:rPr sz="1050">
                <a:solidFill>
                  <a:srgbClr val="E6EDF3"/>
                </a:solidFill>
                <a:latin typeface="Consolas"/>
              </a:rPr>
              <a:t>apiVersion: kustomize.toolkit.fluxcd.io/v1</a:t>
            </a:r>
          </a:p>
          <a:p>
            <a:pPr>
              <a:lnSpc>
                <a:spcPts val="1413"/>
              </a:lnSpc>
              <a:spcAft>
                <a:spcPts val="0"/>
              </a:spcAft>
            </a:pPr>
            <a:r>
              <a:rPr sz="1050">
                <a:solidFill>
                  <a:srgbClr val="E6EDF3"/>
                </a:solidFill>
                <a:latin typeface="Consolas"/>
              </a:rPr>
              <a:t>kind: Kustomization</a:t>
            </a:r>
          </a:p>
          <a:p>
            <a:pPr>
              <a:lnSpc>
                <a:spcPts val="1413"/>
              </a:lnSpc>
              <a:spcAft>
                <a:spcPts val="0"/>
              </a:spcAft>
            </a:pPr>
            <a:r>
              <a:rPr sz="1050">
                <a:solidFill>
                  <a:srgbClr val="E6EDF3"/>
                </a:solidFill>
                <a:latin typeface="Consolas"/>
              </a:rPr>
              <a:t>metadata: {name: tracklane-dev, namespace: flux-system}</a:t>
            </a:r>
          </a:p>
          <a:p>
            <a:pPr>
              <a:lnSpc>
                <a:spcPts val="1413"/>
              </a:lnSpc>
              <a:spcAft>
                <a:spcPts val="0"/>
              </a:spcAft>
            </a:pPr>
            <a:r>
              <a:rPr sz="1050">
                <a:solidFill>
                  <a:srgbClr val="E6EDF3"/>
                </a:solidFill>
                <a:latin typeface="Consolas"/>
              </a:rPr>
              <a:t>spec:</a:t>
            </a:r>
          </a:p>
          <a:p>
            <a:pPr>
              <a:lnSpc>
                <a:spcPts val="1413"/>
              </a:lnSpc>
              <a:spcAft>
                <a:spcPts val="0"/>
              </a:spcAft>
            </a:pPr>
            <a:r>
              <a:rPr sz="1050">
                <a:solidFill>
                  <a:srgbClr val="E6EDF3"/>
                </a:solidFill>
                <a:latin typeface="Consolas"/>
              </a:rPr>
              <a:t>  interval: 5m                 # how often to RECONCILE</a:t>
            </a:r>
          </a:p>
          <a:p>
            <a:pPr>
              <a:lnSpc>
                <a:spcPts val="1413"/>
              </a:lnSpc>
              <a:spcAft>
                <a:spcPts val="0"/>
              </a:spcAft>
            </a:pPr>
            <a:r>
              <a:rPr sz="1050">
                <a:solidFill>
                  <a:srgbClr val="E6EDF3"/>
                </a:solidFill>
                <a:latin typeface="Consolas"/>
              </a:rPr>
              <a:t>  sourceRef: {kind: GitRepository, name: tracklane}</a:t>
            </a:r>
          </a:p>
          <a:p>
            <a:pPr>
              <a:lnSpc>
                <a:spcPts val="1413"/>
              </a:lnSpc>
              <a:spcAft>
                <a:spcPts val="0"/>
              </a:spcAft>
            </a:pPr>
            <a:r>
              <a:rPr sz="1050">
                <a:solidFill>
                  <a:srgbClr val="E6EDF3"/>
                </a:solidFill>
                <a:latin typeface="Consolas"/>
              </a:rPr>
              <a:t>  path: ./kustomize/overlays/dev</a:t>
            </a:r>
          </a:p>
          <a:p>
            <a:pPr>
              <a:lnSpc>
                <a:spcPts val="1413"/>
              </a:lnSpc>
              <a:spcAft>
                <a:spcPts val="0"/>
              </a:spcAft>
            </a:pPr>
            <a:r>
              <a:rPr sz="1050">
                <a:solidFill>
                  <a:srgbClr val="E6EDF3"/>
                </a:solidFill>
                <a:latin typeface="Consolas"/>
              </a:rPr>
              <a:t>  targetNamespace: kcna-lab21</a:t>
            </a:r>
          </a:p>
          <a:p>
            <a:pPr>
              <a:lnSpc>
                <a:spcPts val="1413"/>
              </a:lnSpc>
              <a:spcAft>
                <a:spcPts val="0"/>
              </a:spcAft>
            </a:pPr>
            <a:r>
              <a:rPr sz="1050">
                <a:solidFill>
                  <a:srgbClr val="E6EDF3"/>
                </a:solidFill>
                <a:latin typeface="Consolas"/>
              </a:rPr>
              <a:t>  prune: true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Flux splits source from apply</a:t>
            </a:r>
          </a:p>
        </p:txBody>
      </p:sp>
      <p:sp>
        <p:nvSpPr>
          <p:cNvPr id="14" name="TextBox 13"/>
          <p:cNvSpPr txBox="1"/>
          <p:nvPr/>
        </p:nvSpPr>
        <p:spPr>
          <a:xfrm>
            <a:off x="7973567" y="289232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GitRepository fetches and verifies; Kustomization renders and applies. Argo CD combines both in one Application.</a:t>
            </a:r>
          </a:p>
        </p:txBody>
      </p:sp>
      <p:sp>
        <p:nvSpPr>
          <p:cNvPr id="15" name="Oval 14"/>
          <p:cNvSpPr/>
          <p:nvPr/>
        </p:nvSpPr>
        <p:spPr>
          <a:xfrm>
            <a:off x="7626096" y="3405576"/>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38728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Two independent intervals</a:t>
            </a:r>
          </a:p>
        </p:txBody>
      </p:sp>
      <p:sp>
        <p:nvSpPr>
          <p:cNvPr id="17" name="TextBox 16"/>
          <p:cNvSpPr txBox="1"/>
          <p:nvPr/>
        </p:nvSpPr>
        <p:spPr>
          <a:xfrm>
            <a:off x="7973567" y="360407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Fetching every minute and reconciling every five minutes are separate decisions with separate costs.</a:t>
            </a:r>
          </a:p>
        </p:txBody>
      </p:sp>
      <p:sp>
        <p:nvSpPr>
          <p:cNvPr id="18" name="Oval 17"/>
          <p:cNvSpPr/>
          <p:nvPr/>
        </p:nvSpPr>
        <p:spPr>
          <a:xfrm>
            <a:off x="7626096" y="4117329"/>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09904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prune is the same idea</a:t>
            </a:r>
          </a:p>
        </p:txBody>
      </p:sp>
      <p:sp>
        <p:nvSpPr>
          <p:cNvPr id="20" name="TextBox 19"/>
          <p:cNvSpPr txBox="1"/>
          <p:nvPr/>
        </p:nvSpPr>
        <p:spPr>
          <a:xfrm>
            <a:off x="7973567" y="431583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Objects that leave the repository leave the cluster. It is opt-in in both tools for exactly the same reason.</a:t>
            </a:r>
          </a:p>
        </p:txBody>
      </p:sp>
      <p:sp>
        <p:nvSpPr>
          <p:cNvPr id="21" name="Oval 20"/>
          <p:cNvSpPr/>
          <p:nvPr/>
        </p:nvSpPr>
        <p:spPr>
          <a:xfrm>
            <a:off x="7626096" y="4829083"/>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810795"/>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Not the kubectl Kustomization</a:t>
            </a:r>
          </a:p>
        </p:txBody>
      </p:sp>
      <p:sp>
        <p:nvSpPr>
          <p:cNvPr id="23" name="TextBox 22"/>
          <p:cNvSpPr txBox="1"/>
          <p:nvPr/>
        </p:nvSpPr>
        <p:spPr>
          <a:xfrm>
            <a:off x="7973567" y="5027584"/>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This is kustomize.toolkit.fluxcd.io — a controller CR, not the kustomization.yaml in your repository.</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Flux documentation — GitRepository and Kustomization APIs (fluxcd.io/flux).</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463</a:t>
            </a:r>
          </a:p>
        </p:txBody>
      </p:sp>
    </p:spTree>
  </p:cSld>
  <p:clrMapOvr>
    <a:masterClrMapping/>
  </p:clrMapOvr>
  <p:transition xmlns:ns1="http://schemas.openxmlformats.org/markup-compatibility/2006" spd="fast" ns1:Ignorable="p14">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Argo CD and Flux — Both CNCF Graduated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This is a genuine either/or, and the exam only expects you to know they are the two graduated implementations.</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Dimension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Argo CD</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Flux</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Core custom resource</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Application (and ApplicationSet)</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GitRepository / OCIRepository plus Kustomization or HelmRelease</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Shape of the design</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object per application, opinionated</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Composable single-purpose controllers</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Operator experience</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first-class web UI showing the resource tree</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CLI and Kubernetes events; UI comes from third parties</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Multi-tenancy</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AppProject scopes sources, destinations and kinds</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Namespaces plus per-Kustomization service accounts</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Helm handling</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Renders the chart, then applies the output</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HelmRelease drives a real Helm release with history</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Both are CNCF graduated and both implement the same principles. Choose on operating model — a visual console, or composable controllers.</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Graduated project listing (cncf.io/projects); CNCF Artwork repository, Linux Foundation Trademark Usage Guidelines.</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464</a:t>
            </a:r>
          </a:p>
        </p:txBody>
      </p:sp>
    </p:spTree>
  </p:cSld>
  <p:clrMapOvr>
    <a:masterClrMapping/>
  </p:clrMapOvr>
  <p:transition xmlns:ns1="http://schemas.openxmlformats.org/markup-compatibility/2006" spd="fast" ns1:Ignorable="p14">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DEBUGGING DELIVERY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Why 'Synced' and 'Healthy' Are Two Questions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orthogonal axes produce four states, and only one of them means 'finished'.</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Sync compares manifests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asks whether the live objects match the rendered desired state. It says nothing about whether they work.</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Health assesses resources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per-kind readiness judgement: a Deployment is healthy when its available replicas match the desired count.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Synced + Progressing</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apply succeeded and the rollout is still in flight. Wait, then look again.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Synced + Degraded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most common confusion. Git was applied faithfully and the workload is still broken — the manifest itself is wrong.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OutOfSync + Healthy</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Something works but does not match Git. Usually a manual edit, or a mutating webhook writing fields back.</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Missing</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object is in Git but not in the cluster. Look for admission rejection, quota, or a namespace that does not exist.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CD documentation — Application specification and Automated Sync Policy (argo-cd.readthedocs.io).</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465</a:t>
            </a:r>
          </a:p>
        </p:txBody>
      </p:sp>
    </p:spTree>
  </p:cSld>
  <p:clrMapOvr>
    <a:masterClrMapping/>
  </p:clrMapOvr>
  <p:transition xmlns:ns1="http://schemas.openxmlformats.org/markup-compatibility/2006" spd="fast" ns1:Ignorable="p14">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FAILURE EVIDENCE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Synced but Degraded: GitOps Did Its Job Perfectly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whole debugging skill is knowing which layer a red status actually indicts.</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Application reports Synced with no sync errors, yet no Pod of the new release is serving traffic.</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321"/>
              </a:lnSpc>
              <a:spcAft>
                <a:spcPts val="0"/>
              </a:spcAft>
            </a:pPr>
            <a:r>
              <a:rPr sz="950">
                <a:solidFill>
                  <a:srgbClr val="7EE787"/>
                </a:solidFill>
                <a:latin typeface="Consolas"/>
              </a:rPr>
              <a:t>$ kubectl -n argocd get application tracklane-dev</a:t>
            </a:r>
          </a:p>
          <a:p>
            <a:pPr>
              <a:lnSpc>
                <a:spcPts val="1321"/>
              </a:lnSpc>
              <a:spcAft>
                <a:spcPts val="0"/>
              </a:spcAft>
            </a:pPr>
            <a:r>
              <a:rPr sz="950">
                <a:solidFill>
                  <a:srgbClr val="E6EDF3"/>
                </a:solidFill>
                <a:latin typeface="Consolas"/>
              </a:rPr>
              <a:t>NAME            SYNC STATUS   HEALTH STATUS</a:t>
            </a:r>
          </a:p>
          <a:p>
            <a:pPr>
              <a:lnSpc>
                <a:spcPts val="1321"/>
              </a:lnSpc>
              <a:spcAft>
                <a:spcPts val="0"/>
              </a:spcAft>
            </a:pPr>
            <a:r>
              <a:rPr sz="950">
                <a:solidFill>
                  <a:srgbClr val="E6EDF3"/>
                </a:solidFill>
                <a:latin typeface="Consolas"/>
              </a:rPr>
              <a:t>tracklane-dev   Synced        Degraded</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-n kcna-lab21 get deploy tracklane-dev</a:t>
            </a:r>
          </a:p>
          <a:p>
            <a:pPr>
              <a:lnSpc>
                <a:spcPts val="1321"/>
              </a:lnSpc>
              <a:spcAft>
                <a:spcPts val="0"/>
              </a:spcAft>
            </a:pPr>
            <a:r>
              <a:rPr sz="950">
                <a:solidFill>
                  <a:srgbClr val="E6EDF3"/>
                </a:solidFill>
                <a:latin typeface="Consolas"/>
              </a:rPr>
              <a:t>NAME            READY   UP-TO-DATE   AVAILABLE   AGE</a:t>
            </a:r>
          </a:p>
          <a:p>
            <a:pPr>
              <a:lnSpc>
                <a:spcPts val="1321"/>
              </a:lnSpc>
              <a:spcAft>
                <a:spcPts val="0"/>
              </a:spcAft>
            </a:pPr>
            <a:r>
              <a:rPr sz="950">
                <a:solidFill>
                  <a:srgbClr val="E6EDF3"/>
                </a:solidFill>
                <a:latin typeface="Consolas"/>
              </a:rPr>
              <a:t>tracklane-dev   0/3     3            0           6m</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-n kcna-lab21 get pvc</a:t>
            </a:r>
          </a:p>
          <a:p>
            <a:pPr>
              <a:lnSpc>
                <a:spcPts val="1321"/>
              </a:lnSpc>
              <a:spcAft>
                <a:spcPts val="0"/>
              </a:spcAft>
            </a:pPr>
            <a:r>
              <a:rPr sz="950">
                <a:solidFill>
                  <a:srgbClr val="E6EDF3"/>
                </a:solidFill>
                <a:latin typeface="Consolas"/>
              </a:rPr>
              <a:t>NAME            STATUS    VOLUME   CAPACITY   STORAGECLASS</a:t>
            </a:r>
          </a:p>
          <a:p>
            <a:pPr>
              <a:lnSpc>
                <a:spcPts val="1321"/>
              </a:lnSpc>
              <a:spcAft>
                <a:spcPts val="0"/>
              </a:spcAft>
            </a:pPr>
            <a:r>
              <a:rPr sz="950">
                <a:solidFill>
                  <a:srgbClr val="E6EDF3"/>
                </a:solidFill>
                <a:latin typeface="Consolas"/>
              </a:rPr>
              <a:t>tracklane-data  Pending                       fast-ssd</a:t>
            </a:r>
          </a:p>
          <a:p>
            <a:pPr>
              <a:lnSpc>
                <a:spcPts val="1321"/>
              </a:lnSpc>
              <a:spcAft>
                <a:spcPts val="0"/>
              </a:spcAft>
            </a:pPr>
            <a:r>
              <a:rPr sz="950">
                <a:solidFill>
                  <a:srgbClr val="E6EDF3"/>
                </a:solidFill>
                <a:latin typeface="Consolas"/>
              </a:rPr>
              <a:t> </a:t>
            </a:r>
          </a:p>
          <a:p>
            <a:pPr>
              <a:lnSpc>
                <a:spcPts val="1321"/>
              </a:lnSpc>
              <a:spcAft>
                <a:spcPts val="0"/>
              </a:spcAft>
            </a:pPr>
            <a:r>
              <a:rPr sz="950">
                <a:solidFill>
                  <a:srgbClr val="7EE787"/>
                </a:solidFill>
                <a:latin typeface="Consolas"/>
              </a:rPr>
              <a:t>$ kubectl -n kcna-lab21 describe pvc tracklane-data | tail -2</a:t>
            </a:r>
          </a:p>
          <a:p>
            <a:pPr>
              <a:lnSpc>
                <a:spcPts val="1321"/>
              </a:lnSpc>
              <a:spcAft>
                <a:spcPts val="0"/>
              </a:spcAft>
            </a:pPr>
            <a:r>
              <a:rPr sz="950">
                <a:solidFill>
                  <a:srgbClr val="E6EDF3"/>
                </a:solidFill>
                <a:latin typeface="Consolas"/>
              </a:rPr>
              <a:t>  Warning  ProvisioningFailed   storageclass.storage.k8s.io</a:t>
            </a:r>
          </a:p>
          <a:p>
            <a:pPr>
              <a:lnSpc>
                <a:spcPts val="1321"/>
              </a:lnSpc>
              <a:spcAft>
                <a:spcPts val="0"/>
              </a:spcAft>
            </a:pPr>
            <a:r>
              <a:rPr sz="950">
                <a:solidFill>
                  <a:srgbClr val="E6EDF3"/>
                </a:solidFill>
                <a:latin typeface="Consolas"/>
              </a:rPr>
              <a:t>                                "fast-ssd" not found</a:t>
            </a:r>
          </a:p>
        </p:txBody>
      </p:sp>
      <p:sp>
        <p:nvSpPr>
          <p:cNvPr id="14" name="Rectangle 13"/>
          <p:cNvSpPr/>
          <p:nvPr/>
        </p:nvSpPr>
        <p:spPr>
          <a:xfrm>
            <a:off x="7205472" y="2913278"/>
            <a:ext cx="4270247" cy="904151"/>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501815"/>
          </a:xfrm>
          <a:prstGeom prst="rect">
            <a:avLst/>
          </a:prstGeom>
          <a:noFill/>
        </p:spPr>
        <p:txBody>
          <a:bodyPr wrap="square" lIns="0" rIns="0" tIns="0" bIns="0" anchor="t">
            <a:spAutoFit/>
          </a:bodyPr>
          <a:lstStyle/>
          <a:p>
            <a:pPr algn="l">
              <a:lnSpc>
                <a:spcPct val="110000"/>
              </a:lnSpc>
            </a:pPr>
            <a:r>
              <a:rPr sz="950" b="0" i="0">
                <a:solidFill>
                  <a:srgbClr val="5B6372"/>
                </a:solidFill>
                <a:latin typeface="Arial"/>
              </a:rPr>
              <a:t>Synced only means the live objects match Git. The committed manifest references a StorageClass that does not exist in this cluster, so the claim never binds and the Pods never schedule.</a:t>
            </a:r>
          </a:p>
        </p:txBody>
      </p:sp>
      <p:sp>
        <p:nvSpPr>
          <p:cNvPr id="18" name="Rectangle 17"/>
          <p:cNvSpPr/>
          <p:nvPr/>
        </p:nvSpPr>
        <p:spPr>
          <a:xfrm>
            <a:off x="7205472" y="3927157"/>
            <a:ext cx="4270247" cy="1512966"/>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3927157"/>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396373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274629"/>
            <a:ext cx="3904487" cy="1110630"/>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Stop debugging the GitOps controller — it applied exactly what was committed</a:t>
            </a:r>
          </a:p>
          <a:p>
            <a:pPr>
              <a:lnSpc>
                <a:spcPct val="112000"/>
              </a:lnSpc>
              <a:spcAft>
                <a:spcPts val="200"/>
              </a:spcAft>
            </a:pPr>
            <a:r>
              <a:rPr sz="950">
                <a:solidFill>
                  <a:srgbClr val="94A3B8"/>
                </a:solidFill>
                <a:latin typeface="Arial"/>
              </a:rPr>
              <a:t>•  </a:t>
            </a:r>
            <a:r>
              <a:rPr sz="950">
                <a:solidFill>
                  <a:srgbClr val="5B6372"/>
                </a:solidFill>
                <a:latin typeface="Arial"/>
              </a:rPr>
              <a:t>Follow the health status down the owner chain: Application to Deployment to Pod to the blocking object</a:t>
            </a:r>
          </a:p>
          <a:p>
            <a:pPr>
              <a:lnSpc>
                <a:spcPct val="112000"/>
              </a:lnSpc>
              <a:spcAft>
                <a:spcPts val="200"/>
              </a:spcAft>
            </a:pPr>
            <a:r>
              <a:rPr sz="950">
                <a:solidFill>
                  <a:srgbClr val="94A3B8"/>
                </a:solidFill>
                <a:latin typeface="Arial"/>
              </a:rPr>
              <a:t>•  </a:t>
            </a:r>
            <a:r>
              <a:rPr sz="950">
                <a:solidFill>
                  <a:srgbClr val="5B6372"/>
                </a:solidFill>
                <a:latin typeface="Arial"/>
              </a:rPr>
              <a:t>Fix the manifest in Git; never patch the cluster, because selfHeal will revert it</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CD documentation — Application specification and Automated Sync Policy (argo-cd.readthedocs.io).</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466</a:t>
            </a:r>
          </a:p>
        </p:txBody>
      </p:sp>
    </p:spTree>
  </p:cSld>
  <p:clrMapOvr>
    <a:masterClrMapping/>
  </p:clrMapOvr>
  <p:transition xmlns:ns1="http://schemas.openxmlformats.org/markup-compatibility/2006" spd="fast" ns1:Ignorable="p14">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Drift, Self-Heal and the Fields You Must Ignore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Self-healing is only pleasant once you have told the controller which fields it does not own.</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Drift is any divergence</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manual kubectl edit, an operator writing status, or an admission webhook mutating a field the controller did not expect.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Detection is continuous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controller re-renders and re-diffs on its interval whether or not anything changed in Git.</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selfHeal reverts it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Automated sync reapplies the desired state. Emergency fixes made by hand disappear, sometimes mid-incident.</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prune deletes orphans</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Objects that were removed from Git are removed from the cluster. Off by default because it is destructive.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ignoreDifferences is essential</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HPA-managed replicas and webhook-injected sidecars must be excluded or the controller fights another controller forever.</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Server-side apply helps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Field managers make ownership explicit, so two controllers can own different fields of the same object without a war.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CD documentation — Application specification and Automated Sync Policy (argo-cd.readthedocs.io).</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467</a:t>
            </a:r>
          </a:p>
        </p:txBody>
      </p:sp>
    </p:spTree>
  </p:cSld>
  <p:clrMapOvr>
    <a:masterClrMapping/>
  </p:clrMapOvr>
  <p:transition xmlns:ns1="http://schemas.openxmlformats.org/markup-compatibility/2006" spd="fast" ns1:Ignorable="p14">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F59E0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F59E0B"/>
                </a:solidFill>
                <a:latin typeface="Arial"/>
              </a:rPr>
              <a:t>READ THE OUTPUT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diff — Drift Without Applying Anything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manual version of what a GitOps controller does on every reconcile.</a:t>
            </a:r>
          </a:p>
        </p:txBody>
      </p:sp>
      <p:sp>
        <p:nvSpPr>
          <p:cNvPr id="7" name="Rectangle 6"/>
          <p:cNvSpPr/>
          <p:nvPr/>
        </p:nvSpPr>
        <p:spPr>
          <a:xfrm>
            <a:off x="777240" y="2200046"/>
            <a:ext cx="6903720" cy="3566160"/>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terminal — kcna-lab21</a:t>
            </a:r>
          </a:p>
        </p:txBody>
      </p:sp>
      <p:sp>
        <p:nvSpPr>
          <p:cNvPr id="9" name="TextBox 8"/>
          <p:cNvSpPr txBox="1"/>
          <p:nvPr/>
        </p:nvSpPr>
        <p:spPr>
          <a:xfrm>
            <a:off x="923544" y="2620670"/>
            <a:ext cx="6611112" cy="2999232"/>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-n kcna-lab21 diff -k kustomize/overlays/prod</a:t>
            </a:r>
          </a:p>
          <a:p>
            <a:pPr>
              <a:lnSpc>
                <a:spcPts val="1476"/>
              </a:lnSpc>
              <a:spcAft>
                <a:spcPts val="0"/>
              </a:spcAft>
            </a:pPr>
            <a:r>
              <a:rPr sz="1000">
                <a:solidFill>
                  <a:srgbClr val="E6EDF3"/>
                </a:solidFill>
                <a:latin typeface="Consolas"/>
              </a:rPr>
              <a:t>diff -u -N /tmp/LIVE-1/apps.v1.Deployment.tracklane-prod \</a:t>
            </a:r>
          </a:p>
          <a:p>
            <a:pPr>
              <a:lnSpc>
                <a:spcPts val="1476"/>
              </a:lnSpc>
              <a:spcAft>
                <a:spcPts val="0"/>
              </a:spcAft>
            </a:pPr>
            <a:r>
              <a:rPr sz="1000">
                <a:solidFill>
                  <a:srgbClr val="E6EDF3"/>
                </a:solidFill>
                <a:latin typeface="Consolas"/>
              </a:rPr>
              <a:t>           /tmp/MERGED-1/apps.v1.Deployment.tracklane-prod</a:t>
            </a:r>
          </a:p>
          <a:p>
            <a:pPr>
              <a:lnSpc>
                <a:spcPts val="1476"/>
              </a:lnSpc>
              <a:spcAft>
                <a:spcPts val="0"/>
              </a:spcAft>
            </a:pPr>
            <a:r>
              <a:rPr sz="1000">
                <a:solidFill>
                  <a:srgbClr val="E6EDF3"/>
                </a:solidFill>
                <a:latin typeface="Consolas"/>
              </a:rPr>
              <a:t>--- LIVE</a:t>
            </a:r>
          </a:p>
          <a:p>
            <a:pPr>
              <a:lnSpc>
                <a:spcPts val="1476"/>
              </a:lnSpc>
              <a:spcAft>
                <a:spcPts val="0"/>
              </a:spcAft>
            </a:pPr>
            <a:r>
              <a:rPr sz="1000">
                <a:solidFill>
                  <a:srgbClr val="E6EDF3"/>
                </a:solidFill>
                <a:latin typeface="Consolas"/>
              </a:rPr>
              <a:t>+++ MERGED</a:t>
            </a:r>
          </a:p>
          <a:p>
            <a:pPr>
              <a:lnSpc>
                <a:spcPts val="1476"/>
              </a:lnSpc>
              <a:spcAft>
                <a:spcPts val="0"/>
              </a:spcAft>
            </a:pPr>
            <a:r>
              <a:rPr sz="1000">
                <a:solidFill>
                  <a:srgbClr val="E6EDF3"/>
                </a:solidFill>
                <a:latin typeface="Consolas"/>
              </a:rPr>
              <a:t>@@ -12,7 +12,7 @@</a:t>
            </a:r>
          </a:p>
          <a:p>
            <a:pPr>
              <a:lnSpc>
                <a:spcPts val="1476"/>
              </a:lnSpc>
              <a:spcAft>
                <a:spcPts val="0"/>
              </a:spcAft>
            </a:pPr>
            <a:r>
              <a:rPr sz="1000">
                <a:solidFill>
                  <a:srgbClr val="E6EDF3"/>
                </a:solidFill>
                <a:latin typeface="Consolas"/>
              </a:rPr>
              <a:t> spec:</a:t>
            </a:r>
          </a:p>
          <a:p>
            <a:pPr>
              <a:lnSpc>
                <a:spcPts val="1476"/>
              </a:lnSpc>
              <a:spcAft>
                <a:spcPts val="0"/>
              </a:spcAft>
            </a:pPr>
            <a:r>
              <a:rPr sz="1000">
                <a:solidFill>
                  <a:srgbClr val="E6EDF3"/>
                </a:solidFill>
                <a:latin typeface="Consolas"/>
              </a:rPr>
              <a:t>-  replicas: 5</a:t>
            </a:r>
          </a:p>
          <a:p>
            <a:pPr>
              <a:lnSpc>
                <a:spcPts val="1476"/>
              </a:lnSpc>
              <a:spcAft>
                <a:spcPts val="0"/>
              </a:spcAft>
            </a:pPr>
            <a:r>
              <a:rPr sz="1000">
                <a:solidFill>
                  <a:srgbClr val="E6EDF3"/>
                </a:solidFill>
                <a:latin typeface="Consolas"/>
              </a:rPr>
              <a:t>+  replicas: 3</a:t>
            </a:r>
          </a:p>
          <a:p>
            <a:pPr>
              <a:lnSpc>
                <a:spcPts val="1476"/>
              </a:lnSpc>
              <a:spcAft>
                <a:spcPts val="0"/>
              </a:spcAft>
            </a:pPr>
            <a:r>
              <a:rPr sz="1000">
                <a:solidFill>
                  <a:srgbClr val="E6EDF3"/>
                </a:solidFill>
                <a:latin typeface="Consolas"/>
              </a:rPr>
              <a:t>@@ -34,7 +34,7 @@</a:t>
            </a:r>
          </a:p>
          <a:p>
            <a:pPr>
              <a:lnSpc>
                <a:spcPts val="1476"/>
              </a:lnSpc>
              <a:spcAft>
                <a:spcPts val="0"/>
              </a:spcAft>
            </a:pPr>
            <a:r>
              <a:rPr sz="1000">
                <a:solidFill>
                  <a:srgbClr val="E6EDF3"/>
                </a:solidFill>
                <a:latin typeface="Consolas"/>
              </a:rPr>
              <a:t>           resources:</a:t>
            </a:r>
          </a:p>
          <a:p>
            <a:pPr>
              <a:lnSpc>
                <a:spcPts val="1476"/>
              </a:lnSpc>
              <a:spcAft>
                <a:spcPts val="0"/>
              </a:spcAft>
            </a:pPr>
            <a:r>
              <a:rPr sz="1000">
                <a:solidFill>
                  <a:srgbClr val="E6EDF3"/>
                </a:solidFill>
                <a:latin typeface="Consolas"/>
              </a:rPr>
              <a:t>             requests:</a:t>
            </a:r>
          </a:p>
          <a:p>
            <a:pPr>
              <a:lnSpc>
                <a:spcPts val="1476"/>
              </a:lnSpc>
              <a:spcAft>
                <a:spcPts val="0"/>
              </a:spcAft>
            </a:pPr>
            <a:r>
              <a:rPr sz="1000">
                <a:solidFill>
                  <a:srgbClr val="E6EDF3"/>
                </a:solidFill>
                <a:latin typeface="Consolas"/>
              </a:rPr>
              <a:t>-              cpu: 250m</a:t>
            </a:r>
          </a:p>
          <a:p>
            <a:pPr>
              <a:lnSpc>
                <a:spcPts val="1476"/>
              </a:lnSpc>
              <a:spcAft>
                <a:spcPts val="0"/>
              </a:spcAft>
            </a:pPr>
            <a:r>
              <a:rPr sz="1000">
                <a:solidFill>
                  <a:srgbClr val="E6EDF3"/>
                </a:solidFill>
                <a:latin typeface="Consolas"/>
              </a:rPr>
              <a:t>+              cpu: 100m</a:t>
            </a:r>
          </a:p>
          <a:p>
            <a:pPr>
              <a:lnSpc>
                <a:spcPts val="1476"/>
              </a:lnSpc>
              <a:spcAft>
                <a:spcPts val="0"/>
              </a:spcAft>
            </a:pPr>
            <a:r>
              <a:rPr sz="1000">
                <a:solidFill>
                  <a:srgbClr val="7EE787"/>
                </a:solidFill>
                <a:latin typeface="Consolas"/>
              </a:rPr>
              <a:t>$ echo $?</a:t>
            </a:r>
          </a:p>
          <a:p>
            <a:pPr>
              <a:lnSpc>
                <a:spcPts val="1476"/>
              </a:lnSpc>
              <a:spcAft>
                <a:spcPts val="0"/>
              </a:spcAft>
            </a:pPr>
            <a:r>
              <a:rPr sz="1000">
                <a:solidFill>
                  <a:srgbClr val="E6EDF3"/>
                </a:solidFill>
                <a:latin typeface="Consolas"/>
              </a:rPr>
              <a:t>1                       # exit 1 means differences were found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F59E0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It is a server-side dry run</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API server computes the merged result, so defaults and webhooks are already accounted for.</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LIVE versus MERGED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Minus lines are what the cluster has now; plus lines are what applying would produce.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Exit code 1 is the signal</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Not an error. It is how CI asserts 'the cluster no longer matches the repository'.</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Two drifts, two stories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replicas 5 is probably a real emergency scale-up; cpu 250m is probably an undocumented hand edit.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 Declarative Management of Kubernetes Objects Using Kustomize; kubectl.docs.kubernetes.io reference.</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468</a:t>
            </a:r>
          </a:p>
        </p:txBody>
      </p:sp>
    </p:spTree>
  </p:cSld>
  <p:clrMapOvr>
    <a:masterClrMapping/>
  </p:clrMapOvr>
  <p:transition xmlns:ns1="http://schemas.openxmlformats.org/markup-compatibility/2006" spd="fast" ns1:Ignorable="p14">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COMPARE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Release Strategies and What Each One Costs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strategies, and only two of them need infrastructure you do not already have.</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Strategy</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How traffic moves</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Rollback</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What it costs</a:t>
            </a:r>
          </a:p>
        </p:txBody>
      </p:sp>
      <p:sp>
        <p:nvSpPr>
          <p:cNvPr id="15" name="Rectangle 14"/>
          <p:cNvSpPr/>
          <p:nvPr/>
        </p:nvSpPr>
        <p:spPr>
          <a:xfrm>
            <a:off x="77724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Rolling update</a:t>
            </a:r>
          </a:p>
        </p:txBody>
      </p:sp>
      <p:sp>
        <p:nvSpPr>
          <p:cNvPr id="17" name="Rectangle 16"/>
          <p:cNvSpPr/>
          <p:nvPr/>
        </p:nvSpPr>
        <p:spPr>
          <a:xfrm>
            <a:off x="345186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Pods replaced gradually; all traffic follows</a:t>
            </a:r>
          </a:p>
        </p:txBody>
      </p:sp>
      <p:sp>
        <p:nvSpPr>
          <p:cNvPr id="19" name="Rectangle 18"/>
          <p:cNvSpPr/>
          <p:nvPr/>
        </p:nvSpPr>
        <p:spPr>
          <a:xfrm>
            <a:off x="6126479"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Roll forward or undo — minutes</a:t>
            </a:r>
          </a:p>
        </p:txBody>
      </p:sp>
      <p:sp>
        <p:nvSpPr>
          <p:cNvPr id="21" name="Rectangle 20"/>
          <p:cNvSpPr/>
          <p:nvPr/>
        </p:nvSpPr>
        <p:spPr>
          <a:xfrm>
            <a:off x="880110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Two versions serve at once with no control over the ratio</a:t>
            </a:r>
          </a:p>
        </p:txBody>
      </p:sp>
      <p:sp>
        <p:nvSpPr>
          <p:cNvPr id="23" name="Rectangle 22"/>
          <p:cNvSpPr/>
          <p:nvPr/>
        </p:nvSpPr>
        <p:spPr>
          <a:xfrm>
            <a:off x="77724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Blue/green</a:t>
            </a:r>
          </a:p>
        </p:txBody>
      </p:sp>
      <p:sp>
        <p:nvSpPr>
          <p:cNvPr id="25" name="Rectangle 24"/>
          <p:cNvSpPr/>
          <p:nvPr/>
        </p:nvSpPr>
        <p:spPr>
          <a:xfrm>
            <a:off x="345186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Switch a Service selector from blue to green at once</a:t>
            </a:r>
          </a:p>
        </p:txBody>
      </p:sp>
      <p:sp>
        <p:nvSpPr>
          <p:cNvPr id="27" name="Rectangle 26"/>
          <p:cNvSpPr/>
          <p:nvPr/>
        </p:nvSpPr>
        <p:spPr>
          <a:xfrm>
            <a:off x="6126479"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Flip the selector back — seconds</a:t>
            </a:r>
          </a:p>
        </p:txBody>
      </p:sp>
      <p:sp>
        <p:nvSpPr>
          <p:cNvPr id="29" name="Rectangle 28"/>
          <p:cNvSpPr/>
          <p:nvPr/>
        </p:nvSpPr>
        <p:spPr>
          <a:xfrm>
            <a:off x="880110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Double the capacity for the duration of the cutover</a:t>
            </a:r>
          </a:p>
        </p:txBody>
      </p:sp>
      <p:sp>
        <p:nvSpPr>
          <p:cNvPr id="31" name="Rectangle 30"/>
          <p:cNvSpPr/>
          <p:nvPr/>
        </p:nvSpPr>
        <p:spPr>
          <a:xfrm>
            <a:off x="77724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Canary</a:t>
            </a:r>
          </a:p>
        </p:txBody>
      </p:sp>
      <p:sp>
        <p:nvSpPr>
          <p:cNvPr id="33" name="Rectangle 32"/>
          <p:cNvSpPr/>
          <p:nvPr/>
        </p:nvSpPr>
        <p:spPr>
          <a:xfrm>
            <a:off x="345186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small weighted share to the new version, then increase</a:t>
            </a:r>
          </a:p>
        </p:txBody>
      </p:sp>
      <p:sp>
        <p:nvSpPr>
          <p:cNvPr id="35" name="Rectangle 34"/>
          <p:cNvSpPr/>
          <p:nvPr/>
        </p:nvSpPr>
        <p:spPr>
          <a:xfrm>
            <a:off x="6126479"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Shift the weight back to zero — seconds</a:t>
            </a:r>
          </a:p>
        </p:txBody>
      </p:sp>
      <p:sp>
        <p:nvSpPr>
          <p:cNvPr id="37" name="Rectangle 36"/>
          <p:cNvSpPr/>
          <p:nvPr/>
        </p:nvSpPr>
        <p:spPr>
          <a:xfrm>
            <a:off x="880110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Needs a traffic router: Ingress, Gateway API or a service mesh</a:t>
            </a:r>
          </a:p>
        </p:txBody>
      </p:sp>
      <p:sp>
        <p:nvSpPr>
          <p:cNvPr id="39" name="Rectangle 38"/>
          <p:cNvSpPr/>
          <p:nvPr/>
        </p:nvSpPr>
        <p:spPr>
          <a:xfrm>
            <a:off x="77724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Feature flag</a:t>
            </a:r>
          </a:p>
        </p:txBody>
      </p:sp>
      <p:sp>
        <p:nvSpPr>
          <p:cNvPr id="41" name="Rectangle 40"/>
          <p:cNvSpPr/>
          <p:nvPr/>
        </p:nvSpPr>
        <p:spPr>
          <a:xfrm>
            <a:off x="345186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All instances updated; behaviour toggled per request</a:t>
            </a:r>
          </a:p>
        </p:txBody>
      </p:sp>
      <p:sp>
        <p:nvSpPr>
          <p:cNvPr id="43" name="Rectangle 42"/>
          <p:cNvSpPr/>
          <p:nvPr/>
        </p:nvSpPr>
        <p:spPr>
          <a:xfrm>
            <a:off x="6126479"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Turn the flag off — immediate</a:t>
            </a:r>
          </a:p>
        </p:txBody>
      </p:sp>
      <p:sp>
        <p:nvSpPr>
          <p:cNvPr id="45" name="Rectangle 44"/>
          <p:cNvSpPr/>
          <p:nvPr/>
        </p:nvSpPr>
        <p:spPr>
          <a:xfrm>
            <a:off x="880110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Flag debt, and code paths that must both keep working</a:t>
            </a:r>
          </a:p>
        </p:txBody>
      </p:sp>
      <p:sp>
        <p:nvSpPr>
          <p:cNvPr id="47" name="Rectangle 46"/>
          <p:cNvSpPr/>
          <p:nvPr/>
        </p:nvSpPr>
        <p:spPr>
          <a:xfrm>
            <a:off x="777240" y="5071262"/>
            <a:ext cx="10698480" cy="566928"/>
          </a:xfrm>
          <a:prstGeom prst="rect">
            <a:avLst/>
          </a:prstGeom>
          <a:solidFill>
            <a:srgbClr val="E8F7EE"/>
          </a:solidFill>
          <a:ln>
            <a:noFill/>
          </a:ln>
          <a:effectLst/>
        </p:spPr>
        <p:txBody>
          <a:bodyPr rtlCol="0" anchor="ctr" wrap="square"/>
          <a:lstStyle/>
          <a:p>
            <a:pPr algn="ctr"/>
          </a:p>
        </p:txBody>
      </p:sp>
      <p:sp>
        <p:nvSpPr>
          <p:cNvPr id="48" name="Rectangle 47"/>
          <p:cNvSpPr/>
          <p:nvPr/>
        </p:nvSpPr>
        <p:spPr>
          <a:xfrm>
            <a:off x="777240" y="5071262"/>
            <a:ext cx="50292" cy="56692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996695" y="512612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0" name="TextBox 49"/>
          <p:cNvSpPr txBox="1"/>
          <p:nvPr/>
        </p:nvSpPr>
        <p:spPr>
          <a:xfrm>
            <a:off x="996695" y="532729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Progressive delivery separates deploying code from releasing behaviour. Once those are separate, rollback stops being a deployment event.</a:t>
            </a:r>
          </a:p>
        </p:txBody>
      </p:sp>
      <p:sp>
        <p:nvSpPr>
          <p:cNvPr id="51" name="TextBox 50"/>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Rollouts documentation (argo-rollouts.readthedocs.io); Flagger documentation (docs.flagger.app).</a:t>
            </a:r>
          </a:p>
        </p:txBody>
      </p:sp>
      <p:sp>
        <p:nvSpPr>
          <p:cNvPr id="52" name="TextBox 5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3" name="TextBox 5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4" name="TextBox 5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469</a:t>
            </a:r>
          </a:p>
        </p:txBody>
      </p:sp>
    </p:spTree>
  </p:cSld>
  <p:clrMapOvr>
    <a:masterClrMapping/>
  </p:clrMapOvr>
  <p:transition xmlns:ns1="http://schemas.openxmlformats.org/markup-compatibility/2006" spd="fast" ns1:Ignorable="p14">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MECHANISM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an Automated Canary Decides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Argo Rollouts and Flagger both implement this loop as a controller; the steps are the concept to remember.</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Deploy the canary</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small number of Pods of the new version join alongside the stable ReplicaSet.</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Shift a slice of traffic</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traffic router sends a defined weight — often 5% or 10% — to the canary and the rest to stable.</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Analyse against metrics</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query runs against Prometheus for success rate and latency over a defined window, compared with the stable baseline.</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Promote or abort</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Meeting the thresholds increases the weight; failing them immediately shifts traffic back to stable.</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Complete the rollout</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stable ReplicaSet is scaled down only after the final analysis step passes.</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The judgement is a metric query with a threshold, which is why progressive delivery is inseparable from observability.</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Rollouts documentation (argo-rollouts.readthedocs.io); Flagger documentation (docs.flagger.app).</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470</a:t>
            </a:r>
          </a:p>
        </p:txBody>
      </p:sp>
    </p:spTree>
  </p:cSld>
  <p:clrMapOvr>
    <a:masterClrMapping/>
  </p:clrMapOvr>
  <p:transition xmlns:ns5="http://schemas.openxmlformats.org/markup-compatibility/2006" spd="fast" ns5:Ignorable="p14">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BUILDING BLOCKS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Progressive Delivery Actually Requires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Half of progressive delivery is routing; the other half is observability you should already have.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traffic router</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Something that can split by weight: an Ingress controller with canary annotations, Gateway API HTTPRoute weights, or a mesh.</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metrics provider</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Prometheus or an equivalent that can answer 'is the canary worse than stable' as a query, in seconds.</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workload abstraction</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Argo Rollouts replaces the Deployment with a Rollout CR; Flagger drives a normal Deployment from the outside.</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Automated abort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rollback that requires a human to notice is not progressive delivery; it is a slower outage.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Feature flags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OpenFeature and similar decouple release from deploy entirely, including for changes that ship no new image.</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Discipline about baselines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Comparing the canary to the stable version at the same moment, not to yesterday's numbers.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Argo Rollouts documentation (argo-rollouts.readthedocs.io); Flagger documentation (docs.flagger.app).</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471</a:t>
            </a:r>
          </a:p>
        </p:txBody>
      </p:sp>
    </p:spTree>
  </p:cSld>
  <p:clrMapOvr>
    <a:masterClrMapping/>
  </p:clrMapOvr>
  <p:transition xmlns:ns1="http://schemas.openxmlformats.org/markup-compatibility/2006" spd="fast" ns1:Ignorable="p14">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RELATED IDEAS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Infrastructure as Code and GitOps Are Not the Same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Both are declarative and both live in Git. The difference is who applies the change, and how often.</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Infrastructure as Code</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Declarative definitions of infrastructure — networks, databases, clusters — in version control</a:t>
            </a:r>
          </a:p>
          <a:p>
            <a:pPr>
              <a:lnSpc>
                <a:spcPct val="112000"/>
              </a:lnSpc>
              <a:spcAft>
                <a:spcPts val="700"/>
              </a:spcAft>
            </a:pPr>
            <a:r>
              <a:rPr sz="1150">
                <a:solidFill>
                  <a:srgbClr val="94A3B8"/>
                </a:solidFill>
                <a:latin typeface="Arial"/>
              </a:rPr>
              <a:t>•  </a:t>
            </a:r>
            <a:r>
              <a:rPr sz="1150">
                <a:solidFill>
                  <a:srgbClr val="5B6372"/>
                </a:solidFill>
                <a:latin typeface="Arial"/>
              </a:rPr>
              <a:t>Applied by a runner: terraform apply, pulumi up, a pipeline job</a:t>
            </a:r>
          </a:p>
          <a:p>
            <a:pPr>
              <a:lnSpc>
                <a:spcPct val="112000"/>
              </a:lnSpc>
              <a:spcAft>
                <a:spcPts val="700"/>
              </a:spcAft>
            </a:pPr>
            <a:r>
              <a:rPr sz="1150">
                <a:solidFill>
                  <a:srgbClr val="94A3B8"/>
                </a:solidFill>
                <a:latin typeface="Arial"/>
              </a:rPr>
              <a:t>•  </a:t>
            </a:r>
            <a:r>
              <a:rPr sz="1150">
                <a:solidFill>
                  <a:srgbClr val="5B6372"/>
                </a:solidFill>
                <a:latin typeface="Arial"/>
              </a:rPr>
              <a:t>State is kept in a separate state file that must be locked</a:t>
            </a:r>
          </a:p>
          <a:p>
            <a:pPr>
              <a:lnSpc>
                <a:spcPct val="112000"/>
              </a:lnSpc>
              <a:spcAft>
                <a:spcPts val="700"/>
              </a:spcAft>
            </a:pPr>
            <a:r>
              <a:rPr sz="1150">
                <a:solidFill>
                  <a:srgbClr val="94A3B8"/>
                </a:solidFill>
                <a:latin typeface="Arial"/>
              </a:rPr>
              <a:t>•  </a:t>
            </a:r>
            <a:r>
              <a:rPr sz="1150">
                <a:solidFill>
                  <a:srgbClr val="5B6372"/>
                </a:solidFill>
                <a:latin typeface="Arial"/>
              </a:rPr>
              <a:t>Reconciliation happens when someone runs the tool</a:t>
            </a:r>
          </a:p>
          <a:p>
            <a:pPr>
              <a:lnSpc>
                <a:spcPct val="112000"/>
              </a:lnSpc>
              <a:spcAft>
                <a:spcPts val="700"/>
              </a:spcAft>
            </a:pPr>
            <a:r>
              <a:rPr sz="1150">
                <a:solidFill>
                  <a:srgbClr val="94A3B8"/>
                </a:solidFill>
                <a:latin typeface="Arial"/>
              </a:rPr>
              <a:t>•  </a:t>
            </a:r>
            <a:r>
              <a:rPr sz="1150">
                <a:solidFill>
                  <a:srgbClr val="5B6372"/>
                </a:solidFill>
                <a:latin typeface="Arial"/>
              </a:rPr>
              <a:t>Drift is discovered by running a plan, not continuously</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GitOps</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Declarative definitions reconciled by a controller in the cluster</a:t>
            </a:r>
          </a:p>
          <a:p>
            <a:pPr>
              <a:lnSpc>
                <a:spcPct val="112000"/>
              </a:lnSpc>
              <a:spcAft>
                <a:spcPts val="700"/>
              </a:spcAft>
            </a:pPr>
            <a:r>
              <a:rPr sz="1150">
                <a:solidFill>
                  <a:srgbClr val="94A3B8"/>
                </a:solidFill>
                <a:latin typeface="Arial"/>
              </a:rPr>
              <a:t>•  </a:t>
            </a:r>
            <a:r>
              <a:rPr sz="1150">
                <a:solidFill>
                  <a:srgbClr val="5B6372"/>
                </a:solidFill>
                <a:latin typeface="Arial"/>
              </a:rPr>
              <a:t>Applied continuously, with no external actor holding credentials</a:t>
            </a:r>
          </a:p>
          <a:p>
            <a:pPr>
              <a:lnSpc>
                <a:spcPct val="112000"/>
              </a:lnSpc>
              <a:spcAft>
                <a:spcPts val="700"/>
              </a:spcAft>
            </a:pPr>
            <a:r>
              <a:rPr sz="1150">
                <a:solidFill>
                  <a:srgbClr val="94A3B8"/>
                </a:solidFill>
                <a:latin typeface="Arial"/>
              </a:rPr>
              <a:t>•  </a:t>
            </a:r>
            <a:r>
              <a:rPr sz="1150">
                <a:solidFill>
                  <a:srgbClr val="5B6372"/>
                </a:solidFill>
                <a:latin typeface="Arial"/>
              </a:rPr>
              <a:t>State is the Kubernetes API itself; no separate state file</a:t>
            </a:r>
          </a:p>
          <a:p>
            <a:pPr>
              <a:lnSpc>
                <a:spcPct val="112000"/>
              </a:lnSpc>
              <a:spcAft>
                <a:spcPts val="700"/>
              </a:spcAft>
            </a:pPr>
            <a:r>
              <a:rPr sz="1150">
                <a:solidFill>
                  <a:srgbClr val="94A3B8"/>
                </a:solidFill>
                <a:latin typeface="Arial"/>
              </a:rPr>
              <a:t>•  </a:t>
            </a:r>
            <a:r>
              <a:rPr sz="1150">
                <a:solidFill>
                  <a:srgbClr val="5B6372"/>
                </a:solidFill>
                <a:latin typeface="Arial"/>
              </a:rPr>
              <a:t>Reconciliation happens on an interval, forever</a:t>
            </a:r>
          </a:p>
          <a:p>
            <a:pPr>
              <a:lnSpc>
                <a:spcPct val="112000"/>
              </a:lnSpc>
              <a:spcAft>
                <a:spcPts val="700"/>
              </a:spcAft>
            </a:pPr>
            <a:r>
              <a:rPr sz="1150">
                <a:solidFill>
                  <a:srgbClr val="94A3B8"/>
                </a:solidFill>
                <a:latin typeface="Arial"/>
              </a:rPr>
              <a:t>•  </a:t>
            </a:r>
            <a:r>
              <a:rPr sz="1150">
                <a:solidFill>
                  <a:srgbClr val="5B6372"/>
                </a:solidFill>
                <a:latin typeface="Arial"/>
              </a:rPr>
              <a:t>Drift is detected continuously and optionally corrected</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Crossplane documentation — Composite Resources and Providers (crossplane.io/docs).</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472</a:t>
            </a:r>
          </a:p>
        </p:txBody>
      </p:sp>
    </p:spTree>
  </p:cSld>
  <p:clrMapOvr>
    <a:masterClrMapping/>
  </p:clrMapOvr>
  <p:transition xmlns:ns1="http://schemas.openxmlformats.org/markup-compatibility/2006" spd="fast" ns1:Ignorable="p14">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CONVERGENCE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Crossplane: Infrastructure as a Kubernetes Control Plane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'control plane for infrastructure' idea: stop running apply, and let a controller hold the desired state.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Providers install CRDs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cloud provider package adds custom resources for buckets, databases and networks to your cluster's API.</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Managed resources are objects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database becomes a Kubernetes object with a spec and a status, reconciled by a controller like anything else.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Compositions build platform APIs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CompositeResourceDefinition exposes a simple claim that fans out into many provider resources.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Continuous reconciliation</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Manual changes in the cloud console are corrected, because the control loop never stops.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GitOps now covers infrastructure</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Because it is all Kubernetes objects, Argo CD or Flux delivers infrastructure with the same mechanism as applications.</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trade-off</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Your cluster becomes a dependency for provisioning. That is a deliberate architectural commitment.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Crossplane documentation — Composite Resources and Providers (crossplane.io/docs).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473</a:t>
            </a:r>
          </a:p>
        </p:txBody>
      </p:sp>
    </p:spTree>
  </p:cSld>
  <p:clrMapOvr>
    <a:masterClrMapping/>
  </p:clrMapOvr>
  <p:transition xmlns:ns1="http://schemas.openxmlformats.org/markup-compatibility/2006" spd="fast" ns1:Ignorable="p14">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Delivery and Storage Projects Worth Knowing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Recognising the marks and one sentence of purpose is the KCNA ecosystem expectation.</a:t>
            </a:r>
          </a:p>
        </p:txBody>
      </p:sp>
      <p:sp>
        <p:nvSpPr>
          <p:cNvPr id="7" name="Rectangle 6"/>
          <p:cNvSpPr/>
          <p:nvPr/>
        </p:nvSpPr>
        <p:spPr>
          <a:xfrm>
            <a:off x="777240"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1661159" cy="45720"/>
          </a:xfrm>
          <a:prstGeom prst="rect">
            <a:avLst/>
          </a:prstGeom>
          <a:solidFill>
            <a:srgbClr val="1F6FEB"/>
          </a:solidFill>
          <a:ln>
            <a:noFill/>
          </a:ln>
          <a:effectLst/>
        </p:spPr>
        <p:txBody>
          <a:bodyPr rtlCol="0" anchor="ctr" wrap="square"/>
          <a:lstStyle/>
          <a:p>
            <a:pPr algn="ctr"/>
          </a:p>
        </p:txBody>
      </p:sp>
      <p:pic>
        <p:nvPicPr>
          <p:cNvPr id="9" name="Picture 8" descr="helm.png"/>
          <p:cNvPicPr>
            <a:picLocks noChangeAspect="1"/>
          </p:cNvPicPr>
          <p:nvPr/>
        </p:nvPicPr>
        <p:blipFill>
          <a:blip r:embed="rId2"/>
          <a:stretch>
            <a:fillRect/>
          </a:stretch>
        </p:blipFill>
        <p:spPr>
          <a:xfrm>
            <a:off x="1315211" y="2346350"/>
            <a:ext cx="585216" cy="585216"/>
          </a:xfrm>
          <a:prstGeom prst="rect">
            <a:avLst/>
          </a:prstGeom>
        </p:spPr>
      </p:pic>
      <p:sp>
        <p:nvSpPr>
          <p:cNvPr id="10" name="TextBox 9"/>
          <p:cNvSpPr txBox="1"/>
          <p:nvPr/>
        </p:nvSpPr>
        <p:spPr>
          <a:xfrm>
            <a:off x="850392"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Helm</a:t>
            </a:r>
          </a:p>
        </p:txBody>
      </p:sp>
      <p:sp>
        <p:nvSpPr>
          <p:cNvPr id="11" name="TextBox 10"/>
          <p:cNvSpPr txBox="1"/>
          <p:nvPr/>
        </p:nvSpPr>
        <p:spPr>
          <a:xfrm>
            <a:off x="850392"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Package manager · Graduated</a:t>
            </a:r>
          </a:p>
        </p:txBody>
      </p:sp>
      <p:sp>
        <p:nvSpPr>
          <p:cNvPr id="12" name="Rectangle 11"/>
          <p:cNvSpPr/>
          <p:nvPr/>
        </p:nvSpPr>
        <p:spPr>
          <a:xfrm>
            <a:off x="2584703"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2584703" y="2200046"/>
            <a:ext cx="1661159" cy="45720"/>
          </a:xfrm>
          <a:prstGeom prst="rect">
            <a:avLst/>
          </a:prstGeom>
          <a:solidFill>
            <a:srgbClr val="10B981"/>
          </a:solidFill>
          <a:ln>
            <a:noFill/>
          </a:ln>
          <a:effectLst/>
        </p:spPr>
        <p:txBody>
          <a:bodyPr rtlCol="0" anchor="ctr" wrap="square"/>
          <a:lstStyle/>
          <a:p>
            <a:pPr algn="ctr"/>
          </a:p>
        </p:txBody>
      </p:sp>
      <p:pic>
        <p:nvPicPr>
          <p:cNvPr id="14" name="Picture 13" descr="argo.png"/>
          <p:cNvPicPr>
            <a:picLocks noChangeAspect="1"/>
          </p:cNvPicPr>
          <p:nvPr/>
        </p:nvPicPr>
        <p:blipFill>
          <a:blip r:embed="rId3"/>
          <a:stretch>
            <a:fillRect/>
          </a:stretch>
        </p:blipFill>
        <p:spPr>
          <a:xfrm>
            <a:off x="3187699" y="2346350"/>
            <a:ext cx="455168" cy="585216"/>
          </a:xfrm>
          <a:prstGeom prst="rect">
            <a:avLst/>
          </a:prstGeom>
        </p:spPr>
      </p:pic>
      <p:sp>
        <p:nvSpPr>
          <p:cNvPr id="15" name="TextBox 14"/>
          <p:cNvSpPr txBox="1"/>
          <p:nvPr/>
        </p:nvSpPr>
        <p:spPr>
          <a:xfrm>
            <a:off x="2657855"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Argo</a:t>
            </a:r>
          </a:p>
        </p:txBody>
      </p:sp>
      <p:sp>
        <p:nvSpPr>
          <p:cNvPr id="16" name="TextBox 15"/>
          <p:cNvSpPr txBox="1"/>
          <p:nvPr/>
        </p:nvSpPr>
        <p:spPr>
          <a:xfrm>
            <a:off x="2657855"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Argo CD, Rollouts · Graduated</a:t>
            </a:r>
          </a:p>
        </p:txBody>
      </p:sp>
      <p:sp>
        <p:nvSpPr>
          <p:cNvPr id="17" name="Rectangle 16"/>
          <p:cNvSpPr/>
          <p:nvPr/>
        </p:nvSpPr>
        <p:spPr>
          <a:xfrm>
            <a:off x="4392167"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4392167" y="2200046"/>
            <a:ext cx="1661159" cy="45720"/>
          </a:xfrm>
          <a:prstGeom prst="rect">
            <a:avLst/>
          </a:prstGeom>
          <a:solidFill>
            <a:srgbClr val="7C3AED"/>
          </a:solidFill>
          <a:ln>
            <a:noFill/>
          </a:ln>
          <a:effectLst/>
        </p:spPr>
        <p:txBody>
          <a:bodyPr rtlCol="0" anchor="ctr" wrap="square"/>
          <a:lstStyle/>
          <a:p>
            <a:pPr algn="ctr"/>
          </a:p>
        </p:txBody>
      </p:sp>
      <p:pic>
        <p:nvPicPr>
          <p:cNvPr id="19" name="Picture 18" descr="flux.png"/>
          <p:cNvPicPr>
            <a:picLocks noChangeAspect="1"/>
          </p:cNvPicPr>
          <p:nvPr/>
        </p:nvPicPr>
        <p:blipFill>
          <a:blip r:embed="rId4"/>
          <a:stretch>
            <a:fillRect/>
          </a:stretch>
        </p:blipFill>
        <p:spPr>
          <a:xfrm>
            <a:off x="4930139" y="2346350"/>
            <a:ext cx="585216" cy="585216"/>
          </a:xfrm>
          <a:prstGeom prst="rect">
            <a:avLst/>
          </a:prstGeom>
        </p:spPr>
      </p:pic>
      <p:sp>
        <p:nvSpPr>
          <p:cNvPr id="20" name="TextBox 19"/>
          <p:cNvSpPr txBox="1"/>
          <p:nvPr/>
        </p:nvSpPr>
        <p:spPr>
          <a:xfrm>
            <a:off x="4465320"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Flux</a:t>
            </a:r>
          </a:p>
        </p:txBody>
      </p:sp>
      <p:sp>
        <p:nvSpPr>
          <p:cNvPr id="21" name="TextBox 20"/>
          <p:cNvSpPr txBox="1"/>
          <p:nvPr/>
        </p:nvSpPr>
        <p:spPr>
          <a:xfrm>
            <a:off x="4465320"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GitOps toolkit · Graduated</a:t>
            </a:r>
          </a:p>
        </p:txBody>
      </p:sp>
      <p:sp>
        <p:nvSpPr>
          <p:cNvPr id="22" name="Rectangle 21"/>
          <p:cNvSpPr/>
          <p:nvPr/>
        </p:nvSpPr>
        <p:spPr>
          <a:xfrm>
            <a:off x="6199631"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3" name="Rectangle 22"/>
          <p:cNvSpPr/>
          <p:nvPr/>
        </p:nvSpPr>
        <p:spPr>
          <a:xfrm>
            <a:off x="6199631" y="2200046"/>
            <a:ext cx="1661159" cy="45720"/>
          </a:xfrm>
          <a:prstGeom prst="rect">
            <a:avLst/>
          </a:prstGeom>
          <a:solidFill>
            <a:srgbClr val="F59E0B"/>
          </a:solidFill>
          <a:ln>
            <a:noFill/>
          </a:ln>
          <a:effectLst/>
        </p:spPr>
        <p:txBody>
          <a:bodyPr rtlCol="0" anchor="ctr" wrap="square"/>
          <a:lstStyle/>
          <a:p>
            <a:pPr algn="ctr"/>
          </a:p>
        </p:txBody>
      </p:sp>
      <p:pic>
        <p:nvPicPr>
          <p:cNvPr id="24" name="Picture 23" descr="crossplane.png"/>
          <p:cNvPicPr>
            <a:picLocks noChangeAspect="1"/>
          </p:cNvPicPr>
          <p:nvPr/>
        </p:nvPicPr>
        <p:blipFill>
          <a:blip r:embed="rId5"/>
          <a:stretch>
            <a:fillRect/>
          </a:stretch>
        </p:blipFill>
        <p:spPr>
          <a:xfrm>
            <a:off x="6737603" y="2346350"/>
            <a:ext cx="585216" cy="585216"/>
          </a:xfrm>
          <a:prstGeom prst="rect">
            <a:avLst/>
          </a:prstGeom>
        </p:spPr>
      </p:pic>
      <p:sp>
        <p:nvSpPr>
          <p:cNvPr id="25" name="TextBox 24"/>
          <p:cNvSpPr txBox="1"/>
          <p:nvPr/>
        </p:nvSpPr>
        <p:spPr>
          <a:xfrm>
            <a:off x="6272783"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Crossplane</a:t>
            </a:r>
          </a:p>
        </p:txBody>
      </p:sp>
      <p:sp>
        <p:nvSpPr>
          <p:cNvPr id="26" name="TextBox 25"/>
          <p:cNvSpPr txBox="1"/>
          <p:nvPr/>
        </p:nvSpPr>
        <p:spPr>
          <a:xfrm>
            <a:off x="6272783"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Infra control plane · Graduated</a:t>
            </a:r>
          </a:p>
        </p:txBody>
      </p:sp>
      <p:sp>
        <p:nvSpPr>
          <p:cNvPr id="27" name="Rectangle 26"/>
          <p:cNvSpPr/>
          <p:nvPr/>
        </p:nvSpPr>
        <p:spPr>
          <a:xfrm>
            <a:off x="8007095"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8007095" y="2200046"/>
            <a:ext cx="1661159" cy="45720"/>
          </a:xfrm>
          <a:prstGeom prst="rect">
            <a:avLst/>
          </a:prstGeom>
          <a:solidFill>
            <a:srgbClr val="1F6FEB"/>
          </a:solidFill>
          <a:ln>
            <a:noFill/>
          </a:ln>
          <a:effectLst/>
        </p:spPr>
        <p:txBody>
          <a:bodyPr rtlCol="0" anchor="ctr" wrap="square"/>
          <a:lstStyle/>
          <a:p>
            <a:pPr algn="ctr"/>
          </a:p>
        </p:txBody>
      </p:sp>
      <p:pic>
        <p:nvPicPr>
          <p:cNvPr id="29" name="Picture 28" descr="backstage.png"/>
          <p:cNvPicPr>
            <a:picLocks noChangeAspect="1"/>
          </p:cNvPicPr>
          <p:nvPr/>
        </p:nvPicPr>
        <p:blipFill>
          <a:blip r:embed="rId6"/>
          <a:stretch>
            <a:fillRect/>
          </a:stretch>
        </p:blipFill>
        <p:spPr>
          <a:xfrm>
            <a:off x="8606997" y="2346350"/>
            <a:ext cx="461357" cy="585216"/>
          </a:xfrm>
          <a:prstGeom prst="rect">
            <a:avLst/>
          </a:prstGeom>
        </p:spPr>
      </p:pic>
      <p:sp>
        <p:nvSpPr>
          <p:cNvPr id="30" name="TextBox 29"/>
          <p:cNvSpPr txBox="1"/>
          <p:nvPr/>
        </p:nvSpPr>
        <p:spPr>
          <a:xfrm>
            <a:off x="8080247"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Backstage</a:t>
            </a:r>
          </a:p>
        </p:txBody>
      </p:sp>
      <p:sp>
        <p:nvSpPr>
          <p:cNvPr id="31" name="TextBox 30"/>
          <p:cNvSpPr txBox="1"/>
          <p:nvPr/>
        </p:nvSpPr>
        <p:spPr>
          <a:xfrm>
            <a:off x="8080247"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Developer portal · Incubating</a:t>
            </a:r>
          </a:p>
        </p:txBody>
      </p:sp>
      <p:sp>
        <p:nvSpPr>
          <p:cNvPr id="32" name="Rectangle 31"/>
          <p:cNvSpPr/>
          <p:nvPr/>
        </p:nvSpPr>
        <p:spPr>
          <a:xfrm>
            <a:off x="9814559" y="2200046"/>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3" name="Rectangle 32"/>
          <p:cNvSpPr/>
          <p:nvPr/>
        </p:nvSpPr>
        <p:spPr>
          <a:xfrm>
            <a:off x="9814559" y="2200046"/>
            <a:ext cx="1661159" cy="45720"/>
          </a:xfrm>
          <a:prstGeom prst="rect">
            <a:avLst/>
          </a:prstGeom>
          <a:solidFill>
            <a:srgbClr val="10B981"/>
          </a:solidFill>
          <a:ln>
            <a:noFill/>
          </a:ln>
          <a:effectLst/>
        </p:spPr>
        <p:txBody>
          <a:bodyPr rtlCol="0" anchor="ctr" wrap="square"/>
          <a:lstStyle/>
          <a:p>
            <a:pPr algn="ctr"/>
          </a:p>
        </p:txBody>
      </p:sp>
      <p:pic>
        <p:nvPicPr>
          <p:cNvPr id="34" name="Picture 33" descr="kyverno.png"/>
          <p:cNvPicPr>
            <a:picLocks noChangeAspect="1"/>
          </p:cNvPicPr>
          <p:nvPr/>
        </p:nvPicPr>
        <p:blipFill>
          <a:blip r:embed="rId7"/>
          <a:stretch>
            <a:fillRect/>
          </a:stretch>
        </p:blipFill>
        <p:spPr>
          <a:xfrm>
            <a:off x="10352672" y="2346350"/>
            <a:ext cx="584935" cy="585216"/>
          </a:xfrm>
          <a:prstGeom prst="rect">
            <a:avLst/>
          </a:prstGeom>
        </p:spPr>
      </p:pic>
      <p:sp>
        <p:nvSpPr>
          <p:cNvPr id="35" name="TextBox 34"/>
          <p:cNvSpPr txBox="1"/>
          <p:nvPr/>
        </p:nvSpPr>
        <p:spPr>
          <a:xfrm>
            <a:off x="9887711" y="3004718"/>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Kyverno</a:t>
            </a:r>
          </a:p>
        </p:txBody>
      </p:sp>
      <p:sp>
        <p:nvSpPr>
          <p:cNvPr id="36" name="TextBox 35"/>
          <p:cNvSpPr txBox="1"/>
          <p:nvPr/>
        </p:nvSpPr>
        <p:spPr>
          <a:xfrm>
            <a:off x="9887711" y="3224174"/>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Policy as code · Graduated</a:t>
            </a:r>
          </a:p>
        </p:txBody>
      </p:sp>
      <p:sp>
        <p:nvSpPr>
          <p:cNvPr id="37" name="Rectangle 36"/>
          <p:cNvSpPr/>
          <p:nvPr/>
        </p:nvSpPr>
        <p:spPr>
          <a:xfrm>
            <a:off x="777240"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38" name="Rectangle 37"/>
          <p:cNvSpPr/>
          <p:nvPr/>
        </p:nvSpPr>
        <p:spPr>
          <a:xfrm>
            <a:off x="777240" y="3809390"/>
            <a:ext cx="1661159" cy="45720"/>
          </a:xfrm>
          <a:prstGeom prst="rect">
            <a:avLst/>
          </a:prstGeom>
          <a:solidFill>
            <a:srgbClr val="7C3AED"/>
          </a:solidFill>
          <a:ln>
            <a:noFill/>
          </a:ln>
          <a:effectLst/>
        </p:spPr>
        <p:txBody>
          <a:bodyPr rtlCol="0" anchor="ctr" wrap="square"/>
          <a:lstStyle/>
          <a:p>
            <a:pPr algn="ctr"/>
          </a:p>
        </p:txBody>
      </p:sp>
      <p:pic>
        <p:nvPicPr>
          <p:cNvPr id="39" name="Picture 38" descr="rook.png"/>
          <p:cNvPicPr>
            <a:picLocks noChangeAspect="1"/>
          </p:cNvPicPr>
          <p:nvPr/>
        </p:nvPicPr>
        <p:blipFill>
          <a:blip r:embed="rId8"/>
          <a:stretch>
            <a:fillRect/>
          </a:stretch>
        </p:blipFill>
        <p:spPr>
          <a:xfrm>
            <a:off x="1315211" y="3955694"/>
            <a:ext cx="585216" cy="585216"/>
          </a:xfrm>
          <a:prstGeom prst="rect">
            <a:avLst/>
          </a:prstGeom>
        </p:spPr>
      </p:pic>
      <p:sp>
        <p:nvSpPr>
          <p:cNvPr id="40" name="TextBox 39"/>
          <p:cNvSpPr txBox="1"/>
          <p:nvPr/>
        </p:nvSpPr>
        <p:spPr>
          <a:xfrm>
            <a:off x="850392"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Rook</a:t>
            </a:r>
          </a:p>
        </p:txBody>
      </p:sp>
      <p:sp>
        <p:nvSpPr>
          <p:cNvPr id="41" name="TextBox 40"/>
          <p:cNvSpPr txBox="1"/>
          <p:nvPr/>
        </p:nvSpPr>
        <p:spPr>
          <a:xfrm>
            <a:off x="850392"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Ceph storage operator · Graduated</a:t>
            </a:r>
          </a:p>
        </p:txBody>
      </p:sp>
      <p:sp>
        <p:nvSpPr>
          <p:cNvPr id="42" name="Rectangle 41"/>
          <p:cNvSpPr/>
          <p:nvPr/>
        </p:nvSpPr>
        <p:spPr>
          <a:xfrm>
            <a:off x="2584703"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3" name="Rectangle 42"/>
          <p:cNvSpPr/>
          <p:nvPr/>
        </p:nvSpPr>
        <p:spPr>
          <a:xfrm>
            <a:off x="2584703" y="3809390"/>
            <a:ext cx="1661159" cy="45720"/>
          </a:xfrm>
          <a:prstGeom prst="rect">
            <a:avLst/>
          </a:prstGeom>
          <a:solidFill>
            <a:srgbClr val="F59E0B"/>
          </a:solidFill>
          <a:ln>
            <a:noFill/>
          </a:ln>
          <a:effectLst/>
        </p:spPr>
        <p:txBody>
          <a:bodyPr rtlCol="0" anchor="ctr" wrap="square"/>
          <a:lstStyle/>
          <a:p>
            <a:pPr algn="ctr"/>
          </a:p>
        </p:txBody>
      </p:sp>
      <p:pic>
        <p:nvPicPr>
          <p:cNvPr id="44" name="Picture 43" descr="longhorn.png"/>
          <p:cNvPicPr>
            <a:picLocks noChangeAspect="1"/>
          </p:cNvPicPr>
          <p:nvPr/>
        </p:nvPicPr>
        <p:blipFill>
          <a:blip r:embed="rId9"/>
          <a:stretch>
            <a:fillRect/>
          </a:stretch>
        </p:blipFill>
        <p:spPr>
          <a:xfrm>
            <a:off x="3060434" y="3955694"/>
            <a:ext cx="709699" cy="585216"/>
          </a:xfrm>
          <a:prstGeom prst="rect">
            <a:avLst/>
          </a:prstGeom>
        </p:spPr>
      </p:pic>
      <p:sp>
        <p:nvSpPr>
          <p:cNvPr id="45" name="TextBox 44"/>
          <p:cNvSpPr txBox="1"/>
          <p:nvPr/>
        </p:nvSpPr>
        <p:spPr>
          <a:xfrm>
            <a:off x="2657855"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Longhorn</a:t>
            </a:r>
          </a:p>
        </p:txBody>
      </p:sp>
      <p:sp>
        <p:nvSpPr>
          <p:cNvPr id="46" name="TextBox 45"/>
          <p:cNvSpPr txBox="1"/>
          <p:nvPr/>
        </p:nvSpPr>
        <p:spPr>
          <a:xfrm>
            <a:off x="2657855"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Distributed block storage</a:t>
            </a:r>
          </a:p>
        </p:txBody>
      </p:sp>
      <p:sp>
        <p:nvSpPr>
          <p:cNvPr id="47" name="Rectangle 46"/>
          <p:cNvSpPr/>
          <p:nvPr/>
        </p:nvSpPr>
        <p:spPr>
          <a:xfrm>
            <a:off x="4392167"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48" name="Rectangle 47"/>
          <p:cNvSpPr/>
          <p:nvPr/>
        </p:nvSpPr>
        <p:spPr>
          <a:xfrm>
            <a:off x="4392167" y="3809390"/>
            <a:ext cx="1661159" cy="45720"/>
          </a:xfrm>
          <a:prstGeom prst="rect">
            <a:avLst/>
          </a:prstGeom>
          <a:solidFill>
            <a:srgbClr val="1F6FEB"/>
          </a:solidFill>
          <a:ln>
            <a:noFill/>
          </a:ln>
          <a:effectLst/>
        </p:spPr>
        <p:txBody>
          <a:bodyPr rtlCol="0" anchor="ctr" wrap="square"/>
          <a:lstStyle/>
          <a:p>
            <a:pPr algn="ctr"/>
          </a:p>
        </p:txBody>
      </p:sp>
      <p:pic>
        <p:nvPicPr>
          <p:cNvPr id="49" name="Picture 48" descr="etcd.png"/>
          <p:cNvPicPr>
            <a:picLocks noChangeAspect="1"/>
          </p:cNvPicPr>
          <p:nvPr/>
        </p:nvPicPr>
        <p:blipFill>
          <a:blip r:embed="rId10"/>
          <a:stretch>
            <a:fillRect/>
          </a:stretch>
        </p:blipFill>
        <p:spPr>
          <a:xfrm>
            <a:off x="4930139" y="3955694"/>
            <a:ext cx="585216" cy="585216"/>
          </a:xfrm>
          <a:prstGeom prst="rect">
            <a:avLst/>
          </a:prstGeom>
        </p:spPr>
      </p:pic>
      <p:sp>
        <p:nvSpPr>
          <p:cNvPr id="50" name="TextBox 49"/>
          <p:cNvSpPr txBox="1"/>
          <p:nvPr/>
        </p:nvSpPr>
        <p:spPr>
          <a:xfrm>
            <a:off x="4465320"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etcd</a:t>
            </a:r>
          </a:p>
        </p:txBody>
      </p:sp>
      <p:sp>
        <p:nvSpPr>
          <p:cNvPr id="51" name="TextBox 50"/>
          <p:cNvSpPr txBox="1"/>
          <p:nvPr/>
        </p:nvSpPr>
        <p:spPr>
          <a:xfrm>
            <a:off x="4465320"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Cluster datastore · Graduated</a:t>
            </a:r>
          </a:p>
        </p:txBody>
      </p:sp>
      <p:sp>
        <p:nvSpPr>
          <p:cNvPr id="52" name="Rectangle 51"/>
          <p:cNvSpPr/>
          <p:nvPr/>
        </p:nvSpPr>
        <p:spPr>
          <a:xfrm>
            <a:off x="6199631"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3" name="Rectangle 52"/>
          <p:cNvSpPr/>
          <p:nvPr/>
        </p:nvSpPr>
        <p:spPr>
          <a:xfrm>
            <a:off x="6199631" y="3809390"/>
            <a:ext cx="1661159" cy="45720"/>
          </a:xfrm>
          <a:prstGeom prst="rect">
            <a:avLst/>
          </a:prstGeom>
          <a:solidFill>
            <a:srgbClr val="10B981"/>
          </a:solidFill>
          <a:ln>
            <a:noFill/>
          </a:ln>
          <a:effectLst/>
        </p:spPr>
        <p:txBody>
          <a:bodyPr rtlCol="0" anchor="ctr" wrap="square"/>
          <a:lstStyle/>
          <a:p>
            <a:pPr algn="ctr"/>
          </a:p>
        </p:txBody>
      </p:sp>
      <p:pic>
        <p:nvPicPr>
          <p:cNvPr id="54" name="Picture 53" descr="harbor.png"/>
          <p:cNvPicPr>
            <a:picLocks noChangeAspect="1"/>
          </p:cNvPicPr>
          <p:nvPr/>
        </p:nvPicPr>
        <p:blipFill>
          <a:blip r:embed="rId11"/>
          <a:stretch>
            <a:fillRect/>
          </a:stretch>
        </p:blipFill>
        <p:spPr>
          <a:xfrm>
            <a:off x="6737603" y="3955694"/>
            <a:ext cx="585216" cy="585216"/>
          </a:xfrm>
          <a:prstGeom prst="rect">
            <a:avLst/>
          </a:prstGeom>
        </p:spPr>
      </p:pic>
      <p:sp>
        <p:nvSpPr>
          <p:cNvPr id="55" name="TextBox 54"/>
          <p:cNvSpPr txBox="1"/>
          <p:nvPr/>
        </p:nvSpPr>
        <p:spPr>
          <a:xfrm>
            <a:off x="6272783"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Harbor</a:t>
            </a:r>
          </a:p>
        </p:txBody>
      </p:sp>
      <p:sp>
        <p:nvSpPr>
          <p:cNvPr id="56" name="TextBox 55"/>
          <p:cNvSpPr txBox="1"/>
          <p:nvPr/>
        </p:nvSpPr>
        <p:spPr>
          <a:xfrm>
            <a:off x="6272783"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Registry · Graduated</a:t>
            </a:r>
          </a:p>
        </p:txBody>
      </p:sp>
      <p:sp>
        <p:nvSpPr>
          <p:cNvPr id="57" name="Rectangle 56"/>
          <p:cNvSpPr/>
          <p:nvPr/>
        </p:nvSpPr>
        <p:spPr>
          <a:xfrm>
            <a:off x="8007095"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58" name="Rectangle 57"/>
          <p:cNvSpPr/>
          <p:nvPr/>
        </p:nvSpPr>
        <p:spPr>
          <a:xfrm>
            <a:off x="8007095" y="3809390"/>
            <a:ext cx="1661159" cy="45720"/>
          </a:xfrm>
          <a:prstGeom prst="rect">
            <a:avLst/>
          </a:prstGeom>
          <a:solidFill>
            <a:srgbClr val="7C3AED"/>
          </a:solidFill>
          <a:ln>
            <a:noFill/>
          </a:ln>
          <a:effectLst/>
        </p:spPr>
        <p:txBody>
          <a:bodyPr rtlCol="0" anchor="ctr" wrap="square"/>
          <a:lstStyle/>
          <a:p>
            <a:pPr algn="ctr"/>
          </a:p>
        </p:txBody>
      </p:sp>
      <p:pic>
        <p:nvPicPr>
          <p:cNvPr id="59" name="Picture 58" descr="keda.png"/>
          <p:cNvPicPr>
            <a:picLocks noChangeAspect="1"/>
          </p:cNvPicPr>
          <p:nvPr/>
        </p:nvPicPr>
        <p:blipFill>
          <a:blip r:embed="rId12"/>
          <a:stretch>
            <a:fillRect/>
          </a:stretch>
        </p:blipFill>
        <p:spPr>
          <a:xfrm>
            <a:off x="8545067" y="3955694"/>
            <a:ext cx="585216" cy="585216"/>
          </a:xfrm>
          <a:prstGeom prst="rect">
            <a:avLst/>
          </a:prstGeom>
        </p:spPr>
      </p:pic>
      <p:sp>
        <p:nvSpPr>
          <p:cNvPr id="60" name="TextBox 59"/>
          <p:cNvSpPr txBox="1"/>
          <p:nvPr/>
        </p:nvSpPr>
        <p:spPr>
          <a:xfrm>
            <a:off x="8080247"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KEDA</a:t>
            </a:r>
          </a:p>
        </p:txBody>
      </p:sp>
      <p:sp>
        <p:nvSpPr>
          <p:cNvPr id="61" name="TextBox 60"/>
          <p:cNvSpPr txBox="1"/>
          <p:nvPr/>
        </p:nvSpPr>
        <p:spPr>
          <a:xfrm>
            <a:off x="8080247"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Event-driven autoscaling · Graduated</a:t>
            </a:r>
          </a:p>
        </p:txBody>
      </p:sp>
      <p:sp>
        <p:nvSpPr>
          <p:cNvPr id="62" name="Rectangle 61"/>
          <p:cNvSpPr/>
          <p:nvPr/>
        </p:nvSpPr>
        <p:spPr>
          <a:xfrm>
            <a:off x="9814559" y="3809390"/>
            <a:ext cx="1661159" cy="1463040"/>
          </a:xfrm>
          <a:prstGeom prst="rect">
            <a:avLst/>
          </a:prstGeom>
          <a:solidFill>
            <a:srgbClr val="FFFFFF"/>
          </a:solidFill>
          <a:ln w="12700">
            <a:solidFill>
              <a:srgbClr val="E2E8F0"/>
            </a:solidFill>
          </a:ln>
          <a:effectLst/>
        </p:spPr>
        <p:txBody>
          <a:bodyPr rtlCol="0" anchor="ctr" wrap="square"/>
          <a:lstStyle/>
          <a:p>
            <a:pPr algn="ctr"/>
          </a:p>
        </p:txBody>
      </p:sp>
      <p:sp>
        <p:nvSpPr>
          <p:cNvPr id="63" name="Rectangle 62"/>
          <p:cNvSpPr/>
          <p:nvPr/>
        </p:nvSpPr>
        <p:spPr>
          <a:xfrm>
            <a:off x="9814559" y="3809390"/>
            <a:ext cx="1661159" cy="45720"/>
          </a:xfrm>
          <a:prstGeom prst="rect">
            <a:avLst/>
          </a:prstGeom>
          <a:solidFill>
            <a:srgbClr val="F59E0B"/>
          </a:solidFill>
          <a:ln>
            <a:noFill/>
          </a:ln>
          <a:effectLst/>
        </p:spPr>
        <p:txBody>
          <a:bodyPr rtlCol="0" anchor="ctr" wrap="square"/>
          <a:lstStyle/>
          <a:p>
            <a:pPr algn="ctr"/>
          </a:p>
        </p:txBody>
      </p:sp>
      <p:pic>
        <p:nvPicPr>
          <p:cNvPr id="64" name="Picture 63" descr="cncf.png"/>
          <p:cNvPicPr>
            <a:picLocks noChangeAspect="1"/>
          </p:cNvPicPr>
          <p:nvPr/>
        </p:nvPicPr>
        <p:blipFill>
          <a:blip r:embed="rId13"/>
          <a:stretch>
            <a:fillRect/>
          </a:stretch>
        </p:blipFill>
        <p:spPr>
          <a:xfrm>
            <a:off x="10352531" y="3955694"/>
            <a:ext cx="585216" cy="585216"/>
          </a:xfrm>
          <a:prstGeom prst="rect">
            <a:avLst/>
          </a:prstGeom>
        </p:spPr>
      </p:pic>
      <p:sp>
        <p:nvSpPr>
          <p:cNvPr id="65" name="TextBox 64"/>
          <p:cNvSpPr txBox="1"/>
          <p:nvPr/>
        </p:nvSpPr>
        <p:spPr>
          <a:xfrm>
            <a:off x="9887711" y="4614062"/>
            <a:ext cx="1514855"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CNCF Landscape</a:t>
            </a:r>
          </a:p>
        </p:txBody>
      </p:sp>
      <p:sp>
        <p:nvSpPr>
          <p:cNvPr id="66" name="TextBox 65"/>
          <p:cNvSpPr txBox="1"/>
          <p:nvPr/>
        </p:nvSpPr>
        <p:spPr>
          <a:xfrm>
            <a:off x="9887711" y="4833518"/>
            <a:ext cx="1514855"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Where all of these are catalogued</a:t>
            </a:r>
          </a:p>
        </p:txBody>
      </p:sp>
      <p:sp>
        <p:nvSpPr>
          <p:cNvPr id="67" name="TextBox 6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Graduated project listing (cncf.io/projects); CNCF Artwork repository, Linux Foundation Trademark Usage Guidelines.</a:t>
            </a:r>
          </a:p>
        </p:txBody>
      </p:sp>
      <p:sp>
        <p:nvSpPr>
          <p:cNvPr id="68" name="TextBox 6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9" name="TextBox 6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70" name="TextBox 6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474</a:t>
            </a:r>
          </a:p>
        </p:txBody>
      </p:sp>
    </p:spTree>
  </p:cSld>
  <p:clrMapOvr>
    <a:masterClrMapping/>
  </p:clrMapOvr>
  <p:transition xmlns:ns1="http://schemas.openxmlformats.org/markup-compatibility/2006" spd="fast" ns1:Ignorable="p14">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700" b="1" i="0">
                <a:solidFill>
                  <a:srgbClr val="161B26"/>
                </a:solidFill>
                <a:latin typeface="Arial"/>
              </a:rPr>
              <a:t>Lab 21 — Packaging and Delivery: Helm, Kustomize and GitOps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991666"/>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991666"/>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625906"/>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Replace hand-maintained TrackLane YAML with two real packaging approaches — a Helm chart rendered from environment values files, and a Kustomize base with dev and prod overlays — then read a GitOps Application manifest field by field to see how a controller turns Git into the cluster's desired state.</a:t>
            </a:r>
          </a:p>
        </p:txBody>
      </p:sp>
      <p:sp>
        <p:nvSpPr>
          <p:cNvPr id="10" name="Rectangle 9"/>
          <p:cNvSpPr/>
          <p:nvPr/>
        </p:nvSpPr>
        <p:spPr>
          <a:xfrm>
            <a:off x="777240" y="2857042"/>
            <a:ext cx="5199278" cy="2375550"/>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857042"/>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295954"/>
            <a:ext cx="4796942" cy="1826910"/>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minimal but complete Helm chart (Chart.yaml, values.yaml, _helpers.tpl, templates, NOTES.txt) that renders different dev and prod output from two values files, including a conditionally created PodDisruptionBudget.</a:t>
            </a:r>
          </a:p>
          <a:p>
            <a:pPr>
              <a:lnSpc>
                <a:spcPct val="112000"/>
              </a:lnSpc>
              <a:spcAft>
                <a:spcPts val="500"/>
              </a:spcAft>
            </a:pPr>
            <a:r>
              <a:rPr sz="1050">
                <a:solidFill>
                  <a:srgbClr val="94A3B8"/>
                </a:solidFill>
                <a:latin typeface="Arial"/>
              </a:rPr>
              <a:t>•  </a:t>
            </a:r>
            <a:r>
              <a:rPr sz="1050">
                <a:solidFill>
                  <a:srgbClr val="5B6372"/>
                </a:solidFill>
                <a:latin typeface="Arial"/>
              </a:rPr>
              <a:t>A Kustomize base plus dev and prod overlays that render to stdout with kubectl kustomize alone, differing in replicas, resources, config literals, image registry, probe timing and dataset size.</a:t>
            </a:r>
          </a:p>
          <a:p>
            <a:pPr>
              <a:lnSpc>
                <a:spcPct val="112000"/>
              </a:lnSpc>
              <a:spcAft>
                <a:spcPts val="500"/>
              </a:spcAft>
            </a:pPr>
            <a:r>
              <a:rPr sz="1050">
                <a:solidFill>
                  <a:srgbClr val="94A3B8"/>
                </a:solidFill>
                <a:latin typeface="Arial"/>
              </a:rPr>
              <a:t>•  </a:t>
            </a:r>
            <a:r>
              <a:rPr sz="1050">
                <a:solidFill>
                  <a:srgbClr val="5B6372"/>
                </a:solidFill>
                <a:latin typeface="Arial"/>
              </a:rPr>
              <a:t>An annotated Argo CD Application and the equivalent Flux GitRepository/Kustomization pair, read field by field, with the reconciliation model (prune, selfHeal, drift) explained against them.</a:t>
            </a:r>
          </a:p>
        </p:txBody>
      </p:sp>
      <p:sp>
        <p:nvSpPr>
          <p:cNvPr id="14" name="Rectangle 13"/>
          <p:cNvSpPr/>
          <p:nvPr/>
        </p:nvSpPr>
        <p:spPr>
          <a:xfrm>
            <a:off x="6276441" y="2857042"/>
            <a:ext cx="5199278" cy="2375550"/>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857042"/>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902762"/>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295954"/>
            <a:ext cx="4796942" cy="1826910"/>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Helm chart anatomy: Chart.yaml versus appVersion, values precedence, named templates, the checksum/config annotation</a:t>
            </a:r>
          </a:p>
          <a:p>
            <a:pPr>
              <a:lnSpc>
                <a:spcPct val="112000"/>
              </a:lnSpc>
              <a:spcAft>
                <a:spcPts val="500"/>
              </a:spcAft>
            </a:pPr>
            <a:r>
              <a:rPr sz="1050">
                <a:solidFill>
                  <a:srgbClr val="94A3B8"/>
                </a:solidFill>
                <a:latin typeface="Arial"/>
              </a:rPr>
              <a:t>•  </a:t>
            </a:r>
            <a:r>
              <a:rPr sz="1050">
                <a:solidFill>
                  <a:srgbClr val="5B6372"/>
                </a:solidFill>
                <a:latin typeface="Arial"/>
              </a:rPr>
              <a:t>Kustomize base and overlay: strategic-merge versus JSON 6902 patches, transformers, generator hashes</a:t>
            </a:r>
          </a:p>
          <a:p>
            <a:pPr>
              <a:lnSpc>
                <a:spcPct val="112000"/>
              </a:lnSpc>
              <a:spcAft>
                <a:spcPts val="500"/>
              </a:spcAft>
            </a:pPr>
            <a:r>
              <a:rPr sz="1050">
                <a:solidFill>
                  <a:srgbClr val="94A3B8"/>
                </a:solidFill>
                <a:latin typeface="Arial"/>
              </a:rPr>
              <a:t>•  </a:t>
            </a:r>
            <a:r>
              <a:rPr sz="1050">
                <a:solidFill>
                  <a:srgbClr val="5B6372"/>
                </a:solidFill>
                <a:latin typeface="Arial"/>
              </a:rPr>
              <a:t>Templating versus patching — when each is the right tool, and the cost of each</a:t>
            </a:r>
          </a:p>
          <a:p>
            <a:pPr>
              <a:lnSpc>
                <a:spcPct val="112000"/>
              </a:lnSpc>
              <a:spcAft>
                <a:spcPts val="500"/>
              </a:spcAft>
            </a:pPr>
            <a:r>
              <a:rPr sz="1050">
                <a:solidFill>
                  <a:srgbClr val="94A3B8"/>
                </a:solidFill>
                <a:latin typeface="Arial"/>
              </a:rPr>
              <a:t>•  </a:t>
            </a:r>
            <a:r>
              <a:rPr sz="1050">
                <a:solidFill>
                  <a:srgbClr val="5B6372"/>
                </a:solidFill>
                <a:latin typeface="Arial"/>
              </a:rPr>
              <a:t>GitOps: desired state in Git, a controller reconciling drift, prune and self-heal</a:t>
            </a:r>
          </a:p>
        </p:txBody>
      </p:sp>
      <p:sp>
        <p:nvSpPr>
          <p:cNvPr id="18" name="Rectangle 17"/>
          <p:cNvSpPr/>
          <p:nvPr/>
        </p:nvSpPr>
        <p:spPr>
          <a:xfrm>
            <a:off x="777240" y="5415473"/>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415473"/>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479481"/>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662361"/>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21</a:t>
            </a:r>
          </a:p>
        </p:txBody>
      </p:sp>
      <p:sp>
        <p:nvSpPr>
          <p:cNvPr id="22" name="Rectangle 21"/>
          <p:cNvSpPr/>
          <p:nvPr/>
        </p:nvSpPr>
        <p:spPr>
          <a:xfrm>
            <a:off x="3488436" y="5415473"/>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415473"/>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479481"/>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662361"/>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kcna-lab21</a:t>
            </a:r>
          </a:p>
        </p:txBody>
      </p:sp>
      <p:sp>
        <p:nvSpPr>
          <p:cNvPr id="26" name="Rectangle 25"/>
          <p:cNvSpPr/>
          <p:nvPr/>
        </p:nvSpPr>
        <p:spPr>
          <a:xfrm>
            <a:off x="6199631" y="5415473"/>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415473"/>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479481"/>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662361"/>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LO5 · A5 · K5</a:t>
            </a:r>
          </a:p>
        </p:txBody>
      </p:sp>
      <p:sp>
        <p:nvSpPr>
          <p:cNvPr id="30" name="Rectangle 29"/>
          <p:cNvSpPr/>
          <p:nvPr/>
        </p:nvSpPr>
        <p:spPr>
          <a:xfrm>
            <a:off x="8910828" y="5415473"/>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415473"/>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479481"/>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662361"/>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6055553"/>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courseware/labs/lab-21-helm-kustomize-gitops/README.md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475</a:t>
            </a:r>
          </a:p>
        </p:txBody>
      </p:sp>
    </p:spTree>
  </p:cSld>
  <p:clrMapOvr>
    <a:masterClrMapping/>
  </p:clrMapOvr>
  <p:transition xmlns:ns1="http://schemas.openxmlformats.org/markup-compatibility/2006" spd="fast" ns1:Ignorable="p14">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RECALL SET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4 Facts You Should Be Able to State Cold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Fourteen one-line answers that cover most of today's examinable surface.</a:t>
            </a:r>
          </a:p>
        </p:txBody>
      </p:sp>
      <p:sp>
        <p:nvSpPr>
          <p:cNvPr id="7" name="Rectangle 6"/>
          <p:cNvSpPr/>
          <p:nvPr/>
        </p:nvSpPr>
        <p:spPr>
          <a:xfrm>
            <a:off x="777240" y="2200046"/>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34793"/>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emptyDir lifetime</a:t>
            </a:r>
          </a:p>
        </p:txBody>
      </p:sp>
      <p:sp>
        <p:nvSpPr>
          <p:cNvPr id="10" name="TextBox 9"/>
          <p:cNvSpPr txBox="1"/>
          <p:nvPr/>
        </p:nvSpPr>
        <p:spPr>
          <a:xfrm>
            <a:off x="3235147" y="228234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The Pod — survives container restarts</a:t>
            </a:r>
          </a:p>
        </p:txBody>
      </p:sp>
      <p:sp>
        <p:nvSpPr>
          <p:cNvPr id="11" name="Rectangle 10"/>
          <p:cNvSpPr/>
          <p:nvPr/>
        </p:nvSpPr>
        <p:spPr>
          <a:xfrm>
            <a:off x="777240" y="2734839"/>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34839"/>
            <a:ext cx="36576" cy="534793"/>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17135"/>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SizeMemoryBackedVolumes</a:t>
            </a:r>
          </a:p>
        </p:txBody>
      </p:sp>
      <p:sp>
        <p:nvSpPr>
          <p:cNvPr id="14" name="TextBox 13"/>
          <p:cNvSpPr txBox="1"/>
          <p:nvPr/>
        </p:nvSpPr>
        <p:spPr>
          <a:xfrm>
            <a:off x="3235147" y="2817135"/>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Beta v1.22, generally available v1.32</a:t>
            </a:r>
          </a:p>
        </p:txBody>
      </p:sp>
      <p:sp>
        <p:nvSpPr>
          <p:cNvPr id="15" name="Rectangle 14"/>
          <p:cNvSpPr/>
          <p:nvPr/>
        </p:nvSpPr>
        <p:spPr>
          <a:xfrm>
            <a:off x="777240" y="3269633"/>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69633"/>
            <a:ext cx="36576" cy="534793"/>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51929"/>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PV scope / PVC scope</a:t>
            </a:r>
          </a:p>
        </p:txBody>
      </p:sp>
      <p:sp>
        <p:nvSpPr>
          <p:cNvPr id="18" name="TextBox 17"/>
          <p:cNvSpPr txBox="1"/>
          <p:nvPr/>
        </p:nvSpPr>
        <p:spPr>
          <a:xfrm>
            <a:off x="3235147" y="3351929"/>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Cluster-scoped / namespaced</a:t>
            </a:r>
          </a:p>
        </p:txBody>
      </p:sp>
      <p:sp>
        <p:nvSpPr>
          <p:cNvPr id="19" name="Rectangle 18"/>
          <p:cNvSpPr/>
          <p:nvPr/>
        </p:nvSpPr>
        <p:spPr>
          <a:xfrm>
            <a:off x="777240" y="3804426"/>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04426"/>
            <a:ext cx="36576" cy="534793"/>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88672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RWO scope</a:t>
            </a:r>
          </a:p>
        </p:txBody>
      </p:sp>
      <p:sp>
        <p:nvSpPr>
          <p:cNvPr id="22" name="TextBox 21"/>
          <p:cNvSpPr txBox="1"/>
          <p:nvPr/>
        </p:nvSpPr>
        <p:spPr>
          <a:xfrm>
            <a:off x="3235147" y="388672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node, not one Pod (RWOP is the Pod-scoped mode)</a:t>
            </a:r>
          </a:p>
        </p:txBody>
      </p:sp>
      <p:sp>
        <p:nvSpPr>
          <p:cNvPr id="23" name="Rectangle 22"/>
          <p:cNvSpPr/>
          <p:nvPr/>
        </p:nvSpPr>
        <p:spPr>
          <a:xfrm>
            <a:off x="777240" y="4339219"/>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39219"/>
            <a:ext cx="36576" cy="534793"/>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21515"/>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Default dynamic reclaim policy</a:t>
            </a:r>
          </a:p>
        </p:txBody>
      </p:sp>
      <p:sp>
        <p:nvSpPr>
          <p:cNvPr id="26" name="TextBox 25"/>
          <p:cNvSpPr txBox="1"/>
          <p:nvPr/>
        </p:nvSpPr>
        <p:spPr>
          <a:xfrm>
            <a:off x="3235147" y="4421515"/>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Delete, inherited from the class</a:t>
            </a:r>
          </a:p>
        </p:txBody>
      </p:sp>
      <p:sp>
        <p:nvSpPr>
          <p:cNvPr id="27" name="Rectangle 26"/>
          <p:cNvSpPr/>
          <p:nvPr/>
        </p:nvSpPr>
        <p:spPr>
          <a:xfrm>
            <a:off x="777240" y="4874013"/>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874013"/>
            <a:ext cx="36576" cy="534793"/>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4956309"/>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Pending PVC with WaitForFirstConsumer</a:t>
            </a:r>
          </a:p>
        </p:txBody>
      </p:sp>
      <p:sp>
        <p:nvSpPr>
          <p:cNvPr id="30" name="TextBox 29"/>
          <p:cNvSpPr txBox="1"/>
          <p:nvPr/>
        </p:nvSpPr>
        <p:spPr>
          <a:xfrm>
            <a:off x="3235147" y="4956309"/>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Correct behaviour, not a fault</a:t>
            </a:r>
          </a:p>
        </p:txBody>
      </p:sp>
      <p:sp>
        <p:nvSpPr>
          <p:cNvPr id="31" name="Rectangle 30"/>
          <p:cNvSpPr/>
          <p:nvPr/>
        </p:nvSpPr>
        <p:spPr>
          <a:xfrm>
            <a:off x="777240" y="5408806"/>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777240" y="5408806"/>
            <a:ext cx="36576" cy="534793"/>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549110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CSI plugin split</a:t>
            </a:r>
          </a:p>
        </p:txBody>
      </p:sp>
      <p:sp>
        <p:nvSpPr>
          <p:cNvPr id="34" name="TextBox 33"/>
          <p:cNvSpPr txBox="1"/>
          <p:nvPr/>
        </p:nvSpPr>
        <p:spPr>
          <a:xfrm>
            <a:off x="3235147" y="549110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Controller Deployment plus node DaemonSet</a:t>
            </a:r>
          </a:p>
        </p:txBody>
      </p:sp>
      <p:sp>
        <p:nvSpPr>
          <p:cNvPr id="35" name="Rectangle 34"/>
          <p:cNvSpPr/>
          <p:nvPr/>
        </p:nvSpPr>
        <p:spPr>
          <a:xfrm>
            <a:off x="6263639" y="2200046"/>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36" name="Rectangle 35"/>
          <p:cNvSpPr/>
          <p:nvPr/>
        </p:nvSpPr>
        <p:spPr>
          <a:xfrm>
            <a:off x="6263639" y="2200046"/>
            <a:ext cx="36576" cy="534793"/>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228234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StatefulSet claim name</a:t>
            </a:r>
          </a:p>
        </p:txBody>
      </p:sp>
      <p:sp>
        <p:nvSpPr>
          <p:cNvPr id="38" name="TextBox 37"/>
          <p:cNvSpPr txBox="1"/>
          <p:nvPr/>
        </p:nvSpPr>
        <p:spPr>
          <a:xfrm>
            <a:off x="8721547" y="228234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&lt;template&gt;-&lt;statefulset&gt;-&lt;ordinal&gt;</a:t>
            </a:r>
          </a:p>
        </p:txBody>
      </p:sp>
      <p:sp>
        <p:nvSpPr>
          <p:cNvPr id="39" name="Rectangle 38"/>
          <p:cNvSpPr/>
          <p:nvPr/>
        </p:nvSpPr>
        <p:spPr>
          <a:xfrm>
            <a:off x="6263639" y="2734839"/>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40" name="Rectangle 39"/>
          <p:cNvSpPr/>
          <p:nvPr/>
        </p:nvSpPr>
        <p:spPr>
          <a:xfrm>
            <a:off x="6263639" y="2734839"/>
            <a:ext cx="36576" cy="534793"/>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2817135"/>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etcd quorum</a:t>
            </a:r>
          </a:p>
        </p:txBody>
      </p:sp>
      <p:sp>
        <p:nvSpPr>
          <p:cNvPr id="42" name="TextBox 41"/>
          <p:cNvSpPr txBox="1"/>
          <p:nvPr/>
        </p:nvSpPr>
        <p:spPr>
          <a:xfrm>
            <a:off x="8721547" y="2817135"/>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floor(n/2) + 1; 3 members tolerate 1 failure</a:t>
            </a:r>
          </a:p>
        </p:txBody>
      </p:sp>
      <p:sp>
        <p:nvSpPr>
          <p:cNvPr id="43" name="Rectangle 42"/>
          <p:cNvSpPr/>
          <p:nvPr/>
        </p:nvSpPr>
        <p:spPr>
          <a:xfrm>
            <a:off x="6263639" y="3269633"/>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44" name="Rectangle 43"/>
          <p:cNvSpPr/>
          <p:nvPr/>
        </p:nvSpPr>
        <p:spPr>
          <a:xfrm>
            <a:off x="6263639" y="3269633"/>
            <a:ext cx="36576" cy="534793"/>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3351929"/>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Kubelet version skew</a:t>
            </a:r>
          </a:p>
        </p:txBody>
      </p:sp>
      <p:sp>
        <p:nvSpPr>
          <p:cNvPr id="46" name="TextBox 45"/>
          <p:cNvSpPr txBox="1"/>
          <p:nvPr/>
        </p:nvSpPr>
        <p:spPr>
          <a:xfrm>
            <a:off x="8721547" y="3351929"/>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Up to three minor versions behind the API server</a:t>
            </a:r>
          </a:p>
        </p:txBody>
      </p:sp>
      <p:sp>
        <p:nvSpPr>
          <p:cNvPr id="47" name="Rectangle 46"/>
          <p:cNvSpPr/>
          <p:nvPr/>
        </p:nvSpPr>
        <p:spPr>
          <a:xfrm>
            <a:off x="6263639" y="3804426"/>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48" name="Rectangle 47"/>
          <p:cNvSpPr/>
          <p:nvPr/>
        </p:nvSpPr>
        <p:spPr>
          <a:xfrm>
            <a:off x="6263639" y="3804426"/>
            <a:ext cx="36576" cy="534793"/>
          </a:xfrm>
          <a:prstGeom prst="rect">
            <a:avLst/>
          </a:prstGeom>
          <a:solidFill>
            <a:srgbClr val="7C3AED"/>
          </a:solidFill>
          <a:ln>
            <a:noFill/>
          </a:ln>
          <a:effectLst/>
        </p:spPr>
        <p:txBody>
          <a:bodyPr rtlCol="0" anchor="ctr" wrap="square"/>
          <a:lstStyle/>
          <a:p>
            <a:pPr algn="ctr"/>
          </a:p>
        </p:txBody>
      </p:sp>
      <p:sp>
        <p:nvSpPr>
          <p:cNvPr id="49" name="TextBox 48"/>
          <p:cNvSpPr txBox="1"/>
          <p:nvPr/>
        </p:nvSpPr>
        <p:spPr>
          <a:xfrm>
            <a:off x="6428231" y="388672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helm template</a:t>
            </a:r>
          </a:p>
        </p:txBody>
      </p:sp>
      <p:sp>
        <p:nvSpPr>
          <p:cNvPr id="50" name="TextBox 49"/>
          <p:cNvSpPr txBox="1"/>
          <p:nvPr/>
        </p:nvSpPr>
        <p:spPr>
          <a:xfrm>
            <a:off x="8721547" y="388672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Renders offline; never contacts the cluster</a:t>
            </a:r>
          </a:p>
        </p:txBody>
      </p:sp>
      <p:sp>
        <p:nvSpPr>
          <p:cNvPr id="51" name="Rectangle 50"/>
          <p:cNvSpPr/>
          <p:nvPr/>
        </p:nvSpPr>
        <p:spPr>
          <a:xfrm>
            <a:off x="6263639" y="4339219"/>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52" name="Rectangle 51"/>
          <p:cNvSpPr/>
          <p:nvPr/>
        </p:nvSpPr>
        <p:spPr>
          <a:xfrm>
            <a:off x="6263639" y="4339219"/>
            <a:ext cx="36576" cy="534793"/>
          </a:xfrm>
          <a:prstGeom prst="rect">
            <a:avLst/>
          </a:prstGeom>
          <a:solidFill>
            <a:srgbClr val="F59E0B"/>
          </a:solidFill>
          <a:ln>
            <a:noFill/>
          </a:ln>
          <a:effectLst/>
        </p:spPr>
        <p:txBody>
          <a:bodyPr rtlCol="0" anchor="ctr" wrap="square"/>
          <a:lstStyle/>
          <a:p>
            <a:pPr algn="ctr"/>
          </a:p>
        </p:txBody>
      </p:sp>
      <p:sp>
        <p:nvSpPr>
          <p:cNvPr id="53" name="TextBox 52"/>
          <p:cNvSpPr txBox="1"/>
          <p:nvPr/>
        </p:nvSpPr>
        <p:spPr>
          <a:xfrm>
            <a:off x="6428231" y="4421515"/>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Kustomize templating</a:t>
            </a:r>
          </a:p>
        </p:txBody>
      </p:sp>
      <p:sp>
        <p:nvSpPr>
          <p:cNvPr id="54" name="TextBox 53"/>
          <p:cNvSpPr txBox="1"/>
          <p:nvPr/>
        </p:nvSpPr>
        <p:spPr>
          <a:xfrm>
            <a:off x="8721547" y="4421515"/>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None by design — structured edits only</a:t>
            </a:r>
          </a:p>
        </p:txBody>
      </p:sp>
      <p:sp>
        <p:nvSpPr>
          <p:cNvPr id="55" name="Rectangle 54"/>
          <p:cNvSpPr/>
          <p:nvPr/>
        </p:nvSpPr>
        <p:spPr>
          <a:xfrm>
            <a:off x="6263639" y="4874013"/>
            <a:ext cx="5212079" cy="534793"/>
          </a:xfrm>
          <a:prstGeom prst="rect">
            <a:avLst/>
          </a:prstGeom>
          <a:solidFill>
            <a:srgbClr val="F6F8FA"/>
          </a:solidFill>
          <a:ln w="9525">
            <a:solidFill>
              <a:srgbClr val="E2E8F0"/>
            </a:solidFill>
          </a:ln>
          <a:effectLst/>
        </p:spPr>
        <p:txBody>
          <a:bodyPr rtlCol="0" anchor="ctr" wrap="square"/>
          <a:lstStyle/>
          <a:p>
            <a:pPr algn="ctr"/>
          </a:p>
        </p:txBody>
      </p:sp>
      <p:sp>
        <p:nvSpPr>
          <p:cNvPr id="56" name="Rectangle 55"/>
          <p:cNvSpPr/>
          <p:nvPr/>
        </p:nvSpPr>
        <p:spPr>
          <a:xfrm>
            <a:off x="6263639" y="4874013"/>
            <a:ext cx="36576" cy="534793"/>
          </a:xfrm>
          <a:prstGeom prst="rect">
            <a:avLst/>
          </a:prstGeom>
          <a:solidFill>
            <a:srgbClr val="1F6FEB"/>
          </a:solidFill>
          <a:ln>
            <a:noFill/>
          </a:ln>
          <a:effectLst/>
        </p:spPr>
        <p:txBody>
          <a:bodyPr rtlCol="0" anchor="ctr" wrap="square"/>
          <a:lstStyle/>
          <a:p>
            <a:pPr algn="ctr"/>
          </a:p>
        </p:txBody>
      </p:sp>
      <p:sp>
        <p:nvSpPr>
          <p:cNvPr id="57" name="TextBox 56"/>
          <p:cNvSpPr txBox="1"/>
          <p:nvPr/>
        </p:nvSpPr>
        <p:spPr>
          <a:xfrm>
            <a:off x="6428231" y="4956309"/>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GitOps direction</a:t>
            </a:r>
          </a:p>
        </p:txBody>
      </p:sp>
      <p:sp>
        <p:nvSpPr>
          <p:cNvPr id="58" name="TextBox 57"/>
          <p:cNvSpPr txBox="1"/>
          <p:nvPr/>
        </p:nvSpPr>
        <p:spPr>
          <a:xfrm>
            <a:off x="8721547" y="4956309"/>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Pull, by a controller inside the cluster</a:t>
            </a:r>
          </a:p>
        </p:txBody>
      </p:sp>
      <p:sp>
        <p:nvSpPr>
          <p:cNvPr id="59" name="Rectangle 58"/>
          <p:cNvSpPr/>
          <p:nvPr/>
        </p:nvSpPr>
        <p:spPr>
          <a:xfrm>
            <a:off x="6263639" y="5408806"/>
            <a:ext cx="5212079" cy="534793"/>
          </a:xfrm>
          <a:prstGeom prst="rect">
            <a:avLst/>
          </a:prstGeom>
          <a:solidFill>
            <a:srgbClr val="FFFFFF"/>
          </a:solidFill>
          <a:ln w="9525">
            <a:solidFill>
              <a:srgbClr val="E2E8F0"/>
            </a:solidFill>
          </a:ln>
          <a:effectLst/>
        </p:spPr>
        <p:txBody>
          <a:bodyPr rtlCol="0" anchor="ctr" wrap="square"/>
          <a:lstStyle/>
          <a:p>
            <a:pPr algn="ctr"/>
          </a:p>
        </p:txBody>
      </p:sp>
      <p:sp>
        <p:nvSpPr>
          <p:cNvPr id="60" name="Rectangle 59"/>
          <p:cNvSpPr/>
          <p:nvPr/>
        </p:nvSpPr>
        <p:spPr>
          <a:xfrm>
            <a:off x="6263639" y="5408806"/>
            <a:ext cx="36576" cy="534793"/>
          </a:xfrm>
          <a:prstGeom prst="rect">
            <a:avLst/>
          </a:prstGeom>
          <a:solidFill>
            <a:srgbClr val="10B981"/>
          </a:solidFill>
          <a:ln>
            <a:noFill/>
          </a:ln>
          <a:effectLst/>
        </p:spPr>
        <p:txBody>
          <a:bodyPr rtlCol="0" anchor="ctr" wrap="square"/>
          <a:lstStyle/>
          <a:p>
            <a:pPr algn="ctr"/>
          </a:p>
        </p:txBody>
      </p:sp>
      <p:sp>
        <p:nvSpPr>
          <p:cNvPr id="61" name="TextBox 60"/>
          <p:cNvSpPr txBox="1"/>
          <p:nvPr/>
        </p:nvSpPr>
        <p:spPr>
          <a:xfrm>
            <a:off x="6428231" y="5491102"/>
            <a:ext cx="2189073" cy="370201"/>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Synced but Degraded</a:t>
            </a:r>
          </a:p>
        </p:txBody>
      </p:sp>
      <p:sp>
        <p:nvSpPr>
          <p:cNvPr id="62" name="TextBox 61"/>
          <p:cNvSpPr txBox="1"/>
          <p:nvPr/>
        </p:nvSpPr>
        <p:spPr>
          <a:xfrm>
            <a:off x="8721547" y="5491102"/>
            <a:ext cx="2710281" cy="370201"/>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Git applied faithfully; the manifest is wrong</a:t>
            </a:r>
          </a:p>
        </p:txBody>
      </p:sp>
      <p:sp>
        <p:nvSpPr>
          <p:cNvPr id="63" name="TextBox 6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64" name="TextBox 6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5" name="TextBox 6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6" name="TextBox 6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476</a:t>
            </a:r>
          </a:p>
        </p:txBody>
      </p:sp>
    </p:spTree>
  </p:cSld>
  <p:clrMapOvr>
    <a:masterClrMapping/>
  </p:clrMapOvr>
  <p:transition xmlns:ns1="http://schemas.openxmlformats.org/markup-compatibility/2006" spd="fast" ns1:Ignorable="p14">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TECHNIQUE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Distractors Built From Today's Material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Six statements that are plausible, common, and wrong.</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'RWO means one Pod'</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means one node. Two Pods co-scheduled on that node can both mount the volume.</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Pending PVC is broken'</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Under WaitForFirstConsumer with no consumer, Pending is the designed state. Read the event type.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'Deleting a StatefulSet frees the storage'</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Retention defaults to Retain, so the claims and the data remain.</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'Four etcd members are safer than three'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Both tolerate exactly one failure; four just adds another thing that can fail.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'helm template applies the chart'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renders to stdout. Nothing reaches the cluster until something applies the output.</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'GitOps is CI/CD with Git'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defining property is a controller pulling and reconciling continuously, not the use of Git.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477</a:t>
            </a:r>
          </a:p>
        </p:txBody>
      </p:sp>
    </p:spTree>
  </p:cSld>
  <p:clrMapOvr>
    <a:masterClrMapping/>
  </p:clrMapOvr>
  <p:transition xmlns:ns1="http://schemas.openxmlformats.org/markup-compatibility/2006" spd="fast" ns1:Ignorable="p14">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CONSOLIDATION</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Can Do at the End of Day 4</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registered topics closed, and the delivery domain covered end to end.</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Design and explain</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Choose a volume type from a stated durability requirement</a:t>
            </a:r>
          </a:p>
          <a:p>
            <a:pPr>
              <a:lnSpc>
                <a:spcPct val="112000"/>
              </a:lnSpc>
              <a:spcAft>
                <a:spcPts val="700"/>
              </a:spcAft>
            </a:pPr>
            <a:r>
              <a:rPr sz="1150">
                <a:solidFill>
                  <a:srgbClr val="94A3B8"/>
                </a:solidFill>
                <a:latin typeface="Arial"/>
              </a:rPr>
              <a:t>•  </a:t>
            </a:r>
            <a:r>
              <a:rPr sz="1150">
                <a:solidFill>
                  <a:srgbClr val="5B6372"/>
                </a:solidFill>
                <a:latin typeface="Arial"/>
              </a:rPr>
              <a:t>Write a PV, a PVC and a StorageClass and predict the binding</a:t>
            </a:r>
          </a:p>
          <a:p>
            <a:pPr>
              <a:lnSpc>
                <a:spcPct val="112000"/>
              </a:lnSpc>
              <a:spcAft>
                <a:spcPts val="700"/>
              </a:spcAft>
            </a:pPr>
            <a:r>
              <a:rPr sz="1150">
                <a:solidFill>
                  <a:srgbClr val="94A3B8"/>
                </a:solidFill>
                <a:latin typeface="Arial"/>
              </a:rPr>
              <a:t>•  </a:t>
            </a:r>
            <a:r>
              <a:rPr sz="1150">
                <a:solidFill>
                  <a:srgbClr val="5B6372"/>
                </a:solidFill>
                <a:latin typeface="Arial"/>
              </a:rPr>
              <a:t>Explain why a PVC is Pending from the event type alone</a:t>
            </a:r>
          </a:p>
          <a:p>
            <a:pPr>
              <a:lnSpc>
                <a:spcPct val="112000"/>
              </a:lnSpc>
              <a:spcAft>
                <a:spcPts val="700"/>
              </a:spcAft>
            </a:pPr>
            <a:r>
              <a:rPr sz="1150">
                <a:solidFill>
                  <a:srgbClr val="94A3B8"/>
                </a:solidFill>
                <a:latin typeface="Arial"/>
              </a:rPr>
              <a:t>•  </a:t>
            </a:r>
            <a:r>
              <a:rPr sz="1150">
                <a:solidFill>
                  <a:srgbClr val="5B6372"/>
                </a:solidFill>
                <a:latin typeface="Arial"/>
              </a:rPr>
              <a:t>Draw the CSI controller and node plugins with their sidecars</a:t>
            </a:r>
          </a:p>
          <a:p>
            <a:pPr>
              <a:lnSpc>
                <a:spcPct val="112000"/>
              </a:lnSpc>
              <a:spcAft>
                <a:spcPts val="700"/>
              </a:spcAft>
            </a:pPr>
            <a:r>
              <a:rPr sz="1150">
                <a:solidFill>
                  <a:srgbClr val="94A3B8"/>
                </a:solidFill>
                <a:latin typeface="Arial"/>
              </a:rPr>
              <a:t>•  </a:t>
            </a:r>
            <a:r>
              <a:rPr sz="1150">
                <a:solidFill>
                  <a:srgbClr val="5B6372"/>
                </a:solidFill>
                <a:latin typeface="Arial"/>
              </a:rPr>
              <a:t>Justify a stacked or external etcd topology</a:t>
            </a:r>
          </a:p>
          <a:p>
            <a:pPr>
              <a:lnSpc>
                <a:spcPct val="112000"/>
              </a:lnSpc>
              <a:spcAft>
                <a:spcPts val="700"/>
              </a:spcAft>
            </a:pPr>
            <a:r>
              <a:rPr sz="1150">
                <a:solidFill>
                  <a:srgbClr val="94A3B8"/>
                </a:solidFill>
                <a:latin typeface="Arial"/>
              </a:rPr>
              <a:t>•  </a:t>
            </a:r>
            <a:r>
              <a:rPr sz="1150">
                <a:solidFill>
                  <a:srgbClr val="5B6372"/>
                </a:solidFill>
                <a:latin typeface="Arial"/>
              </a:rPr>
              <a:t>Sequence a cluster upgrade from the version skew policy</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Evidence you produced</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a:solidFill>
                  <a:srgbClr val="5B6372"/>
                </a:solidFill>
                <a:latin typeface="Arial"/>
              </a:rPr>
              <a:t>A tmpfs-backed emptyDir sized exactly from its spec (Lab 17)</a:t>
            </a:r>
          </a:p>
          <a:p>
            <a:pPr>
              <a:lnSpc>
                <a:spcPct val="112000"/>
              </a:lnSpc>
              <a:spcAft>
                <a:spcPts val="700"/>
              </a:spcAft>
            </a:pPr>
            <a:r>
              <a:rPr sz="1150">
                <a:solidFill>
                  <a:srgbClr val="94A3B8"/>
                </a:solidFill>
                <a:latin typeface="Arial"/>
              </a:rPr>
              <a:t>•  </a:t>
            </a:r>
            <a:r>
              <a:rPr sz="1150">
                <a:solidFill>
                  <a:srgbClr val="5B6372"/>
                </a:solidFill>
                <a:latin typeface="Arial"/>
              </a:rPr>
              <a:t>A Retained volume whose data outlived its claim (Lab 18)</a:t>
            </a:r>
          </a:p>
          <a:p>
            <a:pPr>
              <a:lnSpc>
                <a:spcPct val="112000"/>
              </a:lnSpc>
              <a:spcAft>
                <a:spcPts val="700"/>
              </a:spcAft>
            </a:pPr>
            <a:r>
              <a:rPr sz="1150">
                <a:solidFill>
                  <a:srgbClr val="94A3B8"/>
                </a:solidFill>
                <a:latin typeface="Arial"/>
              </a:rPr>
              <a:t>•  </a:t>
            </a:r>
            <a:r>
              <a:rPr sz="1150">
                <a:solidFill>
                  <a:srgbClr val="5B6372"/>
                </a:solidFill>
                <a:latin typeface="Arial"/>
              </a:rPr>
              <a:t>Three ordinals, three claims, and a reattached volume (Lab 19)</a:t>
            </a:r>
          </a:p>
          <a:p>
            <a:pPr>
              <a:lnSpc>
                <a:spcPct val="112000"/>
              </a:lnSpc>
              <a:spcAft>
                <a:spcPts val="700"/>
              </a:spcAft>
            </a:pPr>
            <a:r>
              <a:rPr sz="1150">
                <a:solidFill>
                  <a:srgbClr val="94A3B8"/>
                </a:solidFill>
                <a:latin typeface="Arial"/>
              </a:rPr>
              <a:t>•  </a:t>
            </a:r>
            <a:r>
              <a:rPr sz="1150">
                <a:solidFill>
                  <a:srgbClr val="5B6372"/>
                </a:solidFill>
                <a:latin typeface="Arial"/>
              </a:rPr>
              <a:t>A verified etcd snapshot and a control-plane inventory (Lab 20)</a:t>
            </a:r>
          </a:p>
          <a:p>
            <a:pPr>
              <a:lnSpc>
                <a:spcPct val="112000"/>
              </a:lnSpc>
              <a:spcAft>
                <a:spcPts val="700"/>
              </a:spcAft>
            </a:pPr>
            <a:r>
              <a:rPr sz="1150">
                <a:solidFill>
                  <a:srgbClr val="94A3B8"/>
                </a:solidFill>
                <a:latin typeface="Arial"/>
              </a:rPr>
              <a:t>•  </a:t>
            </a:r>
            <a:r>
              <a:rPr sz="1150">
                <a:solidFill>
                  <a:srgbClr val="5B6372"/>
                </a:solidFill>
                <a:latin typeface="Arial"/>
              </a:rPr>
              <a:t>Two Helm renders and two Kustomize overlays that differ (Lab 21)</a:t>
            </a:r>
          </a:p>
          <a:p>
            <a:pPr>
              <a:lnSpc>
                <a:spcPct val="112000"/>
              </a:lnSpc>
              <a:spcAft>
                <a:spcPts val="700"/>
              </a:spcAft>
            </a:pPr>
            <a:r>
              <a:rPr sz="1150">
                <a:solidFill>
                  <a:srgbClr val="94A3B8"/>
                </a:solidFill>
                <a:latin typeface="Arial"/>
              </a:rPr>
              <a:t>•  </a:t>
            </a:r>
            <a:r>
              <a:rPr sz="1150">
                <a:solidFill>
                  <a:srgbClr val="5B6372"/>
                </a:solidFill>
                <a:latin typeface="Arial"/>
              </a:rPr>
              <a:t>A silently unpatched overlay you diagnosed by diffing</a:t>
            </a:r>
          </a:p>
        </p:txBody>
      </p:sp>
      <p:sp>
        <p:nvSpPr>
          <p:cNvPr id="15" name="TextBox 1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6" name="TextBox 1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7" name="TextBox 1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478</a:t>
            </a:r>
          </a:p>
        </p:txBody>
      </p:sp>
    </p:spTree>
  </p:cSld>
  <p:clrMapOvr>
    <a:masterClrMapping/>
  </p:clrMapOvr>
  <p:transition xmlns:ns1="http://schemas.openxmlformats.org/markup-compatibility/2006" spd="fast" ns1:Ignorable="p14">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TOMORROW</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Day 5 — Observability, Troubleshooting and Assessment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instructional session, then the two assessment instruments.</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Probes and self-healing</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liveness, readiness and startup probes, and what each one actually causes the kubelet to do.</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Events, logs and metrics</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Field selectors, the metrics-server pipeline, and why events expire long before you go looking for them.</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Prometheus and the exposition format</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Scraping, metric types and how the observability pipeline is assembled from CNCF components.</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Troubleshooting triage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repeatable order of investigation across application, node and control plane.</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Written Assessment</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Seven short-answer questions in 60 minutes, mapped to K1 to K7.</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Practical Performance</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Six tasks in 120 minutes; Task 4 and Task 5 draw directly on today's storage and delivery work.</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479</a:t>
            </a:r>
          </a:p>
        </p:txBody>
      </p:sp>
    </p:spTree>
  </p:cSld>
  <p:clrMapOvr>
    <a:masterClrMapping/>
  </p:clrMapOvr>
  <p:transition xmlns:ns1="http://schemas.openxmlformats.org/markup-compatibility/2006" spd="fast" ns1:Ignorable="p14">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07</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REGISTERED TOPIC 7</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Logging and Monitoring</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Signals, health, Events, logs and metrics — what the cluster tells you, in what order, and for how long it keeps telling you.</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480</a:t>
            </a:r>
          </a:p>
        </p:txBody>
      </p:sp>
    </p:spTree>
  </p:cSld>
  <p:clrMapOvr>
    <a:masterClrMapping/>
  </p:clrMapOvr>
  <p:transition xmlns:ns1="http://schemas.openxmlformats.org/markup-compatibility/2006" spd="med" ns1:Ignorable="p14">
    <p:push dir="l"/>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DAY 5 · OUTCOMES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Today Has To Leave You Able To Do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LO6 · A6 · K7 — monitor the system, then troubleshoot it.</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Name the signal, then reach for it</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Metrics, logs, traces and Events answer different questions. Choosing wrongly is the most expensive minute of an incident.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Read a probe stanza as a time budget</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initialDelaySeconds + periodSeconds x failureThreshold is a number of seconds. Compare it against the application's real start time.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Query Events as API objects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--sort-by=.lastTimestamp and --field-selector, plus the fields that are not selectable and the one-hour default TTL.</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Explain the metrics pipeline end to end</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Instrument, expose, scrape, store, query, alert. Know where metrics-server stops and where Prometheus starts.</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Work a triage tree, not a hunch</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Scheduled? pulled? started? Ready? endpoints? Stop at the first NO — that is the phase. Cause comes second.</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Place a project in the CNCF ecosystem</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Sandbox, incubating, graduated — and which widely used tools are not CNCF projects at all.</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481</a:t>
            </a:r>
          </a:p>
        </p:txBody>
      </p:sp>
    </p:spTree>
  </p:cSld>
  <p:clrMapOvr>
    <a:masterClrMapping/>
  </p:clrMapOvr>
  <p:transition xmlns:ns1="http://schemas.openxmlformats.org/markup-compatibility/2006" spd="fast" ns1:Ignorable="p14">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Signals — And The Question Each One Answers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established signals plus one emerging — and they are not interchangeable.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Metrics — 'how much, how often?'</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Numeric samples over time, cheap to store, aggregatable. Good at trend and threshold. Cannot tell you what happened to one request.</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Logs — 'what exactly happened?'</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Discrete, timestamped records with arbitrary detail. Expensive per byte. Good at the specific case, poor at the aggregate.</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Traces — 'where did the time go?'</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causally linked tree of spans across services. The only signal that shows latency attribution in a distributed call path.</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Events — 'what did the platform decide?'</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own record of controller and kubelet decisions. Short lived, aggregated, namespaced — a signal source, not an audit log.</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Profiles — the emerging signal</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Continuous CPU/heap profiling correlated with the other signals. Answers 'which function burned the CPU', not just 'CPU was high'.</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Correlation is the real product</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One shared set of labels (service, namespace, pod, trace id) across all signals is what turns four data sets into one investigation.</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OpenTelemetry documentation, What is OpenTelemetry and the Collector: opentelemetry.io/docs/what-is-opentelemetry/ ; opentelemetry.io/docs/collector/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482</a:t>
            </a:r>
          </a:p>
        </p:txBody>
      </p:sp>
    </p:spTree>
  </p:cSld>
  <p:clrMapOvr>
    <a:masterClrMapping/>
  </p:clrMapOvr>
  <p:transition xmlns:ns1="http://schemas.openxmlformats.org/markup-compatibility/2006" spd="fast" ns1:Ignorable="p14">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Monitoring vs Observability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Not competing products — one is a practice, the other is a property of the system.</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Dimension</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Monitoring</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Observability</a:t>
            </a:r>
          </a:p>
        </p:txBody>
      </p:sp>
      <p:sp>
        <p:nvSpPr>
          <p:cNvPr id="13" name="Rectangle 12"/>
          <p:cNvSpPr/>
          <p:nvPr/>
        </p:nvSpPr>
        <p:spPr>
          <a:xfrm>
            <a:off x="77724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Question shape</a:t>
            </a:r>
          </a:p>
        </p:txBody>
      </p:sp>
      <p:sp>
        <p:nvSpPr>
          <p:cNvPr id="15" name="Rectangle 14"/>
          <p:cNvSpPr/>
          <p:nvPr/>
        </p:nvSpPr>
        <p:spPr>
          <a:xfrm>
            <a:off x="434340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Known-unknowns: you predicted the failure and built a check for it</a:t>
            </a:r>
          </a:p>
        </p:txBody>
      </p:sp>
      <p:sp>
        <p:nvSpPr>
          <p:cNvPr id="17" name="Rectangle 16"/>
          <p:cNvSpPr/>
          <p:nvPr/>
        </p:nvSpPr>
        <p:spPr>
          <a:xfrm>
            <a:off x="7909560" y="2620670"/>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Unknown-unknowns: you must ask a question nobody anticipated</a:t>
            </a:r>
          </a:p>
        </p:txBody>
      </p:sp>
      <p:sp>
        <p:nvSpPr>
          <p:cNvPr id="19" name="Rectangle 18"/>
          <p:cNvSpPr/>
          <p:nvPr/>
        </p:nvSpPr>
        <p:spPr>
          <a:xfrm>
            <a:off x="77724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254166"/>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Built from</a:t>
            </a:r>
          </a:p>
        </p:txBody>
      </p:sp>
      <p:sp>
        <p:nvSpPr>
          <p:cNvPr id="21" name="Rectangle 20"/>
          <p:cNvSpPr/>
          <p:nvPr/>
        </p:nvSpPr>
        <p:spPr>
          <a:xfrm>
            <a:off x="434340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Dashboards and alerts on a fixed set of series</a:t>
            </a:r>
          </a:p>
        </p:txBody>
      </p:sp>
      <p:sp>
        <p:nvSpPr>
          <p:cNvPr id="23" name="Rectangle 22"/>
          <p:cNvSpPr/>
          <p:nvPr/>
        </p:nvSpPr>
        <p:spPr>
          <a:xfrm>
            <a:off x="7909560" y="3171870"/>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254166"/>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High-cardinality, high-dimension telemetry you can slice at query time</a:t>
            </a:r>
          </a:p>
        </p:txBody>
      </p:sp>
      <p:sp>
        <p:nvSpPr>
          <p:cNvPr id="25" name="Rectangle 24"/>
          <p:cNvSpPr/>
          <p:nvPr/>
        </p:nvSpPr>
        <p:spPr>
          <a:xfrm>
            <a:off x="77724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8053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Typical artefact</a:t>
            </a:r>
          </a:p>
        </p:txBody>
      </p:sp>
      <p:sp>
        <p:nvSpPr>
          <p:cNvPr id="27" name="Rectangle 26"/>
          <p:cNvSpPr/>
          <p:nvPr/>
        </p:nvSpPr>
        <p:spPr>
          <a:xfrm>
            <a:off x="434340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'CPU &gt; 80% for 5 minutes' alert rule</a:t>
            </a:r>
          </a:p>
        </p:txBody>
      </p:sp>
      <p:sp>
        <p:nvSpPr>
          <p:cNvPr id="29" name="Rectangle 28"/>
          <p:cNvSpPr/>
          <p:nvPr/>
        </p:nvSpPr>
        <p:spPr>
          <a:xfrm>
            <a:off x="7909560" y="37230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8053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'Which tenant, on which build, in which zone, is slow?'</a:t>
            </a:r>
          </a:p>
        </p:txBody>
      </p:sp>
      <p:sp>
        <p:nvSpPr>
          <p:cNvPr id="31" name="Rectangle 30"/>
          <p:cNvSpPr/>
          <p:nvPr/>
        </p:nvSpPr>
        <p:spPr>
          <a:xfrm>
            <a:off x="77724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3565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Fails when</a:t>
            </a:r>
          </a:p>
        </p:txBody>
      </p:sp>
      <p:sp>
        <p:nvSpPr>
          <p:cNvPr id="33" name="Rectangle 32"/>
          <p:cNvSpPr/>
          <p:nvPr/>
        </p:nvSpPr>
        <p:spPr>
          <a:xfrm>
            <a:off x="434340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outage is a shape you did not predict</a:t>
            </a:r>
          </a:p>
        </p:txBody>
      </p:sp>
      <p:sp>
        <p:nvSpPr>
          <p:cNvPr id="35" name="Rectangle 34"/>
          <p:cNvSpPr/>
          <p:nvPr/>
        </p:nvSpPr>
        <p:spPr>
          <a:xfrm>
            <a:off x="7909560" y="4274271"/>
            <a:ext cx="3566160" cy="551200"/>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3565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Cardinality and cost are not controlled</a:t>
            </a:r>
          </a:p>
        </p:txBody>
      </p:sp>
      <p:sp>
        <p:nvSpPr>
          <p:cNvPr id="37" name="Rectangle 36"/>
          <p:cNvSpPr/>
          <p:nvPr/>
        </p:nvSpPr>
        <p:spPr>
          <a:xfrm>
            <a:off x="77724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907767"/>
            <a:ext cx="3310128"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Relationship</a:t>
            </a:r>
          </a:p>
        </p:txBody>
      </p:sp>
      <p:sp>
        <p:nvSpPr>
          <p:cNvPr id="39" name="Rectangle 38"/>
          <p:cNvSpPr/>
          <p:nvPr/>
        </p:nvSpPr>
        <p:spPr>
          <a:xfrm>
            <a:off x="434340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subset — every monitored signal is telemetry</a:t>
            </a:r>
          </a:p>
        </p:txBody>
      </p:sp>
      <p:sp>
        <p:nvSpPr>
          <p:cNvPr id="41" name="Rectangle 40"/>
          <p:cNvSpPr/>
          <p:nvPr/>
        </p:nvSpPr>
        <p:spPr>
          <a:xfrm>
            <a:off x="7909560" y="4825471"/>
            <a:ext cx="3566160" cy="551200"/>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907767"/>
            <a:ext cx="3310128"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property of the system, not a product you can buy</a:t>
            </a:r>
          </a:p>
        </p:txBody>
      </p:sp>
      <p:sp>
        <p:nvSpPr>
          <p:cNvPr id="43" name="Rectangle 42"/>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44" name="Rectangle 43"/>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46" name="TextBox 45"/>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Monitor the handful of symptoms users feel; instrument richly enough that you can still investigate the outage you did not predict.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483</a:t>
            </a:r>
          </a:p>
        </p:txBody>
      </p:sp>
    </p:spTree>
  </p:cSld>
  <p:clrMapOvr>
    <a:masterClrMapping/>
  </p:clrMapOvr>
  <p:transition xmlns:ns1="http://schemas.openxmlformats.org/markup-compatibility/2006" spd="fast" ns1:Ignorable="p14">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Signals, One Incident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Meridian Freight INC-4417, read through each signal in turn.</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Metrics told you it broke</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Error ratio for the dispatch endpoint crossed 5%</a:t>
            </a:r>
          </a:p>
          <a:p>
            <a:pPr>
              <a:lnSpc>
                <a:spcPct val="112000"/>
              </a:lnSpc>
              <a:spcAft>
                <a:spcPts val="500"/>
              </a:spcAft>
            </a:pPr>
            <a:r>
              <a:rPr sz="1100">
                <a:solidFill>
                  <a:srgbClr val="94A3B8"/>
                </a:solidFill>
                <a:latin typeface="Arial"/>
              </a:rPr>
              <a:t>•  </a:t>
            </a:r>
            <a:r>
              <a:rPr sz="1100">
                <a:solidFill>
                  <a:srgbClr val="5B6372"/>
                </a:solidFill>
                <a:latin typeface="Arial"/>
              </a:rPr>
              <a:t>sum(rate(...{status="502"}[2m])) / sum(rate(...[2m]))</a:t>
            </a:r>
          </a:p>
          <a:p>
            <a:pPr>
              <a:lnSpc>
                <a:spcPct val="112000"/>
              </a:lnSpc>
              <a:spcAft>
                <a:spcPts val="500"/>
              </a:spcAft>
            </a:pPr>
            <a:r>
              <a:rPr sz="1100">
                <a:solidFill>
                  <a:srgbClr val="94A3B8"/>
                </a:solidFill>
                <a:latin typeface="Arial"/>
              </a:rPr>
              <a:t>•  </a:t>
            </a:r>
            <a:r>
              <a:rPr sz="1100">
                <a:solidFill>
                  <a:srgbClr val="5B6372"/>
                </a:solidFill>
                <a:latin typeface="Arial"/>
              </a:rPr>
              <a:t>Cheap enough to keep at 10s resolution for months</a:t>
            </a:r>
          </a:p>
          <a:p>
            <a:pPr>
              <a:lnSpc>
                <a:spcPct val="112000"/>
              </a:lnSpc>
              <a:spcAft>
                <a:spcPts val="500"/>
              </a:spcAft>
            </a:pPr>
            <a:r>
              <a:rPr sz="1100">
                <a:solidFill>
                  <a:srgbClr val="94A3B8"/>
                </a:solidFill>
                <a:latin typeface="Arial"/>
              </a:rPr>
              <a:t>•  </a:t>
            </a:r>
            <a:r>
              <a:rPr sz="1100">
                <a:solidFill>
                  <a:srgbClr val="5B6372"/>
                </a:solidFill>
                <a:latin typeface="Arial"/>
              </a:rPr>
              <a:t>Tells you WHEN and HOW BAD — never WHY</a:t>
            </a:r>
          </a:p>
        </p:txBody>
      </p:sp>
      <p:sp>
        <p:nvSpPr>
          <p:cNvPr id="11" name="Rounded Rectangle 10"/>
          <p:cNvSpPr/>
          <p:nvPr/>
        </p:nvSpPr>
        <p:spPr>
          <a:xfrm>
            <a:off x="1033271" y="5532120"/>
            <a:ext cx="66294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symptom</a:t>
            </a:r>
          </a:p>
        </p:txBody>
      </p:sp>
      <p:sp>
        <p:nvSpPr>
          <p:cNvPr id="12" name="Rounded Rectangle 11"/>
          <p:cNvSpPr/>
          <p:nvPr/>
        </p:nvSpPr>
        <p:spPr>
          <a:xfrm>
            <a:off x="1787652" y="5532120"/>
            <a:ext cx="5257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alert</a:t>
            </a:r>
          </a:p>
        </p:txBody>
      </p:sp>
      <p:sp>
        <p:nvSpPr>
          <p:cNvPr id="13" name="Rounded Rectangle 12"/>
          <p:cNvSpPr/>
          <p:nvPr/>
        </p:nvSpPr>
        <p:spPr>
          <a:xfrm>
            <a:off x="2404872" y="5532120"/>
            <a:ext cx="5257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trend</a:t>
            </a:r>
          </a:p>
        </p:txBody>
      </p:sp>
      <p:sp>
        <p:nvSpPr>
          <p:cNvPr id="14" name="Rectangle 13"/>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Traces told you where</a:t>
            </a:r>
          </a:p>
        </p:txBody>
      </p:sp>
      <p:sp>
        <p:nvSpPr>
          <p:cNvPr id="17" name="TextBox 16"/>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dispatch span spends 3.0s waiting on manifest-indexer</a:t>
            </a:r>
          </a:p>
          <a:p>
            <a:pPr>
              <a:lnSpc>
                <a:spcPct val="112000"/>
              </a:lnSpc>
              <a:spcAft>
                <a:spcPts val="500"/>
              </a:spcAft>
            </a:pPr>
            <a:r>
              <a:rPr sz="1100">
                <a:solidFill>
                  <a:srgbClr val="94A3B8"/>
                </a:solidFill>
                <a:latin typeface="Arial"/>
              </a:rPr>
              <a:t>•  </a:t>
            </a:r>
            <a:r>
              <a:rPr sz="1100">
                <a:solidFill>
                  <a:srgbClr val="5B6372"/>
                </a:solidFill>
                <a:latin typeface="Arial"/>
              </a:rPr>
              <a:t>Parent/child spans carry one trace id across services</a:t>
            </a:r>
          </a:p>
          <a:p>
            <a:pPr>
              <a:lnSpc>
                <a:spcPct val="112000"/>
              </a:lnSpc>
              <a:spcAft>
                <a:spcPts val="500"/>
              </a:spcAft>
            </a:pPr>
            <a:r>
              <a:rPr sz="1100">
                <a:solidFill>
                  <a:srgbClr val="94A3B8"/>
                </a:solidFill>
                <a:latin typeface="Arial"/>
              </a:rPr>
              <a:t>•  </a:t>
            </a:r>
            <a:r>
              <a:rPr sz="1100">
                <a:solidFill>
                  <a:srgbClr val="5B6372"/>
                </a:solidFill>
                <a:latin typeface="Arial"/>
              </a:rPr>
              <a:t>Sampling means you may not have the exact bad request</a:t>
            </a:r>
          </a:p>
          <a:p>
            <a:pPr>
              <a:lnSpc>
                <a:spcPct val="112000"/>
              </a:lnSpc>
              <a:spcAft>
                <a:spcPts val="500"/>
              </a:spcAft>
            </a:pPr>
            <a:r>
              <a:rPr sz="1100">
                <a:solidFill>
                  <a:srgbClr val="94A3B8"/>
                </a:solidFill>
                <a:latin typeface="Arial"/>
              </a:rPr>
              <a:t>•  </a:t>
            </a:r>
            <a:r>
              <a:rPr sz="1100">
                <a:solidFill>
                  <a:srgbClr val="5B6372"/>
                </a:solidFill>
                <a:latin typeface="Arial"/>
              </a:rPr>
              <a:t>Tells you WHICH HOP — rarely the line of code</a:t>
            </a:r>
          </a:p>
        </p:txBody>
      </p:sp>
      <p:sp>
        <p:nvSpPr>
          <p:cNvPr id="18" name="Rounded Rectangle 17"/>
          <p:cNvSpPr/>
          <p:nvPr/>
        </p:nvSpPr>
        <p:spPr>
          <a:xfrm>
            <a:off x="4739335" y="5532120"/>
            <a:ext cx="66294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latency</a:t>
            </a:r>
          </a:p>
        </p:txBody>
      </p:sp>
      <p:sp>
        <p:nvSpPr>
          <p:cNvPr id="19" name="Rounded Rectangle 18"/>
          <p:cNvSpPr/>
          <p:nvPr/>
        </p:nvSpPr>
        <p:spPr>
          <a:xfrm>
            <a:off x="5493715" y="5532120"/>
            <a:ext cx="937259"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attribution</a:t>
            </a:r>
          </a:p>
        </p:txBody>
      </p:sp>
      <p:sp>
        <p:nvSpPr>
          <p:cNvPr id="20" name="Rectangle 19"/>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21" name="Rectangle 20"/>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2" name="TextBox 21"/>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Logs told you why</a:t>
            </a:r>
          </a:p>
        </p:txBody>
      </p:sp>
      <p:sp>
        <p:nvSpPr>
          <p:cNvPr id="23" name="TextBox 22"/>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ERROR ... upstream=manifest-indexer error=upstream_timeout</a:t>
            </a:r>
          </a:p>
          <a:p>
            <a:pPr>
              <a:lnSpc>
                <a:spcPct val="112000"/>
              </a:lnSpc>
              <a:spcAft>
                <a:spcPts val="500"/>
              </a:spcAft>
            </a:pPr>
            <a:r>
              <a:rPr sz="1100">
                <a:solidFill>
                  <a:srgbClr val="94A3B8"/>
                </a:solidFill>
                <a:latin typeface="Arial"/>
              </a:rPr>
              <a:t>•  </a:t>
            </a:r>
            <a:r>
              <a:rPr sz="1100">
                <a:solidFill>
                  <a:srgbClr val="5B6372"/>
                </a:solidFill>
                <a:latin typeface="Arial"/>
              </a:rPr>
              <a:t>Full detail for one request id, at the highest cost per byte</a:t>
            </a:r>
          </a:p>
          <a:p>
            <a:pPr>
              <a:lnSpc>
                <a:spcPct val="112000"/>
              </a:lnSpc>
              <a:spcAft>
                <a:spcPts val="500"/>
              </a:spcAft>
            </a:pPr>
            <a:r>
              <a:rPr sz="1100">
                <a:solidFill>
                  <a:srgbClr val="94A3B8"/>
                </a:solidFill>
                <a:latin typeface="Arial"/>
              </a:rPr>
              <a:t>•  </a:t>
            </a:r>
            <a:r>
              <a:rPr sz="1100">
                <a:solidFill>
                  <a:srgbClr val="5B6372"/>
                </a:solidFill>
                <a:latin typeface="Arial"/>
              </a:rPr>
              <a:t>Only stdout/stderr is captured by the cluster</a:t>
            </a:r>
          </a:p>
          <a:p>
            <a:pPr>
              <a:lnSpc>
                <a:spcPct val="112000"/>
              </a:lnSpc>
              <a:spcAft>
                <a:spcPts val="500"/>
              </a:spcAft>
            </a:pPr>
            <a:r>
              <a:rPr sz="1100">
                <a:solidFill>
                  <a:srgbClr val="94A3B8"/>
                </a:solidFill>
                <a:latin typeface="Arial"/>
              </a:rPr>
              <a:t>•  </a:t>
            </a:r>
            <a:r>
              <a:rPr sz="1100">
                <a:solidFill>
                  <a:srgbClr val="5B6372"/>
                </a:solidFill>
                <a:latin typeface="Arial"/>
              </a:rPr>
              <a:t>Tells you WHAT the process actually did</a:t>
            </a:r>
          </a:p>
        </p:txBody>
      </p:sp>
      <p:sp>
        <p:nvSpPr>
          <p:cNvPr id="24" name="Rounded Rectangle 23"/>
          <p:cNvSpPr/>
          <p:nvPr/>
        </p:nvSpPr>
        <p:spPr>
          <a:xfrm>
            <a:off x="8445398" y="5532120"/>
            <a:ext cx="594359"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detail</a:t>
            </a:r>
          </a:p>
        </p:txBody>
      </p:sp>
      <p:sp>
        <p:nvSpPr>
          <p:cNvPr id="25" name="Rounded Rectangle 24"/>
          <p:cNvSpPr/>
          <p:nvPr/>
        </p:nvSpPr>
        <p:spPr>
          <a:xfrm>
            <a:off x="9131198" y="5532120"/>
            <a:ext cx="73152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evidence</a:t>
            </a:r>
          </a:p>
        </p:txBody>
      </p:sp>
      <p:sp>
        <p:nvSpPr>
          <p:cNvPr id="26" name="TextBox 25"/>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7" name="TextBox 2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8" name="TextBox 2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9" name="TextBox 2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484</a:t>
            </a:r>
          </a:p>
        </p:txBody>
      </p:sp>
    </p:spTree>
  </p:cSld>
  <p:clrMapOvr>
    <a:masterClrMapping/>
  </p:clrMapOvr>
  <p:transition xmlns:ns1="http://schemas.openxmlformats.org/markup-compatibility/2006" spd="fast" ns1:Ignorable="p14">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Which Signal Do You Reach For First?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cost of the wrong first move is measured in SLA minutes.</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 you already know WHICH request or object is affected?</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go narrow</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Logs for that Pod, with --previous if it restarted</a:t>
            </a:r>
          </a:p>
          <a:p>
            <a:pPr>
              <a:lnSpc>
                <a:spcPct val="112000"/>
              </a:lnSpc>
              <a:spcAft>
                <a:spcPts val="500"/>
              </a:spcAft>
            </a:pPr>
            <a:r>
              <a:rPr sz="1100">
                <a:solidFill>
                  <a:srgbClr val="94A3B8"/>
                </a:solidFill>
                <a:latin typeface="Arial"/>
              </a:rPr>
              <a:t>•  </a:t>
            </a:r>
            <a:r>
              <a:rPr sz="1100">
                <a:solidFill>
                  <a:srgbClr val="5B6372"/>
                </a:solidFill>
                <a:latin typeface="Arial"/>
              </a:rPr>
              <a:t>Events scoped with --field-selector involvedObject.name=...</a:t>
            </a:r>
          </a:p>
          <a:p>
            <a:pPr>
              <a:lnSpc>
                <a:spcPct val="112000"/>
              </a:lnSpc>
              <a:spcAft>
                <a:spcPts val="500"/>
              </a:spcAft>
            </a:pPr>
            <a:r>
              <a:rPr sz="1100">
                <a:solidFill>
                  <a:srgbClr val="94A3B8"/>
                </a:solidFill>
                <a:latin typeface="Arial"/>
              </a:rPr>
              <a:t>•  </a:t>
            </a:r>
            <a:r>
              <a:rPr sz="1100">
                <a:solidFill>
                  <a:srgbClr val="5B6372"/>
                </a:solidFill>
                <a:latin typeface="Arial"/>
              </a:rPr>
              <a:t>The trace for that request id, if tracing is instrumented</a:t>
            </a:r>
          </a:p>
          <a:p>
            <a:pPr>
              <a:lnSpc>
                <a:spcPct val="112000"/>
              </a:lnSpc>
              <a:spcAft>
                <a:spcPts val="500"/>
              </a:spcAft>
            </a:pPr>
            <a:r>
              <a:rPr sz="1100">
                <a:solidFill>
                  <a:srgbClr val="94A3B8"/>
                </a:solidFill>
                <a:latin typeface="Arial"/>
              </a:rPr>
              <a:t>•  </a:t>
            </a:r>
            <a:r>
              <a:rPr sz="1100">
                <a:solidFill>
                  <a:srgbClr val="5B6372"/>
                </a:solidFill>
                <a:latin typeface="Arial"/>
              </a:rPr>
              <a:t>You are confirming a hypothesis, not searching</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go wide first</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Metrics: which service, which status code, since when</a:t>
            </a:r>
          </a:p>
          <a:p>
            <a:pPr>
              <a:lnSpc>
                <a:spcPct val="112000"/>
              </a:lnSpc>
              <a:spcAft>
                <a:spcPts val="500"/>
              </a:spcAft>
            </a:pPr>
            <a:r>
              <a:rPr sz="1100">
                <a:solidFill>
                  <a:srgbClr val="94A3B8"/>
                </a:solidFill>
                <a:latin typeface="Arial"/>
              </a:rPr>
              <a:t>•  </a:t>
            </a:r>
            <a:r>
              <a:rPr sz="1100">
                <a:solidFill>
                  <a:srgbClr val="5B6372"/>
                </a:solidFill>
                <a:latin typeface="Arial"/>
              </a:rPr>
              <a:t>Aggregate rate() ratios, never absolute counts</a:t>
            </a:r>
          </a:p>
          <a:p>
            <a:pPr>
              <a:lnSpc>
                <a:spcPct val="112000"/>
              </a:lnSpc>
              <a:spcAft>
                <a:spcPts val="500"/>
              </a:spcAft>
            </a:pPr>
            <a:r>
              <a:rPr sz="1100">
                <a:solidFill>
                  <a:srgbClr val="94A3B8"/>
                </a:solidFill>
                <a:latin typeface="Arial"/>
              </a:rPr>
              <a:t>•  </a:t>
            </a:r>
            <a:r>
              <a:rPr sz="1100">
                <a:solidFill>
                  <a:srgbClr val="5B6372"/>
                </a:solidFill>
                <a:latin typeface="Arial"/>
              </a:rPr>
              <a:t>Narrow to one object, THEN switch to logs and Events</a:t>
            </a:r>
          </a:p>
          <a:p>
            <a:pPr>
              <a:lnSpc>
                <a:spcPct val="112000"/>
              </a:lnSpc>
              <a:spcAft>
                <a:spcPts val="500"/>
              </a:spcAft>
            </a:pPr>
            <a:r>
              <a:rPr sz="1100">
                <a:solidFill>
                  <a:srgbClr val="94A3B8"/>
                </a:solidFill>
                <a:latin typeface="Arial"/>
              </a:rPr>
              <a:t>•  </a:t>
            </a:r>
            <a:r>
              <a:rPr sz="1100">
                <a:solidFill>
                  <a:srgbClr val="5B6372"/>
                </a:solidFill>
                <a:latin typeface="Arial"/>
              </a:rPr>
              <a:t>Searching logs cluster-wide first is the classic time sink</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485</a:t>
            </a:r>
          </a:p>
        </p:txBody>
      </p:sp>
    </p:spTree>
  </p:cSld>
  <p:clrMapOvr>
    <a:masterClrMapping/>
  </p:clrMapOvr>
  <p:transition xmlns:ns3="http://schemas.openxmlformats.org/markup-compatibility/2006" spd="fast" ns3:Ignorable="p14">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Four Golden Signals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Google SRE: if you can only measure four things about a user-facing system, measure these.</a:t>
            </a:r>
          </a:p>
        </p:txBody>
      </p:sp>
      <p:sp>
        <p:nvSpPr>
          <p:cNvPr id="7" name="Rectangle 6"/>
          <p:cNvSpPr/>
          <p:nvPr/>
        </p:nvSpPr>
        <p:spPr>
          <a:xfrm>
            <a:off x="777240" y="2200046"/>
            <a:ext cx="5276088"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Latency</a:t>
            </a:r>
          </a:p>
        </p:txBody>
      </p:sp>
      <p:sp>
        <p:nvSpPr>
          <p:cNvPr id="11" name="TextBox 10"/>
          <p:cNvSpPr txBox="1"/>
          <p:nvPr/>
        </p:nvSpPr>
        <p:spPr>
          <a:xfrm>
            <a:off x="1399032" y="2657246"/>
            <a:ext cx="4453127"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Time to serve a request. Split successful from failed latency — a fast 500 will otherwise flatter your average.</a:t>
            </a:r>
          </a:p>
        </p:txBody>
      </p:sp>
      <p:sp>
        <p:nvSpPr>
          <p:cNvPr id="12" name="Rectangle 11"/>
          <p:cNvSpPr/>
          <p:nvPr/>
        </p:nvSpPr>
        <p:spPr>
          <a:xfrm>
            <a:off x="6199631" y="2200046"/>
            <a:ext cx="5276088"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Traffic</a:t>
            </a:r>
          </a:p>
        </p:txBody>
      </p:sp>
      <p:sp>
        <p:nvSpPr>
          <p:cNvPr id="16" name="TextBox 15"/>
          <p:cNvSpPr txBox="1"/>
          <p:nvPr/>
        </p:nvSpPr>
        <p:spPr>
          <a:xfrm>
            <a:off x="6821423" y="2657246"/>
            <a:ext cx="4453127"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Demand on the system in its own units: HTTP requests per second, sessions, messages consumed.</a:t>
            </a:r>
          </a:p>
        </p:txBody>
      </p:sp>
      <p:sp>
        <p:nvSpPr>
          <p:cNvPr id="17" name="Rectangle 16"/>
          <p:cNvSpPr/>
          <p:nvPr/>
        </p:nvSpPr>
        <p:spPr>
          <a:xfrm>
            <a:off x="777240" y="3516782"/>
            <a:ext cx="5276088"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6782"/>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7406"/>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72230"/>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Errors</a:t>
            </a:r>
          </a:p>
        </p:txBody>
      </p:sp>
      <p:sp>
        <p:nvSpPr>
          <p:cNvPr id="21" name="TextBox 20"/>
          <p:cNvSpPr txBox="1"/>
          <p:nvPr/>
        </p:nvSpPr>
        <p:spPr>
          <a:xfrm>
            <a:off x="1399032" y="3973982"/>
            <a:ext cx="4453127"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Rate of failed requests. Explicit (500), implicit (200 with wrong content) and policy (over the latency budget).</a:t>
            </a:r>
          </a:p>
        </p:txBody>
      </p:sp>
      <p:sp>
        <p:nvSpPr>
          <p:cNvPr id="22" name="Rectangle 21"/>
          <p:cNvSpPr/>
          <p:nvPr/>
        </p:nvSpPr>
        <p:spPr>
          <a:xfrm>
            <a:off x="6199631" y="3516782"/>
            <a:ext cx="5276088"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72230"/>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Saturation</a:t>
            </a:r>
          </a:p>
        </p:txBody>
      </p:sp>
      <p:sp>
        <p:nvSpPr>
          <p:cNvPr id="26" name="TextBox 25"/>
          <p:cNvSpPr txBox="1"/>
          <p:nvPr/>
        </p:nvSpPr>
        <p:spPr>
          <a:xfrm>
            <a:off x="6821423" y="3973982"/>
            <a:ext cx="4453127"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How full the most constrained resource is. The leading indicator — it degrades before latency or errors move.</a:t>
            </a:r>
          </a:p>
        </p:txBody>
      </p:sp>
      <p:sp>
        <p:nvSpPr>
          <p:cNvPr id="27" name="TextBox 2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486</a:t>
            </a:r>
          </a:p>
        </p:txBody>
      </p:sp>
    </p:spTree>
  </p:cSld>
  <p:clrMapOvr>
    <a:masterClrMapping/>
  </p:clrMapOvr>
  <p:transition xmlns:ns1="http://schemas.openxmlformats.org/markup-compatibility/2006" spd="fast" ns1:Ignorable="p14">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OBSERVABILITY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RED and USE — Two Instrumentation Recipes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checklists that make instrumentation a decision, not an afterthought.</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RED</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USE</a:t>
            </a:r>
          </a:p>
        </p:txBody>
      </p:sp>
      <p:sp>
        <p:nvSpPr>
          <p:cNvPr id="13" name="Rectangle 12"/>
          <p:cNvSpPr/>
          <p:nvPr/>
        </p:nvSpPr>
        <p:spPr>
          <a:xfrm>
            <a:off x="77724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Applies to</a:t>
            </a:r>
          </a:p>
        </p:txBody>
      </p:sp>
      <p:sp>
        <p:nvSpPr>
          <p:cNvPr id="15" name="Rectangle 14"/>
          <p:cNvSpPr/>
          <p:nvPr/>
        </p:nvSpPr>
        <p:spPr>
          <a:xfrm>
            <a:off x="434340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Request-driven services (your application)</a:t>
            </a:r>
          </a:p>
        </p:txBody>
      </p:sp>
      <p:sp>
        <p:nvSpPr>
          <p:cNvPr id="17" name="Rectangle 16"/>
          <p:cNvSpPr/>
          <p:nvPr/>
        </p:nvSpPr>
        <p:spPr>
          <a:xfrm>
            <a:off x="790956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Resources (CPU, memory, disk, network, queues)</a:t>
            </a:r>
          </a:p>
        </p:txBody>
      </p:sp>
      <p:sp>
        <p:nvSpPr>
          <p:cNvPr id="19" name="Rectangle 18"/>
          <p:cNvSpPr/>
          <p:nvPr/>
        </p:nvSpPr>
        <p:spPr>
          <a:xfrm>
            <a:off x="77724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 / U</a:t>
            </a:r>
          </a:p>
        </p:txBody>
      </p:sp>
      <p:sp>
        <p:nvSpPr>
          <p:cNvPr id="21" name="Rectangle 20"/>
          <p:cNvSpPr/>
          <p:nvPr/>
        </p:nvSpPr>
        <p:spPr>
          <a:xfrm>
            <a:off x="434340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Rate — requests per second</a:t>
            </a:r>
          </a:p>
        </p:txBody>
      </p:sp>
      <p:sp>
        <p:nvSpPr>
          <p:cNvPr id="23" name="Rectangle 22"/>
          <p:cNvSpPr/>
          <p:nvPr/>
        </p:nvSpPr>
        <p:spPr>
          <a:xfrm>
            <a:off x="790956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Utilisation — % time the resource was busy</a:t>
            </a:r>
          </a:p>
        </p:txBody>
      </p:sp>
      <p:sp>
        <p:nvSpPr>
          <p:cNvPr id="25" name="Rectangle 24"/>
          <p:cNvSpPr/>
          <p:nvPr/>
        </p:nvSpPr>
        <p:spPr>
          <a:xfrm>
            <a:off x="77724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 / S</a:t>
            </a:r>
          </a:p>
        </p:txBody>
      </p:sp>
      <p:sp>
        <p:nvSpPr>
          <p:cNvPr id="27" name="Rectangle 26"/>
          <p:cNvSpPr/>
          <p:nvPr/>
        </p:nvSpPr>
        <p:spPr>
          <a:xfrm>
            <a:off x="434340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Errors — failed requests per second</a:t>
            </a:r>
          </a:p>
        </p:txBody>
      </p:sp>
      <p:sp>
        <p:nvSpPr>
          <p:cNvPr id="29" name="Rectangle 28"/>
          <p:cNvSpPr/>
          <p:nvPr/>
        </p:nvSpPr>
        <p:spPr>
          <a:xfrm>
            <a:off x="790956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Saturation — queue depth or waiting work</a:t>
            </a:r>
          </a:p>
        </p:txBody>
      </p:sp>
      <p:sp>
        <p:nvSpPr>
          <p:cNvPr id="31" name="Rectangle 30"/>
          <p:cNvSpPr/>
          <p:nvPr/>
        </p:nvSpPr>
        <p:spPr>
          <a:xfrm>
            <a:off x="77724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 / E</a:t>
            </a:r>
          </a:p>
        </p:txBody>
      </p:sp>
      <p:sp>
        <p:nvSpPr>
          <p:cNvPr id="33" name="Rectangle 32"/>
          <p:cNvSpPr/>
          <p:nvPr/>
        </p:nvSpPr>
        <p:spPr>
          <a:xfrm>
            <a:off x="434340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Duration — distribution of request time</a:t>
            </a:r>
          </a:p>
        </p:txBody>
      </p:sp>
      <p:sp>
        <p:nvSpPr>
          <p:cNvPr id="35" name="Rectangle 34"/>
          <p:cNvSpPr/>
          <p:nvPr/>
        </p:nvSpPr>
        <p:spPr>
          <a:xfrm>
            <a:off x="790956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Errors — error counts for that resource</a:t>
            </a:r>
          </a:p>
        </p:txBody>
      </p:sp>
      <p:sp>
        <p:nvSpPr>
          <p:cNvPr id="37" name="Rectangle 36"/>
          <p:cNvSpPr/>
          <p:nvPr/>
        </p:nvSpPr>
        <p:spPr>
          <a:xfrm>
            <a:off x="77724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Origin</a:t>
            </a:r>
          </a:p>
        </p:txBody>
      </p:sp>
      <p:sp>
        <p:nvSpPr>
          <p:cNvPr id="39" name="Rectangle 38"/>
          <p:cNvSpPr/>
          <p:nvPr/>
        </p:nvSpPr>
        <p:spPr>
          <a:xfrm>
            <a:off x="434340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Tom Wilkie, derived from the golden signals</a:t>
            </a:r>
          </a:p>
        </p:txBody>
      </p:sp>
      <p:sp>
        <p:nvSpPr>
          <p:cNvPr id="41" name="Rectangle 40"/>
          <p:cNvSpPr/>
          <p:nvPr/>
        </p:nvSpPr>
        <p:spPr>
          <a:xfrm>
            <a:off x="790956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Brendan Gregg, from systems performance analysis</a:t>
            </a:r>
          </a:p>
        </p:txBody>
      </p:sp>
      <p:sp>
        <p:nvSpPr>
          <p:cNvPr id="43" name="Rectangle 42"/>
          <p:cNvSpPr/>
          <p:nvPr/>
        </p:nvSpPr>
        <p:spPr>
          <a:xfrm>
            <a:off x="77724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Use together</a:t>
            </a:r>
          </a:p>
        </p:txBody>
      </p:sp>
      <p:sp>
        <p:nvSpPr>
          <p:cNvPr id="45" name="Rectangle 44"/>
          <p:cNvSpPr/>
          <p:nvPr/>
        </p:nvSpPr>
        <p:spPr>
          <a:xfrm>
            <a:off x="434340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447141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Answers 'are users suffering?'</a:t>
            </a:r>
          </a:p>
        </p:txBody>
      </p:sp>
      <p:sp>
        <p:nvSpPr>
          <p:cNvPr id="47" name="Rectangle 46"/>
          <p:cNvSpPr/>
          <p:nvPr/>
        </p:nvSpPr>
        <p:spPr>
          <a:xfrm>
            <a:off x="790956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803757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Answers 'which resource is the cause?'</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Instrument services with RED and nodes with USE; the golden signals are the union of the two.</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RED method — Tom Wilkie, Grafana Labs; USE method — Brendan Gregg, brendangregg.com/usemethod.html</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487</a:t>
            </a:r>
          </a:p>
        </p:txBody>
      </p:sp>
    </p:spTree>
  </p:cSld>
  <p:clrMapOvr>
    <a:masterClrMapping/>
  </p:clrMapOvr>
  <p:transition xmlns:ns1="http://schemas.openxmlformats.org/markup-compatibility/2006" spd="fast" ns1:Ignorable="p14">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RELIABILITY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SLI, SLO, SLA and the Error Budget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An SLO without an error-budget policy is a wish, not a target.</a:t>
            </a:r>
          </a:p>
        </p:txBody>
      </p:sp>
      <p:sp>
        <p:nvSpPr>
          <p:cNvPr id="7" name="Rectangle 6"/>
          <p:cNvSpPr/>
          <p:nvPr/>
        </p:nvSpPr>
        <p:spPr>
          <a:xfrm>
            <a:off x="777240" y="2200046"/>
            <a:ext cx="10698480" cy="467944"/>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46794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SLI</a:t>
            </a:r>
          </a:p>
        </p:txBody>
      </p:sp>
      <p:sp>
        <p:nvSpPr>
          <p:cNvPr id="10" name="TextBox 9"/>
          <p:cNvSpPr txBox="1"/>
          <p:nvPr/>
        </p:nvSpPr>
        <p:spPr>
          <a:xfrm>
            <a:off x="5649163" y="2282342"/>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Service Level Indicator — a measured ratio of good events to valid events</a:t>
            </a:r>
          </a:p>
        </p:txBody>
      </p:sp>
      <p:sp>
        <p:nvSpPr>
          <p:cNvPr id="11" name="Rectangle 10"/>
          <p:cNvSpPr/>
          <p:nvPr/>
        </p:nvSpPr>
        <p:spPr>
          <a:xfrm>
            <a:off x="777240" y="2667990"/>
            <a:ext cx="10698480" cy="467944"/>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667990"/>
            <a:ext cx="36576" cy="46794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750286"/>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Example SLI</a:t>
            </a:r>
          </a:p>
        </p:txBody>
      </p:sp>
      <p:sp>
        <p:nvSpPr>
          <p:cNvPr id="14" name="TextBox 13"/>
          <p:cNvSpPr txBox="1"/>
          <p:nvPr/>
        </p:nvSpPr>
        <p:spPr>
          <a:xfrm>
            <a:off x="5649163" y="2750286"/>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successful dispatch requests / all dispatch requests over 28 days</a:t>
            </a:r>
          </a:p>
        </p:txBody>
      </p:sp>
      <p:sp>
        <p:nvSpPr>
          <p:cNvPr id="15" name="Rectangle 14"/>
          <p:cNvSpPr/>
          <p:nvPr/>
        </p:nvSpPr>
        <p:spPr>
          <a:xfrm>
            <a:off x="777240" y="3135934"/>
            <a:ext cx="10698480" cy="467944"/>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135934"/>
            <a:ext cx="36576" cy="467944"/>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218230"/>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SLO</a:t>
            </a:r>
          </a:p>
        </p:txBody>
      </p:sp>
      <p:sp>
        <p:nvSpPr>
          <p:cNvPr id="18" name="TextBox 17"/>
          <p:cNvSpPr txBox="1"/>
          <p:nvPr/>
        </p:nvSpPr>
        <p:spPr>
          <a:xfrm>
            <a:off x="5649163" y="3218230"/>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Service Level Objective — the internal target for that SLI, e.g. 99.9%</a:t>
            </a:r>
          </a:p>
        </p:txBody>
      </p:sp>
      <p:sp>
        <p:nvSpPr>
          <p:cNvPr id="19" name="Rectangle 18"/>
          <p:cNvSpPr/>
          <p:nvPr/>
        </p:nvSpPr>
        <p:spPr>
          <a:xfrm>
            <a:off x="777240" y="3603879"/>
            <a:ext cx="10698480" cy="467944"/>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603879"/>
            <a:ext cx="36576" cy="467944"/>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686175"/>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SLA</a:t>
            </a:r>
          </a:p>
        </p:txBody>
      </p:sp>
      <p:sp>
        <p:nvSpPr>
          <p:cNvPr id="22" name="TextBox 21"/>
          <p:cNvSpPr txBox="1"/>
          <p:nvPr/>
        </p:nvSpPr>
        <p:spPr>
          <a:xfrm>
            <a:off x="5649163" y="3686175"/>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Service Level Agreement — a contract with a customer, with consequences</a:t>
            </a:r>
          </a:p>
        </p:txBody>
      </p:sp>
      <p:sp>
        <p:nvSpPr>
          <p:cNvPr id="23" name="Rectangle 22"/>
          <p:cNvSpPr/>
          <p:nvPr/>
        </p:nvSpPr>
        <p:spPr>
          <a:xfrm>
            <a:off x="777240" y="4071823"/>
            <a:ext cx="10698480" cy="467944"/>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071823"/>
            <a:ext cx="36576" cy="467944"/>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154119"/>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Relationship</a:t>
            </a:r>
          </a:p>
        </p:txBody>
      </p:sp>
      <p:sp>
        <p:nvSpPr>
          <p:cNvPr id="26" name="TextBox 25"/>
          <p:cNvSpPr txBox="1"/>
          <p:nvPr/>
        </p:nvSpPr>
        <p:spPr>
          <a:xfrm>
            <a:off x="5649163" y="4154119"/>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SLO must be strictly tighter than any SLA it supports</a:t>
            </a:r>
          </a:p>
        </p:txBody>
      </p:sp>
      <p:sp>
        <p:nvSpPr>
          <p:cNvPr id="27" name="Rectangle 26"/>
          <p:cNvSpPr/>
          <p:nvPr/>
        </p:nvSpPr>
        <p:spPr>
          <a:xfrm>
            <a:off x="777240" y="4539767"/>
            <a:ext cx="10698480" cy="467944"/>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539767"/>
            <a:ext cx="36576" cy="467944"/>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4622063"/>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Error budget</a:t>
            </a:r>
          </a:p>
        </p:txBody>
      </p:sp>
      <p:sp>
        <p:nvSpPr>
          <p:cNvPr id="30" name="TextBox 29"/>
          <p:cNvSpPr txBox="1"/>
          <p:nvPr/>
        </p:nvSpPr>
        <p:spPr>
          <a:xfrm>
            <a:off x="5649163" y="4622063"/>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1 - SLO. The permitted unreliability, expressed as time or events</a:t>
            </a:r>
          </a:p>
        </p:txBody>
      </p:sp>
      <p:sp>
        <p:nvSpPr>
          <p:cNvPr id="31" name="Rectangle 30"/>
          <p:cNvSpPr/>
          <p:nvPr/>
        </p:nvSpPr>
        <p:spPr>
          <a:xfrm>
            <a:off x="777240" y="5007711"/>
            <a:ext cx="10698480" cy="467944"/>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777240" y="5007711"/>
            <a:ext cx="36576" cy="467944"/>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5090007"/>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Budget policy</a:t>
            </a:r>
          </a:p>
        </p:txBody>
      </p:sp>
      <p:sp>
        <p:nvSpPr>
          <p:cNvPr id="34" name="TextBox 33"/>
          <p:cNvSpPr txBox="1"/>
          <p:nvPr/>
        </p:nvSpPr>
        <p:spPr>
          <a:xfrm>
            <a:off x="5649163" y="5090007"/>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Budget spent -&gt; feature work stops, reliability work starts</a:t>
            </a:r>
          </a:p>
        </p:txBody>
      </p:sp>
      <p:sp>
        <p:nvSpPr>
          <p:cNvPr id="35" name="Rectangle 34"/>
          <p:cNvSpPr/>
          <p:nvPr/>
        </p:nvSpPr>
        <p:spPr>
          <a:xfrm>
            <a:off x="777240" y="5475655"/>
            <a:ext cx="10698480" cy="467944"/>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777240" y="5475655"/>
            <a:ext cx="36576" cy="467944"/>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941832" y="5557951"/>
            <a:ext cx="4493361" cy="303352"/>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Burn rate</a:t>
            </a:r>
          </a:p>
        </p:txBody>
      </p:sp>
      <p:sp>
        <p:nvSpPr>
          <p:cNvPr id="38" name="TextBox 37"/>
          <p:cNvSpPr txBox="1"/>
          <p:nvPr/>
        </p:nvSpPr>
        <p:spPr>
          <a:xfrm>
            <a:off x="5649163" y="5557951"/>
            <a:ext cx="5563209" cy="303352"/>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How fast the budget is being consumed relative to even burn (1.0)</a:t>
            </a:r>
          </a:p>
        </p:txBody>
      </p:sp>
      <p:sp>
        <p:nvSpPr>
          <p:cNvPr id="39" name="TextBox 3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40" name="TextBox 3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1" name="TextBox 4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2" name="TextBox 4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488</a:t>
            </a:r>
          </a:p>
        </p:txBody>
      </p:sp>
    </p:spTree>
  </p:cSld>
  <p:clrMapOvr>
    <a:masterClrMapping/>
  </p:clrMapOvr>
  <p:transition xmlns:ns1="http://schemas.openxmlformats.org/markup-compatibility/2006" spd="fast" ns1:Ignorable="p14">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RELIABILITY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Each Nine Actually Costs You</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Exact arithmetic on a 30-day month = 43,200 minutes. No measured data, no estimates.</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Minutes of permitted unavailability per 30-day month</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arithmetic</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43,200 min x (1 - SLO). 99.9% -&gt; 43,200 x 0.001 = 43.2 minutes per month.</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Each nine costs 10x</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Every added nine divides the budget by ten. 99.99% leaves 4.32 minutes — less than one bad rollout.</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Deploys spend budget too</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 3-minute failed rollout is 7% of a 99.9% monthly budget. Four of those and the month is gone.</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Pick the SLO you can staff</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99.99% implies automated rollback and no manual step in the recovery path.</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489</a:t>
            </a:r>
          </a:p>
        </p:txBody>
      </p:sp>
    </p:spTree>
  </p:cSld>
  <p:clrMapOvr>
    <a:masterClrMapping/>
  </p:clrMapOvr>
  <p:transition xmlns:ns1="http://schemas.openxmlformats.org/markup-compatibility/2006" spd="fast" ns1:Ignorable="p14">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RELIABILITY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Error-Budget Burn — A Worked Model, 99.9% SLO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LABELLED MODEL, not measured data. Three incidents debited from a 43.2-minute monthly budget.</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Error budget remaining, minutes (modelled)</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three debits</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Day 5: 12.0 min -&gt; 31.2. Day 15: 18.5 min -&gt; 12.7. Day 20: 9.0 min -&gt; 3.7. Exact subtraction.</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Even burn is 1.44 min/day</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43.2 / 30. The dashed reference line is 43.2 x (1 - day/30).</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Burn rate, not level, alerts</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At day 15 the budget is below the reference line: burn rate &gt; 1. That is the alert.</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Budget left is not success</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3.7 minutes with ten days to run means the next single incident breaches the SLO.</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Worked model built on the exact 43.2 min/month figure; incident magnitudes are illustrative and labelled as such.</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490</a:t>
            </a:r>
          </a:p>
        </p:txBody>
      </p:sp>
    </p:spTree>
  </p:cSld>
  <p:clrMapOvr>
    <a:masterClrMapping/>
  </p:clrMapOvr>
  <p:transition xmlns:ns1="http://schemas.openxmlformats.org/markup-compatibility/2006" spd="fast" ns1:Ignorable="p14">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RELIABILITY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From User Symptom To Alert That Is Worth Waking For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Alert on symptoms the user feels, budgeted — not on every resource that twitches.</a:t>
            </a:r>
          </a:p>
        </p:txBody>
      </p:sp>
      <p:sp>
        <p:nvSpPr>
          <p:cNvPr id="7" name="Rounded Rectangle 6"/>
          <p:cNvSpPr/>
          <p:nvPr/>
        </p:nvSpPr>
        <p:spPr>
          <a:xfrm>
            <a:off x="7772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Define the SLI</a:t>
            </a:r>
          </a:p>
        </p:txBody>
      </p:sp>
      <p:sp>
        <p:nvSpPr>
          <p:cNvPr id="11" name="TextBox 10"/>
          <p:cNvSpPr txBox="1"/>
          <p:nvPr/>
        </p:nvSpPr>
        <p:spPr>
          <a:xfrm>
            <a:off x="9235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ratio of good to valid events, measured where the user is, not inside the process</a:t>
            </a:r>
          </a:p>
        </p:txBody>
      </p:sp>
      <p:cxnSp>
        <p:nvCxnSpPr>
          <p:cNvPr id="12" name="Connector 11"/>
          <p:cNvCxnSpPr/>
          <p:nvPr/>
        </p:nvCxnSpPr>
        <p:spPr>
          <a:xfrm>
            <a:off x="271393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Set the SLO</a:t>
            </a:r>
          </a:p>
        </p:txBody>
      </p:sp>
      <p:sp>
        <p:nvSpPr>
          <p:cNvPr id="17" name="TextBox 16"/>
          <p:cNvSpPr txBox="1"/>
          <p:nvPr/>
        </p:nvSpPr>
        <p:spPr>
          <a:xfrm>
            <a:off x="312541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target the business can defend and the team can staff. Tighter than any customer SLA</a:t>
            </a:r>
          </a:p>
        </p:txBody>
      </p:sp>
      <p:cxnSp>
        <p:nvCxnSpPr>
          <p:cNvPr id="18" name="Connector 17"/>
          <p:cNvCxnSpPr/>
          <p:nvPr/>
        </p:nvCxnSpPr>
        <p:spPr>
          <a:xfrm>
            <a:off x="491581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Derive the budget</a:t>
            </a:r>
          </a:p>
        </p:txBody>
      </p:sp>
      <p:sp>
        <p:nvSpPr>
          <p:cNvPr id="23" name="TextBox 22"/>
          <p:cNvSpPr txBox="1"/>
          <p:nvPr/>
        </p:nvSpPr>
        <p:spPr>
          <a:xfrm>
            <a:off x="532729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1 - SLO, converted to minutes or failed events for the window</a:t>
            </a:r>
          </a:p>
        </p:txBody>
      </p:sp>
      <p:cxnSp>
        <p:nvCxnSpPr>
          <p:cNvPr id="24" name="Connector 23"/>
          <p:cNvCxnSpPr/>
          <p:nvPr/>
        </p:nvCxnSpPr>
        <p:spPr>
          <a:xfrm>
            <a:off x="711768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Alert on burn rate</a:t>
            </a:r>
          </a:p>
        </p:txBody>
      </p:sp>
      <p:sp>
        <p:nvSpPr>
          <p:cNvPr id="29" name="TextBox 28"/>
          <p:cNvSpPr txBox="1"/>
          <p:nvPr/>
        </p:nvSpPr>
        <p:spPr>
          <a:xfrm>
            <a:off x="752916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Fast burn = page now. Slow burn = ticket. Both reference the same budget</a:t>
            </a:r>
          </a:p>
        </p:txBody>
      </p:sp>
      <p:cxnSp>
        <p:nvCxnSpPr>
          <p:cNvPr id="30" name="Connector 29"/>
          <p:cNvCxnSpPr/>
          <p:nvPr/>
        </p:nvCxnSpPr>
        <p:spPr>
          <a:xfrm>
            <a:off x="931956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Enforce the policy</a:t>
            </a:r>
          </a:p>
        </p:txBody>
      </p:sp>
      <p:sp>
        <p:nvSpPr>
          <p:cNvPr id="35" name="TextBox 34"/>
          <p:cNvSpPr txBox="1"/>
          <p:nvPr/>
        </p:nvSpPr>
        <p:spPr>
          <a:xfrm>
            <a:off x="97310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Budget exhausted: reliability work takes priority over features until it recovers</a:t>
            </a:r>
          </a:p>
        </p:txBody>
      </p:sp>
      <p:sp>
        <p:nvSpPr>
          <p:cNvPr id="36" name="Rectangle 35"/>
          <p:cNvSpPr/>
          <p:nvPr/>
        </p:nvSpPr>
        <p:spPr>
          <a:xfrm>
            <a:off x="777240" y="4491634"/>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491634"/>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802530"/>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Symptom-based, budget-referenced alerting is what stops an on-call rota drowning in cause-based alerts nobody acts on.</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Google SRE Book, Monitoring Distributed Systems (four golden signals) and Embracing Risk (error budgets): sre.google/sre-book/</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491</a:t>
            </a:r>
          </a:p>
        </p:txBody>
      </p:sp>
    </p:spTree>
  </p:cSld>
  <p:clrMapOvr>
    <a:masterClrMapping/>
  </p:clrMapOvr>
  <p:transition xmlns:ns5="http://schemas.openxmlformats.org/markup-compatibility/2006" spd="fast" ns5:Ignorable="p14">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7C3AED"/>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7C3AED"/>
                </a:solidFill>
                <a:latin typeface="Arial"/>
              </a:rPr>
              <a:t>THE ALERTING RULE OF THUMB</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If an alert does not correspond to something a user can feel, it belongs in a dashboard — not on a pager.</a:t>
            </a:r>
          </a:p>
        </p:txBody>
      </p:sp>
      <p:sp>
        <p:nvSpPr>
          <p:cNvPr id="6" name="Rectangle 5"/>
          <p:cNvSpPr/>
          <p:nvPr/>
        </p:nvSpPr>
        <p:spPr>
          <a:xfrm>
            <a:off x="1143000" y="4187952"/>
            <a:ext cx="2194560" cy="32004"/>
          </a:xfrm>
          <a:prstGeom prst="rect">
            <a:avLst/>
          </a:prstGeom>
          <a:solidFill>
            <a:srgbClr val="7C3AED"/>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Cause-based alerts multiply with your architecture. Symptom-based, budget-referenced alerts scale with your user-visible surface, which is far smaller.</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492</a:t>
            </a:r>
          </a:p>
        </p:txBody>
      </p:sp>
    </p:spTree>
  </p:cSld>
  <p:clrMapOvr>
    <a:masterClrMapping/>
  </p:clrMapOvr>
  <p:transition xmlns:ns1="http://schemas.openxmlformats.org/markup-compatibility/2006" spd="fast" ns1:Ignorable="p14">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Who Reports Health, And Who Consumes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Kubernetes health is not a dashboard — it is an input to controllers that take action without you.</a:t>
            </a:r>
          </a:p>
        </p:txBody>
      </p:sp>
      <p:sp>
        <p:nvSpPr>
          <p:cNvPr id="7" name="Rectangle 6"/>
          <p:cNvSpPr/>
          <p:nvPr/>
        </p:nvSpPr>
        <p:spPr>
          <a:xfrm>
            <a:off x="777240" y="2200046"/>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428292"/>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941832" y="2382926"/>
            <a:ext cx="1261872" cy="1099108"/>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REPORTERS</a:t>
            </a:r>
          </a:p>
        </p:txBody>
      </p:sp>
      <p:sp>
        <p:nvSpPr>
          <p:cNvPr id="10" name="Rounded Rectangle 9"/>
          <p:cNvSpPr/>
          <p:nvPr/>
        </p:nvSpPr>
        <p:spPr>
          <a:xfrm>
            <a:off x="2258568" y="2273198"/>
            <a:ext cx="2895599"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 probes</a:t>
            </a:r>
          </a:p>
        </p:txBody>
      </p:sp>
      <p:sp>
        <p:nvSpPr>
          <p:cNvPr id="12" name="TextBox 11"/>
          <p:cNvSpPr txBox="1"/>
          <p:nvPr/>
        </p:nvSpPr>
        <p:spPr>
          <a:xfrm>
            <a:off x="2350008"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kubelet runs httpGet / tcpSocket / exec / grpc against the container</a:t>
            </a:r>
          </a:p>
        </p:txBody>
      </p:sp>
      <p:sp>
        <p:nvSpPr>
          <p:cNvPr id="13" name="Rounded Rectangle 12"/>
          <p:cNvSpPr/>
          <p:nvPr/>
        </p:nvSpPr>
        <p:spPr>
          <a:xfrm>
            <a:off x="5318760" y="2273198"/>
            <a:ext cx="2895599"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 node status</a:t>
            </a:r>
          </a:p>
        </p:txBody>
      </p:sp>
      <p:sp>
        <p:nvSpPr>
          <p:cNvPr id="15" name="TextBox 14"/>
          <p:cNvSpPr txBox="1"/>
          <p:nvPr/>
        </p:nvSpPr>
        <p:spPr>
          <a:xfrm>
            <a:off x="5410199"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Posts node conditions and a heartbeat Lease to the API server</a:t>
            </a:r>
          </a:p>
        </p:txBody>
      </p:sp>
      <p:sp>
        <p:nvSpPr>
          <p:cNvPr id="16" name="Rounded Rectangle 15"/>
          <p:cNvSpPr/>
          <p:nvPr/>
        </p:nvSpPr>
        <p:spPr>
          <a:xfrm>
            <a:off x="8378951" y="2273198"/>
            <a:ext cx="2895599" cy="1281988"/>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Controllers</a:t>
            </a:r>
          </a:p>
        </p:txBody>
      </p:sp>
      <p:sp>
        <p:nvSpPr>
          <p:cNvPr id="18" name="TextBox 17"/>
          <p:cNvSpPr txBox="1"/>
          <p:nvPr/>
        </p:nvSpPr>
        <p:spPr>
          <a:xfrm>
            <a:off x="8470391"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Emit Events describing every decision they take</a:t>
            </a:r>
          </a:p>
        </p:txBody>
      </p:sp>
      <p:sp>
        <p:nvSpPr>
          <p:cNvPr id="19" name="Rectangle 18"/>
          <p:cNvSpPr/>
          <p:nvPr/>
        </p:nvSpPr>
        <p:spPr>
          <a:xfrm>
            <a:off x="777240" y="3811219"/>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811219"/>
            <a:ext cx="50292" cy="1428292"/>
          </a:xfrm>
          <a:prstGeom prst="rect">
            <a:avLst/>
          </a:prstGeom>
          <a:solidFill>
            <a:srgbClr val="1F6FEB"/>
          </a:solidFill>
          <a:ln>
            <a:noFill/>
          </a:ln>
          <a:effectLst/>
        </p:spPr>
        <p:txBody>
          <a:bodyPr rtlCol="0" anchor="ctr" wrap="square"/>
          <a:lstStyle/>
          <a:p>
            <a:pPr algn="ctr"/>
          </a:p>
        </p:txBody>
      </p:sp>
      <p:sp>
        <p:nvSpPr>
          <p:cNvPr id="21" name="TextBox 20"/>
          <p:cNvSpPr txBox="1"/>
          <p:nvPr/>
        </p:nvSpPr>
        <p:spPr>
          <a:xfrm>
            <a:off x="941832" y="3994099"/>
            <a:ext cx="1261872" cy="1099108"/>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CONSUMERS</a:t>
            </a:r>
          </a:p>
        </p:txBody>
      </p:sp>
      <p:sp>
        <p:nvSpPr>
          <p:cNvPr id="22" name="Rounded Rectangle 21"/>
          <p:cNvSpPr/>
          <p:nvPr/>
        </p:nvSpPr>
        <p:spPr>
          <a:xfrm>
            <a:off x="2258568" y="3884371"/>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3" name="TextBox 22"/>
          <p:cNvSpPr txBox="1"/>
          <p:nvPr/>
        </p:nvSpPr>
        <p:spPr>
          <a:xfrm>
            <a:off x="2350008"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EndpointSlice controller</a:t>
            </a:r>
          </a:p>
        </p:txBody>
      </p:sp>
      <p:sp>
        <p:nvSpPr>
          <p:cNvPr id="24" name="TextBox 23"/>
          <p:cNvSpPr txBox="1"/>
          <p:nvPr/>
        </p:nvSpPr>
        <p:spPr>
          <a:xfrm>
            <a:off x="2350008"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Adds or removes Pod addresses as readiness changes</a:t>
            </a:r>
          </a:p>
        </p:txBody>
      </p:sp>
      <p:sp>
        <p:nvSpPr>
          <p:cNvPr id="25" name="Rounded Rectangle 24"/>
          <p:cNvSpPr/>
          <p:nvPr/>
        </p:nvSpPr>
        <p:spPr>
          <a:xfrm>
            <a:off x="5318760" y="3884371"/>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6" name="TextBox 25"/>
          <p:cNvSpPr txBox="1"/>
          <p:nvPr/>
        </p:nvSpPr>
        <p:spPr>
          <a:xfrm>
            <a:off x="5410199"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 restart logic</a:t>
            </a:r>
          </a:p>
        </p:txBody>
      </p:sp>
      <p:sp>
        <p:nvSpPr>
          <p:cNvPr id="27" name="TextBox 26"/>
          <p:cNvSpPr txBox="1"/>
          <p:nvPr/>
        </p:nvSpPr>
        <p:spPr>
          <a:xfrm>
            <a:off x="5410199"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Restarts the container when liveness fails, per restartPolicy</a:t>
            </a:r>
          </a:p>
        </p:txBody>
      </p:sp>
      <p:sp>
        <p:nvSpPr>
          <p:cNvPr id="28" name="Rounded Rectangle 27"/>
          <p:cNvSpPr/>
          <p:nvPr/>
        </p:nvSpPr>
        <p:spPr>
          <a:xfrm>
            <a:off x="8378951" y="3884371"/>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29" name="TextBox 28"/>
          <p:cNvSpPr txBox="1"/>
          <p:nvPr/>
        </p:nvSpPr>
        <p:spPr>
          <a:xfrm>
            <a:off x="8470391"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 controller</a:t>
            </a:r>
          </a:p>
        </p:txBody>
      </p:sp>
      <p:sp>
        <p:nvSpPr>
          <p:cNvPr id="30" name="TextBox 29"/>
          <p:cNvSpPr txBox="1"/>
          <p:nvPr/>
        </p:nvSpPr>
        <p:spPr>
          <a:xfrm>
            <a:off x="8470391"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Taints and evicts when the heartbeat stops or pressure is set</a:t>
            </a:r>
          </a:p>
        </p:txBody>
      </p:sp>
      <p:sp>
        <p:nvSpPr>
          <p:cNvPr id="31" name="Rectangle 30"/>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32" name="Rectangle 31"/>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33" name="TextBox 32"/>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34" name="TextBox 33"/>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Readiness changes routing; liveness changes container lifecycle; node conditions change scheduling and eviction. Every probe you write is a control input.</a:t>
            </a:r>
          </a:p>
        </p:txBody>
      </p:sp>
      <p:sp>
        <p:nvSpPr>
          <p:cNvPr id="35" name="TextBox 3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Pod Lifecycle — Container probes: kubernetes.io/docs/concepts/workloads/pods/pod-lifecycle/#container-probes</a:t>
            </a:r>
          </a:p>
        </p:txBody>
      </p:sp>
      <p:sp>
        <p:nvSpPr>
          <p:cNvPr id="36" name="TextBox 3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7" name="TextBox 3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8" name="TextBox 3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493</a:t>
            </a:r>
          </a:p>
        </p:txBody>
      </p:sp>
    </p:spTree>
  </p:cSld>
  <p:clrMapOvr>
    <a:masterClrMapping/>
  </p:clrMapOvr>
  <p:transition xmlns:ns1="http://schemas.openxmlformats.org/markup-compatibility/2006" spd="fast" ns1:Ignorable="p14">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Liveness, Readiness and Startup — By Consequence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Identical syntax, three completely different consequences. The consequence is the exam answer.</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livenessProbe</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readinessProbe</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startupProbe</a:t>
            </a:r>
          </a:p>
        </p:txBody>
      </p:sp>
      <p:sp>
        <p:nvSpPr>
          <p:cNvPr id="15" name="Rectangle 14"/>
          <p:cNvSpPr/>
          <p:nvPr/>
        </p:nvSpPr>
        <p:spPr>
          <a:xfrm>
            <a:off x="77724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Question</a:t>
            </a:r>
          </a:p>
        </p:txBody>
      </p:sp>
      <p:sp>
        <p:nvSpPr>
          <p:cNvPr id="17" name="Rectangle 16"/>
          <p:cNvSpPr/>
          <p:nvPr/>
        </p:nvSpPr>
        <p:spPr>
          <a:xfrm>
            <a:off x="345186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Is the process still functional?</a:t>
            </a:r>
          </a:p>
        </p:txBody>
      </p:sp>
      <p:sp>
        <p:nvSpPr>
          <p:cNvPr id="19" name="Rectangle 18"/>
          <p:cNvSpPr/>
          <p:nvPr/>
        </p:nvSpPr>
        <p:spPr>
          <a:xfrm>
            <a:off x="6126479"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Should it receive traffic right now?</a:t>
            </a:r>
          </a:p>
        </p:txBody>
      </p:sp>
      <p:sp>
        <p:nvSpPr>
          <p:cNvPr id="21" name="Rectangle 20"/>
          <p:cNvSpPr/>
          <p:nvPr/>
        </p:nvSpPr>
        <p:spPr>
          <a:xfrm>
            <a:off x="8801100" y="2620670"/>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Has it finished booting yet?</a:t>
            </a:r>
          </a:p>
        </p:txBody>
      </p:sp>
      <p:sp>
        <p:nvSpPr>
          <p:cNvPr id="23" name="Rectangle 22"/>
          <p:cNvSpPr/>
          <p:nvPr/>
        </p:nvSpPr>
        <p:spPr>
          <a:xfrm>
            <a:off x="77724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9894"/>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On failure</a:t>
            </a:r>
          </a:p>
        </p:txBody>
      </p:sp>
      <p:sp>
        <p:nvSpPr>
          <p:cNvPr id="25" name="Rectangle 24"/>
          <p:cNvSpPr/>
          <p:nvPr/>
        </p:nvSpPr>
        <p:spPr>
          <a:xfrm>
            <a:off x="345186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Container killed and restarted; RESTARTS increments</a:t>
            </a:r>
          </a:p>
        </p:txBody>
      </p:sp>
      <p:sp>
        <p:nvSpPr>
          <p:cNvPr id="27" name="Rectangle 26"/>
          <p:cNvSpPr/>
          <p:nvPr/>
        </p:nvSpPr>
        <p:spPr>
          <a:xfrm>
            <a:off x="6126479"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Pod address removed from the Service EndpointSlice; container untouched</a:t>
            </a:r>
          </a:p>
        </p:txBody>
      </p:sp>
      <p:sp>
        <p:nvSpPr>
          <p:cNvPr id="29" name="Rectangle 28"/>
          <p:cNvSpPr/>
          <p:nvPr/>
        </p:nvSpPr>
        <p:spPr>
          <a:xfrm>
            <a:off x="8801100" y="3187598"/>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9894"/>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Container killed once the whole startup budget is exhausted</a:t>
            </a:r>
          </a:p>
        </p:txBody>
      </p:sp>
      <p:sp>
        <p:nvSpPr>
          <p:cNvPr id="31" name="Rectangle 30"/>
          <p:cNvSpPr/>
          <p:nvPr/>
        </p:nvSpPr>
        <p:spPr>
          <a:xfrm>
            <a:off x="77724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36822"/>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While it runs</a:t>
            </a:r>
          </a:p>
        </p:txBody>
      </p:sp>
      <p:sp>
        <p:nvSpPr>
          <p:cNvPr id="33" name="Rectangle 32"/>
          <p:cNvSpPr/>
          <p:nvPr/>
        </p:nvSpPr>
        <p:spPr>
          <a:xfrm>
            <a:off x="345186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Evaluated for the container's whole life</a:t>
            </a:r>
          </a:p>
        </p:txBody>
      </p:sp>
      <p:sp>
        <p:nvSpPr>
          <p:cNvPr id="35" name="Rectangle 34"/>
          <p:cNvSpPr/>
          <p:nvPr/>
        </p:nvSpPr>
        <p:spPr>
          <a:xfrm>
            <a:off x="6126479"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Evaluated for the container's whole life</a:t>
            </a:r>
          </a:p>
        </p:txBody>
      </p:sp>
      <p:sp>
        <p:nvSpPr>
          <p:cNvPr id="37" name="Rectangle 36"/>
          <p:cNvSpPr/>
          <p:nvPr/>
        </p:nvSpPr>
        <p:spPr>
          <a:xfrm>
            <a:off x="8801100" y="3754526"/>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36822"/>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Evaluated only until its first success, then never again</a:t>
            </a:r>
          </a:p>
        </p:txBody>
      </p:sp>
      <p:sp>
        <p:nvSpPr>
          <p:cNvPr id="39" name="Rectangle 38"/>
          <p:cNvSpPr/>
          <p:nvPr/>
        </p:nvSpPr>
        <p:spPr>
          <a:xfrm>
            <a:off x="77724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403750"/>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Side effect</a:t>
            </a:r>
          </a:p>
        </p:txBody>
      </p:sp>
      <p:sp>
        <p:nvSpPr>
          <p:cNvPr id="41" name="Rectangle 40"/>
          <p:cNvSpPr/>
          <p:nvPr/>
        </p:nvSpPr>
        <p:spPr>
          <a:xfrm>
            <a:off x="345186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Restart loop if the app is merely slow</a:t>
            </a:r>
          </a:p>
        </p:txBody>
      </p:sp>
      <p:sp>
        <p:nvSpPr>
          <p:cNvPr id="43" name="Rectangle 42"/>
          <p:cNvSpPr/>
          <p:nvPr/>
        </p:nvSpPr>
        <p:spPr>
          <a:xfrm>
            <a:off x="6126479"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Graceful removal from load balancing; no restart</a:t>
            </a:r>
          </a:p>
        </p:txBody>
      </p:sp>
      <p:sp>
        <p:nvSpPr>
          <p:cNvPr id="45" name="Rectangle 44"/>
          <p:cNvSpPr/>
          <p:nvPr/>
        </p:nvSpPr>
        <p:spPr>
          <a:xfrm>
            <a:off x="8801100" y="4321454"/>
            <a:ext cx="2674620" cy="566928"/>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403750"/>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Suspends liveness AND readiness for the whole boot window</a:t>
            </a:r>
          </a:p>
        </p:txBody>
      </p:sp>
      <p:sp>
        <p:nvSpPr>
          <p:cNvPr id="47" name="Rectangle 46"/>
          <p:cNvSpPr/>
          <p:nvPr/>
        </p:nvSpPr>
        <p:spPr>
          <a:xfrm>
            <a:off x="777240" y="4888382"/>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70678"/>
            <a:ext cx="2418587" cy="420623"/>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Typical mistake</a:t>
            </a:r>
          </a:p>
        </p:txBody>
      </p:sp>
      <p:sp>
        <p:nvSpPr>
          <p:cNvPr id="49" name="Rectangle 48"/>
          <p:cNvSpPr/>
          <p:nvPr/>
        </p:nvSpPr>
        <p:spPr>
          <a:xfrm>
            <a:off x="3451860" y="4888382"/>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70678"/>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Pointing it at a dependency you do not own</a:t>
            </a:r>
          </a:p>
        </p:txBody>
      </p:sp>
      <p:sp>
        <p:nvSpPr>
          <p:cNvPr id="51" name="Rectangle 50"/>
          <p:cNvSpPr/>
          <p:nvPr/>
        </p:nvSpPr>
        <p:spPr>
          <a:xfrm>
            <a:off x="6126479" y="4888382"/>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70678"/>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Reusing the liveness path, so a busy Pod gets restarted</a:t>
            </a:r>
          </a:p>
        </p:txBody>
      </p:sp>
      <p:sp>
        <p:nvSpPr>
          <p:cNvPr id="53" name="Rectangle 52"/>
          <p:cNvSpPr/>
          <p:nvPr/>
        </p:nvSpPr>
        <p:spPr>
          <a:xfrm>
            <a:off x="8801100" y="4888382"/>
            <a:ext cx="2674620" cy="566928"/>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70678"/>
            <a:ext cx="2418587" cy="420623"/>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Omitting it, then loosening liveness until it means nothing</a:t>
            </a:r>
          </a:p>
        </p:txBody>
      </p:sp>
      <p:sp>
        <p:nvSpPr>
          <p:cNvPr id="55" name="TextBox 5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Pod Lifecycle — Container probes: kubernetes.io/docs/concepts/workloads/pods/pod-lifecycle/#container-probes</a:t>
            </a:r>
          </a:p>
        </p:txBody>
      </p:sp>
      <p:sp>
        <p:nvSpPr>
          <p:cNvPr id="56" name="TextBox 5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7" name="TextBox 5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8" name="TextBox 5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494</a:t>
            </a:r>
          </a:p>
        </p:txBody>
      </p:sp>
    </p:spTree>
  </p:cSld>
  <p:clrMapOvr>
    <a:masterClrMapping/>
  </p:clrMapOvr>
  <p:transition xmlns:ns1="http://schemas.openxmlformats.org/markup-compatibility/2006" spd="fast" ns1:Ignorable="p14">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 Probe Block As A Time Budget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probe field is arithmetic. Do the arithmetic before you deploy, not during the incident.</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composite of the two Lab 22 workloads · v1 Pod spec</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E6EDF3"/>
                </a:solidFill>
                <a:latin typeface="Consolas"/>
              </a:rPr>
              <a:t>containers:</a:t>
            </a:r>
          </a:p>
          <a:p>
            <a:pPr>
              <a:lnSpc>
                <a:spcPts val="1476"/>
              </a:lnSpc>
              <a:spcAft>
                <a:spcPts val="0"/>
              </a:spcAft>
            </a:pPr>
            <a:r>
              <a:rPr sz="1050">
                <a:solidFill>
                  <a:srgbClr val="E6EDF3"/>
                </a:solidFill>
                <a:latin typeface="Consolas"/>
              </a:rPr>
              <a:t>- name: indexer</a:t>
            </a:r>
          </a:p>
          <a:p>
            <a:pPr>
              <a:lnSpc>
                <a:spcPts val="1476"/>
              </a:lnSpc>
              <a:spcAft>
                <a:spcPts val="0"/>
              </a:spcAft>
            </a:pPr>
            <a:r>
              <a:rPr sz="1050">
                <a:solidFill>
                  <a:srgbClr val="E6EDF3"/>
                </a:solidFill>
                <a:latin typeface="Consolas"/>
              </a:rPr>
              <a:t>  image: busybox:1.36</a:t>
            </a:r>
          </a:p>
          <a:p>
            <a:pPr>
              <a:lnSpc>
                <a:spcPts val="1476"/>
              </a:lnSpc>
              <a:spcAft>
                <a:spcPts val="0"/>
              </a:spcAft>
            </a:pPr>
            <a:r>
              <a:rPr sz="1050">
                <a:solidFill>
                  <a:srgbClr val="E6EDF3"/>
                </a:solidFill>
                <a:latin typeface="Consolas"/>
              </a:rPr>
              <a:t>  startupProbe:            # boot budget: 5s x 24 = 120s</a:t>
            </a:r>
          </a:p>
          <a:p>
            <a:pPr>
              <a:lnSpc>
                <a:spcPts val="1476"/>
              </a:lnSpc>
              <a:spcAft>
                <a:spcPts val="0"/>
              </a:spcAft>
            </a:pPr>
            <a:r>
              <a:rPr sz="1050">
                <a:solidFill>
                  <a:srgbClr val="E6EDF3"/>
                </a:solidFill>
                <a:latin typeface="Consolas"/>
              </a:rPr>
              <a:t>    httpGet: {path: /index.html, port: http}</a:t>
            </a:r>
          </a:p>
          <a:p>
            <a:pPr>
              <a:lnSpc>
                <a:spcPts val="1476"/>
              </a:lnSpc>
              <a:spcAft>
                <a:spcPts val="0"/>
              </a:spcAft>
            </a:pPr>
            <a:r>
              <a:rPr sz="1050">
                <a:solidFill>
                  <a:srgbClr val="E6EDF3"/>
                </a:solidFill>
                <a:latin typeface="Consolas"/>
              </a:rPr>
              <a:t>    periodSeconds: 5</a:t>
            </a:r>
          </a:p>
          <a:p>
            <a:pPr>
              <a:lnSpc>
                <a:spcPts val="1476"/>
              </a:lnSpc>
              <a:spcAft>
                <a:spcPts val="0"/>
              </a:spcAft>
            </a:pPr>
            <a:r>
              <a:rPr sz="1050">
                <a:solidFill>
                  <a:srgbClr val="E6EDF3"/>
                </a:solidFill>
                <a:latin typeface="Consolas"/>
              </a:rPr>
              <a:t>    failureThreshold: 24</a:t>
            </a:r>
          </a:p>
          <a:p>
            <a:pPr>
              <a:lnSpc>
                <a:spcPts val="1476"/>
              </a:lnSpc>
              <a:spcAft>
                <a:spcPts val="0"/>
              </a:spcAft>
            </a:pPr>
            <a:r>
              <a:rPr sz="1050">
                <a:solidFill>
                  <a:srgbClr val="E6EDF3"/>
                </a:solidFill>
                <a:latin typeface="Consolas"/>
              </a:rPr>
              <a:t>  readinessProbe:          # traffic gate: 3 + 5x2 = 13s</a:t>
            </a:r>
          </a:p>
          <a:p>
            <a:pPr>
              <a:lnSpc>
                <a:spcPts val="1476"/>
              </a:lnSpc>
              <a:spcAft>
                <a:spcPts val="0"/>
              </a:spcAft>
            </a:pPr>
            <a:r>
              <a:rPr sz="1050">
                <a:solidFill>
                  <a:srgbClr val="E6EDF3"/>
                </a:solidFill>
                <a:latin typeface="Consolas"/>
              </a:rPr>
              <a:t>    httpGet: {path: /ready.html, port: http}</a:t>
            </a:r>
          </a:p>
          <a:p>
            <a:pPr>
              <a:lnSpc>
                <a:spcPts val="1476"/>
              </a:lnSpc>
              <a:spcAft>
                <a:spcPts val="0"/>
              </a:spcAft>
            </a:pPr>
            <a:r>
              <a:rPr sz="1050">
                <a:solidFill>
                  <a:srgbClr val="E6EDF3"/>
                </a:solidFill>
                <a:latin typeface="Consolas"/>
              </a:rPr>
              <a:t>    initialDelaySeconds: 3</a:t>
            </a:r>
          </a:p>
          <a:p>
            <a:pPr>
              <a:lnSpc>
                <a:spcPts val="1476"/>
              </a:lnSpc>
              <a:spcAft>
                <a:spcPts val="0"/>
              </a:spcAft>
            </a:pPr>
            <a:r>
              <a:rPr sz="1050">
                <a:solidFill>
                  <a:srgbClr val="E6EDF3"/>
                </a:solidFill>
                <a:latin typeface="Consolas"/>
              </a:rPr>
              <a:t>    periodSeconds: 5</a:t>
            </a:r>
          </a:p>
          <a:p>
            <a:pPr>
              <a:lnSpc>
                <a:spcPts val="1476"/>
              </a:lnSpc>
              <a:spcAft>
                <a:spcPts val="0"/>
              </a:spcAft>
            </a:pPr>
            <a:r>
              <a:rPr sz="1050">
                <a:solidFill>
                  <a:srgbClr val="E6EDF3"/>
                </a:solidFill>
                <a:latin typeface="Consolas"/>
              </a:rPr>
              <a:t>    failureThreshold: 2</a:t>
            </a:r>
          </a:p>
          <a:p>
            <a:pPr>
              <a:lnSpc>
                <a:spcPts val="1476"/>
              </a:lnSpc>
              <a:spcAft>
                <a:spcPts val="0"/>
              </a:spcAft>
            </a:pPr>
            <a:r>
              <a:rPr sz="1050">
                <a:solidFill>
                  <a:srgbClr val="E6EDF3"/>
                </a:solidFill>
                <a:latin typeface="Consolas"/>
              </a:rPr>
              <a:t>  livenessProbe:           # restart gate: 10 + 10x3 = 40s</a:t>
            </a:r>
          </a:p>
          <a:p>
            <a:pPr>
              <a:lnSpc>
                <a:spcPts val="1476"/>
              </a:lnSpc>
              <a:spcAft>
                <a:spcPts val="0"/>
              </a:spcAft>
            </a:pPr>
            <a:r>
              <a:rPr sz="1050">
                <a:solidFill>
                  <a:srgbClr val="E6EDF3"/>
                </a:solidFill>
                <a:latin typeface="Consolas"/>
              </a:rPr>
              <a:t>    httpGet: {path: /index.html, port: http}</a:t>
            </a:r>
          </a:p>
          <a:p>
            <a:pPr>
              <a:lnSpc>
                <a:spcPts val="1476"/>
              </a:lnSpc>
              <a:spcAft>
                <a:spcPts val="0"/>
              </a:spcAft>
            </a:pPr>
            <a:r>
              <a:rPr sz="1050">
                <a:solidFill>
                  <a:srgbClr val="E6EDF3"/>
                </a:solidFill>
                <a:latin typeface="Consolas"/>
              </a:rPr>
              <a:t>    initialDelaySeconds: 10</a:t>
            </a:r>
          </a:p>
          <a:p>
            <a:pPr>
              <a:lnSpc>
                <a:spcPts val="1476"/>
              </a:lnSpc>
              <a:spcAft>
                <a:spcPts val="0"/>
              </a:spcAft>
            </a:pPr>
            <a:r>
              <a:rPr sz="1050">
                <a:solidFill>
                  <a:srgbClr val="E6EDF3"/>
                </a:solidFill>
                <a:latin typeface="Consolas"/>
              </a:rPr>
              <a:t>    periodSeconds: 10</a:t>
            </a:r>
          </a:p>
          <a:p>
            <a:pPr>
              <a:lnSpc>
                <a:spcPts val="1476"/>
              </a:lnSpc>
              <a:spcAft>
                <a:spcPts val="0"/>
              </a:spcAft>
            </a:pPr>
            <a:r>
              <a:rPr sz="1050">
                <a:solidFill>
                  <a:srgbClr val="E6EDF3"/>
                </a:solidFill>
                <a:latin typeface="Consolas"/>
              </a:rPr>
              <a:t>    failureThreshold: 3</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budget formula</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initialDelaySeconds + (periodSeconds x failureThreshold). That is a number of seconds you compare with the app's real start time.</a:t>
            </a:r>
          </a:p>
        </p:txBody>
      </p:sp>
      <p:sp>
        <p:nvSpPr>
          <p:cNvPr id="15" name="Oval 14"/>
          <p:cNvSpPr/>
          <p:nvPr/>
        </p:nvSpPr>
        <p:spPr>
          <a:xfrm>
            <a:off x="7626096" y="354953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3125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Separate paths on purpose</a:t>
            </a:r>
          </a:p>
        </p:txBody>
      </p:sp>
      <p:sp>
        <p:nvSpPr>
          <p:cNvPr id="17" name="TextBox 16"/>
          <p:cNvSpPr txBox="1"/>
          <p:nvPr/>
        </p:nvSpPr>
        <p:spPr>
          <a:xfrm>
            <a:off x="7973567" y="3748039"/>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/ready.html gates traffic, /index.html gates life. Sharing one path means a temporarily busy Pod gets restarted, not drained.</a:t>
            </a:r>
          </a:p>
        </p:txBody>
      </p:sp>
      <p:sp>
        <p:nvSpPr>
          <p:cNvPr id="18" name="Oval 17"/>
          <p:cNvSpPr/>
          <p:nvPr/>
        </p:nvSpPr>
        <p:spPr>
          <a:xfrm>
            <a:off x="7626096" y="440525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38696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startupProbe suspends the others</a:t>
            </a:r>
          </a:p>
        </p:txBody>
      </p:sp>
      <p:sp>
        <p:nvSpPr>
          <p:cNvPr id="20" name="TextBox 19"/>
          <p:cNvSpPr txBox="1"/>
          <p:nvPr/>
        </p:nvSpPr>
        <p:spPr>
          <a:xfrm>
            <a:off x="7973567" y="4603755"/>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Liveness and readiness are not evaluated at all until startup succeeds once. 5s x 24 = a 120s boot window with zero restarts.</a:t>
            </a:r>
          </a:p>
        </p:txBody>
      </p:sp>
      <p:sp>
        <p:nvSpPr>
          <p:cNvPr id="21" name="Oval 20"/>
          <p:cNvSpPr/>
          <p:nvPr/>
        </p:nvSpPr>
        <p:spPr>
          <a:xfrm>
            <a:off x="7626096" y="526096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24268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timeoutSeconds counts as a failure</a:t>
            </a:r>
          </a:p>
        </p:txBody>
      </p:sp>
      <p:sp>
        <p:nvSpPr>
          <p:cNvPr id="23" name="TextBox 22"/>
          <p:cNvSpPr txBox="1"/>
          <p:nvPr/>
        </p:nvSpPr>
        <p:spPr>
          <a:xfrm>
            <a:off x="7973567" y="545947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slow response is a failed probe. Default timeoutSeconds is 1 — on a loaded node that alone can produce a restart loop.</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Configure Liveness, Readiness and Startup Probes: kubernetes.io/docs/tasks/configure-pod-container/configure-liveness-readiness-startup-probes/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495</a:t>
            </a:r>
          </a:p>
        </p:txBody>
      </p:sp>
    </p:spTree>
  </p:cSld>
  <p:clrMapOvr>
    <a:masterClrMapping/>
  </p:clrMapOvr>
  <p:transition xmlns:ns1="http://schemas.openxmlformats.org/markup-compatibility/2006" spd="fast" ns1:Ignorable="p14">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Probe Handlers And Where Each One Lies To You</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handler types, and each has a failure mode where it passes while the application is dead.</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httpGet</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Any 200-399 is a pass. Cheap and the default choice — but a handler that returns 200 unconditionally proves nothing.</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tcpSocket</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Passes if the port accepts a connection. A listening socket on a wedged process still passes; use it only as a floor.</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exec</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Runs a command in the container; exit 0 passes. The most expensive handler — it forks a process on every period.</a:t>
            </a:r>
          </a:p>
        </p:txBody>
      </p:sp>
      <p:sp>
        <p:nvSpPr>
          <p:cNvPr id="22" name="Rectangle 21"/>
          <p:cNvSpPr/>
          <p:nvPr/>
        </p:nvSpPr>
        <p:spPr>
          <a:xfrm>
            <a:off x="777240"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228940"/>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6666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grpc</a:t>
            </a:r>
          </a:p>
        </p:txBody>
      </p:sp>
      <p:sp>
        <p:nvSpPr>
          <p:cNvPr id="26" name="TextBox 25"/>
          <p:cNvSpPr txBox="1"/>
          <p:nvPr/>
        </p:nvSpPr>
        <p:spPr>
          <a:xfrm>
            <a:off x="1399032" y="3973982"/>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Native gRPC health checking protocol, stable since v1.27. Removes the grpc-health-probe binary from the image.</a:t>
            </a:r>
          </a:p>
        </p:txBody>
      </p:sp>
      <p:sp>
        <p:nvSpPr>
          <p:cNvPr id="27" name="Rectangle 26"/>
          <p:cNvSpPr/>
          <p:nvPr/>
        </p:nvSpPr>
        <p:spPr>
          <a:xfrm>
            <a:off x="4392167"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228940"/>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6666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412496"/>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terminationGracePeriodSeconds</a:t>
            </a:r>
          </a:p>
        </p:txBody>
      </p:sp>
      <p:sp>
        <p:nvSpPr>
          <p:cNvPr id="31" name="TextBox 30"/>
          <p:cNvSpPr txBox="1"/>
          <p:nvPr/>
        </p:nvSpPr>
        <p:spPr>
          <a:xfrm>
            <a:off x="5013959" y="4112158"/>
            <a:ext cx="2645664" cy="560412"/>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Probe-level override exists for liveness: a slow shutdown can be given its own grace period.</a:t>
            </a:r>
          </a:p>
        </p:txBody>
      </p:sp>
      <p:sp>
        <p:nvSpPr>
          <p:cNvPr id="32" name="Rectangle 31"/>
          <p:cNvSpPr/>
          <p:nvPr/>
        </p:nvSpPr>
        <p:spPr>
          <a:xfrm>
            <a:off x="8007095"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228940"/>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6666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successThreshold</a:t>
            </a:r>
          </a:p>
        </p:txBody>
      </p:sp>
      <p:sp>
        <p:nvSpPr>
          <p:cNvPr id="36" name="TextBox 35"/>
          <p:cNvSpPr txBox="1"/>
          <p:nvPr/>
        </p:nvSpPr>
        <p:spPr>
          <a:xfrm>
            <a:off x="8628888" y="3973982"/>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Must be 1 for liveness and startup. Only readiness may require several consecutive passes.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Pod Lifecycle — Container probes: kubernetes.io/docs/concepts/workloads/pods/pod-lifecycle/#container-probes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496</a:t>
            </a:r>
          </a:p>
        </p:txBody>
      </p:sp>
    </p:spTree>
  </p:cSld>
  <p:clrMapOvr>
    <a:masterClrMapping/>
  </p:clrMapOvr>
  <p:transition xmlns:ns1="http://schemas.openxmlformats.org/markup-compatibility/2006" spd="fast" ns1:Ignorable="p14">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Aggressive Liveness Probe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signature pair: Warning Unhealthy followed by Normal Killing, with exactly one line in the previous log.</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manifest-indexer is in CrashLoopBackOff. Nothing is wrong with the application — it simply needs 40 seconds to warm its index.</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416"/>
              </a:lnSpc>
              <a:spcAft>
                <a:spcPts val="0"/>
              </a:spcAft>
            </a:pPr>
            <a:r>
              <a:rPr sz="950">
                <a:solidFill>
                  <a:srgbClr val="7EE787"/>
                </a:solidFill>
                <a:latin typeface="Consolas"/>
              </a:rPr>
              <a:t>$ kubectl get pods -n kcna-lab22 -l app=manifest-indexer-outage</a:t>
            </a:r>
          </a:p>
          <a:p>
            <a:pPr>
              <a:lnSpc>
                <a:spcPts val="1416"/>
              </a:lnSpc>
              <a:spcAft>
                <a:spcPts val="0"/>
              </a:spcAft>
            </a:pPr>
            <a:r>
              <a:rPr sz="950">
                <a:solidFill>
                  <a:srgbClr val="E6EDF3"/>
                </a:solidFill>
                <a:latin typeface="Consolas"/>
              </a:rPr>
              <a:t>NAME                          READY  STATUS             RESTARTS</a:t>
            </a:r>
          </a:p>
          <a:p>
            <a:pPr>
              <a:lnSpc>
                <a:spcPts val="1416"/>
              </a:lnSpc>
              <a:spcAft>
                <a:spcPts val="0"/>
              </a:spcAft>
            </a:pPr>
            <a:r>
              <a:rPr sz="950">
                <a:solidFill>
                  <a:srgbClr val="E6EDF3"/>
                </a:solidFill>
                <a:latin typeface="Consolas"/>
              </a:rPr>
              <a:t>manifest-indexer-outage-t8pnw 0/1    CrashLoopBackOff   2 (12s ago)</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EE787"/>
                </a:solidFill>
                <a:latin typeface="Consolas"/>
              </a:rPr>
              <a:t>$ kubectl describe pod -n kcna-lab22 $BROKEN | tail -4</a:t>
            </a:r>
          </a:p>
          <a:p>
            <a:pPr>
              <a:lnSpc>
                <a:spcPts val="1416"/>
              </a:lnSpc>
              <a:spcAft>
                <a:spcPts val="0"/>
              </a:spcAft>
            </a:pPr>
            <a:r>
              <a:rPr sz="950">
                <a:solidFill>
                  <a:srgbClr val="E6EDF3"/>
                </a:solidFill>
                <a:latin typeface="Consolas"/>
              </a:rPr>
              <a:t>  Normal   Started    22s (x4 over 80s)  kubelet  Started container</a:t>
            </a:r>
          </a:p>
          <a:p>
            <a:pPr>
              <a:lnSpc>
                <a:spcPts val="1416"/>
              </a:lnSpc>
              <a:spcAft>
                <a:spcPts val="0"/>
              </a:spcAft>
            </a:pPr>
            <a:r>
              <a:rPr sz="950">
                <a:solidFill>
                  <a:srgbClr val="E6EDF3"/>
                </a:solidFill>
                <a:latin typeface="Consolas"/>
              </a:rPr>
              <a:t>  Warning  Unhealthy  12s (x8 over 74s)  kubelet  Liveness probe</a:t>
            </a:r>
          </a:p>
          <a:p>
            <a:pPr>
              <a:lnSpc>
                <a:spcPts val="1416"/>
              </a:lnSpc>
              <a:spcAft>
                <a:spcPts val="0"/>
              </a:spcAft>
            </a:pPr>
            <a:r>
              <a:rPr sz="950">
                <a:solidFill>
                  <a:srgbClr val="E6EDF3"/>
                </a:solidFill>
                <a:latin typeface="Consolas"/>
              </a:rPr>
              <a:t>     failed: Get "http://10.244.0.18:8080/index.html": dial tcp</a:t>
            </a:r>
          </a:p>
          <a:p>
            <a:pPr>
              <a:lnSpc>
                <a:spcPts val="1416"/>
              </a:lnSpc>
              <a:spcAft>
                <a:spcPts val="0"/>
              </a:spcAft>
            </a:pPr>
            <a:r>
              <a:rPr sz="950">
                <a:solidFill>
                  <a:srgbClr val="E6EDF3"/>
                </a:solidFill>
                <a:latin typeface="Consolas"/>
              </a:rPr>
              <a:t>     10.244.0.18:8080: connect: connection refused</a:t>
            </a:r>
          </a:p>
          <a:p>
            <a:pPr>
              <a:lnSpc>
                <a:spcPts val="1416"/>
              </a:lnSpc>
              <a:spcAft>
                <a:spcPts val="0"/>
              </a:spcAft>
            </a:pPr>
            <a:r>
              <a:rPr sz="950">
                <a:solidFill>
                  <a:srgbClr val="E6EDF3"/>
                </a:solidFill>
                <a:latin typeface="Consolas"/>
              </a:rPr>
              <a:t>  Normal   Killing    12s (x4 over 66s)  kubelet  Container indexer</a:t>
            </a:r>
          </a:p>
          <a:p>
            <a:pPr>
              <a:lnSpc>
                <a:spcPts val="1416"/>
              </a:lnSpc>
              <a:spcAft>
                <a:spcPts val="0"/>
              </a:spcAft>
            </a:pPr>
            <a:r>
              <a:rPr sz="950">
                <a:solidFill>
                  <a:srgbClr val="E6EDF3"/>
                </a:solidFill>
                <a:latin typeface="Consolas"/>
              </a:rPr>
              <a:t>     failed liveness probe, will be restarted</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EE787"/>
                </a:solidFill>
                <a:latin typeface="Consolas"/>
              </a:rPr>
              <a:t>$ kubectl logs -n kcna-lab22 $BROKEN --previous</a:t>
            </a:r>
          </a:p>
          <a:p>
            <a:pPr>
              <a:lnSpc>
                <a:spcPts val="1416"/>
              </a:lnSpc>
              <a:spcAft>
                <a:spcPts val="0"/>
              </a:spcAft>
            </a:pPr>
            <a:r>
              <a:rPr sz="950">
                <a:solidFill>
                  <a:srgbClr val="E6EDF3"/>
                </a:solidFill>
                <a:latin typeface="Consolas"/>
              </a:rPr>
              <a:t>[indexer] 06:31:04 warming shipment manifest index...</a:t>
            </a:r>
          </a:p>
        </p:txBody>
      </p:sp>
      <p:sp>
        <p:nvSpPr>
          <p:cNvPr id="14" name="Rectangle 13"/>
          <p:cNvSpPr/>
          <p:nvPr/>
        </p:nvSpPr>
        <p:spPr>
          <a:xfrm>
            <a:off x="7205472" y="291327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Liveness budget = 5 + (5 x 2) = 15s</a:t>
            </a:r>
          </a:p>
          <a:p>
            <a:pPr>
              <a:lnSpc>
                <a:spcPct val="112000"/>
              </a:lnSpc>
              <a:spcAft>
                <a:spcPts val="200"/>
              </a:spcAft>
            </a:pPr>
            <a:r>
              <a:rPr sz="950">
                <a:solidFill>
                  <a:srgbClr val="94A3B8"/>
                </a:solidFill>
                <a:latin typeface="Arial"/>
              </a:rPr>
              <a:t>•  </a:t>
            </a:r>
            <a:r>
              <a:rPr sz="950">
                <a:solidFill>
                  <a:srgbClr val="5B6372"/>
                </a:solidFill>
                <a:latin typeface="Arial"/>
              </a:rPr>
              <a:t>Real start time = 40s. 15 &lt; 40</a:t>
            </a:r>
          </a:p>
          <a:p>
            <a:pPr>
              <a:lnSpc>
                <a:spcPct val="112000"/>
              </a:lnSpc>
              <a:spcAft>
                <a:spcPts val="200"/>
              </a:spcAft>
            </a:pPr>
            <a:r>
              <a:rPr sz="950">
                <a:solidFill>
                  <a:srgbClr val="94A3B8"/>
                </a:solidFill>
                <a:latin typeface="Arial"/>
              </a:rPr>
              <a:t>•  </a:t>
            </a:r>
            <a:r>
              <a:rPr sz="950">
                <a:solidFill>
                  <a:srgbClr val="5B6372"/>
                </a:solidFill>
                <a:latin typeface="Arial"/>
              </a:rPr>
              <a:t>No startupProbe, so liveness runs from second 5</a:t>
            </a:r>
          </a:p>
        </p:txBody>
      </p:sp>
      <p:sp>
        <p:nvSpPr>
          <p:cNvPr id="18" name="Rectangle 17"/>
          <p:cNvSpPr/>
          <p:nvPr/>
        </p:nvSpPr>
        <p:spPr>
          <a:xfrm>
            <a:off x="7205472" y="4057619"/>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57619"/>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094195"/>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05091"/>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Add a startupProbe sized above the real boot time</a:t>
            </a:r>
          </a:p>
          <a:p>
            <a:pPr>
              <a:lnSpc>
                <a:spcPct val="112000"/>
              </a:lnSpc>
              <a:spcAft>
                <a:spcPts val="200"/>
              </a:spcAft>
            </a:pPr>
            <a:r>
              <a:rPr sz="950">
                <a:solidFill>
                  <a:srgbClr val="94A3B8"/>
                </a:solidFill>
                <a:latin typeface="Arial"/>
              </a:rPr>
              <a:t>•  </a:t>
            </a:r>
            <a:r>
              <a:rPr sz="950">
                <a:solidFill>
                  <a:srgbClr val="5B6372"/>
                </a:solidFill>
                <a:latin typeface="Arial"/>
              </a:rPr>
              <a:t>Keep liveness for hangs, not for boots</a:t>
            </a:r>
          </a:p>
          <a:p>
            <a:pPr>
              <a:lnSpc>
                <a:spcPct val="112000"/>
              </a:lnSpc>
              <a:spcAft>
                <a:spcPts val="200"/>
              </a:spcAft>
            </a:pPr>
            <a:r>
              <a:rPr sz="950">
                <a:solidFill>
                  <a:srgbClr val="94A3B8"/>
                </a:solidFill>
                <a:latin typeface="Arial"/>
              </a:rPr>
              <a:t>•  </a:t>
            </a:r>
            <a:r>
              <a:rPr sz="950">
                <a:solidFill>
                  <a:srgbClr val="5B6372"/>
                </a:solidFill>
                <a:latin typeface="Arial"/>
              </a:rPr>
              <a:t>Never loosen liveness to paper over a slow start</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497</a:t>
            </a:r>
          </a:p>
        </p:txBody>
      </p:sp>
    </p:spTree>
  </p:cSld>
  <p:clrMapOvr>
    <a:masterClrMapping/>
  </p:clrMapOvr>
  <p:transition xmlns:ns1="http://schemas.openxmlformats.org/markup-compatibility/2006" spd="fast" ns1:Ignorable="p14">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HEALTH</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Probe State Out Of describe pod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Probe configuration and probe outcome are both visible without reading a single YAML file.</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22 · kcna-lab22 · Kubernetes v1.37.0</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describe pod -n kcna-lab22 -l app=manifest-indexer \</a:t>
            </a:r>
          </a:p>
          <a:p>
            <a:pPr>
              <a:lnSpc>
                <a:spcPts val="1413"/>
              </a:lnSpc>
              <a:spcAft>
                <a:spcPts val="0"/>
              </a:spcAft>
            </a:pPr>
            <a:r>
              <a:rPr sz="1000">
                <a:solidFill>
                  <a:srgbClr val="E6EDF3"/>
                </a:solidFill>
                <a:latin typeface="Consolas"/>
              </a:rPr>
              <a:t>    | grep -E 'Restart Count|Liveness|Readiness|Startup'</a:t>
            </a:r>
          </a:p>
          <a:p>
            <a:pPr>
              <a:lnSpc>
                <a:spcPts val="1413"/>
              </a:lnSpc>
              <a:spcAft>
                <a:spcPts val="0"/>
              </a:spcAft>
            </a:pPr>
            <a:r>
              <a:rPr sz="1000">
                <a:solidFill>
                  <a:srgbClr val="E6EDF3"/>
                </a:solidFill>
                <a:latin typeface="Consolas"/>
              </a:rPr>
              <a:t>    Restart Count:  0</a:t>
            </a:r>
          </a:p>
          <a:p>
            <a:pPr>
              <a:lnSpc>
                <a:spcPts val="1413"/>
              </a:lnSpc>
              <a:spcAft>
                <a:spcPts val="0"/>
              </a:spcAft>
            </a:pPr>
            <a:r>
              <a:rPr sz="1000">
                <a:solidFill>
                  <a:srgbClr val="E6EDF3"/>
                </a:solidFill>
                <a:latin typeface="Consolas"/>
              </a:rPr>
              <a:t>    Liveness:   http-get http://:http/index.html delay=0s</a:t>
            </a:r>
          </a:p>
          <a:p>
            <a:pPr>
              <a:lnSpc>
                <a:spcPts val="1413"/>
              </a:lnSpc>
              <a:spcAft>
                <a:spcPts val="0"/>
              </a:spcAft>
            </a:pPr>
            <a:r>
              <a:rPr sz="1000">
                <a:solidFill>
                  <a:srgbClr val="E6EDF3"/>
                </a:solidFill>
                <a:latin typeface="Consolas"/>
              </a:rPr>
              <a:t>                timeout=2s period=10s #success=1 #failure=3</a:t>
            </a:r>
          </a:p>
          <a:p>
            <a:pPr>
              <a:lnSpc>
                <a:spcPts val="1413"/>
              </a:lnSpc>
              <a:spcAft>
                <a:spcPts val="0"/>
              </a:spcAft>
            </a:pPr>
            <a:r>
              <a:rPr sz="1000">
                <a:solidFill>
                  <a:srgbClr val="E6EDF3"/>
                </a:solidFill>
                <a:latin typeface="Consolas"/>
              </a:rPr>
              <a:t>    Readiness:  http-get http://:http/index.html delay=0s</a:t>
            </a:r>
          </a:p>
          <a:p>
            <a:pPr>
              <a:lnSpc>
                <a:spcPts val="1413"/>
              </a:lnSpc>
              <a:spcAft>
                <a:spcPts val="0"/>
              </a:spcAft>
            </a:pPr>
            <a:r>
              <a:rPr sz="1000">
                <a:solidFill>
                  <a:srgbClr val="E6EDF3"/>
                </a:solidFill>
                <a:latin typeface="Consolas"/>
              </a:rPr>
              <a:t>                timeout=2s period=5s #success=1 #failure=2</a:t>
            </a:r>
          </a:p>
          <a:p>
            <a:pPr>
              <a:lnSpc>
                <a:spcPts val="1413"/>
              </a:lnSpc>
              <a:spcAft>
                <a:spcPts val="0"/>
              </a:spcAft>
            </a:pPr>
            <a:r>
              <a:rPr sz="1000">
                <a:solidFill>
                  <a:srgbClr val="E6EDF3"/>
                </a:solidFill>
                <a:latin typeface="Consolas"/>
              </a:rPr>
              <a:t>    Startup:    http-get http://:http/index.html delay=0s</a:t>
            </a:r>
          </a:p>
          <a:p>
            <a:pPr>
              <a:lnSpc>
                <a:spcPts val="1413"/>
              </a:lnSpc>
              <a:spcAft>
                <a:spcPts val="0"/>
              </a:spcAft>
            </a:pPr>
            <a:r>
              <a:rPr sz="1000">
                <a:solidFill>
                  <a:srgbClr val="E6EDF3"/>
                </a:solidFill>
                <a:latin typeface="Consolas"/>
              </a:rPr>
              <a:t>                timeout=2s period=5s #success=1 #failure=24</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describe pod -n kcna-lab22 $VICTIM | sed -n \</a:t>
            </a:r>
          </a:p>
          <a:p>
            <a:pPr>
              <a:lnSpc>
                <a:spcPts val="1413"/>
              </a:lnSpc>
              <a:spcAft>
                <a:spcPts val="0"/>
              </a:spcAft>
            </a:pPr>
            <a:r>
              <a:rPr sz="1000">
                <a:solidFill>
                  <a:srgbClr val="E6EDF3"/>
                </a:solidFill>
                <a:latin typeface="Consolas"/>
              </a:rPr>
              <a:t>    '/^Conditions:/,/^Volumes:/p'</a:t>
            </a:r>
          </a:p>
          <a:p>
            <a:pPr>
              <a:lnSpc>
                <a:spcPts val="1413"/>
              </a:lnSpc>
              <a:spcAft>
                <a:spcPts val="0"/>
              </a:spcAft>
            </a:pPr>
            <a:r>
              <a:rPr sz="1000">
                <a:solidFill>
                  <a:srgbClr val="E6EDF3"/>
                </a:solidFill>
                <a:latin typeface="Consolas"/>
              </a:rPr>
              <a:t>  Type                        Status</a:t>
            </a:r>
          </a:p>
          <a:p>
            <a:pPr>
              <a:lnSpc>
                <a:spcPts val="1413"/>
              </a:lnSpc>
              <a:spcAft>
                <a:spcPts val="0"/>
              </a:spcAft>
            </a:pPr>
            <a:r>
              <a:rPr sz="1000">
                <a:solidFill>
                  <a:srgbClr val="E6EDF3"/>
                </a:solidFill>
                <a:latin typeface="Consolas"/>
              </a:rPr>
              <a:t>  PodReadyToStartContainers   True</a:t>
            </a:r>
          </a:p>
          <a:p>
            <a:pPr>
              <a:lnSpc>
                <a:spcPts val="1413"/>
              </a:lnSpc>
              <a:spcAft>
                <a:spcPts val="0"/>
              </a:spcAft>
            </a:pPr>
            <a:r>
              <a:rPr sz="1000">
                <a:solidFill>
                  <a:srgbClr val="E6EDF3"/>
                </a:solidFill>
                <a:latin typeface="Consolas"/>
              </a:rPr>
              <a:t>  Initialized                 True</a:t>
            </a:r>
          </a:p>
          <a:p>
            <a:pPr>
              <a:lnSpc>
                <a:spcPts val="1413"/>
              </a:lnSpc>
              <a:spcAft>
                <a:spcPts val="0"/>
              </a:spcAft>
            </a:pPr>
            <a:r>
              <a:rPr sz="1000">
                <a:solidFill>
                  <a:srgbClr val="E6EDF3"/>
                </a:solidFill>
                <a:latin typeface="Consolas"/>
              </a:rPr>
              <a:t>  Ready                       False</a:t>
            </a:r>
          </a:p>
          <a:p>
            <a:pPr>
              <a:lnSpc>
                <a:spcPts val="1413"/>
              </a:lnSpc>
              <a:spcAft>
                <a:spcPts val="0"/>
              </a:spcAft>
            </a:pPr>
            <a:r>
              <a:rPr sz="1000">
                <a:solidFill>
                  <a:srgbClr val="E6EDF3"/>
                </a:solidFill>
                <a:latin typeface="Consolas"/>
              </a:rPr>
              <a:t>  ContainersReady             False</a:t>
            </a:r>
          </a:p>
          <a:p>
            <a:pPr>
              <a:lnSpc>
                <a:spcPts val="1413"/>
              </a:lnSpc>
              <a:spcAft>
                <a:spcPts val="0"/>
              </a:spcAft>
            </a:pPr>
            <a:r>
              <a:rPr sz="1000">
                <a:solidFill>
                  <a:srgbClr val="E6EDF3"/>
                </a:solidFill>
                <a:latin typeface="Consolas"/>
              </a:rPr>
              <a:t>  PodScheduled                True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Restart Count: 0 is the headline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Pod that is 0/1 with zero restarts failed READINESS. A Pod with a climbing count failed LIVENESS. One column separates them.</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#failure is failureThreshold</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describe renders the probe as delay / timeout / period / #success / #failure. Startup #failure=24 at period 5s is the 120s budget.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Ready False, PodScheduled True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conditions localise the failure: scheduling succeeded, the container initialised, and only readiness is refusing.</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Conditions are the API's own triage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Read them top to bottom — they follow the same phase order as the troubleshooting tree you will use this afternoon.</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498</a:t>
            </a:r>
          </a:p>
        </p:txBody>
      </p:sp>
    </p:spTree>
  </p:cSld>
  <p:clrMapOvr>
    <a:masterClrMapping/>
  </p:clrMapOvr>
  <p:transition xmlns:ns1="http://schemas.openxmlformats.org/markup-compatibility/2006" spd="fast" ns1:Ignorable="p14">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 22 — Probes, Health and Self-Healing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Configure liveness, readiness and startup probes on the Depot Portal workloads and prove that each one has a different consequence: restart, endpoint withdrawal, or a grace window for a slow boot.</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depot-portal Deployment whose readiness probe demonstrably adds and removes its Pod address from the Service EndpointSlice without ever restarting the container</a:t>
            </a:r>
          </a:p>
          <a:p>
            <a:pPr>
              <a:lnSpc>
                <a:spcPct val="112000"/>
              </a:lnSpc>
              <a:spcAft>
                <a:spcPts val="500"/>
              </a:spcAft>
            </a:pPr>
            <a:r>
              <a:rPr sz="1050">
                <a:solidFill>
                  <a:srgbClr val="94A3B8"/>
                </a:solidFill>
                <a:latin typeface="Arial"/>
              </a:rPr>
              <a:t>•  </a:t>
            </a:r>
            <a:r>
              <a:rPr sz="1050">
                <a:solidFill>
                  <a:srgbClr val="5B6372"/>
                </a:solidFill>
                <a:latin typeface="Arial"/>
              </a:rPr>
              <a:t>A manifest-indexer Deployment that boots for 40 seconds and reaches Ready with zero restarts because a startupProbe grants it a 120-second budget</a:t>
            </a:r>
          </a:p>
          <a:p>
            <a:pPr>
              <a:lnSpc>
                <a:spcPct val="112000"/>
              </a:lnSpc>
              <a:spcAft>
                <a:spcPts val="500"/>
              </a:spcAft>
            </a:pPr>
            <a:r>
              <a:rPr sz="1050">
                <a:solidFill>
                  <a:srgbClr val="94A3B8"/>
                </a:solidFill>
                <a:latin typeface="Arial"/>
              </a:rPr>
              <a:t>•  </a:t>
            </a:r>
            <a:r>
              <a:rPr sz="1050">
                <a:solidFill>
                  <a:srgbClr val="5B6372"/>
                </a:solidFill>
                <a:latin typeface="Arial"/>
              </a:rPr>
              <a:t>A completed probe-tuning worksheet recording each probe's failure budget, observed timing and consequence</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Liveness restarts the container; readiness withdraws it from the Service; startup suspends both while the process boots</a:t>
            </a:r>
          </a:p>
          <a:p>
            <a:pPr>
              <a:lnSpc>
                <a:spcPct val="112000"/>
              </a:lnSpc>
              <a:spcAft>
                <a:spcPts val="500"/>
              </a:spcAft>
            </a:pPr>
            <a:r>
              <a:rPr sz="1050">
                <a:solidFill>
                  <a:srgbClr val="94A3B8"/>
                </a:solidFill>
                <a:latin typeface="Arial"/>
              </a:rPr>
              <a:t>•  </a:t>
            </a:r>
            <a:r>
              <a:rPr sz="1050">
                <a:solidFill>
                  <a:srgbClr val="5B6372"/>
                </a:solidFill>
                <a:latin typeface="Arial"/>
              </a:rPr>
              <a:t>Failure budget arithmetic: initialDelaySeconds + (periodSeconds x failureThreshold)</a:t>
            </a:r>
          </a:p>
          <a:p>
            <a:pPr>
              <a:lnSpc>
                <a:spcPct val="112000"/>
              </a:lnSpc>
              <a:spcAft>
                <a:spcPts val="500"/>
              </a:spcAft>
            </a:pPr>
            <a:r>
              <a:rPr sz="1050">
                <a:solidFill>
                  <a:srgbClr val="94A3B8"/>
                </a:solidFill>
                <a:latin typeface="Arial"/>
              </a:rPr>
              <a:t>•  </a:t>
            </a:r>
            <a:r>
              <a:rPr sz="1050">
                <a:solidFill>
                  <a:srgbClr val="5B6372"/>
                </a:solidFill>
                <a:latin typeface="Arial"/>
              </a:rPr>
              <a:t>EndpointSlice is the current API that kube-proxy consumes for Service backends</a:t>
            </a:r>
          </a:p>
          <a:p>
            <a:pPr>
              <a:lnSpc>
                <a:spcPct val="112000"/>
              </a:lnSpc>
              <a:spcAft>
                <a:spcPts val="500"/>
              </a:spcAft>
            </a:pPr>
            <a:r>
              <a:rPr sz="1050">
                <a:solidFill>
                  <a:srgbClr val="94A3B8"/>
                </a:solidFill>
                <a:latin typeface="Arial"/>
              </a:rPr>
              <a:t>•  </a:t>
            </a:r>
            <a:r>
              <a:rPr sz="1050">
                <a:solidFill>
                  <a:srgbClr val="5B6372"/>
                </a:solidFill>
                <a:latin typeface="Arial"/>
              </a:rPr>
              <a:t>A liveness budget shorter than real startup time produces a permanent restart loop on a perfectly healthy application</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22</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kcna-lab22</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LO6 · A6 · K7</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courseware/labs/lab-22-probes-health-selfhealing/README.md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499</a:t>
            </a:r>
          </a:p>
        </p:txBody>
      </p:sp>
    </p:spTree>
  </p:cSld>
  <p:clrMapOvr>
    <a:masterClrMapping/>
  </p:clrMapOvr>
  <p:transition xmlns:ns1="http://schemas.openxmlformats.org/markup-compatibility/2006" spd="fast" ns1:Ignorable="p14">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Morning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11:00 – 11:10 AM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500</a:t>
            </a:r>
          </a:p>
        </p:txBody>
      </p:sp>
    </p:spTree>
  </p:cSld>
  <p:clrMapOvr>
    <a:masterClrMapping/>
  </p:clrMapOvr>
  <p:transition xmlns:ns1="http://schemas.openxmlformats.org/markup-compatibility/2006" spd="fast" ns1:Ignorable="p14">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An Event Is An API Object — Read Its Fields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Events are namespaced objects in etcd, not log lines — which is exactly why they can be queried, and why they expire.</a:t>
            </a:r>
          </a:p>
        </p:txBody>
      </p:sp>
      <p:sp>
        <p:nvSpPr>
          <p:cNvPr id="7" name="Rectangle 6"/>
          <p:cNvSpPr/>
          <p:nvPr/>
        </p:nvSpPr>
        <p:spPr>
          <a:xfrm>
            <a:off x="777240" y="2208885"/>
            <a:ext cx="6355080" cy="378957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36901"/>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core/v1 Event · kcna-lab23</a:t>
            </a:r>
          </a:p>
        </p:txBody>
      </p:sp>
      <p:sp>
        <p:nvSpPr>
          <p:cNvPr id="9" name="TextBox 8"/>
          <p:cNvSpPr txBox="1"/>
          <p:nvPr/>
        </p:nvSpPr>
        <p:spPr>
          <a:xfrm>
            <a:off x="923544" y="2629509"/>
            <a:ext cx="6062472" cy="3222650"/>
          </a:xfrm>
          <a:prstGeom prst="rect">
            <a:avLst/>
          </a:prstGeom>
          <a:noFill/>
        </p:spPr>
        <p:txBody>
          <a:bodyPr wrap="none" lIns="0" rIns="0" tIns="0" bIns="0">
            <a:spAutoFit/>
          </a:bodyPr>
          <a:lstStyle/>
          <a:p>
            <a:pPr>
              <a:lnSpc>
                <a:spcPts val="1409"/>
              </a:lnSpc>
              <a:spcAft>
                <a:spcPts val="0"/>
              </a:spcAft>
            </a:pPr>
            <a:r>
              <a:rPr sz="1050">
                <a:solidFill>
                  <a:srgbClr val="E6EDF3"/>
                </a:solidFill>
                <a:latin typeface="Consolas"/>
              </a:rPr>
              <a:t>apiVersion: v1</a:t>
            </a:r>
          </a:p>
          <a:p>
            <a:pPr>
              <a:lnSpc>
                <a:spcPts val="1409"/>
              </a:lnSpc>
              <a:spcAft>
                <a:spcPts val="0"/>
              </a:spcAft>
            </a:pPr>
            <a:r>
              <a:rPr sz="1050">
                <a:solidFill>
                  <a:srgbClr val="E6EDF3"/>
                </a:solidFill>
                <a:latin typeface="Consolas"/>
              </a:rPr>
              <a:t>kind: Event</a:t>
            </a:r>
          </a:p>
          <a:p>
            <a:pPr>
              <a:lnSpc>
                <a:spcPts val="1409"/>
              </a:lnSpc>
              <a:spcAft>
                <a:spcPts val="0"/>
              </a:spcAft>
            </a:pPr>
            <a:r>
              <a:rPr sz="1050">
                <a:solidFill>
                  <a:srgbClr val="E6EDF3"/>
                </a:solidFill>
                <a:latin typeface="Consolas"/>
              </a:rPr>
              <a:t>metadata:</a:t>
            </a:r>
          </a:p>
          <a:p>
            <a:pPr>
              <a:lnSpc>
                <a:spcPts val="1409"/>
              </a:lnSpc>
              <a:spcAft>
                <a:spcPts val="0"/>
              </a:spcAft>
            </a:pPr>
            <a:r>
              <a:rPr sz="1050">
                <a:solidFill>
                  <a:srgbClr val="E6EDF3"/>
                </a:solidFill>
                <a:latin typeface="Consolas"/>
              </a:rPr>
              <a:t>  name: depot-gate-agent.186f2a1c9d4e</a:t>
            </a:r>
          </a:p>
          <a:p>
            <a:pPr>
              <a:lnSpc>
                <a:spcPts val="1409"/>
              </a:lnSpc>
              <a:spcAft>
                <a:spcPts val="0"/>
              </a:spcAft>
            </a:pPr>
            <a:r>
              <a:rPr sz="1050">
                <a:solidFill>
                  <a:srgbClr val="E6EDF3"/>
                </a:solidFill>
                <a:latin typeface="Consolas"/>
              </a:rPr>
              <a:t>involvedObject:</a:t>
            </a:r>
          </a:p>
          <a:p>
            <a:pPr>
              <a:lnSpc>
                <a:spcPts val="1409"/>
              </a:lnSpc>
              <a:spcAft>
                <a:spcPts val="0"/>
              </a:spcAft>
            </a:pPr>
            <a:r>
              <a:rPr sz="1050">
                <a:solidFill>
                  <a:srgbClr val="E6EDF3"/>
                </a:solidFill>
                <a:latin typeface="Consolas"/>
              </a:rPr>
              <a:t>  kind: Pod</a:t>
            </a:r>
          </a:p>
          <a:p>
            <a:pPr>
              <a:lnSpc>
                <a:spcPts val="1409"/>
              </a:lnSpc>
              <a:spcAft>
                <a:spcPts val="0"/>
              </a:spcAft>
            </a:pPr>
            <a:r>
              <a:rPr sz="1050">
                <a:solidFill>
                  <a:srgbClr val="E6EDF3"/>
                </a:solidFill>
                <a:latin typeface="Consolas"/>
              </a:rPr>
              <a:t>  name: depot-gate-agent</a:t>
            </a:r>
          </a:p>
          <a:p>
            <a:pPr>
              <a:lnSpc>
                <a:spcPts val="1409"/>
              </a:lnSpc>
              <a:spcAft>
                <a:spcPts val="0"/>
              </a:spcAft>
            </a:pPr>
            <a:r>
              <a:rPr sz="1050">
                <a:solidFill>
                  <a:srgbClr val="E6EDF3"/>
                </a:solidFill>
                <a:latin typeface="Consolas"/>
              </a:rPr>
              <a:t>  namespace: kcna-lab23</a:t>
            </a:r>
          </a:p>
          <a:p>
            <a:pPr>
              <a:lnSpc>
                <a:spcPts val="1409"/>
              </a:lnSpc>
              <a:spcAft>
                <a:spcPts val="0"/>
              </a:spcAft>
            </a:pPr>
            <a:r>
              <a:rPr sz="1050">
                <a:solidFill>
                  <a:srgbClr val="E6EDF3"/>
                </a:solidFill>
                <a:latin typeface="Consolas"/>
              </a:rPr>
              <a:t>type: Warning</a:t>
            </a:r>
          </a:p>
          <a:p>
            <a:pPr>
              <a:lnSpc>
                <a:spcPts val="1409"/>
              </a:lnSpc>
              <a:spcAft>
                <a:spcPts val="0"/>
              </a:spcAft>
            </a:pPr>
            <a:r>
              <a:rPr sz="1050">
                <a:solidFill>
                  <a:srgbClr val="E6EDF3"/>
                </a:solidFill>
                <a:latin typeface="Consolas"/>
              </a:rPr>
              <a:t>reason: FailedMount</a:t>
            </a:r>
          </a:p>
          <a:p>
            <a:pPr>
              <a:lnSpc>
                <a:spcPts val="1409"/>
              </a:lnSpc>
              <a:spcAft>
                <a:spcPts val="0"/>
              </a:spcAft>
            </a:pPr>
            <a:r>
              <a:rPr sz="1050">
                <a:solidFill>
                  <a:srgbClr val="E6EDF3"/>
                </a:solidFill>
                <a:latin typeface="Consolas"/>
              </a:rPr>
              <a:t>message: 'MountVolume.SetUp failed for volume</a:t>
            </a:r>
          </a:p>
          <a:p>
            <a:pPr>
              <a:lnSpc>
                <a:spcPts val="1409"/>
              </a:lnSpc>
              <a:spcAft>
                <a:spcPts val="0"/>
              </a:spcAft>
            </a:pPr>
            <a:r>
              <a:rPr sz="1050">
                <a:solidFill>
                  <a:srgbClr val="E6EDF3"/>
                </a:solidFill>
                <a:latin typeface="Consolas"/>
              </a:rPr>
              <a:t>  "gate-config" : configmap "depot-gate-config"</a:t>
            </a:r>
          </a:p>
          <a:p>
            <a:pPr>
              <a:lnSpc>
                <a:spcPts val="1409"/>
              </a:lnSpc>
              <a:spcAft>
                <a:spcPts val="0"/>
              </a:spcAft>
            </a:pPr>
            <a:r>
              <a:rPr sz="1050">
                <a:solidFill>
                  <a:srgbClr val="E6EDF3"/>
                </a:solidFill>
                <a:latin typeface="Consolas"/>
              </a:rPr>
              <a:t>  not found'</a:t>
            </a:r>
          </a:p>
          <a:p>
            <a:pPr>
              <a:lnSpc>
                <a:spcPts val="1409"/>
              </a:lnSpc>
              <a:spcAft>
                <a:spcPts val="0"/>
              </a:spcAft>
            </a:pPr>
            <a:r>
              <a:rPr sz="1050">
                <a:solidFill>
                  <a:srgbClr val="E6EDF3"/>
                </a:solidFill>
                <a:latin typeface="Consolas"/>
              </a:rPr>
              <a:t>source:</a:t>
            </a:r>
          </a:p>
          <a:p>
            <a:pPr>
              <a:lnSpc>
                <a:spcPts val="1409"/>
              </a:lnSpc>
              <a:spcAft>
                <a:spcPts val="0"/>
              </a:spcAft>
            </a:pPr>
            <a:r>
              <a:rPr sz="1050">
                <a:solidFill>
                  <a:srgbClr val="E6EDF3"/>
                </a:solidFill>
                <a:latin typeface="Consolas"/>
              </a:rPr>
              <a:t>  component: kubelet</a:t>
            </a:r>
          </a:p>
          <a:p>
            <a:pPr>
              <a:lnSpc>
                <a:spcPts val="1409"/>
              </a:lnSpc>
              <a:spcAft>
                <a:spcPts val="0"/>
              </a:spcAft>
            </a:pPr>
            <a:r>
              <a:rPr sz="1050">
                <a:solidFill>
                  <a:srgbClr val="E6EDF3"/>
                </a:solidFill>
                <a:latin typeface="Consolas"/>
              </a:rPr>
              <a:t>count: 3</a:t>
            </a:r>
          </a:p>
          <a:p>
            <a:pPr>
              <a:lnSpc>
                <a:spcPts val="1409"/>
              </a:lnSpc>
              <a:spcAft>
                <a:spcPts val="0"/>
              </a:spcAft>
            </a:pPr>
            <a:r>
              <a:rPr sz="1050">
                <a:solidFill>
                  <a:srgbClr val="E6EDF3"/>
                </a:solidFill>
                <a:latin typeface="Consolas"/>
              </a:rPr>
              <a:t>firstTimestamp: "2026-09-05T06:12:04Z"</a:t>
            </a:r>
          </a:p>
          <a:p>
            <a:pPr>
              <a:lnSpc>
                <a:spcPts val="1409"/>
              </a:lnSpc>
              <a:spcAft>
                <a:spcPts val="0"/>
              </a:spcAft>
            </a:pPr>
            <a:r>
              <a:rPr sz="1050">
                <a:solidFill>
                  <a:srgbClr val="E6EDF3"/>
                </a:solidFill>
                <a:latin typeface="Consolas"/>
              </a:rPr>
              <a:t>lastTimestamp:  "2026-09-05T06:16:21Z"</a:t>
            </a:r>
          </a:p>
        </p:txBody>
      </p:sp>
      <p:sp>
        <p:nvSpPr>
          <p:cNvPr id="10" name="Rectangle 9"/>
          <p:cNvSpPr/>
          <p:nvPr/>
        </p:nvSpPr>
        <p:spPr>
          <a:xfrm>
            <a:off x="7406640" y="2208885"/>
            <a:ext cx="4069079" cy="3826154"/>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73477"/>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702661"/>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8437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involvedObject is the join key</a:t>
            </a:r>
          </a:p>
        </p:txBody>
      </p:sp>
      <p:sp>
        <p:nvSpPr>
          <p:cNvPr id="14" name="TextBox 13"/>
          <p:cNvSpPr txBox="1"/>
          <p:nvPr/>
        </p:nvSpPr>
        <p:spPr>
          <a:xfrm>
            <a:off x="7973567" y="2901162"/>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kind, name, namespace and uid. These are the indexed fields you filter on with --field-selector; nothing else about the object is.</a:t>
            </a:r>
          </a:p>
        </p:txBody>
      </p:sp>
      <p:sp>
        <p:nvSpPr>
          <p:cNvPr id="15" name="Oval 14"/>
          <p:cNvSpPr/>
          <p:nvPr/>
        </p:nvSpPr>
        <p:spPr>
          <a:xfrm>
            <a:off x="7626096" y="3568171"/>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988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type is only Normal or Warning</a:t>
            </a:r>
          </a:p>
        </p:txBody>
      </p:sp>
      <p:sp>
        <p:nvSpPr>
          <p:cNvPr id="17" name="TextBox 16"/>
          <p:cNvSpPr txBox="1"/>
          <p:nvPr/>
        </p:nvSpPr>
        <p:spPr>
          <a:xfrm>
            <a:off x="7973567" y="3766672"/>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There is no Error type. Warning is the entire severity vocabulary for triage, which is why type=Warning is the highest-value filter.</a:t>
            </a:r>
          </a:p>
        </p:txBody>
      </p:sp>
      <p:sp>
        <p:nvSpPr>
          <p:cNvPr id="18" name="Oval 17"/>
          <p:cNvSpPr/>
          <p:nvPr/>
        </p:nvSpPr>
        <p:spPr>
          <a:xfrm>
            <a:off x="7626096" y="4433681"/>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415393"/>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reason is a stable CamelCase token</a:t>
            </a:r>
          </a:p>
        </p:txBody>
      </p:sp>
      <p:sp>
        <p:nvSpPr>
          <p:cNvPr id="20" name="TextBox 19"/>
          <p:cNvSpPr txBox="1"/>
          <p:nvPr/>
        </p:nvSpPr>
        <p:spPr>
          <a:xfrm>
            <a:off x="7973567" y="4632182"/>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FailedMount, FailedScheduling, Unhealthy, BackOff, Killing. Machine-matchable; the free-text message is not.</a:t>
            </a:r>
          </a:p>
        </p:txBody>
      </p:sp>
      <p:sp>
        <p:nvSpPr>
          <p:cNvPr id="21" name="Oval 20"/>
          <p:cNvSpPr/>
          <p:nvPr/>
        </p:nvSpPr>
        <p:spPr>
          <a:xfrm>
            <a:off x="7626096" y="5145435"/>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127147"/>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count + first/lastTimestamp = aggregation</a:t>
            </a:r>
          </a:p>
        </p:txBody>
      </p:sp>
      <p:sp>
        <p:nvSpPr>
          <p:cNvPr id="23" name="TextBox 22"/>
          <p:cNvSpPr txBox="1"/>
          <p:nvPr/>
        </p:nvSpPr>
        <p:spPr>
          <a:xfrm>
            <a:off x="7973567" y="5343936"/>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Three occurrences, one object. Kubernetes never stores one Event per occurrence, so 'one event' can mean hundreds.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API reference, core/v1 Event; and Field Selectors: kubernetes.io/docs/concepts/overview/working-with-objects/field-selectors/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501</a:t>
            </a:r>
          </a:p>
        </p:txBody>
      </p:sp>
    </p:spTree>
  </p:cSld>
  <p:clrMapOvr>
    <a:masterClrMapping/>
  </p:clrMapOvr>
  <p:transition xmlns:ns1="http://schemas.openxmlformats.org/markup-compatibility/2006" spd="fast" ns1:Ignorable="p14">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Sort Them, Or You Will Misread Cause And Effect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Same data, three renderings — only two of them are safe to reason from.</a:t>
            </a:r>
          </a:p>
        </p:txBody>
      </p:sp>
      <p:sp>
        <p:nvSpPr>
          <p:cNvPr id="7" name="Rectangle 6"/>
          <p:cNvSpPr/>
          <p:nvPr/>
        </p:nvSpPr>
        <p:spPr>
          <a:xfrm>
            <a:off x="777240" y="2200046"/>
            <a:ext cx="690372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23 · kcna-lab23 · Kubernetes v1.37.0</a:t>
            </a:r>
          </a:p>
        </p:txBody>
      </p:sp>
      <p:sp>
        <p:nvSpPr>
          <p:cNvPr id="9" name="TextBox 8"/>
          <p:cNvSpPr txBox="1"/>
          <p:nvPr/>
        </p:nvSpPr>
        <p:spPr>
          <a:xfrm>
            <a:off x="923544" y="2620670"/>
            <a:ext cx="6611112" cy="3186684"/>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events -n kcna-lab23 | head -4</a:t>
            </a:r>
          </a:p>
          <a:p>
            <a:pPr>
              <a:lnSpc>
                <a:spcPts val="1476"/>
              </a:lnSpc>
              <a:spcAft>
                <a:spcPts val="0"/>
              </a:spcAft>
            </a:pPr>
            <a:r>
              <a:rPr sz="1000">
                <a:solidFill>
                  <a:srgbClr val="E6EDF3"/>
                </a:solidFill>
                <a:latin typeface="Consolas"/>
              </a:rPr>
              <a:t>LAST SEEN  TYPE     REASON      OBJECT                MESSAGE</a:t>
            </a:r>
          </a:p>
          <a:p>
            <a:pPr>
              <a:lnSpc>
                <a:spcPts val="1476"/>
              </a:lnSpc>
              <a:spcAft>
                <a:spcPts val="0"/>
              </a:spcAft>
            </a:pPr>
            <a:r>
              <a:rPr sz="1000">
                <a:solidFill>
                  <a:srgbClr val="E6EDF3"/>
                </a:solidFill>
                <a:latin typeface="Consolas"/>
              </a:rPr>
              <a:t>41s        Normal   Pulled      Pod/gate-scanner-w2xkc  image present</a:t>
            </a:r>
          </a:p>
          <a:p>
            <a:pPr>
              <a:lnSpc>
                <a:spcPts val="1476"/>
              </a:lnSpc>
              <a:spcAft>
                <a:spcPts val="0"/>
              </a:spcAft>
            </a:pPr>
            <a:r>
              <a:rPr sz="1000">
                <a:solidFill>
                  <a:srgbClr val="E6EDF3"/>
                </a:solidFill>
                <a:latin typeface="Consolas"/>
              </a:rPr>
              <a:t>2m6s       Normal   Scheduled   Pod/depot-portal-jm4vd  assigned to...</a:t>
            </a:r>
          </a:p>
          <a:p>
            <a:pPr>
              <a:lnSpc>
                <a:spcPts val="1476"/>
              </a:lnSpc>
              <a:spcAft>
                <a:spcPts val="0"/>
              </a:spcAft>
            </a:pPr>
            <a:r>
              <a:rPr sz="1000">
                <a:solidFill>
                  <a:srgbClr val="E6EDF3"/>
                </a:solidFill>
                <a:latin typeface="Consolas"/>
              </a:rPr>
              <a:t>19s        Warning  FailedMount Pod/depot-gate-agent    configmap not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events -n kcna-lab23 --sort-by=.lastTimestamp | tail -6</a:t>
            </a:r>
          </a:p>
          <a:p>
            <a:pPr>
              <a:lnSpc>
                <a:spcPts val="1476"/>
              </a:lnSpc>
              <a:spcAft>
                <a:spcPts val="0"/>
              </a:spcAft>
            </a:pPr>
            <a:r>
              <a:rPr sz="1000">
                <a:solidFill>
                  <a:srgbClr val="E6EDF3"/>
                </a:solidFill>
                <a:latin typeface="Consolas"/>
              </a:rPr>
              <a:t>LAST SEEN  TYPE     REASON      OBJECT                MESSAGE</a:t>
            </a:r>
          </a:p>
          <a:p>
            <a:pPr>
              <a:lnSpc>
                <a:spcPts val="1476"/>
              </a:lnSpc>
              <a:spcAft>
                <a:spcPts val="0"/>
              </a:spcAft>
            </a:pPr>
            <a:r>
              <a:rPr sz="1000">
                <a:solidFill>
                  <a:srgbClr val="E6EDF3"/>
                </a:solidFill>
                <a:latin typeface="Consolas"/>
              </a:rPr>
              <a:t>2m30s      Normal   Scheduled   Pod/gate-scanner-w2xkc  assigned</a:t>
            </a:r>
          </a:p>
          <a:p>
            <a:pPr>
              <a:lnSpc>
                <a:spcPts val="1476"/>
              </a:lnSpc>
              <a:spcAft>
                <a:spcPts val="0"/>
              </a:spcAft>
            </a:pPr>
            <a:r>
              <a:rPr sz="1000">
                <a:solidFill>
                  <a:srgbClr val="E6EDF3"/>
                </a:solidFill>
                <a:latin typeface="Consolas"/>
              </a:rPr>
              <a:t>2m28s      Normal   Pulled      Pod/gate-scanner-w2xkc  image present</a:t>
            </a:r>
          </a:p>
          <a:p>
            <a:pPr>
              <a:lnSpc>
                <a:spcPts val="1476"/>
              </a:lnSpc>
              <a:spcAft>
                <a:spcPts val="0"/>
              </a:spcAft>
            </a:pPr>
            <a:r>
              <a:rPr sz="1000">
                <a:solidFill>
                  <a:srgbClr val="E6EDF3"/>
                </a:solidFill>
                <a:latin typeface="Consolas"/>
              </a:rPr>
              <a:t>2m28s      Normal   Created     Pod/gate-scanner-w2xkc  Created: scanner</a:t>
            </a:r>
          </a:p>
          <a:p>
            <a:pPr>
              <a:lnSpc>
                <a:spcPts val="1476"/>
              </a:lnSpc>
              <a:spcAft>
                <a:spcPts val="0"/>
              </a:spcAft>
            </a:pPr>
            <a:r>
              <a:rPr sz="1000">
                <a:solidFill>
                  <a:srgbClr val="E6EDF3"/>
                </a:solidFill>
                <a:latin typeface="Consolas"/>
              </a:rPr>
              <a:t>2m28s      Normal   Started     Pod/gate-scanner-w2xkc  Started scanner</a:t>
            </a:r>
          </a:p>
          <a:p>
            <a:pPr>
              <a:lnSpc>
                <a:spcPts val="1476"/>
              </a:lnSpc>
              <a:spcAft>
                <a:spcPts val="0"/>
              </a:spcAft>
            </a:pPr>
            <a:r>
              <a:rPr sz="1000">
                <a:solidFill>
                  <a:srgbClr val="E6EDF3"/>
                </a:solidFill>
                <a:latin typeface="Consolas"/>
              </a:rPr>
              <a:t>2m16s      Warning  BackOff     Pod/gate-scanner-w2xkc  Back-off restart</a:t>
            </a:r>
          </a:p>
          <a:p>
            <a:pPr>
              <a:lnSpc>
                <a:spcPts val="1476"/>
              </a:lnSpc>
              <a:spcAft>
                <a:spcPts val="0"/>
              </a:spcAft>
            </a:pPr>
            <a:r>
              <a:rPr sz="1000">
                <a:solidFill>
                  <a:srgbClr val="E6EDF3"/>
                </a:solidFill>
                <a:latin typeface="Consolas"/>
              </a:rPr>
              <a:t>30s        Warning  FailedMount Pod/depot-gate-agent    configmap not</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events -n kcna-lab23 --for pod/depot-gate-agent</a:t>
            </a:r>
          </a:p>
          <a:p>
            <a:pPr>
              <a:lnSpc>
                <a:spcPts val="1476"/>
              </a:lnSpc>
              <a:spcAft>
                <a:spcPts val="0"/>
              </a:spcAft>
            </a:pPr>
            <a:r>
              <a:rPr sz="1000">
                <a:solidFill>
                  <a:srgbClr val="E6EDF3"/>
                </a:solidFill>
                <a:latin typeface="Consolas"/>
              </a:rPr>
              <a:t>2m59s (x2 over 3m1s)  Warning  FailedMount  Pod/depot-gate-agent</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default order is not time</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kubectl get events returns the API's own order. During an incident that is actively harmful — you will invert cause and effect.</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--sort-by=.lastTimestamp</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Build muscle memory for this exact flag. It is a client-side sort over the JSON path, so it works on any list command.</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kubectl events sorts by default</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dedicated subcommand (GA since v1.29) sorts for you and takes --for pod/NAME to scope to a single object.</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 the (x2 over 3m1s)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That is count and the first/last timestamp pair rendered inline. One row, two occurrences, over three minutes.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502</a:t>
            </a:r>
          </a:p>
        </p:txBody>
      </p:sp>
    </p:spTree>
  </p:cSld>
  <p:clrMapOvr>
    <a:masterClrMapping/>
  </p:clrMapOvr>
  <p:transition xmlns:ns1="http://schemas.openxmlformats.org/markup-compatibility/2006" spd="fast" ns1:Ignorable="p14">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Field Selectors — Cutting The Noise To One Question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single highest-value triage filter in Kubernetes, and its hard limit.</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23 · --field-selector on core/v1 Events</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events -n kcna-lab23 \</a:t>
            </a:r>
          </a:p>
          <a:p>
            <a:pPr>
              <a:lnSpc>
                <a:spcPts val="1476"/>
              </a:lnSpc>
              <a:spcAft>
                <a:spcPts val="0"/>
              </a:spcAft>
            </a:pPr>
            <a:r>
              <a:rPr sz="1000">
                <a:solidFill>
                  <a:srgbClr val="E6EDF3"/>
                </a:solidFill>
                <a:latin typeface="Consolas"/>
              </a:rPr>
              <a:t>    --field-selector involvedObject.kind=Pod,type=Warning \</a:t>
            </a:r>
          </a:p>
          <a:p>
            <a:pPr>
              <a:lnSpc>
                <a:spcPts val="1476"/>
              </a:lnSpc>
              <a:spcAft>
                <a:spcPts val="0"/>
              </a:spcAft>
            </a:pPr>
            <a:r>
              <a:rPr sz="1000">
                <a:solidFill>
                  <a:srgbClr val="E6EDF3"/>
                </a:solidFill>
                <a:latin typeface="Consolas"/>
              </a:rPr>
              <a:t>    --sort-by=.lastTimestamp</a:t>
            </a:r>
          </a:p>
          <a:p>
            <a:pPr>
              <a:lnSpc>
                <a:spcPts val="1476"/>
              </a:lnSpc>
              <a:spcAft>
                <a:spcPts val="0"/>
              </a:spcAft>
            </a:pPr>
            <a:r>
              <a:rPr sz="1000">
                <a:solidFill>
                  <a:srgbClr val="E6EDF3"/>
                </a:solidFill>
                <a:latin typeface="Consolas"/>
              </a:rPr>
              <a:t>LAST SEEN  TYPE     REASON       OBJECT                MESSAGE</a:t>
            </a:r>
          </a:p>
          <a:p>
            <a:pPr>
              <a:lnSpc>
                <a:spcPts val="1476"/>
              </a:lnSpc>
              <a:spcAft>
                <a:spcPts val="0"/>
              </a:spcAft>
            </a:pPr>
            <a:r>
              <a:rPr sz="1000">
                <a:solidFill>
                  <a:srgbClr val="E6EDF3"/>
                </a:solidFill>
                <a:latin typeface="Consolas"/>
              </a:rPr>
              <a:t>2m55s      Warning  BackOff      Pod/gate-scanner-w2xkc  Back-off</a:t>
            </a:r>
          </a:p>
          <a:p>
            <a:pPr>
              <a:lnSpc>
                <a:spcPts val="1476"/>
              </a:lnSpc>
              <a:spcAft>
                <a:spcPts val="0"/>
              </a:spcAft>
            </a:pPr>
            <a:r>
              <a:rPr sz="1000">
                <a:solidFill>
                  <a:srgbClr val="E6EDF3"/>
                </a:solidFill>
                <a:latin typeface="Consolas"/>
              </a:rPr>
              <a:t>69s        Warning  FailedMount  Pod/depot-gate-agent    configmap</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events -n kcna-lab23 --field-selector reason=FailedMount</a:t>
            </a:r>
          </a:p>
          <a:p>
            <a:pPr>
              <a:lnSpc>
                <a:spcPts val="1476"/>
              </a:lnSpc>
              <a:spcAft>
                <a:spcPts val="0"/>
              </a:spcAft>
            </a:pPr>
            <a:r>
              <a:rPr sz="1000">
                <a:solidFill>
                  <a:srgbClr val="E6EDF3"/>
                </a:solidFill>
                <a:latin typeface="Consolas"/>
              </a:rPr>
              <a:t>84s        Warning  FailedMount  Pod/depot-gate-agent    configmap</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events -n kcna-lab23 --field-selector message=whatever</a:t>
            </a:r>
          </a:p>
          <a:p>
            <a:pPr>
              <a:lnSpc>
                <a:spcPts val="1476"/>
              </a:lnSpc>
              <a:spcAft>
                <a:spcPts val="0"/>
              </a:spcAft>
            </a:pPr>
            <a:r>
              <a:rPr sz="1000">
                <a:solidFill>
                  <a:srgbClr val="E6EDF3"/>
                </a:solidFill>
                <a:latin typeface="Consolas"/>
              </a:rPr>
              <a:t>Error from server (BadRequest): Unable to find "/v1,</a:t>
            </a:r>
          </a:p>
          <a:p>
            <a:pPr>
              <a:lnSpc>
                <a:spcPts val="1476"/>
              </a:lnSpc>
              <a:spcAft>
                <a:spcPts val="0"/>
              </a:spcAft>
            </a:pPr>
            <a:r>
              <a:rPr sz="1000">
                <a:solidFill>
                  <a:srgbClr val="E6EDF3"/>
                </a:solidFill>
                <a:latin typeface="Consolas"/>
              </a:rPr>
              <a:t>Resource=events" that match label selector "", field selector</a:t>
            </a:r>
          </a:p>
          <a:p>
            <a:pPr>
              <a:lnSpc>
                <a:spcPts val="1476"/>
              </a:lnSpc>
              <a:spcAft>
                <a:spcPts val="0"/>
              </a:spcAft>
            </a:pPr>
            <a:r>
              <a:rPr sz="1000">
                <a:solidFill>
                  <a:srgbClr val="E6EDF3"/>
                </a:solidFill>
                <a:latin typeface="Consolas"/>
              </a:rPr>
              <a:t>"message=whatever": field label not supported: message</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Comma means AND</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involvedObject.kind=Pod,type=Warning is a conjunction. On a busy cluster this strips Node, PVC and Deployment noise in one step.</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Field selectors are server-side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Unlike grep, the filter runs in the API server, so it scales and does not depend on the output format you happened to request.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Only indexed fields are selectable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message is not. The error names the unsupported field explicitly — read it rather than assuming the selector syntax is wrong.</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Events carry no useful labels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So -l does not help here. Field selection is the only server-side filter you have for Events.</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API reference, core/v1 Event; and Field Selectors: kubernetes.io/docs/concepts/overview/working-with-objects/field-selectors/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503</a:t>
            </a:r>
          </a:p>
        </p:txBody>
      </p:sp>
    </p:spTree>
  </p:cSld>
  <p:clrMapOvr>
    <a:masterClrMapping/>
  </p:clrMapOvr>
  <p:transition xmlns:ns1="http://schemas.openxmlformats.org/markup-compatibility/2006" spd="fast" ns1:Ignorable="p14">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You May Select On, And What Expires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Events are a signal SOURCE for a pipeline, not the pipeline — and definitely not an audit log.</a:t>
            </a:r>
          </a:p>
        </p:txBody>
      </p:sp>
      <p:sp>
        <p:nvSpPr>
          <p:cNvPr id="7" name="Rectangle 6"/>
          <p:cNvSpPr/>
          <p:nvPr/>
        </p:nvSpPr>
        <p:spPr>
          <a:xfrm>
            <a:off x="777240" y="2200046"/>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37435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involvedObject.kind</a:t>
            </a:r>
          </a:p>
        </p:txBody>
      </p:sp>
      <p:sp>
        <p:nvSpPr>
          <p:cNvPr id="10" name="TextBox 9"/>
          <p:cNvSpPr txBox="1"/>
          <p:nvPr/>
        </p:nvSpPr>
        <p:spPr>
          <a:xfrm>
            <a:off x="5649163" y="2282342"/>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Pod, Node, Deployment, PersistentVolumeClaim</a:t>
            </a:r>
          </a:p>
        </p:txBody>
      </p:sp>
      <p:sp>
        <p:nvSpPr>
          <p:cNvPr id="11" name="Rectangle 10"/>
          <p:cNvSpPr/>
          <p:nvPr/>
        </p:nvSpPr>
        <p:spPr>
          <a:xfrm>
            <a:off x="777240" y="2574401"/>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574401"/>
            <a:ext cx="36576" cy="374355"/>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656697"/>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involvedObject.name</a:t>
            </a:r>
          </a:p>
        </p:txBody>
      </p:sp>
      <p:sp>
        <p:nvSpPr>
          <p:cNvPr id="14" name="TextBox 13"/>
          <p:cNvSpPr txBox="1"/>
          <p:nvPr/>
        </p:nvSpPr>
        <p:spPr>
          <a:xfrm>
            <a:off x="5649163" y="2656697"/>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Exact object name — no globbing, no regex</a:t>
            </a:r>
          </a:p>
        </p:txBody>
      </p:sp>
      <p:sp>
        <p:nvSpPr>
          <p:cNvPr id="15" name="Rectangle 14"/>
          <p:cNvSpPr/>
          <p:nvPr/>
        </p:nvSpPr>
        <p:spPr>
          <a:xfrm>
            <a:off x="777240" y="2948757"/>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2948757"/>
            <a:ext cx="36576" cy="374355"/>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031053"/>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involvedObject.namespace</a:t>
            </a:r>
          </a:p>
        </p:txBody>
      </p:sp>
      <p:sp>
        <p:nvSpPr>
          <p:cNvPr id="18" name="TextBox 17"/>
          <p:cNvSpPr txBox="1"/>
          <p:nvPr/>
        </p:nvSpPr>
        <p:spPr>
          <a:xfrm>
            <a:off x="5649163" y="3031053"/>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Combine with -A to search cluster-wide</a:t>
            </a:r>
          </a:p>
        </p:txBody>
      </p:sp>
      <p:sp>
        <p:nvSpPr>
          <p:cNvPr id="19" name="Rectangle 18"/>
          <p:cNvSpPr/>
          <p:nvPr/>
        </p:nvSpPr>
        <p:spPr>
          <a:xfrm>
            <a:off x="777240" y="3323112"/>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323112"/>
            <a:ext cx="36576" cy="374355"/>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405408"/>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involvedObject.uid</a:t>
            </a:r>
          </a:p>
        </p:txBody>
      </p:sp>
      <p:sp>
        <p:nvSpPr>
          <p:cNvPr id="22" name="TextBox 21"/>
          <p:cNvSpPr txBox="1"/>
          <p:nvPr/>
        </p:nvSpPr>
        <p:spPr>
          <a:xfrm>
            <a:off x="5649163" y="3405408"/>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Survives a name being reused by a new object</a:t>
            </a:r>
          </a:p>
        </p:txBody>
      </p:sp>
      <p:sp>
        <p:nvSpPr>
          <p:cNvPr id="23" name="Rectangle 22"/>
          <p:cNvSpPr/>
          <p:nvPr/>
        </p:nvSpPr>
        <p:spPr>
          <a:xfrm>
            <a:off x="777240" y="3697467"/>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3697467"/>
            <a:ext cx="36576" cy="374355"/>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3779763"/>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involvedObject.fieldPath</a:t>
            </a:r>
          </a:p>
        </p:txBody>
      </p:sp>
      <p:sp>
        <p:nvSpPr>
          <p:cNvPr id="26" name="TextBox 25"/>
          <p:cNvSpPr txBox="1"/>
          <p:nvPr/>
        </p:nvSpPr>
        <p:spPr>
          <a:xfrm>
            <a:off x="5649163" y="3779763"/>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e.g. spec.containers{portal}</a:t>
            </a:r>
          </a:p>
        </p:txBody>
      </p:sp>
      <p:sp>
        <p:nvSpPr>
          <p:cNvPr id="27" name="Rectangle 26"/>
          <p:cNvSpPr/>
          <p:nvPr/>
        </p:nvSpPr>
        <p:spPr>
          <a:xfrm>
            <a:off x="777240" y="4071823"/>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071823"/>
            <a:ext cx="36576" cy="374355"/>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4154119"/>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reason</a:t>
            </a:r>
          </a:p>
        </p:txBody>
      </p:sp>
      <p:sp>
        <p:nvSpPr>
          <p:cNvPr id="30" name="TextBox 29"/>
          <p:cNvSpPr txBox="1"/>
          <p:nvPr/>
        </p:nvSpPr>
        <p:spPr>
          <a:xfrm>
            <a:off x="5649163" y="4154119"/>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FailedScheduling, Unhealthy, BackOff, Killing, FailedMount</a:t>
            </a:r>
          </a:p>
        </p:txBody>
      </p:sp>
      <p:sp>
        <p:nvSpPr>
          <p:cNvPr id="31" name="Rectangle 30"/>
          <p:cNvSpPr/>
          <p:nvPr/>
        </p:nvSpPr>
        <p:spPr>
          <a:xfrm>
            <a:off x="777240" y="4446178"/>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777240" y="4446178"/>
            <a:ext cx="36576" cy="374355"/>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4528474"/>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type</a:t>
            </a:r>
          </a:p>
        </p:txBody>
      </p:sp>
      <p:sp>
        <p:nvSpPr>
          <p:cNvPr id="34" name="TextBox 33"/>
          <p:cNvSpPr txBox="1"/>
          <p:nvPr/>
        </p:nvSpPr>
        <p:spPr>
          <a:xfrm>
            <a:off x="5649163" y="4528474"/>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Normal or Warning — the whole severity vocabulary</a:t>
            </a:r>
          </a:p>
        </p:txBody>
      </p:sp>
      <p:sp>
        <p:nvSpPr>
          <p:cNvPr id="35" name="Rectangle 34"/>
          <p:cNvSpPr/>
          <p:nvPr/>
        </p:nvSpPr>
        <p:spPr>
          <a:xfrm>
            <a:off x="777240" y="4820533"/>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777240" y="4820533"/>
            <a:ext cx="36576" cy="374355"/>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941832" y="4902829"/>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reportingComponent / source</a:t>
            </a:r>
          </a:p>
        </p:txBody>
      </p:sp>
      <p:sp>
        <p:nvSpPr>
          <p:cNvPr id="38" name="TextBox 37"/>
          <p:cNvSpPr txBox="1"/>
          <p:nvPr/>
        </p:nvSpPr>
        <p:spPr>
          <a:xfrm>
            <a:off x="5649163" y="4902829"/>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Which component raised it: kubelet, default-scheduler</a:t>
            </a:r>
          </a:p>
        </p:txBody>
      </p:sp>
      <p:sp>
        <p:nvSpPr>
          <p:cNvPr id="39" name="Rectangle 38"/>
          <p:cNvSpPr/>
          <p:nvPr/>
        </p:nvSpPr>
        <p:spPr>
          <a:xfrm>
            <a:off x="777240" y="5194889"/>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40" name="Rectangle 39"/>
          <p:cNvSpPr/>
          <p:nvPr/>
        </p:nvSpPr>
        <p:spPr>
          <a:xfrm>
            <a:off x="777240" y="5194889"/>
            <a:ext cx="36576" cy="374355"/>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941832" y="5277185"/>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NOT selectable</a:t>
            </a:r>
          </a:p>
        </p:txBody>
      </p:sp>
      <p:sp>
        <p:nvSpPr>
          <p:cNvPr id="42" name="TextBox 41"/>
          <p:cNvSpPr txBox="1"/>
          <p:nvPr/>
        </p:nvSpPr>
        <p:spPr>
          <a:xfrm>
            <a:off x="5649163" y="5277185"/>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message, count, timestamps — filter these client-side with grep or jq</a:t>
            </a:r>
          </a:p>
        </p:txBody>
      </p:sp>
      <p:sp>
        <p:nvSpPr>
          <p:cNvPr id="43" name="Rectangle 42"/>
          <p:cNvSpPr/>
          <p:nvPr/>
        </p:nvSpPr>
        <p:spPr>
          <a:xfrm>
            <a:off x="777240" y="5569244"/>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44" name="Rectangle 43"/>
          <p:cNvSpPr/>
          <p:nvPr/>
        </p:nvSpPr>
        <p:spPr>
          <a:xfrm>
            <a:off x="777240" y="5569244"/>
            <a:ext cx="36576" cy="374355"/>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41832" y="5651540"/>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Retention</a:t>
            </a:r>
          </a:p>
        </p:txBody>
      </p:sp>
      <p:sp>
        <p:nvSpPr>
          <p:cNvPr id="46" name="TextBox 45"/>
          <p:cNvSpPr txBox="1"/>
          <p:nvPr/>
        </p:nvSpPr>
        <p:spPr>
          <a:xfrm>
            <a:off x="5649163" y="5651540"/>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kube-apiserver --event-ttl, default 1 hour; kubeadm does not override it</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reference, kube-apiserver command-line options (--event-ttl, default 1h): kubernetes.io/docs/reference/command-line-tools-reference/kube-apiserver/</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504</a:t>
            </a:r>
          </a:p>
        </p:txBody>
      </p:sp>
    </p:spTree>
  </p:cSld>
  <p:clrMapOvr>
    <a:masterClrMapping/>
  </p:clrMapOvr>
  <p:transition xmlns:ns1="http://schemas.openxmlformats.org/markup-compatibility/2006" spd="fast" ns1:Ignorable="p14">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EVENTS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Life Of An Event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stages, and the fourth is the one that ruins post-incident reviews.</a:t>
            </a:r>
          </a:p>
        </p:txBody>
      </p:sp>
      <p:sp>
        <p:nvSpPr>
          <p:cNvPr id="7" name="Rounded Rectangle 6"/>
          <p:cNvSpPr/>
          <p:nvPr/>
        </p:nvSpPr>
        <p:spPr>
          <a:xfrm>
            <a:off x="7772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 component decides</a:t>
            </a:r>
          </a:p>
        </p:txBody>
      </p:sp>
      <p:sp>
        <p:nvSpPr>
          <p:cNvPr id="11" name="TextBox 10"/>
          <p:cNvSpPr txBox="1"/>
          <p:nvPr/>
        </p:nvSpPr>
        <p:spPr>
          <a:xfrm>
            <a:off x="9235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Scheduler, kubelet or a controller takes an action or refuses to</a:t>
            </a:r>
          </a:p>
        </p:txBody>
      </p:sp>
      <p:cxnSp>
        <p:nvCxnSpPr>
          <p:cNvPr id="12" name="Connector 11"/>
          <p:cNvCxnSpPr/>
          <p:nvPr/>
        </p:nvCxnSpPr>
        <p:spPr>
          <a:xfrm>
            <a:off x="271393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Event object written</a:t>
            </a:r>
          </a:p>
        </p:txBody>
      </p:sp>
      <p:sp>
        <p:nvSpPr>
          <p:cNvPr id="17" name="TextBox 16"/>
          <p:cNvSpPr txBox="1"/>
          <p:nvPr/>
        </p:nvSpPr>
        <p:spPr>
          <a:xfrm>
            <a:off x="312541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POSTed to the API server and persisted in etcd like any object</a:t>
            </a:r>
          </a:p>
        </p:txBody>
      </p:sp>
      <p:cxnSp>
        <p:nvCxnSpPr>
          <p:cNvPr id="18" name="Connector 17"/>
          <p:cNvCxnSpPr/>
          <p:nvPr/>
        </p:nvCxnSpPr>
        <p:spPr>
          <a:xfrm>
            <a:off x="491581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Aggregation</a:t>
            </a:r>
          </a:p>
        </p:txBody>
      </p:sp>
      <p:sp>
        <p:nvSpPr>
          <p:cNvPr id="23" name="TextBox 22"/>
          <p:cNvSpPr txBox="1"/>
          <p:nvPr/>
        </p:nvSpPr>
        <p:spPr>
          <a:xfrm>
            <a:off x="532729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An identical repeat increments count and moves lastTimestamp — no new object</a:t>
            </a:r>
          </a:p>
        </p:txBody>
      </p:sp>
      <p:cxnSp>
        <p:nvCxnSpPr>
          <p:cNvPr id="24" name="Connector 23"/>
          <p:cNvCxnSpPr/>
          <p:nvPr/>
        </p:nvCxnSpPr>
        <p:spPr>
          <a:xfrm>
            <a:off x="711768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Garbage collection</a:t>
            </a:r>
          </a:p>
        </p:txBody>
      </p:sp>
      <p:sp>
        <p:nvSpPr>
          <p:cNvPr id="29" name="TextBox 28"/>
          <p:cNvSpPr txBox="1"/>
          <p:nvPr/>
        </p:nvSpPr>
        <p:spPr>
          <a:xfrm>
            <a:off x="752916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API server deletes Events older than --event-ttl. Default: one hour</a:t>
            </a:r>
          </a:p>
        </p:txBody>
      </p:sp>
      <p:cxnSp>
        <p:nvCxnSpPr>
          <p:cNvPr id="30" name="Connector 29"/>
          <p:cNvCxnSpPr/>
          <p:nvPr/>
        </p:nvCxnSpPr>
        <p:spPr>
          <a:xfrm>
            <a:off x="931956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Nothing remains</a:t>
            </a:r>
          </a:p>
        </p:txBody>
      </p:sp>
      <p:sp>
        <p:nvSpPr>
          <p:cNvPr id="35" name="TextBox 34"/>
          <p:cNvSpPr txBox="1"/>
          <p:nvPr/>
        </p:nvSpPr>
        <p:spPr>
          <a:xfrm>
            <a:off x="97310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No archive, no tombstone. The post-incident review has no evidence</a:t>
            </a:r>
          </a:p>
        </p:txBody>
      </p:sp>
      <p:sp>
        <p:nvSpPr>
          <p:cNvPr id="36" name="Rectangle 35"/>
          <p:cNvSpPr/>
          <p:nvPr/>
        </p:nvSpPr>
        <p:spPr>
          <a:xfrm>
            <a:off x="777240" y="4491634"/>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491634"/>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802530"/>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If you need the decision trail after an hour, ship Events off the cluster — or read the component's own log, which is where the same decision still lives.</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reference, kube-apiserver command-line options (--event-ttl, default 1h): kubernetes.io/docs/reference/command-line-tools-reference/kube-apiserver/</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505</a:t>
            </a:r>
          </a:p>
        </p:txBody>
      </p:sp>
    </p:spTree>
  </p:cSld>
  <p:clrMapOvr>
    <a:masterClrMapping/>
  </p:clrMapOvr>
  <p:transition xmlns:ns5="http://schemas.openxmlformats.org/markup-compatibility/2006" spd="fast" ns5:Ignorable="p14">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LOGGING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Cluster Logging Pipeline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7" name="Rectangle 6"/>
          <p:cNvSpPr/>
          <p:nvPr/>
        </p:nvSpPr>
        <p:spPr>
          <a:xfrm>
            <a:off x="777240" y="1737360"/>
            <a:ext cx="50292" cy="1264920"/>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41832" y="1920240"/>
            <a:ext cx="1261872" cy="935736"/>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ON THE POD</a:t>
            </a:r>
          </a:p>
        </p:txBody>
      </p:sp>
      <p:sp>
        <p:nvSpPr>
          <p:cNvPr id="9" name="Rounded Rectangle 8"/>
          <p:cNvSpPr/>
          <p:nvPr/>
        </p:nvSpPr>
        <p:spPr>
          <a:xfrm>
            <a:off x="2258568"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0" name="TextBox 9"/>
          <p:cNvSpPr txBox="1"/>
          <p:nvPr/>
        </p:nvSpPr>
        <p:spPr>
          <a:xfrm>
            <a:off x="2350008"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 stdout/stderr</a:t>
            </a:r>
          </a:p>
        </p:txBody>
      </p:sp>
      <p:sp>
        <p:nvSpPr>
          <p:cNvPr id="11" name="TextBox 10"/>
          <p:cNvSpPr txBox="1"/>
          <p:nvPr/>
        </p:nvSpPr>
        <p:spPr>
          <a:xfrm>
            <a:off x="2350008"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ONLY stream the cluster captures</a:t>
            </a:r>
          </a:p>
        </p:txBody>
      </p:sp>
      <p:sp>
        <p:nvSpPr>
          <p:cNvPr id="12" name="Rounded Rectangle 11"/>
          <p:cNvSpPr/>
          <p:nvPr/>
        </p:nvSpPr>
        <p:spPr>
          <a:xfrm>
            <a:off x="5318760"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3" name="TextBox 12"/>
          <p:cNvSpPr txBox="1"/>
          <p:nvPr/>
        </p:nvSpPr>
        <p:spPr>
          <a:xfrm>
            <a:off x="5410199"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Files inside the container</a:t>
            </a:r>
          </a:p>
        </p:txBody>
      </p:sp>
      <p:sp>
        <p:nvSpPr>
          <p:cNvPr id="14" name="TextBox 13"/>
          <p:cNvSpPr txBox="1"/>
          <p:nvPr/>
        </p:nvSpPr>
        <p:spPr>
          <a:xfrm>
            <a:off x="5410199"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Invisible to kubectl logs; die with the Pod</a:t>
            </a:r>
          </a:p>
        </p:txBody>
      </p:sp>
      <p:sp>
        <p:nvSpPr>
          <p:cNvPr id="15" name="Rounded Rectangle 14"/>
          <p:cNvSpPr/>
          <p:nvPr/>
        </p:nvSpPr>
        <p:spPr>
          <a:xfrm>
            <a:off x="8378951"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6" name="TextBox 15"/>
          <p:cNvSpPr txBox="1"/>
          <p:nvPr/>
        </p:nvSpPr>
        <p:spPr>
          <a:xfrm>
            <a:off x="8470391"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Sidecar re-emitter</a:t>
            </a:r>
          </a:p>
        </p:txBody>
      </p:sp>
      <p:sp>
        <p:nvSpPr>
          <p:cNvPr id="17" name="TextBox 16"/>
          <p:cNvSpPr txBox="1"/>
          <p:nvPr/>
        </p:nvSpPr>
        <p:spPr>
          <a:xfrm>
            <a:off x="8470391"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tail -f a file back onto stdout so it becomes visible</a:t>
            </a:r>
          </a:p>
        </p:txBody>
      </p:sp>
      <p:sp>
        <p:nvSpPr>
          <p:cNvPr id="18" name="Rectangle 17"/>
          <p:cNvSpPr/>
          <p:nvPr/>
        </p:nvSpPr>
        <p:spPr>
          <a:xfrm>
            <a:off x="777240" y="31851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19" name="Rectangle 18"/>
          <p:cNvSpPr/>
          <p:nvPr/>
        </p:nvSpPr>
        <p:spPr>
          <a:xfrm>
            <a:off x="777240" y="3185160"/>
            <a:ext cx="50292" cy="126492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368040"/>
            <a:ext cx="1261872" cy="935736"/>
          </a:xfrm>
          <a:prstGeom prst="rect">
            <a:avLst/>
          </a:prstGeom>
          <a:noFill/>
        </p:spPr>
        <p:txBody>
          <a:bodyPr wrap="square" lIns="0" rIns="0" tIns="0" bIns="0" anchor="t">
            <a:spAutoFit/>
          </a:bodyPr>
          <a:lstStyle/>
          <a:p>
            <a:pPr algn="l">
              <a:lnSpc>
                <a:spcPct val="112000"/>
              </a:lnSpc>
            </a:pPr>
            <a:r>
              <a:rPr sz="950" b="1" i="0">
                <a:solidFill>
                  <a:srgbClr val="F59E0B"/>
                </a:solidFill>
                <a:latin typeface="Arial"/>
              </a:rPr>
              <a:t>ON THE NODE</a:t>
            </a:r>
          </a:p>
        </p:txBody>
      </p:sp>
      <p:sp>
        <p:nvSpPr>
          <p:cNvPr id="21" name="Rounded Rectangle 20"/>
          <p:cNvSpPr/>
          <p:nvPr/>
        </p:nvSpPr>
        <p:spPr>
          <a:xfrm>
            <a:off x="2258568"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2" name="TextBox 21"/>
          <p:cNvSpPr txBox="1"/>
          <p:nvPr/>
        </p:nvSpPr>
        <p:spPr>
          <a:xfrm>
            <a:off x="2350008"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CRI runtime</a:t>
            </a:r>
          </a:p>
        </p:txBody>
      </p:sp>
      <p:sp>
        <p:nvSpPr>
          <p:cNvPr id="23" name="TextBox 22"/>
          <p:cNvSpPr txBox="1"/>
          <p:nvPr/>
        </p:nvSpPr>
        <p:spPr>
          <a:xfrm>
            <a:off x="2350008"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Writes /var/log/pods/&lt;ns&gt;_&lt;pod&gt;_&lt;uid&gt;/&lt;container&gt;/0.log</a:t>
            </a:r>
          </a:p>
        </p:txBody>
      </p:sp>
      <p:sp>
        <p:nvSpPr>
          <p:cNvPr id="24" name="Rounded Rectangle 23"/>
          <p:cNvSpPr/>
          <p:nvPr/>
        </p:nvSpPr>
        <p:spPr>
          <a:xfrm>
            <a:off x="5318760"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5" name="TextBox 24"/>
          <p:cNvSpPr txBox="1"/>
          <p:nvPr/>
        </p:nvSpPr>
        <p:spPr>
          <a:xfrm>
            <a:off x="5410199"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 rotation</a:t>
            </a:r>
          </a:p>
        </p:txBody>
      </p:sp>
      <p:sp>
        <p:nvSpPr>
          <p:cNvPr id="26" name="TextBox 25"/>
          <p:cNvSpPr txBox="1"/>
          <p:nvPr/>
        </p:nvSpPr>
        <p:spPr>
          <a:xfrm>
            <a:off x="5410199"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containerLogMaxSize 10Mi, containerLogMaxFiles 5 by default</a:t>
            </a:r>
          </a:p>
        </p:txBody>
      </p:sp>
      <p:sp>
        <p:nvSpPr>
          <p:cNvPr id="27" name="Rounded Rectangle 26"/>
          <p:cNvSpPr/>
          <p:nvPr/>
        </p:nvSpPr>
        <p:spPr>
          <a:xfrm>
            <a:off x="8378951"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8" name="TextBox 27"/>
          <p:cNvSpPr txBox="1"/>
          <p:nvPr/>
        </p:nvSpPr>
        <p:spPr>
          <a:xfrm>
            <a:off x="8470391"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Node agent DaemonSet</a:t>
            </a:r>
          </a:p>
        </p:txBody>
      </p:sp>
      <p:sp>
        <p:nvSpPr>
          <p:cNvPr id="29" name="TextBox 28"/>
          <p:cNvSpPr txBox="1"/>
          <p:nvPr/>
        </p:nvSpPr>
        <p:spPr>
          <a:xfrm>
            <a:off x="8470391"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Fluent Bit or Fluentd tails those files on every node</a:t>
            </a:r>
          </a:p>
        </p:txBody>
      </p:sp>
      <p:sp>
        <p:nvSpPr>
          <p:cNvPr id="30" name="Rectangle 29"/>
          <p:cNvSpPr/>
          <p:nvPr/>
        </p:nvSpPr>
        <p:spPr>
          <a:xfrm>
            <a:off x="777240" y="46329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31" name="Rectangle 30"/>
          <p:cNvSpPr/>
          <p:nvPr/>
        </p:nvSpPr>
        <p:spPr>
          <a:xfrm>
            <a:off x="777240" y="4632960"/>
            <a:ext cx="50292" cy="1264920"/>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41832" y="4815840"/>
            <a:ext cx="1261872" cy="935736"/>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OFF THE NODE</a:t>
            </a:r>
          </a:p>
        </p:txBody>
      </p:sp>
      <p:sp>
        <p:nvSpPr>
          <p:cNvPr id="33" name="Rounded Rectangle 32"/>
          <p:cNvSpPr/>
          <p:nvPr/>
        </p:nvSpPr>
        <p:spPr>
          <a:xfrm>
            <a:off x="2258568"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4" name="TextBox 33"/>
          <p:cNvSpPr txBox="1"/>
          <p:nvPr/>
        </p:nvSpPr>
        <p:spPr>
          <a:xfrm>
            <a:off x="2350008"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Transport / buffer</a:t>
            </a:r>
          </a:p>
        </p:txBody>
      </p:sp>
      <p:sp>
        <p:nvSpPr>
          <p:cNvPr id="35" name="TextBox 34"/>
          <p:cNvSpPr txBox="1"/>
          <p:nvPr/>
        </p:nvSpPr>
        <p:spPr>
          <a:xfrm>
            <a:off x="2350008"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Parse, enrich with Pod metadata, buffer, retry</a:t>
            </a:r>
          </a:p>
        </p:txBody>
      </p:sp>
      <p:sp>
        <p:nvSpPr>
          <p:cNvPr id="36" name="Rounded Rectangle 35"/>
          <p:cNvSpPr/>
          <p:nvPr/>
        </p:nvSpPr>
        <p:spPr>
          <a:xfrm>
            <a:off x="5318760"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7" name="TextBox 36"/>
          <p:cNvSpPr txBox="1"/>
          <p:nvPr/>
        </p:nvSpPr>
        <p:spPr>
          <a:xfrm>
            <a:off x="5410199"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Log backend</a:t>
            </a:r>
          </a:p>
        </p:txBody>
      </p:sp>
      <p:sp>
        <p:nvSpPr>
          <p:cNvPr id="38" name="TextBox 37"/>
          <p:cNvSpPr txBox="1"/>
          <p:nvPr/>
        </p:nvSpPr>
        <p:spPr>
          <a:xfrm>
            <a:off x="5410199"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Elasticsearch, Loki, OpenSearch, a managed service</a:t>
            </a:r>
          </a:p>
        </p:txBody>
      </p:sp>
      <p:sp>
        <p:nvSpPr>
          <p:cNvPr id="39" name="Rounded Rectangle 38"/>
          <p:cNvSpPr/>
          <p:nvPr/>
        </p:nvSpPr>
        <p:spPr>
          <a:xfrm>
            <a:off x="8378951"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40" name="TextBox 39"/>
          <p:cNvSpPr txBox="1"/>
          <p:nvPr/>
        </p:nvSpPr>
        <p:spPr>
          <a:xfrm>
            <a:off x="8470391"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Query and retention</a:t>
            </a:r>
          </a:p>
        </p:txBody>
      </p:sp>
      <p:sp>
        <p:nvSpPr>
          <p:cNvPr id="41" name="TextBox 40"/>
          <p:cNvSpPr txBox="1"/>
          <p:nvPr/>
        </p:nvSpPr>
        <p:spPr>
          <a:xfrm>
            <a:off x="8470391"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The only place a log survives Pod deletion</a:t>
            </a:r>
          </a:p>
        </p:txBody>
      </p:sp>
      <p:sp>
        <p:nvSpPr>
          <p:cNvPr id="42" name="TextBox 4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Logging Architecture: kubernetes.io/docs/concepts/cluster-administration/logging/</a:t>
            </a:r>
          </a:p>
        </p:txBody>
      </p:sp>
      <p:sp>
        <p:nvSpPr>
          <p:cNvPr id="43" name="TextBox 4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4" name="TextBox 4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5" name="TextBox 4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506</a:t>
            </a:r>
          </a:p>
        </p:txBody>
      </p:sp>
    </p:spTree>
  </p:cSld>
  <p:clrMapOvr>
    <a:masterClrMapping/>
  </p:clrMapOvr>
  <p:transition xmlns:ns1="http://schemas.openxmlformats.org/markup-compatibility/2006" spd="fast" ns1:Ignorable="p14">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LOGGING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--previous: The Most Important Flag In Triage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container you can see is not the container that failed.</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23 · CrashLoopBackOff diagnosis</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logs -n kcna-lab23 $SCANNER --previous</a:t>
            </a:r>
          </a:p>
          <a:p>
            <a:pPr>
              <a:lnSpc>
                <a:spcPts val="1413"/>
              </a:lnSpc>
              <a:spcAft>
                <a:spcPts val="0"/>
              </a:spcAft>
            </a:pPr>
            <a:r>
              <a:rPr sz="1000">
                <a:solidFill>
                  <a:srgbClr val="E6EDF3"/>
                </a:solidFill>
                <a:latin typeface="Consolas"/>
              </a:rPr>
              <a:t>06:18:02 INFO  gate-scanner starting, serial=SCN-0447</a:t>
            </a:r>
          </a:p>
          <a:p>
            <a:pPr>
              <a:lnSpc>
                <a:spcPts val="1413"/>
              </a:lnSpc>
              <a:spcAft>
                <a:spcPts val="0"/>
              </a:spcAft>
            </a:pPr>
            <a:r>
              <a:rPr sz="1000">
                <a:solidFill>
                  <a:srgbClr val="E6EDF3"/>
                </a:solidFill>
                <a:latin typeface="Consolas"/>
              </a:rPr>
              <a:t>06:18:02 INFO  opening barcode reader on /dev/ttyUSB0</a:t>
            </a:r>
          </a:p>
          <a:p>
            <a:pPr>
              <a:lnSpc>
                <a:spcPts val="1413"/>
              </a:lnSpc>
              <a:spcAft>
                <a:spcPts val="0"/>
              </a:spcAft>
            </a:pPr>
            <a:r>
              <a:rPr sz="1000">
                <a:solidFill>
                  <a:srgbClr val="E6EDF3"/>
                </a:solidFill>
                <a:latin typeface="Consolas"/>
              </a:rPr>
              <a:t>06:18:07 WARN  reader handshake retry 1/1</a:t>
            </a:r>
          </a:p>
          <a:p>
            <a:pPr>
              <a:lnSpc>
                <a:spcPts val="1413"/>
              </a:lnSpc>
              <a:spcAft>
                <a:spcPts val="0"/>
              </a:spcAft>
            </a:pPr>
            <a:r>
              <a:rPr sz="1000">
                <a:solidFill>
                  <a:srgbClr val="E6EDF3"/>
                </a:solidFill>
                <a:latin typeface="Consolas"/>
              </a:rPr>
              <a:t>06:18:12 ERROR reader handshake failed: device not present</a:t>
            </a:r>
          </a:p>
          <a:p>
            <a:pPr>
              <a:lnSpc>
                <a:spcPts val="1413"/>
              </a:lnSpc>
              <a:spcAft>
                <a:spcPts val="0"/>
              </a:spcAft>
            </a:pPr>
            <a:r>
              <a:rPr sz="1000">
                <a:solidFill>
                  <a:srgbClr val="E6EDF3"/>
                </a:solidFill>
                <a:latin typeface="Consolas"/>
              </a:rPr>
              <a:t>06:18:12 FATAL gate-scanner exiting with status 1</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logs -n kcna-lab23 $SCANNER</a:t>
            </a:r>
          </a:p>
          <a:p>
            <a:pPr>
              <a:lnSpc>
                <a:spcPts val="1413"/>
              </a:lnSpc>
              <a:spcAft>
                <a:spcPts val="0"/>
              </a:spcAft>
            </a:pPr>
            <a:r>
              <a:rPr sz="1000">
                <a:solidFill>
                  <a:srgbClr val="E6EDF3"/>
                </a:solidFill>
                <a:latin typeface="Consolas"/>
              </a:rPr>
              <a:t>06:19:44 INFO  gate-scanner starting, serial=SCN-0447</a:t>
            </a:r>
          </a:p>
          <a:p>
            <a:pPr>
              <a:lnSpc>
                <a:spcPts val="1413"/>
              </a:lnSpc>
              <a:spcAft>
                <a:spcPts val="0"/>
              </a:spcAft>
            </a:pPr>
            <a:r>
              <a:rPr sz="1000">
                <a:solidFill>
                  <a:srgbClr val="E6EDF3"/>
                </a:solidFill>
                <a:latin typeface="Consolas"/>
              </a:rPr>
              <a:t>06:19:44 INFO  opening barcode reader on /dev/ttyUSB0</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get pod -n kcna-lab23 $SCANNER -o jsonpath=\</a:t>
            </a:r>
          </a:p>
          <a:p>
            <a:pPr>
              <a:lnSpc>
                <a:spcPts val="1413"/>
              </a:lnSpc>
              <a:spcAft>
                <a:spcPts val="0"/>
              </a:spcAft>
            </a:pPr>
            <a:r>
              <a:rPr sz="1000">
                <a:solidFill>
                  <a:srgbClr val="E6EDF3"/>
                </a:solidFill>
                <a:latin typeface="Consolas"/>
              </a:rPr>
              <a:t>  '{.status.containerStatuses[0].lastState.terminated.exitCode}'</a:t>
            </a:r>
          </a:p>
          <a:p>
            <a:pPr>
              <a:lnSpc>
                <a:spcPts val="1413"/>
              </a:lnSpc>
              <a:spcAft>
                <a:spcPts val="0"/>
              </a:spcAft>
            </a:pPr>
            <a:r>
              <a:rPr sz="1000">
                <a:solidFill>
                  <a:srgbClr val="E6EDF3"/>
                </a:solidFill>
                <a:latin typeface="Consolas"/>
              </a:rPr>
              <a:t>1</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logs -n kcna-lab23 $POD</a:t>
            </a:r>
          </a:p>
          <a:p>
            <a:pPr>
              <a:lnSpc>
                <a:spcPts val="1413"/>
              </a:lnSpc>
              <a:spcAft>
                <a:spcPts val="0"/>
              </a:spcAft>
            </a:pPr>
            <a:r>
              <a:rPr sz="1000">
                <a:solidFill>
                  <a:srgbClr val="E6EDF3"/>
                </a:solidFill>
                <a:latin typeface="Consolas"/>
              </a:rPr>
              <a:t>error: a container name must be specified for pod depot-portal-...,</a:t>
            </a:r>
          </a:p>
          <a:p>
            <a:pPr>
              <a:lnSpc>
                <a:spcPts val="1413"/>
              </a:lnSpc>
              <a:spcAft>
                <a:spcPts val="0"/>
              </a:spcAft>
            </a:pPr>
            <a:r>
              <a:rPr sz="1000">
                <a:solidFill>
                  <a:srgbClr val="E6EDF3"/>
                </a:solidFill>
                <a:latin typeface="Consolas"/>
              </a:rPr>
              <a:t>choose one of: [portal audit-sidecar]</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current log is useless mid-loop</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A restarting container's current log shows a fresh boot. The reason it died is in the PREVIOUS container's stream.</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Only one generation is kept</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--previous gives you the immediately preceding container, not a history. Two restarts while you fetch coffee and it is gone.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lastState.terminated.exitCode is authoritative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log text is what the app chose to print; the exit code is what the kernel observed. Cross-check them.</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Multi-container Pods refuse to guess</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 &lt;container&gt;, or -l &lt;selector&gt; with --prefix to read a whole Deployment at once.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507</a:t>
            </a:r>
          </a:p>
        </p:txBody>
      </p:sp>
    </p:spTree>
  </p:cSld>
  <p:clrMapOvr>
    <a:masterClrMapping/>
  </p:clrMapOvr>
  <p:transition xmlns:ns1="http://schemas.openxmlformats.org/markup-compatibility/2006" spd="fast" ns1:Ignorable="p14">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LOGGING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logs — The Flags That Matter, And Why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kubectl logs is a reader for node-local files — every flag is constrained by that fact.</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 / --all-containers</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Selects the container. Multi-container Pods error out rather than guess; the error lists the names.</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--previous</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terminated generation of the container. The only way to see why a CrashLoopBackOff Pod died.</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--since / --since-time</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Server-side time bound. Cheaper and more honest than tailing everything and grepping.</a:t>
            </a:r>
          </a:p>
        </p:txBody>
      </p:sp>
      <p:sp>
        <p:nvSpPr>
          <p:cNvPr id="22" name="Rectangle 21"/>
          <p:cNvSpPr/>
          <p:nvPr/>
        </p:nvSpPr>
        <p:spPr>
          <a:xfrm>
            <a:off x="777240"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--timestamps</a:t>
            </a:r>
          </a:p>
        </p:txBody>
      </p:sp>
      <p:sp>
        <p:nvSpPr>
          <p:cNvPr id="26" name="TextBox 25"/>
          <p:cNvSpPr txBox="1"/>
          <p:nvPr/>
        </p:nvSpPr>
        <p:spPr>
          <a:xfrm>
            <a:off x="1399032"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Prefixes the runtime's receive time. Application timestamps and cluster time are different clocks — do not mix.</a:t>
            </a:r>
          </a:p>
        </p:txBody>
      </p:sp>
      <p:sp>
        <p:nvSpPr>
          <p:cNvPr id="27" name="Rectangle 26"/>
          <p:cNvSpPr/>
          <p:nvPr/>
        </p:nvSpPr>
        <p:spPr>
          <a:xfrm>
            <a:off x="4392167"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37406"/>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 &lt;selector&gt; --prefix</a:t>
            </a:r>
          </a:p>
        </p:txBody>
      </p:sp>
      <p:sp>
        <p:nvSpPr>
          <p:cNvPr id="31" name="TextBox 30"/>
          <p:cNvSpPr txBox="1"/>
          <p:nvPr/>
        </p:nvSpPr>
        <p:spPr>
          <a:xfrm>
            <a:off x="5013959"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Aggregates across the replicas of a Deployment and labels each line with its Pod and container.</a:t>
            </a:r>
          </a:p>
        </p:txBody>
      </p:sp>
      <p:sp>
        <p:nvSpPr>
          <p:cNvPr id="32" name="Rectangle 31"/>
          <p:cNvSpPr/>
          <p:nvPr/>
        </p:nvSpPr>
        <p:spPr>
          <a:xfrm>
            <a:off x="8007095"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37406"/>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--tail / -f</a:t>
            </a:r>
          </a:p>
        </p:txBody>
      </p:sp>
      <p:sp>
        <p:nvSpPr>
          <p:cNvPr id="36" name="TextBox 35"/>
          <p:cNvSpPr txBox="1"/>
          <p:nvPr/>
        </p:nvSpPr>
        <p:spPr>
          <a:xfrm>
            <a:off x="8628888"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Bound the output. -f holds a watch open; it does not reconnect across a Pod restart.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Logging Architecture: kubernetes.io/docs/concepts/cluster-administration/logging/</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508</a:t>
            </a:r>
          </a:p>
        </p:txBody>
      </p:sp>
    </p:spTree>
  </p:cSld>
  <p:clrMapOvr>
    <a:masterClrMapping/>
  </p:clrMapOvr>
  <p:transition xmlns:ns1="http://schemas.openxmlformats.org/markup-compatibility/2006" spd="fast" ns1:Ignorable="p14">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LOGGING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Ways To Get Logs Off A Node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Fluent Bit and Fluentd occupy the first column; the second exists only because stdout is the sole captured stream.</a:t>
            </a:r>
          </a:p>
        </p:txBody>
      </p:sp>
      <p:sp>
        <p:nvSpPr>
          <p:cNvPr id="7" name="Rectangle 6"/>
          <p:cNvSpPr/>
          <p:nvPr/>
        </p:nvSpPr>
        <p:spPr>
          <a:xfrm>
            <a:off x="777240" y="2208885"/>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3451860" y="2208885"/>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Node-level agent (DaemonSet)</a:t>
            </a:r>
          </a:p>
        </p:txBody>
      </p:sp>
      <p:sp>
        <p:nvSpPr>
          <p:cNvPr id="11" name="Rectangle 10"/>
          <p:cNvSpPr/>
          <p:nvPr/>
        </p:nvSpPr>
        <p:spPr>
          <a:xfrm>
            <a:off x="6126479" y="2208885"/>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Sidecar per Pod</a:t>
            </a:r>
          </a:p>
        </p:txBody>
      </p:sp>
      <p:sp>
        <p:nvSpPr>
          <p:cNvPr id="13" name="Rectangle 12"/>
          <p:cNvSpPr/>
          <p:nvPr/>
        </p:nvSpPr>
        <p:spPr>
          <a:xfrm>
            <a:off x="8801100" y="2208885"/>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App writes to backend</a:t>
            </a:r>
          </a:p>
        </p:txBody>
      </p:sp>
      <p:sp>
        <p:nvSpPr>
          <p:cNvPr id="15" name="Rectangle 14"/>
          <p:cNvSpPr/>
          <p:nvPr/>
        </p:nvSpPr>
        <p:spPr>
          <a:xfrm>
            <a:off x="77724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How</a:t>
            </a:r>
          </a:p>
        </p:txBody>
      </p:sp>
      <p:sp>
        <p:nvSpPr>
          <p:cNvPr id="17" name="Rectangle 16"/>
          <p:cNvSpPr/>
          <p:nvPr/>
        </p:nvSpPr>
        <p:spPr>
          <a:xfrm>
            <a:off x="345186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agent per node tails /var/log/pods/*</a:t>
            </a:r>
          </a:p>
        </p:txBody>
      </p:sp>
      <p:sp>
        <p:nvSpPr>
          <p:cNvPr id="19" name="Rectangle 18"/>
          <p:cNvSpPr/>
          <p:nvPr/>
        </p:nvSpPr>
        <p:spPr>
          <a:xfrm>
            <a:off x="6126479"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second container re-emits or ships the app's files</a:t>
            </a:r>
          </a:p>
        </p:txBody>
      </p:sp>
      <p:sp>
        <p:nvSpPr>
          <p:cNvPr id="21" name="Rectangle 20"/>
          <p:cNvSpPr/>
          <p:nvPr/>
        </p:nvSpPr>
        <p:spPr>
          <a:xfrm>
            <a:off x="880110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application library posts to the backend directly</a:t>
            </a:r>
          </a:p>
        </p:txBody>
      </p:sp>
      <p:sp>
        <p:nvSpPr>
          <p:cNvPr id="23" name="Rectangle 22"/>
          <p:cNvSpPr/>
          <p:nvPr/>
        </p:nvSpPr>
        <p:spPr>
          <a:xfrm>
            <a:off x="77724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1238"/>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Cost</a:t>
            </a:r>
          </a:p>
        </p:txBody>
      </p:sp>
      <p:sp>
        <p:nvSpPr>
          <p:cNvPr id="25" name="Rectangle 24"/>
          <p:cNvSpPr/>
          <p:nvPr/>
        </p:nvSpPr>
        <p:spPr>
          <a:xfrm>
            <a:off x="345186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agent per node — lowest overhead</a:t>
            </a:r>
          </a:p>
        </p:txBody>
      </p:sp>
      <p:sp>
        <p:nvSpPr>
          <p:cNvPr id="27" name="Rectangle 26"/>
          <p:cNvSpPr/>
          <p:nvPr/>
        </p:nvSpPr>
        <p:spPr>
          <a:xfrm>
            <a:off x="6126479"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extra container per Pod — multiplies with replicas</a:t>
            </a:r>
          </a:p>
        </p:txBody>
      </p:sp>
      <p:sp>
        <p:nvSpPr>
          <p:cNvPr id="29" name="Rectangle 28"/>
          <p:cNvSpPr/>
          <p:nvPr/>
        </p:nvSpPr>
        <p:spPr>
          <a:xfrm>
            <a:off x="880110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extra container, but a library dependency</a:t>
            </a:r>
          </a:p>
        </p:txBody>
      </p:sp>
      <p:sp>
        <p:nvSpPr>
          <p:cNvPr id="31" name="Rectangle 30"/>
          <p:cNvSpPr/>
          <p:nvPr/>
        </p:nvSpPr>
        <p:spPr>
          <a:xfrm>
            <a:off x="77724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10670"/>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Handles files?</a:t>
            </a:r>
          </a:p>
        </p:txBody>
      </p:sp>
      <p:sp>
        <p:nvSpPr>
          <p:cNvPr id="33" name="Rectangle 32"/>
          <p:cNvSpPr/>
          <p:nvPr/>
        </p:nvSpPr>
        <p:spPr>
          <a:xfrm>
            <a:off x="345186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only what reached stdout/stderr</a:t>
            </a:r>
          </a:p>
        </p:txBody>
      </p:sp>
      <p:sp>
        <p:nvSpPr>
          <p:cNvPr id="35" name="Rectangle 34"/>
          <p:cNvSpPr/>
          <p:nvPr/>
        </p:nvSpPr>
        <p:spPr>
          <a:xfrm>
            <a:off x="6126479"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 this is the reason the pattern exists</a:t>
            </a:r>
          </a:p>
        </p:txBody>
      </p:sp>
      <p:sp>
        <p:nvSpPr>
          <p:cNvPr id="37" name="Rectangle 36"/>
          <p:cNvSpPr/>
          <p:nvPr/>
        </p:nvSpPr>
        <p:spPr>
          <a:xfrm>
            <a:off x="880110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a:t>
            </a:r>
          </a:p>
        </p:txBody>
      </p:sp>
      <p:sp>
        <p:nvSpPr>
          <p:cNvPr id="39" name="Rectangle 38"/>
          <p:cNvSpPr/>
          <p:nvPr/>
        </p:nvSpPr>
        <p:spPr>
          <a:xfrm>
            <a:off x="77724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60103"/>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coupling</a:t>
            </a:r>
          </a:p>
        </p:txBody>
      </p:sp>
      <p:sp>
        <p:nvSpPr>
          <p:cNvPr id="41" name="Rectangle 40"/>
          <p:cNvSpPr/>
          <p:nvPr/>
        </p:nvSpPr>
        <p:spPr>
          <a:xfrm>
            <a:off x="345186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Agent down = that node stops shipping</a:t>
            </a:r>
          </a:p>
        </p:txBody>
      </p:sp>
      <p:sp>
        <p:nvSpPr>
          <p:cNvPr id="43" name="Rectangle 42"/>
          <p:cNvSpPr/>
          <p:nvPr/>
        </p:nvSpPr>
        <p:spPr>
          <a:xfrm>
            <a:off x="6126479"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Sidecar down = only that Pod stops shipping</a:t>
            </a:r>
          </a:p>
        </p:txBody>
      </p:sp>
      <p:sp>
        <p:nvSpPr>
          <p:cNvPr id="45" name="Rectangle 44"/>
          <p:cNvSpPr/>
          <p:nvPr/>
        </p:nvSpPr>
        <p:spPr>
          <a:xfrm>
            <a:off x="880110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Backend down = the app itself blocks or drops</a:t>
            </a:r>
          </a:p>
        </p:txBody>
      </p:sp>
      <p:sp>
        <p:nvSpPr>
          <p:cNvPr id="47" name="Rectangle 46"/>
          <p:cNvSpPr/>
          <p:nvPr/>
        </p:nvSpPr>
        <p:spPr>
          <a:xfrm>
            <a:off x="77724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953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Rotation risk</a:t>
            </a:r>
          </a:p>
        </p:txBody>
      </p:sp>
      <p:sp>
        <p:nvSpPr>
          <p:cNvPr id="49" name="Rectangle 48"/>
          <p:cNvSpPr/>
          <p:nvPr/>
        </p:nvSpPr>
        <p:spPr>
          <a:xfrm>
            <a:off x="345186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Must out-run containerLogMaxSize rotation</a:t>
            </a:r>
          </a:p>
        </p:txBody>
      </p:sp>
      <p:sp>
        <p:nvSpPr>
          <p:cNvPr id="51" name="Rectangle 50"/>
          <p:cNvSpPr/>
          <p:nvPr/>
        </p:nvSpPr>
        <p:spPr>
          <a:xfrm>
            <a:off x="6126479"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Must rotate the in-container file itself</a:t>
            </a:r>
          </a:p>
        </p:txBody>
      </p:sp>
      <p:sp>
        <p:nvSpPr>
          <p:cNvPr id="53" name="Rectangle 52"/>
          <p:cNvSpPr/>
          <p:nvPr/>
        </p:nvSpPr>
        <p:spPr>
          <a:xfrm>
            <a:off x="880110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 nothing is written to disk</a:t>
            </a:r>
          </a:p>
        </p:txBody>
      </p:sp>
      <p:sp>
        <p:nvSpPr>
          <p:cNvPr id="55" name="Rectangle 54"/>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Default to a node-level agent; add a sidecar only for a workload that genuinely cannot write to stdout.</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Logging Architecture: kubernetes.io/docs/concepts/cluster-administration/logging/</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509</a:t>
            </a:r>
          </a:p>
        </p:txBody>
      </p:sp>
    </p:spTree>
  </p:cSld>
  <p:clrMapOvr>
    <a:masterClrMapping/>
  </p:clrMapOvr>
  <p:transition xmlns:ns1="http://schemas.openxmlformats.org/markup-compatibility/2006" spd="fast" ns1:Ignorable="p14">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METRICS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Resource Metrics Pipeline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hops from a cgroup counter to kubectl top — and not one of them stores a time series.</a:t>
            </a:r>
          </a:p>
        </p:txBody>
      </p:sp>
      <p:sp>
        <p:nvSpPr>
          <p:cNvPr id="7" name="Rounded Rectangle 6"/>
          <p:cNvSpPr/>
          <p:nvPr/>
        </p:nvSpPr>
        <p:spPr>
          <a:xfrm>
            <a:off x="777240" y="2382926"/>
            <a:ext cx="1890979" cy="169164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cAdvisor in the kubelet</a:t>
            </a:r>
          </a:p>
        </p:txBody>
      </p:sp>
      <p:sp>
        <p:nvSpPr>
          <p:cNvPr id="11" name="TextBox 10"/>
          <p:cNvSpPr txBox="1"/>
          <p:nvPr/>
        </p:nvSpPr>
        <p:spPr>
          <a:xfrm>
            <a:off x="92354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Reads cgroup counters for every container on the node</a:t>
            </a:r>
          </a:p>
        </p:txBody>
      </p:sp>
      <p:cxnSp>
        <p:nvCxnSpPr>
          <p:cNvPr id="12" name="Connector 11"/>
          <p:cNvCxnSpPr/>
          <p:nvPr/>
        </p:nvCxnSpPr>
        <p:spPr>
          <a:xfrm>
            <a:off x="2713939"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691640"/>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kubelet /metrics/resource</a:t>
            </a:r>
          </a:p>
        </p:txBody>
      </p:sp>
      <p:sp>
        <p:nvSpPr>
          <p:cNvPr id="17" name="TextBox 16"/>
          <p:cNvSpPr txBox="1"/>
          <p:nvPr/>
        </p:nvSpPr>
        <p:spPr>
          <a:xfrm>
            <a:off x="3125419"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Exposes the current CPU and memory readings for that node</a:t>
            </a:r>
          </a:p>
        </p:txBody>
      </p:sp>
      <p:cxnSp>
        <p:nvCxnSpPr>
          <p:cNvPr id="18" name="Connector 17"/>
          <p:cNvCxnSpPr/>
          <p:nvPr/>
        </p:nvCxnSpPr>
        <p:spPr>
          <a:xfrm>
            <a:off x="4915814"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691640"/>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metrics-server</a:t>
            </a:r>
          </a:p>
        </p:txBody>
      </p:sp>
      <p:sp>
        <p:nvSpPr>
          <p:cNvPr id="23" name="TextBox 22"/>
          <p:cNvSpPr txBox="1"/>
          <p:nvPr/>
        </p:nvSpPr>
        <p:spPr>
          <a:xfrm>
            <a:off x="532729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Scrapes every kubelet, keeps a small in-memory window. No history</a:t>
            </a:r>
          </a:p>
        </p:txBody>
      </p:sp>
      <p:cxnSp>
        <p:nvCxnSpPr>
          <p:cNvPr id="24" name="Connector 23"/>
          <p:cNvCxnSpPr/>
          <p:nvPr/>
        </p:nvCxnSpPr>
        <p:spPr>
          <a:xfrm>
            <a:off x="7117689"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691640"/>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metrics.k8s.io API</a:t>
            </a:r>
          </a:p>
        </p:txBody>
      </p:sp>
      <p:sp>
        <p:nvSpPr>
          <p:cNvPr id="29" name="TextBox 28"/>
          <p:cNvSpPr txBox="1"/>
          <p:nvPr/>
        </p:nvSpPr>
        <p:spPr>
          <a:xfrm>
            <a:off x="7529169"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Registered as an APIService so kubectl and controllers can query it</a:t>
            </a:r>
          </a:p>
        </p:txBody>
      </p:sp>
      <p:cxnSp>
        <p:nvCxnSpPr>
          <p:cNvPr id="30" name="Connector 29"/>
          <p:cNvCxnSpPr/>
          <p:nvPr/>
        </p:nvCxnSpPr>
        <p:spPr>
          <a:xfrm>
            <a:off x="9319564"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69164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kubectl top · HPA · VPA</a:t>
            </a:r>
          </a:p>
        </p:txBody>
      </p:sp>
      <p:sp>
        <p:nvSpPr>
          <p:cNvPr id="35" name="TextBox 34"/>
          <p:cNvSpPr txBox="1"/>
          <p:nvPr/>
        </p:nvSpPr>
        <p:spPr>
          <a:xfrm>
            <a:off x="973104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only consumers. top is a formatter over the same API</a:t>
            </a:r>
          </a:p>
        </p:txBody>
      </p:sp>
      <p:sp>
        <p:nvSpPr>
          <p:cNvPr id="36" name="Rectangle 35"/>
          <p:cNvSpPr/>
          <p:nvPr/>
        </p:nvSpPr>
        <p:spPr>
          <a:xfrm>
            <a:off x="777240" y="4385462"/>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385462"/>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467758"/>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696358"/>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metrics-server answers 'what is it using now' for autoscaling. It cannot answer 'what was CPU at 03:00', and it is not a monitoring system.</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Resource Metrics Pipeline: kubernetes.io/docs/tasks/debug/debug-cluster/resource-metrics-pipeline/</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510</a:t>
            </a:r>
          </a:p>
        </p:txBody>
      </p:sp>
    </p:spTree>
  </p:cSld>
  <p:clrMapOvr>
    <a:masterClrMapping/>
  </p:clrMapOvr>
  <p:transition xmlns:ns5="http://schemas.openxmlformats.org/markup-compatibility/2006" spd="fast" ns5:Ignorable="p14">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METRICS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kubectl top Fails — Add-on, Not A Broken Cluster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errors, two different diagnoses — learn to tell 'absent' from 'broken'.</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kubectl top pods returns an error on a freshly built cluster. Nothing is broken: the resource metrics API is not installed.</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416"/>
              </a:lnSpc>
              <a:spcAft>
                <a:spcPts val="0"/>
              </a:spcAft>
            </a:pPr>
            <a:r>
              <a:rPr sz="950">
                <a:solidFill>
                  <a:srgbClr val="7EE787"/>
                </a:solidFill>
                <a:latin typeface="Consolas"/>
              </a:rPr>
              <a:t>$ kubectl top pods -n kcna-lab23</a:t>
            </a:r>
          </a:p>
          <a:p>
            <a:pPr>
              <a:lnSpc>
                <a:spcPts val="1416"/>
              </a:lnSpc>
              <a:spcAft>
                <a:spcPts val="0"/>
              </a:spcAft>
            </a:pPr>
            <a:r>
              <a:rPr sz="950">
                <a:solidFill>
                  <a:srgbClr val="E6EDF3"/>
                </a:solidFill>
                <a:latin typeface="Consolas"/>
              </a:rPr>
              <a:t>error: Metrics API not available</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EE787"/>
                </a:solidFill>
                <a:latin typeface="Consolas"/>
              </a:rPr>
              <a:t>$ kubectl get apiservice v1beta1.metrics.k8s.io</a:t>
            </a:r>
          </a:p>
          <a:p>
            <a:pPr>
              <a:lnSpc>
                <a:spcPts val="1416"/>
              </a:lnSpc>
              <a:spcAft>
                <a:spcPts val="0"/>
              </a:spcAft>
            </a:pPr>
            <a:r>
              <a:rPr sz="950">
                <a:solidFill>
                  <a:srgbClr val="E6EDF3"/>
                </a:solidFill>
                <a:latin typeface="Consolas"/>
              </a:rPr>
              <a:t>Error from server (NotFound): apiservices.apiregistration.k8s.io</a:t>
            </a:r>
          </a:p>
          <a:p>
            <a:pPr>
              <a:lnSpc>
                <a:spcPts val="1416"/>
              </a:lnSpc>
              <a:spcAft>
                <a:spcPts val="0"/>
              </a:spcAft>
            </a:pPr>
            <a:r>
              <a:rPr sz="950">
                <a:solidFill>
                  <a:srgbClr val="E6EDF3"/>
                </a:solidFill>
                <a:latin typeface="Consolas"/>
              </a:rPr>
              <a:t>"v1beta1.metrics.k8s.io" not found</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EE787"/>
                </a:solidFill>
                <a:latin typeface="Consolas"/>
              </a:rPr>
              <a:t>$ kubectl api-resources --api-group=metrics.k8s.io</a:t>
            </a:r>
          </a:p>
          <a:p>
            <a:pPr>
              <a:lnSpc>
                <a:spcPts val="1416"/>
              </a:lnSpc>
              <a:spcAft>
                <a:spcPts val="0"/>
              </a:spcAft>
            </a:pPr>
            <a:r>
              <a:rPr sz="950">
                <a:solidFill>
                  <a:srgbClr val="E6EDF3"/>
                </a:solidFill>
                <a:latin typeface="Consolas"/>
              </a:rPr>
              <a:t>NAME   SHORTNAMES   APIVERSION   NAMESPACED   KIND</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D8A99"/>
                </a:solidFill>
                <a:latin typeface="Consolas"/>
              </a:rPr>
              <a:t># after installing metrics-server, then scaling it to zero:</a:t>
            </a:r>
          </a:p>
          <a:p>
            <a:pPr>
              <a:lnSpc>
                <a:spcPts val="1416"/>
              </a:lnSpc>
              <a:spcAft>
                <a:spcPts val="0"/>
              </a:spcAft>
            </a:pPr>
            <a:r>
              <a:rPr sz="950">
                <a:solidFill>
                  <a:srgbClr val="7EE787"/>
                </a:solidFill>
                <a:latin typeface="Consolas"/>
              </a:rPr>
              <a:t>$ kubectl get apiservice v1beta1.metrics.k8s.io</a:t>
            </a:r>
          </a:p>
          <a:p>
            <a:pPr>
              <a:lnSpc>
                <a:spcPts val="1416"/>
              </a:lnSpc>
              <a:spcAft>
                <a:spcPts val="0"/>
              </a:spcAft>
            </a:pPr>
            <a:r>
              <a:rPr sz="950">
                <a:solidFill>
                  <a:srgbClr val="E6EDF3"/>
                </a:solidFill>
                <a:latin typeface="Consolas"/>
              </a:rPr>
              <a:t>NAME                    AVAILABLE                        AGE</a:t>
            </a:r>
          </a:p>
          <a:p>
            <a:pPr>
              <a:lnSpc>
                <a:spcPts val="1416"/>
              </a:lnSpc>
              <a:spcAft>
                <a:spcPts val="0"/>
              </a:spcAft>
            </a:pPr>
            <a:r>
              <a:rPr sz="950">
                <a:solidFill>
                  <a:srgbClr val="E6EDF3"/>
                </a:solidFill>
                <a:latin typeface="Consolas"/>
              </a:rPr>
              <a:t>v1beta1.metrics.k8s.io  False (FailedDiscoveryCheck)      6m</a:t>
            </a:r>
          </a:p>
        </p:txBody>
      </p:sp>
      <p:sp>
        <p:nvSpPr>
          <p:cNvPr id="14" name="Rectangle 13"/>
          <p:cNvSpPr/>
          <p:nvPr/>
        </p:nvSpPr>
        <p:spPr>
          <a:xfrm>
            <a:off x="7205472" y="291327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metrics.k8s.io is an aggregated API, not core</a:t>
            </a:r>
          </a:p>
          <a:p>
            <a:pPr>
              <a:lnSpc>
                <a:spcPct val="112000"/>
              </a:lnSpc>
              <a:spcAft>
                <a:spcPts val="200"/>
              </a:spcAft>
            </a:pPr>
            <a:r>
              <a:rPr sz="950">
                <a:solidFill>
                  <a:srgbClr val="94A3B8"/>
                </a:solidFill>
                <a:latin typeface="Arial"/>
              </a:rPr>
              <a:t>•  </a:t>
            </a:r>
            <a:r>
              <a:rPr sz="950">
                <a:solidFill>
                  <a:srgbClr val="5B6372"/>
                </a:solidFill>
                <a:latin typeface="Arial"/>
              </a:rPr>
              <a:t>kind, kubeadm and many distributions omit it</a:t>
            </a:r>
          </a:p>
          <a:p>
            <a:pPr>
              <a:lnSpc>
                <a:spcPct val="112000"/>
              </a:lnSpc>
              <a:spcAft>
                <a:spcPts val="200"/>
              </a:spcAft>
            </a:pPr>
            <a:r>
              <a:rPr sz="950">
                <a:solidFill>
                  <a:srgbClr val="94A3B8"/>
                </a:solidFill>
                <a:latin typeface="Arial"/>
              </a:rPr>
              <a:t>•  </a:t>
            </a:r>
            <a:r>
              <a:rPr sz="950">
                <a:solidFill>
                  <a:srgbClr val="5B6372"/>
                </a:solidFill>
                <a:latin typeface="Arial"/>
              </a:rPr>
              <a:t>An empty api-resources table = the group does not exist</a:t>
            </a:r>
          </a:p>
        </p:txBody>
      </p:sp>
      <p:sp>
        <p:nvSpPr>
          <p:cNvPr id="18" name="Rectangle 17"/>
          <p:cNvSpPr/>
          <p:nvPr/>
        </p:nvSpPr>
        <p:spPr>
          <a:xfrm>
            <a:off x="7205472" y="4057619"/>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57619"/>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094195"/>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05091"/>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Install the metrics-server add-on</a:t>
            </a:r>
          </a:p>
          <a:p>
            <a:pPr>
              <a:lnSpc>
                <a:spcPct val="112000"/>
              </a:lnSpc>
              <a:spcAft>
                <a:spcPts val="200"/>
              </a:spcAft>
            </a:pPr>
            <a:r>
              <a:rPr sz="950">
                <a:solidFill>
                  <a:srgbClr val="94A3B8"/>
                </a:solidFill>
                <a:latin typeface="Arial"/>
              </a:rPr>
              <a:t>•  </a:t>
            </a:r>
            <a:r>
              <a:rPr sz="950">
                <a:solidFill>
                  <a:srgbClr val="5B6372"/>
                </a:solidFill>
                <a:latin typeface="Arial"/>
              </a:rPr>
              <a:t>Then confirm the APIService reads AVAILABLE True</a:t>
            </a:r>
          </a:p>
          <a:p>
            <a:pPr>
              <a:lnSpc>
                <a:spcPct val="112000"/>
              </a:lnSpc>
              <a:spcAft>
                <a:spcPts val="200"/>
              </a:spcAft>
            </a:pPr>
            <a:r>
              <a:rPr sz="950">
                <a:solidFill>
                  <a:srgbClr val="94A3B8"/>
                </a:solidFill>
                <a:latin typeface="Arial"/>
              </a:rPr>
              <a:t>•  </a:t>
            </a:r>
            <a:r>
              <a:rPr sz="950">
                <a:solidFill>
                  <a:srgbClr val="5B6372"/>
                </a:solidFill>
                <a:latin typeface="Arial"/>
              </a:rPr>
              <a:t>False (FailedDiscoveryCheck) = installed but unreachable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Resource Metrics Pipeline: kubernetes.io/docs/tasks/debug/debug-cluster/resource-metrics-pipeline/</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511</a:t>
            </a:r>
          </a:p>
        </p:txBody>
      </p:sp>
    </p:spTree>
  </p:cSld>
  <p:clrMapOvr>
    <a:masterClrMapping/>
  </p:clrMapOvr>
  <p:transition xmlns:ns1="http://schemas.openxmlformats.org/markup-compatibility/2006" spd="fast" ns1:Ignorable="p14">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METRICS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metrics-server Is Not A Monitoring System</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They look adjacent and are not substitutes. Confusing them is a standard KCNA distractor.</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metrics-server</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Prometheus</a:t>
            </a:r>
          </a:p>
        </p:txBody>
      </p:sp>
      <p:sp>
        <p:nvSpPr>
          <p:cNvPr id="13" name="Rectangle 12"/>
          <p:cNvSpPr/>
          <p:nvPr/>
        </p:nvSpPr>
        <p:spPr>
          <a:xfrm>
            <a:off x="77724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Purpose</a:t>
            </a:r>
          </a:p>
        </p:txBody>
      </p:sp>
      <p:sp>
        <p:nvSpPr>
          <p:cNvPr id="15" name="Rectangle 14"/>
          <p:cNvSpPr/>
          <p:nvPr/>
        </p:nvSpPr>
        <p:spPr>
          <a:xfrm>
            <a:off x="434340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Feed the HPA/VPA and kubectl top</a:t>
            </a:r>
          </a:p>
        </p:txBody>
      </p:sp>
      <p:sp>
        <p:nvSpPr>
          <p:cNvPr id="17" name="Rectangle 16"/>
          <p:cNvSpPr/>
          <p:nvPr/>
        </p:nvSpPr>
        <p:spPr>
          <a:xfrm>
            <a:off x="790956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Store and query time series for humans and alerts</a:t>
            </a:r>
          </a:p>
        </p:txBody>
      </p:sp>
      <p:sp>
        <p:nvSpPr>
          <p:cNvPr id="19" name="Rectangle 18"/>
          <p:cNvSpPr/>
          <p:nvPr/>
        </p:nvSpPr>
        <p:spPr>
          <a:xfrm>
            <a:off x="77724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Retention</a:t>
            </a:r>
          </a:p>
        </p:txBody>
      </p:sp>
      <p:sp>
        <p:nvSpPr>
          <p:cNvPr id="21" name="Rectangle 20"/>
          <p:cNvSpPr/>
          <p:nvPr/>
        </p:nvSpPr>
        <p:spPr>
          <a:xfrm>
            <a:off x="434340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short in-memory window — no history at all</a:t>
            </a:r>
          </a:p>
        </p:txBody>
      </p:sp>
      <p:sp>
        <p:nvSpPr>
          <p:cNvPr id="23" name="Rectangle 22"/>
          <p:cNvSpPr/>
          <p:nvPr/>
        </p:nvSpPr>
        <p:spPr>
          <a:xfrm>
            <a:off x="790956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local TSDB on disk, plus remote_write for long term</a:t>
            </a:r>
          </a:p>
        </p:txBody>
      </p:sp>
      <p:sp>
        <p:nvSpPr>
          <p:cNvPr id="25" name="Rectangle 24"/>
          <p:cNvSpPr/>
          <p:nvPr/>
        </p:nvSpPr>
        <p:spPr>
          <a:xfrm>
            <a:off x="77724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Metrics</a:t>
            </a:r>
          </a:p>
        </p:txBody>
      </p:sp>
      <p:sp>
        <p:nvSpPr>
          <p:cNvPr id="27" name="Rectangle 26"/>
          <p:cNvSpPr/>
          <p:nvPr/>
        </p:nvSpPr>
        <p:spPr>
          <a:xfrm>
            <a:off x="434340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CPU and memory only, from cgroups</a:t>
            </a:r>
          </a:p>
        </p:txBody>
      </p:sp>
      <p:sp>
        <p:nvSpPr>
          <p:cNvPr id="29" name="Rectangle 28"/>
          <p:cNvSpPr/>
          <p:nvPr/>
        </p:nvSpPr>
        <p:spPr>
          <a:xfrm>
            <a:off x="790956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Anything a target exposes, including your own business metrics</a:t>
            </a:r>
          </a:p>
        </p:txBody>
      </p:sp>
      <p:sp>
        <p:nvSpPr>
          <p:cNvPr id="31" name="Rectangle 30"/>
          <p:cNvSpPr/>
          <p:nvPr/>
        </p:nvSpPr>
        <p:spPr>
          <a:xfrm>
            <a:off x="77724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Query</a:t>
            </a:r>
          </a:p>
        </p:txBody>
      </p:sp>
      <p:sp>
        <p:nvSpPr>
          <p:cNvPr id="33" name="Rectangle 32"/>
          <p:cNvSpPr/>
          <p:nvPr/>
        </p:nvSpPr>
        <p:spPr>
          <a:xfrm>
            <a:off x="434340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kubectl top, or the raw metrics.k8s.io endpoint</a:t>
            </a:r>
          </a:p>
        </p:txBody>
      </p:sp>
      <p:sp>
        <p:nvSpPr>
          <p:cNvPr id="35" name="Rectangle 34"/>
          <p:cNvSpPr/>
          <p:nvPr/>
        </p:nvSpPr>
        <p:spPr>
          <a:xfrm>
            <a:off x="790956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PromQL: rate, aggregation, quantiles, joins, arithmetic</a:t>
            </a:r>
          </a:p>
        </p:txBody>
      </p:sp>
      <p:sp>
        <p:nvSpPr>
          <p:cNvPr id="37" name="Rectangle 36"/>
          <p:cNvSpPr/>
          <p:nvPr/>
        </p:nvSpPr>
        <p:spPr>
          <a:xfrm>
            <a:off x="77724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Answers 'what was it at 03:00?'</a:t>
            </a:r>
          </a:p>
        </p:txBody>
      </p:sp>
      <p:sp>
        <p:nvSpPr>
          <p:cNvPr id="39" name="Rectangle 38"/>
          <p:cNvSpPr/>
          <p:nvPr/>
        </p:nvSpPr>
        <p:spPr>
          <a:xfrm>
            <a:off x="434340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 — nothing is stored</a:t>
            </a:r>
          </a:p>
        </p:txBody>
      </p:sp>
      <p:sp>
        <p:nvSpPr>
          <p:cNvPr id="41" name="Rectangle 40"/>
          <p:cNvSpPr/>
          <p:nvPr/>
        </p:nvSpPr>
        <p:spPr>
          <a:xfrm>
            <a:off x="790956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Yes, for the whole retention period</a:t>
            </a:r>
          </a:p>
        </p:txBody>
      </p:sp>
      <p:sp>
        <p:nvSpPr>
          <p:cNvPr id="43" name="Rectangle 42"/>
          <p:cNvSpPr/>
          <p:nvPr/>
        </p:nvSpPr>
        <p:spPr>
          <a:xfrm>
            <a:off x="77724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Failure impact</a:t>
            </a:r>
          </a:p>
        </p:txBody>
      </p:sp>
      <p:sp>
        <p:nvSpPr>
          <p:cNvPr id="45" name="Rectangle 44"/>
          <p:cNvSpPr/>
          <p:nvPr/>
        </p:nvSpPr>
        <p:spPr>
          <a:xfrm>
            <a:off x="434340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447141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Autoscaling stalls at the last known state</a:t>
            </a:r>
          </a:p>
        </p:txBody>
      </p:sp>
      <p:sp>
        <p:nvSpPr>
          <p:cNvPr id="47" name="Rectangle 46"/>
          <p:cNvSpPr/>
          <p:nvPr/>
        </p:nvSpPr>
        <p:spPr>
          <a:xfrm>
            <a:off x="790956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803757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You lose visibility, not scheduling</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Run metrics-server because the HPA requires it; run Prometheus because engineers require history.</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Resource Metrics Pipeline: kubernetes.io/docs/tasks/debug/debug-cluster/resource-metrics-pipeline/</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512</a:t>
            </a:r>
          </a:p>
        </p:txBody>
      </p:sp>
    </p:spTree>
  </p:cSld>
  <p:clrMapOvr>
    <a:masterClrMapping/>
  </p:clrMapOvr>
  <p:transition xmlns:ns1="http://schemas.openxmlformats.org/markup-compatibility/2006" spd="fast" ns1:Ignorable="p14">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800" b="1" i="0">
                <a:solidFill>
                  <a:srgbClr val="161B26"/>
                </a:solidFill>
                <a:latin typeface="Arial"/>
              </a:rPr>
              <a:t>Lab 23 — Events, Logs, Field Selectors and the Metrics Server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Build the incident evidence trail: query Events as API objects with server-side field selectors, drive kubectl logs across containers and restarts, and establish exactly what kubectl top requires on a kind cluster that does not ship metrics-server.</a:t>
            </a:r>
          </a:p>
        </p:txBody>
      </p:sp>
      <p:sp>
        <p:nvSpPr>
          <p:cNvPr id="10" name="Rectangle 9"/>
          <p:cNvSpPr/>
          <p:nvPr/>
        </p:nvSpPr>
        <p:spPr>
          <a:xfrm>
            <a:off x="777240" y="2668219"/>
            <a:ext cx="5199278" cy="2461910"/>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913270"/>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namespace emitting a real mixed event stream (Normal, Warning FailedMount, Warning BackOff) filtered with compound --field-selector queries</a:t>
            </a:r>
          </a:p>
          <a:p>
            <a:pPr>
              <a:lnSpc>
                <a:spcPct val="112000"/>
              </a:lnSpc>
              <a:spcAft>
                <a:spcPts val="500"/>
              </a:spcAft>
            </a:pPr>
            <a:r>
              <a:rPr sz="1050">
                <a:solidFill>
                  <a:srgbClr val="94A3B8"/>
                </a:solidFill>
                <a:latin typeface="Arial"/>
              </a:rPr>
              <a:t>•  </a:t>
            </a:r>
            <a:r>
              <a:rPr sz="1050">
                <a:solidFill>
                  <a:srgbClr val="5B6372"/>
                </a:solidFill>
                <a:latin typeface="Arial"/>
              </a:rPr>
              <a:t>A two-container Pod proving that only stdout/stderr reaches kubectl logs, plus a crash-looping container whose cause is only visible via --previous</a:t>
            </a:r>
          </a:p>
          <a:p>
            <a:pPr>
              <a:lnSpc>
                <a:spcPct val="112000"/>
              </a:lnSpc>
              <a:spcAft>
                <a:spcPts val="500"/>
              </a:spcAft>
            </a:pPr>
            <a:r>
              <a:rPr sz="1050">
                <a:solidFill>
                  <a:srgbClr val="94A3B8"/>
                </a:solidFill>
                <a:latin typeface="Arial"/>
              </a:rPr>
              <a:t>•  </a:t>
            </a:r>
            <a:r>
              <a:rPr sz="1050">
                <a:solidFill>
                  <a:srgbClr val="5B6372"/>
                </a:solidFill>
                <a:latin typeface="Arial"/>
              </a:rPr>
              <a:t>A completed event-triage worksheet recording each query, what it returned, and whether kubectl top was available (Path A install or Path B skip)</a:t>
            </a:r>
          </a:p>
        </p:txBody>
      </p:sp>
      <p:sp>
        <p:nvSpPr>
          <p:cNvPr id="14" name="Rectangle 13"/>
          <p:cNvSpPr/>
          <p:nvPr/>
        </p:nvSpPr>
        <p:spPr>
          <a:xfrm>
            <a:off x="6276441" y="2668219"/>
            <a:ext cx="5199278" cy="2461910"/>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913270"/>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Events are aggregated (count + firstTimestamp) and garbage-collected after --event-ttl, one hour by default — a triage signal, never an audit log</a:t>
            </a:r>
          </a:p>
          <a:p>
            <a:pPr>
              <a:lnSpc>
                <a:spcPct val="112000"/>
              </a:lnSpc>
              <a:spcAft>
                <a:spcPts val="500"/>
              </a:spcAft>
            </a:pPr>
            <a:r>
              <a:rPr sz="1050">
                <a:solidFill>
                  <a:srgbClr val="94A3B8"/>
                </a:solidFill>
                <a:latin typeface="Arial"/>
              </a:rPr>
              <a:t>•  </a:t>
            </a:r>
            <a:r>
              <a:rPr sz="1050">
                <a:solidFill>
                  <a:srgbClr val="5B6372"/>
                </a:solidFill>
                <a:latin typeface="Arial"/>
              </a:rPr>
              <a:t>Field selectors are server-side but restricted to indexed fields: type, reason and involvedObject.* are selectable, message is not</a:t>
            </a:r>
          </a:p>
          <a:p>
            <a:pPr>
              <a:lnSpc>
                <a:spcPct val="112000"/>
              </a:lnSpc>
              <a:spcAft>
                <a:spcPts val="500"/>
              </a:spcAft>
            </a:pPr>
            <a:r>
              <a:rPr sz="1050">
                <a:solidFill>
                  <a:srgbClr val="94A3B8"/>
                </a:solidFill>
                <a:latin typeface="Arial"/>
              </a:rPr>
              <a:t>•  </a:t>
            </a:r>
            <a:r>
              <a:rPr sz="1050">
                <a:solidFill>
                  <a:srgbClr val="5B6372"/>
                </a:solidFill>
                <a:latin typeface="Arial"/>
              </a:rPr>
              <a:t>kubectl logs captures only stdout/stderr, retains one previous container generation, and is bounded by kubelet log rotation — the case for node-level shippers</a:t>
            </a:r>
          </a:p>
          <a:p>
            <a:pPr>
              <a:lnSpc>
                <a:spcPct val="112000"/>
              </a:lnSpc>
              <a:spcAft>
                <a:spcPts val="500"/>
              </a:spcAft>
            </a:pPr>
            <a:r>
              <a:rPr sz="1050">
                <a:solidFill>
                  <a:srgbClr val="94A3B8"/>
                </a:solidFill>
                <a:latin typeface="Arial"/>
              </a:rPr>
              <a:t>•  </a:t>
            </a:r>
            <a:r>
              <a:rPr sz="1050">
                <a:solidFill>
                  <a:srgbClr val="5B6372"/>
                </a:solidFill>
                <a:latin typeface="Arial"/>
              </a:rPr>
              <a:t>kubectl top is an add-on requiring metrics-server behind the aggregation layer; on kind it needs --kubelet-insecure-tls, and it holds no history</a:t>
            </a:r>
          </a:p>
        </p:txBody>
      </p:sp>
      <p:sp>
        <p:nvSpPr>
          <p:cNvPr id="18" name="Rectangle 17"/>
          <p:cNvSpPr/>
          <p:nvPr/>
        </p:nvSpPr>
        <p:spPr>
          <a:xfrm>
            <a:off x="777240" y="531300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313009"/>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377017"/>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55989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23</a:t>
            </a:r>
          </a:p>
        </p:txBody>
      </p:sp>
      <p:sp>
        <p:nvSpPr>
          <p:cNvPr id="22" name="Rectangle 21"/>
          <p:cNvSpPr/>
          <p:nvPr/>
        </p:nvSpPr>
        <p:spPr>
          <a:xfrm>
            <a:off x="3488436" y="531300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313009"/>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377017"/>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55989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kcna-lab23</a:t>
            </a:r>
          </a:p>
        </p:txBody>
      </p:sp>
      <p:sp>
        <p:nvSpPr>
          <p:cNvPr id="26" name="Rectangle 25"/>
          <p:cNvSpPr/>
          <p:nvPr/>
        </p:nvSpPr>
        <p:spPr>
          <a:xfrm>
            <a:off x="6199631" y="531300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313009"/>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377017"/>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55989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LO6 · A6 · K7</a:t>
            </a:r>
          </a:p>
        </p:txBody>
      </p:sp>
      <p:sp>
        <p:nvSpPr>
          <p:cNvPr id="30" name="Rectangle 29"/>
          <p:cNvSpPr/>
          <p:nvPr/>
        </p:nvSpPr>
        <p:spPr>
          <a:xfrm>
            <a:off x="8910828" y="5313009"/>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313009"/>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377017"/>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559897"/>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50 min</a:t>
            </a:r>
          </a:p>
        </p:txBody>
      </p:sp>
      <p:sp>
        <p:nvSpPr>
          <p:cNvPr id="34" name="TextBox 33"/>
          <p:cNvSpPr txBox="1"/>
          <p:nvPr/>
        </p:nvSpPr>
        <p:spPr>
          <a:xfrm>
            <a:off x="777240" y="5953089"/>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courseware/labs/lab-23-events-logs-metrics/README.md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513</a:t>
            </a:r>
          </a:p>
        </p:txBody>
      </p:sp>
    </p:spTree>
  </p:cSld>
  <p:clrMapOvr>
    <a:masterClrMapping/>
  </p:clrMapOvr>
  <p:transition xmlns:ns1="http://schemas.openxmlformats.org/markup-compatibility/2006" spd="fast" ns1:Ignorable="p14">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PIPELINE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Observability Pipeline, End To End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7" name="Rectangle 6"/>
          <p:cNvSpPr/>
          <p:nvPr/>
        </p:nvSpPr>
        <p:spPr>
          <a:xfrm>
            <a:off x="777240" y="1737360"/>
            <a:ext cx="50292" cy="1264920"/>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41832" y="1920240"/>
            <a:ext cx="1261872" cy="935736"/>
          </a:xfrm>
          <a:prstGeom prst="rect">
            <a:avLst/>
          </a:prstGeom>
          <a:noFill/>
        </p:spPr>
        <p:txBody>
          <a:bodyPr wrap="square" lIns="0" rIns="0" tIns="0" bIns="0" anchor="t">
            <a:spAutoFit/>
          </a:bodyPr>
          <a:lstStyle/>
          <a:p>
            <a:pPr algn="l">
              <a:lnSpc>
                <a:spcPct val="112000"/>
              </a:lnSpc>
            </a:pPr>
            <a:r>
              <a:rPr sz="950" b="1" i="0">
                <a:solidFill>
                  <a:srgbClr val="10B981"/>
                </a:solidFill>
                <a:latin typeface="Arial"/>
              </a:rPr>
              <a:t>PRODUCE</a:t>
            </a:r>
          </a:p>
        </p:txBody>
      </p:sp>
      <p:sp>
        <p:nvSpPr>
          <p:cNvPr id="9" name="Rounded Rectangle 8"/>
          <p:cNvSpPr/>
          <p:nvPr/>
        </p:nvSpPr>
        <p:spPr>
          <a:xfrm>
            <a:off x="2258568"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0" name="TextBox 9"/>
          <p:cNvSpPr txBox="1"/>
          <p:nvPr/>
        </p:nvSpPr>
        <p:spPr>
          <a:xfrm>
            <a:off x="2350008"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Instrumented app</a:t>
            </a:r>
          </a:p>
        </p:txBody>
      </p:sp>
      <p:sp>
        <p:nvSpPr>
          <p:cNvPr id="11" name="TextBox 10"/>
          <p:cNvSpPr txBox="1"/>
          <p:nvPr/>
        </p:nvSpPr>
        <p:spPr>
          <a:xfrm>
            <a:off x="2350008"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Client library keeps counters, gauges and histograms in memory</a:t>
            </a:r>
          </a:p>
        </p:txBody>
      </p:sp>
      <p:sp>
        <p:nvSpPr>
          <p:cNvPr id="12" name="Rounded Rectangle 11"/>
          <p:cNvSpPr/>
          <p:nvPr/>
        </p:nvSpPr>
        <p:spPr>
          <a:xfrm>
            <a:off x="5318760"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3" name="TextBox 12"/>
          <p:cNvSpPr txBox="1"/>
          <p:nvPr/>
        </p:nvSpPr>
        <p:spPr>
          <a:xfrm>
            <a:off x="5410199"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Exporter</a:t>
            </a:r>
          </a:p>
        </p:txBody>
      </p:sp>
      <p:sp>
        <p:nvSpPr>
          <p:cNvPr id="14" name="TextBox 13"/>
          <p:cNvSpPr txBox="1"/>
          <p:nvPr/>
        </p:nvSpPr>
        <p:spPr>
          <a:xfrm>
            <a:off x="5410199"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Translates a system that cannot be changed into the same format</a:t>
            </a:r>
          </a:p>
        </p:txBody>
      </p:sp>
      <p:sp>
        <p:nvSpPr>
          <p:cNvPr id="15" name="Rounded Rectangle 14"/>
          <p:cNvSpPr/>
          <p:nvPr/>
        </p:nvSpPr>
        <p:spPr>
          <a:xfrm>
            <a:off x="8378951" y="1810512"/>
            <a:ext cx="2895599" cy="1118616"/>
          </a:xfrm>
          <a:prstGeom prst="roundRect">
            <a:avLst>
              <a:gd name="adj" fmla="val 10000"/>
            </a:avLst>
          </a:prstGeom>
          <a:solidFill>
            <a:srgbClr val="FFFFFF"/>
          </a:solidFill>
          <a:ln w="17780">
            <a:solidFill>
              <a:srgbClr val="10B981"/>
            </a:solidFill>
          </a:ln>
          <a:effectLst/>
        </p:spPr>
        <p:txBody>
          <a:bodyPr rtlCol="0" anchor="ctr" wrap="square"/>
          <a:lstStyle/>
          <a:p>
            <a:pPr algn="ctr"/>
          </a:p>
        </p:txBody>
      </p:sp>
      <p:sp>
        <p:nvSpPr>
          <p:cNvPr id="16" name="TextBox 15"/>
          <p:cNvSpPr txBox="1"/>
          <p:nvPr/>
        </p:nvSpPr>
        <p:spPr>
          <a:xfrm>
            <a:off x="8470391" y="18653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/metrics endpoint</a:t>
            </a:r>
          </a:p>
        </p:txBody>
      </p:sp>
      <p:sp>
        <p:nvSpPr>
          <p:cNvPr id="17" name="TextBox 16"/>
          <p:cNvSpPr txBox="1"/>
          <p:nvPr/>
        </p:nvSpPr>
        <p:spPr>
          <a:xfrm>
            <a:off x="8470391" y="2098548"/>
            <a:ext cx="2712719" cy="75742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Plain text over HTTP, Content-Type text/plain; version=0.0.4</a:t>
            </a:r>
          </a:p>
        </p:txBody>
      </p:sp>
      <p:sp>
        <p:nvSpPr>
          <p:cNvPr id="18" name="Rectangle 17"/>
          <p:cNvSpPr/>
          <p:nvPr/>
        </p:nvSpPr>
        <p:spPr>
          <a:xfrm>
            <a:off x="777240" y="31851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19" name="Rectangle 18"/>
          <p:cNvSpPr/>
          <p:nvPr/>
        </p:nvSpPr>
        <p:spPr>
          <a:xfrm>
            <a:off x="777240" y="3185160"/>
            <a:ext cx="50292" cy="1264920"/>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941832" y="3368040"/>
            <a:ext cx="1261872" cy="935736"/>
          </a:xfrm>
          <a:prstGeom prst="rect">
            <a:avLst/>
          </a:prstGeom>
          <a:noFill/>
        </p:spPr>
        <p:txBody>
          <a:bodyPr wrap="square" lIns="0" rIns="0" tIns="0" bIns="0" anchor="t">
            <a:spAutoFit/>
          </a:bodyPr>
          <a:lstStyle/>
          <a:p>
            <a:pPr algn="l">
              <a:lnSpc>
                <a:spcPct val="112000"/>
              </a:lnSpc>
            </a:pPr>
            <a:r>
              <a:rPr sz="950" b="1" i="0">
                <a:solidFill>
                  <a:srgbClr val="F59E0B"/>
                </a:solidFill>
                <a:latin typeface="Arial"/>
              </a:rPr>
              <a:t>COLLECT AND STORE</a:t>
            </a:r>
          </a:p>
        </p:txBody>
      </p:sp>
      <p:sp>
        <p:nvSpPr>
          <p:cNvPr id="21" name="Rounded Rectangle 20"/>
          <p:cNvSpPr/>
          <p:nvPr/>
        </p:nvSpPr>
        <p:spPr>
          <a:xfrm>
            <a:off x="2258568"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2" name="TextBox 21"/>
          <p:cNvSpPr txBox="1"/>
          <p:nvPr/>
        </p:nvSpPr>
        <p:spPr>
          <a:xfrm>
            <a:off x="2350008"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Service discovery</a:t>
            </a:r>
          </a:p>
        </p:txBody>
      </p:sp>
      <p:sp>
        <p:nvSpPr>
          <p:cNvPr id="23" name="TextBox 22"/>
          <p:cNvSpPr txBox="1"/>
          <p:nvPr/>
        </p:nvSpPr>
        <p:spPr>
          <a:xfrm>
            <a:off x="2350008"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kubernetes_sd_configs enumerates Pods, Services and Nodes</a:t>
            </a:r>
          </a:p>
        </p:txBody>
      </p:sp>
      <p:sp>
        <p:nvSpPr>
          <p:cNvPr id="24" name="Rounded Rectangle 23"/>
          <p:cNvSpPr/>
          <p:nvPr/>
        </p:nvSpPr>
        <p:spPr>
          <a:xfrm>
            <a:off x="5318760"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5" name="TextBox 24"/>
          <p:cNvSpPr txBox="1"/>
          <p:nvPr/>
        </p:nvSpPr>
        <p:spPr>
          <a:xfrm>
            <a:off x="5410199"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Scrape loop</a:t>
            </a:r>
          </a:p>
        </p:txBody>
      </p:sp>
      <p:sp>
        <p:nvSpPr>
          <p:cNvPr id="26" name="TextBox 25"/>
          <p:cNvSpPr txBox="1"/>
          <p:nvPr/>
        </p:nvSpPr>
        <p:spPr>
          <a:xfrm>
            <a:off x="5410199"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An HTTP GET per target per scrape_interval. Nothing is pushed</a:t>
            </a:r>
          </a:p>
        </p:txBody>
      </p:sp>
      <p:sp>
        <p:nvSpPr>
          <p:cNvPr id="27" name="Rounded Rectangle 26"/>
          <p:cNvSpPr/>
          <p:nvPr/>
        </p:nvSpPr>
        <p:spPr>
          <a:xfrm>
            <a:off x="8378951" y="3258312"/>
            <a:ext cx="2895599" cy="1118616"/>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8" name="TextBox 27"/>
          <p:cNvSpPr txBox="1"/>
          <p:nvPr/>
        </p:nvSpPr>
        <p:spPr>
          <a:xfrm>
            <a:off x="8470391" y="3313176"/>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TSDB</a:t>
            </a:r>
          </a:p>
        </p:txBody>
      </p:sp>
      <p:sp>
        <p:nvSpPr>
          <p:cNvPr id="29" name="TextBox 28"/>
          <p:cNvSpPr txBox="1"/>
          <p:nvPr/>
        </p:nvSpPr>
        <p:spPr>
          <a:xfrm>
            <a:off x="8470391" y="3546348"/>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Samples appended per series; series identified by name + labels</a:t>
            </a:r>
          </a:p>
        </p:txBody>
      </p:sp>
      <p:sp>
        <p:nvSpPr>
          <p:cNvPr id="30" name="Rectangle 29"/>
          <p:cNvSpPr/>
          <p:nvPr/>
        </p:nvSpPr>
        <p:spPr>
          <a:xfrm>
            <a:off x="777240" y="4632960"/>
            <a:ext cx="10698480" cy="1264920"/>
          </a:xfrm>
          <a:prstGeom prst="rect">
            <a:avLst/>
          </a:prstGeom>
          <a:solidFill>
            <a:srgbClr val="F5F8FC"/>
          </a:solidFill>
          <a:ln w="12700">
            <a:solidFill>
              <a:srgbClr val="E2E8F0"/>
            </a:solidFill>
          </a:ln>
          <a:effectLst/>
        </p:spPr>
        <p:txBody>
          <a:bodyPr rtlCol="0" anchor="ctr" wrap="square"/>
          <a:lstStyle/>
          <a:p>
            <a:pPr algn="ctr"/>
          </a:p>
        </p:txBody>
      </p:sp>
      <p:sp>
        <p:nvSpPr>
          <p:cNvPr id="31" name="Rectangle 30"/>
          <p:cNvSpPr/>
          <p:nvPr/>
        </p:nvSpPr>
        <p:spPr>
          <a:xfrm>
            <a:off x="777240" y="4632960"/>
            <a:ext cx="50292" cy="1264920"/>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41832" y="4815840"/>
            <a:ext cx="1261872" cy="935736"/>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CONSUME</a:t>
            </a:r>
          </a:p>
        </p:txBody>
      </p:sp>
      <p:sp>
        <p:nvSpPr>
          <p:cNvPr id="33" name="Rounded Rectangle 32"/>
          <p:cNvSpPr/>
          <p:nvPr/>
        </p:nvSpPr>
        <p:spPr>
          <a:xfrm>
            <a:off x="2258568"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4" name="TextBox 33"/>
          <p:cNvSpPr txBox="1"/>
          <p:nvPr/>
        </p:nvSpPr>
        <p:spPr>
          <a:xfrm>
            <a:off x="2350008"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PromQL</a:t>
            </a:r>
          </a:p>
        </p:txBody>
      </p:sp>
      <p:sp>
        <p:nvSpPr>
          <p:cNvPr id="35" name="TextBox 34"/>
          <p:cNvSpPr txBox="1"/>
          <p:nvPr/>
        </p:nvSpPr>
        <p:spPr>
          <a:xfrm>
            <a:off x="2350008"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rate, aggregation, quantiles, ratios — computed at query time</a:t>
            </a:r>
          </a:p>
        </p:txBody>
      </p:sp>
      <p:sp>
        <p:nvSpPr>
          <p:cNvPr id="36" name="Rounded Rectangle 35"/>
          <p:cNvSpPr/>
          <p:nvPr/>
        </p:nvSpPr>
        <p:spPr>
          <a:xfrm>
            <a:off x="5318760"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37" name="TextBox 36"/>
          <p:cNvSpPr txBox="1"/>
          <p:nvPr/>
        </p:nvSpPr>
        <p:spPr>
          <a:xfrm>
            <a:off x="5410199"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Rules and Alertmanager</a:t>
            </a:r>
          </a:p>
        </p:txBody>
      </p:sp>
      <p:sp>
        <p:nvSpPr>
          <p:cNvPr id="38" name="TextBox 37"/>
          <p:cNvSpPr txBox="1"/>
          <p:nvPr/>
        </p:nvSpPr>
        <p:spPr>
          <a:xfrm>
            <a:off x="5410199"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Recording rules precompute; alerts route, group, silence</a:t>
            </a:r>
          </a:p>
        </p:txBody>
      </p:sp>
      <p:sp>
        <p:nvSpPr>
          <p:cNvPr id="39" name="Rounded Rectangle 38"/>
          <p:cNvSpPr/>
          <p:nvPr/>
        </p:nvSpPr>
        <p:spPr>
          <a:xfrm>
            <a:off x="8378951" y="4706112"/>
            <a:ext cx="2895599" cy="1118616"/>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40" name="TextBox 39"/>
          <p:cNvSpPr txBox="1"/>
          <p:nvPr/>
        </p:nvSpPr>
        <p:spPr>
          <a:xfrm>
            <a:off x="8470391" y="476097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Dashboards</a:t>
            </a:r>
          </a:p>
        </p:txBody>
      </p:sp>
      <p:sp>
        <p:nvSpPr>
          <p:cNvPr id="41" name="TextBox 40"/>
          <p:cNvSpPr txBox="1"/>
          <p:nvPr/>
        </p:nvSpPr>
        <p:spPr>
          <a:xfrm>
            <a:off x="8470391" y="4994147"/>
            <a:ext cx="2712719" cy="757428"/>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Grafana is the usual front end — and is NOT a CNCF project</a:t>
            </a:r>
          </a:p>
        </p:txBody>
      </p:sp>
      <p:sp>
        <p:nvSpPr>
          <p:cNvPr id="42" name="TextBox 4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Configuration — scrape_config and kubernetes_sd_config: prometheus.io/docs/prometheus/latest/configuration/configuration/</a:t>
            </a:r>
          </a:p>
        </p:txBody>
      </p:sp>
      <p:sp>
        <p:nvSpPr>
          <p:cNvPr id="43" name="TextBox 4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4" name="TextBox 4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5" name="TextBox 4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514</a:t>
            </a:r>
          </a:p>
        </p:txBody>
      </p:sp>
    </p:spTree>
  </p:cSld>
  <p:clrMapOvr>
    <a:masterClrMapping/>
  </p:clrMapOvr>
  <p:transition xmlns:ns1="http://schemas.openxmlformats.org/markup-compatibility/2006" spd="fast" ns1:Ignorable="p14">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The Text Exposition Format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scrape is an HTTP GET returning plain text. That is the entire protocol.</a:t>
            </a:r>
          </a:p>
        </p:txBody>
      </p:sp>
      <p:sp>
        <p:nvSpPr>
          <p:cNvPr id="7" name="Rectangle 6"/>
          <p:cNvSpPr/>
          <p:nvPr/>
        </p:nvSpPr>
        <p:spPr>
          <a:xfrm>
            <a:off x="777240" y="2200046"/>
            <a:ext cx="635508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GET /metrics · text/plain; version=0.0.4</a:t>
            </a:r>
          </a:p>
        </p:txBody>
      </p:sp>
      <p:sp>
        <p:nvSpPr>
          <p:cNvPr id="9" name="TextBox 8"/>
          <p:cNvSpPr txBox="1"/>
          <p:nvPr/>
        </p:nvSpPr>
        <p:spPr>
          <a:xfrm>
            <a:off x="923544" y="2620670"/>
            <a:ext cx="6062472" cy="2811779"/>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HELP depot_portal_shipments_scanned_total Barcodes scanned.</a:t>
            </a:r>
          </a:p>
          <a:p>
            <a:pPr>
              <a:lnSpc>
                <a:spcPts val="1476"/>
              </a:lnSpc>
              <a:spcAft>
                <a:spcPts val="0"/>
              </a:spcAft>
            </a:pPr>
            <a:r>
              <a:rPr sz="1050">
                <a:solidFill>
                  <a:srgbClr val="7D8A99"/>
                </a:solidFill>
                <a:latin typeface="Consolas"/>
              </a:rPr>
              <a:t># TYPE depot_portal_shipments_scanned_total counter</a:t>
            </a:r>
          </a:p>
          <a:p>
            <a:pPr>
              <a:lnSpc>
                <a:spcPts val="1476"/>
              </a:lnSpc>
              <a:spcAft>
                <a:spcPts val="0"/>
              </a:spcAft>
            </a:pPr>
            <a:r>
              <a:rPr sz="1050">
                <a:solidFill>
                  <a:srgbClr val="E6EDF3"/>
                </a:solidFill>
                <a:latin typeface="Consolas"/>
              </a:rPr>
              <a:t>depot_portal_shipments_scanned_total{lane="inbound"} 1056</a:t>
            </a:r>
          </a:p>
          <a:p>
            <a:pPr>
              <a:lnSpc>
                <a:spcPts val="1476"/>
              </a:lnSpc>
              <a:spcAft>
                <a:spcPts val="0"/>
              </a:spcAft>
            </a:pPr>
            <a:r>
              <a:rPr sz="1050">
                <a:solidFill>
                  <a:srgbClr val="7D8A99"/>
                </a:solidFill>
                <a:latin typeface="Consolas"/>
              </a:rPr>
              <a:t># TYPE depot_portal_queue_depth gauge</a:t>
            </a:r>
          </a:p>
          <a:p>
            <a:pPr>
              <a:lnSpc>
                <a:spcPts val="1476"/>
              </a:lnSpc>
              <a:spcAft>
                <a:spcPts val="0"/>
              </a:spcAft>
            </a:pPr>
            <a:r>
              <a:rPr sz="1050">
                <a:solidFill>
                  <a:srgbClr val="E6EDF3"/>
                </a:solidFill>
                <a:latin typeface="Consolas"/>
              </a:rPr>
              <a:t>depot_portal_queue_depth{depot="sg-tuas"} 26</a:t>
            </a:r>
          </a:p>
          <a:p>
            <a:pPr>
              <a:lnSpc>
                <a:spcPts val="1476"/>
              </a:lnSpc>
              <a:spcAft>
                <a:spcPts val="0"/>
              </a:spcAft>
            </a:pPr>
            <a:r>
              <a:rPr sz="1050">
                <a:solidFill>
                  <a:srgbClr val="7D8A99"/>
                </a:solidFill>
                <a:latin typeface="Consolas"/>
              </a:rPr>
              <a:t># TYPE depot_portal_scan_latency_seconds histogram</a:t>
            </a:r>
          </a:p>
          <a:p>
            <a:pPr>
              <a:lnSpc>
                <a:spcPts val="1476"/>
              </a:lnSpc>
              <a:spcAft>
                <a:spcPts val="0"/>
              </a:spcAft>
            </a:pPr>
            <a:r>
              <a:rPr sz="1050">
                <a:solidFill>
                  <a:srgbClr val="E6EDF3"/>
                </a:solidFill>
                <a:latin typeface="Consolas"/>
              </a:rPr>
              <a:t>depot_portal_scan_latency_seconds_bucket{le="0.5"} 60</a:t>
            </a:r>
          </a:p>
          <a:p>
            <a:pPr>
              <a:lnSpc>
                <a:spcPts val="1476"/>
              </a:lnSpc>
              <a:spcAft>
                <a:spcPts val="0"/>
              </a:spcAft>
            </a:pPr>
            <a:r>
              <a:rPr sz="1050">
                <a:solidFill>
                  <a:srgbClr val="E6EDF3"/>
                </a:solidFill>
                <a:latin typeface="Consolas"/>
              </a:rPr>
              <a:t>depot_portal_scan_latency_seconds_bucket{le="1"} 81</a:t>
            </a:r>
          </a:p>
          <a:p>
            <a:pPr>
              <a:lnSpc>
                <a:spcPts val="1476"/>
              </a:lnSpc>
              <a:spcAft>
                <a:spcPts val="0"/>
              </a:spcAft>
            </a:pPr>
            <a:r>
              <a:rPr sz="1050">
                <a:solidFill>
                  <a:srgbClr val="E6EDF3"/>
                </a:solidFill>
                <a:latin typeface="Consolas"/>
              </a:rPr>
              <a:t>depot_portal_scan_latency_seconds_bucket{le="2.5"} 93</a:t>
            </a:r>
          </a:p>
          <a:p>
            <a:pPr>
              <a:lnSpc>
                <a:spcPts val="1476"/>
              </a:lnSpc>
              <a:spcAft>
                <a:spcPts val="0"/>
              </a:spcAft>
            </a:pPr>
            <a:r>
              <a:rPr sz="1050">
                <a:solidFill>
                  <a:srgbClr val="E6EDF3"/>
                </a:solidFill>
                <a:latin typeface="Consolas"/>
              </a:rPr>
              <a:t>depot_portal_scan_latency_seconds_bucket{le="5"} 96</a:t>
            </a:r>
          </a:p>
          <a:p>
            <a:pPr>
              <a:lnSpc>
                <a:spcPts val="1476"/>
              </a:lnSpc>
              <a:spcAft>
                <a:spcPts val="0"/>
              </a:spcAft>
            </a:pPr>
            <a:r>
              <a:rPr sz="1050">
                <a:solidFill>
                  <a:srgbClr val="E6EDF3"/>
                </a:solidFill>
                <a:latin typeface="Consolas"/>
              </a:rPr>
              <a:t>depot_portal_scan_latency_seconds_bucket{le="+Inf"} 97</a:t>
            </a:r>
          </a:p>
          <a:p>
            <a:pPr>
              <a:lnSpc>
                <a:spcPts val="1476"/>
              </a:lnSpc>
              <a:spcAft>
                <a:spcPts val="0"/>
              </a:spcAft>
            </a:pPr>
            <a:r>
              <a:rPr sz="1050">
                <a:solidFill>
                  <a:srgbClr val="E6EDF3"/>
                </a:solidFill>
                <a:latin typeface="Consolas"/>
              </a:rPr>
              <a:t>depot_portal_scan_latency_seconds_sum 39</a:t>
            </a:r>
          </a:p>
          <a:p>
            <a:pPr>
              <a:lnSpc>
                <a:spcPts val="1476"/>
              </a:lnSpc>
              <a:spcAft>
                <a:spcPts val="0"/>
              </a:spcAft>
            </a:pPr>
            <a:r>
              <a:rPr sz="1050">
                <a:solidFill>
                  <a:srgbClr val="E6EDF3"/>
                </a:solidFill>
                <a:latin typeface="Consolas"/>
              </a:rPr>
              <a:t>depot_portal_scan_latency_seconds_count 97</a:t>
            </a:r>
          </a:p>
          <a:p>
            <a:pPr>
              <a:lnSpc>
                <a:spcPts val="1476"/>
              </a:lnSpc>
              <a:spcAft>
                <a:spcPts val="0"/>
              </a:spcAft>
            </a:pPr>
            <a:r>
              <a:rPr sz="1050">
                <a:solidFill>
                  <a:srgbClr val="7D8A99"/>
                </a:solidFill>
                <a:latin typeface="Consolas"/>
              </a:rPr>
              <a:t># TYPE depot_portal_build_info gauge</a:t>
            </a:r>
          </a:p>
          <a:p>
            <a:pPr>
              <a:lnSpc>
                <a:spcPts val="1476"/>
              </a:lnSpc>
              <a:spcAft>
                <a:spcPts val="0"/>
              </a:spcAft>
            </a:pPr>
            <a:r>
              <a:rPr sz="1050">
                <a:solidFill>
                  <a:srgbClr val="E6EDF3"/>
                </a:solidFill>
                <a:latin typeface="Consolas"/>
              </a:rPr>
              <a:t>depot_portal_build_info{version="6.0.0"} 1</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Name, label set, value</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metric_name{k="v",...} value. Each distinct label combination is a SEPARATE time series. Values are 64-bit floats; no integer type.</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 TYPE is not decoration</a:t>
            </a:r>
          </a:p>
        </p:txBody>
      </p:sp>
      <p:sp>
        <p:nvSpPr>
          <p:cNvPr id="17" name="TextBox 16"/>
          <p:cNvSpPr txBox="1"/>
          <p:nvPr/>
        </p:nvSpPr>
        <p:spPr>
          <a:xfrm>
            <a:off x="7973567" y="375783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It is what tells Prometheus — and you — whether rate() is legal on this series. # HELP is what an engineer reads at 3 a.m.</a:t>
            </a:r>
          </a:p>
        </p:txBody>
      </p:sp>
      <p:sp>
        <p:nvSpPr>
          <p:cNvPr id="18" name="Oval 17"/>
          <p:cNvSpPr/>
          <p:nvPr/>
        </p:nvSpPr>
        <p:spPr>
          <a:xfrm>
            <a:off x="7626096" y="4424842"/>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40655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_total marks a counter</a:t>
            </a:r>
          </a:p>
        </p:txBody>
      </p:sp>
      <p:sp>
        <p:nvSpPr>
          <p:cNvPr id="20" name="TextBox 19"/>
          <p:cNvSpPr txBox="1"/>
          <p:nvPr/>
        </p:nvSpPr>
        <p:spPr>
          <a:xfrm>
            <a:off x="7973567" y="462334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Convention, not enforcement. Units belong in the name (_seconds, _bytes), never in a label.</a:t>
            </a:r>
          </a:p>
        </p:txBody>
      </p:sp>
      <p:sp>
        <p:nvSpPr>
          <p:cNvPr id="21" name="Oval 20"/>
          <p:cNvSpPr/>
          <p:nvPr/>
        </p:nvSpPr>
        <p:spPr>
          <a:xfrm>
            <a:off x="7626096" y="5136596"/>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11830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_info pattern: value always 1</a:t>
            </a:r>
          </a:p>
        </p:txBody>
      </p:sp>
      <p:sp>
        <p:nvSpPr>
          <p:cNvPr id="23" name="TextBox 22"/>
          <p:cNvSpPr txBox="1"/>
          <p:nvPr/>
        </p:nvSpPr>
        <p:spPr>
          <a:xfrm>
            <a:off x="7973567" y="5335097"/>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build_info carries version and revision in LABELS so you can join them in PromQL instead of stamping them onto every metric.</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Exposition formats: prometheus.io/docs/instrumenting/exposition_formats/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515</a:t>
            </a:r>
          </a:p>
        </p:txBody>
      </p:sp>
    </p:spTree>
  </p:cSld>
  <p:clrMapOvr>
    <a:masterClrMapping/>
  </p:clrMapOvr>
  <p:transition xmlns:ns1="http://schemas.openxmlformats.org/markup-compatibility/2006" spd="fast" ns1:Ignorable="p14">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Four Metric Types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Type determines which functions are legal, and whether you can aggregate across replicas.</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Counter</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Monotonically increases; resets to 0 only when the process restarts. Never graph it raw — always rate() or increase().</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Gauge</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current reading that may go up or down: queue depth, temperature, in-flight requests. Use the value directly.</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Histogram</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Cumulative _bucket series plus _sum and _count. Quantiles are estimated at QUERY time with histogram_quantile().</a:t>
            </a:r>
          </a:p>
        </p:txBody>
      </p:sp>
      <p:sp>
        <p:nvSpPr>
          <p:cNvPr id="22" name="Rectangle 21"/>
          <p:cNvSpPr/>
          <p:nvPr/>
        </p:nvSpPr>
        <p:spPr>
          <a:xfrm>
            <a:off x="777240"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263853"/>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8411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Summary</a:t>
            </a:r>
          </a:p>
        </p:txBody>
      </p:sp>
      <p:sp>
        <p:nvSpPr>
          <p:cNvPr id="26" name="TextBox 25"/>
          <p:cNvSpPr txBox="1"/>
          <p:nvPr/>
        </p:nvSpPr>
        <p:spPr>
          <a:xfrm>
            <a:off x="1399032"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Quantiles computed in the CLIENT at observation time. Cheap to read, but you cannot aggregate quantiles across instances.</a:t>
            </a:r>
          </a:p>
        </p:txBody>
      </p:sp>
      <p:sp>
        <p:nvSpPr>
          <p:cNvPr id="27" name="Rectangle 26"/>
          <p:cNvSpPr/>
          <p:nvPr/>
        </p:nvSpPr>
        <p:spPr>
          <a:xfrm>
            <a:off x="4392167"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263853"/>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8411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Histogram vs summary</a:t>
            </a:r>
          </a:p>
        </p:txBody>
      </p:sp>
      <p:sp>
        <p:nvSpPr>
          <p:cNvPr id="31" name="TextBox 30"/>
          <p:cNvSpPr txBox="1"/>
          <p:nvPr/>
        </p:nvSpPr>
        <p:spPr>
          <a:xfrm>
            <a:off x="5013959"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Histograms are aggregatable across Pods; summaries are not. That single fact decides it in Kubernetes.</a:t>
            </a:r>
          </a:p>
        </p:txBody>
      </p:sp>
      <p:sp>
        <p:nvSpPr>
          <p:cNvPr id="32" name="Rectangle 31"/>
          <p:cNvSpPr/>
          <p:nvPr/>
        </p:nvSpPr>
        <p:spPr>
          <a:xfrm>
            <a:off x="8007095"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263853"/>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8411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Native histograms</a:t>
            </a:r>
          </a:p>
        </p:txBody>
      </p:sp>
      <p:sp>
        <p:nvSpPr>
          <p:cNvPr id="36" name="TextBox 35"/>
          <p:cNvSpPr txBox="1"/>
          <p:nvPr/>
        </p:nvSpPr>
        <p:spPr>
          <a:xfrm>
            <a:off x="8628888"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newer, high-resolution encoding that removes the fixed-bucket compromise. Treat as an advanced topic for KCNA.</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Metric types: prometheus.io/docs/concepts/metric_types/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516</a:t>
            </a:r>
          </a:p>
        </p:txBody>
      </p:sp>
    </p:spTree>
  </p:cSld>
  <p:clrMapOvr>
    <a:masterClrMapping/>
  </p:clrMapOvr>
  <p:transition xmlns:ns1="http://schemas.openxmlformats.org/markup-compatibility/2006" spd="fast" ns1:Ignorable="p14">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Counter vs rate() — A Worked Example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arithmetic on seven scrapes at a 10s interval — not measured cluster data.</a:t>
            </a:r>
          </a:p>
        </p:txBody>
      </p:sp>
      <p:graphicFrame>
        <p:nvGraphicFramePr>
          <p:cNvPr id="7" name="Chart 6"/>
          <p:cNvGraphicFramePr>
            <a:graphicFrameLocks noGrp="1"/>
          </p:cNvGraphicFramePr>
          <p:nvPr/>
        </p:nvGraphicFramePr>
        <p:xfrm>
          <a:off x="777240" y="2200046"/>
          <a:ext cx="6675120" cy="3789273"/>
        </p:xfrm>
        <a:graphic>
          <a:graphicData uri="http://schemas.openxmlformats.org/drawingml/2006/chart">
            <c:chart xmlns:c="http://schemas.openxmlformats.org/drawingml/2006/chart" r:id="rId2"/>
          </a:graphicData>
        </a:graphic>
      </p:graphicFrame>
      <p:sp>
        <p:nvSpPr>
          <p:cNvPr id="8" name="TextBox 7"/>
          <p:cNvSpPr txBox="1"/>
          <p:nvPr/>
        </p:nvSpPr>
        <p:spPr>
          <a:xfrm>
            <a:off x="777240" y="1998878"/>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Counter increase (units) and derived per-minute rate</a:t>
            </a:r>
          </a:p>
        </p:txBody>
      </p:sp>
      <p:sp>
        <p:nvSpPr>
          <p:cNvPr id="9" name="Rectangle 8"/>
          <p:cNvSpPr/>
          <p:nvPr/>
        </p:nvSpPr>
        <p:spPr>
          <a:xfrm>
            <a:off x="7726680" y="2200046"/>
            <a:ext cx="3749039" cy="3789273"/>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46350"/>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75534"/>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5724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samples</a:t>
            </a:r>
          </a:p>
        </p:txBody>
      </p:sp>
      <p:sp>
        <p:nvSpPr>
          <p:cNvPr id="13" name="TextBox 12"/>
          <p:cNvSpPr txBox="1"/>
          <p:nvPr/>
        </p:nvSpPr>
        <p:spPr>
          <a:xfrm>
            <a:off x="8092440" y="287670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1000, 1009, 1018, 1028, 1037, 1046, 1056 at t = 0,10,...,60s. Deltas: 9, 9, 10, 9, 9, 10.</a:t>
            </a:r>
          </a:p>
        </p:txBody>
      </p:sp>
      <p:sp>
        <p:nvSpPr>
          <p:cNvPr id="14" name="Rectangle 13"/>
          <p:cNvSpPr/>
          <p:nvPr/>
        </p:nvSpPr>
        <p:spPr>
          <a:xfrm>
            <a:off x="7927848" y="3370478"/>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52190"/>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Per-second rate</a:t>
            </a:r>
          </a:p>
        </p:txBody>
      </p:sp>
      <p:sp>
        <p:nvSpPr>
          <p:cNvPr id="16" name="TextBox 15"/>
          <p:cNvSpPr txBox="1"/>
          <p:nvPr/>
        </p:nvSpPr>
        <p:spPr>
          <a:xfrm>
            <a:off x="8092440" y="3571646"/>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delta / 10s = 0.9, 0.9, 1.0, 0.9, 0.9, 1.0. Multiplied by 60 for a readable per-minute series.</a:t>
            </a:r>
          </a:p>
        </p:txBody>
      </p:sp>
      <p:sp>
        <p:nvSpPr>
          <p:cNvPr id="17" name="Rectangle 16"/>
          <p:cNvSpPr/>
          <p:nvPr/>
        </p:nvSpPr>
        <p:spPr>
          <a:xfrm>
            <a:off x="7927848" y="4065422"/>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47134"/>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counter line is useless</a:t>
            </a:r>
          </a:p>
        </p:txBody>
      </p:sp>
      <p:sp>
        <p:nvSpPr>
          <p:cNvPr id="19" name="TextBox 18"/>
          <p:cNvSpPr txBox="1"/>
          <p:nvPr/>
        </p:nvSpPr>
        <p:spPr>
          <a:xfrm>
            <a:off x="8092440" y="4266590"/>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rises forever. 1056 tells you only how long the process has been up, not how busy it is.</a:t>
            </a:r>
          </a:p>
        </p:txBody>
      </p:sp>
      <p:sp>
        <p:nvSpPr>
          <p:cNvPr id="20" name="Rectangle 19"/>
          <p:cNvSpPr/>
          <p:nvPr/>
        </p:nvSpPr>
        <p:spPr>
          <a:xfrm>
            <a:off x="7927848" y="4760366"/>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4207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rate() drops __name__</a:t>
            </a:r>
          </a:p>
        </p:txBody>
      </p:sp>
      <p:sp>
        <p:nvSpPr>
          <p:cNvPr id="22" name="TextBox 21"/>
          <p:cNvSpPr txBox="1"/>
          <p:nvPr/>
        </p:nvSpPr>
        <p:spPr>
          <a:xfrm>
            <a:off x="8092440" y="496153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It returns a NEW series, so the metric name disappears from the result labels.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Query functions — rate(), histogram_quantile(): prometheus.io/docs/prometheus/latest/querying/functions/</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517</a:t>
            </a:r>
          </a:p>
        </p:txBody>
      </p:sp>
    </p:spTree>
  </p:cSld>
  <p:clrMapOvr>
    <a:masterClrMapping/>
  </p:clrMapOvr>
  <p:transition xmlns:ns1="http://schemas.openxmlformats.org/markup-compatibility/2006" spd="fast" ns1:Ignorable="p14">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Decomposing A PromQL Expression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operations, each with its own failure mode.</a:t>
            </a:r>
          </a:p>
        </p:txBody>
      </p:sp>
      <p:sp>
        <p:nvSpPr>
          <p:cNvPr id="7" name="Rectangle 6"/>
          <p:cNvSpPr/>
          <p:nvPr/>
        </p:nvSpPr>
        <p:spPr>
          <a:xfrm>
            <a:off x="777240" y="2200046"/>
            <a:ext cx="6355080" cy="3753611"/>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PromQL · read inside out</a:t>
            </a:r>
          </a:p>
        </p:txBody>
      </p:sp>
      <p:sp>
        <p:nvSpPr>
          <p:cNvPr id="9" name="TextBox 8"/>
          <p:cNvSpPr txBox="1"/>
          <p:nvPr/>
        </p:nvSpPr>
        <p:spPr>
          <a:xfrm>
            <a:off x="923544" y="2620670"/>
            <a:ext cx="6062472" cy="3186684"/>
          </a:xfrm>
          <a:prstGeom prst="rect">
            <a:avLst/>
          </a:prstGeom>
          <a:noFill/>
        </p:spPr>
        <p:txBody>
          <a:bodyPr wrap="none" lIns="0" rIns="0" tIns="0" bIns="0">
            <a:spAutoFit/>
          </a:bodyPr>
          <a:lstStyle/>
          <a:p>
            <a:pPr>
              <a:lnSpc>
                <a:spcPts val="1476"/>
              </a:lnSpc>
              <a:spcAft>
                <a:spcPts val="0"/>
              </a:spcAft>
            </a:pPr>
            <a:r>
              <a:rPr sz="1050">
                <a:solidFill>
                  <a:srgbClr val="7D8A99"/>
                </a:solidFill>
                <a:latin typeface="Consolas"/>
              </a:rPr>
              <a:t># The expression</a:t>
            </a:r>
          </a:p>
          <a:p>
            <a:pPr>
              <a:lnSpc>
                <a:spcPts val="1476"/>
              </a:lnSpc>
              <a:spcAft>
                <a:spcPts val="0"/>
              </a:spcAft>
            </a:pPr>
            <a:r>
              <a:rPr sz="1050">
                <a:solidFill>
                  <a:srgbClr val="E6EDF3"/>
                </a:solidFill>
                <a:latin typeface="Consolas"/>
              </a:rPr>
              <a:t>sum by (status) (</a:t>
            </a:r>
          </a:p>
          <a:p>
            <a:pPr>
              <a:lnSpc>
                <a:spcPts val="1476"/>
              </a:lnSpc>
              <a:spcAft>
                <a:spcPts val="0"/>
              </a:spcAft>
            </a:pPr>
            <a:r>
              <a:rPr sz="1050">
                <a:solidFill>
                  <a:srgbClr val="E6EDF3"/>
                </a:solidFill>
                <a:latin typeface="Consolas"/>
              </a:rPr>
              <a:t>  rate(depot_portal_http_requests_total[1m])</a:t>
            </a:r>
          </a:p>
          <a:p>
            <a:pPr>
              <a:lnSpc>
                <a:spcPts val="1476"/>
              </a:lnSpc>
              <a:spcAft>
                <a:spcPts val="0"/>
              </a:spcAft>
            </a:pPr>
            <a:r>
              <a:rPr sz="1050">
                <a:solidFill>
                  <a:srgbClr val="E6EDF3"/>
                </a:solidFill>
                <a:latin typeface="Consolas"/>
              </a:rPr>
              <a:t>)</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1. selector -&gt; depot_portal_http_requests_total</a:t>
            </a:r>
          </a:p>
          <a:p>
            <a:pPr>
              <a:lnSpc>
                <a:spcPts val="1476"/>
              </a:lnSpc>
              <a:spcAft>
                <a:spcPts val="0"/>
              </a:spcAft>
            </a:pPr>
            <a:r>
              <a:rPr sz="1050">
                <a:solidFill>
                  <a:srgbClr val="7D8A99"/>
                </a:solidFill>
                <a:latin typeface="Consolas"/>
              </a:rPr>
              <a:t>#    instant vector: one series per label set</a:t>
            </a:r>
          </a:p>
          <a:p>
            <a:pPr>
              <a:lnSpc>
                <a:spcPts val="1476"/>
              </a:lnSpc>
              <a:spcAft>
                <a:spcPts val="0"/>
              </a:spcAft>
            </a:pPr>
            <a:r>
              <a:rPr sz="1050">
                <a:solidFill>
                  <a:srgbClr val="7D8A99"/>
                </a:solidFill>
                <a:latin typeface="Consolas"/>
              </a:rPr>
              <a:t># 2. [1m]     -&gt; range vector: every sample in the</a:t>
            </a:r>
          </a:p>
          <a:p>
            <a:pPr>
              <a:lnSpc>
                <a:spcPts val="1476"/>
              </a:lnSpc>
              <a:spcAft>
                <a:spcPts val="0"/>
              </a:spcAft>
            </a:pPr>
            <a:r>
              <a:rPr sz="1050">
                <a:solidFill>
                  <a:srgbClr val="7D8A99"/>
                </a:solidFill>
                <a:latin typeface="Consolas"/>
              </a:rPr>
              <a:t>#    last minute. scrape_interval 10s =&gt; ~6 samples</a:t>
            </a:r>
          </a:p>
          <a:p>
            <a:pPr>
              <a:lnSpc>
                <a:spcPts val="1476"/>
              </a:lnSpc>
              <a:spcAft>
                <a:spcPts val="0"/>
              </a:spcAft>
            </a:pPr>
            <a:r>
              <a:rPr sz="1050">
                <a:solidFill>
                  <a:srgbClr val="7D8A99"/>
                </a:solidFill>
                <a:latin typeface="Consolas"/>
              </a:rPr>
              <a:t># 3. rate()   -&gt; per-second average increase over the</a:t>
            </a:r>
          </a:p>
          <a:p>
            <a:pPr>
              <a:lnSpc>
                <a:spcPts val="1476"/>
              </a:lnSpc>
              <a:spcAft>
                <a:spcPts val="0"/>
              </a:spcAft>
            </a:pPr>
            <a:r>
              <a:rPr sz="1050">
                <a:solidFill>
                  <a:srgbClr val="7D8A99"/>
                </a:solidFill>
                <a:latin typeface="Consolas"/>
              </a:rPr>
              <a:t>#    window, with counter resets corrected</a:t>
            </a:r>
          </a:p>
          <a:p>
            <a:pPr>
              <a:lnSpc>
                <a:spcPts val="1476"/>
              </a:lnSpc>
              <a:spcAft>
                <a:spcPts val="0"/>
              </a:spcAft>
            </a:pPr>
            <a:r>
              <a:rPr sz="1050">
                <a:solidFill>
                  <a:srgbClr val="7D8A99"/>
                </a:solidFill>
                <a:latin typeface="Consolas"/>
              </a:rPr>
              <a:t># 4. sum by (status) -&gt; collapse all other labels,</a:t>
            </a:r>
          </a:p>
          <a:p>
            <a:pPr>
              <a:lnSpc>
                <a:spcPts val="1476"/>
              </a:lnSpc>
              <a:spcAft>
                <a:spcPts val="0"/>
              </a:spcAft>
            </a:pPr>
            <a:r>
              <a:rPr sz="1050">
                <a:solidFill>
                  <a:srgbClr val="7D8A99"/>
                </a:solidFill>
                <a:latin typeface="Consolas"/>
              </a:rPr>
              <a:t>#    keep status only; __name__ is dropped</a:t>
            </a:r>
          </a:p>
          <a:p>
            <a:pPr>
              <a:lnSpc>
                <a:spcPts val="1476"/>
              </a:lnSpc>
              <a:spcAft>
                <a:spcPts val="0"/>
              </a:spcAft>
            </a:pPr>
            <a:r>
              <a:rPr sz="1050">
                <a:solidFill>
                  <a:srgbClr val="E6EDF3"/>
                </a:solidFill>
                <a:latin typeface="Consolas"/>
              </a:rPr>
              <a:t> </a:t>
            </a:r>
          </a:p>
          <a:p>
            <a:pPr>
              <a:lnSpc>
                <a:spcPts val="1476"/>
              </a:lnSpc>
              <a:spcAft>
                <a:spcPts val="0"/>
              </a:spcAft>
            </a:pPr>
            <a:r>
              <a:rPr sz="1050">
                <a:solidFill>
                  <a:srgbClr val="7D8A99"/>
                </a:solidFill>
                <a:latin typeface="Consolas"/>
              </a:rPr>
              <a:t># WRONG — rate() on a gauge:</a:t>
            </a:r>
          </a:p>
          <a:p>
            <a:pPr>
              <a:lnSpc>
                <a:spcPts val="1476"/>
              </a:lnSpc>
              <a:spcAft>
                <a:spcPts val="0"/>
              </a:spcAft>
            </a:pPr>
            <a:r>
              <a:rPr sz="1050">
                <a:solidFill>
                  <a:srgbClr val="E6EDF3"/>
                </a:solidFill>
                <a:latin typeface="Consolas"/>
              </a:rPr>
              <a:t>rate(depot_portal_queue_depth[1m])</a:t>
            </a:r>
          </a:p>
          <a:p>
            <a:pPr>
              <a:lnSpc>
                <a:spcPts val="1476"/>
              </a:lnSpc>
              <a:spcAft>
                <a:spcPts val="0"/>
              </a:spcAft>
            </a:pPr>
            <a:r>
              <a:rPr sz="1050">
                <a:solidFill>
                  <a:srgbClr val="7D8A99"/>
                </a:solidFill>
                <a:latin typeface="Consolas"/>
              </a:rPr>
              <a:t># every fall is read as a counter reset</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range window rule</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rate() needs at least two samples in the window. Make the range at least 4x the scrape interval; [5s] on a 10s scrape returns empty.</a:t>
            </a:r>
          </a:p>
        </p:txBody>
      </p:sp>
      <p:sp>
        <p:nvSpPr>
          <p:cNvPr id="15" name="Oval 14"/>
          <p:cNvSpPr/>
          <p:nvPr/>
        </p:nvSpPr>
        <p:spPr>
          <a:xfrm>
            <a:off x="7626096" y="3559332"/>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4104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Empty, not an error</a:t>
            </a:r>
          </a:p>
        </p:txBody>
      </p:sp>
      <p:sp>
        <p:nvSpPr>
          <p:cNvPr id="17" name="TextBox 16"/>
          <p:cNvSpPr txBox="1"/>
          <p:nvPr/>
        </p:nvSpPr>
        <p:spPr>
          <a:xfrm>
            <a:off x="7973567" y="3757833"/>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 too-narrow window yields an empty result set. Silence in PromQL is a common and dangerous failure mode.</a:t>
            </a:r>
          </a:p>
        </p:txBody>
      </p:sp>
      <p:sp>
        <p:nvSpPr>
          <p:cNvPr id="18" name="Oval 17"/>
          <p:cNvSpPr/>
          <p:nvPr/>
        </p:nvSpPr>
        <p:spPr>
          <a:xfrm>
            <a:off x="7626096" y="4271086"/>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252798"/>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Ratios, not absolute counts</a:t>
            </a:r>
          </a:p>
        </p:txBody>
      </p:sp>
      <p:sp>
        <p:nvSpPr>
          <p:cNvPr id="20" name="TextBox 19"/>
          <p:cNvSpPr txBox="1"/>
          <p:nvPr/>
        </p:nvSpPr>
        <p:spPr>
          <a:xfrm>
            <a:off x="7973567" y="4469587"/>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sum(rate(...{status="502"}[2m])) / sum(rate(...[2m])) is dimensionless, so it never needs retuning as traffic grows.</a:t>
            </a:r>
          </a:p>
        </p:txBody>
      </p:sp>
      <p:sp>
        <p:nvSpPr>
          <p:cNvPr id="21" name="Oval 20"/>
          <p:cNvSpPr/>
          <p:nvPr/>
        </p:nvSpPr>
        <p:spPr>
          <a:xfrm>
            <a:off x="7626096" y="498283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496455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histogram_quantile needs le</a:t>
            </a:r>
          </a:p>
        </p:txBody>
      </p:sp>
      <p:sp>
        <p:nvSpPr>
          <p:cNvPr id="23" name="TextBox 22"/>
          <p:cNvSpPr txBox="1"/>
          <p:nvPr/>
        </p:nvSpPr>
        <p:spPr>
          <a:xfrm>
            <a:off x="7973567" y="5181340"/>
            <a:ext cx="3246119" cy="330372"/>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sum by (le) (rate(..._bucket[5m])). Dropping le from the by clause is the classic mistake and yields NaN.</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Query functions — rate(), histogram_quantile(): prometheus.io/docs/prometheus/latest/querying/functions/</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518</a:t>
            </a:r>
          </a:p>
        </p:txBody>
      </p:sp>
    </p:spTree>
  </p:cSld>
  <p:clrMapOvr>
    <a:masterClrMapping/>
  </p:clrMapOvr>
  <p:transition xmlns:ns1="http://schemas.openxmlformats.org/markup-compatibility/2006" spd="fast" ns1:Ignorable="p14">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Inside A Latency Histogram — Worked Example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Worked example over one scrape of depot_portal_scan_latency_seconds. Exact arithmetic, not measured production data.</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TextBox 7"/>
          <p:cNvSpPr txBox="1"/>
          <p:nvPr/>
        </p:nvSpPr>
        <p:spPr>
          <a:xfrm>
            <a:off x="777240" y="2007717"/>
            <a:ext cx="3657600" cy="201168"/>
          </a:xfrm>
          <a:prstGeom prst="rect">
            <a:avLst/>
          </a:prstGeom>
          <a:noFill/>
        </p:spPr>
        <p:txBody>
          <a:bodyPr wrap="square" lIns="0" rIns="0" tIns="0" bIns="0" anchor="t">
            <a:spAutoFit/>
          </a:bodyPr>
          <a:lstStyle/>
          <a:p>
            <a:pPr algn="l">
              <a:lnSpc>
                <a:spcPct val="100000"/>
              </a:lnSpc>
            </a:pPr>
            <a:r>
              <a:rPr sz="850" b="1" i="0">
                <a:solidFill>
                  <a:srgbClr val="94A3B8"/>
                </a:solidFill>
                <a:latin typeface="Arial"/>
              </a:rPr>
              <a:t>Observation count</a:t>
            </a:r>
          </a:p>
        </p:txBody>
      </p:sp>
      <p:sp>
        <p:nvSpPr>
          <p:cNvPr id="9" name="Rectangle 8"/>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10" name="TextBox 9"/>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1" name="Rectangle 10"/>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Buckets are cumulative</a:t>
            </a:r>
          </a:p>
        </p:txBody>
      </p:sp>
      <p:sp>
        <p:nvSpPr>
          <p:cNvPr id="13" name="TextBox 12"/>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le means 'less than or equal to'. 60, 81, 93, 96, 97 must never decrease as le rises.</a:t>
            </a:r>
          </a:p>
        </p:txBody>
      </p:sp>
      <p:sp>
        <p:nvSpPr>
          <p:cNvPr id="14" name="Rectangle 13"/>
          <p:cNvSpPr/>
          <p:nvPr/>
        </p:nvSpPr>
        <p:spPr>
          <a:xfrm>
            <a:off x="7927848" y="3379317"/>
            <a:ext cx="41148" cy="5669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8092440" y="3361029"/>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+Inf equals _count</a:t>
            </a:r>
          </a:p>
        </p:txBody>
      </p:sp>
      <p:sp>
        <p:nvSpPr>
          <p:cNvPr id="16" name="TextBox 15"/>
          <p:cNvSpPr txBox="1"/>
          <p:nvPr/>
        </p:nvSpPr>
        <p:spPr>
          <a:xfrm>
            <a:off x="8092440" y="3580485"/>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97 = 97. If it does not, the exporter is broken. Per-bucket counts are the differences: 60,21,12,3,1.</a:t>
            </a:r>
          </a:p>
        </p:txBody>
      </p:sp>
      <p:sp>
        <p:nvSpPr>
          <p:cNvPr id="17" name="Rectangle 16"/>
          <p:cNvSpPr/>
          <p:nvPr/>
        </p:nvSpPr>
        <p:spPr>
          <a:xfrm>
            <a:off x="7927848" y="4074261"/>
            <a:ext cx="41148" cy="566928"/>
          </a:xfrm>
          <a:prstGeom prst="rect">
            <a:avLst/>
          </a:prstGeom>
          <a:solidFill>
            <a:srgbClr val="7C3AED"/>
          </a:solidFill>
          <a:ln>
            <a:noFill/>
          </a:ln>
          <a:effectLst/>
        </p:spPr>
        <p:txBody>
          <a:bodyPr rtlCol="0" anchor="ctr" wrap="square"/>
          <a:lstStyle/>
          <a:p>
            <a:pPr algn="ctr"/>
          </a:p>
        </p:txBody>
      </p:sp>
      <p:sp>
        <p:nvSpPr>
          <p:cNvPr id="18" name="TextBox 17"/>
          <p:cNvSpPr txBox="1"/>
          <p:nvPr/>
        </p:nvSpPr>
        <p:spPr>
          <a:xfrm>
            <a:off x="8092440" y="4055973"/>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The mean hides the tail</a:t>
            </a:r>
          </a:p>
        </p:txBody>
      </p:sp>
      <p:sp>
        <p:nvSpPr>
          <p:cNvPr id="19" name="TextBox 18"/>
          <p:cNvSpPr txBox="1"/>
          <p:nvPr/>
        </p:nvSpPr>
        <p:spPr>
          <a:xfrm>
            <a:off x="8092440" y="4275429"/>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_sum / _count = 39 / 97 = 0.402 s. That number reassures nobody who waited.</a:t>
            </a:r>
          </a:p>
        </p:txBody>
      </p:sp>
      <p:sp>
        <p:nvSpPr>
          <p:cNvPr id="20" name="Rectangle 19"/>
          <p:cNvSpPr/>
          <p:nvPr/>
        </p:nvSpPr>
        <p:spPr>
          <a:xfrm>
            <a:off x="7927848" y="4769205"/>
            <a:ext cx="41148" cy="566928"/>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8092440" y="4750917"/>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p95 by interpolation</a:t>
            </a:r>
          </a:p>
        </p:txBody>
      </p:sp>
      <p:sp>
        <p:nvSpPr>
          <p:cNvPr id="22" name="TextBox 21"/>
          <p:cNvSpPr txBox="1"/>
          <p:nvPr/>
        </p:nvSpPr>
        <p:spPr>
          <a:xfrm>
            <a:off x="8092440" y="4970373"/>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0.95 x 97 = 92.15, which falls in the le=2.5 bucket: 1 + 1.5 x (92.15-81)/12 = 2.39 s.</a:t>
            </a:r>
          </a:p>
        </p:txBody>
      </p:sp>
      <p:sp>
        <p:nvSpPr>
          <p:cNvPr id="23" name="TextBox 2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Query functions — rate(), histogram_quantile(): prometheus.io/docs/prometheus/latest/querying/functions/</a:t>
            </a:r>
          </a:p>
        </p:txBody>
      </p:sp>
      <p:sp>
        <p:nvSpPr>
          <p:cNvPr id="24" name="TextBox 2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5" name="TextBox 2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6" name="TextBox 2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519</a:t>
            </a:r>
          </a:p>
        </p:txBody>
      </p:sp>
    </p:spTree>
  </p:cSld>
  <p:clrMapOvr>
    <a:masterClrMapping/>
  </p:clrMapOvr>
  <p:transition xmlns:ns1="http://schemas.openxmlformats.org/markup-compatibility/2006" spd="fast" ns1:Ignorable="p14">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A Scrape Configuration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Static targets on purpose — so the scrape anatomy is visible with nothing hidden behind a CRD.</a:t>
            </a:r>
          </a:p>
        </p:txBody>
      </p:sp>
      <p:sp>
        <p:nvSpPr>
          <p:cNvPr id="7" name="Rectangle 6"/>
          <p:cNvSpPr/>
          <p:nvPr/>
        </p:nvSpPr>
        <p:spPr>
          <a:xfrm>
            <a:off x="777240" y="2200046"/>
            <a:ext cx="635508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06247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prometheus.yml mounted from a ConfigMap · Lab 24</a:t>
            </a:r>
          </a:p>
        </p:txBody>
      </p:sp>
      <p:sp>
        <p:nvSpPr>
          <p:cNvPr id="9" name="TextBox 8"/>
          <p:cNvSpPr txBox="1"/>
          <p:nvPr/>
        </p:nvSpPr>
        <p:spPr>
          <a:xfrm>
            <a:off x="923544" y="2620670"/>
            <a:ext cx="6062472" cy="3231489"/>
          </a:xfrm>
          <a:prstGeom prst="rect">
            <a:avLst/>
          </a:prstGeom>
          <a:noFill/>
        </p:spPr>
        <p:txBody>
          <a:bodyPr wrap="none" lIns="0" rIns="0" tIns="0" bIns="0">
            <a:spAutoFit/>
          </a:bodyPr>
          <a:lstStyle/>
          <a:p>
            <a:pPr>
              <a:lnSpc>
                <a:spcPts val="1413"/>
              </a:lnSpc>
              <a:spcAft>
                <a:spcPts val="0"/>
              </a:spcAft>
            </a:pPr>
            <a:r>
              <a:rPr sz="1050">
                <a:solidFill>
                  <a:srgbClr val="E6EDF3"/>
                </a:solidFill>
                <a:latin typeface="Consolas"/>
              </a:rPr>
              <a:t>global:</a:t>
            </a:r>
          </a:p>
          <a:p>
            <a:pPr>
              <a:lnSpc>
                <a:spcPts val="1413"/>
              </a:lnSpc>
              <a:spcAft>
                <a:spcPts val="0"/>
              </a:spcAft>
            </a:pPr>
            <a:r>
              <a:rPr sz="1050">
                <a:solidFill>
                  <a:srgbClr val="E6EDF3"/>
                </a:solidFill>
                <a:latin typeface="Consolas"/>
              </a:rPr>
              <a:t>  scrape_interval: 10s      # storage resolution</a:t>
            </a:r>
          </a:p>
          <a:p>
            <a:pPr>
              <a:lnSpc>
                <a:spcPts val="1413"/>
              </a:lnSpc>
              <a:spcAft>
                <a:spcPts val="0"/>
              </a:spcAft>
            </a:pPr>
            <a:r>
              <a:rPr sz="1050">
                <a:solidFill>
                  <a:srgbClr val="E6EDF3"/>
                </a:solidFill>
                <a:latin typeface="Consolas"/>
              </a:rPr>
              <a:t>  evaluation_interval: 30s  # how often rules run</a:t>
            </a:r>
          </a:p>
          <a:p>
            <a:pPr>
              <a:lnSpc>
                <a:spcPts val="1413"/>
              </a:lnSpc>
              <a:spcAft>
                <a:spcPts val="0"/>
              </a:spcAft>
            </a:pPr>
            <a:r>
              <a:rPr sz="1050">
                <a:solidFill>
                  <a:srgbClr val="E6EDF3"/>
                </a:solidFill>
                <a:latin typeface="Consolas"/>
              </a:rPr>
              <a:t>  external_labels:</a:t>
            </a:r>
          </a:p>
          <a:p>
            <a:pPr>
              <a:lnSpc>
                <a:spcPts val="1413"/>
              </a:lnSpc>
              <a:spcAft>
                <a:spcPts val="0"/>
              </a:spcAft>
            </a:pPr>
            <a:r>
              <a:rPr sz="1050">
                <a:solidFill>
                  <a:srgbClr val="E6EDF3"/>
                </a:solidFill>
                <a:latin typeface="Consolas"/>
              </a:rPr>
              <a:t>    cluster: kcna-kind      # stamped on exported data</a:t>
            </a:r>
          </a:p>
          <a:p>
            <a:pPr>
              <a:lnSpc>
                <a:spcPts val="1413"/>
              </a:lnSpc>
              <a:spcAft>
                <a:spcPts val="0"/>
              </a:spcAft>
            </a:pPr>
            <a:r>
              <a:rPr sz="1050">
                <a:solidFill>
                  <a:srgbClr val="E6EDF3"/>
                </a:solidFill>
                <a:latin typeface="Consolas"/>
              </a:rPr>
              <a:t>scrape_configs:</a:t>
            </a:r>
          </a:p>
          <a:p>
            <a:pPr>
              <a:lnSpc>
                <a:spcPts val="1413"/>
              </a:lnSpc>
              <a:spcAft>
                <a:spcPts val="0"/>
              </a:spcAft>
            </a:pPr>
            <a:r>
              <a:rPr sz="1050">
                <a:solidFill>
                  <a:srgbClr val="E6EDF3"/>
                </a:solidFill>
                <a:latin typeface="Consolas"/>
              </a:rPr>
              <a:t>  - job_name: depot-portal  # becomes label job="..."</a:t>
            </a:r>
          </a:p>
          <a:p>
            <a:pPr>
              <a:lnSpc>
                <a:spcPts val="1413"/>
              </a:lnSpc>
              <a:spcAft>
                <a:spcPts val="0"/>
              </a:spcAft>
            </a:pPr>
            <a:r>
              <a:rPr sz="1050">
                <a:solidFill>
                  <a:srgbClr val="E6EDF3"/>
                </a:solidFill>
                <a:latin typeface="Consolas"/>
              </a:rPr>
              <a:t>    metrics_path: /metrics  # this is the default</a:t>
            </a:r>
          </a:p>
          <a:p>
            <a:pPr>
              <a:lnSpc>
                <a:spcPts val="1413"/>
              </a:lnSpc>
              <a:spcAft>
                <a:spcPts val="0"/>
              </a:spcAft>
            </a:pPr>
            <a:r>
              <a:rPr sz="1050">
                <a:solidFill>
                  <a:srgbClr val="E6EDF3"/>
                </a:solidFill>
                <a:latin typeface="Consolas"/>
              </a:rPr>
              <a:t>    scrape_timeout: 5s      # must be &lt;= interval</a:t>
            </a:r>
          </a:p>
          <a:p>
            <a:pPr>
              <a:lnSpc>
                <a:spcPts val="1413"/>
              </a:lnSpc>
              <a:spcAft>
                <a:spcPts val="0"/>
              </a:spcAft>
            </a:pPr>
            <a:r>
              <a:rPr sz="1050">
                <a:solidFill>
                  <a:srgbClr val="E6EDF3"/>
                </a:solidFill>
                <a:latin typeface="Consolas"/>
              </a:rPr>
              <a:t>    static_configs:</a:t>
            </a:r>
          </a:p>
          <a:p>
            <a:pPr>
              <a:lnSpc>
                <a:spcPts val="1413"/>
              </a:lnSpc>
              <a:spcAft>
                <a:spcPts val="0"/>
              </a:spcAft>
            </a:pPr>
            <a:r>
              <a:rPr sz="1050">
                <a:solidFill>
                  <a:srgbClr val="E6EDF3"/>
                </a:solidFill>
                <a:latin typeface="Consolas"/>
              </a:rPr>
              <a:t>      - targets:</a:t>
            </a:r>
          </a:p>
          <a:p>
            <a:pPr>
              <a:lnSpc>
                <a:spcPts val="1413"/>
              </a:lnSpc>
              <a:spcAft>
                <a:spcPts val="0"/>
              </a:spcAft>
            </a:pPr>
            <a:r>
              <a:rPr sz="1050">
                <a:solidFill>
                  <a:srgbClr val="E6EDF3"/>
                </a:solidFill>
                <a:latin typeface="Consolas"/>
              </a:rPr>
              <a:t>          - depot-metrics-sim.kcna-lab24.svc:9100</a:t>
            </a:r>
          </a:p>
          <a:p>
            <a:pPr>
              <a:lnSpc>
                <a:spcPts val="1413"/>
              </a:lnSpc>
              <a:spcAft>
                <a:spcPts val="0"/>
              </a:spcAft>
            </a:pPr>
            <a:r>
              <a:rPr sz="1050">
                <a:solidFill>
                  <a:srgbClr val="E6EDF3"/>
                </a:solidFill>
                <a:latin typeface="Consolas"/>
              </a:rPr>
              <a:t>        labels:</a:t>
            </a:r>
          </a:p>
          <a:p>
            <a:pPr>
              <a:lnSpc>
                <a:spcPts val="1413"/>
              </a:lnSpc>
              <a:spcAft>
                <a:spcPts val="0"/>
              </a:spcAft>
            </a:pPr>
            <a:r>
              <a:rPr sz="1050">
                <a:solidFill>
                  <a:srgbClr val="E6EDF3"/>
                </a:solidFill>
                <a:latin typeface="Consolas"/>
              </a:rPr>
              <a:t>          depot: sg-tuas</a:t>
            </a:r>
          </a:p>
          <a:p>
            <a:pPr>
              <a:lnSpc>
                <a:spcPts val="1413"/>
              </a:lnSpc>
              <a:spcAft>
                <a:spcPts val="0"/>
              </a:spcAft>
            </a:pPr>
            <a:r>
              <a:rPr sz="1050">
                <a:solidFill>
                  <a:srgbClr val="E6EDF3"/>
                </a:solidFill>
                <a:latin typeface="Consolas"/>
              </a:rPr>
              <a:t>    relabel_configs:        # runs BEFORE the scrape</a:t>
            </a:r>
          </a:p>
          <a:p>
            <a:pPr>
              <a:lnSpc>
                <a:spcPts val="1413"/>
              </a:lnSpc>
              <a:spcAft>
                <a:spcPts val="0"/>
              </a:spcAft>
            </a:pPr>
            <a:r>
              <a:rPr sz="1050">
                <a:solidFill>
                  <a:srgbClr val="E6EDF3"/>
                </a:solidFill>
                <a:latin typeface="Consolas"/>
              </a:rPr>
              <a:t>      - source_labels: [__address__]</a:t>
            </a:r>
          </a:p>
          <a:p>
            <a:pPr>
              <a:lnSpc>
                <a:spcPts val="1413"/>
              </a:lnSpc>
              <a:spcAft>
                <a:spcPts val="0"/>
              </a:spcAft>
            </a:pPr>
            <a:r>
              <a:rPr sz="1050">
                <a:solidFill>
                  <a:srgbClr val="E6EDF3"/>
                </a:solidFill>
                <a:latin typeface="Consolas"/>
              </a:rPr>
              <a:t>        regex: '([^:]+):.*'</a:t>
            </a:r>
          </a:p>
          <a:p>
            <a:pPr>
              <a:lnSpc>
                <a:spcPts val="1413"/>
              </a:lnSpc>
              <a:spcAft>
                <a:spcPts val="0"/>
              </a:spcAft>
            </a:pPr>
            <a:r>
              <a:rPr sz="1050">
                <a:solidFill>
                  <a:srgbClr val="E6EDF3"/>
                </a:solidFill>
                <a:latin typeface="Consolas"/>
              </a:rPr>
              <a:t>        target_label: instance</a:t>
            </a:r>
          </a:p>
        </p:txBody>
      </p:sp>
      <p:sp>
        <p:nvSpPr>
          <p:cNvPr id="10" name="Rectangle 9"/>
          <p:cNvSpPr/>
          <p:nvPr/>
        </p:nvSpPr>
        <p:spPr>
          <a:xfrm>
            <a:off x="7406640" y="2200046"/>
            <a:ext cx="4069079" cy="3834993"/>
          </a:xfrm>
          <a:prstGeom prst="rect">
            <a:avLst/>
          </a:prstGeom>
          <a:solidFill>
            <a:srgbClr val="F4F7FB"/>
          </a:solidFill>
          <a:ln w="12700">
            <a:solidFill>
              <a:srgbClr val="E2E8F0"/>
            </a:solidFill>
          </a:ln>
          <a:effectLst/>
        </p:spPr>
        <p:txBody>
          <a:bodyPr rtlCol="0" anchor="ctr" wrap="square"/>
          <a:lstStyle/>
          <a:p>
            <a:pPr algn="ctr"/>
          </a:p>
        </p:txBody>
      </p:sp>
      <p:sp>
        <p:nvSpPr>
          <p:cNvPr id="11" name="TextBox 10"/>
          <p:cNvSpPr txBox="1"/>
          <p:nvPr/>
        </p:nvSpPr>
        <p:spPr>
          <a:xfrm>
            <a:off x="7626096" y="2364638"/>
            <a:ext cx="3630167"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READING IT</a:t>
            </a:r>
          </a:p>
        </p:txBody>
      </p:sp>
      <p:sp>
        <p:nvSpPr>
          <p:cNvPr id="12" name="Oval 11"/>
          <p:cNvSpPr/>
          <p:nvPr/>
        </p:nvSpPr>
        <p:spPr>
          <a:xfrm>
            <a:off x="7626096" y="2693822"/>
            <a:ext cx="256032" cy="256032"/>
          </a:xfrm>
          <a:prstGeom prst="ellipse">
            <a:avLst/>
          </a:prstGeom>
          <a:solidFill>
            <a:srgbClr val="1F6FEB"/>
          </a:solidFill>
          <a:ln>
            <a:noFill/>
          </a:ln>
          <a:effectLst/>
        </p:spPr>
        <p:txBody>
          <a:bodyPr rtlCol="0" anchor="ctr" wrap="square" lIns="0" rIns="0" tIns="0" bIns="0"/>
          <a:lstStyle/>
          <a:p>
            <a:pPr algn="ctr"/>
            <a:r>
              <a:rPr sz="950" b="1">
                <a:solidFill>
                  <a:srgbClr val="FFFFFF"/>
                </a:solidFill>
                <a:latin typeface="Arial"/>
              </a:rPr>
              <a:t>1</a:t>
            </a:r>
          </a:p>
        </p:txBody>
      </p:sp>
      <p:sp>
        <p:nvSpPr>
          <p:cNvPr id="13" name="TextBox 12"/>
          <p:cNvSpPr txBox="1"/>
          <p:nvPr/>
        </p:nvSpPr>
        <p:spPr>
          <a:xfrm>
            <a:off x="7973567" y="2675534"/>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scrape_interval is your resolution</a:t>
            </a:r>
          </a:p>
        </p:txBody>
      </p:sp>
      <p:sp>
        <p:nvSpPr>
          <p:cNvPr id="14" name="TextBox 13"/>
          <p:cNvSpPr txBox="1"/>
          <p:nvPr/>
        </p:nvSpPr>
        <p:spPr>
          <a:xfrm>
            <a:off x="7973567" y="2892323"/>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Every stored series has exactly this granularity. A rate() window must be several multiples of it or it returns nothing.</a:t>
            </a:r>
          </a:p>
        </p:txBody>
      </p:sp>
      <p:sp>
        <p:nvSpPr>
          <p:cNvPr id="15" name="Oval 14"/>
          <p:cNvSpPr/>
          <p:nvPr/>
        </p:nvSpPr>
        <p:spPr>
          <a:xfrm>
            <a:off x="7626096" y="3549538"/>
            <a:ext cx="256032" cy="256032"/>
          </a:xfrm>
          <a:prstGeom prst="ellipse">
            <a:avLst/>
          </a:prstGeom>
          <a:solidFill>
            <a:srgbClr val="10B981"/>
          </a:solidFill>
          <a:ln>
            <a:noFill/>
          </a:ln>
          <a:effectLst/>
        </p:spPr>
        <p:txBody>
          <a:bodyPr rtlCol="0" anchor="ctr" wrap="square" lIns="0" rIns="0" tIns="0" bIns="0"/>
          <a:lstStyle/>
          <a:p>
            <a:pPr algn="ctr"/>
            <a:r>
              <a:rPr sz="950" b="1">
                <a:solidFill>
                  <a:srgbClr val="FFFFFF"/>
                </a:solidFill>
                <a:latin typeface="Arial"/>
              </a:rPr>
              <a:t>2</a:t>
            </a:r>
          </a:p>
        </p:txBody>
      </p:sp>
      <p:sp>
        <p:nvSpPr>
          <p:cNvPr id="16" name="TextBox 15"/>
          <p:cNvSpPr txBox="1"/>
          <p:nvPr/>
        </p:nvSpPr>
        <p:spPr>
          <a:xfrm>
            <a:off x="7973567" y="3531250"/>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job_name becomes a label</a:t>
            </a:r>
          </a:p>
        </p:txBody>
      </p:sp>
      <p:sp>
        <p:nvSpPr>
          <p:cNvPr id="17" name="TextBox 16"/>
          <p:cNvSpPr txBox="1"/>
          <p:nvPr/>
        </p:nvSpPr>
        <p:spPr>
          <a:xfrm>
            <a:off x="7973567" y="3748039"/>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Along with instance, cluster and env, Prometheus composes labels you never wrote into the exposition. Learn to spot their origin.</a:t>
            </a:r>
          </a:p>
        </p:txBody>
      </p:sp>
      <p:sp>
        <p:nvSpPr>
          <p:cNvPr id="18" name="Oval 17"/>
          <p:cNvSpPr/>
          <p:nvPr/>
        </p:nvSpPr>
        <p:spPr>
          <a:xfrm>
            <a:off x="7626096" y="4405254"/>
            <a:ext cx="256032" cy="256032"/>
          </a:xfrm>
          <a:prstGeom prst="ellipse">
            <a:avLst/>
          </a:prstGeom>
          <a:solidFill>
            <a:srgbClr val="7C3AED"/>
          </a:solidFill>
          <a:ln>
            <a:noFill/>
          </a:ln>
          <a:effectLst/>
        </p:spPr>
        <p:txBody>
          <a:bodyPr rtlCol="0" anchor="ctr" wrap="square" lIns="0" rIns="0" tIns="0" bIns="0"/>
          <a:lstStyle/>
          <a:p>
            <a:pPr algn="ctr"/>
            <a:r>
              <a:rPr sz="950" b="1">
                <a:solidFill>
                  <a:srgbClr val="FFFFFF"/>
                </a:solidFill>
                <a:latin typeface="Arial"/>
              </a:rPr>
              <a:t>3</a:t>
            </a:r>
          </a:p>
        </p:txBody>
      </p:sp>
      <p:sp>
        <p:nvSpPr>
          <p:cNvPr id="19" name="TextBox 18"/>
          <p:cNvSpPr txBox="1"/>
          <p:nvPr/>
        </p:nvSpPr>
        <p:spPr>
          <a:xfrm>
            <a:off x="7973567" y="4386966"/>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relabel vs metric_relabel</a:t>
            </a:r>
          </a:p>
        </p:txBody>
      </p:sp>
      <p:sp>
        <p:nvSpPr>
          <p:cNvPr id="20" name="TextBox 19"/>
          <p:cNvSpPr txBox="1"/>
          <p:nvPr/>
        </p:nvSpPr>
        <p:spPr>
          <a:xfrm>
            <a:off x="7973567" y="4603755"/>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relabel_configs decides WHAT to scrape and how to label it. metric_relabel_configs runs after and decides what to KEEP.</a:t>
            </a:r>
          </a:p>
        </p:txBody>
      </p:sp>
      <p:sp>
        <p:nvSpPr>
          <p:cNvPr id="21" name="Oval 20"/>
          <p:cNvSpPr/>
          <p:nvPr/>
        </p:nvSpPr>
        <p:spPr>
          <a:xfrm>
            <a:off x="7626096" y="5260969"/>
            <a:ext cx="256032" cy="256032"/>
          </a:xfrm>
          <a:prstGeom prst="ellipse">
            <a:avLst/>
          </a:prstGeom>
          <a:solidFill>
            <a:srgbClr val="F59E0B"/>
          </a:solidFill>
          <a:ln>
            <a:noFill/>
          </a:ln>
          <a:effectLst/>
        </p:spPr>
        <p:txBody>
          <a:bodyPr rtlCol="0" anchor="ctr" wrap="square" lIns="0" rIns="0" tIns="0" bIns="0"/>
          <a:lstStyle/>
          <a:p>
            <a:pPr algn="ctr"/>
            <a:r>
              <a:rPr sz="950" b="1">
                <a:solidFill>
                  <a:srgbClr val="FFFFFF"/>
                </a:solidFill>
                <a:latin typeface="Arial"/>
              </a:rPr>
              <a:t>4</a:t>
            </a:r>
          </a:p>
        </p:txBody>
      </p:sp>
      <p:sp>
        <p:nvSpPr>
          <p:cNvPr id="22" name="TextBox 21"/>
          <p:cNvSpPr txBox="1"/>
          <p:nvPr/>
        </p:nvSpPr>
        <p:spPr>
          <a:xfrm>
            <a:off x="7973567" y="5242681"/>
            <a:ext cx="3246119" cy="180213"/>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Static here, discovered in production</a:t>
            </a:r>
          </a:p>
        </p:txBody>
      </p:sp>
      <p:sp>
        <p:nvSpPr>
          <p:cNvPr id="23" name="TextBox 22"/>
          <p:cNvSpPr txBox="1"/>
          <p:nvPr/>
        </p:nvSpPr>
        <p:spPr>
          <a:xfrm>
            <a:off x="7973567" y="5459470"/>
            <a:ext cx="3246119" cy="484129"/>
          </a:xfrm>
          <a:prstGeom prst="rect">
            <a:avLst/>
          </a:prstGeom>
          <a:noFill/>
        </p:spPr>
        <p:txBody>
          <a:bodyPr wrap="square" lIns="0" rIns="0" tIns="0" bIns="0" anchor="t">
            <a:spAutoFit/>
          </a:bodyPr>
          <a:lstStyle/>
          <a:p>
            <a:pPr algn="l">
              <a:lnSpc>
                <a:spcPct val="108000"/>
              </a:lnSpc>
            </a:pPr>
            <a:r>
              <a:rPr sz="950" b="0" i="0">
                <a:solidFill>
                  <a:srgbClr val="5B6372"/>
                </a:solidFill>
                <a:latin typeface="Arial"/>
              </a:rPr>
              <a:t>kubernetes_sd_configs enumerates Pods directly. Scraping through a Service load-balances across replicas and corrupts counters.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Configuration — scrape_config and kubernetes_sd_config: prometheus.io/docs/prometheus/latest/configuration/configuration/</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520</a:t>
            </a:r>
          </a:p>
        </p:txBody>
      </p:sp>
    </p:spTree>
  </p:cSld>
  <p:clrMapOvr>
    <a:masterClrMapping/>
  </p:clrMapOvr>
  <p:transition xmlns:ns1="http://schemas.openxmlformats.org/markup-compatibility/2006" spd="fast" ns1:Ignorable="p14">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Pull vs Push</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decisive advantage of pull is liveness detection you did not have to build.</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Pull (Prometheus scrape)</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Push (StatsD, OTLP export)</a:t>
            </a:r>
          </a:p>
        </p:txBody>
      </p:sp>
      <p:sp>
        <p:nvSpPr>
          <p:cNvPr id="13" name="Rectangle 12"/>
          <p:cNvSpPr/>
          <p:nvPr/>
        </p:nvSpPr>
        <p:spPr>
          <a:xfrm>
            <a:off x="77724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Who initiates</a:t>
            </a:r>
          </a:p>
        </p:txBody>
      </p:sp>
      <p:sp>
        <p:nvSpPr>
          <p:cNvPr id="15" name="Rectangle 14"/>
          <p:cNvSpPr/>
          <p:nvPr/>
        </p:nvSpPr>
        <p:spPr>
          <a:xfrm>
            <a:off x="434340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monitoring system, on a schedule</a:t>
            </a:r>
          </a:p>
        </p:txBody>
      </p:sp>
      <p:sp>
        <p:nvSpPr>
          <p:cNvPr id="17" name="Rectangle 16"/>
          <p:cNvSpPr/>
          <p:nvPr/>
        </p:nvSpPr>
        <p:spPr>
          <a:xfrm>
            <a:off x="790956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application, whenever it chooses</a:t>
            </a:r>
          </a:p>
        </p:txBody>
      </p:sp>
      <p:sp>
        <p:nvSpPr>
          <p:cNvPr id="19" name="Rectangle 18"/>
          <p:cNvSpPr/>
          <p:nvPr/>
        </p:nvSpPr>
        <p:spPr>
          <a:xfrm>
            <a:off x="77724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Target discovery</a:t>
            </a:r>
          </a:p>
        </p:txBody>
      </p:sp>
      <p:sp>
        <p:nvSpPr>
          <p:cNvPr id="21" name="Rectangle 20"/>
          <p:cNvSpPr/>
          <p:nvPr/>
        </p:nvSpPr>
        <p:spPr>
          <a:xfrm>
            <a:off x="434340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Required — service discovery or static config</a:t>
            </a:r>
          </a:p>
        </p:txBody>
      </p:sp>
      <p:sp>
        <p:nvSpPr>
          <p:cNvPr id="23" name="Rectangle 22"/>
          <p:cNvSpPr/>
          <p:nvPr/>
        </p:nvSpPr>
        <p:spPr>
          <a:xfrm>
            <a:off x="790956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Not required; targets find the collector</a:t>
            </a:r>
          </a:p>
        </p:txBody>
      </p:sp>
      <p:sp>
        <p:nvSpPr>
          <p:cNvPr id="25" name="Rectangle 24"/>
          <p:cNvSpPr/>
          <p:nvPr/>
        </p:nvSpPr>
        <p:spPr>
          <a:xfrm>
            <a:off x="77724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Is the target up?</a:t>
            </a:r>
          </a:p>
        </p:txBody>
      </p:sp>
      <p:sp>
        <p:nvSpPr>
          <p:cNvPr id="27" name="Rectangle 26"/>
          <p:cNvSpPr/>
          <p:nvPr/>
        </p:nvSpPr>
        <p:spPr>
          <a:xfrm>
            <a:off x="434340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Free: a failed scrape IS the signal, up == 0</a:t>
            </a:r>
          </a:p>
        </p:txBody>
      </p:sp>
      <p:sp>
        <p:nvSpPr>
          <p:cNvPr id="29" name="Rectangle 28"/>
          <p:cNvSpPr/>
          <p:nvPr/>
        </p:nvSpPr>
        <p:spPr>
          <a:xfrm>
            <a:off x="790956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Needs a separate heartbeat; silence is ambiguous</a:t>
            </a:r>
          </a:p>
        </p:txBody>
      </p:sp>
      <p:sp>
        <p:nvSpPr>
          <p:cNvPr id="31" name="Rectangle 30"/>
          <p:cNvSpPr/>
          <p:nvPr/>
        </p:nvSpPr>
        <p:spPr>
          <a:xfrm>
            <a:off x="77724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Short-lived jobs</a:t>
            </a:r>
          </a:p>
        </p:txBody>
      </p:sp>
      <p:sp>
        <p:nvSpPr>
          <p:cNvPr id="33" name="Rectangle 32"/>
          <p:cNvSpPr/>
          <p:nvPr/>
        </p:nvSpPr>
        <p:spPr>
          <a:xfrm>
            <a:off x="434340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Awkward — needs a Pushgateway</a:t>
            </a:r>
          </a:p>
        </p:txBody>
      </p:sp>
      <p:sp>
        <p:nvSpPr>
          <p:cNvPr id="35" name="Rectangle 34"/>
          <p:cNvSpPr/>
          <p:nvPr/>
        </p:nvSpPr>
        <p:spPr>
          <a:xfrm>
            <a:off x="790956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Natural fit</a:t>
            </a:r>
          </a:p>
        </p:txBody>
      </p:sp>
      <p:sp>
        <p:nvSpPr>
          <p:cNvPr id="37" name="Rectangle 36"/>
          <p:cNvSpPr/>
          <p:nvPr/>
        </p:nvSpPr>
        <p:spPr>
          <a:xfrm>
            <a:off x="77724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Network direction</a:t>
            </a:r>
          </a:p>
        </p:txBody>
      </p:sp>
      <p:sp>
        <p:nvSpPr>
          <p:cNvPr id="39" name="Rectangle 38"/>
          <p:cNvSpPr/>
          <p:nvPr/>
        </p:nvSpPr>
        <p:spPr>
          <a:xfrm>
            <a:off x="434340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Monitoring must be able to reach targets</a:t>
            </a:r>
          </a:p>
        </p:txBody>
      </p:sp>
      <p:sp>
        <p:nvSpPr>
          <p:cNvPr id="41" name="Rectangle 40"/>
          <p:cNvSpPr/>
          <p:nvPr/>
        </p:nvSpPr>
        <p:spPr>
          <a:xfrm>
            <a:off x="790956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Targets must be able to reach the collector</a:t>
            </a:r>
          </a:p>
        </p:txBody>
      </p:sp>
      <p:sp>
        <p:nvSpPr>
          <p:cNvPr id="43" name="Rectangle 42"/>
          <p:cNvSpPr/>
          <p:nvPr/>
        </p:nvSpPr>
        <p:spPr>
          <a:xfrm>
            <a:off x="77724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Overload behaviour</a:t>
            </a:r>
          </a:p>
        </p:txBody>
      </p:sp>
      <p:sp>
        <p:nvSpPr>
          <p:cNvPr id="45" name="Rectangle 44"/>
          <p:cNvSpPr/>
          <p:nvPr/>
        </p:nvSpPr>
        <p:spPr>
          <a:xfrm>
            <a:off x="434340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447141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monitoring system controls the rate</a:t>
            </a:r>
          </a:p>
        </p:txBody>
      </p:sp>
      <p:sp>
        <p:nvSpPr>
          <p:cNvPr id="47" name="Rectangle 46"/>
          <p:cNvSpPr/>
          <p:nvPr/>
        </p:nvSpPr>
        <p:spPr>
          <a:xfrm>
            <a:off x="790956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803757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Targets can flood the collector</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Pull for long-lived Kubernetes workloads; push via a gateway or OTLP for batch jobs and anything behind a one-way network.</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Configuration — scrape_config and kubernetes_sd_config: prometheus.io/docs/prometheus/latest/configuration/configuration/</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521</a:t>
            </a:r>
          </a:p>
        </p:txBody>
      </p:sp>
    </p:spTree>
  </p:cSld>
  <p:clrMapOvr>
    <a:masterClrMapping/>
  </p:clrMapOvr>
  <p:transition xmlns:ns1="http://schemas.openxmlformats.org/markup-compatibility/2006" spd="fast" ns1:Ignorable="p14">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Labels, Cardinality And Why Clusters Fall Over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Cardinality is the single operational constraint that decides whether a Prometheus survives.</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One label set = one series</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distinct combination of label values creates a new time series with its own memory and index.</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Cardinality multiplies</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10 statuses x 20 endpoints x 50 pods = 10,000 series from a single metric name.</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Never label with an ID</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user_id, request_id, session, full URL path or a raw error message. One series per user is unbounded.</a:t>
            </a:r>
          </a:p>
        </p:txBody>
      </p:sp>
      <p:sp>
        <p:nvSpPr>
          <p:cNvPr id="22" name="Rectangle 21"/>
          <p:cNvSpPr/>
          <p:nvPr/>
        </p:nvSpPr>
        <p:spPr>
          <a:xfrm>
            <a:off x="777240"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Watch head series</a:t>
            </a:r>
          </a:p>
        </p:txBody>
      </p:sp>
      <p:sp>
        <p:nvSpPr>
          <p:cNvPr id="26" name="TextBox 25"/>
          <p:cNvSpPr txBox="1"/>
          <p:nvPr/>
        </p:nvSpPr>
        <p:spPr>
          <a:xfrm>
            <a:off x="1399032"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prometheus_tsdb_head_series counts active series. A cardinality explosion shows there long before an OOMKill.</a:t>
            </a:r>
          </a:p>
        </p:txBody>
      </p:sp>
      <p:sp>
        <p:nvSpPr>
          <p:cNvPr id="27" name="Rectangle 26"/>
          <p:cNvSpPr/>
          <p:nvPr/>
        </p:nvSpPr>
        <p:spPr>
          <a:xfrm>
            <a:off x="4392167"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37406"/>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Drop late, not never</a:t>
            </a:r>
          </a:p>
        </p:txBody>
      </p:sp>
      <p:sp>
        <p:nvSpPr>
          <p:cNvPr id="31" name="TextBox 30"/>
          <p:cNvSpPr txBox="1"/>
          <p:nvPr/>
        </p:nvSpPr>
        <p:spPr>
          <a:xfrm>
            <a:off x="5013959"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metric_relabel_configs with action: drop discards noisy series after the scrape — the standard control.</a:t>
            </a:r>
          </a:p>
        </p:txBody>
      </p:sp>
      <p:sp>
        <p:nvSpPr>
          <p:cNvPr id="32" name="Rectangle 31"/>
          <p:cNvSpPr/>
          <p:nvPr/>
        </p:nvSpPr>
        <p:spPr>
          <a:xfrm>
            <a:off x="8007095"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37406"/>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Aggregation is the answer</a:t>
            </a:r>
          </a:p>
        </p:txBody>
      </p:sp>
      <p:sp>
        <p:nvSpPr>
          <p:cNvPr id="36" name="TextBox 35"/>
          <p:cNvSpPr txBox="1"/>
          <p:nvPr/>
        </p:nvSpPr>
        <p:spPr>
          <a:xfrm>
            <a:off x="8628888"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Record what you need with a recording rule, then drop the raw high-cardinality series.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Metric types: prometheus.io/docs/concepts/metric_types/</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522</a:t>
            </a:r>
          </a:p>
        </p:txBody>
      </p:sp>
    </p:spTree>
  </p:cSld>
  <p:clrMapOvr>
    <a:masterClrMapping/>
  </p:clrMapOvr>
  <p:transition xmlns:ns1="http://schemas.openxmlformats.org/markup-compatibility/2006" spd="fast" ns1:Ignorable="p14">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ALERTING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From Rule To Human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Prometheus evaluates; Alertmanager decides who is disturbed and how often.</a:t>
            </a:r>
          </a:p>
        </p:txBody>
      </p:sp>
      <p:sp>
        <p:nvSpPr>
          <p:cNvPr id="7" name="Rounded Rectangle 6"/>
          <p:cNvSpPr/>
          <p:nvPr/>
        </p:nvSpPr>
        <p:spPr>
          <a:xfrm>
            <a:off x="777240" y="2382926"/>
            <a:ext cx="1890979" cy="169164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Alerting rule</a:t>
            </a:r>
          </a:p>
        </p:txBody>
      </p:sp>
      <p:sp>
        <p:nvSpPr>
          <p:cNvPr id="11" name="TextBox 10"/>
          <p:cNvSpPr txBox="1"/>
          <p:nvPr/>
        </p:nvSpPr>
        <p:spPr>
          <a:xfrm>
            <a:off x="92354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A PromQL expression evaluated every evaluation_interval</a:t>
            </a:r>
          </a:p>
        </p:txBody>
      </p:sp>
      <p:cxnSp>
        <p:nvCxnSpPr>
          <p:cNvPr id="12" name="Connector 11"/>
          <p:cNvCxnSpPr/>
          <p:nvPr/>
        </p:nvCxnSpPr>
        <p:spPr>
          <a:xfrm>
            <a:off x="2713939"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691640"/>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Pending</a:t>
            </a:r>
          </a:p>
        </p:txBody>
      </p:sp>
      <p:sp>
        <p:nvSpPr>
          <p:cNvPr id="17" name="TextBox 16"/>
          <p:cNvSpPr txBox="1"/>
          <p:nvPr/>
        </p:nvSpPr>
        <p:spPr>
          <a:xfrm>
            <a:off x="3125419"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Expression true but the for: duration has not yet elapsed</a:t>
            </a:r>
          </a:p>
        </p:txBody>
      </p:sp>
      <p:cxnSp>
        <p:nvCxnSpPr>
          <p:cNvPr id="18" name="Connector 17"/>
          <p:cNvCxnSpPr/>
          <p:nvPr/>
        </p:nvCxnSpPr>
        <p:spPr>
          <a:xfrm>
            <a:off x="4915814"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691640"/>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Firing</a:t>
            </a:r>
          </a:p>
        </p:txBody>
      </p:sp>
      <p:sp>
        <p:nvSpPr>
          <p:cNvPr id="23" name="TextBox 22"/>
          <p:cNvSpPr txBox="1"/>
          <p:nvPr/>
        </p:nvSpPr>
        <p:spPr>
          <a:xfrm>
            <a:off x="532729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Sustained past for:. Prometheus pushes the alert to Alertmanager</a:t>
            </a:r>
          </a:p>
        </p:txBody>
      </p:sp>
      <p:cxnSp>
        <p:nvCxnSpPr>
          <p:cNvPr id="24" name="Connector 23"/>
          <p:cNvCxnSpPr/>
          <p:nvPr/>
        </p:nvCxnSpPr>
        <p:spPr>
          <a:xfrm>
            <a:off x="7117689"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691640"/>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Alertmanager</a:t>
            </a:r>
          </a:p>
        </p:txBody>
      </p:sp>
      <p:sp>
        <p:nvSpPr>
          <p:cNvPr id="29" name="TextBox 28"/>
          <p:cNvSpPr txBox="1"/>
          <p:nvPr/>
        </p:nvSpPr>
        <p:spPr>
          <a:xfrm>
            <a:off x="7529169"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Deduplicates, groups, silences, inhibits, then routes by labels</a:t>
            </a:r>
          </a:p>
        </p:txBody>
      </p:sp>
      <p:cxnSp>
        <p:nvCxnSpPr>
          <p:cNvPr id="30" name="Connector 29"/>
          <p:cNvCxnSpPr/>
          <p:nvPr/>
        </p:nvCxnSpPr>
        <p:spPr>
          <a:xfrm>
            <a:off x="9319564" y="3228746"/>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691640"/>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Receiver</a:t>
            </a:r>
          </a:p>
        </p:txBody>
      </p:sp>
      <p:sp>
        <p:nvSpPr>
          <p:cNvPr id="35" name="TextBox 34"/>
          <p:cNvSpPr txBox="1"/>
          <p:nvPr/>
        </p:nvSpPr>
        <p:spPr>
          <a:xfrm>
            <a:off x="9731044" y="3333902"/>
            <a:ext cx="1598371" cy="630936"/>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Pager, chat or ticket. Grouping is what stops 200 pages at 3 a.m.</a:t>
            </a:r>
          </a:p>
        </p:txBody>
      </p:sp>
      <p:sp>
        <p:nvSpPr>
          <p:cNvPr id="36" name="Rectangle 35"/>
          <p:cNvSpPr/>
          <p:nvPr/>
        </p:nvSpPr>
        <p:spPr>
          <a:xfrm>
            <a:off x="777240" y="4385462"/>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385462"/>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467758"/>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696358"/>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for: removes flapping, grouping removes duplicates, and inhibition suppresses the 40 downstream alerts caused by the one upstream failure you already paged for.</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Prometheus documentation, Alerting — Alertmanager: prometheus.io/docs/alerting/latest/alertmanager/</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523</a:t>
            </a:r>
          </a:p>
        </p:txBody>
      </p:sp>
    </p:spTree>
  </p:cSld>
  <p:clrMapOvr>
    <a:masterClrMapping/>
  </p:clrMapOvr>
  <p:transition xmlns:ns5="http://schemas.openxmlformats.org/markup-compatibility/2006" spd="fast" ns5:Ignorable="p14">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PROMETHEUS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Valid Config That Scrapes Nothing</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pull model's free liveness signal is only free if you actually alert on it.</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The scrape config loads without complaint and the dashboard goes blank. up == 0 is the only thing that noticed.</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416"/>
              </a:lnSpc>
              <a:spcAft>
                <a:spcPts val="0"/>
              </a:spcAft>
            </a:pPr>
            <a:r>
              <a:rPr sz="950">
                <a:solidFill>
                  <a:srgbClr val="7D8A99"/>
                </a:solidFill>
                <a:latin typeface="Consolas"/>
              </a:rPr>
              <a:t># the broken job points at port 9101 instead of 9100</a:t>
            </a:r>
          </a:p>
          <a:p>
            <a:pPr>
              <a:lnSpc>
                <a:spcPts val="1416"/>
              </a:lnSpc>
              <a:spcAft>
                <a:spcPts val="0"/>
              </a:spcAft>
            </a:pPr>
            <a:r>
              <a:rPr sz="950">
                <a:solidFill>
                  <a:srgbClr val="7EE787"/>
                </a:solidFill>
                <a:latin typeface="Consolas"/>
              </a:rPr>
              <a:t>$ promql 'up{job="depot-portal"}'</a:t>
            </a:r>
          </a:p>
          <a:p>
            <a:pPr>
              <a:lnSpc>
                <a:spcPts val="1416"/>
              </a:lnSpc>
              <a:spcAft>
                <a:spcPts val="0"/>
              </a:spcAft>
            </a:pPr>
            <a:r>
              <a:rPr sz="950">
                <a:solidFill>
                  <a:srgbClr val="E6EDF3"/>
                </a:solidFill>
                <a:latin typeface="Consolas"/>
              </a:rPr>
              <a:t>{"status":"success","data":{"resultType":"vector",</a:t>
            </a:r>
          </a:p>
          <a:p>
            <a:pPr>
              <a:lnSpc>
                <a:spcPts val="1416"/>
              </a:lnSpc>
              <a:spcAft>
                <a:spcPts val="0"/>
              </a:spcAft>
            </a:pPr>
            <a:r>
              <a:rPr sz="950">
                <a:solidFill>
                  <a:srgbClr val="E6EDF3"/>
                </a:solidFill>
                <a:latin typeface="Consolas"/>
              </a:rPr>
              <a:t> "result":[{"metric":{"job":"depot-portal",...},</a:t>
            </a:r>
          </a:p>
          <a:p>
            <a:pPr>
              <a:lnSpc>
                <a:spcPts val="1416"/>
              </a:lnSpc>
              <a:spcAft>
                <a:spcPts val="0"/>
              </a:spcAft>
            </a:pPr>
            <a:r>
              <a:rPr sz="950">
                <a:solidFill>
                  <a:srgbClr val="E6EDF3"/>
                </a:solidFill>
                <a:latin typeface="Consolas"/>
              </a:rPr>
              <a:t>  "value":[&lt;ts&gt;,"0"]}]}}</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D8A99"/>
                </a:solidFill>
                <a:latin typeface="Consolas"/>
              </a:rPr>
              <a:t># /api/v1/targets tells you WHY</a:t>
            </a:r>
          </a:p>
          <a:p>
            <a:pPr>
              <a:lnSpc>
                <a:spcPts val="1416"/>
              </a:lnSpc>
              <a:spcAft>
                <a:spcPts val="0"/>
              </a:spcAft>
            </a:pPr>
            <a:r>
              <a:rPr sz="950">
                <a:solidFill>
                  <a:srgbClr val="E6EDF3"/>
                </a:solidFill>
                <a:latin typeface="Consolas"/>
              </a:rPr>
              <a:t>"health":"down"</a:t>
            </a:r>
          </a:p>
          <a:p>
            <a:pPr>
              <a:lnSpc>
                <a:spcPts val="1416"/>
              </a:lnSpc>
              <a:spcAft>
                <a:spcPts val="0"/>
              </a:spcAft>
            </a:pPr>
            <a:r>
              <a:rPr sz="950">
                <a:solidFill>
                  <a:srgbClr val="E6EDF3"/>
                </a:solidFill>
                <a:latin typeface="Consolas"/>
              </a:rPr>
              <a:t>"lastError":"Get \"http://...:9101/metrics\": dial tcp</a:t>
            </a:r>
          </a:p>
          <a:p>
            <a:pPr>
              <a:lnSpc>
                <a:spcPts val="1416"/>
              </a:lnSpc>
              <a:spcAft>
                <a:spcPts val="0"/>
              </a:spcAft>
            </a:pPr>
            <a:r>
              <a:rPr sz="950">
                <a:solidFill>
                  <a:srgbClr val="E6EDF3"/>
                </a:solidFill>
                <a:latin typeface="Consolas"/>
              </a:rPr>
              <a:t> connect: connection refused"</a:t>
            </a:r>
          </a:p>
          <a:p>
            <a:pPr>
              <a:lnSpc>
                <a:spcPts val="1416"/>
              </a:lnSpc>
              <a:spcAft>
                <a:spcPts val="0"/>
              </a:spcAft>
            </a:pPr>
            <a:r>
              <a:rPr sz="950">
                <a:solidFill>
                  <a:srgbClr val="E6EDF3"/>
                </a:solidFill>
                <a:latin typeface="Consolas"/>
              </a:rPr>
              <a:t> </a:t>
            </a:r>
          </a:p>
          <a:p>
            <a:pPr>
              <a:lnSpc>
                <a:spcPts val="1416"/>
              </a:lnSpc>
              <a:spcAft>
                <a:spcPts val="0"/>
              </a:spcAft>
            </a:pPr>
            <a:r>
              <a:rPr sz="950">
                <a:solidFill>
                  <a:srgbClr val="7D8A99"/>
                </a:solidFill>
                <a:latin typeface="Consolas"/>
              </a:rPr>
              <a:t># and the series simply stop — no error anywhere</a:t>
            </a:r>
          </a:p>
          <a:p>
            <a:pPr>
              <a:lnSpc>
                <a:spcPts val="1416"/>
              </a:lnSpc>
              <a:spcAft>
                <a:spcPts val="0"/>
              </a:spcAft>
            </a:pPr>
            <a:r>
              <a:rPr sz="950">
                <a:solidFill>
                  <a:srgbClr val="7EE787"/>
                </a:solidFill>
                <a:latin typeface="Consolas"/>
              </a:rPr>
              <a:t>$ promql 'rate(depot_portal_http_requests_total[1m])'</a:t>
            </a:r>
          </a:p>
          <a:p>
            <a:pPr>
              <a:lnSpc>
                <a:spcPts val="1416"/>
              </a:lnSpc>
              <a:spcAft>
                <a:spcPts val="0"/>
              </a:spcAft>
            </a:pPr>
            <a:r>
              <a:rPr sz="950">
                <a:solidFill>
                  <a:srgbClr val="E6EDF3"/>
                </a:solidFill>
                <a:latin typeface="Consolas"/>
              </a:rPr>
              <a:t>{"status":"success","data":{"result":[]}}</a:t>
            </a:r>
          </a:p>
        </p:txBody>
      </p:sp>
      <p:sp>
        <p:nvSpPr>
          <p:cNvPr id="14" name="Rectangle 13"/>
          <p:cNvSpPr/>
          <p:nvPr/>
        </p:nvSpPr>
        <p:spPr>
          <a:xfrm>
            <a:off x="7205472" y="291327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Schema-valid YAML pointing at the wrong port</a:t>
            </a:r>
          </a:p>
          <a:p>
            <a:pPr>
              <a:lnSpc>
                <a:spcPct val="112000"/>
              </a:lnSpc>
              <a:spcAft>
                <a:spcPts val="200"/>
              </a:spcAft>
            </a:pPr>
            <a:r>
              <a:rPr sz="950">
                <a:solidFill>
                  <a:srgbClr val="94A3B8"/>
                </a:solidFill>
                <a:latin typeface="Arial"/>
              </a:rPr>
              <a:t>•  </a:t>
            </a:r>
            <a:r>
              <a:rPr sz="950">
                <a:solidFill>
                  <a:srgbClr val="5B6372"/>
                </a:solidFill>
                <a:latin typeface="Arial"/>
              </a:rPr>
              <a:t>Prometheus loads it happily — nothing rejects it</a:t>
            </a:r>
          </a:p>
          <a:p>
            <a:pPr>
              <a:lnSpc>
                <a:spcPct val="112000"/>
              </a:lnSpc>
              <a:spcAft>
                <a:spcPts val="200"/>
              </a:spcAft>
            </a:pPr>
            <a:r>
              <a:rPr sz="950">
                <a:solidFill>
                  <a:srgbClr val="94A3B8"/>
                </a:solidFill>
                <a:latin typeface="Arial"/>
              </a:rPr>
              <a:t>•  </a:t>
            </a:r>
            <a:r>
              <a:rPr sz="950">
                <a:solidFill>
                  <a:srgbClr val="5B6372"/>
                </a:solidFill>
                <a:latin typeface="Arial"/>
              </a:rPr>
              <a:t>Absent series look identical to a healthy quiet service</a:t>
            </a:r>
          </a:p>
        </p:txBody>
      </p:sp>
      <p:sp>
        <p:nvSpPr>
          <p:cNvPr id="18" name="Rectangle 17"/>
          <p:cNvSpPr/>
          <p:nvPr/>
        </p:nvSpPr>
        <p:spPr>
          <a:xfrm>
            <a:off x="7205472" y="4057619"/>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57619"/>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094195"/>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05091"/>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Alert on up == 0 for every job, always</a:t>
            </a:r>
          </a:p>
          <a:p>
            <a:pPr>
              <a:lnSpc>
                <a:spcPct val="112000"/>
              </a:lnSpc>
              <a:spcAft>
                <a:spcPts val="200"/>
              </a:spcAft>
            </a:pPr>
            <a:r>
              <a:rPr sz="950">
                <a:solidFill>
                  <a:srgbClr val="94A3B8"/>
                </a:solidFill>
                <a:latin typeface="Arial"/>
              </a:rPr>
              <a:t>•  </a:t>
            </a:r>
            <a:r>
              <a:rPr sz="950">
                <a:solidFill>
                  <a:srgbClr val="5B6372"/>
                </a:solidFill>
                <a:latin typeface="Arial"/>
              </a:rPr>
              <a:t>Check /targets health and lastError first</a:t>
            </a:r>
          </a:p>
          <a:p>
            <a:pPr>
              <a:lnSpc>
                <a:spcPct val="112000"/>
              </a:lnSpc>
              <a:spcAft>
                <a:spcPts val="200"/>
              </a:spcAft>
            </a:pPr>
            <a:r>
              <a:rPr sz="950">
                <a:solidFill>
                  <a:srgbClr val="94A3B8"/>
                </a:solidFill>
                <a:latin typeface="Arial"/>
              </a:rPr>
              <a:t>•  </a:t>
            </a:r>
            <a:r>
              <a:rPr sz="950">
                <a:solidFill>
                  <a:srgbClr val="5B6372"/>
                </a:solidFill>
                <a:latin typeface="Arial"/>
              </a:rPr>
              <a:t>Never alert on absence of data alone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524</a:t>
            </a:r>
          </a:p>
        </p:txBody>
      </p:sp>
    </p:spTree>
  </p:cSld>
  <p:clrMapOvr>
    <a:masterClrMapping/>
  </p:clrMapOvr>
  <p:transition xmlns:ns1="http://schemas.openxmlformats.org/markup-compatibility/2006" spd="fast" ns1:Ignorable="p14">
    <p:fade/>
  </p:transition>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OPENTELEMETRY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Trace Is Produced And Shipped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span is a named, timed operation with attributes; a trace is the causal tree of spans sharing one trace id.</a:t>
            </a:r>
          </a:p>
        </p:txBody>
      </p:sp>
      <p:sp>
        <p:nvSpPr>
          <p:cNvPr id="7" name="Rounded Rectangle 6"/>
          <p:cNvSpPr/>
          <p:nvPr/>
        </p:nvSpPr>
        <p:spPr>
          <a:xfrm>
            <a:off x="7772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API + SDK in the app</a:t>
            </a:r>
          </a:p>
        </p:txBody>
      </p:sp>
      <p:sp>
        <p:nvSpPr>
          <p:cNvPr id="11" name="TextBox 10"/>
          <p:cNvSpPr txBox="1"/>
          <p:nvPr/>
        </p:nvSpPr>
        <p:spPr>
          <a:xfrm>
            <a:off x="9235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Vendor-neutral API; the SDK samples, batches and exports</a:t>
            </a:r>
          </a:p>
        </p:txBody>
      </p:sp>
      <p:cxnSp>
        <p:nvCxnSpPr>
          <p:cNvPr id="12" name="Connector 11"/>
          <p:cNvCxnSpPr/>
          <p:nvPr/>
        </p:nvCxnSpPr>
        <p:spPr>
          <a:xfrm>
            <a:off x="271393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Context propagation</a:t>
            </a:r>
          </a:p>
        </p:txBody>
      </p:sp>
      <p:sp>
        <p:nvSpPr>
          <p:cNvPr id="17" name="TextBox 16"/>
          <p:cNvSpPr txBox="1"/>
          <p:nvPr/>
        </p:nvSpPr>
        <p:spPr>
          <a:xfrm>
            <a:off x="312541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W3C traceparent header carries trace id and parent span across process boundaries</a:t>
            </a:r>
          </a:p>
        </p:txBody>
      </p:sp>
      <p:cxnSp>
        <p:nvCxnSpPr>
          <p:cNvPr id="18" name="Connector 17"/>
          <p:cNvCxnSpPr/>
          <p:nvPr/>
        </p:nvCxnSpPr>
        <p:spPr>
          <a:xfrm>
            <a:off x="491581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OTLP export</a:t>
            </a:r>
          </a:p>
        </p:txBody>
      </p:sp>
      <p:sp>
        <p:nvSpPr>
          <p:cNvPr id="23" name="TextBox 22"/>
          <p:cNvSpPr txBox="1"/>
          <p:nvPr/>
        </p:nvSpPr>
        <p:spPr>
          <a:xfrm>
            <a:off x="532729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One wire protocol for traces, metrics and logs</a:t>
            </a:r>
          </a:p>
        </p:txBody>
      </p:sp>
      <p:cxnSp>
        <p:nvCxnSpPr>
          <p:cNvPr id="24" name="Connector 23"/>
          <p:cNvCxnSpPr/>
          <p:nvPr/>
        </p:nvCxnSpPr>
        <p:spPr>
          <a:xfrm>
            <a:off x="7117689"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Collector</a:t>
            </a:r>
          </a:p>
        </p:txBody>
      </p:sp>
      <p:sp>
        <p:nvSpPr>
          <p:cNvPr id="29" name="TextBox 28"/>
          <p:cNvSpPr txBox="1"/>
          <p:nvPr/>
        </p:nvSpPr>
        <p:spPr>
          <a:xfrm>
            <a:off x="7529169"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Receivers, processors, exporters. Run as sidecar, DaemonSet or gateway</a:t>
            </a:r>
          </a:p>
        </p:txBody>
      </p:sp>
      <p:cxnSp>
        <p:nvCxnSpPr>
          <p:cNvPr id="30" name="Connector 29"/>
          <p:cNvCxnSpPr/>
          <p:nvPr/>
        </p:nvCxnSpPr>
        <p:spPr>
          <a:xfrm>
            <a:off x="9319564"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Backends</a:t>
            </a:r>
          </a:p>
        </p:txBody>
      </p:sp>
      <p:sp>
        <p:nvSpPr>
          <p:cNvPr id="35" name="TextBox 34"/>
          <p:cNvSpPr txBox="1"/>
          <p:nvPr/>
        </p:nvSpPr>
        <p:spPr>
          <a:xfrm>
            <a:off x="9731044" y="3333902"/>
            <a:ext cx="1598371"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Jaeger for traces, Prometheus for metrics, a log store for logs</a:t>
            </a:r>
          </a:p>
        </p:txBody>
      </p:sp>
      <p:sp>
        <p:nvSpPr>
          <p:cNvPr id="36" name="Rectangle 35"/>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OpenTelemetry standardises GENERATION and COLLECTION. It does not store or query anything — that is still Prometheus, Jaeger or a vendor backend.</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OpenTelemetry documentation, What is OpenTelemetry and the Collector: opentelemetry.io/docs/what-is-opentelemetry/ ; opentelemetry.io/docs/collector/</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525</a:t>
            </a:r>
          </a:p>
        </p:txBody>
      </p:sp>
    </p:spTree>
  </p:cSld>
  <p:clrMapOvr>
    <a:masterClrMapping/>
  </p:clrMapOvr>
  <p:transition xmlns:ns5="http://schemas.openxmlformats.org/markup-compatibility/2006" spd="fast" ns5:Ignorable="p14">
    <p:fade/>
  </p:transition>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OPENTELEMETRY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Vocabulary You Will Be Asked For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OpenTelemetry is CNCF INCUBATING — widely adopted, and formally not yet graduated.</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Trace and span</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trace is one request's journey. A span is one operation within it, with a parent, a start, a duration.</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Context propagation</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Injecting and extracting the trace context at every hop. W3C traceparent is the standard header.</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API vs SDK</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API is what your code calls and is stable; the SDK is the swappable implementation that samples and exports.</a:t>
            </a:r>
          </a:p>
        </p:txBody>
      </p:sp>
      <p:sp>
        <p:nvSpPr>
          <p:cNvPr id="22" name="Rectangle 21"/>
          <p:cNvSpPr/>
          <p:nvPr/>
        </p:nvSpPr>
        <p:spPr>
          <a:xfrm>
            <a:off x="777240"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263853"/>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8411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Collector</a:t>
            </a:r>
          </a:p>
        </p:txBody>
      </p:sp>
      <p:sp>
        <p:nvSpPr>
          <p:cNvPr id="26" name="TextBox 25"/>
          <p:cNvSpPr txBox="1"/>
          <p:nvPr/>
        </p:nvSpPr>
        <p:spPr>
          <a:xfrm>
            <a:off x="1399032"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standalone binary: receivers in, processors in the middle, exporters out. Decouples the app from the backend.</a:t>
            </a:r>
          </a:p>
        </p:txBody>
      </p:sp>
      <p:sp>
        <p:nvSpPr>
          <p:cNvPr id="27" name="Rectangle 26"/>
          <p:cNvSpPr/>
          <p:nvPr/>
        </p:nvSpPr>
        <p:spPr>
          <a:xfrm>
            <a:off x="4392167"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263853"/>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8411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OTLP</a:t>
            </a:r>
          </a:p>
        </p:txBody>
      </p:sp>
      <p:sp>
        <p:nvSpPr>
          <p:cNvPr id="31" name="TextBox 30"/>
          <p:cNvSpPr txBox="1"/>
          <p:nvPr/>
        </p:nvSpPr>
        <p:spPr>
          <a:xfrm>
            <a:off x="5013959"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convergence point. One protocol for all three signals, now accepted natively by most backends including Prometheus.</a:t>
            </a:r>
          </a:p>
        </p:txBody>
      </p:sp>
      <p:sp>
        <p:nvSpPr>
          <p:cNvPr id="32" name="Rectangle 31"/>
          <p:cNvSpPr/>
          <p:nvPr/>
        </p:nvSpPr>
        <p:spPr>
          <a:xfrm>
            <a:off x="8007095"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263853"/>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8411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Semantic conventions</a:t>
            </a:r>
          </a:p>
        </p:txBody>
      </p:sp>
      <p:sp>
        <p:nvSpPr>
          <p:cNvPr id="36" name="TextBox 35"/>
          <p:cNvSpPr txBox="1"/>
          <p:nvPr/>
        </p:nvSpPr>
        <p:spPr>
          <a:xfrm>
            <a:off x="8628888"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Agreed attribute names (http.request.method, k8s.pod.name) so telemetry from different teams can be joined.</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OpenTelemetry documentation, What is OpenTelemetry and the Collector: opentelemetry.io/docs/what-is-opentelemetry/ ; opentelemetry.io/docs/collector/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526</a:t>
            </a:r>
          </a:p>
        </p:txBody>
      </p:sp>
    </p:spTree>
  </p:cSld>
  <p:clrMapOvr>
    <a:masterClrMapping/>
  </p:clrMapOvr>
  <p:transition xmlns:ns1="http://schemas.openxmlformats.org/markup-compatibility/2006" spd="fast" ns1:Ignorable="p14">
    <p:fade/>
  </p:transition>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Prometheus and OpenTelemetry Are Not Rivals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One generates and moves telemetry; the other stores and queries it. Most clusters run both.</a:t>
            </a:r>
          </a:p>
        </p:txBody>
      </p:sp>
      <p:sp>
        <p:nvSpPr>
          <p:cNvPr id="7" name="Rectangle 6"/>
          <p:cNvSpPr/>
          <p:nvPr/>
        </p:nvSpPr>
        <p:spPr>
          <a:xfrm>
            <a:off x="777240" y="2200046"/>
            <a:ext cx="356616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4343400" y="2200046"/>
            <a:ext cx="356616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447141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Prometheus</a:t>
            </a:r>
          </a:p>
        </p:txBody>
      </p:sp>
      <p:sp>
        <p:nvSpPr>
          <p:cNvPr id="11" name="Rectangle 10"/>
          <p:cNvSpPr/>
          <p:nvPr/>
        </p:nvSpPr>
        <p:spPr>
          <a:xfrm>
            <a:off x="7909560" y="2200046"/>
            <a:ext cx="356616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037576" y="2300630"/>
            <a:ext cx="3310128"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OpenTelemetry</a:t>
            </a:r>
          </a:p>
        </p:txBody>
      </p:sp>
      <p:sp>
        <p:nvSpPr>
          <p:cNvPr id="13" name="Rectangle 12"/>
          <p:cNvSpPr/>
          <p:nvPr/>
        </p:nvSpPr>
        <p:spPr>
          <a:xfrm>
            <a:off x="77724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4" name="TextBox 13"/>
          <p:cNvSpPr txBox="1"/>
          <p:nvPr/>
        </p:nvSpPr>
        <p:spPr>
          <a:xfrm>
            <a:off x="905256" y="2702966"/>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What it is</a:t>
            </a:r>
          </a:p>
        </p:txBody>
      </p:sp>
      <p:sp>
        <p:nvSpPr>
          <p:cNvPr id="15" name="Rectangle 14"/>
          <p:cNvSpPr/>
          <p:nvPr/>
        </p:nvSpPr>
        <p:spPr>
          <a:xfrm>
            <a:off x="434340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447141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monitoring system: scrape, store, query, alert</a:t>
            </a:r>
          </a:p>
        </p:txBody>
      </p:sp>
      <p:sp>
        <p:nvSpPr>
          <p:cNvPr id="17" name="Rectangle 16"/>
          <p:cNvSpPr/>
          <p:nvPr/>
        </p:nvSpPr>
        <p:spPr>
          <a:xfrm>
            <a:off x="7909560" y="2620670"/>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8037576" y="2702966"/>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standard plus implementations for generating and collecting telemetry</a:t>
            </a:r>
          </a:p>
        </p:txBody>
      </p:sp>
      <p:sp>
        <p:nvSpPr>
          <p:cNvPr id="19" name="Rectangle 18"/>
          <p:cNvSpPr/>
          <p:nvPr/>
        </p:nvSpPr>
        <p:spPr>
          <a:xfrm>
            <a:off x="77724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0" name="TextBox 19"/>
          <p:cNvSpPr txBox="1"/>
          <p:nvPr/>
        </p:nvSpPr>
        <p:spPr>
          <a:xfrm>
            <a:off x="905256" y="3162299"/>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Signals</a:t>
            </a:r>
          </a:p>
        </p:txBody>
      </p:sp>
      <p:sp>
        <p:nvSpPr>
          <p:cNvPr id="21" name="Rectangle 20"/>
          <p:cNvSpPr/>
          <p:nvPr/>
        </p:nvSpPr>
        <p:spPr>
          <a:xfrm>
            <a:off x="434340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2" name="TextBox 21"/>
          <p:cNvSpPr txBox="1"/>
          <p:nvPr/>
        </p:nvSpPr>
        <p:spPr>
          <a:xfrm>
            <a:off x="447141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Metrics (and native support for exemplars)</a:t>
            </a:r>
          </a:p>
        </p:txBody>
      </p:sp>
      <p:sp>
        <p:nvSpPr>
          <p:cNvPr id="23" name="Rectangle 22"/>
          <p:cNvSpPr/>
          <p:nvPr/>
        </p:nvSpPr>
        <p:spPr>
          <a:xfrm>
            <a:off x="7909560" y="3080004"/>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8037576" y="3162299"/>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Traces, metrics and logs</a:t>
            </a:r>
          </a:p>
        </p:txBody>
      </p:sp>
      <p:sp>
        <p:nvSpPr>
          <p:cNvPr id="25" name="Rectangle 24"/>
          <p:cNvSpPr/>
          <p:nvPr/>
        </p:nvSpPr>
        <p:spPr>
          <a:xfrm>
            <a:off x="77724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6" name="TextBox 25"/>
          <p:cNvSpPr txBox="1"/>
          <p:nvPr/>
        </p:nvSpPr>
        <p:spPr>
          <a:xfrm>
            <a:off x="905256" y="3621633"/>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Data model</a:t>
            </a:r>
          </a:p>
        </p:txBody>
      </p:sp>
      <p:sp>
        <p:nvSpPr>
          <p:cNvPr id="27" name="Rectangle 26"/>
          <p:cNvSpPr/>
          <p:nvPr/>
        </p:nvSpPr>
        <p:spPr>
          <a:xfrm>
            <a:off x="434340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28" name="TextBox 27"/>
          <p:cNvSpPr txBox="1"/>
          <p:nvPr/>
        </p:nvSpPr>
        <p:spPr>
          <a:xfrm>
            <a:off x="447141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Pull, text exposition, its own TSDB</a:t>
            </a:r>
          </a:p>
        </p:txBody>
      </p:sp>
      <p:sp>
        <p:nvSpPr>
          <p:cNvPr id="29" name="Rectangle 28"/>
          <p:cNvSpPr/>
          <p:nvPr/>
        </p:nvSpPr>
        <p:spPr>
          <a:xfrm>
            <a:off x="7909560" y="3539337"/>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0" name="TextBox 29"/>
          <p:cNvSpPr txBox="1"/>
          <p:nvPr/>
        </p:nvSpPr>
        <p:spPr>
          <a:xfrm>
            <a:off x="8037576" y="3621633"/>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Push, OTLP, no storage of its own</a:t>
            </a:r>
          </a:p>
        </p:txBody>
      </p:sp>
      <p:sp>
        <p:nvSpPr>
          <p:cNvPr id="31" name="Rectangle 30"/>
          <p:cNvSpPr/>
          <p:nvPr/>
        </p:nvSpPr>
        <p:spPr>
          <a:xfrm>
            <a:off x="77724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2" name="TextBox 31"/>
          <p:cNvSpPr txBox="1"/>
          <p:nvPr/>
        </p:nvSpPr>
        <p:spPr>
          <a:xfrm>
            <a:off x="905256" y="4080967"/>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Instrumentation</a:t>
            </a:r>
          </a:p>
        </p:txBody>
      </p:sp>
      <p:sp>
        <p:nvSpPr>
          <p:cNvPr id="33" name="Rectangle 32"/>
          <p:cNvSpPr/>
          <p:nvPr/>
        </p:nvSpPr>
        <p:spPr>
          <a:xfrm>
            <a:off x="434340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4" name="TextBox 33"/>
          <p:cNvSpPr txBox="1"/>
          <p:nvPr/>
        </p:nvSpPr>
        <p:spPr>
          <a:xfrm>
            <a:off x="447141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Client libraries per language</a:t>
            </a:r>
          </a:p>
        </p:txBody>
      </p:sp>
      <p:sp>
        <p:nvSpPr>
          <p:cNvPr id="35" name="Rectangle 34"/>
          <p:cNvSpPr/>
          <p:nvPr/>
        </p:nvSpPr>
        <p:spPr>
          <a:xfrm>
            <a:off x="7909560" y="3998671"/>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36" name="TextBox 35"/>
          <p:cNvSpPr txBox="1"/>
          <p:nvPr/>
        </p:nvSpPr>
        <p:spPr>
          <a:xfrm>
            <a:off x="8037576" y="4080967"/>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One API/SDK per language, plus auto-instrumentation</a:t>
            </a:r>
          </a:p>
        </p:txBody>
      </p:sp>
      <p:sp>
        <p:nvSpPr>
          <p:cNvPr id="37" name="Rectangle 36"/>
          <p:cNvSpPr/>
          <p:nvPr/>
        </p:nvSpPr>
        <p:spPr>
          <a:xfrm>
            <a:off x="77724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905256" y="4540300"/>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CNCF maturity</a:t>
            </a:r>
          </a:p>
        </p:txBody>
      </p:sp>
      <p:sp>
        <p:nvSpPr>
          <p:cNvPr id="39" name="Rectangle 38"/>
          <p:cNvSpPr/>
          <p:nvPr/>
        </p:nvSpPr>
        <p:spPr>
          <a:xfrm>
            <a:off x="434340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0" name="TextBox 39"/>
          <p:cNvSpPr txBox="1"/>
          <p:nvPr/>
        </p:nvSpPr>
        <p:spPr>
          <a:xfrm>
            <a:off x="447141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Graduated (2018, the second project to graduate)</a:t>
            </a:r>
          </a:p>
        </p:txBody>
      </p:sp>
      <p:sp>
        <p:nvSpPr>
          <p:cNvPr id="41" name="Rectangle 40"/>
          <p:cNvSpPr/>
          <p:nvPr/>
        </p:nvSpPr>
        <p:spPr>
          <a:xfrm>
            <a:off x="7909560" y="4458004"/>
            <a:ext cx="3566160" cy="459333"/>
          </a:xfrm>
          <a:prstGeom prst="rect">
            <a:avLst/>
          </a:prstGeom>
          <a:solidFill>
            <a:srgbClr val="FFFFFF"/>
          </a:solidFill>
          <a:ln w="9525">
            <a:solidFill>
              <a:srgbClr val="E2E8F0"/>
            </a:solidFill>
          </a:ln>
          <a:effectLst/>
        </p:spPr>
        <p:txBody>
          <a:bodyPr rtlCol="0" anchor="ctr" wrap="square"/>
          <a:lstStyle/>
          <a:p>
            <a:pPr algn="ctr"/>
          </a:p>
        </p:txBody>
      </p:sp>
      <p:sp>
        <p:nvSpPr>
          <p:cNvPr id="42" name="TextBox 41"/>
          <p:cNvSpPr txBox="1"/>
          <p:nvPr/>
        </p:nvSpPr>
        <p:spPr>
          <a:xfrm>
            <a:off x="8037576" y="4540300"/>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Incubating</a:t>
            </a:r>
          </a:p>
        </p:txBody>
      </p:sp>
      <p:sp>
        <p:nvSpPr>
          <p:cNvPr id="43" name="Rectangle 42"/>
          <p:cNvSpPr/>
          <p:nvPr/>
        </p:nvSpPr>
        <p:spPr>
          <a:xfrm>
            <a:off x="77724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905256" y="4999634"/>
            <a:ext cx="3310128" cy="313029"/>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Together</a:t>
            </a:r>
          </a:p>
        </p:txBody>
      </p:sp>
      <p:sp>
        <p:nvSpPr>
          <p:cNvPr id="45" name="Rectangle 44"/>
          <p:cNvSpPr/>
          <p:nvPr/>
        </p:nvSpPr>
        <p:spPr>
          <a:xfrm>
            <a:off x="434340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447141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Prometheus can ingest OTLP and scrape OTel Collectors</a:t>
            </a:r>
          </a:p>
        </p:txBody>
      </p:sp>
      <p:sp>
        <p:nvSpPr>
          <p:cNvPr id="47" name="Rectangle 46"/>
          <p:cNvSpPr/>
          <p:nvPr/>
        </p:nvSpPr>
        <p:spPr>
          <a:xfrm>
            <a:off x="7909560" y="4917338"/>
            <a:ext cx="3566160" cy="459333"/>
          </a:xfrm>
          <a:prstGeom prst="rect">
            <a:avLst/>
          </a:prstGeom>
          <a:solidFill>
            <a:srgbClr val="F6F8FA"/>
          </a:solidFill>
          <a:ln w="9525">
            <a:solidFill>
              <a:srgbClr val="E2E8F0"/>
            </a:solidFill>
          </a:ln>
          <a:effectLst/>
        </p:spPr>
        <p:txBody>
          <a:bodyPr rtlCol="0" anchor="ctr" wrap="square"/>
          <a:lstStyle/>
          <a:p>
            <a:pPr algn="ctr"/>
          </a:p>
        </p:txBody>
      </p:sp>
      <p:sp>
        <p:nvSpPr>
          <p:cNvPr id="48" name="TextBox 47"/>
          <p:cNvSpPr txBox="1"/>
          <p:nvPr/>
        </p:nvSpPr>
        <p:spPr>
          <a:xfrm>
            <a:off x="8037576" y="4999634"/>
            <a:ext cx="3310128" cy="313029"/>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The Collector can export in Prometheus format</a:t>
            </a:r>
          </a:p>
        </p:txBody>
      </p:sp>
      <p:sp>
        <p:nvSpPr>
          <p:cNvPr id="49" name="Rectangle 48"/>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0" name="Rectangle 49"/>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1" name="TextBox 50"/>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2" name="TextBox 51"/>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Instrument with OpenTelemetry for portability; store and alert on metrics with Prometheus.</a:t>
            </a:r>
          </a:p>
        </p:txBody>
      </p:sp>
      <p:sp>
        <p:nvSpPr>
          <p:cNvPr id="53" name="TextBox 52"/>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project list and maturity levels: www.cncf.io/projects/ (checked 5 Sep 2026)</a:t>
            </a:r>
          </a:p>
        </p:txBody>
      </p:sp>
      <p:sp>
        <p:nvSpPr>
          <p:cNvPr id="54" name="TextBox 53"/>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5" name="TextBox 54"/>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6" name="TextBox 55"/>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527</a:t>
            </a:r>
          </a:p>
        </p:txBody>
      </p:sp>
    </p:spTree>
  </p:cSld>
  <p:clrMapOvr>
    <a:masterClrMapping/>
  </p:clrMapOvr>
  <p:transition xmlns:ns1="http://schemas.openxmlformats.org/markup-compatibility/2006" spd="fast" ns1:Ignorable="p14">
    <p:fade/>
  </p:transition>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Observability Neighbourhood — Stated Precisely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Grafana and Loki are NOT CNCF projects — they are open source from Grafana Labs, and they are absent from this grid for that reason.</a:t>
            </a:r>
          </a:p>
        </p:txBody>
      </p:sp>
      <p:sp>
        <p:nvSpPr>
          <p:cNvPr id="7" name="Rectangle 6"/>
          <p:cNvSpPr/>
          <p:nvPr/>
        </p:nvSpPr>
        <p:spPr>
          <a:xfrm>
            <a:off x="777240"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8885"/>
            <a:ext cx="1402950" cy="45720"/>
          </a:xfrm>
          <a:prstGeom prst="rect">
            <a:avLst/>
          </a:prstGeom>
          <a:solidFill>
            <a:srgbClr val="1F6FEB"/>
          </a:solidFill>
          <a:ln>
            <a:noFill/>
          </a:ln>
          <a:effectLst/>
        </p:spPr>
        <p:txBody>
          <a:bodyPr rtlCol="0" anchor="ctr" wrap="square"/>
          <a:lstStyle/>
          <a:p>
            <a:pPr algn="ctr"/>
          </a:p>
        </p:txBody>
      </p:sp>
      <p:pic>
        <p:nvPicPr>
          <p:cNvPr id="9" name="Picture 8" descr="prometheus.png"/>
          <p:cNvPicPr>
            <a:picLocks noChangeAspect="1"/>
          </p:cNvPicPr>
          <p:nvPr/>
        </p:nvPicPr>
        <p:blipFill>
          <a:blip r:embed="rId2"/>
          <a:stretch>
            <a:fillRect/>
          </a:stretch>
        </p:blipFill>
        <p:spPr>
          <a:xfrm>
            <a:off x="1186107" y="2355189"/>
            <a:ext cx="585216" cy="585216"/>
          </a:xfrm>
          <a:prstGeom prst="rect">
            <a:avLst/>
          </a:prstGeom>
        </p:spPr>
      </p:pic>
      <p:sp>
        <p:nvSpPr>
          <p:cNvPr id="10" name="TextBox 9"/>
          <p:cNvSpPr txBox="1"/>
          <p:nvPr/>
        </p:nvSpPr>
        <p:spPr>
          <a:xfrm>
            <a:off x="850392"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Prometheus</a:t>
            </a:r>
          </a:p>
        </p:txBody>
      </p:sp>
      <p:sp>
        <p:nvSpPr>
          <p:cNvPr id="11" name="TextBox 10"/>
          <p:cNvSpPr txBox="1"/>
          <p:nvPr/>
        </p:nvSpPr>
        <p:spPr>
          <a:xfrm>
            <a:off x="850392"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GRADUATED · metrics, TSDB, alerting</a:t>
            </a:r>
          </a:p>
        </p:txBody>
      </p:sp>
      <p:sp>
        <p:nvSpPr>
          <p:cNvPr id="12" name="Rectangle 11"/>
          <p:cNvSpPr/>
          <p:nvPr/>
        </p:nvSpPr>
        <p:spPr>
          <a:xfrm>
            <a:off x="2326494"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13" name="Rectangle 12"/>
          <p:cNvSpPr/>
          <p:nvPr/>
        </p:nvSpPr>
        <p:spPr>
          <a:xfrm>
            <a:off x="2326494" y="2208885"/>
            <a:ext cx="1402950" cy="45720"/>
          </a:xfrm>
          <a:prstGeom prst="rect">
            <a:avLst/>
          </a:prstGeom>
          <a:solidFill>
            <a:srgbClr val="10B981"/>
          </a:solidFill>
          <a:ln>
            <a:noFill/>
          </a:ln>
          <a:effectLst/>
        </p:spPr>
        <p:txBody>
          <a:bodyPr rtlCol="0" anchor="ctr" wrap="square"/>
          <a:lstStyle/>
          <a:p>
            <a:pPr algn="ctr"/>
          </a:p>
        </p:txBody>
      </p:sp>
      <p:pic>
        <p:nvPicPr>
          <p:cNvPr id="14" name="Picture 13" descr="opentelemetry.png"/>
          <p:cNvPicPr>
            <a:picLocks noChangeAspect="1"/>
          </p:cNvPicPr>
          <p:nvPr/>
        </p:nvPicPr>
        <p:blipFill>
          <a:blip r:embed="rId3"/>
          <a:stretch>
            <a:fillRect/>
          </a:stretch>
        </p:blipFill>
        <p:spPr>
          <a:xfrm>
            <a:off x="2735362" y="2355189"/>
            <a:ext cx="585216" cy="585216"/>
          </a:xfrm>
          <a:prstGeom prst="rect">
            <a:avLst/>
          </a:prstGeom>
        </p:spPr>
      </p:pic>
      <p:sp>
        <p:nvSpPr>
          <p:cNvPr id="15" name="TextBox 14"/>
          <p:cNvSpPr txBox="1"/>
          <p:nvPr/>
        </p:nvSpPr>
        <p:spPr>
          <a:xfrm>
            <a:off x="2399646"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OpenTelemetry</a:t>
            </a:r>
          </a:p>
        </p:txBody>
      </p:sp>
      <p:sp>
        <p:nvSpPr>
          <p:cNvPr id="16" name="TextBox 15"/>
          <p:cNvSpPr txBox="1"/>
          <p:nvPr/>
        </p:nvSpPr>
        <p:spPr>
          <a:xfrm>
            <a:off x="2399646"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INCUBATING · API, SDK, Collector</a:t>
            </a:r>
          </a:p>
        </p:txBody>
      </p:sp>
      <p:sp>
        <p:nvSpPr>
          <p:cNvPr id="17" name="Rectangle 16"/>
          <p:cNvSpPr/>
          <p:nvPr/>
        </p:nvSpPr>
        <p:spPr>
          <a:xfrm>
            <a:off x="3875749"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18" name="Rectangle 17"/>
          <p:cNvSpPr/>
          <p:nvPr/>
        </p:nvSpPr>
        <p:spPr>
          <a:xfrm>
            <a:off x="3875749" y="2208885"/>
            <a:ext cx="1402950" cy="45720"/>
          </a:xfrm>
          <a:prstGeom prst="rect">
            <a:avLst/>
          </a:prstGeom>
          <a:solidFill>
            <a:srgbClr val="7C3AED"/>
          </a:solidFill>
          <a:ln>
            <a:noFill/>
          </a:ln>
          <a:effectLst/>
        </p:spPr>
        <p:txBody>
          <a:bodyPr rtlCol="0" anchor="ctr" wrap="square"/>
          <a:lstStyle/>
          <a:p>
            <a:pPr algn="ctr"/>
          </a:p>
        </p:txBody>
      </p:sp>
      <p:pic>
        <p:nvPicPr>
          <p:cNvPr id="19" name="Picture 18" descr="fluentd.png"/>
          <p:cNvPicPr>
            <a:picLocks noChangeAspect="1"/>
          </p:cNvPicPr>
          <p:nvPr/>
        </p:nvPicPr>
        <p:blipFill>
          <a:blip r:embed="rId4"/>
          <a:stretch>
            <a:fillRect/>
          </a:stretch>
        </p:blipFill>
        <p:spPr>
          <a:xfrm>
            <a:off x="4284617" y="2355189"/>
            <a:ext cx="585216" cy="585216"/>
          </a:xfrm>
          <a:prstGeom prst="rect">
            <a:avLst/>
          </a:prstGeom>
        </p:spPr>
      </p:pic>
      <p:sp>
        <p:nvSpPr>
          <p:cNvPr id="20" name="TextBox 19"/>
          <p:cNvSpPr txBox="1"/>
          <p:nvPr/>
        </p:nvSpPr>
        <p:spPr>
          <a:xfrm>
            <a:off x="3948901"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Fluentd</a:t>
            </a:r>
          </a:p>
        </p:txBody>
      </p:sp>
      <p:sp>
        <p:nvSpPr>
          <p:cNvPr id="21" name="TextBox 20"/>
          <p:cNvSpPr txBox="1"/>
          <p:nvPr/>
        </p:nvSpPr>
        <p:spPr>
          <a:xfrm>
            <a:off x="3948901"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GRADUATED · log collection</a:t>
            </a:r>
          </a:p>
        </p:txBody>
      </p:sp>
      <p:sp>
        <p:nvSpPr>
          <p:cNvPr id="22" name="Rectangle 21"/>
          <p:cNvSpPr/>
          <p:nvPr/>
        </p:nvSpPr>
        <p:spPr>
          <a:xfrm>
            <a:off x="5425004"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23" name="Rectangle 22"/>
          <p:cNvSpPr/>
          <p:nvPr/>
        </p:nvSpPr>
        <p:spPr>
          <a:xfrm>
            <a:off x="5425004" y="2208885"/>
            <a:ext cx="1402950" cy="45720"/>
          </a:xfrm>
          <a:prstGeom prst="rect">
            <a:avLst/>
          </a:prstGeom>
          <a:solidFill>
            <a:srgbClr val="F59E0B"/>
          </a:solidFill>
          <a:ln>
            <a:noFill/>
          </a:ln>
          <a:effectLst/>
        </p:spPr>
        <p:txBody>
          <a:bodyPr rtlCol="0" anchor="ctr" wrap="square"/>
          <a:lstStyle/>
          <a:p>
            <a:pPr algn="ctr"/>
          </a:p>
        </p:txBody>
      </p:sp>
      <p:pic>
        <p:nvPicPr>
          <p:cNvPr id="24" name="Picture 23" descr="fluentbit.png"/>
          <p:cNvPicPr>
            <a:picLocks noChangeAspect="1"/>
          </p:cNvPicPr>
          <p:nvPr/>
        </p:nvPicPr>
        <p:blipFill>
          <a:blip r:embed="rId5"/>
          <a:stretch>
            <a:fillRect/>
          </a:stretch>
        </p:blipFill>
        <p:spPr>
          <a:xfrm>
            <a:off x="5833871" y="2355189"/>
            <a:ext cx="585216" cy="585216"/>
          </a:xfrm>
          <a:prstGeom prst="rect">
            <a:avLst/>
          </a:prstGeom>
        </p:spPr>
      </p:pic>
      <p:sp>
        <p:nvSpPr>
          <p:cNvPr id="25" name="TextBox 24"/>
          <p:cNvSpPr txBox="1"/>
          <p:nvPr/>
        </p:nvSpPr>
        <p:spPr>
          <a:xfrm>
            <a:off x="5498156"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Fluent Bit</a:t>
            </a:r>
          </a:p>
        </p:txBody>
      </p:sp>
      <p:sp>
        <p:nvSpPr>
          <p:cNvPr id="26" name="TextBox 25"/>
          <p:cNvSpPr txBox="1"/>
          <p:nvPr/>
        </p:nvSpPr>
        <p:spPr>
          <a:xfrm>
            <a:off x="5498156"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Sub-project of Fluentd · lightweight node agent</a:t>
            </a:r>
          </a:p>
        </p:txBody>
      </p:sp>
      <p:sp>
        <p:nvSpPr>
          <p:cNvPr id="27" name="Rectangle 26"/>
          <p:cNvSpPr/>
          <p:nvPr/>
        </p:nvSpPr>
        <p:spPr>
          <a:xfrm>
            <a:off x="6974259"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28" name="Rectangle 27"/>
          <p:cNvSpPr/>
          <p:nvPr/>
        </p:nvSpPr>
        <p:spPr>
          <a:xfrm>
            <a:off x="6974259" y="2208885"/>
            <a:ext cx="1402950" cy="45720"/>
          </a:xfrm>
          <a:prstGeom prst="rect">
            <a:avLst/>
          </a:prstGeom>
          <a:solidFill>
            <a:srgbClr val="1F6FEB"/>
          </a:solidFill>
          <a:ln>
            <a:noFill/>
          </a:ln>
          <a:effectLst/>
        </p:spPr>
        <p:txBody>
          <a:bodyPr rtlCol="0" anchor="ctr" wrap="square"/>
          <a:lstStyle/>
          <a:p>
            <a:pPr algn="ctr"/>
          </a:p>
        </p:txBody>
      </p:sp>
      <p:pic>
        <p:nvPicPr>
          <p:cNvPr id="29" name="Picture 28" descr="jaeger.png"/>
          <p:cNvPicPr>
            <a:picLocks noChangeAspect="1"/>
          </p:cNvPicPr>
          <p:nvPr/>
        </p:nvPicPr>
        <p:blipFill>
          <a:blip r:embed="rId6"/>
          <a:stretch>
            <a:fillRect/>
          </a:stretch>
        </p:blipFill>
        <p:spPr>
          <a:xfrm>
            <a:off x="7418897" y="2355189"/>
            <a:ext cx="513674" cy="585216"/>
          </a:xfrm>
          <a:prstGeom prst="rect">
            <a:avLst/>
          </a:prstGeom>
        </p:spPr>
      </p:pic>
      <p:sp>
        <p:nvSpPr>
          <p:cNvPr id="30" name="TextBox 29"/>
          <p:cNvSpPr txBox="1"/>
          <p:nvPr/>
        </p:nvSpPr>
        <p:spPr>
          <a:xfrm>
            <a:off x="7047411"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Jaeger</a:t>
            </a:r>
          </a:p>
        </p:txBody>
      </p:sp>
      <p:sp>
        <p:nvSpPr>
          <p:cNvPr id="31" name="TextBox 30"/>
          <p:cNvSpPr txBox="1"/>
          <p:nvPr/>
        </p:nvSpPr>
        <p:spPr>
          <a:xfrm>
            <a:off x="7047411"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GRADUATED · distributed tracing backend</a:t>
            </a:r>
          </a:p>
        </p:txBody>
      </p:sp>
      <p:sp>
        <p:nvSpPr>
          <p:cNvPr id="32" name="Rectangle 31"/>
          <p:cNvSpPr/>
          <p:nvPr/>
        </p:nvSpPr>
        <p:spPr>
          <a:xfrm>
            <a:off x="8523514"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33" name="Rectangle 32"/>
          <p:cNvSpPr/>
          <p:nvPr/>
        </p:nvSpPr>
        <p:spPr>
          <a:xfrm>
            <a:off x="8523514" y="2208885"/>
            <a:ext cx="1402950" cy="45720"/>
          </a:xfrm>
          <a:prstGeom prst="rect">
            <a:avLst/>
          </a:prstGeom>
          <a:solidFill>
            <a:srgbClr val="10B981"/>
          </a:solidFill>
          <a:ln>
            <a:noFill/>
          </a:ln>
          <a:effectLst/>
        </p:spPr>
        <p:txBody>
          <a:bodyPr rtlCol="0" anchor="ctr" wrap="square"/>
          <a:lstStyle/>
          <a:p>
            <a:pPr algn="ctr"/>
          </a:p>
        </p:txBody>
      </p:sp>
      <p:pic>
        <p:nvPicPr>
          <p:cNvPr id="34" name="Picture 33" descr="thanos.png"/>
          <p:cNvPicPr>
            <a:picLocks noChangeAspect="1"/>
          </p:cNvPicPr>
          <p:nvPr/>
        </p:nvPicPr>
        <p:blipFill>
          <a:blip r:embed="rId7"/>
          <a:stretch>
            <a:fillRect/>
          </a:stretch>
        </p:blipFill>
        <p:spPr>
          <a:xfrm>
            <a:off x="8932381" y="2355189"/>
            <a:ext cx="585216" cy="585216"/>
          </a:xfrm>
          <a:prstGeom prst="rect">
            <a:avLst/>
          </a:prstGeom>
        </p:spPr>
      </p:pic>
      <p:sp>
        <p:nvSpPr>
          <p:cNvPr id="35" name="TextBox 34"/>
          <p:cNvSpPr txBox="1"/>
          <p:nvPr/>
        </p:nvSpPr>
        <p:spPr>
          <a:xfrm>
            <a:off x="8596666"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Thanos</a:t>
            </a:r>
          </a:p>
        </p:txBody>
      </p:sp>
      <p:sp>
        <p:nvSpPr>
          <p:cNvPr id="36" name="TextBox 35"/>
          <p:cNvSpPr txBox="1"/>
          <p:nvPr/>
        </p:nvSpPr>
        <p:spPr>
          <a:xfrm>
            <a:off x="8596666"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INCUBATING · long-term Prometheus storage</a:t>
            </a:r>
          </a:p>
        </p:txBody>
      </p:sp>
      <p:sp>
        <p:nvSpPr>
          <p:cNvPr id="37" name="Rectangle 36"/>
          <p:cNvSpPr/>
          <p:nvPr/>
        </p:nvSpPr>
        <p:spPr>
          <a:xfrm>
            <a:off x="10072769" y="2208885"/>
            <a:ext cx="1402950" cy="1463040"/>
          </a:xfrm>
          <a:prstGeom prst="rect">
            <a:avLst/>
          </a:prstGeom>
          <a:solidFill>
            <a:srgbClr val="FFFFFF"/>
          </a:solidFill>
          <a:ln w="12700">
            <a:solidFill>
              <a:srgbClr val="E2E8F0"/>
            </a:solidFill>
          </a:ln>
          <a:effectLst/>
        </p:spPr>
        <p:txBody>
          <a:bodyPr rtlCol="0" anchor="ctr" wrap="square"/>
          <a:lstStyle/>
          <a:p>
            <a:pPr algn="ctr"/>
          </a:p>
        </p:txBody>
      </p:sp>
      <p:sp>
        <p:nvSpPr>
          <p:cNvPr id="38" name="Rectangle 37"/>
          <p:cNvSpPr/>
          <p:nvPr/>
        </p:nvSpPr>
        <p:spPr>
          <a:xfrm>
            <a:off x="10072769" y="2208885"/>
            <a:ext cx="1402950" cy="45720"/>
          </a:xfrm>
          <a:prstGeom prst="rect">
            <a:avLst/>
          </a:prstGeom>
          <a:solidFill>
            <a:srgbClr val="7C3AED"/>
          </a:solidFill>
          <a:ln>
            <a:noFill/>
          </a:ln>
          <a:effectLst/>
        </p:spPr>
        <p:txBody>
          <a:bodyPr rtlCol="0" anchor="ctr" wrap="square"/>
          <a:lstStyle/>
          <a:p>
            <a:pPr algn="ctr"/>
          </a:p>
        </p:txBody>
      </p:sp>
      <p:pic>
        <p:nvPicPr>
          <p:cNvPr id="39" name="Picture 38" descr="cortex.png"/>
          <p:cNvPicPr>
            <a:picLocks noChangeAspect="1"/>
          </p:cNvPicPr>
          <p:nvPr/>
        </p:nvPicPr>
        <p:blipFill>
          <a:blip r:embed="rId8"/>
          <a:stretch>
            <a:fillRect/>
          </a:stretch>
        </p:blipFill>
        <p:spPr>
          <a:xfrm>
            <a:off x="10481636" y="2355189"/>
            <a:ext cx="585216" cy="585216"/>
          </a:xfrm>
          <a:prstGeom prst="rect">
            <a:avLst/>
          </a:prstGeom>
        </p:spPr>
      </p:pic>
      <p:sp>
        <p:nvSpPr>
          <p:cNvPr id="40" name="TextBox 39"/>
          <p:cNvSpPr txBox="1"/>
          <p:nvPr/>
        </p:nvSpPr>
        <p:spPr>
          <a:xfrm>
            <a:off x="10145921" y="3013557"/>
            <a:ext cx="1256646" cy="219456"/>
          </a:xfrm>
          <a:prstGeom prst="rect">
            <a:avLst/>
          </a:prstGeom>
          <a:noFill/>
        </p:spPr>
        <p:txBody>
          <a:bodyPr wrap="square" lIns="0" rIns="0" tIns="0" bIns="0" anchor="t">
            <a:spAutoFit/>
          </a:bodyPr>
          <a:lstStyle/>
          <a:p>
            <a:pPr algn="ctr">
              <a:lnSpc>
                <a:spcPct val="100000"/>
              </a:lnSpc>
            </a:pPr>
            <a:r>
              <a:rPr sz="1050" b="1" i="0">
                <a:solidFill>
                  <a:srgbClr val="161B26"/>
                </a:solidFill>
                <a:latin typeface="Arial"/>
              </a:rPr>
              <a:t>Cortex</a:t>
            </a:r>
          </a:p>
        </p:txBody>
      </p:sp>
      <p:sp>
        <p:nvSpPr>
          <p:cNvPr id="41" name="TextBox 40"/>
          <p:cNvSpPr txBox="1"/>
          <p:nvPr/>
        </p:nvSpPr>
        <p:spPr>
          <a:xfrm>
            <a:off x="10145921" y="3233013"/>
            <a:ext cx="1256646" cy="384047"/>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CNCF INCUBATING · horizontally scalable Prometheus</a:t>
            </a:r>
          </a:p>
        </p:txBody>
      </p:sp>
      <p:sp>
        <p:nvSpPr>
          <p:cNvPr id="42" name="TextBox 4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project list and maturity levels: www.cncf.io/projects/ (checked 5 Sep 2026)</a:t>
            </a:r>
          </a:p>
        </p:txBody>
      </p:sp>
      <p:sp>
        <p:nvSpPr>
          <p:cNvPr id="43" name="TextBox 4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4" name="TextBox 4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5" name="TextBox 4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528</a:t>
            </a:r>
          </a:p>
        </p:txBody>
      </p:sp>
    </p:spTree>
  </p:cSld>
  <p:clrMapOvr>
    <a:masterClrMapping/>
  </p:clrMapOvr>
  <p:transition xmlns:ns1="http://schemas.openxmlformats.org/markup-compatibility/2006" spd="fast" ns1:Ignorable="p14">
    <p:fade/>
  </p:transition>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400" b="1" i="0">
                <a:solidFill>
                  <a:srgbClr val="161B26"/>
                </a:solidFill>
                <a:latin typeface="Arial"/>
              </a:rPr>
              <a:t>Lab 24 — Metrics, Prometheus Exposition and the Observability Pipeline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Run a real scrape target and a single self-contained Prometheus, read the text exposition format line by line, and query PromQL against metric names you produced yourself — including the error-ratio query that would have detected INC-4417.</a:t>
            </a:r>
          </a:p>
        </p:txBody>
      </p:sp>
      <p:sp>
        <p:nvSpPr>
          <p:cNvPr id="10" name="Rectangle 9"/>
          <p:cNvSpPr/>
          <p:nvPr/>
        </p:nvSpPr>
        <p:spPr>
          <a:xfrm>
            <a:off x="777240"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A working exporter serving depot_portal_* metrics in Prometheus text format at /metrics, scraped by hand with wget before Prometheus ever touches it</a:t>
            </a:r>
          </a:p>
          <a:p>
            <a:pPr>
              <a:lnSpc>
                <a:spcPct val="112000"/>
              </a:lnSpc>
              <a:spcAft>
                <a:spcPts val="500"/>
              </a:spcAft>
            </a:pPr>
            <a:r>
              <a:rPr sz="1050">
                <a:solidFill>
                  <a:srgbClr val="94A3B8"/>
                </a:solidFill>
                <a:latin typeface="Arial"/>
              </a:rPr>
              <a:t>•  </a:t>
            </a:r>
            <a:r>
              <a:rPr sz="1050">
                <a:solidFill>
                  <a:srgbClr val="5B6372"/>
                </a:solidFill>
                <a:latin typeface="Arial"/>
              </a:rPr>
              <a:t>A Prometheus Pod scraping two named static targets from a scrape config you wrote, with both targets reporting up == 1</a:t>
            </a:r>
          </a:p>
          <a:p>
            <a:pPr>
              <a:lnSpc>
                <a:spcPct val="112000"/>
              </a:lnSpc>
              <a:spcAft>
                <a:spcPts val="500"/>
              </a:spcAft>
            </a:pPr>
            <a:r>
              <a:rPr sz="1050">
                <a:solidFill>
                  <a:srgbClr val="94A3B8"/>
                </a:solidFill>
                <a:latin typeface="Arial"/>
              </a:rPr>
              <a:t>•  </a:t>
            </a:r>
            <a:r>
              <a:rPr sz="1050">
                <a:solidFill>
                  <a:srgbClr val="5B6372"/>
                </a:solidFill>
                <a:latin typeface="Arial"/>
              </a:rPr>
              <a:t>A completed exposition worksheet recording counter-versus-gauge behaviour, the measured rate against its predicted band, and the up == 0 signal during failure injection</a:t>
            </a:r>
          </a:p>
        </p:txBody>
      </p:sp>
      <p:sp>
        <p:nvSpPr>
          <p:cNvPr id="14" name="Rectangle 13"/>
          <p:cNvSpPr/>
          <p:nvPr/>
        </p:nvSpPr>
        <p:spPr>
          <a:xfrm>
            <a:off x="6276441" y="2668219"/>
            <a:ext cx="5199278" cy="2285674"/>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1737034"/>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The four observability signals and which question each one answers</a:t>
            </a:r>
          </a:p>
          <a:p>
            <a:pPr>
              <a:lnSpc>
                <a:spcPct val="112000"/>
              </a:lnSpc>
              <a:spcAft>
                <a:spcPts val="500"/>
              </a:spcAft>
            </a:pPr>
            <a:r>
              <a:rPr sz="1050">
                <a:solidFill>
                  <a:srgbClr val="94A3B8"/>
                </a:solidFill>
                <a:latin typeface="Arial"/>
              </a:rPr>
              <a:t>•  </a:t>
            </a:r>
            <a:r>
              <a:rPr sz="1050">
                <a:solidFill>
                  <a:srgbClr val="5B6372"/>
                </a:solidFill>
                <a:latin typeface="Arial"/>
              </a:rPr>
              <a:t>Pull versus push: Prometheus synthesises the up metric for free, so a failed scrape is itself the liveness signal</a:t>
            </a:r>
          </a:p>
          <a:p>
            <a:pPr>
              <a:lnSpc>
                <a:spcPct val="112000"/>
              </a:lnSpc>
              <a:spcAft>
                <a:spcPts val="500"/>
              </a:spcAft>
            </a:pPr>
            <a:r>
              <a:rPr sz="1050">
                <a:solidFill>
                  <a:srgbClr val="94A3B8"/>
                </a:solidFill>
                <a:latin typeface="Arial"/>
              </a:rPr>
              <a:t>•  </a:t>
            </a:r>
            <a:r>
              <a:rPr sz="1050">
                <a:solidFill>
                  <a:srgbClr val="5B6372"/>
                </a:solidFill>
                <a:latin typeface="Arial"/>
              </a:rPr>
              <a:t>Counter, gauge and histogram: why rate() exists, why buckets are cumulative, and why le must survive aggregation</a:t>
            </a:r>
          </a:p>
          <a:p>
            <a:pPr>
              <a:lnSpc>
                <a:spcPct val="112000"/>
              </a:lnSpc>
              <a:spcAft>
                <a:spcPts val="500"/>
              </a:spcAft>
            </a:pPr>
            <a:r>
              <a:rPr sz="1050">
                <a:solidFill>
                  <a:srgbClr val="94A3B8"/>
                </a:solidFill>
                <a:latin typeface="Arial"/>
              </a:rPr>
              <a:t>•  </a:t>
            </a:r>
            <a:r>
              <a:rPr sz="1050">
                <a:solidFill>
                  <a:srgbClr val="5B6372"/>
                </a:solidFill>
                <a:latin typeface="Arial"/>
              </a:rPr>
              <a:t>OpenTelemetry generates and collects, Prometheus stores and queries; Prometheus is CNCF-graduated, OpenTelemetry incubating, Grafana not CNCF at all</a:t>
            </a:r>
          </a:p>
        </p:txBody>
      </p:sp>
      <p:sp>
        <p:nvSpPr>
          <p:cNvPr id="18" name="Rectangle 17"/>
          <p:cNvSpPr/>
          <p:nvPr/>
        </p:nvSpPr>
        <p:spPr>
          <a:xfrm>
            <a:off x="777240"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13677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20078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24</a:t>
            </a:r>
          </a:p>
        </p:txBody>
      </p:sp>
      <p:sp>
        <p:nvSpPr>
          <p:cNvPr id="22" name="Rectangle 21"/>
          <p:cNvSpPr/>
          <p:nvPr/>
        </p:nvSpPr>
        <p:spPr>
          <a:xfrm>
            <a:off x="3488436"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13677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20078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kcna-lab24</a:t>
            </a:r>
          </a:p>
        </p:txBody>
      </p:sp>
      <p:sp>
        <p:nvSpPr>
          <p:cNvPr id="26" name="Rectangle 25"/>
          <p:cNvSpPr/>
          <p:nvPr/>
        </p:nvSpPr>
        <p:spPr>
          <a:xfrm>
            <a:off x="6199631"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13677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20078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LO6 · A6 · K7</a:t>
            </a:r>
          </a:p>
        </p:txBody>
      </p:sp>
      <p:sp>
        <p:nvSpPr>
          <p:cNvPr id="30" name="Rectangle 29"/>
          <p:cNvSpPr/>
          <p:nvPr/>
        </p:nvSpPr>
        <p:spPr>
          <a:xfrm>
            <a:off x="8910828" y="513677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13677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20078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38366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45 min</a:t>
            </a:r>
          </a:p>
        </p:txBody>
      </p:sp>
      <p:sp>
        <p:nvSpPr>
          <p:cNvPr id="34" name="TextBox 33"/>
          <p:cNvSpPr txBox="1"/>
          <p:nvPr/>
        </p:nvSpPr>
        <p:spPr>
          <a:xfrm>
            <a:off x="777240" y="577685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courseware/labs/lab-24-prometheus-observability/README.md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529</a:t>
            </a:r>
          </a:p>
        </p:txBody>
      </p:sp>
    </p:spTree>
  </p:cSld>
  <p:clrMapOvr>
    <a:masterClrMapping/>
  </p:clrMapOvr>
  <p:transition xmlns:ns1="http://schemas.openxmlformats.org/markup-compatibility/2006" spd="fast" ns1:Ignorable="p14">
    <p:fade/>
  </p:transition>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08</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REGISTERED TOPIC 8</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Troubleshooting</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A repeatable triage method for application, worker-node and control-plane failure — carried straight into this afternoon's practical assessment.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530</a:t>
            </a:r>
          </a:p>
        </p:txBody>
      </p:sp>
    </p:spTree>
  </p:cSld>
  <p:clrMapOvr>
    <a:masterClrMapping/>
  </p:clrMapOvr>
  <p:transition xmlns:ns1="http://schemas.openxmlformats.org/markup-compatibility/2006" spd="med" ns1:Ignorable="p14">
    <p:push dir="l"/>
  </p:transition>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685800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1143000" y="1965960"/>
            <a:ext cx="10058400" cy="292608"/>
          </a:xfrm>
          <a:prstGeom prst="rect">
            <a:avLst/>
          </a:prstGeom>
          <a:noFill/>
        </p:spPr>
        <p:txBody>
          <a:bodyPr wrap="square" lIns="0" rIns="0" tIns="0" bIns="0" anchor="t">
            <a:spAutoFit/>
          </a:bodyPr>
          <a:lstStyle/>
          <a:p>
            <a:pPr algn="l">
              <a:lnSpc>
                <a:spcPct val="100000"/>
              </a:lnSpc>
            </a:pPr>
            <a:r>
              <a:rPr sz="1200" b="1" i="0">
                <a:solidFill>
                  <a:srgbClr val="F59E0B"/>
                </a:solidFill>
                <a:latin typeface="Arial"/>
              </a:rPr>
              <a:t>THE METHOD</a:t>
            </a:r>
          </a:p>
        </p:txBody>
      </p:sp>
      <p:sp>
        <p:nvSpPr>
          <p:cNvPr id="5" name="TextBox 4"/>
          <p:cNvSpPr txBox="1"/>
          <p:nvPr/>
        </p:nvSpPr>
        <p:spPr>
          <a:xfrm>
            <a:off x="1143000" y="2359152"/>
            <a:ext cx="9966960" cy="1691640"/>
          </a:xfrm>
          <a:prstGeom prst="rect">
            <a:avLst/>
          </a:prstGeom>
          <a:noFill/>
        </p:spPr>
        <p:txBody>
          <a:bodyPr wrap="square" lIns="0" rIns="0" tIns="0" bIns="0" anchor="t">
            <a:spAutoFit/>
          </a:bodyPr>
          <a:lstStyle/>
          <a:p>
            <a:pPr algn="l">
              <a:lnSpc>
                <a:spcPct val="105000"/>
              </a:lnSpc>
            </a:pPr>
            <a:r>
              <a:rPr sz="3400" b="1" i="0">
                <a:solidFill>
                  <a:srgbClr val="161B26"/>
                </a:solidFill>
                <a:latin typeface="Arial"/>
              </a:rPr>
              <a:t>Phase first, cause second.</a:t>
            </a:r>
          </a:p>
        </p:txBody>
      </p:sp>
      <p:sp>
        <p:nvSpPr>
          <p:cNvPr id="6" name="Rectangle 5"/>
          <p:cNvSpPr/>
          <p:nvPr/>
        </p:nvSpPr>
        <p:spPr>
          <a:xfrm>
            <a:off x="1143000" y="4187952"/>
            <a:ext cx="2194560" cy="32004"/>
          </a:xfrm>
          <a:prstGeom prst="rect">
            <a:avLst/>
          </a:prstGeom>
          <a:solidFill>
            <a:srgbClr val="F59E0B"/>
          </a:solidFill>
          <a:ln>
            <a:noFill/>
          </a:ln>
          <a:effectLst/>
        </p:spPr>
        <p:txBody>
          <a:bodyPr rtlCol="0" anchor="ctr" wrap="square"/>
          <a:lstStyle/>
          <a:p>
            <a:pPr algn="ctr"/>
          </a:p>
        </p:txBody>
      </p:sp>
      <p:sp>
        <p:nvSpPr>
          <p:cNvPr id="7" name="TextBox 6"/>
          <p:cNvSpPr txBox="1"/>
          <p:nvPr/>
        </p:nvSpPr>
        <p:spPr>
          <a:xfrm>
            <a:off x="1143000" y="4407408"/>
            <a:ext cx="9692640" cy="822960"/>
          </a:xfrm>
          <a:prstGeom prst="rect">
            <a:avLst/>
          </a:prstGeom>
          <a:noFill/>
        </p:spPr>
        <p:txBody>
          <a:bodyPr wrap="square" lIns="0" rIns="0" tIns="0" bIns="0" anchor="t">
            <a:spAutoFit/>
          </a:bodyPr>
          <a:lstStyle/>
          <a:p>
            <a:pPr algn="l">
              <a:lnSpc>
                <a:spcPct val="116000"/>
              </a:lnSpc>
            </a:pPr>
            <a:r>
              <a:rPr sz="1500" b="0" i="0">
                <a:solidFill>
                  <a:srgbClr val="5B6372"/>
                </a:solidFill>
                <a:latin typeface="Arial"/>
              </a:rPr>
              <a:t>Establish WHICH phase a workload failed in before you form any hypothesis about why. Asking for logs on a Pending Pod is not merely useless — the error you get back sounds like a container problem, and it is not.</a:t>
            </a:r>
          </a:p>
        </p:txBody>
      </p:sp>
      <p:sp>
        <p:nvSpPr>
          <p:cNvPr id="8" name="TextBox 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9" name="TextBox 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0" name="TextBox 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531</a:t>
            </a:r>
          </a:p>
        </p:txBody>
      </p:sp>
    </p:spTree>
  </p:cSld>
  <p:clrMapOvr>
    <a:masterClrMapping/>
  </p:clrMapOvr>
  <p:transition xmlns:ns1="http://schemas.openxmlformats.org/markup-compatibility/2006" spd="fast" ns1:Ignorable="p14">
    <p:fade/>
  </p:transition>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Triage Decision Tree — Stop At The First NO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Five questions, in this order. Each is only meaningful if the previous one answered YES.</a:t>
            </a:r>
          </a:p>
        </p:txBody>
      </p:sp>
      <p:sp>
        <p:nvSpPr>
          <p:cNvPr id="7" name="Rounded Rectangle 6"/>
          <p:cNvSpPr/>
          <p:nvPr/>
        </p:nvSpPr>
        <p:spPr>
          <a:xfrm>
            <a:off x="7772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Q1 Scheduled?</a:t>
            </a:r>
          </a:p>
        </p:txBody>
      </p:sp>
      <p:sp>
        <p:nvSpPr>
          <p:cNvPr id="11" name="TextBox 10"/>
          <p:cNvSpPr txBox="1"/>
          <p:nvPr/>
        </p:nvSpPr>
        <p:spPr>
          <a:xfrm>
            <a:off x="9235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kubectl get pod -o wide -&gt; NODE column. NO = Pending; the scheduler refused and no container exists</a:t>
            </a:r>
          </a:p>
        </p:txBody>
      </p:sp>
      <p:cxnSp>
        <p:nvCxnSpPr>
          <p:cNvPr id="12" name="Connector 11"/>
          <p:cNvCxnSpPr/>
          <p:nvPr/>
        </p:nvCxnSpPr>
        <p:spPr>
          <a:xfrm>
            <a:off x="271393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79115" y="2382926"/>
            <a:ext cx="1890979" cy="1962658"/>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2979115" y="2382926"/>
            <a:ext cx="1890979"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297911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12541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Q2 Image pulled?</a:t>
            </a:r>
          </a:p>
        </p:txBody>
      </p:sp>
      <p:sp>
        <p:nvSpPr>
          <p:cNvPr id="17" name="TextBox 16"/>
          <p:cNvSpPr txBox="1"/>
          <p:nvPr/>
        </p:nvSpPr>
        <p:spPr>
          <a:xfrm>
            <a:off x="312541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kubectl describe pod -&gt; events. NO = ErrImagePull / ImagePullBackOff; still nothing has run</a:t>
            </a:r>
          </a:p>
        </p:txBody>
      </p:sp>
      <p:cxnSp>
        <p:nvCxnSpPr>
          <p:cNvPr id="18" name="Connector 17"/>
          <p:cNvCxnSpPr/>
          <p:nvPr/>
        </p:nvCxnSpPr>
        <p:spPr>
          <a:xfrm>
            <a:off x="491581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80990" y="2382926"/>
            <a:ext cx="1890979" cy="1962658"/>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5180990" y="2382926"/>
            <a:ext cx="1890979"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518099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532729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Q3 Started and stayed up?</a:t>
            </a:r>
          </a:p>
        </p:txBody>
      </p:sp>
      <p:sp>
        <p:nvSpPr>
          <p:cNvPr id="23" name="TextBox 22"/>
          <p:cNvSpPr txBox="1"/>
          <p:nvPr/>
        </p:nvSpPr>
        <p:spPr>
          <a:xfrm>
            <a:off x="532729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STATUS and RESTARTS. NO = CrashLoopBackOff / Error / OOMKilled. Now logs exist — use --previous</a:t>
            </a:r>
          </a:p>
        </p:txBody>
      </p:sp>
      <p:cxnSp>
        <p:nvCxnSpPr>
          <p:cNvPr id="24" name="Connector 23"/>
          <p:cNvCxnSpPr/>
          <p:nvPr/>
        </p:nvCxnSpPr>
        <p:spPr>
          <a:xfrm>
            <a:off x="7117689"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2865" y="2382926"/>
            <a:ext cx="1890979" cy="1962658"/>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7382865" y="2382926"/>
            <a:ext cx="1890979"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7382865"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7529169"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Q4 Ready?</a:t>
            </a:r>
          </a:p>
        </p:txBody>
      </p:sp>
      <p:sp>
        <p:nvSpPr>
          <p:cNvPr id="29" name="TextBox 28"/>
          <p:cNvSpPr txBox="1"/>
          <p:nvPr/>
        </p:nvSpPr>
        <p:spPr>
          <a:xfrm>
            <a:off x="7529169"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READY n/n. NO = readiness failing; running but withdrawn from Service backends</a:t>
            </a:r>
          </a:p>
        </p:txBody>
      </p:sp>
      <p:cxnSp>
        <p:nvCxnSpPr>
          <p:cNvPr id="30" name="Connector 29"/>
          <p:cNvCxnSpPr/>
          <p:nvPr/>
        </p:nvCxnSpPr>
        <p:spPr>
          <a:xfrm>
            <a:off x="9319564" y="3364255"/>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84740" y="2382926"/>
            <a:ext cx="1890979" cy="1962658"/>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32" name="Rounded Rectangle 31"/>
          <p:cNvSpPr/>
          <p:nvPr/>
        </p:nvSpPr>
        <p:spPr>
          <a:xfrm>
            <a:off x="9584740" y="2382926"/>
            <a:ext cx="1890979" cy="274320"/>
          </a:xfrm>
          <a:prstGeom prst="roundRect">
            <a:avLst>
              <a:gd name="adj" fmla="val 42000"/>
            </a:avLst>
          </a:prstGeom>
          <a:solidFill>
            <a:srgbClr val="1F6FEB"/>
          </a:solidFill>
          <a:ln>
            <a:noFill/>
          </a:ln>
          <a:effectLst/>
        </p:spPr>
        <p:txBody>
          <a:bodyPr rtlCol="0" anchor="ctr" wrap="square"/>
          <a:lstStyle/>
          <a:p>
            <a:pPr algn="ctr"/>
          </a:p>
        </p:txBody>
      </p:sp>
      <p:sp>
        <p:nvSpPr>
          <p:cNvPr id="33" name="TextBox 32"/>
          <p:cNvSpPr txBox="1"/>
          <p:nvPr/>
        </p:nvSpPr>
        <p:spPr>
          <a:xfrm>
            <a:off x="9584740" y="2410358"/>
            <a:ext cx="1890979"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5</a:t>
            </a:r>
          </a:p>
        </p:txBody>
      </p:sp>
      <p:sp>
        <p:nvSpPr>
          <p:cNvPr id="34" name="TextBox 33"/>
          <p:cNvSpPr txBox="1"/>
          <p:nvPr/>
        </p:nvSpPr>
        <p:spPr>
          <a:xfrm>
            <a:off x="9731044" y="2785262"/>
            <a:ext cx="1598371"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Q5 Endpoints?</a:t>
            </a:r>
          </a:p>
        </p:txBody>
      </p:sp>
      <p:sp>
        <p:nvSpPr>
          <p:cNvPr id="35" name="TextBox 34"/>
          <p:cNvSpPr txBox="1"/>
          <p:nvPr/>
        </p:nvSpPr>
        <p:spPr>
          <a:xfrm>
            <a:off x="9731044" y="3333902"/>
            <a:ext cx="1598371" cy="901954"/>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kubectl get endpointslices -l kubernetes.io/service-name=&lt;svc&gt;. NO = selector or port mismatch</a:t>
            </a:r>
          </a:p>
        </p:txBody>
      </p:sp>
      <p:sp>
        <p:nvSpPr>
          <p:cNvPr id="36" name="Rectangle 35"/>
          <p:cNvSpPr/>
          <p:nvPr/>
        </p:nvSpPr>
        <p:spPr>
          <a:xfrm>
            <a:off x="777240" y="4656480"/>
            <a:ext cx="10698480" cy="713232"/>
          </a:xfrm>
          <a:prstGeom prst="rect">
            <a:avLst/>
          </a:prstGeom>
          <a:solidFill>
            <a:srgbClr val="EFF4FF"/>
          </a:solidFill>
          <a:ln>
            <a:noFill/>
          </a:ln>
          <a:effectLst/>
        </p:spPr>
        <p:txBody>
          <a:bodyPr rtlCol="0" anchor="ctr" wrap="square"/>
          <a:lstStyle/>
          <a:p>
            <a:pPr algn="ctr"/>
          </a:p>
        </p:txBody>
      </p:sp>
      <p:sp>
        <p:nvSpPr>
          <p:cNvPr id="37" name="Rectangle 36"/>
          <p:cNvSpPr/>
          <p:nvPr/>
        </p:nvSpPr>
        <p:spPr>
          <a:xfrm>
            <a:off x="777240" y="4656480"/>
            <a:ext cx="50292" cy="713232"/>
          </a:xfrm>
          <a:prstGeom prst="rect">
            <a:avLst/>
          </a:prstGeom>
          <a:solidFill>
            <a:srgbClr val="1F6FEB"/>
          </a:solidFill>
          <a:ln>
            <a:noFill/>
          </a:ln>
          <a:effectLst/>
        </p:spPr>
        <p:txBody>
          <a:bodyPr rtlCol="0" anchor="ctr" wrap="square"/>
          <a:lstStyle/>
          <a:p>
            <a:pPr algn="ctr"/>
          </a:p>
        </p:txBody>
      </p:sp>
      <p:sp>
        <p:nvSpPr>
          <p:cNvPr id="38" name="TextBox 37"/>
          <p:cNvSpPr txBox="1"/>
          <p:nvPr/>
        </p:nvSpPr>
        <p:spPr>
          <a:xfrm>
            <a:off x="996695" y="4738776"/>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9" name="TextBox 38"/>
          <p:cNvSpPr txBox="1"/>
          <p:nvPr/>
        </p:nvSpPr>
        <p:spPr>
          <a:xfrm>
            <a:off x="996695" y="4967376"/>
            <a:ext cx="10241280" cy="329184"/>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All five YES? The workload is healthy — now look OUTSIDE it: NetworkPolicy, DNS, Ingress, or the application's own config.</a:t>
            </a:r>
          </a:p>
        </p:txBody>
      </p:sp>
      <p:sp>
        <p:nvSpPr>
          <p:cNvPr id="40" name="TextBox 3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41" name="TextBox 4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2" name="TextBox 4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3" name="TextBox 4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532</a:t>
            </a:r>
          </a:p>
        </p:txBody>
      </p:sp>
    </p:spTree>
  </p:cSld>
  <p:clrMapOvr>
    <a:masterClrMapping/>
  </p:clrMapOvr>
  <p:transition xmlns:ns5="http://schemas.openxmlformats.org/markup-compatibility/2006" spd="fast" ns5:Ignorable="p14">
    <p:fade/>
  </p:transition>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Symptom String -&gt; Phase -&gt; The One Command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exact string is the diagnosis. Learn the strings, not the anecdotes.</a:t>
            </a:r>
          </a:p>
        </p:txBody>
      </p:sp>
      <p:sp>
        <p:nvSpPr>
          <p:cNvPr id="7" name="Rectangle 6"/>
          <p:cNvSpPr/>
          <p:nvPr/>
        </p:nvSpPr>
        <p:spPr>
          <a:xfrm>
            <a:off x="777240" y="2200046"/>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374355"/>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Pending, NODE &lt;none&gt;</a:t>
            </a:r>
          </a:p>
        </p:txBody>
      </p:sp>
      <p:sp>
        <p:nvSpPr>
          <p:cNvPr id="10" name="TextBox 9"/>
          <p:cNvSpPr txBox="1"/>
          <p:nvPr/>
        </p:nvSpPr>
        <p:spPr>
          <a:xfrm>
            <a:off x="5649163" y="2282342"/>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Q1 · kubectl describe pod -&gt; Warning FailedScheduling</a:t>
            </a:r>
          </a:p>
        </p:txBody>
      </p:sp>
      <p:sp>
        <p:nvSpPr>
          <p:cNvPr id="11" name="Rectangle 10"/>
          <p:cNvSpPr/>
          <p:nvPr/>
        </p:nvSpPr>
        <p:spPr>
          <a:xfrm>
            <a:off x="777240" y="2574401"/>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574401"/>
            <a:ext cx="36576" cy="374355"/>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656697"/>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does not have a host assigned</a:t>
            </a:r>
          </a:p>
        </p:txBody>
      </p:sp>
      <p:sp>
        <p:nvSpPr>
          <p:cNvPr id="14" name="TextBox 13"/>
          <p:cNvSpPr txBox="1"/>
          <p:nvPr/>
        </p:nvSpPr>
        <p:spPr>
          <a:xfrm>
            <a:off x="5649163" y="2656697"/>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Q1 · the unscheduled-Pod log error. Stop asking for logs</a:t>
            </a:r>
          </a:p>
        </p:txBody>
      </p:sp>
      <p:sp>
        <p:nvSpPr>
          <p:cNvPr id="15" name="Rectangle 14"/>
          <p:cNvSpPr/>
          <p:nvPr/>
        </p:nvSpPr>
        <p:spPr>
          <a:xfrm>
            <a:off x="777240" y="2948757"/>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2948757"/>
            <a:ext cx="36576" cy="374355"/>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031053"/>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ErrImagePull / ImagePullBackOff</a:t>
            </a:r>
          </a:p>
        </p:txBody>
      </p:sp>
      <p:sp>
        <p:nvSpPr>
          <p:cNvPr id="18" name="TextBox 17"/>
          <p:cNvSpPr txBox="1"/>
          <p:nvPr/>
        </p:nvSpPr>
        <p:spPr>
          <a:xfrm>
            <a:off x="5649163" y="3031053"/>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Q2 · kubectl describe pod -&gt; the Failed event's message</a:t>
            </a:r>
          </a:p>
        </p:txBody>
      </p:sp>
      <p:sp>
        <p:nvSpPr>
          <p:cNvPr id="19" name="Rectangle 18"/>
          <p:cNvSpPr/>
          <p:nvPr/>
        </p:nvSpPr>
        <p:spPr>
          <a:xfrm>
            <a:off x="777240" y="3323112"/>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323112"/>
            <a:ext cx="36576" cy="374355"/>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405408"/>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waiting to start: trying and failing to pull image</a:t>
            </a:r>
          </a:p>
        </p:txBody>
      </p:sp>
      <p:sp>
        <p:nvSpPr>
          <p:cNvPr id="22" name="TextBox 21"/>
          <p:cNvSpPr txBox="1"/>
          <p:nvPr/>
        </p:nvSpPr>
        <p:spPr>
          <a:xfrm>
            <a:off x="5649163" y="3405408"/>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Q2 · the image-pull log error. Different string, different phase</a:t>
            </a:r>
          </a:p>
        </p:txBody>
      </p:sp>
      <p:sp>
        <p:nvSpPr>
          <p:cNvPr id="23" name="Rectangle 22"/>
          <p:cNvSpPr/>
          <p:nvPr/>
        </p:nvSpPr>
        <p:spPr>
          <a:xfrm>
            <a:off x="777240" y="3697467"/>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3697467"/>
            <a:ext cx="36576" cy="374355"/>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3779763"/>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CrashLoopBackOff, RESTARTS climbing</a:t>
            </a:r>
          </a:p>
        </p:txBody>
      </p:sp>
      <p:sp>
        <p:nvSpPr>
          <p:cNvPr id="26" name="TextBox 25"/>
          <p:cNvSpPr txBox="1"/>
          <p:nvPr/>
        </p:nvSpPr>
        <p:spPr>
          <a:xfrm>
            <a:off x="5649163" y="3779763"/>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Q3 · kubectl logs --previous, then lastState.terminated.exitCode</a:t>
            </a:r>
          </a:p>
        </p:txBody>
      </p:sp>
      <p:sp>
        <p:nvSpPr>
          <p:cNvPr id="27" name="Rectangle 26"/>
          <p:cNvSpPr/>
          <p:nvPr/>
        </p:nvSpPr>
        <p:spPr>
          <a:xfrm>
            <a:off x="777240" y="4071823"/>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071823"/>
            <a:ext cx="36576" cy="374355"/>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4154119"/>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Warning Unhealthy + Normal Killing</a:t>
            </a:r>
          </a:p>
        </p:txBody>
      </p:sp>
      <p:sp>
        <p:nvSpPr>
          <p:cNvPr id="30" name="TextBox 29"/>
          <p:cNvSpPr txBox="1"/>
          <p:nvPr/>
        </p:nvSpPr>
        <p:spPr>
          <a:xfrm>
            <a:off x="5649163" y="4154119"/>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Q3 · liveness-induced restart. Compare the probe budget with boot time</a:t>
            </a:r>
          </a:p>
        </p:txBody>
      </p:sp>
      <p:sp>
        <p:nvSpPr>
          <p:cNvPr id="31" name="Rectangle 30"/>
          <p:cNvSpPr/>
          <p:nvPr/>
        </p:nvSpPr>
        <p:spPr>
          <a:xfrm>
            <a:off x="777240" y="4446178"/>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777240" y="4446178"/>
            <a:ext cx="36576" cy="374355"/>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941832" y="4528474"/>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0/1 Running, RESTARTS 0</a:t>
            </a:r>
          </a:p>
        </p:txBody>
      </p:sp>
      <p:sp>
        <p:nvSpPr>
          <p:cNvPr id="34" name="TextBox 33"/>
          <p:cNvSpPr txBox="1"/>
          <p:nvPr/>
        </p:nvSpPr>
        <p:spPr>
          <a:xfrm>
            <a:off x="5649163" y="4528474"/>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Q4 · readiness failing. describe pod -&gt; Warning Unhealthy</a:t>
            </a:r>
          </a:p>
        </p:txBody>
      </p:sp>
      <p:sp>
        <p:nvSpPr>
          <p:cNvPr id="35" name="Rectangle 34"/>
          <p:cNvSpPr/>
          <p:nvPr/>
        </p:nvSpPr>
        <p:spPr>
          <a:xfrm>
            <a:off x="777240" y="4820533"/>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777240" y="4820533"/>
            <a:ext cx="36576" cy="374355"/>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941832" y="4902829"/>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ENDPOINTS &lt;unset&gt;, connection refused</a:t>
            </a:r>
          </a:p>
        </p:txBody>
      </p:sp>
      <p:sp>
        <p:nvSpPr>
          <p:cNvPr id="38" name="TextBox 37"/>
          <p:cNvSpPr txBox="1"/>
          <p:nvPr/>
        </p:nvSpPr>
        <p:spPr>
          <a:xfrm>
            <a:off x="5649163" y="4902829"/>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Q5 · compare svc .spec.selector with the Pod labels</a:t>
            </a:r>
          </a:p>
        </p:txBody>
      </p:sp>
      <p:sp>
        <p:nvSpPr>
          <p:cNvPr id="39" name="Rectangle 38"/>
          <p:cNvSpPr/>
          <p:nvPr/>
        </p:nvSpPr>
        <p:spPr>
          <a:xfrm>
            <a:off x="777240" y="5194889"/>
            <a:ext cx="10698480" cy="374355"/>
          </a:xfrm>
          <a:prstGeom prst="rect">
            <a:avLst/>
          </a:prstGeom>
          <a:solidFill>
            <a:srgbClr val="FFFFFF"/>
          </a:solidFill>
          <a:ln w="9525">
            <a:solidFill>
              <a:srgbClr val="E2E8F0"/>
            </a:solidFill>
          </a:ln>
          <a:effectLst/>
        </p:spPr>
        <p:txBody>
          <a:bodyPr rtlCol="0" anchor="ctr" wrap="square"/>
          <a:lstStyle/>
          <a:p>
            <a:pPr algn="ctr"/>
          </a:p>
        </p:txBody>
      </p:sp>
      <p:sp>
        <p:nvSpPr>
          <p:cNvPr id="40" name="Rectangle 39"/>
          <p:cNvSpPr/>
          <p:nvPr/>
        </p:nvSpPr>
        <p:spPr>
          <a:xfrm>
            <a:off x="777240" y="5194889"/>
            <a:ext cx="36576" cy="374355"/>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941832" y="5277185"/>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Request times out (not refused)</a:t>
            </a:r>
          </a:p>
        </p:txBody>
      </p:sp>
      <p:sp>
        <p:nvSpPr>
          <p:cNvPr id="42" name="TextBox 41"/>
          <p:cNvSpPr txBox="1"/>
          <p:nvPr/>
        </p:nvSpPr>
        <p:spPr>
          <a:xfrm>
            <a:off x="5649163" y="5277185"/>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Past Q5 · suspect NetworkPolicy or a missing route, not endpoints</a:t>
            </a:r>
          </a:p>
        </p:txBody>
      </p:sp>
      <p:sp>
        <p:nvSpPr>
          <p:cNvPr id="43" name="Rectangle 42"/>
          <p:cNvSpPr/>
          <p:nvPr/>
        </p:nvSpPr>
        <p:spPr>
          <a:xfrm>
            <a:off x="777240" y="5569244"/>
            <a:ext cx="10698480" cy="374355"/>
          </a:xfrm>
          <a:prstGeom prst="rect">
            <a:avLst/>
          </a:prstGeom>
          <a:solidFill>
            <a:srgbClr val="F6F8FA"/>
          </a:solidFill>
          <a:ln w="9525">
            <a:solidFill>
              <a:srgbClr val="E2E8F0"/>
            </a:solidFill>
          </a:ln>
          <a:effectLst/>
        </p:spPr>
        <p:txBody>
          <a:bodyPr rtlCol="0" anchor="ctr" wrap="square"/>
          <a:lstStyle/>
          <a:p>
            <a:pPr algn="ctr"/>
          </a:p>
        </p:txBody>
      </p:sp>
      <p:sp>
        <p:nvSpPr>
          <p:cNvPr id="44" name="Rectangle 43"/>
          <p:cNvSpPr/>
          <p:nvPr/>
        </p:nvSpPr>
        <p:spPr>
          <a:xfrm>
            <a:off x="777240" y="5569244"/>
            <a:ext cx="36576" cy="374355"/>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941832" y="5651540"/>
            <a:ext cx="4493361" cy="209763"/>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Pending with NO FailedScheduling event at all</a:t>
            </a:r>
          </a:p>
        </p:txBody>
      </p:sp>
      <p:sp>
        <p:nvSpPr>
          <p:cNvPr id="46" name="TextBox 45"/>
          <p:cNvSpPr txBox="1"/>
          <p:nvPr/>
        </p:nvSpPr>
        <p:spPr>
          <a:xfrm>
            <a:off x="5649163" y="5651540"/>
            <a:ext cx="5563209" cy="209763"/>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Control plane · nothing is evaluating the Pod. Suspect the scheduler</a:t>
            </a:r>
          </a:p>
        </p:txBody>
      </p:sp>
      <p:sp>
        <p:nvSpPr>
          <p:cNvPr id="47" name="TextBox 4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48" name="TextBox 4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49" name="TextBox 4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0" name="TextBox 4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533</a:t>
            </a:r>
          </a:p>
        </p:txBody>
      </p:sp>
    </p:spTree>
  </p:cSld>
  <p:clrMapOvr>
    <a:masterClrMapping/>
  </p:clrMapOvr>
  <p:transition xmlns:ns1="http://schemas.openxmlformats.org/markup-compatibility/2006" spd="fast" ns1:Ignorable="p14">
    <p:fade/>
  </p:transition>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One Command Localises Four Failures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Before any describe, any logs, any guessing — read the table.</a:t>
            </a:r>
          </a:p>
        </p:txBody>
      </p:sp>
      <p:sp>
        <p:nvSpPr>
          <p:cNvPr id="7" name="Rectangle 6"/>
          <p:cNvSpPr/>
          <p:nvPr/>
        </p:nvSpPr>
        <p:spPr>
          <a:xfrm>
            <a:off x="777240" y="2200046"/>
            <a:ext cx="6903720" cy="3191256"/>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25 · four broken workloads, one snapshot</a:t>
            </a:r>
          </a:p>
        </p:txBody>
      </p:sp>
      <p:sp>
        <p:nvSpPr>
          <p:cNvPr id="9" name="TextBox 8"/>
          <p:cNvSpPr txBox="1"/>
          <p:nvPr/>
        </p:nvSpPr>
        <p:spPr>
          <a:xfrm>
            <a:off x="923544" y="2620670"/>
            <a:ext cx="6611112" cy="2624327"/>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get pods -n kcna-lab25 -o wide</a:t>
            </a:r>
          </a:p>
          <a:p>
            <a:pPr>
              <a:lnSpc>
                <a:spcPts val="1476"/>
              </a:lnSpc>
              <a:spcAft>
                <a:spcPts val="0"/>
              </a:spcAft>
            </a:pPr>
            <a:r>
              <a:rPr sz="1000">
                <a:solidFill>
                  <a:srgbClr val="E6EDF3"/>
                </a:solidFill>
                <a:latin typeface="Consolas"/>
              </a:rPr>
              <a:t>NAME                     READY  STATUS            RESTARTS   NODE</a:t>
            </a:r>
          </a:p>
          <a:p>
            <a:pPr>
              <a:lnSpc>
                <a:spcPts val="1476"/>
              </a:lnSpc>
              <a:spcAft>
                <a:spcPts val="0"/>
              </a:spcAft>
            </a:pPr>
            <a:r>
              <a:rPr sz="1000">
                <a:solidFill>
                  <a:srgbClr val="E6EDF3"/>
                </a:solidFill>
                <a:latin typeface="Consolas"/>
              </a:rPr>
              <a:t>depot-api-7d4b9c6f85     0/1    ImagePullBackOff  0          kind-cp</a:t>
            </a:r>
          </a:p>
          <a:p>
            <a:pPr>
              <a:lnSpc>
                <a:spcPts val="1476"/>
              </a:lnSpc>
              <a:spcAft>
                <a:spcPts val="0"/>
              </a:spcAft>
            </a:pPr>
            <a:r>
              <a:rPr sz="1000">
                <a:solidFill>
                  <a:srgbClr val="E6EDF3"/>
                </a:solidFill>
                <a:latin typeface="Consolas"/>
              </a:rPr>
              <a:t>depot-portal-6f9c8d7b54  1/1    Running           0          kind-cp</a:t>
            </a:r>
          </a:p>
          <a:p>
            <a:pPr>
              <a:lnSpc>
                <a:spcPts val="1476"/>
              </a:lnSpc>
              <a:spcAft>
                <a:spcPts val="0"/>
              </a:spcAft>
            </a:pPr>
            <a:r>
              <a:rPr sz="1000">
                <a:solidFill>
                  <a:srgbClr val="E6EDF3"/>
                </a:solidFill>
                <a:latin typeface="Consolas"/>
              </a:rPr>
              <a:t>depot-tracker-5c8f7b9d64 1/1    Running           0          kind-cp</a:t>
            </a:r>
          </a:p>
          <a:p>
            <a:pPr>
              <a:lnSpc>
                <a:spcPts val="1476"/>
              </a:lnSpc>
              <a:spcAft>
                <a:spcPts val="0"/>
              </a:spcAft>
            </a:pPr>
            <a:r>
              <a:rPr sz="1000">
                <a:solidFill>
                  <a:srgbClr val="E6EDF3"/>
                </a:solidFill>
                <a:latin typeface="Consolas"/>
              </a:rPr>
              <a:t>depot-tracker-5c8f7b9d64 1/1    Running           0          kind-cp</a:t>
            </a:r>
          </a:p>
          <a:p>
            <a:pPr>
              <a:lnSpc>
                <a:spcPts val="1476"/>
              </a:lnSpc>
              <a:spcAft>
                <a:spcPts val="0"/>
              </a:spcAft>
            </a:pPr>
            <a:r>
              <a:rPr sz="1000">
                <a:solidFill>
                  <a:srgbClr val="E6EDF3"/>
                </a:solidFill>
                <a:latin typeface="Consolas"/>
              </a:rPr>
              <a:t>manifest-indexer-8b7d5c  0/1    Pending           0          &lt;none&gt;</a:t>
            </a:r>
          </a:p>
          <a:p>
            <a:pPr>
              <a:lnSpc>
                <a:spcPts val="1476"/>
              </a:lnSpc>
              <a:spcAft>
                <a:spcPts val="0"/>
              </a:spcAft>
            </a:pPr>
            <a:r>
              <a:rPr sz="1000">
                <a:solidFill>
                  <a:srgbClr val="E6EDF3"/>
                </a:solidFill>
                <a:latin typeface="Consolas"/>
              </a:rPr>
              <a:t>shipment-worker-59d4c8b7  0/1   CrashLoopBackOff  4 (21s)    kind-cp</a:t>
            </a:r>
          </a:p>
          <a:p>
            <a:pPr>
              <a:lnSpc>
                <a:spcPts val="1476"/>
              </a:lnSpc>
              <a:spcAft>
                <a:spcPts val="0"/>
              </a:spcAft>
            </a:pPr>
            <a:r>
              <a:rPr sz="1000">
                <a:solidFill>
                  <a:srgbClr val="E6EDF3"/>
                </a:solidFill>
                <a:latin typeface="Consolas"/>
              </a:rPr>
              <a:t>triage-client            1/1    Running           0          kind-cp</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get endpointslices -n kcna-lab25</a:t>
            </a:r>
          </a:p>
          <a:p>
            <a:pPr>
              <a:lnSpc>
                <a:spcPts val="1476"/>
              </a:lnSpc>
              <a:spcAft>
                <a:spcPts val="0"/>
              </a:spcAft>
            </a:pPr>
            <a:r>
              <a:rPr sz="1000">
                <a:solidFill>
                  <a:srgbClr val="E6EDF3"/>
                </a:solidFill>
                <a:latin typeface="Consolas"/>
              </a:rPr>
              <a:t>NAME                 ADDRESSTYPE  PORTS    ENDPOINTS</a:t>
            </a:r>
          </a:p>
          <a:p>
            <a:pPr>
              <a:lnSpc>
                <a:spcPts val="1476"/>
              </a:lnSpc>
              <a:spcAft>
                <a:spcPts val="0"/>
              </a:spcAft>
            </a:pPr>
            <a:r>
              <a:rPr sz="1000">
                <a:solidFill>
                  <a:srgbClr val="E6EDF3"/>
                </a:solidFill>
                <a:latin typeface="Consolas"/>
              </a:rPr>
              <a:t>depot-portal-4bp7q   IPv4         80       10.244.0.21,10.244.0.22</a:t>
            </a:r>
          </a:p>
          <a:p>
            <a:pPr>
              <a:lnSpc>
                <a:spcPts val="1476"/>
              </a:lnSpc>
              <a:spcAft>
                <a:spcPts val="0"/>
              </a:spcAft>
            </a:pPr>
            <a:r>
              <a:rPr sz="1000">
                <a:solidFill>
                  <a:srgbClr val="E6EDF3"/>
                </a:solidFill>
                <a:latin typeface="Consolas"/>
              </a:rPr>
              <a:t>depot-tracker-9xz4k  IPv4         &lt;unset&gt;  &lt;unset&gt;</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NODE &lt;none&gt; answers Q1 instantly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manifest-indexer never reached a node. Its failure is scheduling, and no amount of log reading will help.</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RESTARTS separates Q2 from Q3</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shipment-worker has restarted four times, so the image obviously pulled. depot-api has zero restarts and never started.</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1/1 Running is not 'working'</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Both depot-tracker Pods are green. The failure is one layer out, at the Service — which is why Q5 exists.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&lt;unset&gt; endpoints is the answer</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Compare against depot-portal's two addresses. A silent failure: no events, no restarts, no logs anywhere.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534</a:t>
            </a:r>
          </a:p>
        </p:txBody>
      </p:sp>
    </p:spTree>
  </p:cSld>
  <p:clrMapOvr>
    <a:masterClrMapping/>
  </p:clrMapOvr>
  <p:transition xmlns:ns1="http://schemas.openxmlformats.org/markup-compatibility/2006" spd="fast" ns1:Ignorable="p14">
    <p:fade/>
  </p:transition>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Q1 — Did The Scheduler Place It?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scheduler decides on REQUESTS, not on live usage — a 5% busy node can still be fully committed.</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kubectl get pod -o wide show a NODE?</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it was scheduled</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Containers exist; move to Q2 (image) then Q3 (start)</a:t>
            </a:r>
          </a:p>
          <a:p>
            <a:pPr>
              <a:lnSpc>
                <a:spcPct val="112000"/>
              </a:lnSpc>
              <a:spcAft>
                <a:spcPts val="500"/>
              </a:spcAft>
            </a:pPr>
            <a:r>
              <a:rPr sz="1100">
                <a:solidFill>
                  <a:srgbClr val="94A3B8"/>
                </a:solidFill>
                <a:latin typeface="Arial"/>
              </a:rPr>
              <a:t>•  </a:t>
            </a:r>
            <a:r>
              <a:rPr sz="1100">
                <a:solidFill>
                  <a:srgbClr val="5B6372"/>
                </a:solidFill>
                <a:latin typeface="Arial"/>
              </a:rPr>
              <a:t>describe pod events now come from the kubelet, not the scheduler</a:t>
            </a:r>
          </a:p>
          <a:p>
            <a:pPr>
              <a:lnSpc>
                <a:spcPct val="112000"/>
              </a:lnSpc>
              <a:spcAft>
                <a:spcPts val="500"/>
              </a:spcAft>
            </a:pPr>
            <a:r>
              <a:rPr sz="1100">
                <a:solidFill>
                  <a:srgbClr val="94A3B8"/>
                </a:solidFill>
                <a:latin typeface="Arial"/>
              </a:rPr>
              <a:t>•  </a:t>
            </a:r>
            <a:r>
              <a:rPr sz="1100">
                <a:solidFill>
                  <a:srgbClr val="5B6372"/>
                </a:solidFill>
                <a:latin typeface="Arial"/>
              </a:rPr>
              <a:t>Logs become meaningful from Q3 onward</a:t>
            </a:r>
          </a:p>
          <a:p>
            <a:pPr>
              <a:lnSpc>
                <a:spcPct val="112000"/>
              </a:lnSpc>
              <a:spcAft>
                <a:spcPts val="500"/>
              </a:spcAft>
            </a:pPr>
            <a:r>
              <a:rPr sz="1100">
                <a:solidFill>
                  <a:srgbClr val="94A3B8"/>
                </a:solidFill>
                <a:latin typeface="Arial"/>
              </a:rPr>
              <a:t>•  </a:t>
            </a:r>
            <a:r>
              <a:rPr sz="1100">
                <a:solidFill>
                  <a:srgbClr val="5B6372"/>
                </a:solidFill>
                <a:latin typeface="Arial"/>
              </a:rPr>
              <a:t>Restart counts are a reliable phase signal</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STATUS Pending</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scheduler refused: read Warning FailedScheduling</a:t>
            </a:r>
          </a:p>
          <a:p>
            <a:pPr>
              <a:lnSpc>
                <a:spcPct val="112000"/>
              </a:lnSpc>
              <a:spcAft>
                <a:spcPts val="500"/>
              </a:spcAft>
            </a:pPr>
            <a:r>
              <a:rPr sz="1100">
                <a:solidFill>
                  <a:srgbClr val="94A3B8"/>
                </a:solidFill>
                <a:latin typeface="Arial"/>
              </a:rPr>
              <a:t>•  </a:t>
            </a:r>
            <a:r>
              <a:rPr sz="1100">
                <a:solidFill>
                  <a:srgbClr val="5B6372"/>
                </a:solidFill>
                <a:latin typeface="Arial"/>
              </a:rPr>
              <a:t>Insufficient cpu/memory · untolerated taint · affinity mismatch</a:t>
            </a:r>
          </a:p>
          <a:p>
            <a:pPr>
              <a:lnSpc>
                <a:spcPct val="112000"/>
              </a:lnSpc>
              <a:spcAft>
                <a:spcPts val="500"/>
              </a:spcAft>
            </a:pPr>
            <a:r>
              <a:rPr sz="1100">
                <a:solidFill>
                  <a:srgbClr val="94A3B8"/>
                </a:solidFill>
                <a:latin typeface="Arial"/>
              </a:rPr>
              <a:t>•  </a:t>
            </a:r>
            <a:r>
              <a:rPr sz="1100">
                <a:solidFill>
                  <a:srgbClr val="5B6372"/>
                </a:solidFill>
                <a:latin typeface="Arial"/>
              </a:rPr>
              <a:t>No matching PersistentVolume for a pending claim</a:t>
            </a:r>
          </a:p>
          <a:p>
            <a:pPr>
              <a:lnSpc>
                <a:spcPct val="112000"/>
              </a:lnSpc>
              <a:spcAft>
                <a:spcPts val="500"/>
              </a:spcAft>
            </a:pPr>
            <a:r>
              <a:rPr sz="1100">
                <a:solidFill>
                  <a:srgbClr val="94A3B8"/>
                </a:solidFill>
                <a:latin typeface="Arial"/>
              </a:rPr>
              <a:t>•  </a:t>
            </a:r>
            <a:r>
              <a:rPr sz="1100">
                <a:solidFill>
                  <a:srgbClr val="5B6372"/>
                </a:solidFill>
                <a:latin typeface="Arial"/>
              </a:rPr>
              <a:t>No FailedScheduling event AT ALL = suspect the scheduler itself</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535</a:t>
            </a:r>
          </a:p>
        </p:txBody>
      </p:sp>
    </p:spTree>
  </p:cSld>
  <p:clrMapOvr>
    <a:masterClrMapping/>
  </p:clrMapOvr>
  <p:transition xmlns:ns3="http://schemas.openxmlformats.org/markup-compatibility/2006" spd="fast" ns3:Ignorable="p14">
    <p:fade/>
  </p:transition>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The Scheduler's Verdict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Same STATUS, at least five distinct causes. The event message is what separates them.</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Lab 25 · DEP-1043 · Pending</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describe pod -n kcna-lab25 -l app=manifest-indexer | tail -4</a:t>
            </a:r>
          </a:p>
          <a:p>
            <a:pPr>
              <a:lnSpc>
                <a:spcPts val="1413"/>
              </a:lnSpc>
              <a:spcAft>
                <a:spcPts val="0"/>
              </a:spcAft>
            </a:pPr>
            <a:r>
              <a:rPr sz="1000">
                <a:solidFill>
                  <a:srgbClr val="E6EDF3"/>
                </a:solidFill>
                <a:latin typeface="Consolas"/>
              </a:rPr>
              <a:t>Events:</a:t>
            </a:r>
          </a:p>
          <a:p>
            <a:pPr>
              <a:lnSpc>
                <a:spcPts val="1413"/>
              </a:lnSpc>
              <a:spcAft>
                <a:spcPts val="0"/>
              </a:spcAft>
            </a:pPr>
            <a:r>
              <a:rPr sz="1000">
                <a:solidFill>
                  <a:srgbClr val="E6EDF3"/>
                </a:solidFill>
                <a:latin typeface="Consolas"/>
              </a:rPr>
              <a:t>  Type     Reason            Age    From               Message</a:t>
            </a:r>
          </a:p>
          <a:p>
            <a:pPr>
              <a:lnSpc>
                <a:spcPts val="1413"/>
              </a:lnSpc>
              <a:spcAft>
                <a:spcPts val="0"/>
              </a:spcAft>
            </a:pPr>
            <a:r>
              <a:rPr sz="1000">
                <a:solidFill>
                  <a:srgbClr val="E6EDF3"/>
                </a:solidFill>
                <a:latin typeface="Consolas"/>
              </a:rPr>
              <a:t>  Warning  FailedScheduling  4m5s   default-scheduler  0/1 nodes are</a:t>
            </a:r>
          </a:p>
          <a:p>
            <a:pPr>
              <a:lnSpc>
                <a:spcPts val="1413"/>
              </a:lnSpc>
              <a:spcAft>
                <a:spcPts val="0"/>
              </a:spcAft>
            </a:pPr>
            <a:r>
              <a:rPr sz="1000">
                <a:solidFill>
                  <a:srgbClr val="E6EDF3"/>
                </a:solidFill>
                <a:latin typeface="Consolas"/>
              </a:rPr>
              <a:t>    available: 1 Insufficient cpu, 1 Insufficient memory.</a:t>
            </a:r>
          </a:p>
          <a:p>
            <a:pPr>
              <a:lnSpc>
                <a:spcPts val="1413"/>
              </a:lnSpc>
              <a:spcAft>
                <a:spcPts val="0"/>
              </a:spcAft>
            </a:pPr>
            <a:r>
              <a:rPr sz="1000">
                <a:solidFill>
                  <a:srgbClr val="E6EDF3"/>
                </a:solidFill>
                <a:latin typeface="Consolas"/>
              </a:rPr>
              <a:t>    preemption: 0/1 nodes are available: 1 No preemption victims</a:t>
            </a:r>
          </a:p>
          <a:p>
            <a:pPr>
              <a:lnSpc>
                <a:spcPts val="1413"/>
              </a:lnSpc>
              <a:spcAft>
                <a:spcPts val="0"/>
              </a:spcAft>
            </a:pPr>
            <a:r>
              <a:rPr sz="1000">
                <a:solidFill>
                  <a:srgbClr val="E6EDF3"/>
                </a:solidFill>
                <a:latin typeface="Consolas"/>
              </a:rPr>
              <a:t>    found for incoming pod.</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get deploy manifest-indexer -o jsonpath=\</a:t>
            </a:r>
          </a:p>
          <a:p>
            <a:pPr>
              <a:lnSpc>
                <a:spcPts val="1413"/>
              </a:lnSpc>
              <a:spcAft>
                <a:spcPts val="0"/>
              </a:spcAft>
            </a:pPr>
            <a:r>
              <a:rPr sz="1000">
                <a:solidFill>
                  <a:srgbClr val="E6EDF3"/>
                </a:solidFill>
                <a:latin typeface="Consolas"/>
              </a:rPr>
              <a:t>  '{.spec.template.spec.containers[0].resources.requests}'</a:t>
            </a:r>
          </a:p>
          <a:p>
            <a:pPr>
              <a:lnSpc>
                <a:spcPts val="1413"/>
              </a:lnSpc>
              <a:spcAft>
                <a:spcPts val="0"/>
              </a:spcAft>
            </a:pPr>
            <a:r>
              <a:rPr sz="1000">
                <a:solidFill>
                  <a:srgbClr val="E6EDF3"/>
                </a:solidFill>
                <a:latin typeface="Consolas"/>
              </a:rPr>
              <a:t>{"cpu":"64","memory":"512Gi"}</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get node $NODE -o jsonpath='{.status.allocatable.cpu}'</a:t>
            </a:r>
          </a:p>
          <a:p>
            <a:pPr>
              <a:lnSpc>
                <a:spcPts val="1413"/>
              </a:lnSpc>
              <a:spcAft>
                <a:spcPts val="0"/>
              </a:spcAft>
            </a:pPr>
            <a:r>
              <a:rPr sz="1000">
                <a:solidFill>
                  <a:srgbClr val="E6EDF3"/>
                </a:solidFill>
                <a:latin typeface="Consolas"/>
              </a:rPr>
              <a:t>10</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logs -n kcna-lab25 -l app=manifest-indexer</a:t>
            </a:r>
          </a:p>
          <a:p>
            <a:pPr>
              <a:lnSpc>
                <a:spcPts val="1413"/>
              </a:lnSpc>
              <a:spcAft>
                <a:spcPts val="0"/>
              </a:spcAft>
            </a:pPr>
            <a:r>
              <a:rPr sz="1000">
                <a:solidFill>
                  <a:srgbClr val="E6EDF3"/>
                </a:solidFill>
                <a:latin typeface="Consolas"/>
              </a:rPr>
              <a:t>Error from server (BadRequest): pod manifest-indexer-... does not</a:t>
            </a:r>
          </a:p>
          <a:p>
            <a:pPr>
              <a:lnSpc>
                <a:spcPts val="1413"/>
              </a:lnSpc>
              <a:spcAft>
                <a:spcPts val="0"/>
              </a:spcAft>
            </a:pPr>
            <a:r>
              <a:rPr sz="1000">
                <a:solidFill>
                  <a:srgbClr val="E6EDF3"/>
                </a:solidFill>
                <a:latin typeface="Consolas"/>
              </a:rPr>
              <a:t>have a host assigned</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0/1 nodes are available, read literally</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is a per-node tally of reasons. On a large cluster the breakdown tells you how much of it each predicate ruled out.</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five common predicates</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Insufficient cpu/memory · untolerated taint · didn't match node affinity/selector · volume node affinity conflict · no free PV.</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Then do the arithmetic</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64 cores and 512Gi requested against 10 allocatable cores. Requests, not usage, are what the scheduler compares.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log error is phase evidence</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does not have a host assigned is the unscheduled signature — different from the image-pull Pod's waiting to start message.</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536</a:t>
            </a:r>
          </a:p>
        </p:txBody>
      </p:sp>
    </p:spTree>
  </p:cSld>
  <p:clrMapOvr>
    <a:masterClrMapping/>
  </p:clrMapOvr>
  <p:transition xmlns:ns1="http://schemas.openxmlformats.org/markup-compatibility/2006" spd="fast" ns1:Ignorable="p14">
    <p:fade/>
  </p:transition>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Q2 — Four Image-Pull Signatures, Four Different Fixes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 one of these produces the same ImagePullBackOff status. Only the message distinguishes them.</a:t>
            </a:r>
          </a:p>
        </p:txBody>
      </p:sp>
      <p:sp>
        <p:nvSpPr>
          <p:cNvPr id="7" name="Rectangle 6"/>
          <p:cNvSpPr/>
          <p:nvPr/>
        </p:nvSpPr>
        <p:spPr>
          <a:xfrm>
            <a:off x="777240"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28940"/>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49924"/>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not found / manifest unknown</a:t>
            </a:r>
          </a:p>
        </p:txBody>
      </p:sp>
      <p:sp>
        <p:nvSpPr>
          <p:cNvPr id="11" name="TextBox 10"/>
          <p:cNvSpPr txBox="1"/>
          <p:nvPr/>
        </p:nvSpPr>
        <p:spPr>
          <a:xfrm>
            <a:off x="1399032" y="2657246"/>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repository, name or tag is wrong. Compare against a known-good Deployment: the diff is the bug.</a:t>
            </a:r>
          </a:p>
        </p:txBody>
      </p:sp>
      <p:sp>
        <p:nvSpPr>
          <p:cNvPr id="12" name="Rectangle 11"/>
          <p:cNvSpPr/>
          <p:nvPr/>
        </p:nvSpPr>
        <p:spPr>
          <a:xfrm>
            <a:off x="4392167"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28940"/>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49924"/>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412496"/>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unauthorized / authentication required</a:t>
            </a:r>
          </a:p>
        </p:txBody>
      </p:sp>
      <p:sp>
        <p:nvSpPr>
          <p:cNvPr id="16" name="TextBox 15"/>
          <p:cNvSpPr txBox="1"/>
          <p:nvPr/>
        </p:nvSpPr>
        <p:spPr>
          <a:xfrm>
            <a:off x="5013959" y="2795422"/>
            <a:ext cx="2645664" cy="560412"/>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Private registry with no credentials. Create an imagePullSecret and reference it in the Pod spec.</a:t>
            </a:r>
          </a:p>
        </p:txBody>
      </p:sp>
      <p:sp>
        <p:nvSpPr>
          <p:cNvPr id="17" name="Rectangle 16"/>
          <p:cNvSpPr/>
          <p:nvPr/>
        </p:nvSpPr>
        <p:spPr>
          <a:xfrm>
            <a:off x="8007095"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28940"/>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49924"/>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no such host / i/o timeout</a:t>
            </a:r>
          </a:p>
        </p:txBody>
      </p:sp>
      <p:sp>
        <p:nvSpPr>
          <p:cNvPr id="21" name="TextBox 20"/>
          <p:cNvSpPr txBox="1"/>
          <p:nvPr/>
        </p:nvSpPr>
        <p:spPr>
          <a:xfrm>
            <a:off x="8628888" y="2657246"/>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registry is unreachable FROM THE NODE. Network, DNS, egress proxy or firewall — not a manifest bug.</a:t>
            </a:r>
          </a:p>
        </p:txBody>
      </p:sp>
      <p:sp>
        <p:nvSpPr>
          <p:cNvPr id="22" name="Rectangle 21"/>
          <p:cNvSpPr/>
          <p:nvPr/>
        </p:nvSpPr>
        <p:spPr>
          <a:xfrm>
            <a:off x="777240" y="3575291"/>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75291"/>
            <a:ext cx="50292" cy="1263853"/>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42625"/>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toomanyrequests</a:t>
            </a:r>
          </a:p>
        </p:txBody>
      </p:sp>
      <p:sp>
        <p:nvSpPr>
          <p:cNvPr id="26" name="TextBox 25"/>
          <p:cNvSpPr txBox="1"/>
          <p:nvPr/>
        </p:nvSpPr>
        <p:spPr>
          <a:xfrm>
            <a:off x="1399032" y="4032491"/>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Registry rate limiting. Authenticate, or point at a mirror or pull-through cache.</a:t>
            </a:r>
          </a:p>
        </p:txBody>
      </p:sp>
      <p:sp>
        <p:nvSpPr>
          <p:cNvPr id="27" name="Rectangle 26"/>
          <p:cNvSpPr/>
          <p:nvPr/>
        </p:nvSpPr>
        <p:spPr>
          <a:xfrm>
            <a:off x="4392167" y="3575291"/>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75291"/>
            <a:ext cx="50292" cy="1263853"/>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42625"/>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Why there are no logs</a:t>
            </a:r>
          </a:p>
        </p:txBody>
      </p:sp>
      <p:sp>
        <p:nvSpPr>
          <p:cNvPr id="31" name="TextBox 30"/>
          <p:cNvSpPr txBox="1"/>
          <p:nvPr/>
        </p:nvSpPr>
        <p:spPr>
          <a:xfrm>
            <a:off x="5013959" y="4032491"/>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 image means no container means no log stream. Reporters read that as the fault; it is a consequence.</a:t>
            </a:r>
          </a:p>
        </p:txBody>
      </p:sp>
      <p:sp>
        <p:nvSpPr>
          <p:cNvPr id="32" name="Rectangle 31"/>
          <p:cNvSpPr/>
          <p:nvPr/>
        </p:nvSpPr>
        <p:spPr>
          <a:xfrm>
            <a:off x="8007095" y="3575291"/>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75291"/>
            <a:ext cx="50292" cy="1263853"/>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42625"/>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imagePullPolicy matters</a:t>
            </a:r>
          </a:p>
        </p:txBody>
      </p:sp>
      <p:sp>
        <p:nvSpPr>
          <p:cNvPr id="36" name="TextBox 35"/>
          <p:cNvSpPr txBox="1"/>
          <p:nvPr/>
        </p:nvSpPr>
        <p:spPr>
          <a:xfrm>
            <a:off x="8628888" y="4032491"/>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Always re-pulls every start; IfNotPresent trusts the node cache. A mutable tag plus IfNotPresent hides which build is actually running.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537</a:t>
            </a:r>
          </a:p>
        </p:txBody>
      </p:sp>
    </p:spTree>
  </p:cSld>
  <p:clrMapOvr>
    <a:masterClrMapping/>
  </p:clrMapOvr>
  <p:transition xmlns:ns1="http://schemas.openxmlformats.org/markup-compatibility/2006" spd="fast" ns1:Ignorable="p14">
    <p:fade/>
  </p:transition>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Q3 — CrashLoopBackOff Diagnosed With --previous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event sequence rules out Q2 before you read a single log line.</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shipment-worker restarts endlessly. It prints one line and vanishes; the restart count is climbing.</a:t>
            </a:r>
          </a:p>
        </p:txBody>
      </p:sp>
      <p:sp>
        <p:nvSpPr>
          <p:cNvPr id="11" name="Rectangle 10"/>
          <p:cNvSpPr/>
          <p:nvPr/>
        </p:nvSpPr>
        <p:spPr>
          <a:xfrm>
            <a:off x="777240" y="2913278"/>
            <a:ext cx="6172200" cy="2816352"/>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249424"/>
          </a:xfrm>
          <a:prstGeom prst="rect">
            <a:avLst/>
          </a:prstGeom>
          <a:noFill/>
        </p:spPr>
        <p:txBody>
          <a:bodyPr wrap="none" lIns="0" rIns="0" tIns="0" bIns="0">
            <a:spAutoFit/>
          </a:bodyPr>
          <a:lstStyle/>
          <a:p>
            <a:pPr>
              <a:lnSpc>
                <a:spcPts val="1476"/>
              </a:lnSpc>
              <a:spcAft>
                <a:spcPts val="0"/>
              </a:spcAft>
            </a:pPr>
            <a:r>
              <a:rPr sz="950">
                <a:solidFill>
                  <a:srgbClr val="7EE787"/>
                </a:solidFill>
                <a:latin typeface="Consolas"/>
              </a:rPr>
              <a:t>$ kubectl describe pod -n kcna-lab25 -l app=shipment-worker | tail -5</a:t>
            </a:r>
          </a:p>
          <a:p>
            <a:pPr>
              <a:lnSpc>
                <a:spcPts val="1476"/>
              </a:lnSpc>
              <a:spcAft>
                <a:spcPts val="0"/>
              </a:spcAft>
            </a:pPr>
            <a:r>
              <a:rPr sz="950">
                <a:solidFill>
                  <a:srgbClr val="E6EDF3"/>
                </a:solidFill>
                <a:latin typeface="Consolas"/>
              </a:rPr>
              <a:t>  Normal   Pulled   94s (x5 over 3m7s)  kubelet  image already present</a:t>
            </a:r>
          </a:p>
          <a:p>
            <a:pPr>
              <a:lnSpc>
                <a:spcPts val="1476"/>
              </a:lnSpc>
              <a:spcAft>
                <a:spcPts val="0"/>
              </a:spcAft>
            </a:pPr>
            <a:r>
              <a:rPr sz="950">
                <a:solidFill>
                  <a:srgbClr val="E6EDF3"/>
                </a:solidFill>
                <a:latin typeface="Consolas"/>
              </a:rPr>
              <a:t>  Normal   Created  94s (x5 over 3m7s)  kubelet  Created container</a:t>
            </a:r>
          </a:p>
          <a:p>
            <a:pPr>
              <a:lnSpc>
                <a:spcPts val="1476"/>
              </a:lnSpc>
              <a:spcAft>
                <a:spcPts val="0"/>
              </a:spcAft>
            </a:pPr>
            <a:r>
              <a:rPr sz="950">
                <a:solidFill>
                  <a:srgbClr val="E6EDF3"/>
                </a:solidFill>
                <a:latin typeface="Consolas"/>
              </a:rPr>
              <a:t>  Normal   Started  94s (x5 over 3m7s)  kubelet  Started container</a:t>
            </a:r>
          </a:p>
          <a:p>
            <a:pPr>
              <a:lnSpc>
                <a:spcPts val="1476"/>
              </a:lnSpc>
              <a:spcAft>
                <a:spcPts val="0"/>
              </a:spcAft>
            </a:pPr>
            <a:r>
              <a:rPr sz="950">
                <a:solidFill>
                  <a:srgbClr val="E6EDF3"/>
                </a:solidFill>
                <a:latin typeface="Consolas"/>
              </a:rPr>
              <a:t>  Warning  BackOff  12s (x14 over 3m4s) kubelet  Back-off restarting</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logs -n kcna-lab25 -l app=shipment-worker --previous</a:t>
            </a:r>
          </a:p>
          <a:p>
            <a:pPr>
              <a:lnSpc>
                <a:spcPts val="1476"/>
              </a:lnSpc>
              <a:spcAft>
                <a:spcPts val="0"/>
              </a:spcAft>
            </a:pPr>
            <a:r>
              <a:rPr sz="950">
                <a:solidFill>
                  <a:srgbClr val="E6EDF3"/>
                </a:solidFill>
                <a:latin typeface="Consolas"/>
              </a:rPr>
              <a:t>[worker] starting shipment worker for depot sg-tuas</a:t>
            </a:r>
          </a:p>
          <a:p>
            <a:pPr>
              <a:lnSpc>
                <a:spcPts val="1476"/>
              </a:lnSpc>
              <a:spcAft>
                <a:spcPts val="0"/>
              </a:spcAft>
            </a:pPr>
            <a:r>
              <a:rPr sz="950">
                <a:solidFill>
                  <a:srgbClr val="E6EDF3"/>
                </a:solidFill>
                <a:latin typeface="Consolas"/>
              </a:rPr>
              <a:t>/bin/sh: /usr/local/bin/depot-shipment-worker: not found</a:t>
            </a:r>
          </a:p>
          <a:p>
            <a:pPr>
              <a:lnSpc>
                <a:spcPts val="1476"/>
              </a:lnSpc>
              <a:spcAft>
                <a:spcPts val="0"/>
              </a:spcAft>
            </a:pPr>
            <a:r>
              <a:rPr sz="950">
                <a:solidFill>
                  <a:srgbClr val="E6EDF3"/>
                </a:solidFill>
                <a:latin typeface="Consolas"/>
              </a:rPr>
              <a:t> </a:t>
            </a:r>
          </a:p>
          <a:p>
            <a:pPr>
              <a:lnSpc>
                <a:spcPts val="1476"/>
              </a:lnSpc>
              <a:spcAft>
                <a:spcPts val="0"/>
              </a:spcAft>
            </a:pPr>
            <a:r>
              <a:rPr sz="950">
                <a:solidFill>
                  <a:srgbClr val="7EE787"/>
                </a:solidFill>
                <a:latin typeface="Consolas"/>
              </a:rPr>
              <a:t>$ kubectl get pod $WORKER -o jsonpath='{...lastState.terminated}'</a:t>
            </a:r>
          </a:p>
          <a:p>
            <a:pPr>
              <a:lnSpc>
                <a:spcPts val="1476"/>
              </a:lnSpc>
              <a:spcAft>
                <a:spcPts val="0"/>
              </a:spcAft>
            </a:pPr>
            <a:r>
              <a:rPr sz="950">
                <a:solidFill>
                  <a:srgbClr val="E6EDF3"/>
                </a:solidFill>
                <a:latin typeface="Consolas"/>
              </a:rPr>
              <a:t>worker  lastState.exitCode=127  reason=Error</a:t>
            </a:r>
          </a:p>
        </p:txBody>
      </p:sp>
      <p:sp>
        <p:nvSpPr>
          <p:cNvPr id="14" name="Rectangle 13"/>
          <p:cNvSpPr/>
          <p:nvPr/>
        </p:nvSpPr>
        <p:spPr>
          <a:xfrm>
            <a:off x="7205472" y="291327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Pulled/Created/Started are all Normal</a:t>
            </a:r>
          </a:p>
          <a:p>
            <a:pPr>
              <a:lnSpc>
                <a:spcPct val="112000"/>
              </a:lnSpc>
              <a:spcAft>
                <a:spcPts val="200"/>
              </a:spcAft>
            </a:pPr>
            <a:r>
              <a:rPr sz="950">
                <a:solidFill>
                  <a:srgbClr val="94A3B8"/>
                </a:solidFill>
                <a:latin typeface="Arial"/>
              </a:rPr>
              <a:t>•  </a:t>
            </a:r>
            <a:r>
              <a:rPr sz="950">
                <a:solidFill>
                  <a:srgbClr val="5B6372"/>
                </a:solidFill>
                <a:latin typeface="Arial"/>
              </a:rPr>
              <a:t>So the image was fine and the container really ran</a:t>
            </a:r>
          </a:p>
          <a:p>
            <a:pPr>
              <a:lnSpc>
                <a:spcPct val="112000"/>
              </a:lnSpc>
              <a:spcAft>
                <a:spcPts val="200"/>
              </a:spcAft>
            </a:pPr>
            <a:r>
              <a:rPr sz="950">
                <a:solidFill>
                  <a:srgbClr val="94A3B8"/>
                </a:solidFill>
                <a:latin typeface="Arial"/>
              </a:rPr>
              <a:t>•  </a:t>
            </a:r>
            <a:r>
              <a:rPr sz="950">
                <a:solidFill>
                  <a:srgbClr val="5B6372"/>
                </a:solidFill>
                <a:latin typeface="Arial"/>
              </a:rPr>
              <a:t>Exit 127 = the shell could not find the command</a:t>
            </a:r>
          </a:p>
        </p:txBody>
      </p:sp>
      <p:sp>
        <p:nvSpPr>
          <p:cNvPr id="18" name="Rectangle 17"/>
          <p:cNvSpPr/>
          <p:nvPr/>
        </p:nvSpPr>
        <p:spPr>
          <a:xfrm>
            <a:off x="7205472" y="4057619"/>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57619"/>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094195"/>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05091"/>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Correct command/args to match the image contents</a:t>
            </a:r>
          </a:p>
          <a:p>
            <a:pPr>
              <a:lnSpc>
                <a:spcPct val="112000"/>
              </a:lnSpc>
              <a:spcAft>
                <a:spcPts val="200"/>
              </a:spcAft>
            </a:pPr>
            <a:r>
              <a:rPr sz="950">
                <a:solidFill>
                  <a:srgbClr val="94A3B8"/>
                </a:solidFill>
                <a:latin typeface="Arial"/>
              </a:rPr>
              <a:t>•  </a:t>
            </a:r>
            <a:r>
              <a:rPr sz="950">
                <a:solidFill>
                  <a:srgbClr val="5B6372"/>
                </a:solidFill>
                <a:latin typeface="Arial"/>
              </a:rPr>
              <a:t>Verify with a throwaway --rm Pod from the same image</a:t>
            </a:r>
          </a:p>
          <a:p>
            <a:pPr>
              <a:lnSpc>
                <a:spcPct val="112000"/>
              </a:lnSpc>
              <a:spcAft>
                <a:spcPts val="200"/>
              </a:spcAft>
            </a:pPr>
            <a:r>
              <a:rPr sz="950">
                <a:solidFill>
                  <a:srgbClr val="94A3B8"/>
                </a:solidFill>
                <a:latin typeface="Arial"/>
              </a:rPr>
              <a:t>•  </a:t>
            </a:r>
            <a:r>
              <a:rPr sz="950">
                <a:solidFill>
                  <a:srgbClr val="5B6372"/>
                </a:solidFill>
                <a:latin typeface="Arial"/>
              </a:rPr>
              <a:t>Back-off is exponential, capped at 5 minutes</a:t>
            </a:r>
          </a:p>
        </p:txBody>
      </p:sp>
      <p:sp>
        <p:nvSpPr>
          <p:cNvPr id="22" name="Rectangle 21"/>
          <p:cNvSpPr/>
          <p:nvPr/>
        </p:nvSpPr>
        <p:spPr>
          <a:xfrm>
            <a:off x="777240" y="5875934"/>
            <a:ext cx="6172200" cy="438912"/>
          </a:xfrm>
          <a:prstGeom prst="rect">
            <a:avLst/>
          </a:prstGeom>
          <a:solidFill>
            <a:srgbClr val="E8F7EE"/>
          </a:solidFill>
          <a:ln>
            <a:noFill/>
          </a:ln>
          <a:effectLst/>
        </p:spPr>
        <p:txBody>
          <a:bodyPr rtlCol="0" anchor="ctr" wrap="square"/>
          <a:lstStyle/>
          <a:p>
            <a:pPr algn="ctr"/>
          </a:p>
        </p:txBody>
      </p:sp>
      <p:sp>
        <p:nvSpPr>
          <p:cNvPr id="23" name="TextBox 22"/>
          <p:cNvSpPr txBox="1"/>
          <p:nvPr/>
        </p:nvSpPr>
        <p:spPr>
          <a:xfrm>
            <a:off x="941832" y="5985662"/>
            <a:ext cx="5843016" cy="256032"/>
          </a:xfrm>
          <a:prstGeom prst="rect">
            <a:avLst/>
          </a:prstGeom>
          <a:noFill/>
        </p:spPr>
        <p:txBody>
          <a:bodyPr wrap="square" lIns="0" rIns="0" tIns="0" bIns="0" anchor="t">
            <a:spAutoFit/>
          </a:bodyPr>
          <a:lstStyle/>
          <a:p>
            <a:pPr algn="l">
              <a:lnSpc>
                <a:spcPct val="100000"/>
              </a:lnSpc>
            </a:pPr>
            <a:r>
              <a:rPr sz="1000" b="1" i="0">
                <a:solidFill>
                  <a:srgbClr val="10B981"/>
                </a:solidFill>
                <a:latin typeface="Arial"/>
              </a:rPr>
              <a:t>✓  RESTARTS returns to 0 and the worker logs processed batches</a:t>
            </a:r>
          </a:p>
        </p:txBody>
      </p:sp>
      <p:sp>
        <p:nvSpPr>
          <p:cNvPr id="24" name="TextBox 2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5" name="TextBox 2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6" name="TextBox 2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7" name="TextBox 2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538</a:t>
            </a:r>
          </a:p>
        </p:txBody>
      </p:sp>
    </p:spTree>
  </p:cSld>
  <p:clrMapOvr>
    <a:masterClrMapping/>
  </p:clrMapOvr>
  <p:transition xmlns:ns1="http://schemas.openxmlformats.org/markup-compatibility/2006" spd="fast" ns1:Ignorable="p14">
    <p:fade/>
  </p:transition>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Container Exit Codes You Will Meet Constantly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exit code is what the kernel observed. The log is what the process chose to say.</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0 — clean exit</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process finished. For a long-running workload this usually means the wrong restartPolicy or an entrypoint that returns.</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1 — application error</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Generic failure. Bad config, missing environment variable, unreachable dependency. Read the log; it is the app's own message.</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127 — command not found</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command/args disagree with the image contents. Prove it with a throwaway Pod from the same image.</a:t>
            </a:r>
          </a:p>
        </p:txBody>
      </p:sp>
      <p:sp>
        <p:nvSpPr>
          <p:cNvPr id="22" name="Rectangle 21"/>
          <p:cNvSpPr/>
          <p:nvPr/>
        </p:nvSpPr>
        <p:spPr>
          <a:xfrm>
            <a:off x="777240"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3082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137 — SIGKILL (128 + 9)</a:t>
            </a:r>
          </a:p>
        </p:txBody>
      </p:sp>
      <p:sp>
        <p:nvSpPr>
          <p:cNvPr id="26" name="TextBox 25"/>
          <p:cNvSpPr txBox="1"/>
          <p:nvPr/>
        </p:nvSpPr>
        <p:spPr>
          <a:xfrm>
            <a:off x="1399032"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OOMKilled, or a failed liveness probe. Check reason: OOMKilled distinguishes memory from probe.</a:t>
            </a:r>
          </a:p>
        </p:txBody>
      </p:sp>
      <p:sp>
        <p:nvSpPr>
          <p:cNvPr id="27" name="Rectangle 26"/>
          <p:cNvSpPr/>
          <p:nvPr/>
        </p:nvSpPr>
        <p:spPr>
          <a:xfrm>
            <a:off x="4392167"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3082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143 — SIGTERM (128 + 15)</a:t>
            </a:r>
          </a:p>
        </p:txBody>
      </p:sp>
      <p:sp>
        <p:nvSpPr>
          <p:cNvPr id="31" name="TextBox 30"/>
          <p:cNvSpPr txBox="1"/>
          <p:nvPr/>
        </p:nvSpPr>
        <p:spPr>
          <a:xfrm>
            <a:off x="5013959"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Graceful stop requested. Normal during a rollout; a problem only if the app cannot finish in the grace period.</a:t>
            </a:r>
          </a:p>
        </p:txBody>
      </p:sp>
      <p:sp>
        <p:nvSpPr>
          <p:cNvPr id="32" name="Rectangle 31"/>
          <p:cNvSpPr/>
          <p:nvPr/>
        </p:nvSpPr>
        <p:spPr>
          <a:xfrm>
            <a:off x="8007095"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3082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Where to read it</a:t>
            </a:r>
          </a:p>
        </p:txBody>
      </p:sp>
      <p:sp>
        <p:nvSpPr>
          <p:cNvPr id="36" name="TextBox 35"/>
          <p:cNvSpPr txBox="1"/>
          <p:nvPr/>
        </p:nvSpPr>
        <p:spPr>
          <a:xfrm>
            <a:off x="8628888"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status.containerStatuses[].lastState.terminated.exitCode — authoritative, unlike the log text.</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539</a:t>
            </a:r>
          </a:p>
        </p:txBody>
      </p:sp>
    </p:spTree>
  </p:cSld>
  <p:clrMapOvr>
    <a:masterClrMapping/>
  </p:clrMapOvr>
  <p:transition xmlns:ns1="http://schemas.openxmlformats.org/markup-compatibility/2006" spd="fast" ns1:Ignorable="p14">
    <p:fade/>
  </p:transition>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Q5 — Does The Service Actually Have Backends?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v1 Endpoints was deprecated in v1.33 — inspect discovery.k8s.io/v1 EndpointSlice instead.</a:t>
            </a:r>
          </a:p>
        </p:txBody>
      </p:sp>
      <p:sp>
        <p:nvSpPr>
          <p:cNvPr id="7" name="Diamond 6"/>
          <p:cNvSpPr/>
          <p:nvPr/>
        </p:nvSpPr>
        <p:spPr>
          <a:xfrm>
            <a:off x="4206240" y="2382926"/>
            <a:ext cx="3749039" cy="1207008"/>
          </a:xfrm>
          <a:prstGeom prst="diamond">
            <a:avLst/>
          </a:prstGeom>
          <a:solidFill>
            <a:srgbClr val="FEF3C7"/>
          </a:solidFill>
          <a:ln w="25400">
            <a:solidFill>
              <a:srgbClr val="F59E0B"/>
            </a:solidFill>
          </a:ln>
          <a:effectLst/>
        </p:spPr>
        <p:txBody>
          <a:bodyPr rtlCol="0" anchor="ctr" wrap="square"/>
          <a:lstStyle/>
          <a:p>
            <a:pPr algn="ctr"/>
            <a:r>
              <a:rPr sz="1150" b="1">
                <a:solidFill>
                  <a:srgbClr val="161B26"/>
                </a:solidFill>
                <a:latin typeface="Arial"/>
              </a:rPr>
              <a:t>Does the Service's EndpointSlice list any addresses?</a:t>
            </a:r>
          </a:p>
        </p:txBody>
      </p:sp>
      <p:sp>
        <p:nvSpPr>
          <p:cNvPr id="8" name="Rounded Rectangle 7"/>
          <p:cNvSpPr/>
          <p:nvPr/>
        </p:nvSpPr>
        <p:spPr>
          <a:xfrm>
            <a:off x="777240" y="4105656"/>
            <a:ext cx="5199278" cy="1874519"/>
          </a:xfrm>
          <a:prstGeom prst="roundRect">
            <a:avLst>
              <a:gd name="adj" fmla="val 6000"/>
            </a:avLst>
          </a:prstGeom>
          <a:solidFill>
            <a:srgbClr val="FFFFFF"/>
          </a:solidFill>
          <a:ln w="19050">
            <a:solidFill>
              <a:srgbClr val="10B981"/>
            </a:solidFill>
          </a:ln>
          <a:effectLst/>
        </p:spPr>
        <p:txBody>
          <a:bodyPr rtlCol="0" anchor="ctr" wrap="square"/>
          <a:lstStyle/>
          <a:p>
            <a:pPr algn="ctr"/>
          </a:p>
        </p:txBody>
      </p:sp>
      <p:sp>
        <p:nvSpPr>
          <p:cNvPr id="9" name="Rounded Rectangle 8"/>
          <p:cNvSpPr/>
          <p:nvPr/>
        </p:nvSpPr>
        <p:spPr>
          <a:xfrm>
            <a:off x="777240" y="4105656"/>
            <a:ext cx="5199278" cy="310896"/>
          </a:xfrm>
          <a:prstGeom prst="roundRect">
            <a:avLst>
              <a:gd name="adj" fmla="val 42000"/>
            </a:avLst>
          </a:prstGeom>
          <a:solidFill>
            <a:srgbClr val="10B981"/>
          </a:solidFill>
          <a:ln>
            <a:noFill/>
          </a:ln>
          <a:effectLst/>
        </p:spPr>
        <p:txBody>
          <a:bodyPr rtlCol="0" anchor="ctr" wrap="square"/>
          <a:lstStyle/>
          <a:p>
            <a:pPr algn="ctr"/>
          </a:p>
        </p:txBody>
      </p:sp>
      <p:sp>
        <p:nvSpPr>
          <p:cNvPr id="10" name="TextBox 9"/>
          <p:cNvSpPr txBox="1"/>
          <p:nvPr/>
        </p:nvSpPr>
        <p:spPr>
          <a:xfrm>
            <a:off x="777240"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YES — routing is wired</a:t>
            </a:r>
          </a:p>
        </p:txBody>
      </p:sp>
      <p:sp>
        <p:nvSpPr>
          <p:cNvPr id="11" name="TextBox 10"/>
          <p:cNvSpPr txBox="1"/>
          <p:nvPr/>
        </p:nvSpPr>
        <p:spPr>
          <a:xfrm>
            <a:off x="1014983"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The failure is outside the workload and its Service</a:t>
            </a:r>
          </a:p>
          <a:p>
            <a:pPr>
              <a:lnSpc>
                <a:spcPct val="112000"/>
              </a:lnSpc>
              <a:spcAft>
                <a:spcPts val="500"/>
              </a:spcAft>
            </a:pPr>
            <a:r>
              <a:rPr sz="1100">
                <a:solidFill>
                  <a:srgbClr val="94A3B8"/>
                </a:solidFill>
                <a:latin typeface="Arial"/>
              </a:rPr>
              <a:t>•  </a:t>
            </a:r>
            <a:r>
              <a:rPr sz="1100">
                <a:solidFill>
                  <a:srgbClr val="5B6372"/>
                </a:solidFill>
                <a:latin typeface="Arial"/>
              </a:rPr>
              <a:t>Check NetworkPolicy: a deny gives a TIMEOUT, not a refusal</a:t>
            </a:r>
          </a:p>
          <a:p>
            <a:pPr>
              <a:lnSpc>
                <a:spcPct val="112000"/>
              </a:lnSpc>
              <a:spcAft>
                <a:spcPts val="500"/>
              </a:spcAft>
            </a:pPr>
            <a:r>
              <a:rPr sz="1100">
                <a:solidFill>
                  <a:srgbClr val="94A3B8"/>
                </a:solidFill>
                <a:latin typeface="Arial"/>
              </a:rPr>
              <a:t>•  </a:t>
            </a:r>
            <a:r>
              <a:rPr sz="1100">
                <a:solidFill>
                  <a:srgbClr val="5B6372"/>
                </a:solidFill>
                <a:latin typeface="Arial"/>
              </a:rPr>
              <a:t>Check DNS resolution from a client Pod in the same namespace</a:t>
            </a:r>
          </a:p>
          <a:p>
            <a:pPr>
              <a:lnSpc>
                <a:spcPct val="112000"/>
              </a:lnSpc>
              <a:spcAft>
                <a:spcPts val="500"/>
              </a:spcAft>
            </a:pPr>
            <a:r>
              <a:rPr sz="1100">
                <a:solidFill>
                  <a:srgbClr val="94A3B8"/>
                </a:solidFill>
                <a:latin typeface="Arial"/>
              </a:rPr>
              <a:t>•  </a:t>
            </a:r>
            <a:r>
              <a:rPr sz="1100">
                <a:solidFill>
                  <a:srgbClr val="5B6372"/>
                </a:solidFill>
                <a:latin typeface="Arial"/>
              </a:rPr>
              <a:t>Check Ingress class, path rules and the controller itself</a:t>
            </a:r>
          </a:p>
        </p:txBody>
      </p:sp>
      <p:cxnSp>
        <p:nvCxnSpPr>
          <p:cNvPr id="12" name="Connector 11"/>
          <p:cNvCxnSpPr/>
          <p:nvPr/>
        </p:nvCxnSpPr>
        <p:spPr>
          <a:xfrm flipH="1">
            <a:off x="3376879" y="3288182"/>
            <a:ext cx="1766621" cy="780898"/>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19679" y="3721608"/>
            <a:ext cx="914400" cy="237744"/>
          </a:xfrm>
          <a:prstGeom prst="rect">
            <a:avLst/>
          </a:prstGeom>
          <a:noFill/>
        </p:spPr>
        <p:txBody>
          <a:bodyPr wrap="square" lIns="0" rIns="0" tIns="0" bIns="0" anchor="t">
            <a:spAutoFit/>
          </a:bodyPr>
          <a:lstStyle/>
          <a:p>
            <a:pPr algn="ctr">
              <a:lnSpc>
                <a:spcPct val="100000"/>
              </a:lnSpc>
            </a:pPr>
            <a:r>
              <a:rPr sz="1000" b="1" i="0">
                <a:solidFill>
                  <a:srgbClr val="10B981"/>
                </a:solidFill>
                <a:latin typeface="Arial"/>
              </a:rPr>
              <a:t>YES</a:t>
            </a:r>
          </a:p>
        </p:txBody>
      </p:sp>
      <p:sp>
        <p:nvSpPr>
          <p:cNvPr id="14" name="Rounded Rectangle 13"/>
          <p:cNvSpPr/>
          <p:nvPr/>
        </p:nvSpPr>
        <p:spPr>
          <a:xfrm>
            <a:off x="6276441" y="4105656"/>
            <a:ext cx="5199278" cy="1874519"/>
          </a:xfrm>
          <a:prstGeom prst="roundRect">
            <a:avLst>
              <a:gd name="adj" fmla="val 6000"/>
            </a:avLst>
          </a:prstGeom>
          <a:solidFill>
            <a:srgbClr val="FFFFFF"/>
          </a:solidFill>
          <a:ln w="19050">
            <a:solidFill>
              <a:srgbClr val="DC2626"/>
            </a:solidFill>
          </a:ln>
          <a:effectLst/>
        </p:spPr>
        <p:txBody>
          <a:bodyPr rtlCol="0" anchor="ctr" wrap="square"/>
          <a:lstStyle/>
          <a:p>
            <a:pPr algn="ctr"/>
          </a:p>
        </p:txBody>
      </p:sp>
      <p:sp>
        <p:nvSpPr>
          <p:cNvPr id="15" name="Rounded Rectangle 14"/>
          <p:cNvSpPr/>
          <p:nvPr/>
        </p:nvSpPr>
        <p:spPr>
          <a:xfrm>
            <a:off x="6276441" y="4105656"/>
            <a:ext cx="5199278" cy="310896"/>
          </a:xfrm>
          <a:prstGeom prst="roundRect">
            <a:avLst>
              <a:gd name="adj" fmla="val 42000"/>
            </a:avLst>
          </a:prstGeom>
          <a:solidFill>
            <a:srgbClr val="DC2626"/>
          </a:solidFill>
          <a:ln>
            <a:noFill/>
          </a:ln>
          <a:effectLst/>
        </p:spPr>
        <p:txBody>
          <a:bodyPr rtlCol="0" anchor="ctr" wrap="square"/>
          <a:lstStyle/>
          <a:p>
            <a:pPr algn="ctr"/>
          </a:p>
        </p:txBody>
      </p:sp>
      <p:sp>
        <p:nvSpPr>
          <p:cNvPr id="16" name="TextBox 15"/>
          <p:cNvSpPr txBox="1"/>
          <p:nvPr/>
        </p:nvSpPr>
        <p:spPr>
          <a:xfrm>
            <a:off x="6276441" y="4151376"/>
            <a:ext cx="5199278" cy="256032"/>
          </a:xfrm>
          <a:prstGeom prst="rect">
            <a:avLst/>
          </a:prstGeom>
          <a:noFill/>
        </p:spPr>
        <p:txBody>
          <a:bodyPr wrap="square" lIns="0" rIns="0" tIns="0" bIns="0" anchor="t">
            <a:spAutoFit/>
          </a:bodyPr>
          <a:lstStyle/>
          <a:p>
            <a:pPr algn="ctr">
              <a:lnSpc>
                <a:spcPct val="100000"/>
              </a:lnSpc>
            </a:pPr>
            <a:r>
              <a:rPr sz="1100" b="1" i="0">
                <a:solidFill>
                  <a:srgbClr val="FFFFFF"/>
                </a:solidFill>
                <a:latin typeface="Arial"/>
              </a:rPr>
              <a:t>NO — ENDPOINTS &lt;unset&gt;</a:t>
            </a:r>
          </a:p>
        </p:txBody>
      </p:sp>
      <p:sp>
        <p:nvSpPr>
          <p:cNvPr id="17" name="TextBox 16"/>
          <p:cNvSpPr txBox="1"/>
          <p:nvPr/>
        </p:nvSpPr>
        <p:spPr>
          <a:xfrm>
            <a:off x="6514185" y="4581144"/>
            <a:ext cx="4723790" cy="128930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Selector mismatch: kubectl get pods -l &lt;the svc selector&gt;</a:t>
            </a:r>
          </a:p>
          <a:p>
            <a:pPr>
              <a:lnSpc>
                <a:spcPct val="112000"/>
              </a:lnSpc>
              <a:spcAft>
                <a:spcPts val="500"/>
              </a:spcAft>
            </a:pPr>
            <a:r>
              <a:rPr sz="1100">
                <a:solidFill>
                  <a:srgbClr val="94A3B8"/>
                </a:solidFill>
                <a:latin typeface="Arial"/>
              </a:rPr>
              <a:t>•  </a:t>
            </a:r>
            <a:r>
              <a:rPr sz="1100">
                <a:solidFill>
                  <a:srgbClr val="5B6372"/>
                </a:solidFill>
                <a:latin typeface="Arial"/>
              </a:rPr>
              <a:t>No Ready Pods: readiness is failing (that is Q4, not Q5)</a:t>
            </a:r>
          </a:p>
          <a:p>
            <a:pPr>
              <a:lnSpc>
                <a:spcPct val="112000"/>
              </a:lnSpc>
              <a:spcAft>
                <a:spcPts val="500"/>
              </a:spcAft>
            </a:pPr>
            <a:r>
              <a:rPr sz="1100">
                <a:solidFill>
                  <a:srgbClr val="94A3B8"/>
                </a:solidFill>
                <a:latin typeface="Arial"/>
              </a:rPr>
              <a:t>•  </a:t>
            </a:r>
            <a:r>
              <a:rPr sz="1100">
                <a:solidFill>
                  <a:srgbClr val="5B6372"/>
                </a:solidFill>
                <a:latin typeface="Arial"/>
              </a:rPr>
              <a:t>targetPort names a port the container never declared</a:t>
            </a:r>
          </a:p>
          <a:p>
            <a:pPr>
              <a:lnSpc>
                <a:spcPct val="112000"/>
              </a:lnSpc>
              <a:spcAft>
                <a:spcPts val="500"/>
              </a:spcAft>
            </a:pPr>
            <a:r>
              <a:rPr sz="1100">
                <a:solidFill>
                  <a:srgbClr val="94A3B8"/>
                </a:solidFill>
                <a:latin typeface="Arial"/>
              </a:rPr>
              <a:t>•  </a:t>
            </a:r>
            <a:r>
              <a:rPr sz="1100">
                <a:solidFill>
                  <a:srgbClr val="5B6372"/>
                </a:solidFill>
                <a:latin typeface="Arial"/>
              </a:rPr>
              <a:t>Symptom is an immediate connection refused, and total silence</a:t>
            </a:r>
          </a:p>
        </p:txBody>
      </p:sp>
      <p:cxnSp>
        <p:nvCxnSpPr>
          <p:cNvPr id="18" name="Connector 17"/>
          <p:cNvCxnSpPr/>
          <p:nvPr/>
        </p:nvCxnSpPr>
        <p:spPr>
          <a:xfrm>
            <a:off x="7018019" y="3288182"/>
            <a:ext cx="1858061" cy="780898"/>
          </a:xfrm>
          <a:prstGeom prst="line">
            <a:avLst/>
          </a:prstGeom>
          <a:ln w="22225">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8880" y="3721608"/>
            <a:ext cx="914400" cy="237744"/>
          </a:xfrm>
          <a:prstGeom prst="rect">
            <a:avLst/>
          </a:prstGeom>
          <a:noFill/>
        </p:spPr>
        <p:txBody>
          <a:bodyPr wrap="square" lIns="0" rIns="0" tIns="0" bIns="0" anchor="t">
            <a:spAutoFit/>
          </a:bodyPr>
          <a:lstStyle/>
          <a:p>
            <a:pPr algn="ctr">
              <a:lnSpc>
                <a:spcPct val="100000"/>
              </a:lnSpc>
            </a:pPr>
            <a:r>
              <a:rPr sz="1000" b="1" i="0">
                <a:solidFill>
                  <a:srgbClr val="DC2626"/>
                </a:solidFill>
                <a:latin typeface="Arial"/>
              </a:rPr>
              <a:t>NO</a:t>
            </a:r>
          </a:p>
        </p:txBody>
      </p:sp>
      <p:sp>
        <p:nvSpPr>
          <p:cNvPr id="20" name="TextBox 19"/>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EndpointSlices; v1 Endpoints deprecated in v1.33: kubernetes.io/blog/2025/04/24/endpoints-deprecation/</a:t>
            </a:r>
          </a:p>
        </p:txBody>
      </p:sp>
      <p:sp>
        <p:nvSpPr>
          <p:cNvPr id="21" name="TextBox 20"/>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2" name="TextBox 21"/>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3" name="TextBox 22"/>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540</a:t>
            </a:r>
          </a:p>
        </p:txBody>
      </p:sp>
    </p:spTree>
  </p:cSld>
  <p:clrMapOvr>
    <a:masterClrMapping/>
  </p:clrMapOvr>
  <p:transition xmlns:ns3="http://schemas.openxmlformats.org/markup-compatibility/2006" spd="fast" ns3:Ignorable="p14">
    <p:fade/>
  </p:transition>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Everything Green, Nothing Works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hardest of the four failures, because every dashboard in the building is green.</a:t>
            </a:r>
          </a:p>
        </p:txBody>
      </p:sp>
      <p:sp>
        <p:nvSpPr>
          <p:cNvPr id="7" name="Rectangle 6"/>
          <p:cNvSpPr/>
          <p:nvPr/>
        </p:nvSpPr>
        <p:spPr>
          <a:xfrm>
            <a:off x="777240" y="2200046"/>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0046"/>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64054"/>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65222"/>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depot-tracker Pods are 1/1 Running with zero restarts and the dashboard is green, but every request to the Service times out.</a:t>
            </a:r>
          </a:p>
        </p:txBody>
      </p:sp>
      <p:sp>
        <p:nvSpPr>
          <p:cNvPr id="11" name="Rectangle 10"/>
          <p:cNvSpPr/>
          <p:nvPr/>
        </p:nvSpPr>
        <p:spPr>
          <a:xfrm>
            <a:off x="777240" y="2913278"/>
            <a:ext cx="6172200" cy="3085185"/>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41294"/>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33902"/>
            <a:ext cx="5879592" cy="2518257"/>
          </a:xfrm>
          <a:prstGeom prst="rect">
            <a:avLst/>
          </a:prstGeom>
          <a:noFill/>
        </p:spPr>
        <p:txBody>
          <a:bodyPr wrap="none" lIns="0" rIns="0" tIns="0" bIns="0">
            <a:spAutoFit/>
          </a:bodyPr>
          <a:lstStyle/>
          <a:p>
            <a:pPr>
              <a:lnSpc>
                <a:spcPts val="1239"/>
              </a:lnSpc>
              <a:spcAft>
                <a:spcPts val="0"/>
              </a:spcAft>
            </a:pPr>
            <a:r>
              <a:rPr sz="950">
                <a:solidFill>
                  <a:srgbClr val="7EE787"/>
                </a:solidFill>
                <a:latin typeface="Consolas"/>
              </a:rPr>
              <a:t>$ kubectl exec -n kcna-lab25 triage-client -- \</a:t>
            </a:r>
          </a:p>
          <a:p>
            <a:pPr>
              <a:lnSpc>
                <a:spcPts val="1239"/>
              </a:lnSpc>
              <a:spcAft>
                <a:spcPts val="0"/>
              </a:spcAft>
            </a:pPr>
            <a:r>
              <a:rPr sz="950">
                <a:solidFill>
                  <a:srgbClr val="E6EDF3"/>
                </a:solidFill>
                <a:latin typeface="Consolas"/>
              </a:rPr>
              <a:t>    wget -qO- --timeout=5 http://depot-tracker.kcna-lab25.svc/</a:t>
            </a:r>
          </a:p>
          <a:p>
            <a:pPr>
              <a:lnSpc>
                <a:spcPts val="1239"/>
              </a:lnSpc>
              <a:spcAft>
                <a:spcPts val="0"/>
              </a:spcAft>
            </a:pPr>
            <a:r>
              <a:rPr sz="950">
                <a:solidFill>
                  <a:srgbClr val="E6EDF3"/>
                </a:solidFill>
                <a:latin typeface="Consolas"/>
              </a:rPr>
              <a:t>wget: can't connect to remote host (10.96.184.22): Connection refused</a:t>
            </a:r>
          </a:p>
          <a:p>
            <a:pPr>
              <a:lnSpc>
                <a:spcPts val="1239"/>
              </a:lnSpc>
              <a:spcAft>
                <a:spcPts val="0"/>
              </a:spcAft>
            </a:pPr>
            <a:r>
              <a:rPr sz="950">
                <a:solidFill>
                  <a:srgbClr val="E6EDF3"/>
                </a:solidFill>
                <a:latin typeface="Consolas"/>
              </a:rPr>
              <a:t> </a:t>
            </a:r>
          </a:p>
          <a:p>
            <a:pPr>
              <a:lnSpc>
                <a:spcPts val="1239"/>
              </a:lnSpc>
              <a:spcAft>
                <a:spcPts val="0"/>
              </a:spcAft>
            </a:pPr>
            <a:r>
              <a:rPr sz="950">
                <a:solidFill>
                  <a:srgbClr val="7EE787"/>
                </a:solidFill>
                <a:latin typeface="Consolas"/>
              </a:rPr>
              <a:t>$ kubectl get endpointslices -n kcna-lab25 \</a:t>
            </a:r>
          </a:p>
          <a:p>
            <a:pPr>
              <a:lnSpc>
                <a:spcPts val="1239"/>
              </a:lnSpc>
              <a:spcAft>
                <a:spcPts val="0"/>
              </a:spcAft>
            </a:pPr>
            <a:r>
              <a:rPr sz="950">
                <a:solidFill>
                  <a:srgbClr val="E6EDF3"/>
                </a:solidFill>
                <a:latin typeface="Consolas"/>
              </a:rPr>
              <a:t>    -l kubernetes.io/service-name=depot-tracker</a:t>
            </a:r>
          </a:p>
          <a:p>
            <a:pPr>
              <a:lnSpc>
                <a:spcPts val="1239"/>
              </a:lnSpc>
              <a:spcAft>
                <a:spcPts val="0"/>
              </a:spcAft>
            </a:pPr>
            <a:r>
              <a:rPr sz="950">
                <a:solidFill>
                  <a:srgbClr val="E6EDF3"/>
                </a:solidFill>
                <a:latin typeface="Consolas"/>
              </a:rPr>
              <a:t>NAME                 ADDRESSTYPE  PORTS    ENDPOINTS   AGE</a:t>
            </a:r>
          </a:p>
          <a:p>
            <a:pPr>
              <a:lnSpc>
                <a:spcPts val="1239"/>
              </a:lnSpc>
              <a:spcAft>
                <a:spcPts val="0"/>
              </a:spcAft>
            </a:pPr>
            <a:r>
              <a:rPr sz="950">
                <a:solidFill>
                  <a:srgbClr val="E6EDF3"/>
                </a:solidFill>
                <a:latin typeface="Consolas"/>
              </a:rPr>
              <a:t>depot-tracker-9xz4k  IPv4         &lt;unset&gt;  &lt;unset&gt;     6m45s</a:t>
            </a:r>
          </a:p>
          <a:p>
            <a:pPr>
              <a:lnSpc>
                <a:spcPts val="1239"/>
              </a:lnSpc>
              <a:spcAft>
                <a:spcPts val="0"/>
              </a:spcAft>
            </a:pPr>
            <a:r>
              <a:rPr sz="950">
                <a:solidFill>
                  <a:srgbClr val="E6EDF3"/>
                </a:solidFill>
                <a:latin typeface="Consolas"/>
              </a:rPr>
              <a:t> </a:t>
            </a:r>
          </a:p>
          <a:p>
            <a:pPr>
              <a:lnSpc>
                <a:spcPts val="1239"/>
              </a:lnSpc>
              <a:spcAft>
                <a:spcPts val="0"/>
              </a:spcAft>
            </a:pPr>
            <a:r>
              <a:rPr sz="950">
                <a:solidFill>
                  <a:srgbClr val="7EE787"/>
                </a:solidFill>
                <a:latin typeface="Consolas"/>
              </a:rPr>
              <a:t>$ kubectl get svc depot-tracker -o jsonpath='{.spec.selector}'</a:t>
            </a:r>
          </a:p>
          <a:p>
            <a:pPr>
              <a:lnSpc>
                <a:spcPts val="1239"/>
              </a:lnSpc>
              <a:spcAft>
                <a:spcPts val="0"/>
              </a:spcAft>
            </a:pPr>
            <a:r>
              <a:rPr sz="950">
                <a:solidFill>
                  <a:srgbClr val="E6EDF3"/>
                </a:solidFill>
                <a:latin typeface="Consolas"/>
              </a:rPr>
              <a:t>{"app":"depot-tracking"}</a:t>
            </a:r>
          </a:p>
          <a:p>
            <a:pPr>
              <a:lnSpc>
                <a:spcPts val="1239"/>
              </a:lnSpc>
              <a:spcAft>
                <a:spcPts val="0"/>
              </a:spcAft>
            </a:pPr>
            <a:r>
              <a:rPr sz="950">
                <a:solidFill>
                  <a:srgbClr val="7EE787"/>
                </a:solidFill>
                <a:latin typeface="Consolas"/>
              </a:rPr>
              <a:t>$ kubectl get pods -l app=depot-tracker -o jsonpath='{...labels}'</a:t>
            </a:r>
          </a:p>
          <a:p>
            <a:pPr>
              <a:lnSpc>
                <a:spcPts val="1239"/>
              </a:lnSpc>
              <a:spcAft>
                <a:spcPts val="0"/>
              </a:spcAft>
            </a:pPr>
            <a:r>
              <a:rPr sz="950">
                <a:solidFill>
                  <a:srgbClr val="E6EDF3"/>
                </a:solidFill>
                <a:latin typeface="Consolas"/>
              </a:rPr>
              <a:t>{"app":"depot-tracker","pod-template-hash":"5c8f7b9d64"}</a:t>
            </a:r>
          </a:p>
          <a:p>
            <a:pPr>
              <a:lnSpc>
                <a:spcPts val="1239"/>
              </a:lnSpc>
              <a:spcAft>
                <a:spcPts val="0"/>
              </a:spcAft>
            </a:pPr>
            <a:r>
              <a:rPr sz="950">
                <a:solidFill>
                  <a:srgbClr val="E6EDF3"/>
                </a:solidFill>
                <a:latin typeface="Consolas"/>
              </a:rPr>
              <a:t> </a:t>
            </a:r>
          </a:p>
          <a:p>
            <a:pPr>
              <a:lnSpc>
                <a:spcPts val="1239"/>
              </a:lnSpc>
              <a:spcAft>
                <a:spcPts val="0"/>
              </a:spcAft>
            </a:pPr>
            <a:r>
              <a:rPr sz="950">
                <a:solidFill>
                  <a:srgbClr val="7EE787"/>
                </a:solidFill>
                <a:latin typeface="Consolas"/>
              </a:rPr>
              <a:t>$ kubectl get pods -n kcna-lab25 -l app=depot-tracking</a:t>
            </a:r>
          </a:p>
          <a:p>
            <a:pPr>
              <a:lnSpc>
                <a:spcPts val="1239"/>
              </a:lnSpc>
              <a:spcAft>
                <a:spcPts val="0"/>
              </a:spcAft>
            </a:pPr>
            <a:r>
              <a:rPr sz="950">
                <a:solidFill>
                  <a:srgbClr val="E6EDF3"/>
                </a:solidFill>
                <a:latin typeface="Consolas"/>
              </a:rPr>
              <a:t>No resources found in kcna-lab25 namespace.</a:t>
            </a:r>
          </a:p>
        </p:txBody>
      </p:sp>
      <p:sp>
        <p:nvSpPr>
          <p:cNvPr id="14" name="Rectangle 13"/>
          <p:cNvSpPr/>
          <p:nvPr/>
        </p:nvSpPr>
        <p:spPr>
          <a:xfrm>
            <a:off x="7205472" y="291327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13278"/>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4985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075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Service selector says depot-tracking</a:t>
            </a:r>
          </a:p>
          <a:p>
            <a:pPr>
              <a:lnSpc>
                <a:spcPct val="112000"/>
              </a:lnSpc>
              <a:spcAft>
                <a:spcPts val="200"/>
              </a:spcAft>
            </a:pPr>
            <a:r>
              <a:rPr sz="950">
                <a:solidFill>
                  <a:srgbClr val="94A3B8"/>
                </a:solidFill>
                <a:latin typeface="Arial"/>
              </a:rPr>
              <a:t>•  </a:t>
            </a:r>
            <a:r>
              <a:rPr sz="950">
                <a:solidFill>
                  <a:srgbClr val="5B6372"/>
                </a:solidFill>
                <a:latin typeface="Arial"/>
              </a:rPr>
              <a:t>Pods are labelled depot-tracker</a:t>
            </a:r>
          </a:p>
          <a:p>
            <a:pPr>
              <a:lnSpc>
                <a:spcPct val="112000"/>
              </a:lnSpc>
              <a:spcAft>
                <a:spcPts val="200"/>
              </a:spcAft>
            </a:pPr>
            <a:r>
              <a:rPr sz="950">
                <a:solidFill>
                  <a:srgbClr val="94A3B8"/>
                </a:solidFill>
                <a:latin typeface="Arial"/>
              </a:rPr>
              <a:t>•  </a:t>
            </a:r>
            <a:r>
              <a:rPr sz="950">
                <a:solidFill>
                  <a:srgbClr val="5B6372"/>
                </a:solidFill>
                <a:latin typeface="Arial"/>
              </a:rPr>
              <a:t>A selector that matches nothing is silent — no event</a:t>
            </a:r>
          </a:p>
        </p:txBody>
      </p:sp>
      <p:sp>
        <p:nvSpPr>
          <p:cNvPr id="18" name="Rectangle 17"/>
          <p:cNvSpPr/>
          <p:nvPr/>
        </p:nvSpPr>
        <p:spPr>
          <a:xfrm>
            <a:off x="7205472" y="4057619"/>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57619"/>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094195"/>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05091"/>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Correct the Service selector, not the Deployment</a:t>
            </a:r>
          </a:p>
          <a:p>
            <a:pPr>
              <a:lnSpc>
                <a:spcPct val="112000"/>
              </a:lnSpc>
              <a:spcAft>
                <a:spcPts val="200"/>
              </a:spcAft>
            </a:pPr>
            <a:r>
              <a:rPr sz="950">
                <a:solidFill>
                  <a:srgbClr val="94A3B8"/>
                </a:solidFill>
                <a:latin typeface="Arial"/>
              </a:rPr>
              <a:t>•  </a:t>
            </a:r>
            <a:r>
              <a:rPr sz="950">
                <a:solidFill>
                  <a:srgbClr val="5B6372"/>
                </a:solidFill>
                <a:latin typeface="Arial"/>
              </a:rPr>
              <a:t>kubectl get pods -l &lt;selector&gt; is the one-step proof</a:t>
            </a:r>
          </a:p>
          <a:p>
            <a:pPr>
              <a:lnSpc>
                <a:spcPct val="112000"/>
              </a:lnSpc>
              <a:spcAft>
                <a:spcPts val="200"/>
              </a:spcAft>
            </a:pPr>
            <a:r>
              <a:rPr sz="950">
                <a:solidFill>
                  <a:srgbClr val="94A3B8"/>
                </a:solidFill>
                <a:latin typeface="Arial"/>
              </a:rPr>
              <a:t>•  </a:t>
            </a:r>
            <a:r>
              <a:rPr sz="950">
                <a:solidFill>
                  <a:srgbClr val="5B6372"/>
                </a:solidFill>
                <a:latin typeface="Arial"/>
              </a:rPr>
              <a:t>Refused = no backend; timeout = policy or route</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Lab 22-25 transcripts, isolated kind cluster, Kubernetes v1.37.0</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541</a:t>
            </a:r>
          </a:p>
        </p:txBody>
      </p:sp>
    </p:spTree>
  </p:cSld>
  <p:clrMapOvr>
    <a:masterClrMapping/>
  </p:clrMapOvr>
  <p:transition xmlns:ns1="http://schemas.openxmlformats.org/markup-compatibility/2006" spd="fast" ns1:Ignorable="p14">
    <p:fade/>
  </p:transition>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TRIAGE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Past Q5 — Where The Path Can Still Break</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Refused and timed out are different diagnoses. That distinction is worth real minutes in an incident.</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Connection REFUSED</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Something answered and said no: usually a ClusterIP with no backends, or nothing listening on the target port.</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Connection TIMED OUT</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Nothing answered at all: a NetworkPolicy deny, a missing route, or a wrong CIDR. Different fix entirely.</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DNS: NXDOMAIN</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Wrong name or wrong namespace. Fully qualify: svc.namespace.svc.cluster.local, and check the CoreDNS Pods.</a:t>
            </a:r>
          </a:p>
        </p:txBody>
      </p:sp>
      <p:sp>
        <p:nvSpPr>
          <p:cNvPr id="22" name="Rectangle 21"/>
          <p:cNvSpPr/>
          <p:nvPr/>
        </p:nvSpPr>
        <p:spPr>
          <a:xfrm>
            <a:off x="777240"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228940"/>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6666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Resolved but unreachable</a:t>
            </a:r>
          </a:p>
        </p:txBody>
      </p:sp>
      <p:sp>
        <p:nvSpPr>
          <p:cNvPr id="26" name="TextBox 25"/>
          <p:cNvSpPr txBox="1"/>
          <p:nvPr/>
        </p:nvSpPr>
        <p:spPr>
          <a:xfrm>
            <a:off x="1399032" y="3973982"/>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DNS gave an IP, so name resolution is fine. The fault is routing, policy or the port — stop debugging DNS.</a:t>
            </a:r>
          </a:p>
        </p:txBody>
      </p:sp>
      <p:sp>
        <p:nvSpPr>
          <p:cNvPr id="27" name="Rectangle 26"/>
          <p:cNvSpPr/>
          <p:nvPr/>
        </p:nvSpPr>
        <p:spPr>
          <a:xfrm>
            <a:off x="4392167"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228940"/>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6666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412496"/>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Default-deny is namespace-scoped</a:t>
            </a:r>
          </a:p>
        </p:txBody>
      </p:sp>
      <p:sp>
        <p:nvSpPr>
          <p:cNvPr id="31" name="TextBox 30"/>
          <p:cNvSpPr txBox="1"/>
          <p:nvPr/>
        </p:nvSpPr>
        <p:spPr>
          <a:xfrm>
            <a:off x="5013959" y="4112158"/>
            <a:ext cx="2645664" cy="560412"/>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empty-podSelector ingress policy denies everything in that namespace, including probes from peers.</a:t>
            </a:r>
          </a:p>
        </p:txBody>
      </p:sp>
      <p:sp>
        <p:nvSpPr>
          <p:cNvPr id="32" name="Rectangle 31"/>
          <p:cNvSpPr/>
          <p:nvPr/>
        </p:nvSpPr>
        <p:spPr>
          <a:xfrm>
            <a:off x="8007095" y="3516782"/>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228940"/>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6666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Ingress needs a controller</a:t>
            </a:r>
          </a:p>
        </p:txBody>
      </p:sp>
      <p:sp>
        <p:nvSpPr>
          <p:cNvPr id="36" name="TextBox 35"/>
          <p:cNvSpPr txBox="1"/>
          <p:nvPr/>
        </p:nvSpPr>
        <p:spPr>
          <a:xfrm>
            <a:off x="8628888" y="3973982"/>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Ingress object with no controller reconciling it does nothing at all — and reports almost nothing.</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Debug Services: kubernetes.io/docs/tasks/debug/debug-application/debug-service/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542</a:t>
            </a:r>
          </a:p>
        </p:txBody>
      </p:sp>
    </p:spTree>
  </p:cSld>
  <p:clrMapOvr>
    <a:masterClrMapping/>
  </p:clrMapOvr>
  <p:transition xmlns:ns1="http://schemas.openxmlformats.org/markup-compatibility/2006" spd="fast" ns1:Ignorable="p14">
    <p:fade/>
  </p:transition>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FAILURE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Reading Node Conditions And Commitment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Four conditions and one commitment table answer most node-level questions.</a:t>
            </a:r>
          </a:p>
        </p:txBody>
      </p:sp>
      <p:sp>
        <p:nvSpPr>
          <p:cNvPr id="7" name="Rectangle 6"/>
          <p:cNvSpPr/>
          <p:nvPr/>
        </p:nvSpPr>
        <p:spPr>
          <a:xfrm>
            <a:off x="777240" y="2200046"/>
            <a:ext cx="6903720" cy="3378708"/>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kubectl describe node · Kubernetes v1.37.0</a:t>
            </a:r>
          </a:p>
        </p:txBody>
      </p:sp>
      <p:sp>
        <p:nvSpPr>
          <p:cNvPr id="9" name="TextBox 8"/>
          <p:cNvSpPr txBox="1"/>
          <p:nvPr/>
        </p:nvSpPr>
        <p:spPr>
          <a:xfrm>
            <a:off x="923544" y="2620670"/>
            <a:ext cx="6611112" cy="2811779"/>
          </a:xfrm>
          <a:prstGeom prst="rect">
            <a:avLst/>
          </a:prstGeom>
          <a:noFill/>
        </p:spPr>
        <p:txBody>
          <a:bodyPr wrap="none" lIns="0" rIns="0" tIns="0" bIns="0">
            <a:spAutoFit/>
          </a:bodyPr>
          <a:lstStyle/>
          <a:p>
            <a:pPr>
              <a:lnSpc>
                <a:spcPts val="1476"/>
              </a:lnSpc>
              <a:spcAft>
                <a:spcPts val="0"/>
              </a:spcAft>
            </a:pPr>
            <a:r>
              <a:rPr sz="1000">
                <a:solidFill>
                  <a:srgbClr val="7EE787"/>
                </a:solidFill>
                <a:latin typeface="Consolas"/>
              </a:rPr>
              <a:t>$ kubectl describe node $NODE | sed -n '/^Conditions:/,/^Addresses:/p'</a:t>
            </a:r>
          </a:p>
          <a:p>
            <a:pPr>
              <a:lnSpc>
                <a:spcPts val="1476"/>
              </a:lnSpc>
              <a:spcAft>
                <a:spcPts val="0"/>
              </a:spcAft>
            </a:pPr>
            <a:r>
              <a:rPr sz="1000">
                <a:solidFill>
                  <a:srgbClr val="E6EDF3"/>
                </a:solidFill>
                <a:latin typeface="Consolas"/>
              </a:rPr>
              <a:t>Conditions:</a:t>
            </a:r>
          </a:p>
          <a:p>
            <a:pPr>
              <a:lnSpc>
                <a:spcPts val="1476"/>
              </a:lnSpc>
              <a:spcAft>
                <a:spcPts val="0"/>
              </a:spcAft>
            </a:pPr>
            <a:r>
              <a:rPr sz="1000">
                <a:solidFill>
                  <a:srgbClr val="E6EDF3"/>
                </a:solidFill>
                <a:latin typeface="Consolas"/>
              </a:rPr>
              <a:t>  Type            Status  Reason                      Message</a:t>
            </a:r>
          </a:p>
          <a:p>
            <a:pPr>
              <a:lnSpc>
                <a:spcPts val="1476"/>
              </a:lnSpc>
              <a:spcAft>
                <a:spcPts val="0"/>
              </a:spcAft>
            </a:pPr>
            <a:r>
              <a:rPr sz="1000">
                <a:solidFill>
                  <a:srgbClr val="E6EDF3"/>
                </a:solidFill>
                <a:latin typeface="Consolas"/>
              </a:rPr>
              <a:t>  MemoryPressure  False   KubeletHasSufficientMemory  sufficient</a:t>
            </a:r>
          </a:p>
          <a:p>
            <a:pPr>
              <a:lnSpc>
                <a:spcPts val="1476"/>
              </a:lnSpc>
              <a:spcAft>
                <a:spcPts val="0"/>
              </a:spcAft>
            </a:pPr>
            <a:r>
              <a:rPr sz="1000">
                <a:solidFill>
                  <a:srgbClr val="E6EDF3"/>
                </a:solidFill>
                <a:latin typeface="Consolas"/>
              </a:rPr>
              <a:t>  DiskPressure    False   KubeletHasNoDiskPressure    no disk press.</a:t>
            </a:r>
          </a:p>
          <a:p>
            <a:pPr>
              <a:lnSpc>
                <a:spcPts val="1476"/>
              </a:lnSpc>
              <a:spcAft>
                <a:spcPts val="0"/>
              </a:spcAft>
            </a:pPr>
            <a:r>
              <a:rPr sz="1000">
                <a:solidFill>
                  <a:srgbClr val="E6EDF3"/>
                </a:solidFill>
                <a:latin typeface="Consolas"/>
              </a:rPr>
              <a:t>  PIDPressure     False   KubeletHasSufficientPID     sufficient PID</a:t>
            </a:r>
          </a:p>
          <a:p>
            <a:pPr>
              <a:lnSpc>
                <a:spcPts val="1476"/>
              </a:lnSpc>
              <a:spcAft>
                <a:spcPts val="0"/>
              </a:spcAft>
            </a:pPr>
            <a:r>
              <a:rPr sz="1000">
                <a:solidFill>
                  <a:srgbClr val="E6EDF3"/>
                </a:solidFill>
                <a:latin typeface="Consolas"/>
              </a:rPr>
              <a:t>  Ready           True    KubeletReady                kubelet is</a:t>
            </a:r>
          </a:p>
          <a:p>
            <a:pPr>
              <a:lnSpc>
                <a:spcPts val="1476"/>
              </a:lnSpc>
              <a:spcAft>
                <a:spcPts val="0"/>
              </a:spcAft>
            </a:pPr>
            <a:r>
              <a:rPr sz="1000">
                <a:solidFill>
                  <a:srgbClr val="E6EDF3"/>
                </a:solidFill>
                <a:latin typeface="Consolas"/>
              </a:rPr>
              <a:t>                                                      posting ready</a:t>
            </a:r>
          </a:p>
          <a:p>
            <a:pPr>
              <a:lnSpc>
                <a:spcPts val="1476"/>
              </a:lnSpc>
              <a:spcAft>
                <a:spcPts val="0"/>
              </a:spcAft>
            </a:pPr>
            <a:r>
              <a:rPr sz="1000">
                <a:solidFill>
                  <a:srgbClr val="E6EDF3"/>
                </a:solidFill>
                <a:latin typeface="Consolas"/>
              </a:rPr>
              <a:t> </a:t>
            </a:r>
          </a:p>
          <a:p>
            <a:pPr>
              <a:lnSpc>
                <a:spcPts val="1476"/>
              </a:lnSpc>
              <a:spcAft>
                <a:spcPts val="0"/>
              </a:spcAft>
            </a:pPr>
            <a:r>
              <a:rPr sz="1000">
                <a:solidFill>
                  <a:srgbClr val="7EE787"/>
                </a:solidFill>
                <a:latin typeface="Consolas"/>
              </a:rPr>
              <a:t>$ kubectl describe node $NODE | sed -n '/Allocated resources/,/Events/p'</a:t>
            </a:r>
          </a:p>
          <a:p>
            <a:pPr>
              <a:lnSpc>
                <a:spcPts val="1476"/>
              </a:lnSpc>
              <a:spcAft>
                <a:spcPts val="0"/>
              </a:spcAft>
            </a:pPr>
            <a:r>
              <a:rPr sz="1000">
                <a:solidFill>
                  <a:srgbClr val="E6EDF3"/>
                </a:solidFill>
                <a:latin typeface="Consolas"/>
              </a:rPr>
              <a:t>Allocated resources:</a:t>
            </a:r>
          </a:p>
          <a:p>
            <a:pPr>
              <a:lnSpc>
                <a:spcPts val="1476"/>
              </a:lnSpc>
              <a:spcAft>
                <a:spcPts val="0"/>
              </a:spcAft>
            </a:pPr>
            <a:r>
              <a:rPr sz="1000">
                <a:solidFill>
                  <a:srgbClr val="E6EDF3"/>
                </a:solidFill>
                <a:latin typeface="Consolas"/>
              </a:rPr>
              <a:t>  (Total limits may be over 100 percent, i.e., overcommitted.)</a:t>
            </a:r>
          </a:p>
          <a:p>
            <a:pPr>
              <a:lnSpc>
                <a:spcPts val="1476"/>
              </a:lnSpc>
              <a:spcAft>
                <a:spcPts val="0"/>
              </a:spcAft>
            </a:pPr>
            <a:r>
              <a:rPr sz="1000">
                <a:solidFill>
                  <a:srgbClr val="E6EDF3"/>
                </a:solidFill>
                <a:latin typeface="Consolas"/>
              </a:rPr>
              <a:t>  Resource  Requests     Limits</a:t>
            </a:r>
          </a:p>
          <a:p>
            <a:pPr>
              <a:lnSpc>
                <a:spcPts val="1476"/>
              </a:lnSpc>
              <a:spcAft>
                <a:spcPts val="0"/>
              </a:spcAft>
            </a:pPr>
            <a:r>
              <a:rPr sz="1000">
                <a:solidFill>
                  <a:srgbClr val="E6EDF3"/>
                </a:solidFill>
                <a:latin typeface="Consolas"/>
              </a:rPr>
              <a:t>  cpu       1050m (10%)  1300m (13%)</a:t>
            </a:r>
          </a:p>
          <a:p>
            <a:pPr>
              <a:lnSpc>
                <a:spcPts val="1476"/>
              </a:lnSpc>
              <a:spcAft>
                <a:spcPts val="0"/>
              </a:spcAft>
            </a:pPr>
            <a:r>
              <a:rPr sz="1000">
                <a:solidFill>
                  <a:srgbClr val="E6EDF3"/>
                </a:solidFill>
                <a:latin typeface="Consolas"/>
              </a:rPr>
              <a:t>  memory    690Mi (8%)   1224Mi (15%)</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Ready is one of four conditions</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 three pressure conditions are the leading indicators — they flip before Ready does, and they are what trigger eviction.</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Reason is machine-readable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KubeletHasSufficientMemory / KubeletHasDiskPressure. Alert on the condition, not on a substring of the human message.</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Allocated is REQUESTS, not usage</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10% committed on a node that may be 60% busy. The scheduler only ever compares requests against allocatable.</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The classic confusion</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'There is plenty of free memory, why won't it schedule?' — because requests, not free memory, are what was exhausted.</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Nodes — Conditions and taint-based eviction: kubernetes.io/docs/concepts/architecture/nodes/#condition</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543</a:t>
            </a:r>
          </a:p>
        </p:txBody>
      </p:sp>
    </p:spTree>
  </p:cSld>
  <p:clrMapOvr>
    <a:masterClrMapping/>
  </p:clrMapOvr>
  <p:transition xmlns:ns1="http://schemas.openxmlformats.org/markup-compatibility/2006" spd="fast" ns1:Ignorable="p14">
    <p:fade/>
  </p:transition>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DC2626"/>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DC2626"/>
                </a:solidFill>
                <a:latin typeface="Arial"/>
              </a:rPr>
              <a:t>NODE FAILURE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 Node Goes NotReady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Illustrative multi-node transcript in the documented output shapes — the training cluster is single-node and this is not induced.</a:t>
            </a:r>
          </a:p>
        </p:txBody>
      </p:sp>
      <p:sp>
        <p:nvSpPr>
          <p:cNvPr id="7" name="Rectangle 6"/>
          <p:cNvSpPr/>
          <p:nvPr/>
        </p:nvSpPr>
        <p:spPr>
          <a:xfrm>
            <a:off x="777240" y="2208885"/>
            <a:ext cx="10698480" cy="566928"/>
          </a:xfrm>
          <a:prstGeom prst="rect">
            <a:avLst/>
          </a:prstGeom>
          <a:solidFill>
            <a:srgbClr val="FEE2E2"/>
          </a:solidFill>
          <a:ln>
            <a:noFill/>
          </a:ln>
          <a:effectLst/>
        </p:spPr>
        <p:txBody>
          <a:bodyPr rtlCol="0" anchor="ctr" wrap="square"/>
          <a:lstStyle/>
          <a:p>
            <a:pPr algn="ctr"/>
          </a:p>
        </p:txBody>
      </p:sp>
      <p:sp>
        <p:nvSpPr>
          <p:cNvPr id="8" name="Rectangle 7"/>
          <p:cNvSpPr/>
          <p:nvPr/>
        </p:nvSpPr>
        <p:spPr>
          <a:xfrm>
            <a:off x="777240" y="2208885"/>
            <a:ext cx="50292" cy="566928"/>
          </a:xfrm>
          <a:prstGeom prst="rect">
            <a:avLst/>
          </a:prstGeom>
          <a:solidFill>
            <a:srgbClr val="DC2626"/>
          </a:solidFill>
          <a:ln>
            <a:noFill/>
          </a:ln>
          <a:effectLst/>
        </p:spPr>
        <p:txBody>
          <a:bodyPr rtlCol="0" anchor="ctr" wrap="square"/>
          <a:lstStyle/>
          <a:p>
            <a:pPr algn="ctr"/>
          </a:p>
        </p:txBody>
      </p:sp>
      <p:sp>
        <p:nvSpPr>
          <p:cNvPr id="9" name="TextBox 8"/>
          <p:cNvSpPr txBox="1"/>
          <p:nvPr/>
        </p:nvSpPr>
        <p:spPr>
          <a:xfrm>
            <a:off x="996695" y="2272893"/>
            <a:ext cx="1463040" cy="201168"/>
          </a:xfrm>
          <a:prstGeom prst="rect">
            <a:avLst/>
          </a:prstGeom>
          <a:noFill/>
        </p:spPr>
        <p:txBody>
          <a:bodyPr wrap="square" lIns="0" rIns="0" tIns="0" bIns="0" anchor="t">
            <a:spAutoFit/>
          </a:bodyPr>
          <a:lstStyle/>
          <a:p>
            <a:pPr algn="l">
              <a:lnSpc>
                <a:spcPct val="100000"/>
              </a:lnSpc>
            </a:pPr>
            <a:r>
              <a:rPr sz="850" b="1" i="0">
                <a:solidFill>
                  <a:srgbClr val="DC2626"/>
                </a:solidFill>
                <a:latin typeface="Arial"/>
              </a:rPr>
              <a:t>SYMPTOM</a:t>
            </a:r>
          </a:p>
        </p:txBody>
      </p:sp>
      <p:sp>
        <p:nvSpPr>
          <p:cNvPr id="10" name="TextBox 9"/>
          <p:cNvSpPr txBox="1"/>
          <p:nvPr/>
        </p:nvSpPr>
        <p:spPr>
          <a:xfrm>
            <a:off x="996695" y="2474061"/>
            <a:ext cx="10241280" cy="256032"/>
          </a:xfrm>
          <a:prstGeom prst="rect">
            <a:avLst/>
          </a:prstGeom>
          <a:noFill/>
        </p:spPr>
        <p:txBody>
          <a:bodyPr wrap="square" lIns="0" rIns="0" tIns="0" bIns="0" anchor="t">
            <a:spAutoFit/>
          </a:bodyPr>
          <a:lstStyle/>
          <a:p>
            <a:pPr algn="l">
              <a:lnSpc>
                <a:spcPct val="100000"/>
              </a:lnSpc>
            </a:pPr>
            <a:r>
              <a:rPr sz="1150" b="0" i="0">
                <a:solidFill>
                  <a:srgbClr val="161B26"/>
                </a:solidFill>
                <a:latin typeface="Arial"/>
              </a:rPr>
              <a:t>Every Pod on one worker becomes unreachable. The node reports NotReady and its kubelet has stopped posting status.</a:t>
            </a:r>
          </a:p>
        </p:txBody>
      </p:sp>
      <p:sp>
        <p:nvSpPr>
          <p:cNvPr id="11" name="Rectangle 10"/>
          <p:cNvSpPr/>
          <p:nvPr/>
        </p:nvSpPr>
        <p:spPr>
          <a:xfrm>
            <a:off x="777240" y="2922117"/>
            <a:ext cx="6172200" cy="3076346"/>
          </a:xfrm>
          <a:prstGeom prst="rect">
            <a:avLst/>
          </a:prstGeom>
          <a:solidFill>
            <a:srgbClr val="0B1220"/>
          </a:solidFill>
          <a:ln>
            <a:noFill/>
          </a:ln>
          <a:effectLst/>
        </p:spPr>
        <p:txBody>
          <a:bodyPr rtlCol="0" anchor="ctr" wrap="none"/>
          <a:lstStyle/>
          <a:p>
            <a:pPr algn="ctr"/>
          </a:p>
        </p:txBody>
      </p:sp>
      <p:sp>
        <p:nvSpPr>
          <p:cNvPr id="12" name="TextBox 11"/>
          <p:cNvSpPr txBox="1"/>
          <p:nvPr/>
        </p:nvSpPr>
        <p:spPr>
          <a:xfrm>
            <a:off x="923544" y="3050133"/>
            <a:ext cx="587959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EVIDENCE — actual cluster output</a:t>
            </a:r>
          </a:p>
        </p:txBody>
      </p:sp>
      <p:sp>
        <p:nvSpPr>
          <p:cNvPr id="13" name="TextBox 12"/>
          <p:cNvSpPr txBox="1"/>
          <p:nvPr/>
        </p:nvSpPr>
        <p:spPr>
          <a:xfrm>
            <a:off x="923544" y="3342741"/>
            <a:ext cx="5879592" cy="2509418"/>
          </a:xfrm>
          <a:prstGeom prst="rect">
            <a:avLst/>
          </a:prstGeom>
          <a:noFill/>
        </p:spPr>
        <p:txBody>
          <a:bodyPr wrap="none" lIns="0" rIns="0" tIns="0" bIns="0">
            <a:spAutoFit/>
          </a:bodyPr>
          <a:lstStyle/>
          <a:p>
            <a:pPr>
              <a:lnSpc>
                <a:spcPts val="1411"/>
              </a:lnSpc>
              <a:spcAft>
                <a:spcPts val="0"/>
              </a:spcAft>
            </a:pPr>
            <a:r>
              <a:rPr sz="950">
                <a:solidFill>
                  <a:srgbClr val="7EE787"/>
                </a:solidFill>
                <a:latin typeface="Consolas"/>
              </a:rPr>
              <a:t>$ kubectl get nodes</a:t>
            </a:r>
          </a:p>
          <a:p>
            <a:pPr>
              <a:lnSpc>
                <a:spcPts val="1411"/>
              </a:lnSpc>
              <a:spcAft>
                <a:spcPts val="0"/>
              </a:spcAft>
            </a:pPr>
            <a:r>
              <a:rPr sz="950">
                <a:solidFill>
                  <a:srgbClr val="E6EDF3"/>
                </a:solidFill>
                <a:latin typeface="Consolas"/>
              </a:rPr>
              <a:t>NAME       STATUS     ROLES    AGE   VERSION</a:t>
            </a:r>
          </a:p>
          <a:p>
            <a:pPr>
              <a:lnSpc>
                <a:spcPts val="1411"/>
              </a:lnSpc>
              <a:spcAft>
                <a:spcPts val="0"/>
              </a:spcAft>
            </a:pPr>
            <a:r>
              <a:rPr sz="950">
                <a:solidFill>
                  <a:srgbClr val="E6EDF3"/>
                </a:solidFill>
                <a:latin typeface="Consolas"/>
              </a:rPr>
              <a:t>worker-01  Ready      &lt;none&gt;   14d   v1.34.2</a:t>
            </a:r>
          </a:p>
          <a:p>
            <a:pPr>
              <a:lnSpc>
                <a:spcPts val="1411"/>
              </a:lnSpc>
              <a:spcAft>
                <a:spcPts val="0"/>
              </a:spcAft>
            </a:pPr>
            <a:r>
              <a:rPr sz="950">
                <a:solidFill>
                  <a:srgbClr val="E6EDF3"/>
                </a:solidFill>
                <a:latin typeface="Consolas"/>
              </a:rPr>
              <a:t>worker-02  NotReady   &lt;none&gt;   14d   v1.34.2</a:t>
            </a:r>
          </a:p>
          <a:p>
            <a:pPr>
              <a:lnSpc>
                <a:spcPts val="1411"/>
              </a:lnSpc>
              <a:spcAft>
                <a:spcPts val="0"/>
              </a:spcAft>
            </a:pPr>
            <a:r>
              <a:rPr sz="950">
                <a:solidFill>
                  <a:srgbClr val="E6EDF3"/>
                </a:solidFill>
                <a:latin typeface="Consolas"/>
              </a:rPr>
              <a:t> </a:t>
            </a:r>
          </a:p>
          <a:p>
            <a:pPr>
              <a:lnSpc>
                <a:spcPts val="1411"/>
              </a:lnSpc>
              <a:spcAft>
                <a:spcPts val="0"/>
              </a:spcAft>
            </a:pPr>
            <a:r>
              <a:rPr sz="950">
                <a:solidFill>
                  <a:srgbClr val="7EE787"/>
                </a:solidFill>
                <a:latin typeface="Consolas"/>
              </a:rPr>
              <a:t>$ kubectl describe node worker-02 | grep -A2 'Ready '</a:t>
            </a:r>
          </a:p>
          <a:p>
            <a:pPr>
              <a:lnSpc>
                <a:spcPts val="1411"/>
              </a:lnSpc>
              <a:spcAft>
                <a:spcPts val="0"/>
              </a:spcAft>
            </a:pPr>
            <a:r>
              <a:rPr sz="950">
                <a:solidFill>
                  <a:srgbClr val="E6EDF3"/>
                </a:solidFill>
                <a:latin typeface="Consolas"/>
              </a:rPr>
              <a:t>  Ready   Unknown   Kubelet stopped posting node status.</a:t>
            </a:r>
          </a:p>
          <a:p>
            <a:pPr>
              <a:lnSpc>
                <a:spcPts val="1411"/>
              </a:lnSpc>
              <a:spcAft>
                <a:spcPts val="0"/>
              </a:spcAft>
            </a:pPr>
            <a:r>
              <a:rPr sz="950">
                <a:solidFill>
                  <a:srgbClr val="E6EDF3"/>
                </a:solidFill>
                <a:latin typeface="Consolas"/>
              </a:rPr>
              <a:t> </a:t>
            </a:r>
          </a:p>
          <a:p>
            <a:pPr>
              <a:lnSpc>
                <a:spcPts val="1411"/>
              </a:lnSpc>
              <a:spcAft>
                <a:spcPts val="0"/>
              </a:spcAft>
            </a:pPr>
            <a:r>
              <a:rPr sz="950">
                <a:solidFill>
                  <a:srgbClr val="7EE787"/>
                </a:solidFill>
                <a:latin typeface="Consolas"/>
              </a:rPr>
              <a:t>$ kubectl get node worker-02 -o jsonpath='{.spec.taints}'</a:t>
            </a:r>
          </a:p>
          <a:p>
            <a:pPr>
              <a:lnSpc>
                <a:spcPts val="1411"/>
              </a:lnSpc>
              <a:spcAft>
                <a:spcPts val="0"/>
              </a:spcAft>
            </a:pPr>
            <a:r>
              <a:rPr sz="950">
                <a:solidFill>
                  <a:srgbClr val="E6EDF3"/>
                </a:solidFill>
                <a:latin typeface="Consolas"/>
              </a:rPr>
              <a:t>[{"effect":"NoSchedule","key":"node.kubernetes.io/unreachable"},</a:t>
            </a:r>
          </a:p>
          <a:p>
            <a:pPr>
              <a:lnSpc>
                <a:spcPts val="1411"/>
              </a:lnSpc>
              <a:spcAft>
                <a:spcPts val="0"/>
              </a:spcAft>
            </a:pPr>
            <a:r>
              <a:rPr sz="950">
                <a:solidFill>
                  <a:srgbClr val="E6EDF3"/>
                </a:solidFill>
                <a:latin typeface="Consolas"/>
              </a:rPr>
              <a:t> {"effect":"NoExecute","key":"node.kubernetes.io/unreachable"}]</a:t>
            </a:r>
          </a:p>
          <a:p>
            <a:pPr>
              <a:lnSpc>
                <a:spcPts val="1411"/>
              </a:lnSpc>
              <a:spcAft>
                <a:spcPts val="0"/>
              </a:spcAft>
            </a:pPr>
            <a:r>
              <a:rPr sz="950">
                <a:solidFill>
                  <a:srgbClr val="E6EDF3"/>
                </a:solidFill>
                <a:latin typeface="Consolas"/>
              </a:rPr>
              <a:t> </a:t>
            </a:r>
          </a:p>
          <a:p>
            <a:pPr>
              <a:lnSpc>
                <a:spcPts val="1411"/>
              </a:lnSpc>
              <a:spcAft>
                <a:spcPts val="0"/>
              </a:spcAft>
            </a:pPr>
            <a:r>
              <a:rPr sz="950">
                <a:solidFill>
                  <a:srgbClr val="7EE787"/>
                </a:solidFill>
                <a:latin typeface="Consolas"/>
              </a:rPr>
              <a:t>$ systemctl status kubelet      # ON THE NODE, not via kubectl</a:t>
            </a:r>
          </a:p>
          <a:p>
            <a:pPr>
              <a:lnSpc>
                <a:spcPts val="1411"/>
              </a:lnSpc>
              <a:spcAft>
                <a:spcPts val="0"/>
              </a:spcAft>
            </a:pPr>
            <a:r>
              <a:rPr sz="950">
                <a:solidFill>
                  <a:srgbClr val="E6EDF3"/>
                </a:solidFill>
                <a:latin typeface="Consolas"/>
              </a:rPr>
              <a:t>   Active: failed (Result: exit-code)</a:t>
            </a:r>
          </a:p>
        </p:txBody>
      </p:sp>
      <p:sp>
        <p:nvSpPr>
          <p:cNvPr id="14" name="Rectangle 13"/>
          <p:cNvSpPr/>
          <p:nvPr/>
        </p:nvSpPr>
        <p:spPr>
          <a:xfrm>
            <a:off x="7205472" y="2922117"/>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7205472" y="2922117"/>
            <a:ext cx="4270247" cy="274320"/>
          </a:xfrm>
          <a:prstGeom prst="rect">
            <a:avLst/>
          </a:prstGeom>
          <a:solidFill>
            <a:srgbClr val="F59E0B"/>
          </a:solidFill>
          <a:ln>
            <a:noFill/>
          </a:ln>
          <a:effectLst/>
        </p:spPr>
        <p:txBody>
          <a:bodyPr rtlCol="0" anchor="ctr" wrap="square"/>
          <a:lstStyle/>
          <a:p>
            <a:pPr algn="ctr"/>
          </a:p>
        </p:txBody>
      </p:sp>
      <p:sp>
        <p:nvSpPr>
          <p:cNvPr id="16" name="TextBox 15"/>
          <p:cNvSpPr txBox="1"/>
          <p:nvPr/>
        </p:nvSpPr>
        <p:spPr>
          <a:xfrm>
            <a:off x="7370064" y="2958693"/>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ROOT CAUSE</a:t>
            </a:r>
          </a:p>
        </p:txBody>
      </p:sp>
      <p:sp>
        <p:nvSpPr>
          <p:cNvPr id="17" name="TextBox 16"/>
          <p:cNvSpPr txBox="1"/>
          <p:nvPr/>
        </p:nvSpPr>
        <p:spPr>
          <a:xfrm>
            <a:off x="7388352" y="3269589"/>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kubelet stopped renewing its node Lease</a:t>
            </a:r>
          </a:p>
          <a:p>
            <a:pPr>
              <a:lnSpc>
                <a:spcPct val="112000"/>
              </a:lnSpc>
              <a:spcAft>
                <a:spcPts val="200"/>
              </a:spcAft>
            </a:pPr>
            <a:r>
              <a:rPr sz="950">
                <a:solidFill>
                  <a:srgbClr val="94A3B8"/>
                </a:solidFill>
                <a:latin typeface="Arial"/>
              </a:rPr>
              <a:t>•  </a:t>
            </a:r>
            <a:r>
              <a:rPr sz="950">
                <a:solidFill>
                  <a:srgbClr val="5B6372"/>
                </a:solidFill>
                <a:latin typeface="Arial"/>
              </a:rPr>
              <a:t>After the monitor grace period the node controller acts</a:t>
            </a:r>
          </a:p>
          <a:p>
            <a:pPr>
              <a:lnSpc>
                <a:spcPct val="112000"/>
              </a:lnSpc>
              <a:spcAft>
                <a:spcPts val="200"/>
              </a:spcAft>
            </a:pPr>
            <a:r>
              <a:rPr sz="950">
                <a:solidFill>
                  <a:srgbClr val="94A3B8"/>
                </a:solidFill>
                <a:latin typeface="Arial"/>
              </a:rPr>
              <a:t>•  </a:t>
            </a:r>
            <a:r>
              <a:rPr sz="950">
                <a:solidFill>
                  <a:srgbClr val="5B6372"/>
                </a:solidFill>
                <a:latin typeface="Arial"/>
              </a:rPr>
              <a:t>Status Unknown usually means node or network is gone</a:t>
            </a:r>
          </a:p>
        </p:txBody>
      </p:sp>
      <p:sp>
        <p:nvSpPr>
          <p:cNvPr id="18" name="Rectangle 17"/>
          <p:cNvSpPr/>
          <p:nvPr/>
        </p:nvSpPr>
        <p:spPr>
          <a:xfrm>
            <a:off x="7205472" y="4066458"/>
            <a:ext cx="4270247" cy="1034613"/>
          </a:xfrm>
          <a:prstGeom prst="rect">
            <a:avLst/>
          </a:prstGeom>
          <a:solidFill>
            <a:srgbClr val="FFFFFF"/>
          </a:solidFill>
          <a:ln w="12700">
            <a:solidFill>
              <a:srgbClr val="E2E8F0"/>
            </a:solidFill>
          </a:ln>
          <a:effectLst/>
        </p:spPr>
        <p:txBody>
          <a:bodyPr rtlCol="0" anchor="ctr" wrap="square"/>
          <a:lstStyle/>
          <a:p>
            <a:pPr algn="ctr"/>
          </a:p>
        </p:txBody>
      </p:sp>
      <p:sp>
        <p:nvSpPr>
          <p:cNvPr id="19" name="Rectangle 18"/>
          <p:cNvSpPr/>
          <p:nvPr/>
        </p:nvSpPr>
        <p:spPr>
          <a:xfrm>
            <a:off x="7205472" y="4066458"/>
            <a:ext cx="4270247" cy="274320"/>
          </a:xfrm>
          <a:prstGeom prst="rect">
            <a:avLst/>
          </a:prstGeom>
          <a:solidFill>
            <a:srgbClr val="10B981"/>
          </a:solidFill>
          <a:ln>
            <a:noFill/>
          </a:ln>
          <a:effectLst/>
        </p:spPr>
        <p:txBody>
          <a:bodyPr rtlCol="0" anchor="ctr" wrap="square"/>
          <a:lstStyle/>
          <a:p>
            <a:pPr algn="ctr"/>
          </a:p>
        </p:txBody>
      </p:sp>
      <p:sp>
        <p:nvSpPr>
          <p:cNvPr id="20" name="TextBox 19"/>
          <p:cNvSpPr txBox="1"/>
          <p:nvPr/>
        </p:nvSpPr>
        <p:spPr>
          <a:xfrm>
            <a:off x="7370064" y="4103034"/>
            <a:ext cx="3941063"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FIX</a:t>
            </a:r>
          </a:p>
        </p:txBody>
      </p:sp>
      <p:sp>
        <p:nvSpPr>
          <p:cNvPr id="21" name="TextBox 20"/>
          <p:cNvSpPr txBox="1"/>
          <p:nvPr/>
        </p:nvSpPr>
        <p:spPr>
          <a:xfrm>
            <a:off x="7388352" y="4413930"/>
            <a:ext cx="3904487" cy="632277"/>
          </a:xfrm>
          <a:prstGeom prst="rect">
            <a:avLst/>
          </a:prstGeom>
          <a:noFill/>
        </p:spPr>
        <p:txBody>
          <a:bodyPr wrap="square" lIns="0" rIns="0" tIns="0" bIns="0">
            <a:spAutoFit/>
          </a:bodyPr>
          <a:lstStyle/>
          <a:p>
            <a:pPr>
              <a:lnSpc>
                <a:spcPct val="112000"/>
              </a:lnSpc>
              <a:spcAft>
                <a:spcPts val="200"/>
              </a:spcAft>
            </a:pPr>
            <a:r>
              <a:rPr sz="950">
                <a:solidFill>
                  <a:srgbClr val="94A3B8"/>
                </a:solidFill>
                <a:latin typeface="Arial"/>
              </a:rPr>
              <a:t>•  </a:t>
            </a:r>
            <a:r>
              <a:rPr sz="950">
                <a:solidFill>
                  <a:srgbClr val="5B6372"/>
                </a:solidFill>
                <a:latin typeface="Arial"/>
              </a:rPr>
              <a:t>Restore the kubelet or replace the node</a:t>
            </a:r>
          </a:p>
          <a:p>
            <a:pPr>
              <a:lnSpc>
                <a:spcPct val="112000"/>
              </a:lnSpc>
              <a:spcAft>
                <a:spcPts val="200"/>
              </a:spcAft>
            </a:pPr>
            <a:r>
              <a:rPr sz="950">
                <a:solidFill>
                  <a:srgbClr val="94A3B8"/>
                </a:solidFill>
                <a:latin typeface="Arial"/>
              </a:rPr>
              <a:t>•  </a:t>
            </a:r>
            <a:r>
              <a:rPr sz="950">
                <a:solidFill>
                  <a:srgbClr val="5B6372"/>
                </a:solidFill>
                <a:latin typeface="Arial"/>
              </a:rPr>
              <a:t>NoExecute taint evicts Pods; controllers reschedule</a:t>
            </a:r>
          </a:p>
          <a:p>
            <a:pPr>
              <a:lnSpc>
                <a:spcPct val="112000"/>
              </a:lnSpc>
              <a:spcAft>
                <a:spcPts val="200"/>
              </a:spcAft>
            </a:pPr>
            <a:r>
              <a:rPr sz="950">
                <a:solidFill>
                  <a:srgbClr val="94A3B8"/>
                </a:solidFill>
                <a:latin typeface="Arial"/>
              </a:rPr>
              <a:t>•  </a:t>
            </a:r>
            <a:r>
              <a:rPr sz="950">
                <a:solidFill>
                  <a:srgbClr val="5B6372"/>
                </a:solidFill>
                <a:latin typeface="Arial"/>
              </a:rPr>
              <a:t>Never delete the Node object to 'fix' the symptom</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Nodes — Conditions and taint-based eviction: kubernetes.io/docs/concepts/architecture/nodes/#condition</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544</a:t>
            </a:r>
          </a:p>
        </p:txBody>
      </p:sp>
    </p:spTree>
  </p:cSld>
  <p:clrMapOvr>
    <a:masterClrMapping/>
  </p:clrMapOvr>
  <p:transition xmlns:ns1="http://schemas.openxmlformats.org/markup-compatibility/2006" spd="fast" ns1:Ignorable="p14">
    <p:fade/>
  </p:transition>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NODE FAILURE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Pressure, Taints And Eviction Order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Node failure is a controller reaction, not a status message — know what reacts and in what order.</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heartbeat is a Lease</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kubelet renews a Lease object in kube-node-lease. Losing it — not losing Pods — is what marks a node NotReady.</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Taints the node controller adds</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node.kubernetes.io/not-ready and node.kubernetes.io/unreachable, each as NoSchedule then NoExecute.</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tolerationSeconds</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NoExecute evictions honour a per-Pod tolerationSeconds, so Pods are not removed the instant a node blips.</a:t>
            </a:r>
          </a:p>
        </p:txBody>
      </p:sp>
      <p:sp>
        <p:nvSpPr>
          <p:cNvPr id="22" name="Rectangle 21"/>
          <p:cNvSpPr/>
          <p:nvPr/>
        </p:nvSpPr>
        <p:spPr>
          <a:xfrm>
            <a:off x="777240"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DiskPressure evicts and GCs</a:t>
            </a:r>
          </a:p>
        </p:txBody>
      </p:sp>
      <p:sp>
        <p:nvSpPr>
          <p:cNvPr id="26" name="TextBox 25"/>
          <p:cNvSpPr txBox="1"/>
          <p:nvPr/>
        </p:nvSpPr>
        <p:spPr>
          <a:xfrm>
            <a:off x="1399032"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kubelet reclaims by deleting unused images and evicting Pods. Container logs and images are the usual culprits.</a:t>
            </a:r>
          </a:p>
        </p:txBody>
      </p:sp>
      <p:sp>
        <p:nvSpPr>
          <p:cNvPr id="27" name="Rectangle 26"/>
          <p:cNvSpPr/>
          <p:nvPr/>
        </p:nvSpPr>
        <p:spPr>
          <a:xfrm>
            <a:off x="4392167"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37406"/>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MemoryPressure eviction order</a:t>
            </a:r>
          </a:p>
        </p:txBody>
      </p:sp>
      <p:sp>
        <p:nvSpPr>
          <p:cNvPr id="31" name="TextBox 30"/>
          <p:cNvSpPr txBox="1"/>
          <p:nvPr/>
        </p:nvSpPr>
        <p:spPr>
          <a:xfrm>
            <a:off x="5013959"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BestEffort first, then Burstable over its requests, Guaranteed last. This is why you set requests and limits.</a:t>
            </a:r>
          </a:p>
        </p:txBody>
      </p:sp>
      <p:sp>
        <p:nvSpPr>
          <p:cNvPr id="32" name="Rectangle 31"/>
          <p:cNvSpPr/>
          <p:nvPr/>
        </p:nvSpPr>
        <p:spPr>
          <a:xfrm>
            <a:off x="8007095"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37406"/>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PIDPressure</a:t>
            </a:r>
          </a:p>
        </p:txBody>
      </p:sp>
      <p:sp>
        <p:nvSpPr>
          <p:cNvPr id="36" name="TextBox 35"/>
          <p:cNvSpPr txBox="1"/>
          <p:nvPr/>
        </p:nvSpPr>
        <p:spPr>
          <a:xfrm>
            <a:off x="8628888"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Process-ID exhaustion on the node. Rare, ugly, and usually a runaway fork loop in one container.</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Node-pressure Eviction: kubernetes.io/docs/concepts/scheduling-eviction/node-pressure-eviction/</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545</a:t>
            </a:r>
          </a:p>
        </p:txBody>
      </p:sp>
    </p:spTree>
  </p:cSld>
  <p:clrMapOvr>
    <a:masterClrMapping/>
  </p:clrMapOvr>
  <p:transition xmlns:ns1="http://schemas.openxmlformats.org/markup-compatibility/2006" spd="fast" ns1:Ignorable="p14">
    <p:fade/>
  </p:transition>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CONTROL PLANE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Read-Only Health: /readyz?verbose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supported way to ask the control plane how it is — and it changes nothing.</a:t>
            </a:r>
          </a:p>
        </p:txBody>
      </p:sp>
      <p:sp>
        <p:nvSpPr>
          <p:cNvPr id="7" name="Rectangle 6"/>
          <p:cNvSpPr/>
          <p:nvPr/>
        </p:nvSpPr>
        <p:spPr>
          <a:xfrm>
            <a:off x="777240" y="2200046"/>
            <a:ext cx="6903720" cy="3798417"/>
          </a:xfrm>
          <a:prstGeom prst="rect">
            <a:avLst/>
          </a:prstGeom>
          <a:solidFill>
            <a:srgbClr val="0B1220"/>
          </a:solidFill>
          <a:ln>
            <a:noFill/>
          </a:ln>
          <a:effectLst/>
        </p:spPr>
        <p:txBody>
          <a:bodyPr rtlCol="0" anchor="ctr" wrap="none"/>
          <a:lstStyle/>
          <a:p>
            <a:pPr algn="ctr"/>
          </a:p>
        </p:txBody>
      </p:sp>
      <p:sp>
        <p:nvSpPr>
          <p:cNvPr id="8" name="TextBox 7"/>
          <p:cNvSpPr txBox="1"/>
          <p:nvPr/>
        </p:nvSpPr>
        <p:spPr>
          <a:xfrm>
            <a:off x="923544" y="2328062"/>
            <a:ext cx="6611112" cy="237744"/>
          </a:xfrm>
          <a:prstGeom prst="rect">
            <a:avLst/>
          </a:prstGeom>
          <a:noFill/>
        </p:spPr>
        <p:txBody>
          <a:bodyPr wrap="square" lIns="0" rIns="0" tIns="0" bIns="0" anchor="t">
            <a:spAutoFit/>
          </a:bodyPr>
          <a:lstStyle/>
          <a:p>
            <a:pPr algn="l">
              <a:lnSpc>
                <a:spcPct val="100000"/>
              </a:lnSpc>
            </a:pPr>
            <a:r>
              <a:rPr sz="950" b="1" i="0">
                <a:solidFill>
                  <a:srgbClr val="94A3B8"/>
                </a:solidFill>
                <a:latin typeface="Arial"/>
              </a:rPr>
              <a:t>API server health endpoints · read-only</a:t>
            </a:r>
          </a:p>
        </p:txBody>
      </p:sp>
      <p:sp>
        <p:nvSpPr>
          <p:cNvPr id="9" name="TextBox 8"/>
          <p:cNvSpPr txBox="1"/>
          <p:nvPr/>
        </p:nvSpPr>
        <p:spPr>
          <a:xfrm>
            <a:off x="923544" y="2620670"/>
            <a:ext cx="6611112" cy="3231489"/>
          </a:xfrm>
          <a:prstGeom prst="rect">
            <a:avLst/>
          </a:prstGeom>
          <a:noFill/>
        </p:spPr>
        <p:txBody>
          <a:bodyPr wrap="none" lIns="0" rIns="0" tIns="0" bIns="0">
            <a:spAutoFit/>
          </a:bodyPr>
          <a:lstStyle/>
          <a:p>
            <a:pPr>
              <a:lnSpc>
                <a:spcPts val="1413"/>
              </a:lnSpc>
              <a:spcAft>
                <a:spcPts val="0"/>
              </a:spcAft>
            </a:pPr>
            <a:r>
              <a:rPr sz="1000">
                <a:solidFill>
                  <a:srgbClr val="7EE787"/>
                </a:solidFill>
                <a:latin typeface="Consolas"/>
              </a:rPr>
              <a:t>$ kubectl get --raw='/readyz?verbose' | tail -12</a:t>
            </a:r>
          </a:p>
          <a:p>
            <a:pPr>
              <a:lnSpc>
                <a:spcPts val="1413"/>
              </a:lnSpc>
              <a:spcAft>
                <a:spcPts val="0"/>
              </a:spcAft>
            </a:pPr>
            <a:r>
              <a:rPr sz="1000">
                <a:solidFill>
                  <a:srgbClr val="E6EDF3"/>
                </a:solidFill>
                <a:latin typeface="Consolas"/>
              </a:rPr>
              <a:t>[+]ping ok</a:t>
            </a:r>
          </a:p>
          <a:p>
            <a:pPr>
              <a:lnSpc>
                <a:spcPts val="1413"/>
              </a:lnSpc>
              <a:spcAft>
                <a:spcPts val="0"/>
              </a:spcAft>
            </a:pPr>
            <a:r>
              <a:rPr sz="1000">
                <a:solidFill>
                  <a:srgbClr val="E6EDF3"/>
                </a:solidFill>
                <a:latin typeface="Consolas"/>
              </a:rPr>
              <a:t>[+]log ok</a:t>
            </a:r>
          </a:p>
          <a:p>
            <a:pPr>
              <a:lnSpc>
                <a:spcPts val="1413"/>
              </a:lnSpc>
              <a:spcAft>
                <a:spcPts val="0"/>
              </a:spcAft>
            </a:pPr>
            <a:r>
              <a:rPr sz="1000">
                <a:solidFill>
                  <a:srgbClr val="E6EDF3"/>
                </a:solidFill>
                <a:latin typeface="Consolas"/>
              </a:rPr>
              <a:t>[+]etcd ok</a:t>
            </a:r>
          </a:p>
          <a:p>
            <a:pPr>
              <a:lnSpc>
                <a:spcPts val="1413"/>
              </a:lnSpc>
              <a:spcAft>
                <a:spcPts val="0"/>
              </a:spcAft>
            </a:pPr>
            <a:r>
              <a:rPr sz="1000">
                <a:solidFill>
                  <a:srgbClr val="E6EDF3"/>
                </a:solidFill>
                <a:latin typeface="Consolas"/>
              </a:rPr>
              <a:t>[+]etcd-readiness ok</a:t>
            </a:r>
          </a:p>
          <a:p>
            <a:pPr>
              <a:lnSpc>
                <a:spcPts val="1413"/>
              </a:lnSpc>
              <a:spcAft>
                <a:spcPts val="0"/>
              </a:spcAft>
            </a:pPr>
            <a:r>
              <a:rPr sz="1000">
                <a:solidFill>
                  <a:srgbClr val="E6EDF3"/>
                </a:solidFill>
                <a:latin typeface="Consolas"/>
              </a:rPr>
              <a:t>[+]informer-sync ok</a:t>
            </a:r>
          </a:p>
          <a:p>
            <a:pPr>
              <a:lnSpc>
                <a:spcPts val="1413"/>
              </a:lnSpc>
              <a:spcAft>
                <a:spcPts val="0"/>
              </a:spcAft>
            </a:pPr>
            <a:r>
              <a:rPr sz="1000">
                <a:solidFill>
                  <a:srgbClr val="E6EDF3"/>
                </a:solidFill>
                <a:latin typeface="Consolas"/>
              </a:rPr>
              <a:t>[+]poststarthook/bootstrap-controller ok</a:t>
            </a:r>
          </a:p>
          <a:p>
            <a:pPr>
              <a:lnSpc>
                <a:spcPts val="1413"/>
              </a:lnSpc>
              <a:spcAft>
                <a:spcPts val="0"/>
              </a:spcAft>
            </a:pPr>
            <a:r>
              <a:rPr sz="1000">
                <a:solidFill>
                  <a:srgbClr val="E6EDF3"/>
                </a:solidFill>
                <a:latin typeface="Consolas"/>
              </a:rPr>
              <a:t>[+]poststarthook/rbac/bootstrap-roles ok</a:t>
            </a:r>
          </a:p>
          <a:p>
            <a:pPr>
              <a:lnSpc>
                <a:spcPts val="1413"/>
              </a:lnSpc>
              <a:spcAft>
                <a:spcPts val="0"/>
              </a:spcAft>
            </a:pPr>
            <a:r>
              <a:rPr sz="1000">
                <a:solidFill>
                  <a:srgbClr val="E6EDF3"/>
                </a:solidFill>
                <a:latin typeface="Consolas"/>
              </a:rPr>
              <a:t>[+]shutdown ok</a:t>
            </a:r>
          </a:p>
          <a:p>
            <a:pPr>
              <a:lnSpc>
                <a:spcPts val="1413"/>
              </a:lnSpc>
              <a:spcAft>
                <a:spcPts val="0"/>
              </a:spcAft>
            </a:pPr>
            <a:r>
              <a:rPr sz="1000">
                <a:solidFill>
                  <a:srgbClr val="E6EDF3"/>
                </a:solidFill>
                <a:latin typeface="Consolas"/>
              </a:rPr>
              <a:t>readyz check passed</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get --raw='/livez?verbose' | tail -3</a:t>
            </a:r>
          </a:p>
          <a:p>
            <a:pPr>
              <a:lnSpc>
                <a:spcPts val="1413"/>
              </a:lnSpc>
              <a:spcAft>
                <a:spcPts val="0"/>
              </a:spcAft>
            </a:pPr>
            <a:r>
              <a:rPr sz="1000">
                <a:solidFill>
                  <a:srgbClr val="E6EDF3"/>
                </a:solidFill>
                <a:latin typeface="Consolas"/>
              </a:rPr>
              <a:t>[+]etcd ok</a:t>
            </a:r>
          </a:p>
          <a:p>
            <a:pPr>
              <a:lnSpc>
                <a:spcPts val="1413"/>
              </a:lnSpc>
              <a:spcAft>
                <a:spcPts val="0"/>
              </a:spcAft>
            </a:pPr>
            <a:r>
              <a:rPr sz="1000">
                <a:solidFill>
                  <a:srgbClr val="E6EDF3"/>
                </a:solidFill>
                <a:latin typeface="Consolas"/>
              </a:rPr>
              <a:t>[+]autoregister-completion ok</a:t>
            </a:r>
          </a:p>
          <a:p>
            <a:pPr>
              <a:lnSpc>
                <a:spcPts val="1413"/>
              </a:lnSpc>
              <a:spcAft>
                <a:spcPts val="0"/>
              </a:spcAft>
            </a:pPr>
            <a:r>
              <a:rPr sz="1000">
                <a:solidFill>
                  <a:srgbClr val="E6EDF3"/>
                </a:solidFill>
                <a:latin typeface="Consolas"/>
              </a:rPr>
              <a:t>livez check passed</a:t>
            </a:r>
          </a:p>
          <a:p>
            <a:pPr>
              <a:lnSpc>
                <a:spcPts val="1413"/>
              </a:lnSpc>
              <a:spcAft>
                <a:spcPts val="0"/>
              </a:spcAft>
            </a:pPr>
            <a:r>
              <a:rPr sz="1000">
                <a:solidFill>
                  <a:srgbClr val="E6EDF3"/>
                </a:solidFill>
                <a:latin typeface="Consolas"/>
              </a:rPr>
              <a:t> </a:t>
            </a:r>
          </a:p>
          <a:p>
            <a:pPr>
              <a:lnSpc>
                <a:spcPts val="1413"/>
              </a:lnSpc>
              <a:spcAft>
                <a:spcPts val="0"/>
              </a:spcAft>
            </a:pPr>
            <a:r>
              <a:rPr sz="1000">
                <a:solidFill>
                  <a:srgbClr val="7EE787"/>
                </a:solidFill>
                <a:latin typeface="Consolas"/>
              </a:rPr>
              <a:t>$ kubectl get componentstatuses</a:t>
            </a:r>
          </a:p>
          <a:p>
            <a:pPr>
              <a:lnSpc>
                <a:spcPts val="1413"/>
              </a:lnSpc>
              <a:spcAft>
                <a:spcPts val="0"/>
              </a:spcAft>
            </a:pPr>
            <a:r>
              <a:rPr sz="1000">
                <a:solidFill>
                  <a:srgbClr val="E6EDF3"/>
                </a:solidFill>
                <a:latin typeface="Consolas"/>
              </a:rPr>
              <a:t>Warning: v1 ComponentStatus is deprecated in v1.19+</a:t>
            </a:r>
          </a:p>
        </p:txBody>
      </p:sp>
      <p:sp>
        <p:nvSpPr>
          <p:cNvPr id="10" name="Rectangle 9"/>
          <p:cNvSpPr/>
          <p:nvPr/>
        </p:nvSpPr>
        <p:spPr>
          <a:xfrm>
            <a:off x="7936992" y="2200046"/>
            <a:ext cx="3538727" cy="381670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936992" y="2200046"/>
            <a:ext cx="3538727"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8119871" y="2245766"/>
            <a:ext cx="3172967"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WHAT TO LOOK AT</a:t>
            </a:r>
          </a:p>
        </p:txBody>
      </p:sp>
      <p:sp>
        <p:nvSpPr>
          <p:cNvPr id="13" name="Oval 12"/>
          <p:cNvSpPr/>
          <p:nvPr/>
        </p:nvSpPr>
        <p:spPr>
          <a:xfrm>
            <a:off x="8119871" y="2648102"/>
            <a:ext cx="237744" cy="237744"/>
          </a:xfrm>
          <a:prstGeom prst="ellipse">
            <a:avLst/>
          </a:prstGeom>
          <a:solidFill>
            <a:srgbClr val="1F6FEB"/>
          </a:solidFill>
          <a:ln>
            <a:noFill/>
          </a:ln>
          <a:effectLst/>
        </p:spPr>
        <p:txBody>
          <a:bodyPr rtlCol="0" anchor="ctr" wrap="square" lIns="0" rIns="0" tIns="0" bIns="0"/>
          <a:lstStyle/>
          <a:p>
            <a:pPr algn="ctr"/>
            <a:r>
              <a:rPr sz="900" b="1">
                <a:solidFill>
                  <a:srgbClr val="FFFFFF"/>
                </a:solidFill>
                <a:latin typeface="Arial"/>
              </a:rPr>
              <a:t>1</a:t>
            </a:r>
          </a:p>
        </p:txBody>
      </p:sp>
      <p:sp>
        <p:nvSpPr>
          <p:cNvPr id="14" name="TextBox 13"/>
          <p:cNvSpPr txBox="1"/>
          <p:nvPr/>
        </p:nvSpPr>
        <p:spPr>
          <a:xfrm>
            <a:off x="8439912" y="262067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livez vs readyz vs healthz</a:t>
            </a:r>
          </a:p>
        </p:txBody>
      </p:sp>
      <p:sp>
        <p:nvSpPr>
          <p:cNvPr id="15" name="TextBox 14"/>
          <p:cNvSpPr txBox="1"/>
          <p:nvPr/>
        </p:nvSpPr>
        <p:spPr>
          <a:xfrm>
            <a:off x="8439912" y="283098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livez = is the process functional; readyz = should it take traffic. Exactly the container probe distinction. healthz is deprecated.</a:t>
            </a:r>
          </a:p>
        </p:txBody>
      </p:sp>
      <p:sp>
        <p:nvSpPr>
          <p:cNvPr id="16" name="Oval 15"/>
          <p:cNvSpPr/>
          <p:nvPr/>
        </p:nvSpPr>
        <p:spPr>
          <a:xfrm>
            <a:off x="8119871" y="3379622"/>
            <a:ext cx="237744" cy="237744"/>
          </a:xfrm>
          <a:prstGeom prst="ellipse">
            <a:avLst/>
          </a:prstGeom>
          <a:solidFill>
            <a:srgbClr val="10B981"/>
          </a:solidFill>
          <a:ln>
            <a:noFill/>
          </a:ln>
          <a:effectLst/>
        </p:spPr>
        <p:txBody>
          <a:bodyPr rtlCol="0" anchor="ctr" wrap="square" lIns="0" rIns="0" tIns="0" bIns="0"/>
          <a:lstStyle/>
          <a:p>
            <a:pPr algn="ctr"/>
            <a:r>
              <a:rPr sz="900" b="1">
                <a:solidFill>
                  <a:srgbClr val="FFFFFF"/>
                </a:solidFill>
                <a:latin typeface="Arial"/>
              </a:rPr>
              <a:t>2</a:t>
            </a:r>
          </a:p>
        </p:txBody>
      </p:sp>
      <p:sp>
        <p:nvSpPr>
          <p:cNvPr id="17" name="TextBox 16"/>
          <p:cNvSpPr txBox="1"/>
          <p:nvPr/>
        </p:nvSpPr>
        <p:spPr>
          <a:xfrm>
            <a:off x="8439912" y="335219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[-]etcd failed is THE line</a:t>
            </a:r>
          </a:p>
        </p:txBody>
      </p:sp>
      <p:sp>
        <p:nvSpPr>
          <p:cNvPr id="18" name="TextBox 17"/>
          <p:cNvSpPr txBox="1"/>
          <p:nvPr/>
        </p:nvSpPr>
        <p:spPr>
          <a:xfrm>
            <a:off x="8439912" y="356250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It means the API server cannot reach its datastore. Everything else in the cluster is about to fail behind it.</a:t>
            </a:r>
          </a:p>
        </p:txBody>
      </p:sp>
      <p:sp>
        <p:nvSpPr>
          <p:cNvPr id="19" name="Oval 18"/>
          <p:cNvSpPr/>
          <p:nvPr/>
        </p:nvSpPr>
        <p:spPr>
          <a:xfrm>
            <a:off x="8119871" y="4111142"/>
            <a:ext cx="237744" cy="237744"/>
          </a:xfrm>
          <a:prstGeom prst="ellipse">
            <a:avLst/>
          </a:prstGeom>
          <a:solidFill>
            <a:srgbClr val="7C3AED"/>
          </a:solidFill>
          <a:ln>
            <a:noFill/>
          </a:ln>
          <a:effectLst/>
        </p:spPr>
        <p:txBody>
          <a:bodyPr rtlCol="0" anchor="ctr" wrap="square" lIns="0" rIns="0" tIns="0" bIns="0"/>
          <a:lstStyle/>
          <a:p>
            <a:pPr algn="ctr"/>
            <a:r>
              <a:rPr sz="900" b="1">
                <a:solidFill>
                  <a:srgbClr val="FFFFFF"/>
                </a:solidFill>
                <a:latin typeface="Arial"/>
              </a:rPr>
              <a:t>3</a:t>
            </a:r>
          </a:p>
        </p:txBody>
      </p:sp>
      <p:sp>
        <p:nvSpPr>
          <p:cNvPr id="20" name="TextBox 19"/>
          <p:cNvSpPr txBox="1"/>
          <p:nvPr/>
        </p:nvSpPr>
        <p:spPr>
          <a:xfrm>
            <a:off x="8439912" y="408371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Individual checks, not a summary</a:t>
            </a:r>
          </a:p>
        </p:txBody>
      </p:sp>
      <p:sp>
        <p:nvSpPr>
          <p:cNvPr id="21" name="TextBox 20"/>
          <p:cNvSpPr txBox="1"/>
          <p:nvPr/>
        </p:nvSpPr>
        <p:spPr>
          <a:xfrm>
            <a:off x="8439912" y="429402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?verbose lists every registered check with + or -. Without it you get one word and no diagnosis.</a:t>
            </a:r>
          </a:p>
        </p:txBody>
      </p:sp>
      <p:sp>
        <p:nvSpPr>
          <p:cNvPr id="22" name="Oval 21"/>
          <p:cNvSpPr/>
          <p:nvPr/>
        </p:nvSpPr>
        <p:spPr>
          <a:xfrm>
            <a:off x="8119871" y="4842662"/>
            <a:ext cx="237744" cy="237744"/>
          </a:xfrm>
          <a:prstGeom prst="ellipse">
            <a:avLst/>
          </a:prstGeom>
          <a:solidFill>
            <a:srgbClr val="F59E0B"/>
          </a:solidFill>
          <a:ln>
            <a:noFill/>
          </a:ln>
          <a:effectLst/>
        </p:spPr>
        <p:txBody>
          <a:bodyPr rtlCol="0" anchor="ctr" wrap="square" lIns="0" rIns="0" tIns="0" bIns="0"/>
          <a:lstStyle/>
          <a:p>
            <a:pPr algn="ctr"/>
            <a:r>
              <a:rPr sz="900" b="1">
                <a:solidFill>
                  <a:srgbClr val="FFFFFF"/>
                </a:solidFill>
                <a:latin typeface="Arial"/>
              </a:rPr>
              <a:t>4</a:t>
            </a:r>
          </a:p>
        </p:txBody>
      </p:sp>
      <p:sp>
        <p:nvSpPr>
          <p:cNvPr id="23" name="TextBox 22"/>
          <p:cNvSpPr txBox="1"/>
          <p:nvPr/>
        </p:nvSpPr>
        <p:spPr>
          <a:xfrm>
            <a:off x="8439912" y="4815230"/>
            <a:ext cx="2825495" cy="219456"/>
          </a:xfrm>
          <a:prstGeom prst="rect">
            <a:avLst/>
          </a:prstGeom>
          <a:noFill/>
        </p:spPr>
        <p:txBody>
          <a:bodyPr wrap="square" lIns="0" rIns="0" tIns="0" bIns="0" anchor="t">
            <a:spAutoFit/>
          </a:bodyPr>
          <a:lstStyle/>
          <a:p>
            <a:pPr algn="l">
              <a:lnSpc>
                <a:spcPct val="100000"/>
              </a:lnSpc>
            </a:pPr>
            <a:r>
              <a:rPr sz="1000" b="1" i="0">
                <a:solidFill>
                  <a:srgbClr val="161B26"/>
                </a:solidFill>
                <a:latin typeface="Arial"/>
              </a:rPr>
              <a:t>ComponentStatus is not a fallback</a:t>
            </a:r>
          </a:p>
        </p:txBody>
      </p:sp>
      <p:sp>
        <p:nvSpPr>
          <p:cNvPr id="24" name="TextBox 23"/>
          <p:cNvSpPr txBox="1"/>
          <p:nvPr/>
        </p:nvSpPr>
        <p:spPr>
          <a:xfrm>
            <a:off x="8439912" y="5025542"/>
            <a:ext cx="2825495" cy="475488"/>
          </a:xfrm>
          <a:prstGeom prst="rect">
            <a:avLst/>
          </a:prstGeom>
          <a:noFill/>
        </p:spPr>
        <p:txBody>
          <a:bodyPr wrap="square" lIns="0" rIns="0" tIns="0" bIns="0" anchor="t">
            <a:spAutoFit/>
          </a:bodyPr>
          <a:lstStyle/>
          <a:p>
            <a:pPr algn="l">
              <a:lnSpc>
                <a:spcPct val="106000"/>
              </a:lnSpc>
            </a:pPr>
            <a:r>
              <a:rPr sz="900" b="0" i="0">
                <a:solidFill>
                  <a:srgbClr val="5B6372"/>
                </a:solidFill>
                <a:latin typeface="Arial"/>
              </a:rPr>
              <a:t>Deprecated since v1.19; may be empty or absent. Recognise it in old documentation and do not depend on it.</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Kubernetes API health endpoints (/livez, /readyz, /healthz): kubernetes.io/docs/reference/using-api/health-checks/</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546</a:t>
            </a:r>
          </a:p>
        </p:txBody>
      </p:sp>
    </p:spTree>
  </p:cSld>
  <p:clrMapOvr>
    <a:masterClrMapping/>
  </p:clrMapOvr>
  <p:transition xmlns:ns1="http://schemas.openxmlformats.org/markup-compatibility/2006" spd="fast" ns1:Ignorable="p14">
    <p:fade/>
  </p:transition>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CONTROL PLANE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Read-Only Inspection Surfaces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on this slide reads. Nothing on it modifies, restarts, scales or deletes.</a:t>
            </a:r>
          </a:p>
        </p:txBody>
      </p:sp>
      <p:sp>
        <p:nvSpPr>
          <p:cNvPr id="7" name="Rectangle 6"/>
          <p:cNvSpPr/>
          <p:nvPr/>
        </p:nvSpPr>
        <p:spPr>
          <a:xfrm>
            <a:off x="777240" y="2200046"/>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428292"/>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382926"/>
            <a:ext cx="1261872" cy="1099108"/>
          </a:xfrm>
          <a:prstGeom prst="rect">
            <a:avLst/>
          </a:prstGeom>
          <a:noFill/>
        </p:spPr>
        <p:txBody>
          <a:bodyPr wrap="square" lIns="0" rIns="0" tIns="0" bIns="0" anchor="t">
            <a:spAutoFit/>
          </a:bodyPr>
          <a:lstStyle/>
          <a:p>
            <a:pPr algn="l">
              <a:lnSpc>
                <a:spcPct val="112000"/>
              </a:lnSpc>
            </a:pPr>
            <a:r>
              <a:rPr sz="950" b="1" i="0">
                <a:solidFill>
                  <a:srgbClr val="1F6FEB"/>
                </a:solidFill>
                <a:latin typeface="Arial"/>
              </a:rPr>
              <a:t>THROUGH THE API</a:t>
            </a:r>
          </a:p>
        </p:txBody>
      </p:sp>
      <p:sp>
        <p:nvSpPr>
          <p:cNvPr id="10" name="Rounded Rectangle 9"/>
          <p:cNvSpPr/>
          <p:nvPr/>
        </p:nvSpPr>
        <p:spPr>
          <a:xfrm>
            <a:off x="2258568" y="2273198"/>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1" name="TextBox 10"/>
          <p:cNvSpPr txBox="1"/>
          <p:nvPr/>
        </p:nvSpPr>
        <p:spPr>
          <a:xfrm>
            <a:off x="2350008"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--raw='/readyz?verbose'</a:t>
            </a:r>
          </a:p>
        </p:txBody>
      </p:sp>
      <p:sp>
        <p:nvSpPr>
          <p:cNvPr id="12" name="TextBox 11"/>
          <p:cNvSpPr txBox="1"/>
          <p:nvPr/>
        </p:nvSpPr>
        <p:spPr>
          <a:xfrm>
            <a:off x="2350008"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Per-check control-plane readiness, including etcd reachability</a:t>
            </a:r>
          </a:p>
        </p:txBody>
      </p:sp>
      <p:sp>
        <p:nvSpPr>
          <p:cNvPr id="13" name="Rounded Rectangle 12"/>
          <p:cNvSpPr/>
          <p:nvPr/>
        </p:nvSpPr>
        <p:spPr>
          <a:xfrm>
            <a:off x="5318760" y="2273198"/>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4" name="TextBox 13"/>
          <p:cNvSpPr txBox="1"/>
          <p:nvPr/>
        </p:nvSpPr>
        <p:spPr>
          <a:xfrm>
            <a:off x="5410199"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kube-system Pods</a:t>
            </a:r>
          </a:p>
        </p:txBody>
      </p:sp>
      <p:sp>
        <p:nvSpPr>
          <p:cNvPr id="15" name="TextBox 14"/>
          <p:cNvSpPr txBox="1"/>
          <p:nvPr/>
        </p:nvSpPr>
        <p:spPr>
          <a:xfrm>
            <a:off x="5410199"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kubectl -n kube-system get pods -l tier=control-plane</a:t>
            </a:r>
          </a:p>
        </p:txBody>
      </p:sp>
      <p:sp>
        <p:nvSpPr>
          <p:cNvPr id="16" name="Rounded Rectangle 15"/>
          <p:cNvSpPr/>
          <p:nvPr/>
        </p:nvSpPr>
        <p:spPr>
          <a:xfrm>
            <a:off x="8378951" y="2273198"/>
            <a:ext cx="2895599" cy="1281988"/>
          </a:xfrm>
          <a:prstGeom prst="roundRect">
            <a:avLst>
              <a:gd name="adj" fmla="val 10000"/>
            </a:avLst>
          </a:prstGeom>
          <a:solidFill>
            <a:srgbClr val="FFFFFF"/>
          </a:solidFill>
          <a:ln w="17780">
            <a:solidFill>
              <a:srgbClr val="1F6FEB"/>
            </a:solidFill>
          </a:ln>
          <a:effectLst/>
        </p:spPr>
        <p:txBody>
          <a:bodyPr rtlCol="0" anchor="ctr" wrap="square"/>
          <a:lstStyle/>
          <a:p>
            <a:pPr algn="ctr"/>
          </a:p>
        </p:txBody>
      </p:sp>
      <p:sp>
        <p:nvSpPr>
          <p:cNvPr id="17" name="TextBox 16"/>
          <p:cNvSpPr txBox="1"/>
          <p:nvPr/>
        </p:nvSpPr>
        <p:spPr>
          <a:xfrm>
            <a:off x="8470391" y="2328062"/>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Component logs</a:t>
            </a:r>
          </a:p>
        </p:txBody>
      </p:sp>
      <p:sp>
        <p:nvSpPr>
          <p:cNvPr id="18" name="TextBox 17"/>
          <p:cNvSpPr txBox="1"/>
          <p:nvPr/>
        </p:nvSpPr>
        <p:spPr>
          <a:xfrm>
            <a:off x="8470391" y="2561234"/>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kubectl -n kube-system logs kube-scheduler-&lt;node&gt;</a:t>
            </a:r>
          </a:p>
        </p:txBody>
      </p:sp>
      <p:sp>
        <p:nvSpPr>
          <p:cNvPr id="19" name="Rectangle 18"/>
          <p:cNvSpPr/>
          <p:nvPr/>
        </p:nvSpPr>
        <p:spPr>
          <a:xfrm>
            <a:off x="777240" y="3811219"/>
            <a:ext cx="10698480" cy="1428292"/>
          </a:xfrm>
          <a:prstGeom prst="rect">
            <a:avLst/>
          </a:prstGeom>
          <a:solidFill>
            <a:srgbClr val="F5F8FC"/>
          </a:solidFill>
          <a:ln w="12700">
            <a:solidFill>
              <a:srgbClr val="E2E8F0"/>
            </a:solidFill>
          </a:ln>
          <a:effectLst/>
        </p:spPr>
        <p:txBody>
          <a:bodyPr rtlCol="0" anchor="ctr" wrap="square"/>
          <a:lstStyle/>
          <a:p>
            <a:pPr algn="ctr"/>
          </a:p>
        </p:txBody>
      </p:sp>
      <p:sp>
        <p:nvSpPr>
          <p:cNvPr id="20" name="Rectangle 19"/>
          <p:cNvSpPr/>
          <p:nvPr/>
        </p:nvSpPr>
        <p:spPr>
          <a:xfrm>
            <a:off x="777240" y="3811219"/>
            <a:ext cx="50292" cy="1428292"/>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94099"/>
            <a:ext cx="1261872" cy="1099108"/>
          </a:xfrm>
          <a:prstGeom prst="rect">
            <a:avLst/>
          </a:prstGeom>
          <a:noFill/>
        </p:spPr>
        <p:txBody>
          <a:bodyPr wrap="square" lIns="0" rIns="0" tIns="0" bIns="0" anchor="t">
            <a:spAutoFit/>
          </a:bodyPr>
          <a:lstStyle/>
          <a:p>
            <a:pPr algn="l">
              <a:lnSpc>
                <a:spcPct val="112000"/>
              </a:lnSpc>
            </a:pPr>
            <a:r>
              <a:rPr sz="950" b="1" i="0">
                <a:solidFill>
                  <a:srgbClr val="F59E0B"/>
                </a:solidFill>
                <a:latin typeface="Arial"/>
              </a:rPr>
              <a:t>ON THE NODE, WHEN THE API IS DOWN</a:t>
            </a:r>
          </a:p>
        </p:txBody>
      </p:sp>
      <p:sp>
        <p:nvSpPr>
          <p:cNvPr id="22" name="Rounded Rectangle 21"/>
          <p:cNvSpPr/>
          <p:nvPr/>
        </p:nvSpPr>
        <p:spPr>
          <a:xfrm>
            <a:off x="2258568" y="3884371"/>
            <a:ext cx="2895599" cy="1281988"/>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3" name="TextBox 22"/>
          <p:cNvSpPr txBox="1"/>
          <p:nvPr/>
        </p:nvSpPr>
        <p:spPr>
          <a:xfrm>
            <a:off x="2350008"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Static Pod manifests</a:t>
            </a:r>
          </a:p>
        </p:txBody>
      </p:sp>
      <p:sp>
        <p:nvSpPr>
          <p:cNvPr id="24" name="TextBox 23"/>
          <p:cNvSpPr txBox="1"/>
          <p:nvPr/>
        </p:nvSpPr>
        <p:spPr>
          <a:xfrm>
            <a:off x="2350008"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/etc/kubernetes/manifests/ — cat only, never an editor</a:t>
            </a:r>
          </a:p>
        </p:txBody>
      </p:sp>
      <p:sp>
        <p:nvSpPr>
          <p:cNvPr id="25" name="Rounded Rectangle 24"/>
          <p:cNvSpPr/>
          <p:nvPr/>
        </p:nvSpPr>
        <p:spPr>
          <a:xfrm>
            <a:off x="5318760" y="3884371"/>
            <a:ext cx="2895599" cy="1281988"/>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6" name="TextBox 25"/>
          <p:cNvSpPr txBox="1"/>
          <p:nvPr/>
        </p:nvSpPr>
        <p:spPr>
          <a:xfrm>
            <a:off x="5410199"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Container runtime</a:t>
            </a:r>
          </a:p>
        </p:txBody>
      </p:sp>
      <p:sp>
        <p:nvSpPr>
          <p:cNvPr id="27" name="TextBox 26"/>
          <p:cNvSpPr txBox="1"/>
          <p:nvPr/>
        </p:nvSpPr>
        <p:spPr>
          <a:xfrm>
            <a:off x="5410199"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crictl ps --name kube-apiserver, when kubectl cannot answer</a:t>
            </a:r>
          </a:p>
        </p:txBody>
      </p:sp>
      <p:sp>
        <p:nvSpPr>
          <p:cNvPr id="28" name="Rounded Rectangle 27"/>
          <p:cNvSpPr/>
          <p:nvPr/>
        </p:nvSpPr>
        <p:spPr>
          <a:xfrm>
            <a:off x="8378951" y="3884371"/>
            <a:ext cx="2895599" cy="1281988"/>
          </a:xfrm>
          <a:prstGeom prst="roundRect">
            <a:avLst>
              <a:gd name="adj" fmla="val 10000"/>
            </a:avLst>
          </a:prstGeom>
          <a:solidFill>
            <a:srgbClr val="FFFFFF"/>
          </a:solidFill>
          <a:ln w="17780">
            <a:solidFill>
              <a:srgbClr val="F59E0B"/>
            </a:solidFill>
          </a:ln>
          <a:effectLst/>
        </p:spPr>
        <p:txBody>
          <a:bodyPr rtlCol="0" anchor="ctr" wrap="square"/>
          <a:lstStyle/>
          <a:p>
            <a:pPr algn="ctr"/>
          </a:p>
        </p:txBody>
      </p:sp>
      <p:sp>
        <p:nvSpPr>
          <p:cNvPr id="29" name="TextBox 28"/>
          <p:cNvSpPr txBox="1"/>
          <p:nvPr/>
        </p:nvSpPr>
        <p:spPr>
          <a:xfrm>
            <a:off x="8470391" y="3939235"/>
            <a:ext cx="2712719" cy="219456"/>
          </a:xfrm>
          <a:prstGeom prst="rect">
            <a:avLst/>
          </a:prstGeom>
          <a:noFill/>
        </p:spPr>
        <p:txBody>
          <a:bodyPr wrap="square" lIns="0" rIns="0" tIns="0" bIns="0" anchor="t">
            <a:spAutoFit/>
          </a:bodyPr>
          <a:lstStyle/>
          <a:p>
            <a:pPr algn="ctr">
              <a:lnSpc>
                <a:spcPct val="100000"/>
              </a:lnSpc>
            </a:pPr>
            <a:r>
              <a:rPr sz="1100" b="1" i="0">
                <a:solidFill>
                  <a:srgbClr val="161B26"/>
                </a:solidFill>
                <a:latin typeface="Arial"/>
              </a:rPr>
              <a:t>kubelet service</a:t>
            </a:r>
          </a:p>
        </p:txBody>
      </p:sp>
      <p:sp>
        <p:nvSpPr>
          <p:cNvPr id="30" name="TextBox 29"/>
          <p:cNvSpPr txBox="1"/>
          <p:nvPr/>
        </p:nvSpPr>
        <p:spPr>
          <a:xfrm>
            <a:off x="8470391" y="4172407"/>
            <a:ext cx="2712719" cy="920800"/>
          </a:xfrm>
          <a:prstGeom prst="rect">
            <a:avLst/>
          </a:prstGeom>
          <a:noFill/>
        </p:spPr>
        <p:txBody>
          <a:bodyPr wrap="square" lIns="0" rIns="0" tIns="0" bIns="0" anchor="t">
            <a:spAutoFit/>
          </a:bodyPr>
          <a:lstStyle/>
          <a:p>
            <a:pPr algn="ctr">
              <a:lnSpc>
                <a:spcPct val="106000"/>
              </a:lnSpc>
            </a:pPr>
            <a:r>
              <a:rPr sz="850" b="0" i="0">
                <a:solidFill>
                  <a:srgbClr val="5B6372"/>
                </a:solidFill>
                <a:latin typeface="Arial"/>
              </a:rPr>
              <a:t>systemctl status kubelet and its journal on that node</a:t>
            </a:r>
          </a:p>
        </p:txBody>
      </p:sp>
      <p:sp>
        <p:nvSpPr>
          <p:cNvPr id="31" name="Rectangle 30"/>
          <p:cNvSpPr/>
          <p:nvPr/>
        </p:nvSpPr>
        <p:spPr>
          <a:xfrm>
            <a:off x="777240" y="5404104"/>
            <a:ext cx="10698480" cy="566928"/>
          </a:xfrm>
          <a:prstGeom prst="rect">
            <a:avLst/>
          </a:prstGeom>
          <a:solidFill>
            <a:srgbClr val="EFF4FF"/>
          </a:solidFill>
          <a:ln>
            <a:noFill/>
          </a:ln>
          <a:effectLst/>
        </p:spPr>
        <p:txBody>
          <a:bodyPr rtlCol="0" anchor="ctr" wrap="square"/>
          <a:lstStyle/>
          <a:p>
            <a:pPr algn="ctr"/>
          </a:p>
        </p:txBody>
      </p:sp>
      <p:sp>
        <p:nvSpPr>
          <p:cNvPr id="32" name="Rectangle 31"/>
          <p:cNvSpPr/>
          <p:nvPr/>
        </p:nvSpPr>
        <p:spPr>
          <a:xfrm>
            <a:off x="777240" y="5404104"/>
            <a:ext cx="50292" cy="566928"/>
          </a:xfrm>
          <a:prstGeom prst="rect">
            <a:avLst/>
          </a:prstGeom>
          <a:solidFill>
            <a:srgbClr val="1F6FEB"/>
          </a:solidFill>
          <a:ln>
            <a:noFill/>
          </a:ln>
          <a:effectLst/>
        </p:spPr>
        <p:txBody>
          <a:bodyPr rtlCol="0" anchor="ctr" wrap="square"/>
          <a:lstStyle/>
          <a:p>
            <a:pPr algn="ctr"/>
          </a:p>
        </p:txBody>
      </p:sp>
      <p:sp>
        <p:nvSpPr>
          <p:cNvPr id="33" name="TextBox 32"/>
          <p:cNvSpPr txBox="1"/>
          <p:nvPr/>
        </p:nvSpPr>
        <p:spPr>
          <a:xfrm>
            <a:off x="996695" y="5458968"/>
            <a:ext cx="2194560" cy="201168"/>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MECHANISM</a:t>
            </a:r>
          </a:p>
        </p:txBody>
      </p:sp>
      <p:sp>
        <p:nvSpPr>
          <p:cNvPr id="34" name="TextBox 33"/>
          <p:cNvSpPr txBox="1"/>
          <p:nvPr/>
        </p:nvSpPr>
        <p:spPr>
          <a:xfrm>
            <a:off x="996695" y="5660136"/>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The kubelet runs whatever it finds in /etc/kubernetes/manifests/ with no API server, no validation and no rollback — one typo there takes kubectl away from you entirely.</a:t>
            </a:r>
          </a:p>
        </p:txBody>
      </p:sp>
      <p:sp>
        <p:nvSpPr>
          <p:cNvPr id="35" name="TextBox 3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Static Pods: kubernetes.io/docs/tasks/configure-pod-container/static-pod/</a:t>
            </a:r>
          </a:p>
        </p:txBody>
      </p:sp>
      <p:sp>
        <p:nvSpPr>
          <p:cNvPr id="36" name="TextBox 3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7" name="TextBox 3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8" name="TextBox 3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547</a:t>
            </a:r>
          </a:p>
        </p:txBody>
      </p:sp>
    </p:spTree>
  </p:cSld>
  <p:clrMapOvr>
    <a:masterClrMapping/>
  </p:clrMapOvr>
  <p:transition xmlns:ns1="http://schemas.openxmlformats.org/markup-compatibility/2006" spd="fast" ns1:Ignorable="p14">
    <p:fade/>
  </p:transition>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CONTROL PLANE</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Which Component Is Down? Read The Blast Radius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Discussed, never induced. On a shared training cluster, breaking the control plane ends the day for everyone.</a:t>
            </a:r>
          </a:p>
        </p:txBody>
      </p:sp>
      <p:sp>
        <p:nvSpPr>
          <p:cNvPr id="7" name="Rectangle 6"/>
          <p:cNvSpPr/>
          <p:nvPr/>
        </p:nvSpPr>
        <p:spPr>
          <a:xfrm>
            <a:off x="777240" y="2200046"/>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Component down</a:t>
            </a:r>
          </a:p>
        </p:txBody>
      </p:sp>
      <p:sp>
        <p:nvSpPr>
          <p:cNvPr id="9" name="Rectangle 8"/>
          <p:cNvSpPr/>
          <p:nvPr/>
        </p:nvSpPr>
        <p:spPr>
          <a:xfrm>
            <a:off x="3451860" y="2200046"/>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Still works</a:t>
            </a:r>
          </a:p>
        </p:txBody>
      </p:sp>
      <p:sp>
        <p:nvSpPr>
          <p:cNvPr id="11" name="Rectangle 10"/>
          <p:cNvSpPr/>
          <p:nvPr/>
        </p:nvSpPr>
        <p:spPr>
          <a:xfrm>
            <a:off x="6126479" y="2200046"/>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Breaks</a:t>
            </a:r>
          </a:p>
        </p:txBody>
      </p:sp>
      <p:sp>
        <p:nvSpPr>
          <p:cNvPr id="13" name="Rectangle 12"/>
          <p:cNvSpPr/>
          <p:nvPr/>
        </p:nvSpPr>
        <p:spPr>
          <a:xfrm>
            <a:off x="8801100" y="2200046"/>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0630"/>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First check</a:t>
            </a:r>
          </a:p>
        </p:txBody>
      </p:sp>
      <p:sp>
        <p:nvSpPr>
          <p:cNvPr id="15" name="Rectangle 14"/>
          <p:cNvSpPr/>
          <p:nvPr/>
        </p:nvSpPr>
        <p:spPr>
          <a:xfrm>
            <a:off x="77724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02966"/>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kube-apiserver</a:t>
            </a:r>
          </a:p>
        </p:txBody>
      </p:sp>
      <p:sp>
        <p:nvSpPr>
          <p:cNvPr id="17" name="Rectangle 16"/>
          <p:cNvSpPr/>
          <p:nvPr/>
        </p:nvSpPr>
        <p:spPr>
          <a:xfrm>
            <a:off x="345186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Running Pods; kube-proxy keeps routing</a:t>
            </a:r>
          </a:p>
        </p:txBody>
      </p:sp>
      <p:sp>
        <p:nvSpPr>
          <p:cNvPr id="19" name="Rectangle 18"/>
          <p:cNvSpPr/>
          <p:nvPr/>
        </p:nvSpPr>
        <p:spPr>
          <a:xfrm>
            <a:off x="6126479"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All kubectl, every controller, every state change</a:t>
            </a:r>
          </a:p>
        </p:txBody>
      </p:sp>
      <p:sp>
        <p:nvSpPr>
          <p:cNvPr id="21" name="Rectangle 20"/>
          <p:cNvSpPr/>
          <p:nvPr/>
        </p:nvSpPr>
        <p:spPr>
          <a:xfrm>
            <a:off x="8801100" y="2620670"/>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029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crictl ps on the node; etcd reachability</a:t>
            </a:r>
          </a:p>
        </p:txBody>
      </p:sp>
      <p:sp>
        <p:nvSpPr>
          <p:cNvPr id="23" name="Rectangle 22"/>
          <p:cNvSpPr/>
          <p:nvPr/>
        </p:nvSpPr>
        <p:spPr>
          <a:xfrm>
            <a:off x="77724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54166"/>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etcd</a:t>
            </a:r>
          </a:p>
        </p:txBody>
      </p:sp>
      <p:sp>
        <p:nvSpPr>
          <p:cNvPr id="25" name="Rectangle 24"/>
          <p:cNvSpPr/>
          <p:nvPr/>
        </p:nvSpPr>
        <p:spPr>
          <a:xfrm>
            <a:off x="345186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Almost nothing meaningful</a:t>
            </a:r>
          </a:p>
        </p:txBody>
      </p:sp>
      <p:sp>
        <p:nvSpPr>
          <p:cNvPr id="27" name="Rectangle 26"/>
          <p:cNvSpPr/>
          <p:nvPr/>
        </p:nvSpPr>
        <p:spPr>
          <a:xfrm>
            <a:off x="6126479"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API server goes read-only then fails; everything follows</a:t>
            </a:r>
          </a:p>
        </p:txBody>
      </p:sp>
      <p:sp>
        <p:nvSpPr>
          <p:cNvPr id="29" name="Rectangle 28"/>
          <p:cNvSpPr/>
          <p:nvPr/>
        </p:nvSpPr>
        <p:spPr>
          <a:xfrm>
            <a:off x="8801100" y="3171870"/>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54166"/>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--raw='/readyz?verbose' -&gt; [-]etcd failed</a:t>
            </a:r>
          </a:p>
        </p:txBody>
      </p:sp>
      <p:sp>
        <p:nvSpPr>
          <p:cNvPr id="31" name="Rectangle 30"/>
          <p:cNvSpPr/>
          <p:nvPr/>
        </p:nvSpPr>
        <p:spPr>
          <a:xfrm>
            <a:off x="77724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053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kube-scheduler</a:t>
            </a:r>
          </a:p>
        </p:txBody>
      </p:sp>
      <p:sp>
        <p:nvSpPr>
          <p:cNvPr id="33" name="Rectangle 32"/>
          <p:cNvSpPr/>
          <p:nvPr/>
        </p:nvSpPr>
        <p:spPr>
          <a:xfrm>
            <a:off x="345186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Existing Pods run normally</a:t>
            </a:r>
          </a:p>
        </p:txBody>
      </p:sp>
      <p:sp>
        <p:nvSpPr>
          <p:cNvPr id="35" name="Rectangle 34"/>
          <p:cNvSpPr/>
          <p:nvPr/>
        </p:nvSpPr>
        <p:spPr>
          <a:xfrm>
            <a:off x="6126479"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New Pods stay Pending with NO FailedScheduling event at all</a:t>
            </a:r>
          </a:p>
        </p:txBody>
      </p:sp>
      <p:sp>
        <p:nvSpPr>
          <p:cNvPr id="37" name="Rectangle 36"/>
          <p:cNvSpPr/>
          <p:nvPr/>
        </p:nvSpPr>
        <p:spPr>
          <a:xfrm>
            <a:off x="8801100" y="37230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053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kube-system logs kube-scheduler-&lt;node&gt;</a:t>
            </a:r>
          </a:p>
        </p:txBody>
      </p:sp>
      <p:sp>
        <p:nvSpPr>
          <p:cNvPr id="39" name="Rectangle 38"/>
          <p:cNvSpPr/>
          <p:nvPr/>
        </p:nvSpPr>
        <p:spPr>
          <a:xfrm>
            <a:off x="77724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565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kube-controller-manager</a:t>
            </a:r>
          </a:p>
        </p:txBody>
      </p:sp>
      <p:sp>
        <p:nvSpPr>
          <p:cNvPr id="41" name="Rectangle 40"/>
          <p:cNvSpPr/>
          <p:nvPr/>
        </p:nvSpPr>
        <p:spPr>
          <a:xfrm>
            <a:off x="345186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Existing Pods run</a:t>
            </a:r>
          </a:p>
        </p:txBody>
      </p:sp>
      <p:sp>
        <p:nvSpPr>
          <p:cNvPr id="43" name="Rectangle 42"/>
          <p:cNvSpPr/>
          <p:nvPr/>
        </p:nvSpPr>
        <p:spPr>
          <a:xfrm>
            <a:off x="6126479"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Deployments create no ReplicaSets; endpoints stop updating</a:t>
            </a:r>
          </a:p>
        </p:txBody>
      </p:sp>
      <p:sp>
        <p:nvSpPr>
          <p:cNvPr id="45" name="Rectangle 44"/>
          <p:cNvSpPr/>
          <p:nvPr/>
        </p:nvSpPr>
        <p:spPr>
          <a:xfrm>
            <a:off x="8801100" y="4274271"/>
            <a:ext cx="2674620" cy="551200"/>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3565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kube-system logs kube-controller-manager-&lt;node&gt;</a:t>
            </a:r>
          </a:p>
        </p:txBody>
      </p:sp>
      <p:sp>
        <p:nvSpPr>
          <p:cNvPr id="47" name="Rectangle 46"/>
          <p:cNvSpPr/>
          <p:nvPr/>
        </p:nvSpPr>
        <p:spPr>
          <a:xfrm>
            <a:off x="77724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7767"/>
            <a:ext cx="2418587" cy="404896"/>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kubelet on one node</a:t>
            </a:r>
          </a:p>
        </p:txBody>
      </p:sp>
      <p:sp>
        <p:nvSpPr>
          <p:cNvPr id="49" name="Rectangle 48"/>
          <p:cNvSpPr/>
          <p:nvPr/>
        </p:nvSpPr>
        <p:spPr>
          <a:xfrm>
            <a:off x="345186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Every other node is fine</a:t>
            </a:r>
          </a:p>
        </p:txBody>
      </p:sp>
      <p:sp>
        <p:nvSpPr>
          <p:cNvPr id="51" name="Rectangle 50"/>
          <p:cNvSpPr/>
          <p:nvPr/>
        </p:nvSpPr>
        <p:spPr>
          <a:xfrm>
            <a:off x="6126479"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That node goes NotReady; its Pods evicted after the grace period</a:t>
            </a:r>
          </a:p>
        </p:txBody>
      </p:sp>
      <p:sp>
        <p:nvSpPr>
          <p:cNvPr id="53" name="Rectangle 52"/>
          <p:cNvSpPr/>
          <p:nvPr/>
        </p:nvSpPr>
        <p:spPr>
          <a:xfrm>
            <a:off x="8801100" y="4825471"/>
            <a:ext cx="2674620" cy="551200"/>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07767"/>
            <a:ext cx="2418587" cy="404896"/>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systemctl status kubelet on that node</a:t>
            </a:r>
          </a:p>
        </p:txBody>
      </p:sp>
      <p:sp>
        <p:nvSpPr>
          <p:cNvPr id="55" name="Rectangle 54"/>
          <p:cNvSpPr/>
          <p:nvPr/>
        </p:nvSpPr>
        <p:spPr>
          <a:xfrm>
            <a:off x="777240" y="5559551"/>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1"/>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5"/>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3"/>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Pending with a FailedScheduling event = the scheduler is alive and refusing. Pending with no event at all = suspect the scheduler itself.</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548</a:t>
            </a:r>
          </a:p>
        </p:txBody>
      </p:sp>
    </p:spTree>
  </p:cSld>
  <p:clrMapOvr>
    <a:masterClrMapping/>
  </p:clrMapOvr>
  <p:transition xmlns:ns1="http://schemas.openxmlformats.org/markup-compatibility/2006" spd="fast" ns1:Ignorable="p14">
    <p:fade/>
  </p:transition>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TROUBLESHOOTING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Three Altitudes Of Failure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Localise the altitude first; the evidence you should gather is completely different at each one.</a:t>
            </a:r>
          </a:p>
        </p:txBody>
      </p:sp>
      <p:sp>
        <p:nvSpPr>
          <p:cNvPr id="7" name="Rectangle 6"/>
          <p:cNvSpPr/>
          <p:nvPr/>
        </p:nvSpPr>
        <p:spPr>
          <a:xfrm>
            <a:off x="777240"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3286353" cy="109728"/>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1033271"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Application failure</a:t>
            </a:r>
          </a:p>
        </p:txBody>
      </p:sp>
      <p:sp>
        <p:nvSpPr>
          <p:cNvPr id="10" name="TextBox 9"/>
          <p:cNvSpPr txBox="1"/>
          <p:nvPr/>
        </p:nvSpPr>
        <p:spPr>
          <a:xfrm>
            <a:off x="1033271"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Confined to one workload; the cluster is healthy</a:t>
            </a:r>
          </a:p>
          <a:p>
            <a:pPr>
              <a:lnSpc>
                <a:spcPct val="112000"/>
              </a:lnSpc>
              <a:spcAft>
                <a:spcPts val="500"/>
              </a:spcAft>
            </a:pPr>
            <a:r>
              <a:rPr sz="1100">
                <a:solidFill>
                  <a:srgbClr val="94A3B8"/>
                </a:solidFill>
                <a:latin typeface="Arial"/>
              </a:rPr>
              <a:t>•  </a:t>
            </a:r>
            <a:r>
              <a:rPr sz="1100">
                <a:solidFill>
                  <a:srgbClr val="5B6372"/>
                </a:solidFill>
                <a:latin typeface="Arial"/>
              </a:rPr>
              <a:t>Q1-Q5 localise it in one or two commands</a:t>
            </a:r>
          </a:p>
          <a:p>
            <a:pPr>
              <a:lnSpc>
                <a:spcPct val="112000"/>
              </a:lnSpc>
              <a:spcAft>
                <a:spcPts val="500"/>
              </a:spcAft>
            </a:pPr>
            <a:r>
              <a:rPr sz="1100">
                <a:solidFill>
                  <a:srgbClr val="94A3B8"/>
                </a:solidFill>
                <a:latin typeface="Arial"/>
              </a:rPr>
              <a:t>•  </a:t>
            </a:r>
            <a:r>
              <a:rPr sz="1100">
                <a:solidFill>
                  <a:srgbClr val="5B6372"/>
                </a:solidFill>
                <a:latin typeface="Arial"/>
              </a:rPr>
              <a:t>Evidence: events, --previous logs, exit codes, EndpointSlice</a:t>
            </a:r>
          </a:p>
          <a:p>
            <a:pPr>
              <a:lnSpc>
                <a:spcPct val="112000"/>
              </a:lnSpc>
              <a:spcAft>
                <a:spcPts val="500"/>
              </a:spcAft>
            </a:pPr>
            <a:r>
              <a:rPr sz="1100">
                <a:solidFill>
                  <a:srgbClr val="94A3B8"/>
                </a:solidFill>
                <a:latin typeface="Arial"/>
              </a:rPr>
              <a:t>•  </a:t>
            </a:r>
            <a:r>
              <a:rPr sz="1100">
                <a:solidFill>
                  <a:srgbClr val="5B6372"/>
                </a:solidFill>
                <a:latin typeface="Arial"/>
              </a:rPr>
              <a:t>You own the fix — it is almost always in your manifest</a:t>
            </a:r>
          </a:p>
        </p:txBody>
      </p:sp>
      <p:sp>
        <p:nvSpPr>
          <p:cNvPr id="11" name="Rounded Rectangle 10"/>
          <p:cNvSpPr/>
          <p:nvPr/>
        </p:nvSpPr>
        <p:spPr>
          <a:xfrm>
            <a:off x="1033271" y="5532120"/>
            <a:ext cx="594359"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Lab 25</a:t>
            </a:r>
          </a:p>
        </p:txBody>
      </p:sp>
      <p:sp>
        <p:nvSpPr>
          <p:cNvPr id="12" name="Rounded Rectangle 11"/>
          <p:cNvSpPr/>
          <p:nvPr/>
        </p:nvSpPr>
        <p:spPr>
          <a:xfrm>
            <a:off x="1719072" y="5532120"/>
            <a:ext cx="525780" cy="274320"/>
          </a:xfrm>
          <a:prstGeom prst="roundRect">
            <a:avLst>
              <a:gd name="adj" fmla="val 42000"/>
            </a:avLst>
          </a:prstGeom>
          <a:solidFill>
            <a:srgbClr val="EFF4FF"/>
          </a:solidFill>
          <a:ln>
            <a:noFill/>
          </a:ln>
          <a:effectLst/>
        </p:spPr>
        <p:txBody>
          <a:bodyPr rtlCol="0" anchor="ctr" wrap="square" lIns="45720" rIns="45720" tIns="0" bIns="0"/>
          <a:lstStyle/>
          <a:p>
            <a:pPr algn="ctr"/>
            <a:r>
              <a:rPr sz="900" b="1">
                <a:solidFill>
                  <a:srgbClr val="1F6FEB"/>
                </a:solidFill>
                <a:latin typeface="Arial"/>
              </a:rPr>
              <a:t>Q1-Q5</a:t>
            </a:r>
          </a:p>
        </p:txBody>
      </p:sp>
      <p:sp>
        <p:nvSpPr>
          <p:cNvPr id="13" name="Rectangle 12"/>
          <p:cNvSpPr/>
          <p:nvPr/>
        </p:nvSpPr>
        <p:spPr>
          <a:xfrm>
            <a:off x="4483303"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14" name="Rectangle 13"/>
          <p:cNvSpPr/>
          <p:nvPr/>
        </p:nvSpPr>
        <p:spPr>
          <a:xfrm>
            <a:off x="4483303" y="2200046"/>
            <a:ext cx="3286353" cy="109728"/>
          </a:xfrm>
          <a:prstGeom prst="rect">
            <a:avLst/>
          </a:prstGeom>
          <a:solidFill>
            <a:srgbClr val="10B981"/>
          </a:solidFill>
          <a:ln>
            <a:noFill/>
          </a:ln>
          <a:effectLst/>
        </p:spPr>
        <p:txBody>
          <a:bodyPr rtlCol="0" anchor="ctr" wrap="square"/>
          <a:lstStyle/>
          <a:p>
            <a:pPr algn="ctr"/>
          </a:p>
        </p:txBody>
      </p:sp>
      <p:sp>
        <p:nvSpPr>
          <p:cNvPr id="15" name="TextBox 14"/>
          <p:cNvSpPr txBox="1"/>
          <p:nvPr/>
        </p:nvSpPr>
        <p:spPr>
          <a:xfrm>
            <a:off x="4739335"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Worker-node failure</a:t>
            </a:r>
          </a:p>
        </p:txBody>
      </p:sp>
      <p:sp>
        <p:nvSpPr>
          <p:cNvPr id="16" name="TextBox 15"/>
          <p:cNvSpPr txBox="1"/>
          <p:nvPr/>
        </p:nvSpPr>
        <p:spPr>
          <a:xfrm>
            <a:off x="4739335"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Every Pod on one node is affected; others are fine</a:t>
            </a:r>
          </a:p>
          <a:p>
            <a:pPr>
              <a:lnSpc>
                <a:spcPct val="112000"/>
              </a:lnSpc>
              <a:spcAft>
                <a:spcPts val="500"/>
              </a:spcAft>
            </a:pPr>
            <a:r>
              <a:rPr sz="1100">
                <a:solidFill>
                  <a:srgbClr val="94A3B8"/>
                </a:solidFill>
                <a:latin typeface="Arial"/>
              </a:rPr>
              <a:t>•  </a:t>
            </a:r>
            <a:r>
              <a:rPr sz="1100">
                <a:solidFill>
                  <a:srgbClr val="5B6372"/>
                </a:solidFill>
                <a:latin typeface="Arial"/>
              </a:rPr>
              <a:t>Evidence: node conditions, pressure taints, kubelet status</a:t>
            </a:r>
          </a:p>
          <a:p>
            <a:pPr>
              <a:lnSpc>
                <a:spcPct val="112000"/>
              </a:lnSpc>
              <a:spcAft>
                <a:spcPts val="500"/>
              </a:spcAft>
            </a:pPr>
            <a:r>
              <a:rPr sz="1100">
                <a:solidFill>
                  <a:srgbClr val="94A3B8"/>
                </a:solidFill>
                <a:latin typeface="Arial"/>
              </a:rPr>
              <a:t>•  </a:t>
            </a:r>
            <a:r>
              <a:rPr sz="1100">
                <a:solidFill>
                  <a:srgbClr val="5B6372"/>
                </a:solidFill>
                <a:latin typeface="Arial"/>
              </a:rPr>
              <a:t>The node controller reacts for you: taint, then evict</a:t>
            </a:r>
          </a:p>
          <a:p>
            <a:pPr>
              <a:lnSpc>
                <a:spcPct val="112000"/>
              </a:lnSpc>
              <a:spcAft>
                <a:spcPts val="500"/>
              </a:spcAft>
            </a:pPr>
            <a:r>
              <a:rPr sz="1100">
                <a:solidFill>
                  <a:srgbClr val="94A3B8"/>
                </a:solidFill>
                <a:latin typeface="Arial"/>
              </a:rPr>
              <a:t>•  </a:t>
            </a:r>
            <a:r>
              <a:rPr sz="1100">
                <a:solidFill>
                  <a:srgbClr val="5B6372"/>
                </a:solidFill>
                <a:latin typeface="Arial"/>
              </a:rPr>
              <a:t>Fix on the node or replace it; never delete the Node object</a:t>
            </a:r>
          </a:p>
        </p:txBody>
      </p:sp>
      <p:sp>
        <p:nvSpPr>
          <p:cNvPr id="17" name="Rounded Rectangle 16"/>
          <p:cNvSpPr/>
          <p:nvPr/>
        </p:nvSpPr>
        <p:spPr>
          <a:xfrm>
            <a:off x="4739335" y="5532120"/>
            <a:ext cx="868680"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conditions</a:t>
            </a:r>
          </a:p>
        </p:txBody>
      </p:sp>
      <p:sp>
        <p:nvSpPr>
          <p:cNvPr id="18" name="Rounded Rectangle 17"/>
          <p:cNvSpPr/>
          <p:nvPr/>
        </p:nvSpPr>
        <p:spPr>
          <a:xfrm>
            <a:off x="5699455" y="5532120"/>
            <a:ext cx="594359" cy="274320"/>
          </a:xfrm>
          <a:prstGeom prst="roundRect">
            <a:avLst>
              <a:gd name="adj" fmla="val 42000"/>
            </a:avLst>
          </a:prstGeom>
          <a:solidFill>
            <a:srgbClr val="E8F7EE"/>
          </a:solidFill>
          <a:ln>
            <a:noFill/>
          </a:ln>
          <a:effectLst/>
        </p:spPr>
        <p:txBody>
          <a:bodyPr rtlCol="0" anchor="ctr" wrap="square" lIns="45720" rIns="45720" tIns="0" bIns="0"/>
          <a:lstStyle/>
          <a:p>
            <a:pPr algn="ctr"/>
            <a:r>
              <a:rPr sz="900" b="1">
                <a:solidFill>
                  <a:srgbClr val="10B981"/>
                </a:solidFill>
                <a:latin typeface="Arial"/>
              </a:rPr>
              <a:t>taints</a:t>
            </a:r>
          </a:p>
        </p:txBody>
      </p:sp>
      <p:sp>
        <p:nvSpPr>
          <p:cNvPr id="19" name="Rectangle 18"/>
          <p:cNvSpPr/>
          <p:nvPr/>
        </p:nvSpPr>
        <p:spPr>
          <a:xfrm>
            <a:off x="8189366" y="2200046"/>
            <a:ext cx="3286353" cy="3789273"/>
          </a:xfrm>
          <a:prstGeom prst="rect">
            <a:avLst/>
          </a:prstGeom>
          <a:solidFill>
            <a:srgbClr val="FFFFFF"/>
          </a:solidFill>
          <a:ln w="12700">
            <a:solidFill>
              <a:srgbClr val="E2E8F0"/>
            </a:solidFill>
          </a:ln>
          <a:effectLst/>
        </p:spPr>
        <p:txBody>
          <a:bodyPr rtlCol="0" anchor="ctr" wrap="square"/>
          <a:lstStyle/>
          <a:p>
            <a:pPr algn="ctr"/>
          </a:p>
        </p:txBody>
      </p:sp>
      <p:sp>
        <p:nvSpPr>
          <p:cNvPr id="20" name="Rectangle 19"/>
          <p:cNvSpPr/>
          <p:nvPr/>
        </p:nvSpPr>
        <p:spPr>
          <a:xfrm>
            <a:off x="8189366" y="2200046"/>
            <a:ext cx="3286353" cy="109728"/>
          </a:xfrm>
          <a:prstGeom prst="rect">
            <a:avLst/>
          </a:prstGeom>
          <a:solidFill>
            <a:srgbClr val="7C3AED"/>
          </a:solidFill>
          <a:ln>
            <a:noFill/>
          </a:ln>
          <a:effectLst/>
        </p:spPr>
        <p:txBody>
          <a:bodyPr rtlCol="0" anchor="ctr" wrap="square"/>
          <a:lstStyle/>
          <a:p>
            <a:pPr algn="ctr"/>
          </a:p>
        </p:txBody>
      </p:sp>
      <p:sp>
        <p:nvSpPr>
          <p:cNvPr id="21" name="TextBox 20"/>
          <p:cNvSpPr txBox="1"/>
          <p:nvPr/>
        </p:nvSpPr>
        <p:spPr>
          <a:xfrm>
            <a:off x="8445398" y="2510942"/>
            <a:ext cx="2774289" cy="566928"/>
          </a:xfrm>
          <a:prstGeom prst="rect">
            <a:avLst/>
          </a:prstGeom>
          <a:noFill/>
        </p:spPr>
        <p:txBody>
          <a:bodyPr wrap="square" lIns="0" rIns="0" tIns="0" bIns="0" anchor="t">
            <a:spAutoFit/>
          </a:bodyPr>
          <a:lstStyle/>
          <a:p>
            <a:pPr algn="l">
              <a:lnSpc>
                <a:spcPct val="102000"/>
              </a:lnSpc>
            </a:pPr>
            <a:r>
              <a:rPr sz="1500" b="1" i="0">
                <a:solidFill>
                  <a:srgbClr val="161B26"/>
                </a:solidFill>
                <a:latin typeface="Arial"/>
              </a:rPr>
              <a:t>Control-plane failure</a:t>
            </a:r>
          </a:p>
        </p:txBody>
      </p:sp>
      <p:sp>
        <p:nvSpPr>
          <p:cNvPr id="22" name="TextBox 21"/>
          <p:cNvSpPr txBox="1"/>
          <p:nvPr/>
        </p:nvSpPr>
        <p:spPr>
          <a:xfrm>
            <a:off x="8445398" y="3169310"/>
            <a:ext cx="2774289" cy="2326233"/>
          </a:xfrm>
          <a:prstGeom prst="rect">
            <a:avLst/>
          </a:prstGeom>
          <a:noFill/>
        </p:spPr>
        <p:txBody>
          <a:bodyPr wrap="square" lIns="0" rIns="0" tIns="0" bIns="0">
            <a:spAutoFit/>
          </a:bodyPr>
          <a:lstStyle/>
          <a:p>
            <a:pPr>
              <a:lnSpc>
                <a:spcPct val="112000"/>
              </a:lnSpc>
              <a:spcAft>
                <a:spcPts val="500"/>
              </a:spcAft>
            </a:pPr>
            <a:r>
              <a:rPr sz="1100">
                <a:solidFill>
                  <a:srgbClr val="94A3B8"/>
                </a:solidFill>
                <a:latin typeface="Arial"/>
              </a:rPr>
              <a:t>•  </a:t>
            </a:r>
            <a:r>
              <a:rPr sz="1100">
                <a:solidFill>
                  <a:srgbClr val="5B6372"/>
                </a:solidFill>
                <a:latin typeface="Arial"/>
              </a:rPr>
              <a:t>Cluster-wide symptoms with no workload-level cause</a:t>
            </a:r>
          </a:p>
          <a:p>
            <a:pPr>
              <a:lnSpc>
                <a:spcPct val="112000"/>
              </a:lnSpc>
              <a:spcAft>
                <a:spcPts val="500"/>
              </a:spcAft>
            </a:pPr>
            <a:r>
              <a:rPr sz="1100">
                <a:solidFill>
                  <a:srgbClr val="94A3B8"/>
                </a:solidFill>
                <a:latin typeface="Arial"/>
              </a:rPr>
              <a:t>•  </a:t>
            </a:r>
            <a:r>
              <a:rPr sz="1100">
                <a:solidFill>
                  <a:srgbClr val="5B6372"/>
                </a:solidFill>
                <a:latin typeface="Arial"/>
              </a:rPr>
              <a:t>Evidence: /readyz?verbose, kube-system logs, crictl</a:t>
            </a:r>
          </a:p>
          <a:p>
            <a:pPr>
              <a:lnSpc>
                <a:spcPct val="112000"/>
              </a:lnSpc>
              <a:spcAft>
                <a:spcPts val="500"/>
              </a:spcAft>
            </a:pPr>
            <a:r>
              <a:rPr sz="1100">
                <a:solidFill>
                  <a:srgbClr val="94A3B8"/>
                </a:solidFill>
                <a:latin typeface="Arial"/>
              </a:rPr>
              <a:t>•  </a:t>
            </a:r>
            <a:r>
              <a:rPr sz="1100">
                <a:solidFill>
                  <a:srgbClr val="5B6372"/>
                </a:solidFill>
                <a:latin typeface="Arial"/>
              </a:rPr>
              <a:t>Static Pods mean there is no rollout and no undo</a:t>
            </a:r>
          </a:p>
          <a:p>
            <a:pPr>
              <a:lnSpc>
                <a:spcPct val="112000"/>
              </a:lnSpc>
              <a:spcAft>
                <a:spcPts val="500"/>
              </a:spcAft>
            </a:pPr>
            <a:r>
              <a:rPr sz="1100">
                <a:solidFill>
                  <a:srgbClr val="94A3B8"/>
                </a:solidFill>
                <a:latin typeface="Arial"/>
              </a:rPr>
              <a:t>•  </a:t>
            </a:r>
            <a:r>
              <a:rPr sz="1100">
                <a:solidFill>
                  <a:srgbClr val="5B6372"/>
                </a:solidFill>
                <a:latin typeface="Arial"/>
              </a:rPr>
              <a:t>READ ONLY in this course — failure modes are discussed</a:t>
            </a:r>
          </a:p>
        </p:txBody>
      </p:sp>
      <p:sp>
        <p:nvSpPr>
          <p:cNvPr id="23" name="Rounded Rectangle 22"/>
          <p:cNvSpPr/>
          <p:nvPr/>
        </p:nvSpPr>
        <p:spPr>
          <a:xfrm>
            <a:off x="8445398" y="5532120"/>
            <a:ext cx="594359"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readyz</a:t>
            </a:r>
          </a:p>
        </p:txBody>
      </p:sp>
      <p:sp>
        <p:nvSpPr>
          <p:cNvPr id="24" name="Rounded Rectangle 23"/>
          <p:cNvSpPr/>
          <p:nvPr/>
        </p:nvSpPr>
        <p:spPr>
          <a:xfrm>
            <a:off x="9131198" y="5532120"/>
            <a:ext cx="800100" cy="274320"/>
          </a:xfrm>
          <a:prstGeom prst="roundRect">
            <a:avLst>
              <a:gd name="adj" fmla="val 42000"/>
            </a:avLst>
          </a:prstGeom>
          <a:solidFill>
            <a:srgbClr val="F3EBFF"/>
          </a:solidFill>
          <a:ln>
            <a:noFill/>
          </a:ln>
          <a:effectLst/>
        </p:spPr>
        <p:txBody>
          <a:bodyPr rtlCol="0" anchor="ctr" wrap="square" lIns="45720" rIns="45720" tIns="0" bIns="0"/>
          <a:lstStyle/>
          <a:p>
            <a:pPr algn="ctr"/>
            <a:r>
              <a:rPr sz="900" b="1">
                <a:solidFill>
                  <a:srgbClr val="7C3AED"/>
                </a:solidFill>
                <a:latin typeface="Arial"/>
              </a:rPr>
              <a:t>read-only</a:t>
            </a:r>
          </a:p>
        </p:txBody>
      </p:sp>
      <p:sp>
        <p:nvSpPr>
          <p:cNvPr id="25" name="TextBox 2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documentation, Troubleshooting Clusters: kubernetes.io/docs/tasks/debug/debug-cluster/</a:t>
            </a:r>
          </a:p>
        </p:txBody>
      </p:sp>
      <p:sp>
        <p:nvSpPr>
          <p:cNvPr id="26" name="TextBox 2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7" name="TextBox 2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8" name="TextBox 2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549</a:t>
            </a:r>
          </a:p>
        </p:txBody>
      </p:sp>
    </p:spTree>
  </p:cSld>
  <p:clrMapOvr>
    <a:masterClrMapping/>
  </p:clrMapOvr>
  <p:transition xmlns:ns1="http://schemas.openxmlformats.org/markup-compatibility/2006" spd="fast" ns1:Ignorable="p14">
    <p:fade/>
  </p:transition>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HANDS-ON LAB</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400" b="1" i="0">
                <a:solidFill>
                  <a:srgbClr val="161B26"/>
                </a:solidFill>
                <a:latin typeface="Arial"/>
              </a:rPr>
              <a:t>Lab 25 — Troubleshooting Triage: Application, Node and Control Plane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Rectangle 5"/>
          <p:cNvSpPr/>
          <p:nvPr/>
        </p:nvSpPr>
        <p:spPr>
          <a:xfrm>
            <a:off x="777240" y="1737360"/>
            <a:ext cx="10698480" cy="802843"/>
          </a:xfrm>
          <a:prstGeom prst="rect">
            <a:avLst/>
          </a:prstGeom>
          <a:solidFill>
            <a:srgbClr val="E8F7EE"/>
          </a:solidFill>
          <a:ln>
            <a:noFill/>
          </a:ln>
          <a:effectLst/>
        </p:spPr>
        <p:txBody>
          <a:bodyPr rtlCol="0" anchor="ctr" wrap="square"/>
          <a:lstStyle/>
          <a:p>
            <a:pPr algn="ctr"/>
          </a:p>
        </p:txBody>
      </p:sp>
      <p:sp>
        <p:nvSpPr>
          <p:cNvPr id="7" name="Rectangle 6"/>
          <p:cNvSpPr/>
          <p:nvPr/>
        </p:nvSpPr>
        <p:spPr>
          <a:xfrm>
            <a:off x="777240" y="1737360"/>
            <a:ext cx="50292" cy="802843"/>
          </a:xfrm>
          <a:prstGeom prst="rect">
            <a:avLst/>
          </a:prstGeom>
          <a:solidFill>
            <a:srgbClr val="10B981"/>
          </a:solidFill>
          <a:ln>
            <a:noFill/>
          </a:ln>
          <a:effectLst/>
        </p:spPr>
        <p:txBody>
          <a:bodyPr rtlCol="0" anchor="ctr" wrap="square"/>
          <a:lstStyle/>
          <a:p>
            <a:pPr algn="ctr"/>
          </a:p>
        </p:txBody>
      </p:sp>
      <p:sp>
        <p:nvSpPr>
          <p:cNvPr id="8" name="TextBox 7"/>
          <p:cNvSpPr txBox="1"/>
          <p:nvPr/>
        </p:nvSpPr>
        <p:spPr>
          <a:xfrm>
            <a:off x="996695" y="1819656"/>
            <a:ext cx="1280160" cy="219456"/>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GOAL</a:t>
            </a:r>
          </a:p>
        </p:txBody>
      </p:sp>
      <p:sp>
        <p:nvSpPr>
          <p:cNvPr id="9" name="TextBox 8"/>
          <p:cNvSpPr txBox="1"/>
          <p:nvPr/>
        </p:nvSpPr>
        <p:spPr>
          <a:xfrm>
            <a:off x="996695" y="2029967"/>
            <a:ext cx="10241280" cy="437083"/>
          </a:xfrm>
          <a:prstGeom prst="rect">
            <a:avLst/>
          </a:prstGeom>
          <a:noFill/>
        </p:spPr>
        <p:txBody>
          <a:bodyPr wrap="square" lIns="0" rIns="0" tIns="0" bIns="0" anchor="t">
            <a:spAutoFit/>
          </a:bodyPr>
          <a:lstStyle/>
          <a:p>
            <a:pPr algn="l">
              <a:lnSpc>
                <a:spcPct val="105000"/>
              </a:lnSpc>
            </a:pPr>
            <a:r>
              <a:rPr sz="1200" b="0" i="0">
                <a:solidFill>
                  <a:srgbClr val="161B26"/>
                </a:solidFill>
                <a:latin typeface="Arial"/>
              </a:rPr>
              <a:t>Work a queue of four real incidents using a repeatable five-question triage method that identifies the failure phase before the cause, then inspect node and control-plane health strictly read-only.</a:t>
            </a:r>
          </a:p>
        </p:txBody>
      </p:sp>
      <p:sp>
        <p:nvSpPr>
          <p:cNvPr id="10" name="Rectangle 9"/>
          <p:cNvSpPr/>
          <p:nvPr/>
        </p:nvSpPr>
        <p:spPr>
          <a:xfrm>
            <a:off x="777240" y="2668219"/>
            <a:ext cx="5199278" cy="2638145"/>
          </a:xfrm>
          <a:prstGeom prst="rect">
            <a:avLst/>
          </a:prstGeom>
          <a:solidFill>
            <a:srgbClr val="FFFFFF"/>
          </a:solidFill>
          <a:ln w="12700">
            <a:solidFill>
              <a:srgbClr val="E2E8F0"/>
            </a:solidFill>
          </a:ln>
          <a:effectLst/>
        </p:spPr>
        <p:txBody>
          <a:bodyPr rtlCol="0" anchor="ctr" wrap="square"/>
          <a:lstStyle/>
          <a:p>
            <a:pPr algn="ctr"/>
          </a:p>
        </p:txBody>
      </p:sp>
      <p:sp>
        <p:nvSpPr>
          <p:cNvPr id="11" name="Rectangle 10"/>
          <p:cNvSpPr/>
          <p:nvPr/>
        </p:nvSpPr>
        <p:spPr>
          <a:xfrm>
            <a:off x="777240" y="2668219"/>
            <a:ext cx="5199278" cy="292608"/>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960120"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YOU WILL PRODUCE</a:t>
            </a:r>
          </a:p>
        </p:txBody>
      </p:sp>
      <p:sp>
        <p:nvSpPr>
          <p:cNvPr id="13" name="TextBox 12"/>
          <p:cNvSpPr txBox="1"/>
          <p:nvPr/>
        </p:nvSpPr>
        <p:spPr>
          <a:xfrm>
            <a:off x="978408" y="3107131"/>
            <a:ext cx="4796942" cy="2089505"/>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Four diagnosed and repaired workloads: an image-pull typo, a CrashLoopBackOff exiting 127, a Pending Pod the scheduler refused, and a Service whose selector matched nothing</a:t>
            </a:r>
          </a:p>
          <a:p>
            <a:pPr>
              <a:lnSpc>
                <a:spcPct val="112000"/>
              </a:lnSpc>
              <a:spcAft>
                <a:spcPts val="500"/>
              </a:spcAft>
            </a:pPr>
            <a:r>
              <a:rPr sz="1050">
                <a:solidFill>
                  <a:srgbClr val="94A3B8"/>
                </a:solidFill>
                <a:latin typeface="Arial"/>
              </a:rPr>
              <a:t>•  </a:t>
            </a:r>
            <a:r>
              <a:rPr sz="1050">
                <a:solidFill>
                  <a:srgbClr val="5B6372"/>
                </a:solidFill>
                <a:latin typeface="Arial"/>
              </a:rPr>
              <a:t>A completed triage worksheet recording, per ticket, the first failing question, the decisive command, the root cause and the fix</a:t>
            </a:r>
          </a:p>
          <a:p>
            <a:pPr>
              <a:lnSpc>
                <a:spcPct val="112000"/>
              </a:lnSpc>
              <a:spcAft>
                <a:spcPts val="500"/>
              </a:spcAft>
            </a:pPr>
            <a:r>
              <a:rPr sz="1050">
                <a:solidFill>
                  <a:srgbClr val="94A3B8"/>
                </a:solidFill>
                <a:latin typeface="Arial"/>
              </a:rPr>
              <a:t>•  </a:t>
            </a:r>
            <a:r>
              <a:rPr sz="1050">
                <a:solidFill>
                  <a:srgbClr val="5B6372"/>
                </a:solidFill>
                <a:latin typeface="Arial"/>
              </a:rPr>
              <a:t>A reusable decision tree plus an exit-code reference the learner can carry into the practical assessment</a:t>
            </a:r>
          </a:p>
        </p:txBody>
      </p:sp>
      <p:sp>
        <p:nvSpPr>
          <p:cNvPr id="14" name="Rectangle 13"/>
          <p:cNvSpPr/>
          <p:nvPr/>
        </p:nvSpPr>
        <p:spPr>
          <a:xfrm>
            <a:off x="6276441" y="2668219"/>
            <a:ext cx="5199278" cy="2638145"/>
          </a:xfrm>
          <a:prstGeom prst="rect">
            <a:avLst/>
          </a:prstGeom>
          <a:solidFill>
            <a:srgbClr val="FFFFFF"/>
          </a:solidFill>
          <a:ln w="12700">
            <a:solidFill>
              <a:srgbClr val="E2E8F0"/>
            </a:solidFill>
          </a:ln>
          <a:effectLst/>
        </p:spPr>
        <p:txBody>
          <a:bodyPr rtlCol="0" anchor="ctr" wrap="square"/>
          <a:lstStyle/>
          <a:p>
            <a:pPr algn="ctr"/>
          </a:p>
        </p:txBody>
      </p:sp>
      <p:sp>
        <p:nvSpPr>
          <p:cNvPr id="15" name="Rectangle 14"/>
          <p:cNvSpPr/>
          <p:nvPr/>
        </p:nvSpPr>
        <p:spPr>
          <a:xfrm>
            <a:off x="6276441" y="2668219"/>
            <a:ext cx="5199278" cy="292608"/>
          </a:xfrm>
          <a:prstGeom prst="rect">
            <a:avLst/>
          </a:prstGeom>
          <a:solidFill>
            <a:srgbClr val="10B981"/>
          </a:solidFill>
          <a:ln>
            <a:noFill/>
          </a:ln>
          <a:effectLst/>
        </p:spPr>
        <p:txBody>
          <a:bodyPr rtlCol="0" anchor="ctr" wrap="square"/>
          <a:lstStyle/>
          <a:p>
            <a:pPr algn="ctr"/>
          </a:p>
        </p:txBody>
      </p:sp>
      <p:sp>
        <p:nvSpPr>
          <p:cNvPr id="16" name="TextBox 15"/>
          <p:cNvSpPr txBox="1"/>
          <p:nvPr/>
        </p:nvSpPr>
        <p:spPr>
          <a:xfrm>
            <a:off x="6459321" y="2713939"/>
            <a:ext cx="4833518" cy="219456"/>
          </a:xfrm>
          <a:prstGeom prst="rect">
            <a:avLst/>
          </a:prstGeom>
          <a:noFill/>
        </p:spPr>
        <p:txBody>
          <a:bodyPr wrap="square" lIns="0" rIns="0" tIns="0" bIns="0" anchor="t">
            <a:spAutoFit/>
          </a:bodyPr>
          <a:lstStyle/>
          <a:p>
            <a:pPr algn="l">
              <a:lnSpc>
                <a:spcPct val="100000"/>
              </a:lnSpc>
            </a:pPr>
            <a:r>
              <a:rPr sz="900" b="1" i="0">
                <a:solidFill>
                  <a:srgbClr val="FFFFFF"/>
                </a:solidFill>
                <a:latin typeface="Arial"/>
              </a:rPr>
              <a:t>CONCEPTS EXERCISED</a:t>
            </a:r>
          </a:p>
        </p:txBody>
      </p:sp>
      <p:sp>
        <p:nvSpPr>
          <p:cNvPr id="17" name="TextBox 16"/>
          <p:cNvSpPr txBox="1"/>
          <p:nvPr/>
        </p:nvSpPr>
        <p:spPr>
          <a:xfrm>
            <a:off x="6477609" y="3107131"/>
            <a:ext cx="4796942" cy="2089505"/>
          </a:xfrm>
          <a:prstGeom prst="rect">
            <a:avLst/>
          </a:prstGeom>
          <a:noFill/>
        </p:spPr>
        <p:txBody>
          <a:bodyPr wrap="square" lIns="0" rIns="0" tIns="0" bIns="0">
            <a:spAutoFit/>
          </a:bodyPr>
          <a:lstStyle/>
          <a:p>
            <a:pPr>
              <a:lnSpc>
                <a:spcPct val="112000"/>
              </a:lnSpc>
              <a:spcAft>
                <a:spcPts val="500"/>
              </a:spcAft>
            </a:pPr>
            <a:r>
              <a:rPr sz="1050">
                <a:solidFill>
                  <a:srgbClr val="94A3B8"/>
                </a:solidFill>
                <a:latin typeface="Arial"/>
              </a:rPr>
              <a:t>•  </a:t>
            </a:r>
            <a:r>
              <a:rPr sz="1050">
                <a:solidFill>
                  <a:srgbClr val="5B6372"/>
                </a:solidFill>
                <a:latin typeface="Arial"/>
              </a:rPr>
              <a:t>Phase before cause: scheduled, pulled, started, ready, endpoints — stop at the first NO</a:t>
            </a:r>
          </a:p>
          <a:p>
            <a:pPr>
              <a:lnSpc>
                <a:spcPct val="112000"/>
              </a:lnSpc>
              <a:spcAft>
                <a:spcPts val="500"/>
              </a:spcAft>
            </a:pPr>
            <a:r>
              <a:rPr sz="1050">
                <a:solidFill>
                  <a:srgbClr val="94A3B8"/>
                </a:solidFill>
                <a:latin typeface="Arial"/>
              </a:rPr>
              <a:t>•  </a:t>
            </a:r>
            <a:r>
              <a:rPr sz="1050">
                <a:solidFill>
                  <a:srgbClr val="5B6372"/>
                </a:solidFill>
                <a:latin typeface="Arial"/>
              </a:rPr>
              <a:t>Schema-valid is not working: the API server accepts all four broken manifests, so every failure is a runtime failure</a:t>
            </a:r>
          </a:p>
          <a:p>
            <a:pPr>
              <a:lnSpc>
                <a:spcPct val="112000"/>
              </a:lnSpc>
              <a:spcAft>
                <a:spcPts val="500"/>
              </a:spcAft>
            </a:pPr>
            <a:r>
              <a:rPr sz="1050">
                <a:solidFill>
                  <a:srgbClr val="94A3B8"/>
                </a:solidFill>
                <a:latin typeface="Arial"/>
              </a:rPr>
              <a:t>•  </a:t>
            </a:r>
            <a:r>
              <a:rPr sz="1050">
                <a:solidFill>
                  <a:srgbClr val="5B6372"/>
                </a:solidFill>
                <a:latin typeface="Arial"/>
              </a:rPr>
              <a:t>Match the tool to the phase — describe and events for scheduler and kubelet decisions, logs --previous only once a container has run, EndpointSlice for routing</a:t>
            </a:r>
          </a:p>
          <a:p>
            <a:pPr>
              <a:lnSpc>
                <a:spcPct val="112000"/>
              </a:lnSpc>
              <a:spcAft>
                <a:spcPts val="500"/>
              </a:spcAft>
            </a:pPr>
            <a:r>
              <a:rPr sz="1050">
                <a:solidFill>
                  <a:srgbClr val="94A3B8"/>
                </a:solidFill>
                <a:latin typeface="Arial"/>
              </a:rPr>
              <a:t>•  </a:t>
            </a:r>
            <a:r>
              <a:rPr sz="1050">
                <a:solidFill>
                  <a:srgbClr val="5B6372"/>
                </a:solidFill>
                <a:latin typeface="Arial"/>
              </a:rPr>
              <a:t>Control-plane components are static Pods with no controller, no validation and no undo; diagnose with /readyz?verbose and kube-system logs, and never write</a:t>
            </a:r>
          </a:p>
        </p:txBody>
      </p:sp>
      <p:sp>
        <p:nvSpPr>
          <p:cNvPr id="18" name="Rectangle 17"/>
          <p:cNvSpPr/>
          <p:nvPr/>
        </p:nvSpPr>
        <p:spPr>
          <a:xfrm>
            <a:off x="777240" y="548924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19" name="Rectangle 18"/>
          <p:cNvSpPr/>
          <p:nvPr/>
        </p:nvSpPr>
        <p:spPr>
          <a:xfrm>
            <a:off x="777240" y="5489244"/>
            <a:ext cx="45720" cy="566928"/>
          </a:xfrm>
          <a:prstGeom prst="rect">
            <a:avLst/>
          </a:prstGeom>
          <a:solidFill>
            <a:srgbClr val="1F6FEB"/>
          </a:solidFill>
          <a:ln>
            <a:noFill/>
          </a:ln>
          <a:effectLst/>
        </p:spPr>
        <p:txBody>
          <a:bodyPr rtlCol="0" anchor="ctr" wrap="square"/>
          <a:lstStyle/>
          <a:p>
            <a:pPr algn="ctr"/>
          </a:p>
        </p:txBody>
      </p:sp>
      <p:sp>
        <p:nvSpPr>
          <p:cNvPr id="20" name="TextBox 19"/>
          <p:cNvSpPr txBox="1"/>
          <p:nvPr/>
        </p:nvSpPr>
        <p:spPr>
          <a:xfrm>
            <a:off x="941832" y="5553252"/>
            <a:ext cx="2272284" cy="182880"/>
          </a:xfrm>
          <a:prstGeom prst="rect">
            <a:avLst/>
          </a:prstGeom>
          <a:noFill/>
        </p:spPr>
        <p:txBody>
          <a:bodyPr wrap="square" lIns="0" rIns="0" tIns="0" bIns="0" anchor="t">
            <a:spAutoFit/>
          </a:bodyPr>
          <a:lstStyle/>
          <a:p>
            <a:pPr algn="l">
              <a:lnSpc>
                <a:spcPct val="100000"/>
              </a:lnSpc>
            </a:pPr>
            <a:r>
              <a:rPr sz="800" b="1" i="0">
                <a:solidFill>
                  <a:srgbClr val="1F6FEB"/>
                </a:solidFill>
                <a:latin typeface="Arial"/>
              </a:rPr>
              <a:t>LAB</a:t>
            </a:r>
          </a:p>
        </p:txBody>
      </p:sp>
      <p:sp>
        <p:nvSpPr>
          <p:cNvPr id="21" name="TextBox 20"/>
          <p:cNvSpPr txBox="1"/>
          <p:nvPr/>
        </p:nvSpPr>
        <p:spPr>
          <a:xfrm>
            <a:off x="941832" y="573613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Lab 25</a:t>
            </a:r>
          </a:p>
        </p:txBody>
      </p:sp>
      <p:sp>
        <p:nvSpPr>
          <p:cNvPr id="22" name="Rectangle 21"/>
          <p:cNvSpPr/>
          <p:nvPr/>
        </p:nvSpPr>
        <p:spPr>
          <a:xfrm>
            <a:off x="3488436" y="548924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3488436" y="5489244"/>
            <a:ext cx="45720" cy="566928"/>
          </a:xfrm>
          <a:prstGeom prst="rect">
            <a:avLst/>
          </a:prstGeom>
          <a:solidFill>
            <a:srgbClr val="10B981"/>
          </a:solidFill>
          <a:ln>
            <a:noFill/>
          </a:ln>
          <a:effectLst/>
        </p:spPr>
        <p:txBody>
          <a:bodyPr rtlCol="0" anchor="ctr" wrap="square"/>
          <a:lstStyle/>
          <a:p>
            <a:pPr algn="ctr"/>
          </a:p>
        </p:txBody>
      </p:sp>
      <p:sp>
        <p:nvSpPr>
          <p:cNvPr id="24" name="TextBox 23"/>
          <p:cNvSpPr txBox="1"/>
          <p:nvPr/>
        </p:nvSpPr>
        <p:spPr>
          <a:xfrm>
            <a:off x="3653028" y="5553252"/>
            <a:ext cx="2272284" cy="182880"/>
          </a:xfrm>
          <a:prstGeom prst="rect">
            <a:avLst/>
          </a:prstGeom>
          <a:noFill/>
        </p:spPr>
        <p:txBody>
          <a:bodyPr wrap="square" lIns="0" rIns="0" tIns="0" bIns="0" anchor="t">
            <a:spAutoFit/>
          </a:bodyPr>
          <a:lstStyle/>
          <a:p>
            <a:pPr algn="l">
              <a:lnSpc>
                <a:spcPct val="100000"/>
              </a:lnSpc>
            </a:pPr>
            <a:r>
              <a:rPr sz="800" b="1" i="0">
                <a:solidFill>
                  <a:srgbClr val="10B981"/>
                </a:solidFill>
                <a:latin typeface="Arial"/>
              </a:rPr>
              <a:t>NAMESPACE</a:t>
            </a:r>
          </a:p>
        </p:txBody>
      </p:sp>
      <p:sp>
        <p:nvSpPr>
          <p:cNvPr id="25" name="TextBox 24"/>
          <p:cNvSpPr txBox="1"/>
          <p:nvPr/>
        </p:nvSpPr>
        <p:spPr>
          <a:xfrm>
            <a:off x="3653028" y="573613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kcna-lab25</a:t>
            </a:r>
          </a:p>
        </p:txBody>
      </p:sp>
      <p:sp>
        <p:nvSpPr>
          <p:cNvPr id="26" name="Rectangle 25"/>
          <p:cNvSpPr/>
          <p:nvPr/>
        </p:nvSpPr>
        <p:spPr>
          <a:xfrm>
            <a:off x="6199631" y="548924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27" name="Rectangle 26"/>
          <p:cNvSpPr/>
          <p:nvPr/>
        </p:nvSpPr>
        <p:spPr>
          <a:xfrm>
            <a:off x="6199631" y="5489244"/>
            <a:ext cx="45720" cy="566928"/>
          </a:xfrm>
          <a:prstGeom prst="rect">
            <a:avLst/>
          </a:prstGeom>
          <a:solidFill>
            <a:srgbClr val="7C3AED"/>
          </a:solidFill>
          <a:ln>
            <a:noFill/>
          </a:ln>
          <a:effectLst/>
        </p:spPr>
        <p:txBody>
          <a:bodyPr rtlCol="0" anchor="ctr" wrap="square"/>
          <a:lstStyle/>
          <a:p>
            <a:pPr algn="ctr"/>
          </a:p>
        </p:txBody>
      </p:sp>
      <p:sp>
        <p:nvSpPr>
          <p:cNvPr id="28" name="TextBox 27"/>
          <p:cNvSpPr txBox="1"/>
          <p:nvPr/>
        </p:nvSpPr>
        <p:spPr>
          <a:xfrm>
            <a:off x="6364223" y="5553252"/>
            <a:ext cx="2272284" cy="182880"/>
          </a:xfrm>
          <a:prstGeom prst="rect">
            <a:avLst/>
          </a:prstGeom>
          <a:noFill/>
        </p:spPr>
        <p:txBody>
          <a:bodyPr wrap="square" lIns="0" rIns="0" tIns="0" bIns="0" anchor="t">
            <a:spAutoFit/>
          </a:bodyPr>
          <a:lstStyle/>
          <a:p>
            <a:pPr algn="l">
              <a:lnSpc>
                <a:spcPct val="100000"/>
              </a:lnSpc>
            </a:pPr>
            <a:r>
              <a:rPr sz="800" b="1" i="0">
                <a:solidFill>
                  <a:srgbClr val="7C3AED"/>
                </a:solidFill>
                <a:latin typeface="Arial"/>
              </a:rPr>
              <a:t>MAPS TO</a:t>
            </a:r>
          </a:p>
        </p:txBody>
      </p:sp>
      <p:sp>
        <p:nvSpPr>
          <p:cNvPr id="29" name="TextBox 28"/>
          <p:cNvSpPr txBox="1"/>
          <p:nvPr/>
        </p:nvSpPr>
        <p:spPr>
          <a:xfrm>
            <a:off x="6364223" y="573613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LO6 · A6 · K7</a:t>
            </a:r>
          </a:p>
        </p:txBody>
      </p:sp>
      <p:sp>
        <p:nvSpPr>
          <p:cNvPr id="30" name="Rectangle 29"/>
          <p:cNvSpPr/>
          <p:nvPr/>
        </p:nvSpPr>
        <p:spPr>
          <a:xfrm>
            <a:off x="8910828" y="5489244"/>
            <a:ext cx="2564891" cy="566928"/>
          </a:xfrm>
          <a:prstGeom prst="rect">
            <a:avLst/>
          </a:prstGeom>
          <a:solidFill>
            <a:srgbClr val="F4F7FB"/>
          </a:solidFill>
          <a:ln w="12700">
            <a:solidFill>
              <a:srgbClr val="E2E8F0"/>
            </a:solidFill>
          </a:ln>
          <a:effectLst/>
        </p:spPr>
        <p:txBody>
          <a:bodyPr rtlCol="0" anchor="ctr" wrap="square"/>
          <a:lstStyle/>
          <a:p>
            <a:pPr algn="ctr"/>
          </a:p>
        </p:txBody>
      </p:sp>
      <p:sp>
        <p:nvSpPr>
          <p:cNvPr id="31" name="Rectangle 30"/>
          <p:cNvSpPr/>
          <p:nvPr/>
        </p:nvSpPr>
        <p:spPr>
          <a:xfrm>
            <a:off x="8910828" y="5489244"/>
            <a:ext cx="45720" cy="566928"/>
          </a:xfrm>
          <a:prstGeom prst="rect">
            <a:avLst/>
          </a:prstGeom>
          <a:solidFill>
            <a:srgbClr val="F59E0B"/>
          </a:solidFill>
          <a:ln>
            <a:noFill/>
          </a:ln>
          <a:effectLst/>
        </p:spPr>
        <p:txBody>
          <a:bodyPr rtlCol="0" anchor="ctr" wrap="square"/>
          <a:lstStyle/>
          <a:p>
            <a:pPr algn="ctr"/>
          </a:p>
        </p:txBody>
      </p:sp>
      <p:sp>
        <p:nvSpPr>
          <p:cNvPr id="32" name="TextBox 31"/>
          <p:cNvSpPr txBox="1"/>
          <p:nvPr/>
        </p:nvSpPr>
        <p:spPr>
          <a:xfrm>
            <a:off x="9075419" y="5553252"/>
            <a:ext cx="2272284" cy="182880"/>
          </a:xfrm>
          <a:prstGeom prst="rect">
            <a:avLst/>
          </a:prstGeom>
          <a:noFill/>
        </p:spPr>
        <p:txBody>
          <a:bodyPr wrap="square" lIns="0" rIns="0" tIns="0" bIns="0" anchor="t">
            <a:spAutoFit/>
          </a:bodyPr>
          <a:lstStyle/>
          <a:p>
            <a:pPr algn="l">
              <a:lnSpc>
                <a:spcPct val="100000"/>
              </a:lnSpc>
            </a:pPr>
            <a:r>
              <a:rPr sz="800" b="1" i="0">
                <a:solidFill>
                  <a:srgbClr val="F59E0B"/>
                </a:solidFill>
                <a:latin typeface="Arial"/>
              </a:rPr>
              <a:t>TIME</a:t>
            </a:r>
          </a:p>
        </p:txBody>
      </p:sp>
      <p:sp>
        <p:nvSpPr>
          <p:cNvPr id="33" name="TextBox 32"/>
          <p:cNvSpPr txBox="1"/>
          <p:nvPr/>
        </p:nvSpPr>
        <p:spPr>
          <a:xfrm>
            <a:off x="9075419" y="5736132"/>
            <a:ext cx="2272284" cy="256032"/>
          </a:xfrm>
          <a:prstGeom prst="rect">
            <a:avLst/>
          </a:prstGeom>
          <a:noFill/>
        </p:spPr>
        <p:txBody>
          <a:bodyPr wrap="square" lIns="0" rIns="0" tIns="0" bIns="0" anchor="t">
            <a:spAutoFit/>
          </a:bodyPr>
          <a:lstStyle/>
          <a:p>
            <a:pPr algn="l">
              <a:lnSpc>
                <a:spcPct val="100000"/>
              </a:lnSpc>
            </a:pPr>
            <a:r>
              <a:rPr sz="1100" b="1" i="0">
                <a:solidFill>
                  <a:srgbClr val="161B26"/>
                </a:solidFill>
                <a:latin typeface="Arial"/>
              </a:rPr>
              <a:t>55 min</a:t>
            </a:r>
          </a:p>
        </p:txBody>
      </p:sp>
      <p:sp>
        <p:nvSpPr>
          <p:cNvPr id="34" name="TextBox 33"/>
          <p:cNvSpPr txBox="1"/>
          <p:nvPr/>
        </p:nvSpPr>
        <p:spPr>
          <a:xfrm>
            <a:off x="777240" y="6129324"/>
            <a:ext cx="10698480" cy="219456"/>
          </a:xfrm>
          <a:prstGeom prst="rect">
            <a:avLst/>
          </a:prstGeom>
          <a:noFill/>
        </p:spPr>
        <p:txBody>
          <a:bodyPr wrap="square" lIns="0" rIns="0" tIns="0" bIns="0" anchor="t">
            <a:spAutoFit/>
          </a:bodyPr>
          <a:lstStyle/>
          <a:p>
            <a:pPr algn="l">
              <a:lnSpc>
                <a:spcPct val="100000"/>
              </a:lnSpc>
            </a:pPr>
            <a:r>
              <a:rPr sz="900" b="0" i="1">
                <a:solidFill>
                  <a:srgbClr val="94A3B8"/>
                </a:solidFill>
                <a:latin typeface="Arial"/>
              </a:rPr>
              <a:t>Full step-by-step procedure: Learner Guide  ·  courseware/labs/lab-25-troubleshooting-triage/README.md</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550</a:t>
            </a:r>
          </a:p>
        </p:txBody>
      </p:sp>
    </p:spTree>
  </p:cSld>
  <p:clrMapOvr>
    <a:masterClrMapping/>
  </p:clrMapOvr>
  <p:transition xmlns:ns1="http://schemas.openxmlformats.org/markup-compatibility/2006" spd="fast" ns1:Ignorable="p14">
    <p:fade/>
  </p:transition>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Lunch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1:10 – 1:50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551</a:t>
            </a:r>
          </a:p>
        </p:txBody>
      </p:sp>
    </p:spTree>
  </p:cSld>
  <p:clrMapOvr>
    <a:masterClrMapping/>
  </p:clrMapOvr>
  <p:transition xmlns:ns1="http://schemas.openxmlformats.org/markup-compatibility/2006" spd="fast" ns1:Ignorable="p14">
    <p:fade/>
  </p:transition>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09</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KCNA · CLOUD NATIVE ARCHITECTURE</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Ecosystem, Principles and Community</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An explicitly examinable sub-domain: how CNCF projects are governed, how maturity is earned, and how to make an accurate claim about the landscape.</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552</a:t>
            </a:r>
          </a:p>
        </p:txBody>
      </p:sp>
    </p:spTree>
  </p:cSld>
  <p:clrMapOvr>
    <a:masterClrMapping/>
  </p:clrMapOvr>
  <p:transition xmlns:ns1="http://schemas.openxmlformats.org/markup-compatibility/2006" spd="med" ns1:Ignorable="p14">
    <p:push dir="l"/>
  </p:transition>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Landscape Is Not The Foundation</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Being able to say precisely what CNCF membership does and does not imply is itself an exam objective.</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 Landscape</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interactive catalogue of the whole cloud native tooling space, organised into categories. Most entries are NOT CNCF projects.</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Listing is not endorsement</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entry on landscape.cncf.io says 'this exists and fits this category'. It says nothing about maturity, quality or governance.</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CNCF-hosted projects</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far smaller set with a defined maturity level, a governance document, a security process and TOC oversight.</a:t>
            </a:r>
          </a:p>
        </p:txBody>
      </p:sp>
      <p:sp>
        <p:nvSpPr>
          <p:cNvPr id="22" name="Rectangle 21"/>
          <p:cNvSpPr/>
          <p:nvPr/>
        </p:nvSpPr>
        <p:spPr>
          <a:xfrm>
            <a:off x="777240"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3082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Linux Foundation</a:t>
            </a:r>
          </a:p>
        </p:txBody>
      </p:sp>
      <p:sp>
        <p:nvSpPr>
          <p:cNvPr id="26" name="TextBox 25"/>
          <p:cNvSpPr txBox="1"/>
          <p:nvPr/>
        </p:nvSpPr>
        <p:spPr>
          <a:xfrm>
            <a:off x="1399032"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CNCF is a foundation within the Linux Foundation. Trademarks, legal, events and the certification programme sit there.</a:t>
            </a:r>
          </a:p>
        </p:txBody>
      </p:sp>
      <p:sp>
        <p:nvSpPr>
          <p:cNvPr id="27" name="Rectangle 26"/>
          <p:cNvSpPr/>
          <p:nvPr/>
        </p:nvSpPr>
        <p:spPr>
          <a:xfrm>
            <a:off x="4392167"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3082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How to check, not memorise</a:t>
            </a:r>
          </a:p>
        </p:txBody>
      </p:sp>
      <p:sp>
        <p:nvSpPr>
          <p:cNvPr id="31" name="TextBox 30"/>
          <p:cNvSpPr txBox="1"/>
          <p:nvPr/>
        </p:nvSpPr>
        <p:spPr>
          <a:xfrm>
            <a:off x="5013959"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www.cncf.io/projects lists every hosted project and its current level. Levels change; the site is the source of truth.</a:t>
            </a:r>
          </a:p>
        </p:txBody>
      </p:sp>
      <p:sp>
        <p:nvSpPr>
          <p:cNvPr id="32" name="Rectangle 31"/>
          <p:cNvSpPr/>
          <p:nvPr/>
        </p:nvSpPr>
        <p:spPr>
          <a:xfrm>
            <a:off x="8007095"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3082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commonest exam error</a:t>
            </a:r>
          </a:p>
        </p:txBody>
      </p:sp>
      <p:sp>
        <p:nvSpPr>
          <p:cNvPr id="36" name="TextBox 35"/>
          <p:cNvSpPr txBox="1"/>
          <p:nvPr/>
        </p:nvSpPr>
        <p:spPr>
          <a:xfrm>
            <a:off x="8628888"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Assuming a familiar tool is CNCF. Grafana, Loki, Terraform, Docker Engine and Ansible are not CNCF projects.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project list and maturity levels: www.cncf.io/projects/ (checked 5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553</a:t>
            </a:r>
          </a:p>
        </p:txBody>
      </p:sp>
    </p:spTree>
  </p:cSld>
  <p:clrMapOvr>
    <a:masterClrMapping/>
  </p:clrMapOvr>
  <p:transition xmlns:ns1="http://schemas.openxmlformats.org/markup-compatibility/2006" spd="fast" ns1:Ignorable="p14">
    <p:fade/>
  </p:transition>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A Project Moves Through CNCF Maturity</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Promotion is a TOC decision against published criteria — not popularity, downloads or GitHub stars.</a:t>
            </a:r>
          </a:p>
        </p:txBody>
      </p:sp>
      <p:sp>
        <p:nvSpPr>
          <p:cNvPr id="7" name="Rounded Rectangle 6"/>
          <p:cNvSpPr/>
          <p:nvPr/>
        </p:nvSpPr>
        <p:spPr>
          <a:xfrm>
            <a:off x="777240" y="2382926"/>
            <a:ext cx="2441448" cy="1797812"/>
          </a:xfrm>
          <a:prstGeom prst="roundRect">
            <a:avLst>
              <a:gd name="adj" fmla="val 10000"/>
            </a:avLst>
          </a:prstGeom>
          <a:solidFill>
            <a:srgbClr val="FFFFFF"/>
          </a:solidFill>
          <a:ln w="22225">
            <a:solidFill>
              <a:srgbClr val="1F6FEB"/>
            </a:solidFill>
          </a:ln>
          <a:effectLst/>
        </p:spPr>
        <p:txBody>
          <a:bodyPr rtlCol="0" anchor="ctr" wrap="square"/>
          <a:lstStyle/>
          <a:p>
            <a:pPr algn="ctr"/>
          </a:p>
        </p:txBody>
      </p:sp>
      <p:sp>
        <p:nvSpPr>
          <p:cNvPr id="8" name="Rounded Rectangle 7"/>
          <p:cNvSpPr/>
          <p:nvPr/>
        </p:nvSpPr>
        <p:spPr>
          <a:xfrm>
            <a:off x="777240" y="2382926"/>
            <a:ext cx="2441448" cy="274320"/>
          </a:xfrm>
          <a:prstGeom prst="roundRect">
            <a:avLst>
              <a:gd name="adj" fmla="val 42000"/>
            </a:avLst>
          </a:prstGeom>
          <a:solidFill>
            <a:srgbClr val="1F6FEB"/>
          </a:solidFill>
          <a:ln>
            <a:noFill/>
          </a:ln>
          <a:effectLst/>
        </p:spPr>
        <p:txBody>
          <a:bodyPr rtlCol="0" anchor="ctr" wrap="square"/>
          <a:lstStyle/>
          <a:p>
            <a:pPr algn="ctr"/>
          </a:p>
        </p:txBody>
      </p:sp>
      <p:sp>
        <p:nvSpPr>
          <p:cNvPr id="9" name="TextBox 8"/>
          <p:cNvSpPr txBox="1"/>
          <p:nvPr/>
        </p:nvSpPr>
        <p:spPr>
          <a:xfrm>
            <a:off x="777240"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1</a:t>
            </a:r>
          </a:p>
        </p:txBody>
      </p:sp>
      <p:sp>
        <p:nvSpPr>
          <p:cNvPr id="10" name="TextBox 9"/>
          <p:cNvSpPr txBox="1"/>
          <p:nvPr/>
        </p:nvSpPr>
        <p:spPr>
          <a:xfrm>
            <a:off x="923544"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Sandbox</a:t>
            </a:r>
          </a:p>
        </p:txBody>
      </p:sp>
      <p:sp>
        <p:nvSpPr>
          <p:cNvPr id="11" name="TextBox 10"/>
          <p:cNvSpPr txBox="1"/>
          <p:nvPr/>
        </p:nvSpPr>
        <p:spPr>
          <a:xfrm>
            <a:off x="923544"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Early stage. Accepted to encourage experimentation and public collaboration; implies no production endorsement</a:t>
            </a:r>
          </a:p>
        </p:txBody>
      </p:sp>
      <p:cxnSp>
        <p:nvCxnSpPr>
          <p:cNvPr id="12" name="Connector 11"/>
          <p:cNvCxnSpPr/>
          <p:nvPr/>
        </p:nvCxnSpPr>
        <p:spPr>
          <a:xfrm>
            <a:off x="3264408"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9584" y="2382926"/>
            <a:ext cx="2441448" cy="1797812"/>
          </a:xfrm>
          <a:prstGeom prst="roundRect">
            <a:avLst>
              <a:gd name="adj" fmla="val 10000"/>
            </a:avLst>
          </a:prstGeom>
          <a:solidFill>
            <a:srgbClr val="FFFFFF"/>
          </a:solidFill>
          <a:ln w="22225">
            <a:solidFill>
              <a:srgbClr val="10B981"/>
            </a:solidFill>
          </a:ln>
          <a:effectLst/>
        </p:spPr>
        <p:txBody>
          <a:bodyPr rtlCol="0" anchor="ctr" wrap="square"/>
          <a:lstStyle/>
          <a:p>
            <a:pPr algn="ctr"/>
          </a:p>
        </p:txBody>
      </p:sp>
      <p:sp>
        <p:nvSpPr>
          <p:cNvPr id="14" name="Rounded Rectangle 13"/>
          <p:cNvSpPr/>
          <p:nvPr/>
        </p:nvSpPr>
        <p:spPr>
          <a:xfrm>
            <a:off x="3529584" y="2382926"/>
            <a:ext cx="2441448" cy="274320"/>
          </a:xfrm>
          <a:prstGeom prst="roundRect">
            <a:avLst>
              <a:gd name="adj" fmla="val 42000"/>
            </a:avLst>
          </a:prstGeom>
          <a:solidFill>
            <a:srgbClr val="10B981"/>
          </a:solidFill>
          <a:ln>
            <a:noFill/>
          </a:ln>
          <a:effectLst/>
        </p:spPr>
        <p:txBody>
          <a:bodyPr rtlCol="0" anchor="ctr" wrap="square"/>
          <a:lstStyle/>
          <a:p>
            <a:pPr algn="ctr"/>
          </a:p>
        </p:txBody>
      </p:sp>
      <p:sp>
        <p:nvSpPr>
          <p:cNvPr id="15" name="TextBox 14"/>
          <p:cNvSpPr txBox="1"/>
          <p:nvPr/>
        </p:nvSpPr>
        <p:spPr>
          <a:xfrm>
            <a:off x="3529584"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2</a:t>
            </a:r>
          </a:p>
        </p:txBody>
      </p:sp>
      <p:sp>
        <p:nvSpPr>
          <p:cNvPr id="16" name="TextBox 15"/>
          <p:cNvSpPr txBox="1"/>
          <p:nvPr/>
        </p:nvSpPr>
        <p:spPr>
          <a:xfrm>
            <a:off x="3675887"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Incubating</a:t>
            </a:r>
          </a:p>
        </p:txBody>
      </p:sp>
      <p:sp>
        <p:nvSpPr>
          <p:cNvPr id="17" name="TextBox 16"/>
          <p:cNvSpPr txBox="1"/>
          <p:nvPr/>
        </p:nvSpPr>
        <p:spPr>
          <a:xfrm>
            <a:off x="3675887"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Demonstrated adoption and a healthy multi-organisation contributor base</a:t>
            </a:r>
          </a:p>
        </p:txBody>
      </p:sp>
      <p:cxnSp>
        <p:nvCxnSpPr>
          <p:cNvPr id="18" name="Connector 17"/>
          <p:cNvCxnSpPr/>
          <p:nvPr/>
        </p:nvCxnSpPr>
        <p:spPr>
          <a:xfrm>
            <a:off x="6016751" y="3281832"/>
            <a:ext cx="219456"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1927" y="2382926"/>
            <a:ext cx="2441448" cy="1797812"/>
          </a:xfrm>
          <a:prstGeom prst="roundRect">
            <a:avLst>
              <a:gd name="adj" fmla="val 10000"/>
            </a:avLst>
          </a:prstGeom>
          <a:solidFill>
            <a:srgbClr val="FFFFFF"/>
          </a:solidFill>
          <a:ln w="22225">
            <a:solidFill>
              <a:srgbClr val="7C3AED"/>
            </a:solidFill>
          </a:ln>
          <a:effectLst/>
        </p:spPr>
        <p:txBody>
          <a:bodyPr rtlCol="0" anchor="ctr" wrap="square"/>
          <a:lstStyle/>
          <a:p>
            <a:pPr algn="ctr"/>
          </a:p>
        </p:txBody>
      </p:sp>
      <p:sp>
        <p:nvSpPr>
          <p:cNvPr id="20" name="Rounded Rectangle 19"/>
          <p:cNvSpPr/>
          <p:nvPr/>
        </p:nvSpPr>
        <p:spPr>
          <a:xfrm>
            <a:off x="6281927" y="2382926"/>
            <a:ext cx="2441448" cy="274320"/>
          </a:xfrm>
          <a:prstGeom prst="roundRect">
            <a:avLst>
              <a:gd name="adj" fmla="val 42000"/>
            </a:avLst>
          </a:prstGeom>
          <a:solidFill>
            <a:srgbClr val="7C3AED"/>
          </a:solidFill>
          <a:ln>
            <a:noFill/>
          </a:ln>
          <a:effectLst/>
        </p:spPr>
        <p:txBody>
          <a:bodyPr rtlCol="0" anchor="ctr" wrap="square"/>
          <a:lstStyle/>
          <a:p>
            <a:pPr algn="ctr"/>
          </a:p>
        </p:txBody>
      </p:sp>
      <p:sp>
        <p:nvSpPr>
          <p:cNvPr id="21" name="TextBox 20"/>
          <p:cNvSpPr txBox="1"/>
          <p:nvPr/>
        </p:nvSpPr>
        <p:spPr>
          <a:xfrm>
            <a:off x="6281927"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3</a:t>
            </a:r>
          </a:p>
        </p:txBody>
      </p:sp>
      <p:sp>
        <p:nvSpPr>
          <p:cNvPr id="22" name="TextBox 21"/>
          <p:cNvSpPr txBox="1"/>
          <p:nvPr/>
        </p:nvSpPr>
        <p:spPr>
          <a:xfrm>
            <a:off x="6428231"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Graduated</a:t>
            </a:r>
          </a:p>
        </p:txBody>
      </p:sp>
      <p:sp>
        <p:nvSpPr>
          <p:cNvPr id="23" name="TextBox 22"/>
          <p:cNvSpPr txBox="1"/>
          <p:nvPr/>
        </p:nvSpPr>
        <p:spPr>
          <a:xfrm>
            <a:off x="6428231"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Sustained governance, security process and a supermajority TOC vote</a:t>
            </a:r>
          </a:p>
        </p:txBody>
      </p:sp>
      <p:cxnSp>
        <p:nvCxnSpPr>
          <p:cNvPr id="24" name="Connector 23"/>
          <p:cNvCxnSpPr/>
          <p:nvPr/>
        </p:nvCxnSpPr>
        <p:spPr>
          <a:xfrm>
            <a:off x="8769096" y="3281832"/>
            <a:ext cx="219455"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4272" y="2382926"/>
            <a:ext cx="2441448" cy="1797812"/>
          </a:xfrm>
          <a:prstGeom prst="roundRect">
            <a:avLst>
              <a:gd name="adj" fmla="val 10000"/>
            </a:avLst>
          </a:prstGeom>
          <a:solidFill>
            <a:srgbClr val="FFFFFF"/>
          </a:solidFill>
          <a:ln w="22225">
            <a:solidFill>
              <a:srgbClr val="F59E0B"/>
            </a:solidFill>
          </a:ln>
          <a:effectLst/>
        </p:spPr>
        <p:txBody>
          <a:bodyPr rtlCol="0" anchor="ctr" wrap="square"/>
          <a:lstStyle/>
          <a:p>
            <a:pPr algn="ctr"/>
          </a:p>
        </p:txBody>
      </p:sp>
      <p:sp>
        <p:nvSpPr>
          <p:cNvPr id="26" name="Rounded Rectangle 25"/>
          <p:cNvSpPr/>
          <p:nvPr/>
        </p:nvSpPr>
        <p:spPr>
          <a:xfrm>
            <a:off x="9034272" y="2382926"/>
            <a:ext cx="2441448" cy="274320"/>
          </a:xfrm>
          <a:prstGeom prst="roundRect">
            <a:avLst>
              <a:gd name="adj" fmla="val 42000"/>
            </a:avLst>
          </a:prstGeom>
          <a:solidFill>
            <a:srgbClr val="F59E0B"/>
          </a:solidFill>
          <a:ln>
            <a:noFill/>
          </a:ln>
          <a:effectLst/>
        </p:spPr>
        <p:txBody>
          <a:bodyPr rtlCol="0" anchor="ctr" wrap="square"/>
          <a:lstStyle/>
          <a:p>
            <a:pPr algn="ctr"/>
          </a:p>
        </p:txBody>
      </p:sp>
      <p:sp>
        <p:nvSpPr>
          <p:cNvPr id="27" name="TextBox 26"/>
          <p:cNvSpPr txBox="1"/>
          <p:nvPr/>
        </p:nvSpPr>
        <p:spPr>
          <a:xfrm>
            <a:off x="9034272" y="2410358"/>
            <a:ext cx="2441448" cy="237744"/>
          </a:xfrm>
          <a:prstGeom prst="rect">
            <a:avLst/>
          </a:prstGeom>
          <a:noFill/>
        </p:spPr>
        <p:txBody>
          <a:bodyPr wrap="square" lIns="0" rIns="0" tIns="0" bIns="0" anchor="t">
            <a:spAutoFit/>
          </a:bodyPr>
          <a:lstStyle/>
          <a:p>
            <a:pPr algn="ctr">
              <a:lnSpc>
                <a:spcPct val="100000"/>
              </a:lnSpc>
            </a:pPr>
            <a:r>
              <a:rPr sz="850" b="1" i="0">
                <a:solidFill>
                  <a:srgbClr val="FFFFFF"/>
                </a:solidFill>
                <a:latin typeface="Arial"/>
              </a:rPr>
              <a:t>STAGE 4</a:t>
            </a:r>
          </a:p>
        </p:txBody>
      </p:sp>
      <p:sp>
        <p:nvSpPr>
          <p:cNvPr id="28" name="TextBox 27"/>
          <p:cNvSpPr txBox="1"/>
          <p:nvPr/>
        </p:nvSpPr>
        <p:spPr>
          <a:xfrm>
            <a:off x="9180576" y="2785262"/>
            <a:ext cx="2148840" cy="475488"/>
          </a:xfrm>
          <a:prstGeom prst="rect">
            <a:avLst/>
          </a:prstGeom>
          <a:noFill/>
        </p:spPr>
        <p:txBody>
          <a:bodyPr wrap="square" lIns="0" rIns="0" tIns="0" bIns="0" anchor="t">
            <a:spAutoFit/>
          </a:bodyPr>
          <a:lstStyle/>
          <a:p>
            <a:pPr algn="ctr">
              <a:lnSpc>
                <a:spcPct val="100000"/>
              </a:lnSpc>
            </a:pPr>
            <a:r>
              <a:rPr sz="1300" b="1" i="0">
                <a:solidFill>
                  <a:srgbClr val="161B26"/>
                </a:solidFill>
                <a:latin typeface="Arial"/>
              </a:rPr>
              <a:t>Archived</a:t>
            </a:r>
          </a:p>
        </p:txBody>
      </p:sp>
      <p:sp>
        <p:nvSpPr>
          <p:cNvPr id="29" name="TextBox 28"/>
          <p:cNvSpPr txBox="1"/>
          <p:nvPr/>
        </p:nvSpPr>
        <p:spPr>
          <a:xfrm>
            <a:off x="9180576" y="3333902"/>
            <a:ext cx="2148840" cy="737108"/>
          </a:xfrm>
          <a:prstGeom prst="rect">
            <a:avLst/>
          </a:prstGeom>
          <a:noFill/>
        </p:spPr>
        <p:txBody>
          <a:bodyPr wrap="square" lIns="0" rIns="0" tIns="0" bIns="0" anchor="t">
            <a:spAutoFit/>
          </a:bodyPr>
          <a:lstStyle/>
          <a:p>
            <a:pPr algn="ctr">
              <a:lnSpc>
                <a:spcPct val="110000"/>
              </a:lnSpc>
            </a:pPr>
            <a:r>
              <a:rPr sz="1000" b="0" i="0">
                <a:solidFill>
                  <a:srgbClr val="5B6372"/>
                </a:solidFill>
                <a:latin typeface="Arial"/>
              </a:rPr>
              <a:t>The fourth state. A project that is no longer maintained is archived, not silently dropped</a:t>
            </a:r>
          </a:p>
        </p:txBody>
      </p:sp>
      <p:sp>
        <p:nvSpPr>
          <p:cNvPr id="30" name="Rectangle 29"/>
          <p:cNvSpPr/>
          <p:nvPr/>
        </p:nvSpPr>
        <p:spPr>
          <a:xfrm>
            <a:off x="777240" y="4491634"/>
            <a:ext cx="10698480" cy="822629"/>
          </a:xfrm>
          <a:prstGeom prst="rect">
            <a:avLst/>
          </a:prstGeom>
          <a:solidFill>
            <a:srgbClr val="EFF4FF"/>
          </a:solidFill>
          <a:ln>
            <a:noFill/>
          </a:ln>
          <a:effectLst/>
        </p:spPr>
        <p:txBody>
          <a:bodyPr rtlCol="0" anchor="ctr" wrap="square"/>
          <a:lstStyle/>
          <a:p>
            <a:pPr algn="ctr"/>
          </a:p>
        </p:txBody>
      </p:sp>
      <p:sp>
        <p:nvSpPr>
          <p:cNvPr id="31" name="Rectangle 30"/>
          <p:cNvSpPr/>
          <p:nvPr/>
        </p:nvSpPr>
        <p:spPr>
          <a:xfrm>
            <a:off x="777240" y="4491634"/>
            <a:ext cx="50292" cy="822629"/>
          </a:xfrm>
          <a:prstGeom prst="rect">
            <a:avLst/>
          </a:prstGeom>
          <a:solidFill>
            <a:srgbClr val="1F6FEB"/>
          </a:solidFill>
          <a:ln>
            <a:noFill/>
          </a:ln>
          <a:effectLst/>
        </p:spPr>
        <p:txBody>
          <a:bodyPr rtlCol="0" anchor="ctr" wrap="square"/>
          <a:lstStyle/>
          <a:p>
            <a:pPr algn="ctr"/>
          </a:p>
        </p:txBody>
      </p:sp>
      <p:sp>
        <p:nvSpPr>
          <p:cNvPr id="32" name="TextBox 31"/>
          <p:cNvSpPr txBox="1"/>
          <p:nvPr/>
        </p:nvSpPr>
        <p:spPr>
          <a:xfrm>
            <a:off x="996695" y="4573930"/>
            <a:ext cx="1371600" cy="219456"/>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IT MEANS</a:t>
            </a:r>
          </a:p>
        </p:txBody>
      </p:sp>
      <p:sp>
        <p:nvSpPr>
          <p:cNvPr id="33" name="TextBox 32"/>
          <p:cNvSpPr txBox="1"/>
          <p:nvPr/>
        </p:nvSpPr>
        <p:spPr>
          <a:xfrm>
            <a:off x="996695" y="4802530"/>
            <a:ext cx="10241280" cy="438581"/>
          </a:xfrm>
          <a:prstGeom prst="rect">
            <a:avLst/>
          </a:prstGeom>
          <a:noFill/>
        </p:spPr>
        <p:txBody>
          <a:bodyPr wrap="square" lIns="0" rIns="0" tIns="0" bIns="0" anchor="t">
            <a:spAutoFit/>
          </a:bodyPr>
          <a:lstStyle/>
          <a:p>
            <a:pPr algn="l">
              <a:lnSpc>
                <a:spcPct val="110000"/>
              </a:lnSpc>
            </a:pPr>
            <a:r>
              <a:rPr sz="1150" b="0" i="0">
                <a:solidFill>
                  <a:srgbClr val="161B26"/>
                </a:solidFill>
                <a:latin typeface="Arial"/>
              </a:rPr>
              <a:t>Maturity describes the PROJECT's governance and adoption, not how good the software is. A sandbox project can be excellent; a graduated one can still be wrong for you.</a:t>
            </a:r>
          </a:p>
        </p:txBody>
      </p:sp>
      <p:sp>
        <p:nvSpPr>
          <p:cNvPr id="34" name="TextBox 33"/>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Technical Oversight Committee — project proposal and graduation criteria: github.com/cncf/toc</a:t>
            </a:r>
          </a:p>
        </p:txBody>
      </p:sp>
      <p:sp>
        <p:nvSpPr>
          <p:cNvPr id="35" name="TextBox 34"/>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6" name="TextBox 35"/>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7" name="TextBox 36"/>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554</a:t>
            </a:r>
          </a:p>
        </p:txBody>
      </p:sp>
    </p:spTree>
  </p:cSld>
  <p:clrMapOvr>
    <a:masterClrMapping/>
  </p:clrMapOvr>
  <p:transition xmlns:ns4="http://schemas.openxmlformats.org/markup-compatibility/2006" spd="fast" ns4:Ignorable="p14">
    <p:fade/>
  </p:transition>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ECOSYSTEM</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What Each Promotion Actually Requires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Summarised from the published CNCF TOC criteria — the wording is revised over time, so cite the repository, not a slide.</a:t>
            </a:r>
          </a:p>
        </p:txBody>
      </p:sp>
      <p:sp>
        <p:nvSpPr>
          <p:cNvPr id="7" name="Rectangle 6"/>
          <p:cNvSpPr/>
          <p:nvPr/>
        </p:nvSpPr>
        <p:spPr>
          <a:xfrm>
            <a:off x="777240" y="2208885"/>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
            </a:r>
          </a:p>
        </p:txBody>
      </p:sp>
      <p:sp>
        <p:nvSpPr>
          <p:cNvPr id="9" name="Rectangle 8"/>
          <p:cNvSpPr/>
          <p:nvPr/>
        </p:nvSpPr>
        <p:spPr>
          <a:xfrm>
            <a:off x="3451860" y="2208885"/>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Sandbox</a:t>
            </a:r>
          </a:p>
        </p:txBody>
      </p:sp>
      <p:sp>
        <p:nvSpPr>
          <p:cNvPr id="11" name="Rectangle 10"/>
          <p:cNvSpPr/>
          <p:nvPr/>
        </p:nvSpPr>
        <p:spPr>
          <a:xfrm>
            <a:off x="6126479" y="2208885"/>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Incubating</a:t>
            </a:r>
          </a:p>
        </p:txBody>
      </p:sp>
      <p:sp>
        <p:nvSpPr>
          <p:cNvPr id="13" name="Rectangle 12"/>
          <p:cNvSpPr/>
          <p:nvPr/>
        </p:nvSpPr>
        <p:spPr>
          <a:xfrm>
            <a:off x="8801100" y="2208885"/>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Graduated</a:t>
            </a:r>
          </a:p>
        </p:txBody>
      </p:sp>
      <p:sp>
        <p:nvSpPr>
          <p:cNvPr id="15" name="Rectangle 14"/>
          <p:cNvSpPr/>
          <p:nvPr/>
        </p:nvSpPr>
        <p:spPr>
          <a:xfrm>
            <a:off x="77724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Signal</a:t>
            </a:r>
          </a:p>
        </p:txBody>
      </p:sp>
      <p:sp>
        <p:nvSpPr>
          <p:cNvPr id="17" name="Rectangle 16"/>
          <p:cNvSpPr/>
          <p:nvPr/>
        </p:nvSpPr>
        <p:spPr>
          <a:xfrm>
            <a:off x="345186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Potential and openness</a:t>
            </a:r>
          </a:p>
        </p:txBody>
      </p:sp>
      <p:sp>
        <p:nvSpPr>
          <p:cNvPr id="19" name="Rectangle 18"/>
          <p:cNvSpPr/>
          <p:nvPr/>
        </p:nvSpPr>
        <p:spPr>
          <a:xfrm>
            <a:off x="6126479"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Real production adoption</a:t>
            </a:r>
          </a:p>
        </p:txBody>
      </p:sp>
      <p:sp>
        <p:nvSpPr>
          <p:cNvPr id="21" name="Rectangle 20"/>
          <p:cNvSpPr/>
          <p:nvPr/>
        </p:nvSpPr>
        <p:spPr>
          <a:xfrm>
            <a:off x="880110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Sustainable, independent governance</a:t>
            </a:r>
          </a:p>
        </p:txBody>
      </p:sp>
      <p:sp>
        <p:nvSpPr>
          <p:cNvPr id="23" name="Rectangle 22"/>
          <p:cNvSpPr/>
          <p:nvPr/>
        </p:nvSpPr>
        <p:spPr>
          <a:xfrm>
            <a:off x="77724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1238"/>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Adopters</a:t>
            </a:r>
          </a:p>
        </p:txBody>
      </p:sp>
      <p:sp>
        <p:nvSpPr>
          <p:cNvPr id="25" name="Rectangle 24"/>
          <p:cNvSpPr/>
          <p:nvPr/>
        </p:nvSpPr>
        <p:spPr>
          <a:xfrm>
            <a:off x="345186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None required</a:t>
            </a:r>
          </a:p>
        </p:txBody>
      </p:sp>
      <p:sp>
        <p:nvSpPr>
          <p:cNvPr id="27" name="Rectangle 26"/>
          <p:cNvSpPr/>
          <p:nvPr/>
        </p:nvSpPr>
        <p:spPr>
          <a:xfrm>
            <a:off x="6126479"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At least three independent end users in production</a:t>
            </a:r>
          </a:p>
        </p:txBody>
      </p:sp>
      <p:sp>
        <p:nvSpPr>
          <p:cNvPr id="29" name="Rectangle 28"/>
          <p:cNvSpPr/>
          <p:nvPr/>
        </p:nvSpPr>
        <p:spPr>
          <a:xfrm>
            <a:off x="880110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Substantial, documented adoption</a:t>
            </a:r>
          </a:p>
        </p:txBody>
      </p:sp>
      <p:sp>
        <p:nvSpPr>
          <p:cNvPr id="31" name="Rectangle 30"/>
          <p:cNvSpPr/>
          <p:nvPr/>
        </p:nvSpPr>
        <p:spPr>
          <a:xfrm>
            <a:off x="77724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10670"/>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Contributors</a:t>
            </a:r>
          </a:p>
        </p:txBody>
      </p:sp>
      <p:sp>
        <p:nvSpPr>
          <p:cNvPr id="33" name="Rectangle 32"/>
          <p:cNvSpPr/>
          <p:nvPr/>
        </p:nvSpPr>
        <p:spPr>
          <a:xfrm>
            <a:off x="345186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An open, public repository</a:t>
            </a:r>
          </a:p>
        </p:txBody>
      </p:sp>
      <p:sp>
        <p:nvSpPr>
          <p:cNvPr id="35" name="Rectangle 34"/>
          <p:cNvSpPr/>
          <p:nvPr/>
        </p:nvSpPr>
        <p:spPr>
          <a:xfrm>
            <a:off x="6126479"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 healthy flow of committers from multiple organisations</a:t>
            </a:r>
          </a:p>
        </p:txBody>
      </p:sp>
      <p:sp>
        <p:nvSpPr>
          <p:cNvPr id="37" name="Rectangle 36"/>
          <p:cNvSpPr/>
          <p:nvPr/>
        </p:nvSpPr>
        <p:spPr>
          <a:xfrm>
            <a:off x="880110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Committers from at least two organisations</a:t>
            </a:r>
          </a:p>
        </p:txBody>
      </p:sp>
      <p:sp>
        <p:nvSpPr>
          <p:cNvPr id="39" name="Rectangle 38"/>
          <p:cNvSpPr/>
          <p:nvPr/>
        </p:nvSpPr>
        <p:spPr>
          <a:xfrm>
            <a:off x="77724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60103"/>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Process</a:t>
            </a:r>
          </a:p>
        </p:txBody>
      </p:sp>
      <p:sp>
        <p:nvSpPr>
          <p:cNvPr id="41" name="Rectangle 40"/>
          <p:cNvSpPr/>
          <p:nvPr/>
        </p:nvSpPr>
        <p:spPr>
          <a:xfrm>
            <a:off x="345186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Code of Conduct and a public licence</a:t>
            </a:r>
          </a:p>
        </p:txBody>
      </p:sp>
      <p:sp>
        <p:nvSpPr>
          <p:cNvPr id="43" name="Rectangle 42"/>
          <p:cNvSpPr/>
          <p:nvPr/>
        </p:nvSpPr>
        <p:spPr>
          <a:xfrm>
            <a:off x="6126479"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Documented, versioned releases and clear governance</a:t>
            </a:r>
          </a:p>
        </p:txBody>
      </p:sp>
      <p:sp>
        <p:nvSpPr>
          <p:cNvPr id="45" name="Rectangle 44"/>
          <p:cNvSpPr/>
          <p:nvPr/>
        </p:nvSpPr>
        <p:spPr>
          <a:xfrm>
            <a:off x="880110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Security disclosure process; OpenSSF Best Practices badge</a:t>
            </a:r>
          </a:p>
        </p:txBody>
      </p:sp>
      <p:sp>
        <p:nvSpPr>
          <p:cNvPr id="47" name="Rectangle 46"/>
          <p:cNvSpPr/>
          <p:nvPr/>
        </p:nvSpPr>
        <p:spPr>
          <a:xfrm>
            <a:off x="77724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953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Decision</a:t>
            </a:r>
          </a:p>
        </p:txBody>
      </p:sp>
      <p:sp>
        <p:nvSpPr>
          <p:cNvPr id="49" name="Rectangle 48"/>
          <p:cNvSpPr/>
          <p:nvPr/>
        </p:nvSpPr>
        <p:spPr>
          <a:xfrm>
            <a:off x="345186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TOC acceptance</a:t>
            </a:r>
          </a:p>
        </p:txBody>
      </p:sp>
      <p:sp>
        <p:nvSpPr>
          <p:cNvPr id="51" name="Rectangle 50"/>
          <p:cNvSpPr/>
          <p:nvPr/>
        </p:nvSpPr>
        <p:spPr>
          <a:xfrm>
            <a:off x="6126479"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TOC vote against the incubating criteria</a:t>
            </a:r>
          </a:p>
        </p:txBody>
      </p:sp>
      <p:sp>
        <p:nvSpPr>
          <p:cNvPr id="53" name="Rectangle 52"/>
          <p:cNvSpPr/>
          <p:nvPr/>
        </p:nvSpPr>
        <p:spPr>
          <a:xfrm>
            <a:off x="880110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TOC supermajority vote</a:t>
            </a:r>
          </a:p>
        </p:txBody>
      </p:sp>
      <p:sp>
        <p:nvSpPr>
          <p:cNvPr id="55" name="Rectangle 54"/>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For KCNA: know the three levels, that archived is a real state, and that end-user adoption is the incubating gate.</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Technical Oversight Committee — project proposal and graduation criteria: github.com/cncf/toc</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555</a:t>
            </a:r>
          </a:p>
        </p:txBody>
      </p:sp>
    </p:spTree>
  </p:cSld>
  <p:clrMapOvr>
    <a:masterClrMapping/>
  </p:clrMapOvr>
  <p:transition xmlns:ns1="http://schemas.openxmlformats.org/markup-compatibility/2006" spd="fast" ns1:Ignorable="p14">
    <p:fade/>
  </p:transition>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COMMUNITY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Who Decides What — Governance In Practice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CNCF-wide guidance runs through the TOC and TAGs; Kubernetes runs its own SIGs. Do not conflate the two.</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 TOC</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Technical Oversight Committee. Accepts projects, sets and applies the maturity criteria, and provides technical leadership across the foundation.</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 TAGs</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Technical Advisory Groups (the successors to CNCF SIGs) advise the TOC in domains such as security, observability and runtime.</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Kubernetes SIGs</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OWN structure: sig-network, sig-node, sig-storage and more, each with chairs, meetings and a public charter.</a:t>
            </a:r>
          </a:p>
        </p:txBody>
      </p:sp>
      <p:sp>
        <p:nvSpPr>
          <p:cNvPr id="22" name="Rectangle 21"/>
          <p:cNvSpPr/>
          <p:nvPr/>
        </p:nvSpPr>
        <p:spPr>
          <a:xfrm>
            <a:off x="777240"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3082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Kubernetes Steering</a:t>
            </a:r>
          </a:p>
        </p:txBody>
      </p:sp>
      <p:sp>
        <p:nvSpPr>
          <p:cNvPr id="26" name="TextBox 25"/>
          <p:cNvSpPr txBox="1"/>
          <p:nvPr/>
        </p:nvSpPr>
        <p:spPr>
          <a:xfrm>
            <a:off x="1399032"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elected committee that governs the project itself — process, subprojects and community, not code review.</a:t>
            </a:r>
          </a:p>
        </p:txBody>
      </p:sp>
      <p:sp>
        <p:nvSpPr>
          <p:cNvPr id="27" name="Rectangle 26"/>
          <p:cNvSpPr/>
          <p:nvPr/>
        </p:nvSpPr>
        <p:spPr>
          <a:xfrm>
            <a:off x="4392167"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3082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Governing Board</a:t>
            </a:r>
          </a:p>
        </p:txBody>
      </p:sp>
      <p:sp>
        <p:nvSpPr>
          <p:cNvPr id="31" name="TextBox 30"/>
          <p:cNvSpPr txBox="1"/>
          <p:nvPr/>
        </p:nvSpPr>
        <p:spPr>
          <a:xfrm>
            <a:off x="5013959"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CNCF business side: budget, marketing and membership. Deliberately separated from technical decisions.</a:t>
            </a:r>
          </a:p>
        </p:txBody>
      </p:sp>
      <p:sp>
        <p:nvSpPr>
          <p:cNvPr id="32" name="Rectangle 31"/>
          <p:cNvSpPr/>
          <p:nvPr/>
        </p:nvSpPr>
        <p:spPr>
          <a:xfrm>
            <a:off x="8007095"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3082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Code of Conduct</a:t>
            </a:r>
          </a:p>
        </p:txBody>
      </p:sp>
      <p:sp>
        <p:nvSpPr>
          <p:cNvPr id="36" name="TextBox 35"/>
          <p:cNvSpPr txBox="1"/>
          <p:nvPr/>
        </p:nvSpPr>
        <p:spPr>
          <a:xfrm>
            <a:off x="8628888"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Adopting the CNCF Code of Conduct is a prerequisite for hosting, not an optional nicety.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community governance — SIGs, Working Groups and the Steering Committee: github.com/kubernetes/community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556</a:t>
            </a:r>
          </a:p>
        </p:txBody>
      </p:sp>
    </p:spTree>
  </p:cSld>
  <p:clrMapOvr>
    <a:masterClrMapping/>
  </p:clrMapOvr>
  <p:transition xmlns:ns1="http://schemas.openxmlformats.org/markup-compatibility/2006" spd="fast" ns1:Ignorable="p14">
    <p:fade/>
  </p:transition>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COMMUNITY</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How You Actually Participate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'Community and Collaboration' is a named KCNA sub-domain — it is examined, not decorative.</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KubeCon + CloudNativeCon</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CNCF flagship conference, run across several regions each year, with co-located project events and a contributor summit.</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 Ambassadors</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Recognised community advocates who run meetups, write and mentor. A programme you apply to, not a job title.</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Start with good-first-issue</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and most CNCF projects label entry-level work. Documentation and test fixes are real contributions.</a:t>
            </a:r>
          </a:p>
        </p:txBody>
      </p:sp>
      <p:sp>
        <p:nvSpPr>
          <p:cNvPr id="22" name="Rectangle 21"/>
          <p:cNvSpPr/>
          <p:nvPr/>
        </p:nvSpPr>
        <p:spPr>
          <a:xfrm>
            <a:off x="777240"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263853"/>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8411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The contributor ladder</a:t>
            </a:r>
          </a:p>
        </p:txBody>
      </p:sp>
      <p:sp>
        <p:nvSpPr>
          <p:cNvPr id="26" name="TextBox 25"/>
          <p:cNvSpPr txBox="1"/>
          <p:nvPr/>
        </p:nvSpPr>
        <p:spPr>
          <a:xfrm>
            <a:off x="1399032"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Kubernetes progresses member -&gt; reviewer -&gt; approver -&gt; maintainer, recorded in OWNERS files, earned through review history.</a:t>
            </a:r>
          </a:p>
        </p:txBody>
      </p:sp>
      <p:sp>
        <p:nvSpPr>
          <p:cNvPr id="27" name="Rectangle 26"/>
          <p:cNvSpPr/>
          <p:nvPr/>
        </p:nvSpPr>
        <p:spPr>
          <a:xfrm>
            <a:off x="4392167"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263853"/>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8411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DCO and CLA</a:t>
            </a:r>
          </a:p>
        </p:txBody>
      </p:sp>
      <p:sp>
        <p:nvSpPr>
          <p:cNvPr id="31" name="TextBox 30"/>
          <p:cNvSpPr txBox="1"/>
          <p:nvPr/>
        </p:nvSpPr>
        <p:spPr>
          <a:xfrm>
            <a:off x="5013959"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Every commit must be signed off (DCO) or covered by a CLA. A contribution that is not is not merged, however good.</a:t>
            </a:r>
          </a:p>
        </p:txBody>
      </p:sp>
      <p:sp>
        <p:nvSpPr>
          <p:cNvPr id="32" name="Rectangle 31"/>
          <p:cNvSpPr/>
          <p:nvPr/>
        </p:nvSpPr>
        <p:spPr>
          <a:xfrm>
            <a:off x="8007095" y="3516782"/>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16782"/>
            <a:ext cx="50292" cy="1263853"/>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398411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Slack, mailing lists, meetings</a:t>
            </a:r>
          </a:p>
        </p:txBody>
      </p:sp>
      <p:sp>
        <p:nvSpPr>
          <p:cNvPr id="36" name="TextBox 35"/>
          <p:cNvSpPr txBox="1"/>
          <p:nvPr/>
        </p:nvSpPr>
        <p:spPr>
          <a:xfrm>
            <a:off x="8628888" y="3973982"/>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SIG meetings are public and recorded. Reading the notes before you propose anything is the unwritten rule.</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Kubernetes community governance — SIGs, Working Groups and the Steering Committee: github.com/kubernetes/community</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557</a:t>
            </a:r>
          </a:p>
        </p:txBody>
      </p:sp>
    </p:spTree>
  </p:cSld>
  <p:clrMapOvr>
    <a:masterClrMapping/>
  </p:clrMapOvr>
  <p:transition xmlns:ns1="http://schemas.openxmlformats.org/markup-compatibility/2006" spd="fast" ns1:Ignorable="p14">
    <p:fade/>
  </p:transition>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PRINCIPLES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Making An Accurate Claim About A Tool</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Precision about the ecosystem is a professional habit and an examinable skill.</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CNCF Technology Radar</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An End User Community publication that places tools in rings (Adopt / Trial / Assess) based on an end-user survey at a point in time.</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 radar is not a maturity level</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It reports what surveyed end users do. It is not a TOC decision and confers no status on a project.</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Three separate questions</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Is it CNCF-hosted? At what maturity? And what do end users report doing with it? Answer them separately.</a:t>
            </a:r>
          </a:p>
        </p:txBody>
      </p:sp>
      <p:sp>
        <p:nvSpPr>
          <p:cNvPr id="22" name="Rectangle 21"/>
          <p:cNvSpPr/>
          <p:nvPr/>
        </p:nvSpPr>
        <p:spPr>
          <a:xfrm>
            <a:off x="777240"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30827"/>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Vendor-neutral is the principle</a:t>
            </a:r>
          </a:p>
        </p:txBody>
      </p:sp>
      <p:sp>
        <p:nvSpPr>
          <p:cNvPr id="26" name="TextBox 25"/>
          <p:cNvSpPr txBox="1"/>
          <p:nvPr/>
        </p:nvSpPr>
        <p:spPr>
          <a:xfrm>
            <a:off x="1399032"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Open governance, an open licence and no single-vendor control — the reason a standard like OTLP can be trusted.</a:t>
            </a:r>
          </a:p>
        </p:txBody>
      </p:sp>
      <p:sp>
        <p:nvSpPr>
          <p:cNvPr id="27" name="Rectangle 26"/>
          <p:cNvSpPr/>
          <p:nvPr/>
        </p:nvSpPr>
        <p:spPr>
          <a:xfrm>
            <a:off x="4392167"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30827"/>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Interoperability over integration</a:t>
            </a:r>
          </a:p>
        </p:txBody>
      </p:sp>
      <p:sp>
        <p:nvSpPr>
          <p:cNvPr id="31" name="TextBox 30"/>
          <p:cNvSpPr txBox="1"/>
          <p:nvPr/>
        </p:nvSpPr>
        <p:spPr>
          <a:xfrm>
            <a:off x="5013959"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Cloud native design favours declared interfaces — CRI, CNI, CSI, OCI, OTLP — so components can be replaced.</a:t>
            </a:r>
          </a:p>
        </p:txBody>
      </p:sp>
      <p:sp>
        <p:nvSpPr>
          <p:cNvPr id="32" name="Rectangle 31"/>
          <p:cNvSpPr/>
          <p:nvPr/>
        </p:nvSpPr>
        <p:spPr>
          <a:xfrm>
            <a:off x="8007095" y="3610203"/>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170432"/>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30827"/>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Date your claims</a:t>
            </a:r>
          </a:p>
        </p:txBody>
      </p:sp>
      <p:sp>
        <p:nvSpPr>
          <p:cNvPr id="36" name="TextBox 35"/>
          <p:cNvSpPr txBox="1"/>
          <p:nvPr/>
        </p:nvSpPr>
        <p:spPr>
          <a:xfrm>
            <a:off x="8628888" y="4067403"/>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Maturity levels and radar rings both change. Cite the source and the date you checked it, exactly as this deck does.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project list and maturity levels: www.cncf.io/projects/ (checked 5 Sep 2026)</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558</a:t>
            </a:r>
          </a:p>
        </p:txBody>
      </p:sp>
    </p:spTree>
  </p:cSld>
  <p:clrMapOvr>
    <a:masterClrMapping/>
  </p:clrMapOvr>
  <p:transition xmlns:ns1="http://schemas.openxmlformats.org/markup-compatibility/2006" spd="fast" ns1:Ignorable="p14">
    <p:fade/>
  </p:transition>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PRINCIPLES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Cost Is An Observability Signal Too</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At KCNA depth: know why cost needs allocating in Kubernetes and that an open model exists for it.</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FinOps</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practice of making cloud spend a shared engineering responsibility, with visibility, allocation and optimisation as the phases.</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Kubernetes hides cost</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cluster bill arrives per node. Cost per team, namespace or workload has to be derived — nothing reports it natively.</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Allocation by request</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Cost models attribute node cost to workloads using resource requests and actual usage, then roll up by label or namespace.</a:t>
            </a:r>
          </a:p>
        </p:txBody>
      </p:sp>
      <p:sp>
        <p:nvSpPr>
          <p:cNvPr id="22" name="Rectangle 21"/>
          <p:cNvSpPr/>
          <p:nvPr/>
        </p:nvSpPr>
        <p:spPr>
          <a:xfrm>
            <a:off x="777240" y="3610203"/>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228940"/>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60082"/>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OpenCost</a:t>
            </a:r>
          </a:p>
        </p:txBody>
      </p:sp>
      <p:sp>
        <p:nvSpPr>
          <p:cNvPr id="26" name="TextBox 25"/>
          <p:cNvSpPr txBox="1"/>
          <p:nvPr/>
        </p:nvSpPr>
        <p:spPr>
          <a:xfrm>
            <a:off x="1399032" y="4067403"/>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A CNCF-hosted project that implements an open cost allocation model for Kubernetes and exports it as Prometheus metrics.</a:t>
            </a:r>
          </a:p>
        </p:txBody>
      </p:sp>
      <p:sp>
        <p:nvSpPr>
          <p:cNvPr id="27" name="Rectangle 26"/>
          <p:cNvSpPr/>
          <p:nvPr/>
        </p:nvSpPr>
        <p:spPr>
          <a:xfrm>
            <a:off x="4392167" y="3610203"/>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228940"/>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6008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Requests are the lever</a:t>
            </a:r>
          </a:p>
        </p:txBody>
      </p:sp>
      <p:sp>
        <p:nvSpPr>
          <p:cNvPr id="31" name="TextBox 30"/>
          <p:cNvSpPr txBox="1"/>
          <p:nvPr/>
        </p:nvSpPr>
        <p:spPr>
          <a:xfrm>
            <a:off x="5013959" y="4067403"/>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Over-requesting reserves capacity nobody uses and is billed anyway. Right-sizing requests is the single biggest saving.</a:t>
            </a:r>
          </a:p>
        </p:txBody>
      </p:sp>
      <p:sp>
        <p:nvSpPr>
          <p:cNvPr id="32" name="Rectangle 31"/>
          <p:cNvSpPr/>
          <p:nvPr/>
        </p:nvSpPr>
        <p:spPr>
          <a:xfrm>
            <a:off x="8007095" y="3610203"/>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228940"/>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6008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412496"/>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Same pipeline, different question</a:t>
            </a:r>
          </a:p>
        </p:txBody>
      </p:sp>
      <p:sp>
        <p:nvSpPr>
          <p:cNvPr id="36" name="TextBox 35"/>
          <p:cNvSpPr txBox="1"/>
          <p:nvPr/>
        </p:nvSpPr>
        <p:spPr>
          <a:xfrm>
            <a:off x="8628888" y="4205579"/>
            <a:ext cx="2645664" cy="560412"/>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Cost data flows through the same scrape-store-query pipeline as every other metric.</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OpenCost project documentation: opencost.io</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559</a:t>
            </a:r>
          </a:p>
        </p:txBody>
      </p:sp>
    </p:spTree>
  </p:cSld>
  <p:clrMapOvr>
    <a:masterClrMapping/>
  </p:clrMapOvr>
  <p:transition xmlns:ns1="http://schemas.openxmlformats.org/markup-compatibility/2006" spd="fast" ns1:Ignorable="p14">
    <p:fade/>
  </p:transition>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10</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SESSION 3 · 1:20 – 2:50 PM</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Course Recap and Exam Readiness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Consolidate five days against the registered outcomes, then map them onto the current CNCF KCNA blueprint and this afternoon's WSQ assessment.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560</a:t>
            </a:r>
          </a:p>
        </p:txBody>
      </p:sp>
    </p:spTree>
  </p:cSld>
  <p:clrMapOvr>
    <a:masterClrMapping/>
  </p:clrMapOvr>
  <p:transition xmlns:ns1="http://schemas.openxmlformats.org/markup-compatibility/2006" spd="med" ns1:Ignorable="p14">
    <p:push dir="l"/>
  </p:transition>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RECAP</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Five Days, Consolidated</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Everything today feeds LO6 — monitor the system, then troubleshoot it — and closes the KCNA blueprint.</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DAYS 1-4 — WHAT YOU BUILT</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b="1">
                <a:solidFill>
                  <a:srgbClr val="161B26"/>
                </a:solidFill>
                <a:latin typeface="Arial"/>
              </a:rPr>
              <a:t>Day 1</a:t>
            </a:r>
            <a:r>
              <a:rPr sz="1150">
                <a:solidFill>
                  <a:srgbClr val="5B6372"/>
                </a:solidFill>
                <a:latin typeface="Arial"/>
              </a:rPr>
              <a:t>  Pods, containers, OCI images, the CRI, and multi-container patterns</a:t>
            </a:r>
          </a:p>
          <a:p>
            <a:pPr>
              <a:lnSpc>
                <a:spcPct val="112000"/>
              </a:lnSpc>
              <a:spcAft>
                <a:spcPts val="700"/>
              </a:spcAft>
            </a:pPr>
            <a:r>
              <a:rPr sz="1150">
                <a:solidFill>
                  <a:srgbClr val="94A3B8"/>
                </a:solidFill>
                <a:latin typeface="Arial"/>
              </a:rPr>
              <a:t>•  </a:t>
            </a:r>
            <a:r>
              <a:rPr sz="1150" b="1">
                <a:solidFill>
                  <a:srgbClr val="161B26"/>
                </a:solidFill>
                <a:latin typeface="Arial"/>
              </a:rPr>
              <a:t>Day 2</a:t>
            </a:r>
            <a:r>
              <a:rPr sz="1150">
                <a:solidFill>
                  <a:srgbClr val="5B6372"/>
                </a:solidFill>
                <a:latin typeface="Arial"/>
              </a:rPr>
              <a:t>  ReplicaSets, Deployments and rollout strategy; DaemonSets, Jobs, CronJobs; scheduling, requests, limits, QoS, HPA</a:t>
            </a:r>
          </a:p>
          <a:p>
            <a:pPr>
              <a:lnSpc>
                <a:spcPct val="112000"/>
              </a:lnSpc>
              <a:spcAft>
                <a:spcPts val="700"/>
              </a:spcAft>
            </a:pPr>
            <a:r>
              <a:rPr sz="1150">
                <a:solidFill>
                  <a:srgbClr val="94A3B8"/>
                </a:solidFill>
                <a:latin typeface="Arial"/>
              </a:rPr>
              <a:t>•  </a:t>
            </a:r>
            <a:r>
              <a:rPr sz="1150" b="1">
                <a:solidFill>
                  <a:srgbClr val="161B26"/>
                </a:solidFill>
                <a:latin typeface="Arial"/>
              </a:rPr>
              <a:t>Day 3</a:t>
            </a:r>
            <a:r>
              <a:rPr sz="1150">
                <a:solidFill>
                  <a:srgbClr val="5B6372"/>
                </a:solidFill>
                <a:latin typeface="Arial"/>
              </a:rPr>
              <a:t>  Services and EndpointSlice, DNS, Ingress; namespaces, ServiceAccounts, RBAC, Secrets and NetworkPolicy</a:t>
            </a:r>
          </a:p>
          <a:p>
            <a:pPr>
              <a:lnSpc>
                <a:spcPct val="112000"/>
              </a:lnSpc>
              <a:spcAft>
                <a:spcPts val="700"/>
              </a:spcAft>
            </a:pPr>
            <a:r>
              <a:rPr sz="1150">
                <a:solidFill>
                  <a:srgbClr val="94A3B8"/>
                </a:solidFill>
                <a:latin typeface="Arial"/>
              </a:rPr>
              <a:t>•  </a:t>
            </a:r>
            <a:r>
              <a:rPr sz="1150" b="1">
                <a:solidFill>
                  <a:srgbClr val="161B26"/>
                </a:solidFill>
                <a:latin typeface="Arial"/>
              </a:rPr>
              <a:t>Day 4</a:t>
            </a:r>
            <a:r>
              <a:rPr sz="1150">
                <a:solidFill>
                  <a:srgbClr val="5B6372"/>
                </a:solidFill>
                <a:latin typeface="Arial"/>
              </a:rPr>
              <a:t>  Volumes, PV/PVC/StorageClass, StatefulSets; control-plane anatomy and etcd; Helm, Kustomize and GitOps</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DAY 5 — WHAT YOU ADDED TODAY</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b="1">
                <a:solidFill>
                  <a:srgbClr val="161B26"/>
                </a:solidFill>
                <a:latin typeface="Arial"/>
              </a:rPr>
              <a:t>Signals</a:t>
            </a:r>
            <a:r>
              <a:rPr sz="1150">
                <a:solidFill>
                  <a:srgbClr val="5B6372"/>
                </a:solidFill>
                <a:latin typeface="Arial"/>
              </a:rPr>
              <a:t>  Metrics, logs, traces, Events and profiles; the four golden signals, RED and USE; SLI/SLO and error budgets</a:t>
            </a:r>
          </a:p>
          <a:p>
            <a:pPr>
              <a:lnSpc>
                <a:spcPct val="112000"/>
              </a:lnSpc>
              <a:spcAft>
                <a:spcPts val="700"/>
              </a:spcAft>
            </a:pPr>
            <a:r>
              <a:rPr sz="1150">
                <a:solidFill>
                  <a:srgbClr val="94A3B8"/>
                </a:solidFill>
                <a:latin typeface="Arial"/>
              </a:rPr>
              <a:t>•  </a:t>
            </a:r>
            <a:r>
              <a:rPr sz="1150" b="1">
                <a:solidFill>
                  <a:srgbClr val="161B26"/>
                </a:solidFill>
                <a:latin typeface="Arial"/>
              </a:rPr>
              <a:t>Health</a:t>
            </a:r>
            <a:r>
              <a:rPr sz="1150">
                <a:solidFill>
                  <a:srgbClr val="5B6372"/>
                </a:solidFill>
                <a:latin typeface="Arial"/>
              </a:rPr>
              <a:t>  Liveness, readiness and startup probes read as time budgets, and the controllers that react to them</a:t>
            </a:r>
          </a:p>
          <a:p>
            <a:pPr>
              <a:lnSpc>
                <a:spcPct val="112000"/>
              </a:lnSpc>
              <a:spcAft>
                <a:spcPts val="700"/>
              </a:spcAft>
            </a:pPr>
            <a:r>
              <a:rPr sz="1150">
                <a:solidFill>
                  <a:srgbClr val="94A3B8"/>
                </a:solidFill>
                <a:latin typeface="Arial"/>
              </a:rPr>
              <a:t>•  </a:t>
            </a:r>
            <a:r>
              <a:rPr sz="1150" b="1">
                <a:solidFill>
                  <a:srgbClr val="161B26"/>
                </a:solidFill>
                <a:latin typeface="Arial"/>
              </a:rPr>
              <a:t>Evidence</a:t>
            </a:r>
            <a:r>
              <a:rPr sz="1150">
                <a:solidFill>
                  <a:srgbClr val="5B6372"/>
                </a:solidFill>
                <a:latin typeface="Arial"/>
              </a:rPr>
              <a:t>  Events with field selectors, logs with --previous, the resource metrics pipeline and its limits</a:t>
            </a:r>
          </a:p>
          <a:p>
            <a:pPr>
              <a:lnSpc>
                <a:spcPct val="112000"/>
              </a:lnSpc>
              <a:spcAft>
                <a:spcPts val="700"/>
              </a:spcAft>
            </a:pPr>
            <a:r>
              <a:rPr sz="1150">
                <a:solidFill>
                  <a:srgbClr val="94A3B8"/>
                </a:solidFill>
                <a:latin typeface="Arial"/>
              </a:rPr>
              <a:t>•  </a:t>
            </a:r>
            <a:r>
              <a:rPr sz="1150" b="1">
                <a:solidFill>
                  <a:srgbClr val="161B26"/>
                </a:solidFill>
                <a:latin typeface="Arial"/>
              </a:rPr>
              <a:t>Pipeline</a:t>
            </a:r>
            <a:r>
              <a:rPr sz="1150">
                <a:solidFill>
                  <a:srgbClr val="5B6372"/>
                </a:solidFill>
                <a:latin typeface="Arial"/>
              </a:rPr>
              <a:t>  Exposition format, scrape, TSDB, PromQL, alerting; OpenTelemetry's place beside Prometheus</a:t>
            </a:r>
          </a:p>
          <a:p>
            <a:pPr>
              <a:lnSpc>
                <a:spcPct val="112000"/>
              </a:lnSpc>
              <a:spcAft>
                <a:spcPts val="700"/>
              </a:spcAft>
            </a:pPr>
            <a:r>
              <a:rPr sz="1150">
                <a:solidFill>
                  <a:srgbClr val="94A3B8"/>
                </a:solidFill>
                <a:latin typeface="Arial"/>
              </a:rPr>
              <a:t>•  </a:t>
            </a:r>
            <a:r>
              <a:rPr sz="1150" b="1">
                <a:solidFill>
                  <a:srgbClr val="161B26"/>
                </a:solidFill>
                <a:latin typeface="Arial"/>
              </a:rPr>
              <a:t>Method</a:t>
            </a:r>
            <a:r>
              <a:rPr sz="1150">
                <a:solidFill>
                  <a:srgbClr val="5B6372"/>
                </a:solidFill>
                <a:latin typeface="Arial"/>
              </a:rPr>
              <a:t>  The five-question triage tree across application, node and control-plane failure</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 outline, course_data.TOPICS and LEARNING_OUTCOMES</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561</a:t>
            </a:r>
          </a:p>
        </p:txBody>
      </p:sp>
    </p:spTree>
  </p:cSld>
  <p:clrMapOvr>
    <a:masterClrMapping/>
  </p:clrMapOvr>
  <p:transition xmlns:ns1="http://schemas.openxmlformats.org/markup-compatibility/2006" spd="fast" ns1:Ignorable="p14">
    <p:fade/>
  </p:transition>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READINESS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Current KCNA Blueprint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Effective 24 November 2025. The superseded five-domain 46/22/16/8/8 split is still circulating — do not study to it.</a:t>
            </a:r>
          </a:p>
        </p:txBody>
      </p:sp>
      <p:graphicFrame>
        <p:nvGraphicFramePr>
          <p:cNvPr id="7" name="Chart 6"/>
          <p:cNvGraphicFramePr>
            <a:graphicFrameLocks noGrp="1"/>
          </p:cNvGraphicFramePr>
          <p:nvPr/>
        </p:nvGraphicFramePr>
        <p:xfrm>
          <a:off x="777240" y="2208885"/>
          <a:ext cx="6675120" cy="3780434"/>
        </p:xfrm>
        <a:graphic>
          <a:graphicData uri="http://schemas.openxmlformats.org/drawingml/2006/chart">
            <c:chart xmlns:c="http://schemas.openxmlformats.org/drawingml/2006/chart" r:id="rId2"/>
          </a:graphicData>
        </a:graphic>
      </p:graphicFrame>
      <p:sp>
        <p:nvSpPr>
          <p:cNvPr id="8" name="Rectangle 7"/>
          <p:cNvSpPr/>
          <p:nvPr/>
        </p:nvSpPr>
        <p:spPr>
          <a:xfrm>
            <a:off x="7726680" y="2208885"/>
            <a:ext cx="3749039" cy="3780434"/>
          </a:xfrm>
          <a:prstGeom prst="rect">
            <a:avLst/>
          </a:prstGeom>
          <a:solidFill>
            <a:srgbClr val="F4F7FB"/>
          </a:solidFill>
          <a:ln w="12700">
            <a:solidFill>
              <a:srgbClr val="E2E8F0"/>
            </a:solidFill>
          </a:ln>
          <a:effectLst/>
        </p:spPr>
        <p:txBody>
          <a:bodyPr rtlCol="0" anchor="ctr" wrap="square"/>
          <a:lstStyle/>
          <a:p>
            <a:pPr algn="ctr"/>
          </a:p>
        </p:txBody>
      </p:sp>
      <p:sp>
        <p:nvSpPr>
          <p:cNvPr id="9" name="TextBox 8"/>
          <p:cNvSpPr txBox="1"/>
          <p:nvPr/>
        </p:nvSpPr>
        <p:spPr>
          <a:xfrm>
            <a:off x="7927848" y="2355189"/>
            <a:ext cx="334670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WHAT THE DATA SHOWS</a:t>
            </a:r>
          </a:p>
        </p:txBody>
      </p:sp>
      <p:sp>
        <p:nvSpPr>
          <p:cNvPr id="10" name="Rectangle 9"/>
          <p:cNvSpPr/>
          <p:nvPr/>
        </p:nvSpPr>
        <p:spPr>
          <a:xfrm>
            <a:off x="7927848" y="2684373"/>
            <a:ext cx="41148" cy="566928"/>
          </a:xfrm>
          <a:prstGeom prst="rect">
            <a:avLst/>
          </a:prstGeom>
          <a:solidFill>
            <a:srgbClr val="1F6FEB"/>
          </a:solidFill>
          <a:ln>
            <a:noFill/>
          </a:ln>
          <a:effectLst/>
        </p:spPr>
        <p:txBody>
          <a:bodyPr rtlCol="0" anchor="ctr" wrap="square"/>
          <a:lstStyle/>
          <a:p>
            <a:pPr algn="ctr"/>
          </a:p>
        </p:txBody>
      </p:sp>
      <p:sp>
        <p:nvSpPr>
          <p:cNvPr id="11" name="TextBox 10"/>
          <p:cNvSpPr txBox="1"/>
          <p:nvPr/>
        </p:nvSpPr>
        <p:spPr>
          <a:xfrm>
            <a:off x="8092440" y="2666085"/>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Kubernetes Fundamentals 44%</a:t>
            </a:r>
          </a:p>
        </p:txBody>
      </p:sp>
      <p:sp>
        <p:nvSpPr>
          <p:cNvPr id="12" name="TextBox 11"/>
          <p:cNvSpPr txBox="1"/>
          <p:nvPr/>
        </p:nvSpPr>
        <p:spPr>
          <a:xfrm>
            <a:off x="8092440" y="2885541"/>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Core concepts, administration, scheduling, containerization. Nearly half the paper, and Days 1-2 of this course.</a:t>
            </a:r>
          </a:p>
        </p:txBody>
      </p:sp>
      <p:sp>
        <p:nvSpPr>
          <p:cNvPr id="13" name="Rectangle 12"/>
          <p:cNvSpPr/>
          <p:nvPr/>
        </p:nvSpPr>
        <p:spPr>
          <a:xfrm>
            <a:off x="7927848" y="3470856"/>
            <a:ext cx="41148" cy="566928"/>
          </a:xfrm>
          <a:prstGeom prst="rect">
            <a:avLst/>
          </a:prstGeom>
          <a:solidFill>
            <a:srgbClr val="10B981"/>
          </a:solidFill>
          <a:ln>
            <a:noFill/>
          </a:ln>
          <a:effectLst/>
        </p:spPr>
        <p:txBody>
          <a:bodyPr rtlCol="0" anchor="ctr" wrap="square"/>
          <a:lstStyle/>
          <a:p>
            <a:pPr algn="ctr"/>
          </a:p>
        </p:txBody>
      </p:sp>
      <p:sp>
        <p:nvSpPr>
          <p:cNvPr id="14" name="TextBox 13"/>
          <p:cNvSpPr txBox="1"/>
          <p:nvPr/>
        </p:nvSpPr>
        <p:spPr>
          <a:xfrm>
            <a:off x="8092440" y="3452568"/>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Container Orchestration 28%</a:t>
            </a:r>
          </a:p>
        </p:txBody>
      </p:sp>
      <p:sp>
        <p:nvSpPr>
          <p:cNvPr id="15" name="TextBox 14"/>
          <p:cNvSpPr txBox="1"/>
          <p:nvPr/>
        </p:nvSpPr>
        <p:spPr>
          <a:xfrm>
            <a:off x="8092440" y="3672024"/>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Networking, security, troubleshooting and storage — Days 3-5.</a:t>
            </a:r>
          </a:p>
        </p:txBody>
      </p:sp>
      <p:sp>
        <p:nvSpPr>
          <p:cNvPr id="16" name="Rectangle 15"/>
          <p:cNvSpPr/>
          <p:nvPr/>
        </p:nvSpPr>
        <p:spPr>
          <a:xfrm>
            <a:off x="7927848" y="4165800"/>
            <a:ext cx="41148" cy="566928"/>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8092440" y="4147512"/>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Application Delivery 16%</a:t>
            </a:r>
          </a:p>
        </p:txBody>
      </p:sp>
      <p:sp>
        <p:nvSpPr>
          <p:cNvPr id="18" name="TextBox 17"/>
          <p:cNvSpPr txBox="1"/>
          <p:nvPr/>
        </p:nvSpPr>
        <p:spPr>
          <a:xfrm>
            <a:off x="8092440" y="4366968"/>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Application delivery and debugging — Day 4's Helm, Kustomize and GitOps, plus today's triage method.</a:t>
            </a:r>
          </a:p>
        </p:txBody>
      </p:sp>
      <p:sp>
        <p:nvSpPr>
          <p:cNvPr id="19" name="Rectangle 18"/>
          <p:cNvSpPr/>
          <p:nvPr/>
        </p:nvSpPr>
        <p:spPr>
          <a:xfrm>
            <a:off x="7927848" y="4860744"/>
            <a:ext cx="41148" cy="56692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8092440" y="4842456"/>
            <a:ext cx="3145535" cy="219456"/>
          </a:xfrm>
          <a:prstGeom prst="rect">
            <a:avLst/>
          </a:prstGeom>
          <a:noFill/>
        </p:spPr>
        <p:txBody>
          <a:bodyPr wrap="square" lIns="0" rIns="0" tIns="0" bIns="0" anchor="t">
            <a:spAutoFit/>
          </a:bodyPr>
          <a:lstStyle/>
          <a:p>
            <a:pPr algn="l">
              <a:lnSpc>
                <a:spcPct val="100000"/>
              </a:lnSpc>
            </a:pPr>
            <a:r>
              <a:rPr sz="1050" b="1" i="0">
                <a:solidFill>
                  <a:srgbClr val="161B26"/>
                </a:solidFill>
                <a:latin typeface="Arial"/>
              </a:rPr>
              <a:t>Cloud Native Architecture 12%</a:t>
            </a:r>
          </a:p>
        </p:txBody>
      </p:sp>
      <p:sp>
        <p:nvSpPr>
          <p:cNvPr id="21" name="TextBox 20"/>
          <p:cNvSpPr txBox="1"/>
          <p:nvPr/>
        </p:nvSpPr>
        <p:spPr>
          <a:xfrm>
            <a:off x="8092440" y="5061912"/>
            <a:ext cx="3145535" cy="420624"/>
          </a:xfrm>
          <a:prstGeom prst="rect">
            <a:avLst/>
          </a:prstGeom>
          <a:noFill/>
        </p:spPr>
        <p:txBody>
          <a:bodyPr wrap="square" lIns="0" rIns="0" tIns="0" bIns="0" anchor="t">
            <a:spAutoFit/>
          </a:bodyPr>
          <a:lstStyle/>
          <a:p>
            <a:pPr algn="l">
              <a:lnSpc>
                <a:spcPct val="106000"/>
              </a:lnSpc>
            </a:pPr>
            <a:r>
              <a:rPr sz="950" b="0" i="0">
                <a:solidFill>
                  <a:srgbClr val="5B6372"/>
                </a:solidFill>
                <a:latin typeface="Arial"/>
              </a:rPr>
              <a:t>Observability, ecosystem and principles, community and collaboration. All three were taught this afternoon.</a:t>
            </a:r>
          </a:p>
        </p:txBody>
      </p:sp>
      <p:sp>
        <p:nvSpPr>
          <p:cNvPr id="22" name="TextBox 21"/>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CNCF Curriculum repository, KCNA_Curriculum.pdf (github.com/cncf/curriculum), revision effective 24 Nov 2025. Retrieved 10 Sep 2026.</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562</a:t>
            </a:r>
          </a:p>
        </p:txBody>
      </p:sp>
    </p:spTree>
  </p:cSld>
  <p:clrMapOvr>
    <a:masterClrMapping/>
  </p:clrMapOvr>
  <p:transition xmlns:ns1="http://schemas.openxmlformats.org/markup-compatibility/2006" spd="fast" ns1:Ignorable="p14">
    <p:fade/>
  </p:transition>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READINESS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KCNA Exam Facts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Verified facts from course_data.KCNA_EXAM_FACTS, plus the logistics learners consistently ask about.</a:t>
            </a:r>
          </a:p>
        </p:txBody>
      </p:sp>
      <p:sp>
        <p:nvSpPr>
          <p:cNvPr id="7" name="Rectangle 6"/>
          <p:cNvSpPr/>
          <p:nvPr/>
        </p:nvSpPr>
        <p:spPr>
          <a:xfrm>
            <a:off x="777240"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8" name="Rectangle 7"/>
          <p:cNvSpPr/>
          <p:nvPr/>
        </p:nvSpPr>
        <p:spPr>
          <a:xfrm>
            <a:off x="777240" y="2200046"/>
            <a:ext cx="36576" cy="548640"/>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41832"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Format</a:t>
            </a:r>
          </a:p>
        </p:txBody>
      </p:sp>
      <p:sp>
        <p:nvSpPr>
          <p:cNvPr id="10" name="TextBox 9"/>
          <p:cNvSpPr txBox="1"/>
          <p:nvPr/>
        </p:nvSpPr>
        <p:spPr>
          <a:xfrm>
            <a:off x="32351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Online, proctored, multiple-choice</a:t>
            </a:r>
          </a:p>
        </p:txBody>
      </p:sp>
      <p:sp>
        <p:nvSpPr>
          <p:cNvPr id="11" name="Rectangle 10"/>
          <p:cNvSpPr/>
          <p:nvPr/>
        </p:nvSpPr>
        <p:spPr>
          <a:xfrm>
            <a:off x="777240"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12" name="Rectangle 11"/>
          <p:cNvSpPr/>
          <p:nvPr/>
        </p:nvSpPr>
        <p:spPr>
          <a:xfrm>
            <a:off x="777240" y="2748686"/>
            <a:ext cx="36576" cy="548640"/>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941832"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Questions</a:t>
            </a:r>
          </a:p>
        </p:txBody>
      </p:sp>
      <p:sp>
        <p:nvSpPr>
          <p:cNvPr id="14" name="TextBox 13"/>
          <p:cNvSpPr txBox="1"/>
          <p:nvPr/>
        </p:nvSpPr>
        <p:spPr>
          <a:xfrm>
            <a:off x="32351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60</a:t>
            </a:r>
          </a:p>
        </p:txBody>
      </p:sp>
      <p:sp>
        <p:nvSpPr>
          <p:cNvPr id="15" name="Rectangle 14"/>
          <p:cNvSpPr/>
          <p:nvPr/>
        </p:nvSpPr>
        <p:spPr>
          <a:xfrm>
            <a:off x="777240"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16" name="Rectangle 15"/>
          <p:cNvSpPr/>
          <p:nvPr/>
        </p:nvSpPr>
        <p:spPr>
          <a:xfrm>
            <a:off x="777240" y="3297326"/>
            <a:ext cx="36576" cy="548640"/>
          </a:xfrm>
          <a:prstGeom prst="rect">
            <a:avLst/>
          </a:prstGeom>
          <a:solidFill>
            <a:srgbClr val="7C3AED"/>
          </a:solidFill>
          <a:ln>
            <a:noFill/>
          </a:ln>
          <a:effectLst/>
        </p:spPr>
        <p:txBody>
          <a:bodyPr rtlCol="0" anchor="ctr" wrap="square"/>
          <a:lstStyle/>
          <a:p>
            <a:pPr algn="ctr"/>
          </a:p>
        </p:txBody>
      </p:sp>
      <p:sp>
        <p:nvSpPr>
          <p:cNvPr id="17" name="TextBox 16"/>
          <p:cNvSpPr txBox="1"/>
          <p:nvPr/>
        </p:nvSpPr>
        <p:spPr>
          <a:xfrm>
            <a:off x="941832"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Duration</a:t>
            </a:r>
          </a:p>
        </p:txBody>
      </p:sp>
      <p:sp>
        <p:nvSpPr>
          <p:cNvPr id="18" name="TextBox 17"/>
          <p:cNvSpPr txBox="1"/>
          <p:nvPr/>
        </p:nvSpPr>
        <p:spPr>
          <a:xfrm>
            <a:off x="32351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90 minutes</a:t>
            </a:r>
          </a:p>
        </p:txBody>
      </p:sp>
      <p:sp>
        <p:nvSpPr>
          <p:cNvPr id="19" name="Rectangle 18"/>
          <p:cNvSpPr/>
          <p:nvPr/>
        </p:nvSpPr>
        <p:spPr>
          <a:xfrm>
            <a:off x="777240"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0" name="Rectangle 19"/>
          <p:cNvSpPr/>
          <p:nvPr/>
        </p:nvSpPr>
        <p:spPr>
          <a:xfrm>
            <a:off x="777240" y="3845966"/>
            <a:ext cx="36576" cy="548640"/>
          </a:xfrm>
          <a:prstGeom prst="rect">
            <a:avLst/>
          </a:prstGeom>
          <a:solidFill>
            <a:srgbClr val="F59E0B"/>
          </a:solidFill>
          <a:ln>
            <a:noFill/>
          </a:ln>
          <a:effectLst/>
        </p:spPr>
        <p:txBody>
          <a:bodyPr rtlCol="0" anchor="ctr" wrap="square"/>
          <a:lstStyle/>
          <a:p>
            <a:pPr algn="ctr"/>
          </a:p>
        </p:txBody>
      </p:sp>
      <p:sp>
        <p:nvSpPr>
          <p:cNvPr id="21" name="TextBox 20"/>
          <p:cNvSpPr txBox="1"/>
          <p:nvPr/>
        </p:nvSpPr>
        <p:spPr>
          <a:xfrm>
            <a:off x="941832"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Passing score</a:t>
            </a:r>
          </a:p>
        </p:txBody>
      </p:sp>
      <p:sp>
        <p:nvSpPr>
          <p:cNvPr id="22" name="TextBox 21"/>
          <p:cNvSpPr txBox="1"/>
          <p:nvPr/>
        </p:nvSpPr>
        <p:spPr>
          <a:xfrm>
            <a:off x="32351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75%</a:t>
            </a:r>
          </a:p>
        </p:txBody>
      </p:sp>
      <p:sp>
        <p:nvSpPr>
          <p:cNvPr id="23" name="Rectangle 22"/>
          <p:cNvSpPr/>
          <p:nvPr/>
        </p:nvSpPr>
        <p:spPr>
          <a:xfrm>
            <a:off x="777240"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777240" y="4394606"/>
            <a:ext cx="36576" cy="548640"/>
          </a:xfrm>
          <a:prstGeom prst="rect">
            <a:avLst/>
          </a:prstGeom>
          <a:solidFill>
            <a:srgbClr val="1F6FEB"/>
          </a:solidFill>
          <a:ln>
            <a:noFill/>
          </a:ln>
          <a:effectLst/>
        </p:spPr>
        <p:txBody>
          <a:bodyPr rtlCol="0" anchor="ctr" wrap="square"/>
          <a:lstStyle/>
          <a:p>
            <a:pPr algn="ctr"/>
          </a:p>
        </p:txBody>
      </p:sp>
      <p:sp>
        <p:nvSpPr>
          <p:cNvPr id="25" name="TextBox 24"/>
          <p:cNvSpPr txBox="1"/>
          <p:nvPr/>
        </p:nvSpPr>
        <p:spPr>
          <a:xfrm>
            <a:off x="941832"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Validity</a:t>
            </a:r>
          </a:p>
        </p:txBody>
      </p:sp>
      <p:sp>
        <p:nvSpPr>
          <p:cNvPr id="26" name="TextBox 25"/>
          <p:cNvSpPr txBox="1"/>
          <p:nvPr/>
        </p:nvSpPr>
        <p:spPr>
          <a:xfrm>
            <a:off x="32351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2 years</a:t>
            </a:r>
          </a:p>
        </p:txBody>
      </p:sp>
      <p:sp>
        <p:nvSpPr>
          <p:cNvPr id="27" name="Rectangle 26"/>
          <p:cNvSpPr/>
          <p:nvPr/>
        </p:nvSpPr>
        <p:spPr>
          <a:xfrm>
            <a:off x="777240" y="494324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28" name="Rectangle 27"/>
          <p:cNvSpPr/>
          <p:nvPr/>
        </p:nvSpPr>
        <p:spPr>
          <a:xfrm>
            <a:off x="777240" y="4943246"/>
            <a:ext cx="36576" cy="548640"/>
          </a:xfrm>
          <a:prstGeom prst="rect">
            <a:avLst/>
          </a:prstGeom>
          <a:solidFill>
            <a:srgbClr val="10B981"/>
          </a:solidFill>
          <a:ln>
            <a:noFill/>
          </a:ln>
          <a:effectLst/>
        </p:spPr>
        <p:txBody>
          <a:bodyPr rtlCol="0" anchor="ctr" wrap="square"/>
          <a:lstStyle/>
          <a:p>
            <a:pPr algn="ctr"/>
          </a:p>
        </p:txBody>
      </p:sp>
      <p:sp>
        <p:nvSpPr>
          <p:cNvPr id="29" name="TextBox 28"/>
          <p:cNvSpPr txBox="1"/>
          <p:nvPr/>
        </p:nvSpPr>
        <p:spPr>
          <a:xfrm>
            <a:off x="941832" y="50255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Prerequisites</a:t>
            </a:r>
          </a:p>
        </p:txBody>
      </p:sp>
      <p:sp>
        <p:nvSpPr>
          <p:cNvPr id="30" name="TextBox 29"/>
          <p:cNvSpPr txBox="1"/>
          <p:nvPr/>
        </p:nvSpPr>
        <p:spPr>
          <a:xfrm>
            <a:off x="3235147" y="50255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None</a:t>
            </a:r>
          </a:p>
        </p:txBody>
      </p:sp>
      <p:sp>
        <p:nvSpPr>
          <p:cNvPr id="31" name="Rectangle 30"/>
          <p:cNvSpPr/>
          <p:nvPr/>
        </p:nvSpPr>
        <p:spPr>
          <a:xfrm>
            <a:off x="6263639" y="220004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32" name="Rectangle 31"/>
          <p:cNvSpPr/>
          <p:nvPr/>
        </p:nvSpPr>
        <p:spPr>
          <a:xfrm>
            <a:off x="6263639" y="2200046"/>
            <a:ext cx="36576" cy="548640"/>
          </a:xfrm>
          <a:prstGeom prst="rect">
            <a:avLst/>
          </a:prstGeom>
          <a:solidFill>
            <a:srgbClr val="7C3AED"/>
          </a:solidFill>
          <a:ln>
            <a:noFill/>
          </a:ln>
          <a:effectLst/>
        </p:spPr>
        <p:txBody>
          <a:bodyPr rtlCol="0" anchor="ctr" wrap="square"/>
          <a:lstStyle/>
          <a:p>
            <a:pPr algn="ctr"/>
          </a:p>
        </p:txBody>
      </p:sp>
      <p:sp>
        <p:nvSpPr>
          <p:cNvPr id="33" name="TextBox 32"/>
          <p:cNvSpPr txBox="1"/>
          <p:nvPr/>
        </p:nvSpPr>
        <p:spPr>
          <a:xfrm>
            <a:off x="6428231" y="22823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Retake</a:t>
            </a:r>
          </a:p>
        </p:txBody>
      </p:sp>
      <p:sp>
        <p:nvSpPr>
          <p:cNvPr id="34" name="TextBox 33"/>
          <p:cNvSpPr txBox="1"/>
          <p:nvPr/>
        </p:nvSpPr>
        <p:spPr>
          <a:xfrm>
            <a:off x="8721547" y="22823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One retake included with the exam purchase</a:t>
            </a:r>
          </a:p>
        </p:txBody>
      </p:sp>
      <p:sp>
        <p:nvSpPr>
          <p:cNvPr id="35" name="Rectangle 34"/>
          <p:cNvSpPr/>
          <p:nvPr/>
        </p:nvSpPr>
        <p:spPr>
          <a:xfrm>
            <a:off x="6263639" y="274868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36" name="Rectangle 35"/>
          <p:cNvSpPr/>
          <p:nvPr/>
        </p:nvSpPr>
        <p:spPr>
          <a:xfrm>
            <a:off x="6263639" y="2748686"/>
            <a:ext cx="36576" cy="548640"/>
          </a:xfrm>
          <a:prstGeom prst="rect">
            <a:avLst/>
          </a:prstGeom>
          <a:solidFill>
            <a:srgbClr val="F59E0B"/>
          </a:solidFill>
          <a:ln>
            <a:noFill/>
          </a:ln>
          <a:effectLst/>
        </p:spPr>
        <p:txBody>
          <a:bodyPr rtlCol="0" anchor="ctr" wrap="square"/>
          <a:lstStyle/>
          <a:p>
            <a:pPr algn="ctr"/>
          </a:p>
        </p:txBody>
      </p:sp>
      <p:sp>
        <p:nvSpPr>
          <p:cNvPr id="37" name="TextBox 36"/>
          <p:cNvSpPr txBox="1"/>
          <p:nvPr/>
        </p:nvSpPr>
        <p:spPr>
          <a:xfrm>
            <a:off x="6428231" y="283098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Eligibility window</a:t>
            </a:r>
          </a:p>
        </p:txBody>
      </p:sp>
      <p:sp>
        <p:nvSpPr>
          <p:cNvPr id="38" name="TextBox 37"/>
          <p:cNvSpPr txBox="1"/>
          <p:nvPr/>
        </p:nvSpPr>
        <p:spPr>
          <a:xfrm>
            <a:off x="8721547" y="283098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12 months from purchase</a:t>
            </a:r>
          </a:p>
        </p:txBody>
      </p:sp>
      <p:sp>
        <p:nvSpPr>
          <p:cNvPr id="39" name="Rectangle 38"/>
          <p:cNvSpPr/>
          <p:nvPr/>
        </p:nvSpPr>
        <p:spPr>
          <a:xfrm>
            <a:off x="6263639" y="329732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0" name="Rectangle 39"/>
          <p:cNvSpPr/>
          <p:nvPr/>
        </p:nvSpPr>
        <p:spPr>
          <a:xfrm>
            <a:off x="6263639" y="3297326"/>
            <a:ext cx="36576" cy="548640"/>
          </a:xfrm>
          <a:prstGeom prst="rect">
            <a:avLst/>
          </a:prstGeom>
          <a:solidFill>
            <a:srgbClr val="1F6FEB"/>
          </a:solidFill>
          <a:ln>
            <a:noFill/>
          </a:ln>
          <a:effectLst/>
        </p:spPr>
        <p:txBody>
          <a:bodyPr rtlCol="0" anchor="ctr" wrap="square"/>
          <a:lstStyle/>
          <a:p>
            <a:pPr algn="ctr"/>
          </a:p>
        </p:txBody>
      </p:sp>
      <p:sp>
        <p:nvSpPr>
          <p:cNvPr id="41" name="TextBox 40"/>
          <p:cNvSpPr txBox="1"/>
          <p:nvPr/>
        </p:nvSpPr>
        <p:spPr>
          <a:xfrm>
            <a:off x="6428231" y="337962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Delivery</a:t>
            </a:r>
          </a:p>
        </p:txBody>
      </p:sp>
      <p:sp>
        <p:nvSpPr>
          <p:cNvPr id="42" name="TextBox 41"/>
          <p:cNvSpPr txBox="1"/>
          <p:nvPr/>
        </p:nvSpPr>
        <p:spPr>
          <a:xfrm>
            <a:off x="8721547" y="337962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Remote proctored; a webcam, a quiet room and a clear desk are required</a:t>
            </a:r>
          </a:p>
        </p:txBody>
      </p:sp>
      <p:sp>
        <p:nvSpPr>
          <p:cNvPr id="43" name="Rectangle 42"/>
          <p:cNvSpPr/>
          <p:nvPr/>
        </p:nvSpPr>
        <p:spPr>
          <a:xfrm>
            <a:off x="6263639" y="384596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44" name="Rectangle 43"/>
          <p:cNvSpPr/>
          <p:nvPr/>
        </p:nvSpPr>
        <p:spPr>
          <a:xfrm>
            <a:off x="6263639" y="3845966"/>
            <a:ext cx="36576" cy="548640"/>
          </a:xfrm>
          <a:prstGeom prst="rect">
            <a:avLst/>
          </a:prstGeom>
          <a:solidFill>
            <a:srgbClr val="10B981"/>
          </a:solidFill>
          <a:ln>
            <a:noFill/>
          </a:ln>
          <a:effectLst/>
        </p:spPr>
        <p:txBody>
          <a:bodyPr rtlCol="0" anchor="ctr" wrap="square"/>
          <a:lstStyle/>
          <a:p>
            <a:pPr algn="ctr"/>
          </a:p>
        </p:txBody>
      </p:sp>
      <p:sp>
        <p:nvSpPr>
          <p:cNvPr id="45" name="TextBox 44"/>
          <p:cNvSpPr txBox="1"/>
          <p:nvPr/>
        </p:nvSpPr>
        <p:spPr>
          <a:xfrm>
            <a:off x="6428231" y="392826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Curriculum</a:t>
            </a:r>
          </a:p>
        </p:txBody>
      </p:sp>
      <p:sp>
        <p:nvSpPr>
          <p:cNvPr id="46" name="TextBox 45"/>
          <p:cNvSpPr txBox="1"/>
          <p:nvPr/>
        </p:nvSpPr>
        <p:spPr>
          <a:xfrm>
            <a:off x="8721547" y="392826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Published in the CNCF curriculum repository and versioned — check the effective date</a:t>
            </a:r>
          </a:p>
        </p:txBody>
      </p:sp>
      <p:sp>
        <p:nvSpPr>
          <p:cNvPr id="47" name="Rectangle 46"/>
          <p:cNvSpPr/>
          <p:nvPr/>
        </p:nvSpPr>
        <p:spPr>
          <a:xfrm>
            <a:off x="6263639" y="4394606"/>
            <a:ext cx="5212079" cy="548640"/>
          </a:xfrm>
          <a:prstGeom prst="rect">
            <a:avLst/>
          </a:prstGeom>
          <a:solidFill>
            <a:srgbClr val="FFFFFF"/>
          </a:solidFill>
          <a:ln w="9525">
            <a:solidFill>
              <a:srgbClr val="E2E8F0"/>
            </a:solidFill>
          </a:ln>
          <a:effectLst/>
        </p:spPr>
        <p:txBody>
          <a:bodyPr rtlCol="0" anchor="ctr" wrap="square"/>
          <a:lstStyle/>
          <a:p>
            <a:pPr algn="ctr"/>
          </a:p>
        </p:txBody>
      </p:sp>
      <p:sp>
        <p:nvSpPr>
          <p:cNvPr id="48" name="Rectangle 47"/>
          <p:cNvSpPr/>
          <p:nvPr/>
        </p:nvSpPr>
        <p:spPr>
          <a:xfrm>
            <a:off x="6263639" y="4394606"/>
            <a:ext cx="36576" cy="548640"/>
          </a:xfrm>
          <a:prstGeom prst="rect">
            <a:avLst/>
          </a:prstGeom>
          <a:solidFill>
            <a:srgbClr val="7C3AED"/>
          </a:solidFill>
          <a:ln>
            <a:noFill/>
          </a:ln>
          <a:effectLst/>
        </p:spPr>
        <p:txBody>
          <a:bodyPr rtlCol="0" anchor="ctr" wrap="square"/>
          <a:lstStyle/>
          <a:p>
            <a:pPr algn="ctr"/>
          </a:p>
        </p:txBody>
      </p:sp>
      <p:sp>
        <p:nvSpPr>
          <p:cNvPr id="49" name="TextBox 48"/>
          <p:cNvSpPr txBox="1"/>
          <p:nvPr/>
        </p:nvSpPr>
        <p:spPr>
          <a:xfrm>
            <a:off x="6428231" y="447690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Relationship to WSQ</a:t>
            </a:r>
          </a:p>
        </p:txBody>
      </p:sp>
      <p:sp>
        <p:nvSpPr>
          <p:cNvPr id="50" name="TextBox 49"/>
          <p:cNvSpPr txBox="1"/>
          <p:nvPr/>
        </p:nvSpPr>
        <p:spPr>
          <a:xfrm>
            <a:off x="8721547" y="447690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KCNA is a separate Linux Foundation certification; this course prepares for it and is assessed under WSQ</a:t>
            </a:r>
          </a:p>
        </p:txBody>
      </p:sp>
      <p:sp>
        <p:nvSpPr>
          <p:cNvPr id="51" name="Rectangle 50"/>
          <p:cNvSpPr/>
          <p:nvPr/>
        </p:nvSpPr>
        <p:spPr>
          <a:xfrm>
            <a:off x="6263639" y="4943246"/>
            <a:ext cx="5212079" cy="548640"/>
          </a:xfrm>
          <a:prstGeom prst="rect">
            <a:avLst/>
          </a:prstGeom>
          <a:solidFill>
            <a:srgbClr val="F6F8FA"/>
          </a:solidFill>
          <a:ln w="9525">
            <a:solidFill>
              <a:srgbClr val="E2E8F0"/>
            </a:solidFill>
          </a:ln>
          <a:effectLst/>
        </p:spPr>
        <p:txBody>
          <a:bodyPr rtlCol="0" anchor="ctr" wrap="square"/>
          <a:lstStyle/>
          <a:p>
            <a:pPr algn="ctr"/>
          </a:p>
        </p:txBody>
      </p:sp>
      <p:sp>
        <p:nvSpPr>
          <p:cNvPr id="52" name="Rectangle 51"/>
          <p:cNvSpPr/>
          <p:nvPr/>
        </p:nvSpPr>
        <p:spPr>
          <a:xfrm>
            <a:off x="6263639" y="4943246"/>
            <a:ext cx="36576" cy="548640"/>
          </a:xfrm>
          <a:prstGeom prst="rect">
            <a:avLst/>
          </a:prstGeom>
          <a:solidFill>
            <a:srgbClr val="F59E0B"/>
          </a:solidFill>
          <a:ln>
            <a:noFill/>
          </a:ln>
          <a:effectLst/>
        </p:spPr>
        <p:txBody>
          <a:bodyPr rtlCol="0" anchor="ctr" wrap="square"/>
          <a:lstStyle/>
          <a:p>
            <a:pPr algn="ctr"/>
          </a:p>
        </p:txBody>
      </p:sp>
      <p:sp>
        <p:nvSpPr>
          <p:cNvPr id="53" name="TextBox 52"/>
          <p:cNvSpPr txBox="1"/>
          <p:nvPr/>
        </p:nvSpPr>
        <p:spPr>
          <a:xfrm>
            <a:off x="6428231" y="5025542"/>
            <a:ext cx="2189073" cy="384048"/>
          </a:xfrm>
          <a:prstGeom prst="rect">
            <a:avLst/>
          </a:prstGeom>
          <a:noFill/>
        </p:spPr>
        <p:txBody>
          <a:bodyPr wrap="square" lIns="0" rIns="0" tIns="0" bIns="0" anchor="t">
            <a:spAutoFit/>
          </a:bodyPr>
          <a:lstStyle/>
          <a:p>
            <a:pPr algn="l">
              <a:lnSpc>
                <a:spcPct val="105000"/>
              </a:lnSpc>
            </a:pPr>
            <a:r>
              <a:rPr sz="1000" b="1" i="0">
                <a:solidFill>
                  <a:srgbClr val="161B26"/>
                </a:solidFill>
                <a:latin typeface="Arial"/>
              </a:rPr>
              <a:t>Confirm before booking</a:t>
            </a:r>
          </a:p>
        </p:txBody>
      </p:sp>
      <p:sp>
        <p:nvSpPr>
          <p:cNvPr id="54" name="TextBox 53"/>
          <p:cNvSpPr txBox="1"/>
          <p:nvPr/>
        </p:nvSpPr>
        <p:spPr>
          <a:xfrm>
            <a:off x="8721547" y="5025542"/>
            <a:ext cx="2710281" cy="384048"/>
          </a:xfrm>
          <a:prstGeom prst="rect">
            <a:avLst/>
          </a:prstGeom>
          <a:noFill/>
        </p:spPr>
        <p:txBody>
          <a:bodyPr wrap="square" lIns="0" rIns="0" tIns="0" bIns="0" anchor="t">
            <a:spAutoFit/>
          </a:bodyPr>
          <a:lstStyle/>
          <a:p>
            <a:pPr algn="l">
              <a:lnSpc>
                <a:spcPct val="105000"/>
              </a:lnSpc>
            </a:pPr>
            <a:r>
              <a:rPr sz="1000" b="0" i="0">
                <a:solidFill>
                  <a:srgbClr val="5B6372"/>
                </a:solidFill>
                <a:latin typeface="Arial"/>
              </a:rPr>
              <a:t>Terms are revised — verify on the official certification page</a:t>
            </a:r>
          </a:p>
        </p:txBody>
      </p:sp>
      <p:sp>
        <p:nvSpPr>
          <p:cNvPr id="55" name="TextBox 5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Foundation, Kubernetes and Cloud Native Associate (KCNA) certification page: training.linuxfoundation.org/certification/kubernetes-cloud-native-associate/</a:t>
            </a:r>
          </a:p>
        </p:txBody>
      </p:sp>
      <p:sp>
        <p:nvSpPr>
          <p:cNvPr id="56" name="TextBox 5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57" name="TextBox 5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58" name="TextBox 5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563</a:t>
            </a:r>
          </a:p>
        </p:txBody>
      </p:sp>
    </p:spTree>
  </p:cSld>
  <p:clrMapOvr>
    <a:masterClrMapping/>
  </p:clrMapOvr>
  <p:transition xmlns:ns1="http://schemas.openxmlformats.org/markup-compatibility/2006" spd="fast" ns1:Ignorable="p14">
    <p:fade/>
  </p:transition>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READINESS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Practice as a Learning Diagnostic</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practice resource supports diagnosis; the official curriculum defines coverage.</a:t>
            </a:r>
          </a:p>
        </p:txBody>
      </p:sp>
      <p:sp>
        <p:nvSpPr>
          <p:cNvPr id="7" name="Rectangle 6"/>
          <p:cNvSpPr/>
          <p:nvPr/>
        </p:nvSpPr>
        <p:spPr>
          <a:xfrm>
            <a:off x="777240" y="2200046"/>
            <a:ext cx="6583680" cy="3442817"/>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https://exams.tertiaryinfotech.com/practice-exams/linuxfoundation/linuxfoundation-kcna</a:t>
            </a:r>
          </a:p>
        </p:txBody>
      </p:sp>
      <p:sp>
        <p:nvSpPr>
          <p:cNvPr id="14" name="Rectangle 13"/>
          <p:cNvSpPr/>
          <p:nvPr/>
        </p:nvSpPr>
        <p:spPr>
          <a:xfrm>
            <a:off x="996695" y="2803550"/>
            <a:ext cx="6144768" cy="1792224"/>
          </a:xfrm>
          <a:prstGeom prst="rect">
            <a:avLst/>
          </a:prstGeom>
          <a:solidFill>
            <a:srgbClr val="F4F7FB"/>
          </a:solidFill>
          <a:ln>
            <a:noFill/>
          </a:ln>
          <a:effectLst/>
        </p:spPr>
        <p:txBody>
          <a:bodyPr rtlCol="0" anchor="ctr" wrap="none"/>
          <a:lstStyle/>
          <a:p>
            <a:pPr algn="ctr"/>
          </a:p>
        </p:txBody>
      </p:sp>
      <p:sp>
        <p:nvSpPr>
          <p:cNvPr id="15" name="TextBox 14"/>
          <p:cNvSpPr txBox="1"/>
          <p:nvPr/>
        </p:nvSpPr>
        <p:spPr>
          <a:xfrm>
            <a:off x="1142999" y="2949854"/>
            <a:ext cx="5852160" cy="1499616"/>
          </a:xfrm>
          <a:prstGeom prst="rect">
            <a:avLst/>
          </a:prstGeom>
          <a:noFill/>
        </p:spPr>
        <p:txBody>
          <a:bodyPr wrap="none" lIns="0" rIns="0" tIns="0" bIns="0">
            <a:spAutoFit/>
          </a:bodyPr>
          <a:lstStyle/>
          <a:p>
            <a:pPr>
              <a:lnSpc>
                <a:spcPts val="1476"/>
              </a:lnSpc>
              <a:spcAft>
                <a:spcPts val="0"/>
              </a:spcAft>
            </a:pPr>
            <a:r>
              <a:rPr sz="950">
                <a:solidFill>
                  <a:srgbClr val="161B26"/>
                </a:solidFill>
                <a:latin typeface="Consolas"/>
              </a:rPr>
              <a:t>Official KCNA blueprint</a:t>
            </a:r>
          </a:p>
          <a:p>
            <a:pPr>
              <a:lnSpc>
                <a:spcPts val="1476"/>
              </a:lnSpc>
              <a:spcAft>
                <a:spcPts val="0"/>
              </a:spcAft>
            </a:pPr>
            <a:r>
              <a:rPr sz="950">
                <a:solidFill>
                  <a:srgbClr val="161B26"/>
                </a:solidFill>
                <a:latin typeface="Consolas"/>
              </a:rPr>
              <a:t> </a:t>
            </a:r>
          </a:p>
          <a:p>
            <a:pPr>
              <a:lnSpc>
                <a:spcPts val="1476"/>
              </a:lnSpc>
              <a:spcAft>
                <a:spcPts val="0"/>
              </a:spcAft>
            </a:pPr>
            <a:r>
              <a:rPr sz="950">
                <a:solidFill>
                  <a:srgbClr val="161B26"/>
                </a:solidFill>
                <a:latin typeface="Consolas"/>
              </a:rPr>
              <a:t>  Kubernetes Fundamentals           44%</a:t>
            </a:r>
          </a:p>
          <a:p>
            <a:pPr>
              <a:lnSpc>
                <a:spcPts val="1476"/>
              </a:lnSpc>
              <a:spcAft>
                <a:spcPts val="0"/>
              </a:spcAft>
            </a:pPr>
            <a:r>
              <a:rPr sz="950">
                <a:solidFill>
                  <a:srgbClr val="161B26"/>
                </a:solidFill>
                <a:latin typeface="Consolas"/>
              </a:rPr>
              <a:t>  Container Orchestration           28%</a:t>
            </a:r>
          </a:p>
          <a:p>
            <a:pPr>
              <a:lnSpc>
                <a:spcPts val="1476"/>
              </a:lnSpc>
              <a:spcAft>
                <a:spcPts val="0"/>
              </a:spcAft>
            </a:pPr>
            <a:r>
              <a:rPr sz="950">
                <a:solidFill>
                  <a:srgbClr val="161B26"/>
                </a:solidFill>
                <a:latin typeface="Consolas"/>
              </a:rPr>
              <a:t>  Cloud Native Application Delivery 16%</a:t>
            </a:r>
          </a:p>
          <a:p>
            <a:pPr>
              <a:lnSpc>
                <a:spcPts val="1476"/>
              </a:lnSpc>
              <a:spcAft>
                <a:spcPts val="0"/>
              </a:spcAft>
            </a:pPr>
            <a:r>
              <a:rPr sz="950">
                <a:solidFill>
                  <a:srgbClr val="161B26"/>
                </a:solidFill>
                <a:latin typeface="Consolas"/>
              </a:rPr>
              <a:t>  Cloud Native Architecture         12%</a:t>
            </a:r>
          </a:p>
          <a:p>
            <a:pPr>
              <a:lnSpc>
                <a:spcPts val="1476"/>
              </a:lnSpc>
              <a:spcAft>
                <a:spcPts val="0"/>
              </a:spcAft>
            </a:pPr>
            <a:r>
              <a:rPr sz="950">
                <a:solidFill>
                  <a:srgbClr val="161B26"/>
                </a:solidFill>
                <a:latin typeface="Consolas"/>
              </a:rPr>
              <a:t> </a:t>
            </a:r>
          </a:p>
          <a:p>
            <a:pPr>
              <a:lnSpc>
                <a:spcPts val="1476"/>
              </a:lnSpc>
              <a:spcAft>
                <a:spcPts val="0"/>
              </a:spcAft>
            </a:pPr>
            <a:r>
              <a:rPr sz="950">
                <a:solidFill>
                  <a:srgbClr val="161B26"/>
                </a:solidFill>
                <a:latin typeface="Consolas"/>
              </a:rPr>
              <a:t>  Official exam: 60 questions / 90 minutes</a:t>
            </a:r>
          </a:p>
        </p:txBody>
      </p:sp>
      <p:sp>
        <p:nvSpPr>
          <p:cNvPr id="16" name="Rectangle 15"/>
          <p:cNvSpPr/>
          <p:nvPr/>
        </p:nvSpPr>
        <p:spPr>
          <a:xfrm>
            <a:off x="7635240" y="2200046"/>
            <a:ext cx="3840479" cy="3442817"/>
          </a:xfrm>
          <a:prstGeom prst="rect">
            <a:avLst/>
          </a:prstGeom>
          <a:solidFill>
            <a:srgbClr val="F4F7FB"/>
          </a:solidFill>
          <a:ln w="12700">
            <a:solidFill>
              <a:srgbClr val="E2E8F0"/>
            </a:solidFill>
          </a:ln>
          <a:effectLst/>
        </p:spPr>
        <p:txBody>
          <a:bodyPr rtlCol="0" anchor="ctr" wrap="square"/>
          <a:lstStyle/>
          <a:p>
            <a:pPr algn="ctr"/>
          </a:p>
        </p:txBody>
      </p:sp>
      <p:sp>
        <p:nvSpPr>
          <p:cNvPr id="17" name="TextBox 1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18" name="Oval 1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19" name="TextBox 1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Timed practice reveals pace as well as concept gaps.</a:t>
            </a:r>
          </a:p>
        </p:txBody>
      </p:sp>
      <p:sp>
        <p:nvSpPr>
          <p:cNvPr id="20" name="Oval 1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21" name="TextBox 2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Domain-level error patterns indicate revision priorities.</a:t>
            </a:r>
          </a:p>
        </p:txBody>
      </p:sp>
      <p:sp>
        <p:nvSpPr>
          <p:cNvPr id="22" name="Oval 2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23" name="TextBox 2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Explanations demonstrate understanding beyond answer recognition.</a:t>
            </a:r>
          </a:p>
        </p:txBody>
      </p:sp>
      <p:sp>
        <p:nvSpPr>
          <p:cNvPr id="24" name="Oval 2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25" name="TextBox 2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official CNCF curriculum defines current topic coverage.</a:t>
            </a:r>
          </a:p>
        </p:txBody>
      </p:sp>
      <p:sp>
        <p:nvSpPr>
          <p:cNvPr id="26" name="TextBox 25"/>
          <p:cNvSpPr txBox="1"/>
          <p:nvPr/>
        </p:nvSpPr>
        <p:spPr>
          <a:xfrm>
            <a:off x="777240" y="5770880"/>
            <a:ext cx="10698480" cy="172720"/>
          </a:xfrm>
          <a:prstGeom prst="rect">
            <a:avLst/>
          </a:prstGeom>
          <a:noFill/>
        </p:spPr>
        <p:txBody>
          <a:bodyPr wrap="square" lIns="0" rIns="0" tIns="0" bIns="0" anchor="t">
            <a:spAutoFit/>
          </a:bodyPr>
          <a:lstStyle/>
          <a:p>
            <a:pPr algn="l">
              <a:lnSpc>
                <a:spcPct val="100000"/>
              </a:lnSpc>
            </a:pPr>
            <a:r>
              <a:rPr sz="1000" b="0" i="1">
                <a:solidFill>
                  <a:srgbClr val="94A3B8"/>
                </a:solidFill>
                <a:latin typeface="Arial"/>
              </a:rPr>
              <a:t>The Learner Guide contains the detailed practice and revision approach.</a:t>
            </a:r>
          </a:p>
        </p:txBody>
      </p:sp>
      <p:sp>
        <p:nvSpPr>
          <p:cNvPr id="27" name="TextBox 26"/>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https://exams.tertiaryinfotech.com/practice-exams/linuxfoundation/linuxfoundation-kcna</a:t>
            </a:r>
          </a:p>
        </p:txBody>
      </p:sp>
      <p:sp>
        <p:nvSpPr>
          <p:cNvPr id="28" name="TextBox 2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9" name="TextBox 2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0" name="TextBox 2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564</a:t>
            </a:r>
          </a:p>
        </p:txBody>
      </p:sp>
    </p:spTree>
  </p:cSld>
  <p:clrMapOvr>
    <a:masterClrMapping/>
  </p:clrMapOvr>
  <p:transition xmlns:ns1="http://schemas.openxmlformats.org/markup-compatibility/2006" spd="fast" ns1:Ignorable="p14">
    <p:fade/>
  </p:transition>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EXAM READINESS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Technique For A 60-Question, 90-Minute Paper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75% of 60 is 45 correct answers. Time management, not obscure knowledge, is what usually costs the pass.</a:t>
            </a:r>
          </a:p>
        </p:txBody>
      </p:sp>
      <p:sp>
        <p:nvSpPr>
          <p:cNvPr id="7" name="Rectangle 6"/>
          <p:cNvSpPr/>
          <p:nvPr/>
        </p:nvSpPr>
        <p:spPr>
          <a:xfrm>
            <a:off x="777240"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63853"/>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67381"/>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90 seconds per question</a:t>
            </a:r>
          </a:p>
        </p:txBody>
      </p:sp>
      <p:sp>
        <p:nvSpPr>
          <p:cNvPr id="11" name="TextBox 10"/>
          <p:cNvSpPr txBox="1"/>
          <p:nvPr/>
        </p:nvSpPr>
        <p:spPr>
          <a:xfrm>
            <a:off x="1399032"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5,400 seconds over 60 questions. Flag anything past two minutes and move — the last ten questions are worth the same as the first ten.</a:t>
            </a:r>
          </a:p>
        </p:txBody>
      </p:sp>
      <p:sp>
        <p:nvSpPr>
          <p:cNvPr id="12" name="Rectangle 11"/>
          <p:cNvSpPr/>
          <p:nvPr/>
        </p:nvSpPr>
        <p:spPr>
          <a:xfrm>
            <a:off x="4392167"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63853"/>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67381"/>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Read the stem twice</a:t>
            </a:r>
          </a:p>
        </p:txBody>
      </p:sp>
      <p:sp>
        <p:nvSpPr>
          <p:cNvPr id="16" name="TextBox 15"/>
          <p:cNvSpPr txBox="1"/>
          <p:nvPr/>
        </p:nvSpPr>
        <p:spPr>
          <a:xfrm>
            <a:off x="5013959"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Distractors are usually correct statements that do not answer the question asked. Identify the question before reading options.</a:t>
            </a:r>
          </a:p>
        </p:txBody>
      </p:sp>
      <p:sp>
        <p:nvSpPr>
          <p:cNvPr id="17" name="Rectangle 16"/>
          <p:cNvSpPr/>
          <p:nvPr/>
        </p:nvSpPr>
        <p:spPr>
          <a:xfrm>
            <a:off x="8007095" y="2200046"/>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63853"/>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6738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Eliminate on consequence</a:t>
            </a:r>
          </a:p>
        </p:txBody>
      </p:sp>
      <p:sp>
        <p:nvSpPr>
          <p:cNvPr id="21" name="TextBox 20"/>
          <p:cNvSpPr txBox="1"/>
          <p:nvPr/>
        </p:nvSpPr>
        <p:spPr>
          <a:xfrm>
            <a:off x="8628888" y="2657246"/>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Probe questions turn on what FAILS, not on syntax. Component questions turn on what BREAKS when it is gone.</a:t>
            </a:r>
          </a:p>
        </p:txBody>
      </p:sp>
      <p:sp>
        <p:nvSpPr>
          <p:cNvPr id="22" name="Rectangle 21"/>
          <p:cNvSpPr/>
          <p:nvPr/>
        </p:nvSpPr>
        <p:spPr>
          <a:xfrm>
            <a:off x="777240" y="3610203"/>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610203"/>
            <a:ext cx="50292" cy="1263853"/>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077538"/>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Watch for superseded facts</a:t>
            </a:r>
          </a:p>
        </p:txBody>
      </p:sp>
      <p:sp>
        <p:nvSpPr>
          <p:cNvPr id="26" name="TextBox 25"/>
          <p:cNvSpPr txBox="1"/>
          <p:nvPr/>
        </p:nvSpPr>
        <p:spPr>
          <a:xfrm>
            <a:off x="1399032" y="4067403"/>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v1 Endpoints is deprecated; ComponentStatus is deprecated; community ingress-nginx retired in March 2026 — the Ingress API did not.</a:t>
            </a:r>
          </a:p>
        </p:txBody>
      </p:sp>
      <p:sp>
        <p:nvSpPr>
          <p:cNvPr id="27" name="Rectangle 26"/>
          <p:cNvSpPr/>
          <p:nvPr/>
        </p:nvSpPr>
        <p:spPr>
          <a:xfrm>
            <a:off x="4392167" y="3610203"/>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610203"/>
            <a:ext cx="50292" cy="1263853"/>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077538"/>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Be exact about CNCF status</a:t>
            </a:r>
          </a:p>
        </p:txBody>
      </p:sp>
      <p:sp>
        <p:nvSpPr>
          <p:cNvPr id="31" name="TextBox 30"/>
          <p:cNvSpPr txBox="1"/>
          <p:nvPr/>
        </p:nvSpPr>
        <p:spPr>
          <a:xfrm>
            <a:off x="5013959" y="4067403"/>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Graduated, incubating, sandbox, or not a CNCF project at all. This is a whole sub-domain of easy marks.</a:t>
            </a:r>
          </a:p>
        </p:txBody>
      </p:sp>
      <p:sp>
        <p:nvSpPr>
          <p:cNvPr id="32" name="Rectangle 31"/>
          <p:cNvSpPr/>
          <p:nvPr/>
        </p:nvSpPr>
        <p:spPr>
          <a:xfrm>
            <a:off x="8007095" y="3610203"/>
            <a:ext cx="3468623" cy="1263853"/>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610203"/>
            <a:ext cx="50292" cy="1263853"/>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077538"/>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65651"/>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Answer everything</a:t>
            </a:r>
          </a:p>
        </p:txBody>
      </p:sp>
      <p:sp>
        <p:nvSpPr>
          <p:cNvPr id="36" name="TextBox 35"/>
          <p:cNvSpPr txBox="1"/>
          <p:nvPr/>
        </p:nvSpPr>
        <p:spPr>
          <a:xfrm>
            <a:off x="8628888" y="4067403"/>
            <a:ext cx="2645664" cy="733501"/>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There is no negative marking. An unanswered question and a wrong one score identically.</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Foundation, Kubernetes and Cloud Native Associate (KCNA) certification page: training.linuxfoundation.org/certification/kubernetes-cloud-native-associate/</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565</a:t>
            </a:r>
          </a:p>
        </p:txBody>
      </p:sp>
    </p:spTree>
  </p:cSld>
  <p:clrMapOvr>
    <a:masterClrMapping/>
  </p:clrMapOvr>
  <p:transition xmlns:ns1="http://schemas.openxmlformats.org/markup-compatibility/2006" spd="fast" ns1:Ignorable="p14">
    <p:fade/>
  </p:transition>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NEXT STEPS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Where KCNA Sits, And What Comes After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526389"/>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Confirm current formats, durations and prerequisites on the Linux Foundation certification pages before you book anything.</a:t>
            </a:r>
          </a:p>
        </p:txBody>
      </p:sp>
      <p:sp>
        <p:nvSpPr>
          <p:cNvPr id="7" name="Rectangle 6"/>
          <p:cNvSpPr/>
          <p:nvPr/>
        </p:nvSpPr>
        <p:spPr>
          <a:xfrm>
            <a:off x="777240" y="2208885"/>
            <a:ext cx="2674620" cy="420624"/>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90525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Certification</a:t>
            </a:r>
          </a:p>
        </p:txBody>
      </p:sp>
      <p:sp>
        <p:nvSpPr>
          <p:cNvPr id="9" name="Rectangle 8"/>
          <p:cNvSpPr/>
          <p:nvPr/>
        </p:nvSpPr>
        <p:spPr>
          <a:xfrm>
            <a:off x="3451860" y="2208885"/>
            <a:ext cx="2674620" cy="420624"/>
          </a:xfrm>
          <a:prstGeom prst="rect">
            <a:avLst/>
          </a:prstGeom>
          <a:solidFill>
            <a:srgbClr val="1F6FEB"/>
          </a:solidFill>
          <a:ln>
            <a:noFill/>
          </a:ln>
          <a:effectLst/>
        </p:spPr>
        <p:txBody>
          <a:bodyPr rtlCol="0" anchor="ctr" wrap="square"/>
          <a:lstStyle/>
          <a:p>
            <a:pPr algn="ctr"/>
          </a:p>
        </p:txBody>
      </p:sp>
      <p:sp>
        <p:nvSpPr>
          <p:cNvPr id="10" name="TextBox 9"/>
          <p:cNvSpPr txBox="1"/>
          <p:nvPr/>
        </p:nvSpPr>
        <p:spPr>
          <a:xfrm>
            <a:off x="357987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Format</a:t>
            </a:r>
          </a:p>
        </p:txBody>
      </p:sp>
      <p:sp>
        <p:nvSpPr>
          <p:cNvPr id="11" name="Rectangle 10"/>
          <p:cNvSpPr/>
          <p:nvPr/>
        </p:nvSpPr>
        <p:spPr>
          <a:xfrm>
            <a:off x="6126479" y="2208885"/>
            <a:ext cx="2674620" cy="420624"/>
          </a:xfrm>
          <a:prstGeom prst="rect">
            <a:avLst/>
          </a:prstGeom>
          <a:solidFill>
            <a:srgbClr val="1F6FEB"/>
          </a:solidFill>
          <a:ln>
            <a:noFill/>
          </a:ln>
          <a:effectLst/>
        </p:spPr>
        <p:txBody>
          <a:bodyPr rtlCol="0" anchor="ctr" wrap="square"/>
          <a:lstStyle/>
          <a:p>
            <a:pPr algn="ctr"/>
          </a:p>
        </p:txBody>
      </p:sp>
      <p:sp>
        <p:nvSpPr>
          <p:cNvPr id="12" name="TextBox 11"/>
          <p:cNvSpPr txBox="1"/>
          <p:nvPr/>
        </p:nvSpPr>
        <p:spPr>
          <a:xfrm>
            <a:off x="6254495"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Focus</a:t>
            </a:r>
          </a:p>
        </p:txBody>
      </p:sp>
      <p:sp>
        <p:nvSpPr>
          <p:cNvPr id="13" name="Rectangle 12"/>
          <p:cNvSpPr/>
          <p:nvPr/>
        </p:nvSpPr>
        <p:spPr>
          <a:xfrm>
            <a:off x="8801100" y="2208885"/>
            <a:ext cx="2674620" cy="420624"/>
          </a:xfrm>
          <a:prstGeom prst="rect">
            <a:avLst/>
          </a:prstGeom>
          <a:solidFill>
            <a:srgbClr val="1F6FEB"/>
          </a:solidFill>
          <a:ln>
            <a:noFill/>
          </a:ln>
          <a:effectLst/>
        </p:spPr>
        <p:txBody>
          <a:bodyPr rtlCol="0" anchor="ctr" wrap="square"/>
          <a:lstStyle/>
          <a:p>
            <a:pPr algn="ctr"/>
          </a:p>
        </p:txBody>
      </p:sp>
      <p:sp>
        <p:nvSpPr>
          <p:cNvPr id="14" name="TextBox 13"/>
          <p:cNvSpPr txBox="1"/>
          <p:nvPr/>
        </p:nvSpPr>
        <p:spPr>
          <a:xfrm>
            <a:off x="8929116" y="2309469"/>
            <a:ext cx="2418587" cy="256032"/>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Sensible order</a:t>
            </a:r>
          </a:p>
        </p:txBody>
      </p:sp>
      <p:sp>
        <p:nvSpPr>
          <p:cNvPr id="15" name="Rectangle 14"/>
          <p:cNvSpPr/>
          <p:nvPr/>
        </p:nvSpPr>
        <p:spPr>
          <a:xfrm>
            <a:off x="77724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6" name="TextBox 15"/>
          <p:cNvSpPr txBox="1"/>
          <p:nvPr/>
        </p:nvSpPr>
        <p:spPr>
          <a:xfrm>
            <a:off x="905256" y="271180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KCNA</a:t>
            </a:r>
          </a:p>
        </p:txBody>
      </p:sp>
      <p:sp>
        <p:nvSpPr>
          <p:cNvPr id="17" name="Rectangle 16"/>
          <p:cNvSpPr/>
          <p:nvPr/>
        </p:nvSpPr>
        <p:spPr>
          <a:xfrm>
            <a:off x="345186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18" name="TextBox 17"/>
          <p:cNvSpPr txBox="1"/>
          <p:nvPr/>
        </p:nvSpPr>
        <p:spPr>
          <a:xfrm>
            <a:off x="357987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60 multiple-choice, 90 min, 75%</a:t>
            </a:r>
          </a:p>
        </p:txBody>
      </p:sp>
      <p:sp>
        <p:nvSpPr>
          <p:cNvPr id="19" name="Rectangle 18"/>
          <p:cNvSpPr/>
          <p:nvPr/>
        </p:nvSpPr>
        <p:spPr>
          <a:xfrm>
            <a:off x="6126479"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0" name="TextBox 19"/>
          <p:cNvSpPr txBox="1"/>
          <p:nvPr/>
        </p:nvSpPr>
        <p:spPr>
          <a:xfrm>
            <a:off x="6254495"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Breadth across Kubernetes and the cloud native ecosystem</a:t>
            </a:r>
          </a:p>
        </p:txBody>
      </p:sp>
      <p:sp>
        <p:nvSpPr>
          <p:cNvPr id="21" name="Rectangle 20"/>
          <p:cNvSpPr/>
          <p:nvPr/>
        </p:nvSpPr>
        <p:spPr>
          <a:xfrm>
            <a:off x="8801100" y="262950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22" name="TextBox 21"/>
          <p:cNvSpPr txBox="1"/>
          <p:nvPr/>
        </p:nvSpPr>
        <p:spPr>
          <a:xfrm>
            <a:off x="8929116" y="271180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First — no prerequisites</a:t>
            </a:r>
          </a:p>
        </p:txBody>
      </p:sp>
      <p:sp>
        <p:nvSpPr>
          <p:cNvPr id="23" name="Rectangle 22"/>
          <p:cNvSpPr/>
          <p:nvPr/>
        </p:nvSpPr>
        <p:spPr>
          <a:xfrm>
            <a:off x="77724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4" name="TextBox 23"/>
          <p:cNvSpPr txBox="1"/>
          <p:nvPr/>
        </p:nvSpPr>
        <p:spPr>
          <a:xfrm>
            <a:off x="905256" y="3261238"/>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KCSA</a:t>
            </a:r>
          </a:p>
        </p:txBody>
      </p:sp>
      <p:sp>
        <p:nvSpPr>
          <p:cNvPr id="25" name="Rectangle 24"/>
          <p:cNvSpPr/>
          <p:nvPr/>
        </p:nvSpPr>
        <p:spPr>
          <a:xfrm>
            <a:off x="345186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6" name="TextBox 25"/>
          <p:cNvSpPr txBox="1"/>
          <p:nvPr/>
        </p:nvSpPr>
        <p:spPr>
          <a:xfrm>
            <a:off x="357987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Multiple-choice</a:t>
            </a:r>
          </a:p>
        </p:txBody>
      </p:sp>
      <p:sp>
        <p:nvSpPr>
          <p:cNvPr id="27" name="Rectangle 26"/>
          <p:cNvSpPr/>
          <p:nvPr/>
        </p:nvSpPr>
        <p:spPr>
          <a:xfrm>
            <a:off x="6126479"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28" name="TextBox 27"/>
          <p:cNvSpPr txBox="1"/>
          <p:nvPr/>
        </p:nvSpPr>
        <p:spPr>
          <a:xfrm>
            <a:off x="6254495"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Cloud native security fundamentals, at the same associate level</a:t>
            </a:r>
          </a:p>
        </p:txBody>
      </p:sp>
      <p:sp>
        <p:nvSpPr>
          <p:cNvPr id="29" name="Rectangle 28"/>
          <p:cNvSpPr/>
          <p:nvPr/>
        </p:nvSpPr>
        <p:spPr>
          <a:xfrm>
            <a:off x="8801100" y="3178942"/>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30" name="TextBox 29"/>
          <p:cNvSpPr txBox="1"/>
          <p:nvPr/>
        </p:nvSpPr>
        <p:spPr>
          <a:xfrm>
            <a:off x="8929116" y="3261238"/>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Alongside or just after KCNA</a:t>
            </a:r>
          </a:p>
        </p:txBody>
      </p:sp>
      <p:sp>
        <p:nvSpPr>
          <p:cNvPr id="31" name="Rectangle 30"/>
          <p:cNvSpPr/>
          <p:nvPr/>
        </p:nvSpPr>
        <p:spPr>
          <a:xfrm>
            <a:off x="77724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2" name="TextBox 31"/>
          <p:cNvSpPr txBox="1"/>
          <p:nvPr/>
        </p:nvSpPr>
        <p:spPr>
          <a:xfrm>
            <a:off x="905256" y="3810670"/>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CKAD</a:t>
            </a:r>
          </a:p>
        </p:txBody>
      </p:sp>
      <p:sp>
        <p:nvSpPr>
          <p:cNvPr id="33" name="Rectangle 32"/>
          <p:cNvSpPr/>
          <p:nvPr/>
        </p:nvSpPr>
        <p:spPr>
          <a:xfrm>
            <a:off x="345186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4" name="TextBox 33"/>
          <p:cNvSpPr txBox="1"/>
          <p:nvPr/>
        </p:nvSpPr>
        <p:spPr>
          <a:xfrm>
            <a:off x="357987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Performance-based, hands-on</a:t>
            </a:r>
          </a:p>
        </p:txBody>
      </p:sp>
      <p:sp>
        <p:nvSpPr>
          <p:cNvPr id="35" name="Rectangle 34"/>
          <p:cNvSpPr/>
          <p:nvPr/>
        </p:nvSpPr>
        <p:spPr>
          <a:xfrm>
            <a:off x="6126479"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6" name="TextBox 35"/>
          <p:cNvSpPr txBox="1"/>
          <p:nvPr/>
        </p:nvSpPr>
        <p:spPr>
          <a:xfrm>
            <a:off x="6254495"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Building and running applications on Kubernetes</a:t>
            </a:r>
          </a:p>
        </p:txBody>
      </p:sp>
      <p:sp>
        <p:nvSpPr>
          <p:cNvPr id="37" name="Rectangle 36"/>
          <p:cNvSpPr/>
          <p:nvPr/>
        </p:nvSpPr>
        <p:spPr>
          <a:xfrm>
            <a:off x="8801100" y="3728374"/>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38" name="TextBox 37"/>
          <p:cNvSpPr txBox="1"/>
          <p:nvPr/>
        </p:nvSpPr>
        <p:spPr>
          <a:xfrm>
            <a:off x="8929116" y="3810670"/>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Next, if you write and ship workloads</a:t>
            </a:r>
          </a:p>
        </p:txBody>
      </p:sp>
      <p:sp>
        <p:nvSpPr>
          <p:cNvPr id="39" name="Rectangle 38"/>
          <p:cNvSpPr/>
          <p:nvPr/>
        </p:nvSpPr>
        <p:spPr>
          <a:xfrm>
            <a:off x="77724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0" name="TextBox 39"/>
          <p:cNvSpPr txBox="1"/>
          <p:nvPr/>
        </p:nvSpPr>
        <p:spPr>
          <a:xfrm>
            <a:off x="905256" y="4360103"/>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CKA</a:t>
            </a:r>
          </a:p>
        </p:txBody>
      </p:sp>
      <p:sp>
        <p:nvSpPr>
          <p:cNvPr id="41" name="Rectangle 40"/>
          <p:cNvSpPr/>
          <p:nvPr/>
        </p:nvSpPr>
        <p:spPr>
          <a:xfrm>
            <a:off x="345186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2" name="TextBox 41"/>
          <p:cNvSpPr txBox="1"/>
          <p:nvPr/>
        </p:nvSpPr>
        <p:spPr>
          <a:xfrm>
            <a:off x="357987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Performance-based, hands-on</a:t>
            </a:r>
          </a:p>
        </p:txBody>
      </p:sp>
      <p:sp>
        <p:nvSpPr>
          <p:cNvPr id="43" name="Rectangle 42"/>
          <p:cNvSpPr/>
          <p:nvPr/>
        </p:nvSpPr>
        <p:spPr>
          <a:xfrm>
            <a:off x="6126479"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4" name="TextBox 43"/>
          <p:cNvSpPr txBox="1"/>
          <p:nvPr/>
        </p:nvSpPr>
        <p:spPr>
          <a:xfrm>
            <a:off x="6254495"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Operating and troubleshooting clusters</a:t>
            </a:r>
          </a:p>
        </p:txBody>
      </p:sp>
      <p:sp>
        <p:nvSpPr>
          <p:cNvPr id="45" name="Rectangle 44"/>
          <p:cNvSpPr/>
          <p:nvPr/>
        </p:nvSpPr>
        <p:spPr>
          <a:xfrm>
            <a:off x="8801100" y="4277807"/>
            <a:ext cx="2674620" cy="549432"/>
          </a:xfrm>
          <a:prstGeom prst="rect">
            <a:avLst/>
          </a:prstGeom>
          <a:solidFill>
            <a:srgbClr val="F6F8FA"/>
          </a:solidFill>
          <a:ln w="9525">
            <a:solidFill>
              <a:srgbClr val="E2E8F0"/>
            </a:solidFill>
          </a:ln>
          <a:effectLst/>
        </p:spPr>
        <p:txBody>
          <a:bodyPr rtlCol="0" anchor="ctr" wrap="square"/>
          <a:lstStyle/>
          <a:p>
            <a:pPr algn="ctr"/>
          </a:p>
        </p:txBody>
      </p:sp>
      <p:sp>
        <p:nvSpPr>
          <p:cNvPr id="46" name="TextBox 45"/>
          <p:cNvSpPr txBox="1"/>
          <p:nvPr/>
        </p:nvSpPr>
        <p:spPr>
          <a:xfrm>
            <a:off x="8929116" y="4360103"/>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Next, if you operate clusters</a:t>
            </a:r>
          </a:p>
        </p:txBody>
      </p:sp>
      <p:sp>
        <p:nvSpPr>
          <p:cNvPr id="47" name="Rectangle 46"/>
          <p:cNvSpPr/>
          <p:nvPr/>
        </p:nvSpPr>
        <p:spPr>
          <a:xfrm>
            <a:off x="77724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48" name="TextBox 47"/>
          <p:cNvSpPr txBox="1"/>
          <p:nvPr/>
        </p:nvSpPr>
        <p:spPr>
          <a:xfrm>
            <a:off x="905256" y="4909535"/>
            <a:ext cx="2418587" cy="403128"/>
          </a:xfrm>
          <a:prstGeom prst="rect">
            <a:avLst/>
          </a:prstGeom>
          <a:noFill/>
        </p:spPr>
        <p:txBody>
          <a:bodyPr wrap="square" lIns="0" rIns="0" tIns="0" bIns="0" anchor="t">
            <a:spAutoFit/>
          </a:bodyPr>
          <a:lstStyle/>
          <a:p>
            <a:pPr algn="l">
              <a:lnSpc>
                <a:spcPct val="106000"/>
              </a:lnSpc>
            </a:pPr>
            <a:r>
              <a:rPr sz="1000" b="1" i="0">
                <a:solidFill>
                  <a:srgbClr val="161B26"/>
                </a:solidFill>
                <a:latin typeface="Arial"/>
              </a:rPr>
              <a:t>CKS</a:t>
            </a:r>
          </a:p>
        </p:txBody>
      </p:sp>
      <p:sp>
        <p:nvSpPr>
          <p:cNvPr id="49" name="Rectangle 48"/>
          <p:cNvSpPr/>
          <p:nvPr/>
        </p:nvSpPr>
        <p:spPr>
          <a:xfrm>
            <a:off x="345186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0" name="TextBox 49"/>
          <p:cNvSpPr txBox="1"/>
          <p:nvPr/>
        </p:nvSpPr>
        <p:spPr>
          <a:xfrm>
            <a:off x="357987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Performance-based, hands-on</a:t>
            </a:r>
          </a:p>
        </p:txBody>
      </p:sp>
      <p:sp>
        <p:nvSpPr>
          <p:cNvPr id="51" name="Rectangle 50"/>
          <p:cNvSpPr/>
          <p:nvPr/>
        </p:nvSpPr>
        <p:spPr>
          <a:xfrm>
            <a:off x="6126479"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2" name="TextBox 51"/>
          <p:cNvSpPr txBox="1"/>
          <p:nvPr/>
        </p:nvSpPr>
        <p:spPr>
          <a:xfrm>
            <a:off x="6254495"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Cluster hardening; requires a current CKA</a:t>
            </a:r>
          </a:p>
        </p:txBody>
      </p:sp>
      <p:sp>
        <p:nvSpPr>
          <p:cNvPr id="53" name="Rectangle 52"/>
          <p:cNvSpPr/>
          <p:nvPr/>
        </p:nvSpPr>
        <p:spPr>
          <a:xfrm>
            <a:off x="8801100" y="4827239"/>
            <a:ext cx="2674620" cy="549432"/>
          </a:xfrm>
          <a:prstGeom prst="rect">
            <a:avLst/>
          </a:prstGeom>
          <a:solidFill>
            <a:srgbClr val="FFFFFF"/>
          </a:solidFill>
          <a:ln w="9525">
            <a:solidFill>
              <a:srgbClr val="E2E8F0"/>
            </a:solidFill>
          </a:ln>
          <a:effectLst/>
        </p:spPr>
        <p:txBody>
          <a:bodyPr rtlCol="0" anchor="ctr" wrap="square"/>
          <a:lstStyle/>
          <a:p>
            <a:pPr algn="ctr"/>
          </a:p>
        </p:txBody>
      </p:sp>
      <p:sp>
        <p:nvSpPr>
          <p:cNvPr id="54" name="TextBox 53"/>
          <p:cNvSpPr txBox="1"/>
          <p:nvPr/>
        </p:nvSpPr>
        <p:spPr>
          <a:xfrm>
            <a:off x="8929116" y="4909535"/>
            <a:ext cx="2418587" cy="403128"/>
          </a:xfrm>
          <a:prstGeom prst="rect">
            <a:avLst/>
          </a:prstGeom>
          <a:noFill/>
        </p:spPr>
        <p:txBody>
          <a:bodyPr wrap="square" lIns="0" rIns="0" tIns="0" bIns="0" anchor="t">
            <a:spAutoFit/>
          </a:bodyPr>
          <a:lstStyle/>
          <a:p>
            <a:pPr algn="l">
              <a:lnSpc>
                <a:spcPct val="106000"/>
              </a:lnSpc>
            </a:pPr>
            <a:r>
              <a:rPr sz="1000" b="0" i="0">
                <a:solidFill>
                  <a:srgbClr val="5B6372"/>
                </a:solidFill>
                <a:latin typeface="Arial"/>
              </a:rPr>
              <a:t>Last — CKA is a prerequisite</a:t>
            </a:r>
          </a:p>
        </p:txBody>
      </p:sp>
      <p:sp>
        <p:nvSpPr>
          <p:cNvPr id="55" name="Rectangle 54"/>
          <p:cNvSpPr/>
          <p:nvPr/>
        </p:nvSpPr>
        <p:spPr>
          <a:xfrm>
            <a:off x="777240" y="5559552"/>
            <a:ext cx="10698480" cy="566928"/>
          </a:xfrm>
          <a:prstGeom prst="rect">
            <a:avLst/>
          </a:prstGeom>
          <a:solidFill>
            <a:srgbClr val="E8F7EE"/>
          </a:solidFill>
          <a:ln>
            <a:noFill/>
          </a:ln>
          <a:effectLst/>
        </p:spPr>
        <p:txBody>
          <a:bodyPr rtlCol="0" anchor="ctr" wrap="square"/>
          <a:lstStyle/>
          <a:p>
            <a:pPr algn="ctr"/>
          </a:p>
        </p:txBody>
      </p:sp>
      <p:sp>
        <p:nvSpPr>
          <p:cNvPr id="56" name="Rectangle 55"/>
          <p:cNvSpPr/>
          <p:nvPr/>
        </p:nvSpPr>
        <p:spPr>
          <a:xfrm>
            <a:off x="777240" y="5559552"/>
            <a:ext cx="50292" cy="566928"/>
          </a:xfrm>
          <a:prstGeom prst="rect">
            <a:avLst/>
          </a:prstGeom>
          <a:solidFill>
            <a:srgbClr val="10B981"/>
          </a:solidFill>
          <a:ln>
            <a:noFill/>
          </a:ln>
          <a:effectLst/>
        </p:spPr>
        <p:txBody>
          <a:bodyPr rtlCol="0" anchor="ctr" wrap="square"/>
          <a:lstStyle/>
          <a:p>
            <a:pPr algn="ctr"/>
          </a:p>
        </p:txBody>
      </p:sp>
      <p:sp>
        <p:nvSpPr>
          <p:cNvPr id="57" name="TextBox 56"/>
          <p:cNvSpPr txBox="1"/>
          <p:nvPr/>
        </p:nvSpPr>
        <p:spPr>
          <a:xfrm>
            <a:off x="996695" y="5614416"/>
            <a:ext cx="1828800" cy="201168"/>
          </a:xfrm>
          <a:prstGeom prst="rect">
            <a:avLst/>
          </a:prstGeom>
          <a:noFill/>
        </p:spPr>
        <p:txBody>
          <a:bodyPr wrap="square" lIns="0" rIns="0" tIns="0" bIns="0" anchor="t">
            <a:spAutoFit/>
          </a:bodyPr>
          <a:lstStyle/>
          <a:p>
            <a:pPr algn="l">
              <a:lnSpc>
                <a:spcPct val="100000"/>
              </a:lnSpc>
            </a:pPr>
            <a:r>
              <a:rPr sz="850" b="1" i="0">
                <a:solidFill>
                  <a:srgbClr val="10B981"/>
                </a:solidFill>
                <a:latin typeface="Arial"/>
              </a:rPr>
              <a:t>CHOOSE</a:t>
            </a:r>
          </a:p>
        </p:txBody>
      </p:sp>
      <p:sp>
        <p:nvSpPr>
          <p:cNvPr id="58" name="TextBox 57"/>
          <p:cNvSpPr txBox="1"/>
          <p:nvPr/>
        </p:nvSpPr>
        <p:spPr>
          <a:xfrm>
            <a:off x="996695" y="5815584"/>
            <a:ext cx="10241280" cy="274320"/>
          </a:xfrm>
          <a:prstGeom prst="rect">
            <a:avLst/>
          </a:prstGeom>
          <a:noFill/>
        </p:spPr>
        <p:txBody>
          <a:bodyPr wrap="square" lIns="0" rIns="0" tIns="0" bIns="0" anchor="t">
            <a:spAutoFit/>
          </a:bodyPr>
          <a:lstStyle/>
          <a:p>
            <a:pPr algn="l">
              <a:lnSpc>
                <a:spcPct val="100000"/>
              </a:lnSpc>
            </a:pPr>
            <a:r>
              <a:rPr sz="1100" b="0" i="0">
                <a:solidFill>
                  <a:srgbClr val="161B26"/>
                </a:solidFill>
                <a:latin typeface="Arial"/>
              </a:rPr>
              <a:t>Take KCNA for the breadth, then choose CKAD or CKA by what you actually do at work — not by which sounds harder.</a:t>
            </a:r>
          </a:p>
        </p:txBody>
      </p:sp>
      <p:sp>
        <p:nvSpPr>
          <p:cNvPr id="59" name="TextBox 58"/>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Foundation, Kubernetes and Cloud Native Associate (KCNA) certification page: training.linuxfoundation.org/certification/kubernetes-cloud-native-associate/</a:t>
            </a:r>
          </a:p>
        </p:txBody>
      </p:sp>
      <p:sp>
        <p:nvSpPr>
          <p:cNvPr id="60" name="TextBox 5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61" name="TextBox 6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62" name="TextBox 6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566</a:t>
            </a:r>
          </a:p>
        </p:txBody>
      </p:sp>
    </p:spTree>
  </p:cSld>
  <p:clrMapOvr>
    <a:masterClrMapping/>
  </p:clrMapOvr>
  <p:transition xmlns:ns1="http://schemas.openxmlformats.org/markup-compatibility/2006" spd="fast" ns1:Ignorable="p14">
    <p:fade/>
  </p:transition>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NEXT STEPS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The Thirty Days After This Course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 concrete plan beats intention. This one assumes a few hours a week, not a sabbatical.</a:t>
            </a:r>
          </a:p>
        </p:txBody>
      </p:sp>
      <p:sp>
        <p:nvSpPr>
          <p:cNvPr id="7" name="Rectangle 6"/>
          <p:cNvSpPr/>
          <p:nvPr/>
        </p:nvSpPr>
        <p:spPr>
          <a:xfrm>
            <a:off x="777240"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228940"/>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49924"/>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Week 1 — rebuild from memory</a:t>
            </a:r>
          </a:p>
        </p:txBody>
      </p:sp>
      <p:sp>
        <p:nvSpPr>
          <p:cNvPr id="11" name="TextBox 10"/>
          <p:cNvSpPr txBox="1"/>
          <p:nvPr/>
        </p:nvSpPr>
        <p:spPr>
          <a:xfrm>
            <a:off x="1399032" y="2657246"/>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Recreate Labs 22-25 in a fresh kind cluster with the READMEs closed. Recall, not recognition, is what the exam tests.</a:t>
            </a:r>
          </a:p>
        </p:txBody>
      </p:sp>
      <p:sp>
        <p:nvSpPr>
          <p:cNvPr id="12" name="Rectangle 11"/>
          <p:cNvSpPr/>
          <p:nvPr/>
        </p:nvSpPr>
        <p:spPr>
          <a:xfrm>
            <a:off x="4392167"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228940"/>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49924"/>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412496"/>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Week 2 — close the weak domain</a:t>
            </a:r>
          </a:p>
        </p:txBody>
      </p:sp>
      <p:sp>
        <p:nvSpPr>
          <p:cNvPr id="16" name="TextBox 15"/>
          <p:cNvSpPr txBox="1"/>
          <p:nvPr/>
        </p:nvSpPr>
        <p:spPr>
          <a:xfrm>
            <a:off x="5013959" y="2795422"/>
            <a:ext cx="2645664" cy="560412"/>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Use your practice-bank domain report. Re-read the Kubernetes documentation page behind each wrong answer.</a:t>
            </a:r>
          </a:p>
        </p:txBody>
      </p:sp>
      <p:sp>
        <p:nvSpPr>
          <p:cNvPr id="17" name="Rectangle 16"/>
          <p:cNvSpPr/>
          <p:nvPr/>
        </p:nvSpPr>
        <p:spPr>
          <a:xfrm>
            <a:off x="8007095" y="2200046"/>
            <a:ext cx="3468623" cy="1228940"/>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228940"/>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49924"/>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Week 3 — read primary sources</a:t>
            </a:r>
          </a:p>
        </p:txBody>
      </p:sp>
      <p:sp>
        <p:nvSpPr>
          <p:cNvPr id="21" name="TextBox 20"/>
          <p:cNvSpPr txBox="1"/>
          <p:nvPr/>
        </p:nvSpPr>
        <p:spPr>
          <a:xfrm>
            <a:off x="8628888" y="2657246"/>
            <a:ext cx="2645664" cy="698588"/>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CNCF curriculum PDF, cncf.io/projects, and the Kubernetes concepts section. Nothing second-hand.</a:t>
            </a:r>
          </a:p>
        </p:txBody>
      </p:sp>
      <p:sp>
        <p:nvSpPr>
          <p:cNvPr id="22" name="Rectangle 21"/>
          <p:cNvSpPr/>
          <p:nvPr/>
        </p:nvSpPr>
        <p:spPr>
          <a:xfrm>
            <a:off x="777240" y="3575291"/>
            <a:ext cx="3468623" cy="1436941"/>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75291"/>
            <a:ext cx="50292" cy="1436941"/>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4129170"/>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Week 4 — two timed runs</a:t>
            </a:r>
          </a:p>
        </p:txBody>
      </p:sp>
      <p:sp>
        <p:nvSpPr>
          <p:cNvPr id="26" name="TextBox 25"/>
          <p:cNvSpPr txBox="1"/>
          <p:nvPr/>
        </p:nvSpPr>
        <p:spPr>
          <a:xfrm>
            <a:off x="1399032" y="4032491"/>
            <a:ext cx="2645664" cy="906589"/>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Full 90-minute simulations on separate days. Book the exam only after both clear 75% comfortably.</a:t>
            </a:r>
          </a:p>
        </p:txBody>
      </p:sp>
      <p:sp>
        <p:nvSpPr>
          <p:cNvPr id="27" name="Rectangle 26"/>
          <p:cNvSpPr/>
          <p:nvPr/>
        </p:nvSpPr>
        <p:spPr>
          <a:xfrm>
            <a:off x="4392167" y="3575291"/>
            <a:ext cx="3468623" cy="1436941"/>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75291"/>
            <a:ext cx="50292" cy="1436941"/>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41291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Keep a triage card</a:t>
            </a:r>
          </a:p>
        </p:txBody>
      </p:sp>
      <p:sp>
        <p:nvSpPr>
          <p:cNvPr id="31" name="TextBox 30"/>
          <p:cNvSpPr txBox="1"/>
          <p:nvPr/>
        </p:nvSpPr>
        <p:spPr>
          <a:xfrm>
            <a:off x="5013959" y="4032491"/>
            <a:ext cx="2645664" cy="906589"/>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The five questions, the symptom strings and the exit codes on one page. It is the most reusable thing you built this week.</a:t>
            </a:r>
          </a:p>
        </p:txBody>
      </p:sp>
      <p:sp>
        <p:nvSpPr>
          <p:cNvPr id="32" name="Rectangle 31"/>
          <p:cNvSpPr/>
          <p:nvPr/>
        </p:nvSpPr>
        <p:spPr>
          <a:xfrm>
            <a:off x="8007095" y="3575291"/>
            <a:ext cx="3468623" cy="1436941"/>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8007095" y="3575291"/>
            <a:ext cx="50292" cy="1436941"/>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8189975" y="41291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8628888" y="3730739"/>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Renewal, when the time comes</a:t>
            </a:r>
          </a:p>
        </p:txBody>
      </p:sp>
      <p:sp>
        <p:nvSpPr>
          <p:cNvPr id="36" name="TextBox 35"/>
          <p:cNvSpPr txBox="1"/>
          <p:nvPr/>
        </p:nvSpPr>
        <p:spPr>
          <a:xfrm>
            <a:off x="8628888" y="4032491"/>
            <a:ext cx="2645664" cy="906589"/>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KCNA is valid for two years. CARE can renew an already-earned KCNA after a qualifying CKA or CKAD achievement or recertification. Check the current official terms.</a:t>
            </a:r>
          </a:p>
        </p:txBody>
      </p:sp>
      <p:sp>
        <p:nvSpPr>
          <p:cNvPr id="37" name="TextBox 36"/>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Linux Foundation, Kubernetes and Cloud Native Associate (KCNA) certification page: training.linuxfoundation.org/certification/kubernetes-cloud-native-associate/; CARE: training.linuxfoundation.org/care-program/</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567</a:t>
            </a:r>
          </a:p>
        </p:txBody>
      </p:sp>
    </p:spTree>
  </p:cSld>
  <p:clrMapOvr>
    <a:masterClrMapping/>
  </p:clrMapOvr>
  <p:transition xmlns:ns1="http://schemas.openxmlformats.org/markup-compatibility/2006" spd="fast" ns1:Ignorable="p14">
    <p:fade/>
  </p:transition>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ASSESSMENT BRIEFING</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This Afternoon's WSQ Assessment</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Two instruments, three hours, mapped to the registered outcomes you have been working against all week.</a:t>
            </a:r>
          </a:p>
        </p:txBody>
      </p:sp>
      <p:sp>
        <p:nvSpPr>
          <p:cNvPr id="7" name="Rectangle 6"/>
          <p:cNvSpPr/>
          <p:nvPr/>
        </p:nvSpPr>
        <p:spPr>
          <a:xfrm>
            <a:off x="777240"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8" name="Rectangle 7"/>
          <p:cNvSpPr/>
          <p:nvPr/>
        </p:nvSpPr>
        <p:spPr>
          <a:xfrm>
            <a:off x="777240" y="2200046"/>
            <a:ext cx="5199278" cy="329184"/>
          </a:xfrm>
          <a:prstGeom prst="rect">
            <a:avLst/>
          </a:prstGeom>
          <a:solidFill>
            <a:srgbClr val="1F6FEB"/>
          </a:solidFill>
          <a:ln>
            <a:noFill/>
          </a:ln>
          <a:effectLst/>
        </p:spPr>
        <p:txBody>
          <a:bodyPr rtlCol="0" anchor="ctr" wrap="square"/>
          <a:lstStyle/>
          <a:p>
            <a:pPr algn="ctr"/>
          </a:p>
        </p:txBody>
      </p:sp>
      <p:sp>
        <p:nvSpPr>
          <p:cNvPr id="9" name="TextBox 8"/>
          <p:cNvSpPr txBox="1"/>
          <p:nvPr/>
        </p:nvSpPr>
        <p:spPr>
          <a:xfrm>
            <a:off x="978408"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WRITTEN ASSESSMENT (SAQ) · 3:30 – 4:30 PM</a:t>
            </a:r>
          </a:p>
        </p:txBody>
      </p:sp>
      <p:sp>
        <p:nvSpPr>
          <p:cNvPr id="10" name="TextBox 9"/>
          <p:cNvSpPr txBox="1"/>
          <p:nvPr/>
        </p:nvSpPr>
        <p:spPr>
          <a:xfrm>
            <a:off x="996695"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b="1">
                <a:solidFill>
                  <a:srgbClr val="161B26"/>
                </a:solidFill>
                <a:latin typeface="Arial"/>
              </a:rPr>
              <a:t>Format</a:t>
            </a:r>
            <a:r>
              <a:rPr sz="1150">
                <a:solidFill>
                  <a:srgbClr val="5B6372"/>
                </a:solidFill>
                <a:latin typeface="Arial"/>
              </a:rPr>
              <a:t>  7 short-answer questions in 60 minutes</a:t>
            </a:r>
          </a:p>
          <a:p>
            <a:pPr>
              <a:lnSpc>
                <a:spcPct val="112000"/>
              </a:lnSpc>
              <a:spcAft>
                <a:spcPts val="700"/>
              </a:spcAft>
            </a:pPr>
            <a:r>
              <a:rPr sz="1150">
                <a:solidFill>
                  <a:srgbClr val="94A3B8"/>
                </a:solidFill>
                <a:latin typeface="Arial"/>
              </a:rPr>
              <a:t>•  </a:t>
            </a:r>
            <a:r>
              <a:rPr sz="1150" b="1">
                <a:solidFill>
                  <a:srgbClr val="161B26"/>
                </a:solidFill>
                <a:latin typeface="Arial"/>
              </a:rPr>
              <a:t>Coverage</a:t>
            </a:r>
            <a:r>
              <a:rPr sz="1150">
                <a:solidFill>
                  <a:srgbClr val="5B6372"/>
                </a:solidFill>
                <a:latin typeface="Arial"/>
              </a:rPr>
              <a:t>  One question per knowledge code, K1 through K7, in the registered order</a:t>
            </a:r>
          </a:p>
          <a:p>
            <a:pPr>
              <a:lnSpc>
                <a:spcPct val="112000"/>
              </a:lnSpc>
              <a:spcAft>
                <a:spcPts val="700"/>
              </a:spcAft>
            </a:pPr>
            <a:r>
              <a:rPr sz="1150">
                <a:solidFill>
                  <a:srgbClr val="94A3B8"/>
                </a:solidFill>
                <a:latin typeface="Arial"/>
              </a:rPr>
              <a:t>•  </a:t>
            </a:r>
            <a:r>
              <a:rPr sz="1150" b="1">
                <a:solidFill>
                  <a:srgbClr val="161B26"/>
                </a:solidFill>
                <a:latin typeface="Arial"/>
              </a:rPr>
              <a:t>K7 is today</a:t>
            </a:r>
            <a:r>
              <a:rPr sz="1150">
                <a:solidFill>
                  <a:srgbClr val="5B6372"/>
                </a:solidFill>
                <a:latin typeface="Arial"/>
              </a:rPr>
              <a:t>  Interactions among IT components — probes, Events, the metrics pipeline and triage</a:t>
            </a:r>
          </a:p>
          <a:p>
            <a:pPr>
              <a:lnSpc>
                <a:spcPct val="112000"/>
              </a:lnSpc>
              <a:spcAft>
                <a:spcPts val="700"/>
              </a:spcAft>
            </a:pPr>
            <a:r>
              <a:rPr sz="1150">
                <a:solidFill>
                  <a:srgbClr val="94A3B8"/>
                </a:solidFill>
                <a:latin typeface="Arial"/>
              </a:rPr>
              <a:t>•  </a:t>
            </a:r>
            <a:r>
              <a:rPr sz="1150" b="1">
                <a:solidFill>
                  <a:srgbClr val="161B26"/>
                </a:solidFill>
                <a:latin typeface="Arial"/>
              </a:rPr>
              <a:t>Technique</a:t>
            </a:r>
            <a:r>
              <a:rPr sz="1150">
                <a:solidFill>
                  <a:srgbClr val="5B6372"/>
                </a:solidFill>
                <a:latin typeface="Arial"/>
              </a:rPr>
              <a:t>  Answer the question that was asked; name the API object, field or command rather than describing it loosely</a:t>
            </a:r>
          </a:p>
        </p:txBody>
      </p:sp>
      <p:sp>
        <p:nvSpPr>
          <p:cNvPr id="11" name="Rectangle 10"/>
          <p:cNvSpPr/>
          <p:nvPr/>
        </p:nvSpPr>
        <p:spPr>
          <a:xfrm>
            <a:off x="6276441" y="2200046"/>
            <a:ext cx="5199278" cy="3789273"/>
          </a:xfrm>
          <a:prstGeom prst="rect">
            <a:avLst/>
          </a:prstGeom>
          <a:solidFill>
            <a:srgbClr val="FFFFFF"/>
          </a:solidFill>
          <a:ln w="12700">
            <a:solidFill>
              <a:srgbClr val="E2E8F0"/>
            </a:solidFill>
          </a:ln>
          <a:effectLst/>
        </p:spPr>
        <p:txBody>
          <a:bodyPr rtlCol="0" anchor="ctr" wrap="square"/>
          <a:lstStyle/>
          <a:p>
            <a:pPr algn="ctr"/>
          </a:p>
        </p:txBody>
      </p:sp>
      <p:sp>
        <p:nvSpPr>
          <p:cNvPr id="12" name="Rectangle 11"/>
          <p:cNvSpPr/>
          <p:nvPr/>
        </p:nvSpPr>
        <p:spPr>
          <a:xfrm>
            <a:off x="6276441" y="2200046"/>
            <a:ext cx="5199278" cy="329184"/>
          </a:xfrm>
          <a:prstGeom prst="rect">
            <a:avLst/>
          </a:prstGeom>
          <a:solidFill>
            <a:srgbClr val="10B981"/>
          </a:solidFill>
          <a:ln>
            <a:noFill/>
          </a:ln>
          <a:effectLst/>
        </p:spPr>
        <p:txBody>
          <a:bodyPr rtlCol="0" anchor="ctr" wrap="square"/>
          <a:lstStyle/>
          <a:p>
            <a:pPr algn="ctr"/>
          </a:p>
        </p:txBody>
      </p:sp>
      <p:sp>
        <p:nvSpPr>
          <p:cNvPr id="13" name="TextBox 12"/>
          <p:cNvSpPr txBox="1"/>
          <p:nvPr/>
        </p:nvSpPr>
        <p:spPr>
          <a:xfrm>
            <a:off x="6477609" y="2254910"/>
            <a:ext cx="4796942" cy="237744"/>
          </a:xfrm>
          <a:prstGeom prst="rect">
            <a:avLst/>
          </a:prstGeom>
          <a:noFill/>
        </p:spPr>
        <p:txBody>
          <a:bodyPr wrap="square" lIns="0" rIns="0" tIns="0" bIns="0" anchor="t">
            <a:spAutoFit/>
          </a:bodyPr>
          <a:lstStyle/>
          <a:p>
            <a:pPr algn="l">
              <a:lnSpc>
                <a:spcPct val="100000"/>
              </a:lnSpc>
            </a:pPr>
            <a:r>
              <a:rPr sz="1100" b="1" i="0">
                <a:solidFill>
                  <a:srgbClr val="FFFFFF"/>
                </a:solidFill>
                <a:latin typeface="Arial"/>
              </a:rPr>
              <a:t>PRACTICAL PERFORMANCE (PP) · 4:30 – 6:30 PM</a:t>
            </a:r>
          </a:p>
        </p:txBody>
      </p:sp>
      <p:sp>
        <p:nvSpPr>
          <p:cNvPr id="14" name="TextBox 13"/>
          <p:cNvSpPr txBox="1"/>
          <p:nvPr/>
        </p:nvSpPr>
        <p:spPr>
          <a:xfrm>
            <a:off x="6495897" y="2712110"/>
            <a:ext cx="4760366" cy="3149193"/>
          </a:xfrm>
          <a:prstGeom prst="rect">
            <a:avLst/>
          </a:prstGeom>
          <a:noFill/>
        </p:spPr>
        <p:txBody>
          <a:bodyPr wrap="square" lIns="0" rIns="0" tIns="0" bIns="0">
            <a:spAutoFit/>
          </a:bodyPr>
          <a:lstStyle/>
          <a:p>
            <a:pPr>
              <a:lnSpc>
                <a:spcPct val="112000"/>
              </a:lnSpc>
              <a:spcAft>
                <a:spcPts val="700"/>
              </a:spcAft>
            </a:pPr>
            <a:r>
              <a:rPr sz="1150">
                <a:solidFill>
                  <a:srgbClr val="94A3B8"/>
                </a:solidFill>
                <a:latin typeface="Arial"/>
              </a:rPr>
              <a:t>•  </a:t>
            </a:r>
            <a:r>
              <a:rPr sz="1150" b="1">
                <a:solidFill>
                  <a:srgbClr val="161B26"/>
                </a:solidFill>
                <a:latin typeface="Arial"/>
              </a:rPr>
              <a:t>Format</a:t>
            </a:r>
            <a:r>
              <a:rPr sz="1150">
                <a:solidFill>
                  <a:srgbClr val="5B6372"/>
                </a:solidFill>
                <a:latin typeface="Arial"/>
              </a:rPr>
              <a:t>  6 tasks in 120 minutes, one per learning outcome</a:t>
            </a:r>
          </a:p>
          <a:p>
            <a:pPr>
              <a:lnSpc>
                <a:spcPct val="112000"/>
              </a:lnSpc>
              <a:spcAft>
                <a:spcPts val="700"/>
              </a:spcAft>
            </a:pPr>
            <a:r>
              <a:rPr sz="1150">
                <a:solidFill>
                  <a:srgbClr val="94A3B8"/>
                </a:solidFill>
                <a:latin typeface="Arial"/>
              </a:rPr>
              <a:t>•  </a:t>
            </a:r>
            <a:r>
              <a:rPr sz="1150" b="1">
                <a:solidFill>
                  <a:srgbClr val="161B26"/>
                </a:solidFill>
                <a:latin typeface="Arial"/>
              </a:rPr>
              <a:t>Mapping</a:t>
            </a:r>
            <a:r>
              <a:rPr sz="1150">
                <a:solidFill>
                  <a:srgbClr val="5B6372"/>
                </a:solidFill>
                <a:latin typeface="Arial"/>
              </a:rPr>
              <a:t>  T1/A1, T2/A3, T3/A2, T4/A4, T5/A5, T6/A6. Tasks follow LO1–LO6; LO6 covers monitoring and troubleshooting</a:t>
            </a:r>
          </a:p>
          <a:p>
            <a:pPr>
              <a:lnSpc>
                <a:spcPct val="112000"/>
              </a:lnSpc>
              <a:spcAft>
                <a:spcPts val="700"/>
              </a:spcAft>
            </a:pPr>
            <a:r>
              <a:rPr sz="1150">
                <a:solidFill>
                  <a:srgbClr val="94A3B8"/>
                </a:solidFill>
                <a:latin typeface="Arial"/>
              </a:rPr>
              <a:t>•  </a:t>
            </a:r>
            <a:r>
              <a:rPr sz="1150" b="1">
                <a:solidFill>
                  <a:srgbClr val="161B26"/>
                </a:solidFill>
                <a:latin typeface="Arial"/>
              </a:rPr>
              <a:t>Method</a:t>
            </a:r>
            <a:r>
              <a:rPr sz="1150">
                <a:solidFill>
                  <a:srgbClr val="5B6372"/>
                </a:solidFill>
                <a:latin typeface="Arial"/>
              </a:rPr>
              <a:t>  Work the five triage questions in order and record the phase before the cause</a:t>
            </a:r>
          </a:p>
          <a:p>
            <a:pPr>
              <a:lnSpc>
                <a:spcPct val="112000"/>
              </a:lnSpc>
              <a:spcAft>
                <a:spcPts val="700"/>
              </a:spcAft>
            </a:pPr>
            <a:r>
              <a:rPr sz="1150">
                <a:solidFill>
                  <a:srgbClr val="94A3B8"/>
                </a:solidFill>
                <a:latin typeface="Arial"/>
              </a:rPr>
              <a:t>•  </a:t>
            </a:r>
            <a:r>
              <a:rPr sz="1150" b="1">
                <a:solidFill>
                  <a:srgbClr val="161B26"/>
                </a:solidFill>
                <a:latin typeface="Arial"/>
              </a:rPr>
              <a:t>Evidence</a:t>
            </a:r>
            <a:r>
              <a:rPr sz="1150">
                <a:solidFill>
                  <a:srgbClr val="5B6372"/>
                </a:solidFill>
                <a:latin typeface="Arial"/>
              </a:rPr>
              <a:t>  Show the command AND its output. An assertion with no cluster evidence behind it is not competent performance</a:t>
            </a:r>
          </a:p>
        </p:txBody>
      </p:sp>
      <p:sp>
        <p:nvSpPr>
          <p:cNvPr id="15" name="TextBox 14"/>
          <p:cNvSpPr txBox="1"/>
          <p:nvPr/>
        </p:nvSpPr>
        <p:spPr>
          <a:xfrm>
            <a:off x="777240" y="6144768"/>
            <a:ext cx="10698480" cy="237744"/>
          </a:xfrm>
          <a:prstGeom prst="rect">
            <a:avLst/>
          </a:prstGeom>
          <a:noFill/>
        </p:spPr>
        <p:txBody>
          <a:bodyPr wrap="square" lIns="0" rIns="0" tIns="0" bIns="0" anchor="t">
            <a:spAutoFit/>
          </a:bodyPr>
          <a:lstStyle/>
          <a:p>
            <a:pPr algn="l">
              <a:lnSpc>
                <a:spcPct val="100000"/>
              </a:lnSpc>
            </a:pPr>
            <a:r>
              <a:rPr sz="800" b="0" i="1">
                <a:solidFill>
                  <a:srgbClr val="94A3B8"/>
                </a:solidFill>
                <a:latin typeface="Arial"/>
              </a:rPr>
              <a:t>Source: course_data.ASSESSMENT, mirroring the approved legacy papers</a:t>
            </a:r>
          </a:p>
        </p:txBody>
      </p:sp>
      <p:sp>
        <p:nvSpPr>
          <p:cNvPr id="16" name="TextBox 1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7" name="TextBox 1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8" name="TextBox 1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568</a:t>
            </a:r>
          </a:p>
        </p:txBody>
      </p:sp>
    </p:spTree>
  </p:cSld>
  <p:clrMapOvr>
    <a:masterClrMapping/>
  </p:clrMapOvr>
  <p:transition xmlns:ns1="http://schemas.openxmlformats.org/markup-compatibility/2006" spd="fast" ns1:Ignorable="p14">
    <p:fade/>
  </p:transition>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txBody>
          <a:bodyPr rtlCol="0" anchor="ctr" wrap="square"/>
          <a:lstStyle/>
          <a:p>
            <a:pPr algn="ctr"/>
          </a:p>
        </p:txBody>
      </p:sp>
      <p:sp>
        <p:nvSpPr>
          <p:cNvPr id="3" name="Rectangle 2"/>
          <p:cNvSpPr/>
          <p:nvPr/>
        </p:nvSpPr>
        <p:spPr>
          <a:xfrm>
            <a:off x="0" y="2834640"/>
            <a:ext cx="12191695" cy="1188720"/>
          </a:xfrm>
          <a:prstGeom prst="rect">
            <a:avLst/>
          </a:prstGeom>
          <a:solidFill>
            <a:srgbClr val="F59E0B"/>
          </a:solidFill>
          <a:ln>
            <a:noFill/>
          </a:ln>
          <a:effectLst/>
        </p:spPr>
        <p:txBody>
          <a:bodyPr rtlCol="0" anchor="ctr" wrap="square"/>
          <a:lstStyle/>
          <a:p>
            <a:pPr algn="ctr"/>
          </a:p>
        </p:txBody>
      </p:sp>
      <p:sp>
        <p:nvSpPr>
          <p:cNvPr id="4" name="TextBox 3"/>
          <p:cNvSpPr txBox="1"/>
          <p:nvPr/>
        </p:nvSpPr>
        <p:spPr>
          <a:xfrm>
            <a:off x="0" y="2999232"/>
            <a:ext cx="12191695" cy="45720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Afternoon Break</a:t>
            </a:r>
          </a:p>
        </p:txBody>
      </p:sp>
      <p:sp>
        <p:nvSpPr>
          <p:cNvPr id="5" name="TextBox 4"/>
          <p:cNvSpPr txBox="1"/>
          <p:nvPr/>
        </p:nvSpPr>
        <p:spPr>
          <a:xfrm>
            <a:off x="0" y="3529584"/>
            <a:ext cx="12191695" cy="329184"/>
          </a:xfrm>
          <a:prstGeom prst="rect">
            <a:avLst/>
          </a:prstGeom>
          <a:noFill/>
        </p:spPr>
        <p:txBody>
          <a:bodyPr wrap="square" lIns="0" rIns="0" tIns="0" bIns="0" anchor="t">
            <a:spAutoFit/>
          </a:bodyPr>
          <a:lstStyle/>
          <a:p>
            <a:pPr algn="ctr">
              <a:lnSpc>
                <a:spcPct val="100000"/>
              </a:lnSpc>
            </a:pPr>
            <a:r>
              <a:rPr sz="1500" b="0" i="0">
                <a:solidFill>
                  <a:srgbClr val="FFFFFF"/>
                </a:solidFill>
                <a:latin typeface="Arial"/>
              </a:rPr>
              <a:t>3:20 – 3:30 PM</a:t>
            </a:r>
          </a:p>
        </p:txBody>
      </p:sp>
      <p:sp>
        <p:nvSpPr>
          <p:cNvPr id="6" name="TextBox 5"/>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7" name="TextBox 6"/>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8" name="TextBox 7"/>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569</a:t>
            </a:r>
          </a:p>
        </p:txBody>
      </p:sp>
    </p:spTree>
  </p:cSld>
  <p:clrMapOvr>
    <a:masterClrMapping/>
  </p:clrMapOvr>
  <p:transition xmlns:ns1="http://schemas.openxmlformats.org/markup-compatibility/2006" spd="fast" ns1:Ignorable="p14">
    <p:fade/>
  </p:transition>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wrap="square"/>
          <a:lstStyle/>
          <a:p>
            <a:pPr algn="ctr"/>
          </a:p>
        </p:txBody>
      </p:sp>
      <p:sp>
        <p:nvSpPr>
          <p:cNvPr id="3" name="Rectangle 2"/>
          <p:cNvSpPr/>
          <p:nvPr/>
        </p:nvSpPr>
        <p:spPr>
          <a:xfrm>
            <a:off x="0" y="0"/>
            <a:ext cx="256032" cy="4023360"/>
          </a:xfrm>
          <a:prstGeom prst="rect">
            <a:avLst/>
          </a:prstGeom>
          <a:solidFill>
            <a:srgbClr val="1F6FEB"/>
          </a:solidFill>
          <a:ln>
            <a:noFill/>
          </a:ln>
          <a:effectLst/>
        </p:spPr>
        <p:txBody>
          <a:bodyPr rtlCol="0" anchor="ctr" wrap="square"/>
          <a:lstStyle/>
          <a:p>
            <a:pPr algn="ctr"/>
          </a:p>
        </p:txBody>
      </p:sp>
      <p:sp>
        <p:nvSpPr>
          <p:cNvPr id="4" name="Rectangle 3"/>
          <p:cNvSpPr/>
          <p:nvPr/>
        </p:nvSpPr>
        <p:spPr>
          <a:xfrm>
            <a:off x="0" y="4023360"/>
            <a:ext cx="256032" cy="2834640"/>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321040" y="1188720"/>
            <a:ext cx="3291840" cy="2011680"/>
          </a:xfrm>
          <a:prstGeom prst="rect">
            <a:avLst/>
          </a:prstGeom>
          <a:noFill/>
        </p:spPr>
        <p:txBody>
          <a:bodyPr wrap="square" lIns="0" rIns="0" tIns="0" bIns="0" anchor="t">
            <a:spAutoFit/>
          </a:bodyPr>
          <a:lstStyle/>
          <a:p>
            <a:pPr algn="r">
              <a:lnSpc>
                <a:spcPct val="100000"/>
              </a:lnSpc>
            </a:pPr>
            <a:r>
              <a:rPr sz="11000" b="1" i="0">
                <a:solidFill>
                  <a:srgbClr val="E2E8F0"/>
                </a:solidFill>
                <a:latin typeface="Arial"/>
              </a:rPr>
              <a:t>11</a:t>
            </a:r>
          </a:p>
        </p:txBody>
      </p:sp>
      <p:sp>
        <p:nvSpPr>
          <p:cNvPr id="6" name="TextBox 5"/>
          <p:cNvSpPr txBox="1"/>
          <p:nvPr/>
        </p:nvSpPr>
        <p:spPr>
          <a:xfrm>
            <a:off x="777240" y="2103120"/>
            <a:ext cx="7315200" cy="310896"/>
          </a:xfrm>
          <a:prstGeom prst="rect">
            <a:avLst/>
          </a:prstGeom>
          <a:noFill/>
        </p:spPr>
        <p:txBody>
          <a:bodyPr wrap="square" lIns="0" rIns="0" tIns="0" bIns="0" anchor="t">
            <a:spAutoFit/>
          </a:bodyPr>
          <a:lstStyle/>
          <a:p>
            <a:pPr algn="l">
              <a:lnSpc>
                <a:spcPct val="100000"/>
              </a:lnSpc>
            </a:pPr>
            <a:r>
              <a:rPr sz="1200" b="1" i="0">
                <a:solidFill>
                  <a:srgbClr val="1F6FEB"/>
                </a:solidFill>
                <a:latin typeface="Arial"/>
              </a:rPr>
              <a:t>WRAP UP</a:t>
            </a:r>
          </a:p>
        </p:txBody>
      </p:sp>
      <p:sp>
        <p:nvSpPr>
          <p:cNvPr id="7" name="TextBox 6"/>
          <p:cNvSpPr txBox="1"/>
          <p:nvPr/>
        </p:nvSpPr>
        <p:spPr>
          <a:xfrm>
            <a:off x="777240" y="2487168"/>
            <a:ext cx="7498079" cy="1463040"/>
          </a:xfrm>
          <a:prstGeom prst="rect">
            <a:avLst/>
          </a:prstGeom>
          <a:noFill/>
        </p:spPr>
        <p:txBody>
          <a:bodyPr wrap="square" lIns="0" rIns="0" tIns="0" bIns="0" anchor="t">
            <a:spAutoFit/>
          </a:bodyPr>
          <a:lstStyle/>
          <a:p>
            <a:pPr algn="l">
              <a:lnSpc>
                <a:spcPct val="98000"/>
              </a:lnSpc>
            </a:pPr>
            <a:r>
              <a:rPr sz="4000" b="1" i="0">
                <a:solidFill>
                  <a:srgbClr val="161B26"/>
                </a:solidFill>
                <a:latin typeface="Arial"/>
              </a:rPr>
              <a:t>Course Summary and Next Steps</a:t>
            </a:r>
          </a:p>
        </p:txBody>
      </p:sp>
      <p:sp>
        <p:nvSpPr>
          <p:cNvPr id="8" name="Rectangle 7"/>
          <p:cNvSpPr/>
          <p:nvPr/>
        </p:nvSpPr>
        <p:spPr>
          <a:xfrm>
            <a:off x="777240" y="3931920"/>
            <a:ext cx="2377440" cy="32004"/>
          </a:xfrm>
          <a:prstGeom prst="rect">
            <a:avLst/>
          </a:prstGeom>
          <a:solidFill>
            <a:srgbClr val="10B981"/>
          </a:solidFill>
          <a:ln>
            <a:noFill/>
          </a:ln>
          <a:effectLst/>
        </p:spPr>
        <p:txBody>
          <a:bodyPr rtlCol="0" anchor="ctr" wrap="square"/>
          <a:lstStyle/>
          <a:p>
            <a:pPr algn="ctr"/>
          </a:p>
        </p:txBody>
      </p:sp>
      <p:sp>
        <p:nvSpPr>
          <p:cNvPr id="9" name="TextBox 8"/>
          <p:cNvSpPr txBox="1"/>
          <p:nvPr/>
        </p:nvSpPr>
        <p:spPr>
          <a:xfrm>
            <a:off x="777240" y="4169663"/>
            <a:ext cx="7498079" cy="822960"/>
          </a:xfrm>
          <a:prstGeom prst="rect">
            <a:avLst/>
          </a:prstGeom>
          <a:noFill/>
        </p:spPr>
        <p:txBody>
          <a:bodyPr wrap="square" lIns="0" rIns="0" tIns="0" bIns="0" anchor="t">
            <a:spAutoFit/>
          </a:bodyPr>
          <a:lstStyle/>
          <a:p>
            <a:pPr algn="l">
              <a:lnSpc>
                <a:spcPct val="115000"/>
              </a:lnSpc>
            </a:pPr>
            <a:r>
              <a:rPr sz="1400" b="0" i="0">
                <a:solidFill>
                  <a:srgbClr val="5B6372"/>
                </a:solidFill>
                <a:latin typeface="Arial"/>
              </a:rPr>
              <a:t>What you achieved this week, and where to go next.</a:t>
            </a:r>
          </a:p>
        </p:txBody>
      </p:sp>
      <p:sp>
        <p:nvSpPr>
          <p:cNvPr id="10" name="TextBox 9"/>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11" name="TextBox 10"/>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12" name="TextBox 11"/>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570</a:t>
            </a:r>
          </a:p>
        </p:txBody>
      </p:sp>
    </p:spTree>
  </p:cSld>
  <p:clrMapOvr>
    <a:masterClrMapping/>
  </p:clrMapOvr>
  <p:transition xmlns:ns1="http://schemas.openxmlformats.org/markup-compatibility/2006" spd="med" ns1:Ignorable="p14">
    <p:push dir="l"/>
  </p:transition>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0B981"/>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0B981"/>
                </a:solidFill>
                <a:latin typeface="Arial"/>
              </a:rPr>
              <a:t>WHAT YOU ACHIEVED</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Five Days, Twenty-Five Labs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Map this back to the six registered learning outcomes — the assessment measures exactly these.</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Built and read Kubernetes objects</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authored Pods, Deployments, Services, Ingresses, PVCs and NetworkPolicies by hand and can read any manifest field by field.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Explained the architecture</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can describe the control plane, the node plane and the reconciliation loop that connects them.</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Operated workloads</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scaled, rolled out, rolled back, scheduled and constrained real workloads with resources and affinity.</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Secured a cluster</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applied RBAC, ServiceAccounts, Secrets and NetworkPolicy, and can explain the 4C's model.</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Delivered applications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packaged with Helm and Kustomize and can explain the GitOps reconciliation model.</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Diagnosed failures</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You have a repeatable triage method and have read real CrashLoopBackOff, Pending and no-endpoint failures.</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571</a:t>
            </a:r>
          </a:p>
        </p:txBody>
      </p:sp>
    </p:spTree>
  </p:cSld>
  <p:clrMapOvr>
    <a:masterClrMapping/>
  </p:clrMapOvr>
  <p:transition xmlns:ns1="http://schemas.openxmlformats.org/markup-compatibility/2006" spd="fast" ns1:Ignorable="p14">
    <p:fade/>
  </p:transition>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Courseware and Assessment on the LMS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enrolled course brings the learning and assessment resources together.</a:t>
            </a:r>
          </a:p>
        </p:txBody>
      </p:sp>
      <p:sp>
        <p:nvSpPr>
          <p:cNvPr id="7" name="Rectangle 6"/>
          <p:cNvSpPr/>
          <p:nvPr/>
        </p:nvSpPr>
        <p:spPr>
          <a:xfrm>
            <a:off x="777240" y="2200046"/>
            <a:ext cx="6583680" cy="3789273"/>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https://lms-tms.tertiaryinfotech.com/</a:t>
            </a:r>
          </a:p>
        </p:txBody>
      </p:sp>
      <p:sp>
        <p:nvSpPr>
          <p:cNvPr id="14" name="Rectangle 13"/>
          <p:cNvSpPr/>
          <p:nvPr/>
        </p:nvSpPr>
        <p:spPr>
          <a:xfrm>
            <a:off x="996695" y="2803550"/>
            <a:ext cx="1874519" cy="2948025"/>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948025"/>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789273"/>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Current slides and Learner Guide.</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Lab resources and verification files.</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Written and practical candidate papers.</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Assessment submissions and assessor records.</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https://lms-tms.tertiaryinfotech.com/</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572</a:t>
            </a:r>
          </a:p>
        </p:txBody>
      </p:sp>
    </p:spTree>
  </p:cSld>
  <p:clrMapOvr>
    <a:masterClrMapping/>
  </p:clrMapOvr>
  <p:transition xmlns:ns1="http://schemas.openxmlformats.org/markup-compatibility/2006" spd="fast" ns1:Ignorable="p14">
    <p:fade/>
  </p:transition>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KCNA Practice and Readiness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Learner Guide provides the study and resource-access instructions.</a:t>
            </a:r>
          </a:p>
        </p:txBody>
      </p:sp>
      <p:sp>
        <p:nvSpPr>
          <p:cNvPr id="7" name="Rectangle 6"/>
          <p:cNvSpPr/>
          <p:nvPr/>
        </p:nvSpPr>
        <p:spPr>
          <a:xfrm>
            <a:off x="777240" y="2200046"/>
            <a:ext cx="6583680" cy="3789273"/>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https://exams.tertiaryinfotech.com/practice-exams/linuxfoundation/linuxfoundation-kcna</a:t>
            </a:r>
          </a:p>
        </p:txBody>
      </p:sp>
      <p:sp>
        <p:nvSpPr>
          <p:cNvPr id="14" name="Rectangle 13"/>
          <p:cNvSpPr/>
          <p:nvPr/>
        </p:nvSpPr>
        <p:spPr>
          <a:xfrm>
            <a:off x="996695" y="2803550"/>
            <a:ext cx="1874519" cy="2948025"/>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948025"/>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789273"/>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Timed practice supports exam familiarity.</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official KCNA format is multiple choice.</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Coverage follows the current CNCF blueprint.</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KCNA certification and WSQ assessment are separate.</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https://exams.tertiaryinfotech.com/practice-exams/linuxfoundation/linuxfoundation-kcna</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573</a:t>
            </a:r>
          </a:p>
        </p:txBody>
      </p:sp>
    </p:spTree>
  </p:cSld>
  <p:clrMapOvr>
    <a:masterClrMapping/>
  </p:clrMapOvr>
  <p:transition xmlns:ns1="http://schemas.openxmlformats.org/markup-compatibility/2006" spd="fast" ns1:Ignorable="p14">
    <p:fade/>
  </p:transition>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ASSESSMENT</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Assessment — Final Reminder</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Three hours total. Read every question fully before you start writing.</a:t>
            </a:r>
          </a:p>
        </p:txBody>
      </p:sp>
      <p:sp>
        <p:nvSpPr>
          <p:cNvPr id="7" name="Rectangle 6"/>
          <p:cNvSpPr/>
          <p:nvPr/>
        </p:nvSpPr>
        <p:spPr>
          <a:xfrm>
            <a:off x="777240"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65555"/>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18232"/>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Written Assessment (SAQ)</a:t>
            </a:r>
          </a:p>
        </p:txBody>
      </p:sp>
      <p:sp>
        <p:nvSpPr>
          <p:cNvPr id="11" name="TextBox 10"/>
          <p:cNvSpPr txBox="1"/>
          <p:nvPr/>
        </p:nvSpPr>
        <p:spPr>
          <a:xfrm>
            <a:off x="1399032"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7 open-ended short-answer questions. 60 minutes. Answer on the document provided.</a:t>
            </a:r>
          </a:p>
        </p:txBody>
      </p:sp>
      <p:sp>
        <p:nvSpPr>
          <p:cNvPr id="12" name="Rectangle 11"/>
          <p:cNvSpPr/>
          <p:nvPr/>
        </p:nvSpPr>
        <p:spPr>
          <a:xfrm>
            <a:off x="6199631" y="2200046"/>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6199631" y="2200046"/>
            <a:ext cx="50292" cy="1165555"/>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6382512" y="2618232"/>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6821423" y="2355494"/>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Practical Performance (PP)</a:t>
            </a:r>
          </a:p>
        </p:txBody>
      </p:sp>
      <p:sp>
        <p:nvSpPr>
          <p:cNvPr id="16" name="TextBox 15"/>
          <p:cNvSpPr txBox="1"/>
          <p:nvPr/>
        </p:nvSpPr>
        <p:spPr>
          <a:xfrm>
            <a:off x="6821423" y="2657246"/>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6 hands-on tasks against one scenario. 120 minutes. Capture evidence of each command.</a:t>
            </a:r>
          </a:p>
        </p:txBody>
      </p:sp>
      <p:sp>
        <p:nvSpPr>
          <p:cNvPr id="17" name="Rectangle 16"/>
          <p:cNvSpPr/>
          <p:nvPr/>
        </p:nvSpPr>
        <p:spPr>
          <a:xfrm>
            <a:off x="777240"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777240" y="3511905"/>
            <a:ext cx="50292" cy="1165555"/>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960120" y="3930091"/>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1399032"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Open book</a:t>
            </a:r>
          </a:p>
        </p:txBody>
      </p:sp>
      <p:sp>
        <p:nvSpPr>
          <p:cNvPr id="21" name="TextBox 20"/>
          <p:cNvSpPr txBox="1"/>
          <p:nvPr/>
        </p:nvSpPr>
        <p:spPr>
          <a:xfrm>
            <a:off x="1399032"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Learner Guide, lab folders and kubernetes.io are all permitted. Your notes are permitted.</a:t>
            </a:r>
          </a:p>
        </p:txBody>
      </p:sp>
      <p:sp>
        <p:nvSpPr>
          <p:cNvPr id="22" name="Rectangle 21"/>
          <p:cNvSpPr/>
          <p:nvPr/>
        </p:nvSpPr>
        <p:spPr>
          <a:xfrm>
            <a:off x="6199631" y="3511905"/>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6199631" y="3511905"/>
            <a:ext cx="50292" cy="1165555"/>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6382512" y="3930091"/>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6821423" y="3667353"/>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Take the attendance first</a:t>
            </a:r>
          </a:p>
        </p:txBody>
      </p:sp>
      <p:sp>
        <p:nvSpPr>
          <p:cNvPr id="26" name="TextBox 25"/>
          <p:cNvSpPr txBox="1"/>
          <p:nvPr/>
        </p:nvSpPr>
        <p:spPr>
          <a:xfrm>
            <a:off x="6821423" y="3969105"/>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Complete the Assessment digital attendance before you begin, not after.</a:t>
            </a:r>
          </a:p>
        </p:txBody>
      </p:sp>
      <p:sp>
        <p:nvSpPr>
          <p:cNvPr id="27" name="Rectangle 26"/>
          <p:cNvSpPr/>
          <p:nvPr/>
        </p:nvSpPr>
        <p:spPr>
          <a:xfrm>
            <a:off x="777240"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777240" y="4823764"/>
            <a:ext cx="50292" cy="1165555"/>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960120" y="524195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1399032"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Submit on the LMS</a:t>
            </a:r>
          </a:p>
        </p:txBody>
      </p:sp>
      <p:sp>
        <p:nvSpPr>
          <p:cNvPr id="31" name="TextBox 30"/>
          <p:cNvSpPr txBox="1"/>
          <p:nvPr/>
        </p:nvSpPr>
        <p:spPr>
          <a:xfrm>
            <a:off x="1399032"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Upload both answer documents before you leave the room.</a:t>
            </a:r>
          </a:p>
        </p:txBody>
      </p:sp>
      <p:sp>
        <p:nvSpPr>
          <p:cNvPr id="32" name="Rectangle 31"/>
          <p:cNvSpPr/>
          <p:nvPr/>
        </p:nvSpPr>
        <p:spPr>
          <a:xfrm>
            <a:off x="6199631" y="4823764"/>
            <a:ext cx="5276088" cy="1165555"/>
          </a:xfrm>
          <a:prstGeom prst="rect">
            <a:avLst/>
          </a:prstGeom>
          <a:solidFill>
            <a:srgbClr val="F4F7FB"/>
          </a:solidFill>
          <a:ln w="12700">
            <a:solidFill>
              <a:srgbClr val="E2E8F0"/>
            </a:solidFill>
          </a:ln>
          <a:effectLst/>
        </p:spPr>
        <p:txBody>
          <a:bodyPr rtlCol="0" anchor="ctr" wrap="square"/>
          <a:lstStyle/>
          <a:p>
            <a:pPr algn="ctr"/>
          </a:p>
        </p:txBody>
      </p:sp>
      <p:sp>
        <p:nvSpPr>
          <p:cNvPr id="33" name="Rectangle 32"/>
          <p:cNvSpPr/>
          <p:nvPr/>
        </p:nvSpPr>
        <p:spPr>
          <a:xfrm>
            <a:off x="6199631" y="4823764"/>
            <a:ext cx="50292" cy="1165555"/>
          </a:xfrm>
          <a:prstGeom prst="rect">
            <a:avLst/>
          </a:prstGeom>
          <a:solidFill>
            <a:srgbClr val="10B981"/>
          </a:solidFill>
          <a:ln>
            <a:noFill/>
          </a:ln>
          <a:effectLst/>
        </p:spPr>
        <p:txBody>
          <a:bodyPr rtlCol="0" anchor="ctr" wrap="square"/>
          <a:lstStyle/>
          <a:p>
            <a:pPr algn="ctr"/>
          </a:p>
        </p:txBody>
      </p:sp>
      <p:sp>
        <p:nvSpPr>
          <p:cNvPr id="34" name="Oval 33"/>
          <p:cNvSpPr/>
          <p:nvPr/>
        </p:nvSpPr>
        <p:spPr>
          <a:xfrm>
            <a:off x="6382512" y="524195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6</a:t>
            </a:r>
          </a:p>
        </p:txBody>
      </p:sp>
      <p:sp>
        <p:nvSpPr>
          <p:cNvPr id="35" name="TextBox 34"/>
          <p:cNvSpPr txBox="1"/>
          <p:nvPr/>
        </p:nvSpPr>
        <p:spPr>
          <a:xfrm>
            <a:off x="6821423" y="4979212"/>
            <a:ext cx="4453127"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Sign the record</a:t>
            </a:r>
          </a:p>
        </p:txBody>
      </p:sp>
      <p:sp>
        <p:nvSpPr>
          <p:cNvPr id="36" name="TextBox 35"/>
          <p:cNvSpPr txBox="1"/>
          <p:nvPr/>
        </p:nvSpPr>
        <p:spPr>
          <a:xfrm>
            <a:off x="6821423" y="5280964"/>
            <a:ext cx="4453127" cy="635203"/>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Sign the Assessment Summary Record with your assessor to close the file.</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574</a:t>
            </a:r>
          </a:p>
        </p:txBody>
      </p:sp>
    </p:spTree>
  </p:cSld>
  <p:clrMapOvr>
    <a:masterClrMapping/>
  </p:clrMapOvr>
  <p:transition xmlns:ns1="http://schemas.openxmlformats.org/markup-compatibility/2006" spd="fast" ns1:Ignorable="p14">
    <p:fade/>
  </p:transition>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7C3AED"/>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7C3AED"/>
                </a:solidFill>
                <a:latin typeface="Arial"/>
              </a:rPr>
              <a:t>ASSESSMENT OVERVIEW</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Assessment Records and Evidence</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The Learner Guide contains the detailed assessment procedure.</a:t>
            </a:r>
          </a:p>
        </p:txBody>
      </p:sp>
      <p:sp>
        <p:nvSpPr>
          <p:cNvPr id="7" name="Rectangle 6"/>
          <p:cNvSpPr/>
          <p:nvPr/>
        </p:nvSpPr>
        <p:spPr>
          <a:xfrm>
            <a:off x="777240"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8" name="Rectangle 7"/>
          <p:cNvSpPr/>
          <p:nvPr/>
        </p:nvSpPr>
        <p:spPr>
          <a:xfrm>
            <a:off x="777240" y="2200046"/>
            <a:ext cx="50292" cy="1170432"/>
          </a:xfrm>
          <a:prstGeom prst="rect">
            <a:avLst/>
          </a:prstGeom>
          <a:solidFill>
            <a:srgbClr val="1F6FEB"/>
          </a:solidFill>
          <a:ln>
            <a:noFill/>
          </a:ln>
          <a:effectLst/>
        </p:spPr>
        <p:txBody>
          <a:bodyPr rtlCol="0" anchor="ctr" wrap="square"/>
          <a:lstStyle/>
          <a:p>
            <a:pPr algn="ctr"/>
          </a:p>
        </p:txBody>
      </p:sp>
      <p:sp>
        <p:nvSpPr>
          <p:cNvPr id="9" name="Oval 8"/>
          <p:cNvSpPr/>
          <p:nvPr/>
        </p:nvSpPr>
        <p:spPr>
          <a:xfrm>
            <a:off x="960120" y="2620670"/>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1</a:t>
            </a:r>
          </a:p>
        </p:txBody>
      </p:sp>
      <p:sp>
        <p:nvSpPr>
          <p:cNvPr id="10" name="TextBox 9"/>
          <p:cNvSpPr txBox="1"/>
          <p:nvPr/>
        </p:nvSpPr>
        <p:spPr>
          <a:xfrm>
            <a:off x="1399032"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TRAQOM feedback</a:t>
            </a:r>
          </a:p>
        </p:txBody>
      </p:sp>
      <p:sp>
        <p:nvSpPr>
          <p:cNvPr id="11" name="TextBox 10"/>
          <p:cNvSpPr txBox="1"/>
          <p:nvPr/>
        </p:nvSpPr>
        <p:spPr>
          <a:xfrm>
            <a:off x="1399032"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Course quality and outcomes feedback; separate from attendance.</a:t>
            </a:r>
          </a:p>
        </p:txBody>
      </p:sp>
      <p:sp>
        <p:nvSpPr>
          <p:cNvPr id="12" name="Rectangle 11"/>
          <p:cNvSpPr/>
          <p:nvPr/>
        </p:nvSpPr>
        <p:spPr>
          <a:xfrm>
            <a:off x="4392167"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3" name="Rectangle 12"/>
          <p:cNvSpPr/>
          <p:nvPr/>
        </p:nvSpPr>
        <p:spPr>
          <a:xfrm>
            <a:off x="4392167" y="2200046"/>
            <a:ext cx="50292" cy="1170432"/>
          </a:xfrm>
          <a:prstGeom prst="rect">
            <a:avLst/>
          </a:prstGeom>
          <a:solidFill>
            <a:srgbClr val="10B981"/>
          </a:solidFill>
          <a:ln>
            <a:noFill/>
          </a:ln>
          <a:effectLst/>
        </p:spPr>
        <p:txBody>
          <a:bodyPr rtlCol="0" anchor="ctr" wrap="square"/>
          <a:lstStyle/>
          <a:p>
            <a:pPr algn="ctr"/>
          </a:p>
        </p:txBody>
      </p:sp>
      <p:sp>
        <p:nvSpPr>
          <p:cNvPr id="14" name="Oval 13"/>
          <p:cNvSpPr/>
          <p:nvPr/>
        </p:nvSpPr>
        <p:spPr>
          <a:xfrm>
            <a:off x="4575048" y="2620670"/>
            <a:ext cx="329184" cy="329184"/>
          </a:xfrm>
          <a:prstGeom prst="ellipse">
            <a:avLst/>
          </a:prstGeom>
          <a:solidFill>
            <a:srgbClr val="10B981"/>
          </a:solidFill>
          <a:ln>
            <a:noFill/>
          </a:ln>
          <a:effectLst/>
        </p:spPr>
        <p:txBody>
          <a:bodyPr rtlCol="0" anchor="ctr" wrap="square" lIns="0" rIns="0" tIns="0" bIns="0"/>
          <a:lstStyle/>
          <a:p>
            <a:pPr algn="ctr"/>
            <a:r>
              <a:rPr sz="1150" b="1">
                <a:solidFill>
                  <a:srgbClr val="FFFFFF"/>
                </a:solidFill>
                <a:latin typeface="Arial"/>
              </a:rPr>
              <a:t>2</a:t>
            </a:r>
          </a:p>
        </p:txBody>
      </p:sp>
      <p:sp>
        <p:nvSpPr>
          <p:cNvPr id="15" name="TextBox 14"/>
          <p:cNvSpPr txBox="1"/>
          <p:nvPr/>
        </p:nvSpPr>
        <p:spPr>
          <a:xfrm>
            <a:off x="5013959"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Attendance</a:t>
            </a:r>
          </a:p>
        </p:txBody>
      </p:sp>
      <p:sp>
        <p:nvSpPr>
          <p:cNvPr id="16" name="TextBox 15"/>
          <p:cNvSpPr txBox="1"/>
          <p:nvPr/>
        </p:nvSpPr>
        <p:spPr>
          <a:xfrm>
            <a:off x="5013959"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Course participation and assessment-session records.</a:t>
            </a:r>
          </a:p>
        </p:txBody>
      </p:sp>
      <p:sp>
        <p:nvSpPr>
          <p:cNvPr id="17" name="Rectangle 16"/>
          <p:cNvSpPr/>
          <p:nvPr/>
        </p:nvSpPr>
        <p:spPr>
          <a:xfrm>
            <a:off x="8007095" y="2200046"/>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18" name="Rectangle 17"/>
          <p:cNvSpPr/>
          <p:nvPr/>
        </p:nvSpPr>
        <p:spPr>
          <a:xfrm>
            <a:off x="8007095" y="2200046"/>
            <a:ext cx="50292" cy="1170432"/>
          </a:xfrm>
          <a:prstGeom prst="rect">
            <a:avLst/>
          </a:prstGeom>
          <a:solidFill>
            <a:srgbClr val="7C3AED"/>
          </a:solidFill>
          <a:ln>
            <a:noFill/>
          </a:ln>
          <a:effectLst/>
        </p:spPr>
        <p:txBody>
          <a:bodyPr rtlCol="0" anchor="ctr" wrap="square"/>
          <a:lstStyle/>
          <a:p>
            <a:pPr algn="ctr"/>
          </a:p>
        </p:txBody>
      </p:sp>
      <p:sp>
        <p:nvSpPr>
          <p:cNvPr id="19" name="Oval 18"/>
          <p:cNvSpPr/>
          <p:nvPr/>
        </p:nvSpPr>
        <p:spPr>
          <a:xfrm>
            <a:off x="8189975" y="2620670"/>
            <a:ext cx="329184" cy="329184"/>
          </a:xfrm>
          <a:prstGeom prst="ellipse">
            <a:avLst/>
          </a:prstGeom>
          <a:solidFill>
            <a:srgbClr val="7C3AED"/>
          </a:solidFill>
          <a:ln>
            <a:noFill/>
          </a:ln>
          <a:effectLst/>
        </p:spPr>
        <p:txBody>
          <a:bodyPr rtlCol="0" anchor="ctr" wrap="square" lIns="0" rIns="0" tIns="0" bIns="0"/>
          <a:lstStyle/>
          <a:p>
            <a:pPr algn="ctr"/>
            <a:r>
              <a:rPr sz="1150" b="1">
                <a:solidFill>
                  <a:srgbClr val="FFFFFF"/>
                </a:solidFill>
                <a:latin typeface="Arial"/>
              </a:rPr>
              <a:t>3</a:t>
            </a:r>
          </a:p>
        </p:txBody>
      </p:sp>
      <p:sp>
        <p:nvSpPr>
          <p:cNvPr id="20" name="TextBox 19"/>
          <p:cNvSpPr txBox="1"/>
          <p:nvPr/>
        </p:nvSpPr>
        <p:spPr>
          <a:xfrm>
            <a:off x="8628888" y="2355494"/>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Assessment</a:t>
            </a:r>
          </a:p>
        </p:txBody>
      </p:sp>
      <p:sp>
        <p:nvSpPr>
          <p:cNvPr id="21" name="TextBox 20"/>
          <p:cNvSpPr txBox="1"/>
          <p:nvPr/>
        </p:nvSpPr>
        <p:spPr>
          <a:xfrm>
            <a:off x="8628888" y="2657246"/>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Written Assessment: 60 minutes. Practical Performance: 120 minutes.</a:t>
            </a:r>
          </a:p>
        </p:txBody>
      </p:sp>
      <p:sp>
        <p:nvSpPr>
          <p:cNvPr id="22" name="Rectangle 21"/>
          <p:cNvSpPr/>
          <p:nvPr/>
        </p:nvSpPr>
        <p:spPr>
          <a:xfrm>
            <a:off x="777240"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3" name="Rectangle 22"/>
          <p:cNvSpPr/>
          <p:nvPr/>
        </p:nvSpPr>
        <p:spPr>
          <a:xfrm>
            <a:off x="777240" y="3516782"/>
            <a:ext cx="50292" cy="1170432"/>
          </a:xfrm>
          <a:prstGeom prst="rect">
            <a:avLst/>
          </a:prstGeom>
          <a:solidFill>
            <a:srgbClr val="F59E0B"/>
          </a:solidFill>
          <a:ln>
            <a:noFill/>
          </a:ln>
          <a:effectLst/>
        </p:spPr>
        <p:txBody>
          <a:bodyPr rtlCol="0" anchor="ctr" wrap="square"/>
          <a:lstStyle/>
          <a:p>
            <a:pPr algn="ctr"/>
          </a:p>
        </p:txBody>
      </p:sp>
      <p:sp>
        <p:nvSpPr>
          <p:cNvPr id="24" name="Oval 23"/>
          <p:cNvSpPr/>
          <p:nvPr/>
        </p:nvSpPr>
        <p:spPr>
          <a:xfrm>
            <a:off x="960120" y="3937406"/>
            <a:ext cx="329184" cy="329184"/>
          </a:xfrm>
          <a:prstGeom prst="ellipse">
            <a:avLst/>
          </a:prstGeom>
          <a:solidFill>
            <a:srgbClr val="F59E0B"/>
          </a:solidFill>
          <a:ln>
            <a:noFill/>
          </a:ln>
          <a:effectLst/>
        </p:spPr>
        <p:txBody>
          <a:bodyPr rtlCol="0" anchor="ctr" wrap="square" lIns="0" rIns="0" tIns="0" bIns="0"/>
          <a:lstStyle/>
          <a:p>
            <a:pPr algn="ctr"/>
            <a:r>
              <a:rPr sz="1150" b="1">
                <a:solidFill>
                  <a:srgbClr val="FFFFFF"/>
                </a:solidFill>
                <a:latin typeface="Arial"/>
              </a:rPr>
              <a:t>4</a:t>
            </a:r>
          </a:p>
        </p:txBody>
      </p:sp>
      <p:sp>
        <p:nvSpPr>
          <p:cNvPr id="25" name="TextBox 24"/>
          <p:cNvSpPr txBox="1"/>
          <p:nvPr/>
        </p:nvSpPr>
        <p:spPr>
          <a:xfrm>
            <a:off x="1399032"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Submitted evidence</a:t>
            </a:r>
          </a:p>
        </p:txBody>
      </p:sp>
      <p:sp>
        <p:nvSpPr>
          <p:cNvPr id="26" name="TextBox 25"/>
          <p:cNvSpPr txBox="1"/>
          <p:nvPr/>
        </p:nvSpPr>
        <p:spPr>
          <a:xfrm>
            <a:off x="1399032"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Candidate responses and practical evidence on the LMS.</a:t>
            </a:r>
          </a:p>
        </p:txBody>
      </p:sp>
      <p:sp>
        <p:nvSpPr>
          <p:cNvPr id="27" name="Rectangle 26"/>
          <p:cNvSpPr/>
          <p:nvPr/>
        </p:nvSpPr>
        <p:spPr>
          <a:xfrm>
            <a:off x="4392167" y="3516782"/>
            <a:ext cx="3468623" cy="1170432"/>
          </a:xfrm>
          <a:prstGeom prst="rect">
            <a:avLst/>
          </a:prstGeom>
          <a:solidFill>
            <a:srgbClr val="F4F7FB"/>
          </a:solidFill>
          <a:ln w="12700">
            <a:solidFill>
              <a:srgbClr val="E2E8F0"/>
            </a:solidFill>
          </a:ln>
          <a:effectLst/>
        </p:spPr>
        <p:txBody>
          <a:bodyPr rtlCol="0" anchor="ctr" wrap="square"/>
          <a:lstStyle/>
          <a:p>
            <a:pPr algn="ctr"/>
          </a:p>
        </p:txBody>
      </p:sp>
      <p:sp>
        <p:nvSpPr>
          <p:cNvPr id="28" name="Rectangle 27"/>
          <p:cNvSpPr/>
          <p:nvPr/>
        </p:nvSpPr>
        <p:spPr>
          <a:xfrm>
            <a:off x="4392167" y="3516782"/>
            <a:ext cx="50292" cy="1170432"/>
          </a:xfrm>
          <a:prstGeom prst="rect">
            <a:avLst/>
          </a:prstGeom>
          <a:solidFill>
            <a:srgbClr val="1F6FEB"/>
          </a:solidFill>
          <a:ln>
            <a:noFill/>
          </a:ln>
          <a:effectLst/>
        </p:spPr>
        <p:txBody>
          <a:bodyPr rtlCol="0" anchor="ctr" wrap="square"/>
          <a:lstStyle/>
          <a:p>
            <a:pPr algn="ctr"/>
          </a:p>
        </p:txBody>
      </p:sp>
      <p:sp>
        <p:nvSpPr>
          <p:cNvPr id="29" name="Oval 28"/>
          <p:cNvSpPr/>
          <p:nvPr/>
        </p:nvSpPr>
        <p:spPr>
          <a:xfrm>
            <a:off x="4575048" y="3937406"/>
            <a:ext cx="329184" cy="329184"/>
          </a:xfrm>
          <a:prstGeom prst="ellipse">
            <a:avLst/>
          </a:prstGeom>
          <a:solidFill>
            <a:srgbClr val="1F6FEB"/>
          </a:solidFill>
          <a:ln>
            <a:noFill/>
          </a:ln>
          <a:effectLst/>
        </p:spPr>
        <p:txBody>
          <a:bodyPr rtlCol="0" anchor="ctr" wrap="square" lIns="0" rIns="0" tIns="0" bIns="0"/>
          <a:lstStyle/>
          <a:p>
            <a:pPr algn="ctr"/>
            <a:r>
              <a:rPr sz="1150" b="1">
                <a:solidFill>
                  <a:srgbClr val="FFFFFF"/>
                </a:solidFill>
                <a:latin typeface="Arial"/>
              </a:rPr>
              <a:t>5</a:t>
            </a:r>
          </a:p>
        </p:txBody>
      </p:sp>
      <p:sp>
        <p:nvSpPr>
          <p:cNvPr id="30" name="TextBox 29"/>
          <p:cNvSpPr txBox="1"/>
          <p:nvPr/>
        </p:nvSpPr>
        <p:spPr>
          <a:xfrm>
            <a:off x="5013959" y="3672230"/>
            <a:ext cx="2645664" cy="274320"/>
          </a:xfrm>
          <a:prstGeom prst="rect">
            <a:avLst/>
          </a:prstGeom>
          <a:noFill/>
        </p:spPr>
        <p:txBody>
          <a:bodyPr wrap="square" lIns="0" rIns="0" tIns="0" bIns="0" anchor="t">
            <a:spAutoFit/>
          </a:bodyPr>
          <a:lstStyle/>
          <a:p>
            <a:pPr algn="l">
              <a:lnSpc>
                <a:spcPct val="100000"/>
              </a:lnSpc>
            </a:pPr>
            <a:r>
              <a:rPr sz="1300" b="1" i="0">
                <a:solidFill>
                  <a:srgbClr val="161B26"/>
                </a:solidFill>
                <a:latin typeface="Arial"/>
              </a:rPr>
              <a:t>Assessor record</a:t>
            </a:r>
          </a:p>
        </p:txBody>
      </p:sp>
      <p:sp>
        <p:nvSpPr>
          <p:cNvPr id="31" name="TextBox 30"/>
          <p:cNvSpPr txBox="1"/>
          <p:nvPr/>
        </p:nvSpPr>
        <p:spPr>
          <a:xfrm>
            <a:off x="5013959" y="3973982"/>
            <a:ext cx="2645664" cy="640080"/>
          </a:xfrm>
          <a:prstGeom prst="rect">
            <a:avLst/>
          </a:prstGeom>
          <a:noFill/>
        </p:spPr>
        <p:txBody>
          <a:bodyPr wrap="square" lIns="0" rIns="0" tIns="0" bIns="0" anchor="t">
            <a:spAutoFit/>
          </a:bodyPr>
          <a:lstStyle/>
          <a:p>
            <a:pPr algn="l">
              <a:lnSpc>
                <a:spcPct val="110000"/>
              </a:lnSpc>
            </a:pPr>
            <a:r>
              <a:rPr sz="1050" b="0" i="0">
                <a:solidFill>
                  <a:srgbClr val="5B6372"/>
                </a:solidFill>
                <a:latin typeface="Arial"/>
              </a:rPr>
              <a:t>Competency decisions and the Assessment Summary Record.</a:t>
            </a:r>
          </a:p>
        </p:txBody>
      </p:sp>
      <p:sp>
        <p:nvSpPr>
          <p:cNvPr id="32" name="TextBox 31"/>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3" name="TextBox 32"/>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4" name="TextBox 33"/>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575</a:t>
            </a:r>
          </a:p>
        </p:txBody>
      </p:sp>
    </p:spTree>
  </p:cSld>
  <p:clrMapOvr>
    <a:masterClrMapping/>
  </p:clrMapOvr>
  <p:transition xmlns:ns1="http://schemas.openxmlformats.org/markup-compatibility/2006" spd="fast" ns1:Ignorable="p14">
    <p:fade/>
  </p:transition>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RESOURCES</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Attendance and Feedback Records</a:t>
            </a:r>
          </a:p>
        </p:txBody>
      </p:sp>
      <p:sp>
        <p:nvSpPr>
          <p:cNvPr id="5" name="Rectangle 4"/>
          <p:cNvSpPr/>
          <p:nvPr/>
        </p:nvSpPr>
        <p:spPr>
          <a:xfrm>
            <a:off x="731520" y="1417320"/>
            <a:ext cx="10972800" cy="25603"/>
          </a:xfrm>
          <a:prstGeom prst="rect">
            <a:avLst/>
          </a:prstGeom>
          <a:solidFill>
            <a:srgbClr val="E2E8F0"/>
          </a:solidFill>
          <a:ln>
            <a:noFill/>
          </a:ln>
          <a:effectLst/>
        </p:spPr>
        <p:txBody>
          <a:bodyPr rtlCol="0" anchor="ctr" wrap="square"/>
          <a:lstStyle/>
          <a:p>
            <a:pPr algn="ctr"/>
          </a:p>
        </p:txBody>
      </p:sp>
      <p:sp>
        <p:nvSpPr>
          <p:cNvPr id="6" name="TextBox 5"/>
          <p:cNvSpPr txBox="1"/>
          <p:nvPr/>
        </p:nvSpPr>
        <p:spPr>
          <a:xfrm>
            <a:off x="777240" y="1499616"/>
            <a:ext cx="10698480" cy="274624"/>
          </a:xfrm>
          <a:prstGeom prst="rect">
            <a:avLst/>
          </a:prstGeom>
          <a:noFill/>
        </p:spPr>
        <p:txBody>
          <a:bodyPr wrap="square" lIns="0" rIns="0" tIns="0" bIns="0" anchor="t">
            <a:spAutoFit/>
          </a:bodyPr>
          <a:lstStyle/>
          <a:p>
            <a:pPr algn="l">
              <a:lnSpc>
                <a:spcPct val="105000"/>
              </a:lnSpc>
            </a:pPr>
            <a:r>
              <a:rPr sz="1600" b="0" i="0">
                <a:solidFill>
                  <a:srgbClr val="5B6372"/>
                </a:solidFill>
                <a:latin typeface="Arial"/>
              </a:rPr>
              <a:t>Attendance, assessment evidence and course feedback are distinct records.</a:t>
            </a:r>
          </a:p>
        </p:txBody>
      </p:sp>
      <p:sp>
        <p:nvSpPr>
          <p:cNvPr id="7" name="Rectangle 6"/>
          <p:cNvSpPr/>
          <p:nvPr/>
        </p:nvSpPr>
        <p:spPr>
          <a:xfrm>
            <a:off x="777240" y="2200046"/>
            <a:ext cx="6583680" cy="3442817"/>
          </a:xfrm>
          <a:prstGeom prst="rect">
            <a:avLst/>
          </a:prstGeom>
          <a:solidFill>
            <a:srgbClr val="FFFFFF"/>
          </a:solidFill>
          <a:ln w="15875">
            <a:solidFill>
              <a:srgbClr val="E2E8F0"/>
            </a:solidFill>
          </a:ln>
          <a:effectLst/>
        </p:spPr>
        <p:txBody>
          <a:bodyPr rtlCol="0" anchor="ctr" wrap="square"/>
          <a:lstStyle/>
          <a:p>
            <a:pPr algn="ctr"/>
          </a:p>
        </p:txBody>
      </p:sp>
      <p:sp>
        <p:nvSpPr>
          <p:cNvPr id="8" name="Rectangle 7"/>
          <p:cNvSpPr/>
          <p:nvPr/>
        </p:nvSpPr>
        <p:spPr>
          <a:xfrm>
            <a:off x="777240" y="2200046"/>
            <a:ext cx="6583680" cy="420624"/>
          </a:xfrm>
          <a:prstGeom prst="rect">
            <a:avLst/>
          </a:prstGeom>
          <a:solidFill>
            <a:srgbClr val="F4F7FB"/>
          </a:solidFill>
          <a:ln>
            <a:noFill/>
          </a:ln>
          <a:effectLst/>
        </p:spPr>
        <p:txBody>
          <a:bodyPr rtlCol="0" anchor="ctr" wrap="square"/>
          <a:lstStyle/>
          <a:p>
            <a:pPr algn="ctr"/>
          </a:p>
        </p:txBody>
      </p:sp>
      <p:sp>
        <p:nvSpPr>
          <p:cNvPr id="9" name="Oval 8"/>
          <p:cNvSpPr/>
          <p:nvPr/>
        </p:nvSpPr>
        <p:spPr>
          <a:xfrm>
            <a:off x="941832" y="2337206"/>
            <a:ext cx="146304" cy="146304"/>
          </a:xfrm>
          <a:prstGeom prst="ellipse">
            <a:avLst/>
          </a:prstGeom>
          <a:solidFill>
            <a:srgbClr val="FF5F57"/>
          </a:solidFill>
          <a:ln>
            <a:noFill/>
          </a:ln>
          <a:effectLst/>
        </p:spPr>
        <p:txBody>
          <a:bodyPr rtlCol="0" anchor="ctr" wrap="square" lIns="0" rIns="0" tIns="0" bIns="0"/>
          <a:lstStyle/>
          <a:p>
            <a:pPr algn="ctr"/>
            <a:r>
              <a:rPr sz="1300" b="1">
                <a:solidFill>
                  <a:srgbClr val="FFFFFF"/>
                </a:solidFill>
                <a:latin typeface="Arial"/>
              </a:rPr>
              <a:t/>
            </a:r>
          </a:p>
        </p:txBody>
      </p:sp>
      <p:sp>
        <p:nvSpPr>
          <p:cNvPr id="10" name="Oval 9"/>
          <p:cNvSpPr/>
          <p:nvPr/>
        </p:nvSpPr>
        <p:spPr>
          <a:xfrm>
            <a:off x="1143000" y="2337206"/>
            <a:ext cx="146304" cy="146304"/>
          </a:xfrm>
          <a:prstGeom prst="ellipse">
            <a:avLst/>
          </a:prstGeom>
          <a:solidFill>
            <a:srgbClr val="FEBC2E"/>
          </a:solidFill>
          <a:ln>
            <a:noFill/>
          </a:ln>
          <a:effectLst/>
        </p:spPr>
        <p:txBody>
          <a:bodyPr rtlCol="0" anchor="ctr" wrap="square" lIns="0" rIns="0" tIns="0" bIns="0"/>
          <a:lstStyle/>
          <a:p>
            <a:pPr algn="ctr"/>
            <a:r>
              <a:rPr sz="1300" b="1">
                <a:solidFill>
                  <a:srgbClr val="FFFFFF"/>
                </a:solidFill>
                <a:latin typeface="Arial"/>
              </a:rPr>
              <a:t/>
            </a:r>
          </a:p>
        </p:txBody>
      </p:sp>
      <p:sp>
        <p:nvSpPr>
          <p:cNvPr id="11" name="Oval 10"/>
          <p:cNvSpPr/>
          <p:nvPr/>
        </p:nvSpPr>
        <p:spPr>
          <a:xfrm>
            <a:off x="1344168" y="2337206"/>
            <a:ext cx="146304" cy="146304"/>
          </a:xfrm>
          <a:prstGeom prst="ellipse">
            <a:avLst/>
          </a:prstGeom>
          <a:solidFill>
            <a:srgbClr val="28C840"/>
          </a:solidFill>
          <a:ln>
            <a:noFill/>
          </a:ln>
          <a:effectLst/>
        </p:spPr>
        <p:txBody>
          <a:bodyPr rtlCol="0" anchor="ctr" wrap="square" lIns="0" rIns="0" tIns="0" bIns="0"/>
          <a:lstStyle/>
          <a:p>
            <a:pPr algn="ctr"/>
            <a:r>
              <a:rPr sz="1300" b="1">
                <a:solidFill>
                  <a:srgbClr val="FFFFFF"/>
                </a:solidFill>
                <a:latin typeface="Arial"/>
              </a:rPr>
              <a:t/>
            </a:r>
          </a:p>
        </p:txBody>
      </p:sp>
      <p:sp>
        <p:nvSpPr>
          <p:cNvPr id="12" name="Rounded Rectangle 11"/>
          <p:cNvSpPr/>
          <p:nvPr/>
        </p:nvSpPr>
        <p:spPr>
          <a:xfrm>
            <a:off x="1645919" y="2291486"/>
            <a:ext cx="5532120" cy="246888"/>
          </a:xfrm>
          <a:prstGeom prst="roundRect">
            <a:avLst>
              <a:gd name="adj" fmla="val 42000"/>
            </a:avLst>
          </a:prstGeom>
          <a:solidFill>
            <a:srgbClr val="FFFFFF"/>
          </a:solidFill>
          <a:ln w="9525">
            <a:solidFill>
              <a:srgbClr val="E2E8F0"/>
            </a:solidFill>
          </a:ln>
          <a:effectLst/>
        </p:spPr>
        <p:txBody>
          <a:bodyPr rtlCol="0" anchor="ctr" wrap="square"/>
          <a:lstStyle/>
          <a:p>
            <a:pPr algn="ctr"/>
          </a:p>
        </p:txBody>
      </p:sp>
      <p:sp>
        <p:nvSpPr>
          <p:cNvPr id="13" name="TextBox 12"/>
          <p:cNvSpPr txBox="1"/>
          <p:nvPr/>
        </p:nvSpPr>
        <p:spPr>
          <a:xfrm>
            <a:off x="1783080" y="2318918"/>
            <a:ext cx="5303520" cy="201168"/>
          </a:xfrm>
          <a:prstGeom prst="rect">
            <a:avLst/>
          </a:prstGeom>
          <a:noFill/>
        </p:spPr>
        <p:txBody>
          <a:bodyPr wrap="square" lIns="0" rIns="0" tIns="0" bIns="0" anchor="t">
            <a:spAutoFit/>
          </a:bodyPr>
          <a:lstStyle/>
          <a:p>
            <a:pPr algn="l">
              <a:lnSpc>
                <a:spcPct val="100000"/>
              </a:lnSpc>
            </a:pPr>
            <a:r>
              <a:rPr sz="950" b="0" i="0">
                <a:solidFill>
                  <a:srgbClr val="1F6FEB"/>
                </a:solidFill>
                <a:latin typeface="Arial"/>
                <a:hlinkClick r:id="rId2"/>
              </a:rPr>
              <a:t>https://lms-tms.tertiaryinfotech.com/</a:t>
            </a:r>
          </a:p>
        </p:txBody>
      </p:sp>
      <p:sp>
        <p:nvSpPr>
          <p:cNvPr id="14" name="Rectangle 13"/>
          <p:cNvSpPr/>
          <p:nvPr/>
        </p:nvSpPr>
        <p:spPr>
          <a:xfrm>
            <a:off x="996695" y="2803550"/>
            <a:ext cx="1874519" cy="2601569"/>
          </a:xfrm>
          <a:prstGeom prst="rect">
            <a:avLst/>
          </a:prstGeom>
          <a:solidFill>
            <a:srgbClr val="F6F8FA"/>
          </a:solidFill>
          <a:ln w="9525">
            <a:solidFill>
              <a:srgbClr val="E2E8F0"/>
            </a:solidFill>
          </a:ln>
          <a:effectLst/>
        </p:spPr>
        <p:txBody>
          <a:bodyPr rtlCol="0" anchor="ctr" wrap="square"/>
          <a:lstStyle/>
          <a:p>
            <a:pPr algn="ctr"/>
          </a:p>
        </p:txBody>
      </p:sp>
      <p:sp>
        <p:nvSpPr>
          <p:cNvPr id="15" name="Rectangle 14"/>
          <p:cNvSpPr/>
          <p:nvPr/>
        </p:nvSpPr>
        <p:spPr>
          <a:xfrm>
            <a:off x="1143000" y="2986430"/>
            <a:ext cx="1572768" cy="219456"/>
          </a:xfrm>
          <a:prstGeom prst="rect">
            <a:avLst/>
          </a:prstGeom>
          <a:solidFill>
            <a:srgbClr val="EFF4FF"/>
          </a:solidFill>
          <a:ln>
            <a:noFill/>
          </a:ln>
          <a:effectLst/>
        </p:spPr>
        <p:txBody>
          <a:bodyPr rtlCol="0" anchor="ctr" wrap="square"/>
          <a:lstStyle/>
          <a:p>
            <a:pPr algn="ctr"/>
          </a:p>
        </p:txBody>
      </p:sp>
      <p:sp>
        <p:nvSpPr>
          <p:cNvPr id="16" name="Rectangle 15"/>
          <p:cNvSpPr/>
          <p:nvPr/>
        </p:nvSpPr>
        <p:spPr>
          <a:xfrm>
            <a:off x="1143000" y="3370478"/>
            <a:ext cx="1572768" cy="219456"/>
          </a:xfrm>
          <a:prstGeom prst="rect">
            <a:avLst/>
          </a:prstGeom>
          <a:solidFill>
            <a:srgbClr val="E2E8F0"/>
          </a:solidFill>
          <a:ln>
            <a:noFill/>
          </a:ln>
          <a:effectLst/>
        </p:spPr>
        <p:txBody>
          <a:bodyPr rtlCol="0" anchor="ctr" wrap="square"/>
          <a:lstStyle/>
          <a:p>
            <a:pPr algn="ctr"/>
          </a:p>
        </p:txBody>
      </p:sp>
      <p:sp>
        <p:nvSpPr>
          <p:cNvPr id="17" name="Rectangle 16"/>
          <p:cNvSpPr/>
          <p:nvPr/>
        </p:nvSpPr>
        <p:spPr>
          <a:xfrm>
            <a:off x="1143000" y="3754526"/>
            <a:ext cx="1572768" cy="219456"/>
          </a:xfrm>
          <a:prstGeom prst="rect">
            <a:avLst/>
          </a:prstGeom>
          <a:solidFill>
            <a:srgbClr val="E2E8F0"/>
          </a:solidFill>
          <a:ln>
            <a:noFill/>
          </a:ln>
          <a:effectLst/>
        </p:spPr>
        <p:txBody>
          <a:bodyPr rtlCol="0" anchor="ctr" wrap="square"/>
          <a:lstStyle/>
          <a:p>
            <a:pPr algn="ctr"/>
          </a:p>
        </p:txBody>
      </p:sp>
      <p:sp>
        <p:nvSpPr>
          <p:cNvPr id="18" name="Rectangle 17"/>
          <p:cNvSpPr/>
          <p:nvPr/>
        </p:nvSpPr>
        <p:spPr>
          <a:xfrm>
            <a:off x="1143000" y="4138574"/>
            <a:ext cx="1572768" cy="219456"/>
          </a:xfrm>
          <a:prstGeom prst="rect">
            <a:avLst/>
          </a:prstGeom>
          <a:solidFill>
            <a:srgbClr val="E2E8F0"/>
          </a:solidFill>
          <a:ln>
            <a:noFill/>
          </a:ln>
          <a:effectLst/>
        </p:spPr>
        <p:txBody>
          <a:bodyPr rtlCol="0" anchor="ctr" wrap="square"/>
          <a:lstStyle/>
          <a:p>
            <a:pPr algn="ctr"/>
          </a:p>
        </p:txBody>
      </p:sp>
      <p:sp>
        <p:nvSpPr>
          <p:cNvPr id="19" name="Rectangle 18"/>
          <p:cNvSpPr/>
          <p:nvPr/>
        </p:nvSpPr>
        <p:spPr>
          <a:xfrm>
            <a:off x="1143000" y="4522622"/>
            <a:ext cx="1572768" cy="219456"/>
          </a:xfrm>
          <a:prstGeom prst="rect">
            <a:avLst/>
          </a:prstGeom>
          <a:solidFill>
            <a:srgbClr val="E2E8F0"/>
          </a:solidFill>
          <a:ln>
            <a:noFill/>
          </a:ln>
          <a:effectLst/>
        </p:spPr>
        <p:txBody>
          <a:bodyPr rtlCol="0" anchor="ctr" wrap="square"/>
          <a:lstStyle/>
          <a:p>
            <a:pPr algn="ctr"/>
          </a:p>
        </p:txBody>
      </p:sp>
      <p:sp>
        <p:nvSpPr>
          <p:cNvPr id="20" name="Rectangle 19"/>
          <p:cNvSpPr/>
          <p:nvPr/>
        </p:nvSpPr>
        <p:spPr>
          <a:xfrm>
            <a:off x="1143000" y="4906670"/>
            <a:ext cx="1572768" cy="219456"/>
          </a:xfrm>
          <a:prstGeom prst="rect">
            <a:avLst/>
          </a:prstGeom>
          <a:solidFill>
            <a:srgbClr val="E2E8F0"/>
          </a:solidFill>
          <a:ln>
            <a:noFill/>
          </a:ln>
          <a:effectLst/>
        </p:spPr>
        <p:txBody>
          <a:bodyPr rtlCol="0" anchor="ctr" wrap="square"/>
          <a:lstStyle/>
          <a:p>
            <a:pPr algn="ctr"/>
          </a:p>
        </p:txBody>
      </p:sp>
      <p:sp>
        <p:nvSpPr>
          <p:cNvPr id="21" name="Rectangle 20"/>
          <p:cNvSpPr/>
          <p:nvPr/>
        </p:nvSpPr>
        <p:spPr>
          <a:xfrm>
            <a:off x="3017520" y="2803550"/>
            <a:ext cx="4069080" cy="2601569"/>
          </a:xfrm>
          <a:prstGeom prst="rect">
            <a:avLst/>
          </a:prstGeom>
          <a:solidFill>
            <a:srgbClr val="F5F8FC"/>
          </a:solidFill>
          <a:ln w="9525">
            <a:solidFill>
              <a:srgbClr val="E2E8F0"/>
            </a:solidFill>
          </a:ln>
          <a:effectLst/>
        </p:spPr>
        <p:txBody>
          <a:bodyPr rtlCol="0" anchor="ctr" wrap="square"/>
          <a:lstStyle/>
          <a:p>
            <a:pPr algn="ctr"/>
          </a:p>
        </p:txBody>
      </p:sp>
      <p:sp>
        <p:nvSpPr>
          <p:cNvPr id="22" name="Rectangle 21"/>
          <p:cNvSpPr/>
          <p:nvPr/>
        </p:nvSpPr>
        <p:spPr>
          <a:xfrm>
            <a:off x="3227832" y="3023006"/>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3" name="Rectangle 22"/>
          <p:cNvSpPr/>
          <p:nvPr/>
        </p:nvSpPr>
        <p:spPr>
          <a:xfrm>
            <a:off x="3227832" y="3681374"/>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4" name="Rectangle 23"/>
          <p:cNvSpPr/>
          <p:nvPr/>
        </p:nvSpPr>
        <p:spPr>
          <a:xfrm>
            <a:off x="3227832" y="4339742"/>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5" name="Rectangle 24"/>
          <p:cNvSpPr/>
          <p:nvPr/>
        </p:nvSpPr>
        <p:spPr>
          <a:xfrm>
            <a:off x="3227832" y="4998110"/>
            <a:ext cx="3566160" cy="384048"/>
          </a:xfrm>
          <a:prstGeom prst="rect">
            <a:avLst/>
          </a:prstGeom>
          <a:solidFill>
            <a:srgbClr val="FFFFFF"/>
          </a:solidFill>
          <a:ln w="9525">
            <a:solidFill>
              <a:srgbClr val="E2E8F0"/>
            </a:solidFill>
          </a:ln>
          <a:effectLst/>
        </p:spPr>
        <p:txBody>
          <a:bodyPr rtlCol="0" anchor="ctr" wrap="square"/>
          <a:lstStyle/>
          <a:p>
            <a:pPr algn="ctr"/>
          </a:p>
        </p:txBody>
      </p:sp>
      <p:sp>
        <p:nvSpPr>
          <p:cNvPr id="26" name="Rectangle 25"/>
          <p:cNvSpPr/>
          <p:nvPr/>
        </p:nvSpPr>
        <p:spPr>
          <a:xfrm>
            <a:off x="7635240" y="2200046"/>
            <a:ext cx="3840479" cy="3442817"/>
          </a:xfrm>
          <a:prstGeom prst="rect">
            <a:avLst/>
          </a:prstGeom>
          <a:solidFill>
            <a:srgbClr val="F4F7FB"/>
          </a:solidFill>
          <a:ln w="12700">
            <a:solidFill>
              <a:srgbClr val="E2E8F0"/>
            </a:solidFill>
          </a:ln>
          <a:effectLst/>
        </p:spPr>
        <p:txBody>
          <a:bodyPr rtlCol="0" anchor="ctr" wrap="square"/>
          <a:lstStyle/>
          <a:p>
            <a:pPr algn="ctr"/>
          </a:p>
        </p:txBody>
      </p:sp>
      <p:sp>
        <p:nvSpPr>
          <p:cNvPr id="27" name="TextBox 26"/>
          <p:cNvSpPr txBox="1"/>
          <p:nvPr/>
        </p:nvSpPr>
        <p:spPr>
          <a:xfrm>
            <a:off x="7836408" y="2364638"/>
            <a:ext cx="3438143" cy="237744"/>
          </a:xfrm>
          <a:prstGeom prst="rect">
            <a:avLst/>
          </a:prstGeom>
          <a:noFill/>
        </p:spPr>
        <p:txBody>
          <a:bodyPr wrap="square" lIns="0" rIns="0" tIns="0" bIns="0" anchor="t">
            <a:spAutoFit/>
          </a:bodyPr>
          <a:lstStyle/>
          <a:p>
            <a:pPr algn="l">
              <a:lnSpc>
                <a:spcPct val="100000"/>
              </a:lnSpc>
            </a:pPr>
            <a:r>
              <a:rPr sz="850" b="1" i="0">
                <a:solidFill>
                  <a:srgbClr val="1F6FEB"/>
                </a:solidFill>
                <a:latin typeface="Arial"/>
              </a:rPr>
              <a:t>RESOURCE OVERVIEW</a:t>
            </a:r>
          </a:p>
        </p:txBody>
      </p:sp>
      <p:sp>
        <p:nvSpPr>
          <p:cNvPr id="28" name="Oval 27"/>
          <p:cNvSpPr/>
          <p:nvPr/>
        </p:nvSpPr>
        <p:spPr>
          <a:xfrm>
            <a:off x="7836408" y="2712110"/>
            <a:ext cx="274320" cy="274320"/>
          </a:xfrm>
          <a:prstGeom prst="ellipse">
            <a:avLst/>
          </a:prstGeom>
          <a:solidFill>
            <a:srgbClr val="1F6FEB"/>
          </a:solidFill>
          <a:ln>
            <a:noFill/>
          </a:ln>
          <a:effectLst/>
        </p:spPr>
        <p:txBody>
          <a:bodyPr rtlCol="0" anchor="ctr" wrap="square" lIns="0" rIns="0" tIns="0" bIns="0"/>
          <a:lstStyle/>
          <a:p>
            <a:pPr algn="ctr"/>
            <a:r>
              <a:rPr sz="1000" b="1">
                <a:solidFill>
                  <a:srgbClr val="FFFFFF"/>
                </a:solidFill>
                <a:latin typeface="Arial"/>
              </a:rPr>
              <a:t/>
            </a:r>
          </a:p>
        </p:txBody>
      </p:sp>
      <p:sp>
        <p:nvSpPr>
          <p:cNvPr id="29" name="TextBox 28"/>
          <p:cNvSpPr txBox="1"/>
          <p:nvPr/>
        </p:nvSpPr>
        <p:spPr>
          <a:xfrm>
            <a:off x="8202168" y="270296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Course attendance documents participation.</a:t>
            </a:r>
          </a:p>
        </p:txBody>
      </p:sp>
      <p:sp>
        <p:nvSpPr>
          <p:cNvPr id="30" name="Oval 29"/>
          <p:cNvSpPr/>
          <p:nvPr/>
        </p:nvSpPr>
        <p:spPr>
          <a:xfrm>
            <a:off x="7836408" y="3352190"/>
            <a:ext cx="274320" cy="274320"/>
          </a:xfrm>
          <a:prstGeom prst="ellipse">
            <a:avLst/>
          </a:prstGeom>
          <a:solidFill>
            <a:srgbClr val="10B981"/>
          </a:solidFill>
          <a:ln>
            <a:noFill/>
          </a:ln>
          <a:effectLst/>
        </p:spPr>
        <p:txBody>
          <a:bodyPr rtlCol="0" anchor="ctr" wrap="square" lIns="0" rIns="0" tIns="0" bIns="0"/>
          <a:lstStyle/>
          <a:p>
            <a:pPr algn="ctr"/>
            <a:r>
              <a:rPr sz="1000" b="1">
                <a:solidFill>
                  <a:srgbClr val="FFFFFF"/>
                </a:solidFill>
                <a:latin typeface="Arial"/>
              </a:rPr>
              <a:t/>
            </a:r>
          </a:p>
        </p:txBody>
      </p:sp>
      <p:sp>
        <p:nvSpPr>
          <p:cNvPr id="31" name="TextBox 30"/>
          <p:cNvSpPr txBox="1"/>
          <p:nvPr/>
        </p:nvSpPr>
        <p:spPr>
          <a:xfrm>
            <a:off x="8202168" y="334304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Assessment attendance records the assessment session.</a:t>
            </a:r>
          </a:p>
        </p:txBody>
      </p:sp>
      <p:sp>
        <p:nvSpPr>
          <p:cNvPr id="32" name="Oval 31"/>
          <p:cNvSpPr/>
          <p:nvPr/>
        </p:nvSpPr>
        <p:spPr>
          <a:xfrm>
            <a:off x="7836408" y="3992270"/>
            <a:ext cx="274320" cy="274320"/>
          </a:xfrm>
          <a:prstGeom prst="ellipse">
            <a:avLst/>
          </a:prstGeom>
          <a:solidFill>
            <a:srgbClr val="7C3AED"/>
          </a:solidFill>
          <a:ln>
            <a:noFill/>
          </a:ln>
          <a:effectLst/>
        </p:spPr>
        <p:txBody>
          <a:bodyPr rtlCol="0" anchor="ctr" wrap="square" lIns="0" rIns="0" tIns="0" bIns="0"/>
          <a:lstStyle/>
          <a:p>
            <a:pPr algn="ctr"/>
            <a:r>
              <a:rPr sz="1000" b="1">
                <a:solidFill>
                  <a:srgbClr val="FFFFFF"/>
                </a:solidFill>
                <a:latin typeface="Arial"/>
              </a:rPr>
              <a:t/>
            </a:r>
          </a:p>
        </p:txBody>
      </p:sp>
      <p:sp>
        <p:nvSpPr>
          <p:cNvPr id="33" name="TextBox 32"/>
          <p:cNvSpPr txBox="1"/>
          <p:nvPr/>
        </p:nvSpPr>
        <p:spPr>
          <a:xfrm>
            <a:off x="8202168" y="398312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TRAQOM is a learner feedback survey.</a:t>
            </a:r>
          </a:p>
        </p:txBody>
      </p:sp>
      <p:sp>
        <p:nvSpPr>
          <p:cNvPr id="34" name="Oval 33"/>
          <p:cNvSpPr/>
          <p:nvPr/>
        </p:nvSpPr>
        <p:spPr>
          <a:xfrm>
            <a:off x="7836408" y="4632350"/>
            <a:ext cx="274320" cy="274320"/>
          </a:xfrm>
          <a:prstGeom prst="ellipse">
            <a:avLst/>
          </a:prstGeom>
          <a:solidFill>
            <a:srgbClr val="F59E0B"/>
          </a:solidFill>
          <a:ln>
            <a:noFill/>
          </a:ln>
          <a:effectLst/>
        </p:spPr>
        <p:txBody>
          <a:bodyPr rtlCol="0" anchor="ctr" wrap="square" lIns="0" rIns="0" tIns="0" bIns="0"/>
          <a:lstStyle/>
          <a:p>
            <a:pPr algn="ctr"/>
            <a:r>
              <a:rPr sz="1000" b="1">
                <a:solidFill>
                  <a:srgbClr val="FFFFFF"/>
                </a:solidFill>
                <a:latin typeface="Arial"/>
              </a:rPr>
              <a:t/>
            </a:r>
          </a:p>
        </p:txBody>
      </p:sp>
      <p:sp>
        <p:nvSpPr>
          <p:cNvPr id="35" name="TextBox 34"/>
          <p:cNvSpPr txBox="1"/>
          <p:nvPr/>
        </p:nvSpPr>
        <p:spPr>
          <a:xfrm>
            <a:off x="8202168" y="4623206"/>
            <a:ext cx="3054095" cy="566928"/>
          </a:xfrm>
          <a:prstGeom prst="rect">
            <a:avLst/>
          </a:prstGeom>
          <a:noFill/>
        </p:spPr>
        <p:txBody>
          <a:bodyPr wrap="square" lIns="0" rIns="0" tIns="0" bIns="0" anchor="t">
            <a:spAutoFit/>
          </a:bodyPr>
          <a:lstStyle/>
          <a:p>
            <a:pPr algn="l">
              <a:lnSpc>
                <a:spcPct val="110000"/>
              </a:lnSpc>
            </a:pPr>
            <a:r>
              <a:rPr sz="1000" b="0" i="0">
                <a:solidFill>
                  <a:srgbClr val="5B6372"/>
                </a:solidFill>
                <a:latin typeface="Arial"/>
              </a:rPr>
              <a:t>The trainer confirms the required records for this course run.</a:t>
            </a:r>
          </a:p>
        </p:txBody>
      </p:sp>
      <p:sp>
        <p:nvSpPr>
          <p:cNvPr id="36" name="TextBox 35"/>
          <p:cNvSpPr txBox="1"/>
          <p:nvPr/>
        </p:nvSpPr>
        <p:spPr>
          <a:xfrm>
            <a:off x="777240" y="5770880"/>
            <a:ext cx="10698480" cy="172720"/>
          </a:xfrm>
          <a:prstGeom prst="rect">
            <a:avLst/>
          </a:prstGeom>
          <a:noFill/>
        </p:spPr>
        <p:txBody>
          <a:bodyPr wrap="square" lIns="0" rIns="0" tIns="0" bIns="0" anchor="t">
            <a:spAutoFit/>
          </a:bodyPr>
          <a:lstStyle/>
          <a:p>
            <a:pPr algn="l">
              <a:lnSpc>
                <a:spcPct val="100000"/>
              </a:lnSpc>
            </a:pPr>
            <a:r>
              <a:rPr sz="1000" b="0" i="1">
                <a:solidFill>
                  <a:srgbClr val="94A3B8"/>
                </a:solidFill>
                <a:latin typeface="Arial"/>
              </a:rPr>
              <a:t>TRAQOM: TPGateway Training Quality and Outcomes Measurement initiative.</a:t>
            </a:r>
          </a:p>
        </p:txBody>
      </p:sp>
      <p:sp>
        <p:nvSpPr>
          <p:cNvPr id="37" name="TextBox 36"/>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https://lms-tms.tertiaryinfotech.com/</a:t>
            </a:r>
          </a:p>
        </p:txBody>
      </p:sp>
      <p:sp>
        <p:nvSpPr>
          <p:cNvPr id="38" name="TextBox 37"/>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9" name="TextBox 38"/>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40" name="TextBox 39"/>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576</a:t>
            </a:r>
          </a:p>
        </p:txBody>
      </p:sp>
    </p:spTree>
  </p:cSld>
  <p:clrMapOvr>
    <a:masterClrMapping/>
  </p:clrMapOvr>
  <p:transition xmlns:ns1="http://schemas.openxmlformats.org/markup-compatibility/2006" spd="fast" ns1:Ignorable="p14">
    <p:fade/>
  </p:transition>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cna-observability-hero-v6.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68680" y="1755648"/>
            <a:ext cx="5486400" cy="1005840"/>
          </a:xfrm>
          <a:prstGeom prst="rect">
            <a:avLst/>
          </a:prstGeom>
          <a:noFill/>
        </p:spPr>
        <p:txBody>
          <a:bodyPr wrap="square" lIns="0" rIns="0" tIns="0" bIns="0" anchor="t">
            <a:spAutoFit/>
          </a:bodyPr>
          <a:lstStyle/>
          <a:p>
            <a:pPr algn="l">
              <a:lnSpc>
                <a:spcPct val="100000"/>
              </a:lnSpc>
            </a:pPr>
            <a:r>
              <a:rPr sz="5200" b="1" i="0">
                <a:solidFill>
                  <a:srgbClr val="FFFFFF"/>
                </a:solidFill>
                <a:latin typeface="Arial"/>
              </a:rPr>
              <a:t>Thank You</a:t>
            </a:r>
          </a:p>
        </p:txBody>
      </p:sp>
      <p:sp>
        <p:nvSpPr>
          <p:cNvPr id="4" name="Rectangle 3"/>
          <p:cNvSpPr/>
          <p:nvPr/>
        </p:nvSpPr>
        <p:spPr>
          <a:xfrm>
            <a:off x="868680" y="2871216"/>
            <a:ext cx="2743200" cy="32004"/>
          </a:xfrm>
          <a:prstGeom prst="rect">
            <a:avLst/>
          </a:prstGeom>
          <a:solidFill>
            <a:srgbClr val="10B981"/>
          </a:solidFill>
          <a:ln>
            <a:noFill/>
          </a:ln>
          <a:effectLst/>
        </p:spPr>
        <p:txBody>
          <a:bodyPr rtlCol="0" anchor="ctr" wrap="square"/>
          <a:lstStyle/>
          <a:p>
            <a:pPr algn="ctr"/>
          </a:p>
        </p:txBody>
      </p:sp>
      <p:sp>
        <p:nvSpPr>
          <p:cNvPr id="5" name="TextBox 4"/>
          <p:cNvSpPr txBox="1"/>
          <p:nvPr/>
        </p:nvSpPr>
        <p:spPr>
          <a:xfrm>
            <a:off x="868680" y="3127248"/>
            <a:ext cx="5577840" cy="786384"/>
          </a:xfrm>
          <a:prstGeom prst="rect">
            <a:avLst/>
          </a:prstGeom>
          <a:noFill/>
        </p:spPr>
        <p:txBody>
          <a:bodyPr wrap="square" lIns="0" rIns="0" tIns="0" bIns="0" anchor="t">
            <a:spAutoFit/>
          </a:bodyPr>
          <a:lstStyle/>
          <a:p>
            <a:pPr algn="l">
              <a:lnSpc>
                <a:spcPct val="100000"/>
              </a:lnSpc>
            </a:pPr>
            <a:r>
              <a:rPr sz="1700" b="0" i="0">
                <a:solidFill>
                  <a:srgbClr val="FFFFFF"/>
                </a:solidFill>
                <a:latin typeface="Arial"/>
              </a:rPr>
              <a:t>All the best for the KCNA exam —</a:t>
            </a:r>
          </a:p>
          <a:p>
            <a:pPr algn="l">
              <a:lnSpc>
                <a:spcPct val="100000"/>
              </a:lnSpc>
            </a:pPr>
            <a:r>
              <a:rPr sz="1700" b="0" i="0">
                <a:solidFill>
                  <a:srgbClr val="FFFFFF"/>
                </a:solidFill>
                <a:latin typeface="Arial"/>
              </a:rPr>
              <a:t>and for what you build next.</a:t>
            </a:r>
          </a:p>
        </p:txBody>
      </p:sp>
      <p:sp>
        <p:nvSpPr>
          <p:cNvPr id="6" name="Rectangle 5"/>
          <p:cNvSpPr/>
          <p:nvPr/>
        </p:nvSpPr>
        <p:spPr>
          <a:xfrm>
            <a:off x="868680" y="4096512"/>
            <a:ext cx="2514600" cy="658368"/>
          </a:xfrm>
          <a:prstGeom prst="rect">
            <a:avLst/>
          </a:prstGeom>
          <a:solidFill>
            <a:srgbClr val="0B1220"/>
          </a:solidFill>
          <a:ln w="12700">
            <a:solidFill>
              <a:srgbClr val="94A3B8"/>
            </a:solidFill>
          </a:ln>
          <a:effectLst/>
        </p:spPr>
        <p:txBody>
          <a:bodyPr rtlCol="0" anchor="ctr" wrap="square"/>
          <a:lstStyle/>
          <a:p>
            <a:pPr algn="ctr"/>
          </a:p>
        </p:txBody>
      </p:sp>
      <p:sp>
        <p:nvSpPr>
          <p:cNvPr id="7" name="Rectangle 6"/>
          <p:cNvSpPr/>
          <p:nvPr/>
        </p:nvSpPr>
        <p:spPr>
          <a:xfrm>
            <a:off x="868680" y="4096512"/>
            <a:ext cx="45720" cy="658368"/>
          </a:xfrm>
          <a:prstGeom prst="rect">
            <a:avLst/>
          </a:prstGeom>
          <a:solidFill>
            <a:srgbClr val="1F6FEB"/>
          </a:solidFill>
          <a:ln>
            <a:noFill/>
          </a:ln>
          <a:effectLst/>
        </p:spPr>
        <p:txBody>
          <a:bodyPr rtlCol="0" anchor="ctr" wrap="square"/>
          <a:lstStyle/>
          <a:p>
            <a:pPr algn="ctr"/>
          </a:p>
        </p:txBody>
      </p:sp>
      <p:sp>
        <p:nvSpPr>
          <p:cNvPr id="8" name="TextBox 7"/>
          <p:cNvSpPr txBox="1"/>
          <p:nvPr/>
        </p:nvSpPr>
        <p:spPr>
          <a:xfrm>
            <a:off x="1033271" y="4169664"/>
            <a:ext cx="2240280" cy="182880"/>
          </a:xfrm>
          <a:prstGeom prst="rect">
            <a:avLst/>
          </a:prstGeom>
          <a:noFill/>
        </p:spPr>
        <p:txBody>
          <a:bodyPr wrap="square" lIns="0" rIns="0" tIns="0" bIns="0" anchor="t">
            <a:spAutoFit/>
          </a:bodyPr>
          <a:lstStyle/>
          <a:p>
            <a:pPr algn="l">
              <a:lnSpc>
                <a:spcPct val="100000"/>
              </a:lnSpc>
            </a:pPr>
            <a:r>
              <a:rPr sz="800" b="1" i="0">
                <a:solidFill>
                  <a:srgbClr val="FFFFFF"/>
                </a:solidFill>
                <a:latin typeface="Arial"/>
              </a:rPr>
              <a:t>EMAIL</a:t>
            </a:r>
          </a:p>
        </p:txBody>
      </p:sp>
      <p:sp>
        <p:nvSpPr>
          <p:cNvPr id="9" name="TextBox 8"/>
          <p:cNvSpPr txBox="1"/>
          <p:nvPr/>
        </p:nvSpPr>
        <p:spPr>
          <a:xfrm>
            <a:off x="1033271" y="4379976"/>
            <a:ext cx="2167128" cy="265176"/>
          </a:xfrm>
          <a:prstGeom prst="rect">
            <a:avLst/>
          </a:prstGeom>
          <a:noFill/>
        </p:spPr>
        <p:txBody>
          <a:bodyPr wrap="square" lIns="0" rIns="0" tIns="0" bIns="0" anchor="t">
            <a:spAutoFit/>
          </a:bodyPr>
          <a:lstStyle/>
          <a:p>
            <a:pPr algn="l">
              <a:lnSpc>
                <a:spcPct val="100000"/>
              </a:lnSpc>
            </a:pPr>
            <a:r>
              <a:rPr sz="950" b="0" i="0">
                <a:solidFill>
                  <a:srgbClr val="FFFFFF"/>
                </a:solidFill>
                <a:latin typeface="Arial"/>
              </a:rPr>
              <a:t>enquiry@tertiaryinfotech.com</a:t>
            </a:r>
          </a:p>
        </p:txBody>
      </p:sp>
      <p:sp>
        <p:nvSpPr>
          <p:cNvPr id="10" name="Rectangle 9"/>
          <p:cNvSpPr/>
          <p:nvPr/>
        </p:nvSpPr>
        <p:spPr>
          <a:xfrm>
            <a:off x="3566160" y="4096512"/>
            <a:ext cx="2514600" cy="658368"/>
          </a:xfrm>
          <a:prstGeom prst="rect">
            <a:avLst/>
          </a:prstGeom>
          <a:solidFill>
            <a:srgbClr val="0B1220"/>
          </a:solidFill>
          <a:ln w="12700">
            <a:solidFill>
              <a:srgbClr val="94A3B8"/>
            </a:solidFill>
          </a:ln>
          <a:effectLst/>
        </p:spPr>
        <p:txBody>
          <a:bodyPr rtlCol="0" anchor="ctr" wrap="square"/>
          <a:lstStyle/>
          <a:p>
            <a:pPr algn="ctr"/>
          </a:p>
        </p:txBody>
      </p:sp>
      <p:sp>
        <p:nvSpPr>
          <p:cNvPr id="11" name="Rectangle 10"/>
          <p:cNvSpPr/>
          <p:nvPr/>
        </p:nvSpPr>
        <p:spPr>
          <a:xfrm>
            <a:off x="3566160" y="4096512"/>
            <a:ext cx="45720" cy="658368"/>
          </a:xfrm>
          <a:prstGeom prst="rect">
            <a:avLst/>
          </a:prstGeom>
          <a:solidFill>
            <a:srgbClr val="10B981"/>
          </a:solidFill>
          <a:ln>
            <a:noFill/>
          </a:ln>
          <a:effectLst/>
        </p:spPr>
        <p:txBody>
          <a:bodyPr rtlCol="0" anchor="ctr" wrap="square"/>
          <a:lstStyle/>
          <a:p>
            <a:pPr algn="ctr"/>
          </a:p>
        </p:txBody>
      </p:sp>
      <p:sp>
        <p:nvSpPr>
          <p:cNvPr id="12" name="TextBox 11"/>
          <p:cNvSpPr txBox="1"/>
          <p:nvPr/>
        </p:nvSpPr>
        <p:spPr>
          <a:xfrm>
            <a:off x="3730752" y="4169664"/>
            <a:ext cx="2240280" cy="182880"/>
          </a:xfrm>
          <a:prstGeom prst="rect">
            <a:avLst/>
          </a:prstGeom>
          <a:noFill/>
        </p:spPr>
        <p:txBody>
          <a:bodyPr wrap="square" lIns="0" rIns="0" tIns="0" bIns="0" anchor="t">
            <a:spAutoFit/>
          </a:bodyPr>
          <a:lstStyle/>
          <a:p>
            <a:pPr algn="l">
              <a:lnSpc>
                <a:spcPct val="100000"/>
              </a:lnSpc>
            </a:pPr>
            <a:r>
              <a:rPr sz="800" b="1" i="0">
                <a:solidFill>
                  <a:srgbClr val="FFFFFF"/>
                </a:solidFill>
                <a:latin typeface="Arial"/>
              </a:rPr>
              <a:t>PHONE</a:t>
            </a:r>
          </a:p>
        </p:txBody>
      </p:sp>
      <p:sp>
        <p:nvSpPr>
          <p:cNvPr id="13" name="TextBox 12"/>
          <p:cNvSpPr txBox="1"/>
          <p:nvPr/>
        </p:nvSpPr>
        <p:spPr>
          <a:xfrm>
            <a:off x="3730752" y="4379976"/>
            <a:ext cx="2167128" cy="265176"/>
          </a:xfrm>
          <a:prstGeom prst="rect">
            <a:avLst/>
          </a:prstGeom>
          <a:noFill/>
        </p:spPr>
        <p:txBody>
          <a:bodyPr wrap="square" lIns="0" rIns="0" tIns="0" bIns="0" anchor="t">
            <a:spAutoFit/>
          </a:bodyPr>
          <a:lstStyle/>
          <a:p>
            <a:pPr algn="l">
              <a:lnSpc>
                <a:spcPct val="100000"/>
              </a:lnSpc>
            </a:pPr>
            <a:r>
              <a:rPr sz="950" b="0" i="0">
                <a:solidFill>
                  <a:srgbClr val="FFFFFF"/>
                </a:solidFill>
                <a:latin typeface="Arial"/>
              </a:rPr>
              <a:t>+65 6100 0613</a:t>
            </a:r>
          </a:p>
        </p:txBody>
      </p:sp>
      <p:sp>
        <p:nvSpPr>
          <p:cNvPr id="14" name="Rectangle 13"/>
          <p:cNvSpPr/>
          <p:nvPr/>
        </p:nvSpPr>
        <p:spPr>
          <a:xfrm>
            <a:off x="868680" y="4882896"/>
            <a:ext cx="2514600" cy="658368"/>
          </a:xfrm>
          <a:prstGeom prst="rect">
            <a:avLst/>
          </a:prstGeom>
          <a:solidFill>
            <a:srgbClr val="0B1220"/>
          </a:solidFill>
          <a:ln w="12700">
            <a:solidFill>
              <a:srgbClr val="94A3B8"/>
            </a:solidFill>
          </a:ln>
          <a:effectLst/>
        </p:spPr>
        <p:txBody>
          <a:bodyPr rtlCol="0" anchor="ctr" wrap="square"/>
          <a:lstStyle/>
          <a:p>
            <a:pPr algn="ctr"/>
          </a:p>
        </p:txBody>
      </p:sp>
      <p:sp>
        <p:nvSpPr>
          <p:cNvPr id="15" name="Rectangle 14"/>
          <p:cNvSpPr/>
          <p:nvPr/>
        </p:nvSpPr>
        <p:spPr>
          <a:xfrm>
            <a:off x="868680" y="4882896"/>
            <a:ext cx="45720" cy="658368"/>
          </a:xfrm>
          <a:prstGeom prst="rect">
            <a:avLst/>
          </a:prstGeom>
          <a:solidFill>
            <a:srgbClr val="7C3AED"/>
          </a:solidFill>
          <a:ln>
            <a:noFill/>
          </a:ln>
          <a:effectLst/>
        </p:spPr>
        <p:txBody>
          <a:bodyPr rtlCol="0" anchor="ctr" wrap="square"/>
          <a:lstStyle/>
          <a:p>
            <a:pPr algn="ctr"/>
          </a:p>
        </p:txBody>
      </p:sp>
      <p:sp>
        <p:nvSpPr>
          <p:cNvPr id="16" name="TextBox 15"/>
          <p:cNvSpPr txBox="1"/>
          <p:nvPr/>
        </p:nvSpPr>
        <p:spPr>
          <a:xfrm>
            <a:off x="1033271" y="4956048"/>
            <a:ext cx="2240280" cy="182880"/>
          </a:xfrm>
          <a:prstGeom prst="rect">
            <a:avLst/>
          </a:prstGeom>
          <a:noFill/>
        </p:spPr>
        <p:txBody>
          <a:bodyPr wrap="square" lIns="0" rIns="0" tIns="0" bIns="0" anchor="t">
            <a:spAutoFit/>
          </a:bodyPr>
          <a:lstStyle/>
          <a:p>
            <a:pPr algn="l">
              <a:lnSpc>
                <a:spcPct val="100000"/>
              </a:lnSpc>
            </a:pPr>
            <a:r>
              <a:rPr sz="800" b="1" i="0">
                <a:solidFill>
                  <a:srgbClr val="FFFFFF"/>
                </a:solidFill>
                <a:latin typeface="Arial"/>
              </a:rPr>
              <a:t>WEB</a:t>
            </a:r>
          </a:p>
        </p:txBody>
      </p:sp>
      <p:sp>
        <p:nvSpPr>
          <p:cNvPr id="17" name="TextBox 16"/>
          <p:cNvSpPr txBox="1"/>
          <p:nvPr/>
        </p:nvSpPr>
        <p:spPr>
          <a:xfrm>
            <a:off x="1033271" y="5166360"/>
            <a:ext cx="2167128" cy="265176"/>
          </a:xfrm>
          <a:prstGeom prst="rect">
            <a:avLst/>
          </a:prstGeom>
          <a:noFill/>
        </p:spPr>
        <p:txBody>
          <a:bodyPr wrap="square" lIns="0" rIns="0" tIns="0" bIns="0" anchor="t">
            <a:spAutoFit/>
          </a:bodyPr>
          <a:lstStyle/>
          <a:p>
            <a:pPr algn="l">
              <a:lnSpc>
                <a:spcPct val="100000"/>
              </a:lnSpc>
            </a:pPr>
            <a:r>
              <a:rPr sz="950" b="0" i="0">
                <a:solidFill>
                  <a:srgbClr val="FFFFFF"/>
                </a:solidFill>
                <a:latin typeface="Arial"/>
              </a:rPr>
              <a:t>www.tertiarycourses.com.sg</a:t>
            </a:r>
          </a:p>
        </p:txBody>
      </p:sp>
      <p:sp>
        <p:nvSpPr>
          <p:cNvPr id="18" name="Rectangle 17"/>
          <p:cNvSpPr/>
          <p:nvPr/>
        </p:nvSpPr>
        <p:spPr>
          <a:xfrm>
            <a:off x="3566160" y="4882896"/>
            <a:ext cx="2514600" cy="658368"/>
          </a:xfrm>
          <a:prstGeom prst="rect">
            <a:avLst/>
          </a:prstGeom>
          <a:solidFill>
            <a:srgbClr val="0B1220"/>
          </a:solidFill>
          <a:ln w="12700">
            <a:solidFill>
              <a:srgbClr val="94A3B8"/>
            </a:solidFill>
          </a:ln>
          <a:effectLst/>
        </p:spPr>
        <p:txBody>
          <a:bodyPr rtlCol="0" anchor="ctr" wrap="square"/>
          <a:lstStyle/>
          <a:p>
            <a:pPr algn="ctr"/>
          </a:p>
        </p:txBody>
      </p:sp>
      <p:sp>
        <p:nvSpPr>
          <p:cNvPr id="19" name="Rectangle 18"/>
          <p:cNvSpPr/>
          <p:nvPr/>
        </p:nvSpPr>
        <p:spPr>
          <a:xfrm>
            <a:off x="3566160" y="4882896"/>
            <a:ext cx="45720" cy="658368"/>
          </a:xfrm>
          <a:prstGeom prst="rect">
            <a:avLst/>
          </a:prstGeom>
          <a:solidFill>
            <a:srgbClr val="F59E0B"/>
          </a:solidFill>
          <a:ln>
            <a:noFill/>
          </a:ln>
          <a:effectLst/>
        </p:spPr>
        <p:txBody>
          <a:bodyPr rtlCol="0" anchor="ctr" wrap="square"/>
          <a:lstStyle/>
          <a:p>
            <a:pPr algn="ctr"/>
          </a:p>
        </p:txBody>
      </p:sp>
      <p:sp>
        <p:nvSpPr>
          <p:cNvPr id="20" name="TextBox 19"/>
          <p:cNvSpPr txBox="1"/>
          <p:nvPr/>
        </p:nvSpPr>
        <p:spPr>
          <a:xfrm>
            <a:off x="3730752" y="4956048"/>
            <a:ext cx="2240280" cy="182880"/>
          </a:xfrm>
          <a:prstGeom prst="rect">
            <a:avLst/>
          </a:prstGeom>
          <a:noFill/>
        </p:spPr>
        <p:txBody>
          <a:bodyPr wrap="square" lIns="0" rIns="0" tIns="0" bIns="0" anchor="t">
            <a:spAutoFit/>
          </a:bodyPr>
          <a:lstStyle/>
          <a:p>
            <a:pPr algn="l">
              <a:lnSpc>
                <a:spcPct val="100000"/>
              </a:lnSpc>
            </a:pPr>
            <a:r>
              <a:rPr sz="800" b="1" i="0">
                <a:solidFill>
                  <a:srgbClr val="FFFFFF"/>
                </a:solidFill>
                <a:latin typeface="Arial"/>
              </a:rPr>
              <a:t>LMS</a:t>
            </a:r>
          </a:p>
        </p:txBody>
      </p:sp>
      <p:sp>
        <p:nvSpPr>
          <p:cNvPr id="21" name="TextBox 20"/>
          <p:cNvSpPr txBox="1"/>
          <p:nvPr/>
        </p:nvSpPr>
        <p:spPr>
          <a:xfrm>
            <a:off x="3730752" y="5166360"/>
            <a:ext cx="2167128" cy="265176"/>
          </a:xfrm>
          <a:prstGeom prst="rect">
            <a:avLst/>
          </a:prstGeom>
          <a:noFill/>
        </p:spPr>
        <p:txBody>
          <a:bodyPr wrap="square" lIns="0" rIns="0" tIns="0" bIns="0" anchor="t">
            <a:spAutoFit/>
          </a:bodyPr>
          <a:lstStyle/>
          <a:p>
            <a:pPr algn="l">
              <a:lnSpc>
                <a:spcPct val="100000"/>
              </a:lnSpc>
            </a:pPr>
            <a:r>
              <a:rPr sz="869" b="0" i="0">
                <a:solidFill>
                  <a:srgbClr val="FFFFFF"/>
                </a:solidFill>
                <a:latin typeface="Arial"/>
              </a:rPr>
              <a:t>https://lms-tms.tertiaryinfotech.com/</a:t>
            </a:r>
          </a:p>
        </p:txBody>
      </p:sp>
      <p:sp>
        <p:nvSpPr>
          <p:cNvPr id="22" name="TextBox 21"/>
          <p:cNvSpPr txBox="1"/>
          <p:nvPr/>
        </p:nvSpPr>
        <p:spPr>
          <a:xfrm>
            <a:off x="868680" y="5815584"/>
            <a:ext cx="5486400" cy="219456"/>
          </a:xfrm>
          <a:prstGeom prst="rect">
            <a:avLst/>
          </a:prstGeom>
          <a:noFill/>
        </p:spPr>
        <p:txBody>
          <a:bodyPr wrap="square" lIns="0" rIns="0" tIns="0" bIns="0" anchor="t">
            <a:spAutoFit/>
          </a:bodyPr>
          <a:lstStyle/>
          <a:p>
            <a:pPr algn="l">
              <a:lnSpc>
                <a:spcPct val="100000"/>
              </a:lnSpc>
            </a:pPr>
            <a:r>
              <a:rPr sz="1000" b="1" i="0">
                <a:solidFill>
                  <a:srgbClr val="FFFFFF"/>
                </a:solidFill>
                <a:latin typeface="Arial"/>
              </a:rPr>
              <a:t>Tertiary Infotech Academy Pte Ltd  ·  UEN 201200696W</a:t>
            </a:r>
          </a:p>
        </p:txBody>
      </p:sp>
      <p:sp>
        <p:nvSpPr>
          <p:cNvPr id="23" name="TextBox 22"/>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24" name="TextBox 23"/>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25" name="TextBox 24"/>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577</a:t>
            </a:r>
          </a:p>
        </p:txBody>
      </p:sp>
    </p:spTree>
  </p:cSld>
  <p:clrMapOvr>
    <a:masterClrMapping/>
  </p:clrMapOvr>
  <p:transition xmlns:ns1="http://schemas.openxmlformats.org/markup-compatibility/2006" spd="fast" ns1:Ignorable="p14">
    <p:fade/>
  </p:transition>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548640"/>
            <a:ext cx="128016" cy="603504"/>
          </a:xfrm>
          <a:prstGeom prst="rect">
            <a:avLst/>
          </a:prstGeom>
          <a:solidFill>
            <a:srgbClr val="1F6FEB"/>
          </a:solidFill>
          <a:ln>
            <a:noFill/>
          </a:ln>
          <a:effectLst/>
        </p:spPr>
        <p:txBody>
          <a:bodyPr rtlCol="0" anchor="ctr" wrap="square"/>
          <a:lstStyle/>
          <a:p>
            <a:pPr algn="ctr"/>
          </a:p>
        </p:txBody>
      </p:sp>
      <p:sp>
        <p:nvSpPr>
          <p:cNvPr id="3" name="TextBox 2"/>
          <p:cNvSpPr txBox="1"/>
          <p:nvPr/>
        </p:nvSpPr>
        <p:spPr>
          <a:xfrm>
            <a:off x="731520" y="457200"/>
            <a:ext cx="10789920" cy="310896"/>
          </a:xfrm>
          <a:prstGeom prst="rect">
            <a:avLst/>
          </a:prstGeom>
          <a:noFill/>
        </p:spPr>
        <p:txBody>
          <a:bodyPr wrap="square" lIns="0" rIns="0" tIns="0" bIns="0" anchor="t">
            <a:spAutoFit/>
          </a:bodyPr>
          <a:lstStyle/>
          <a:p>
            <a:pPr algn="l">
              <a:lnSpc>
                <a:spcPct val="100000"/>
              </a:lnSpc>
            </a:pPr>
            <a:r>
              <a:rPr sz="1100" b="1" i="0">
                <a:solidFill>
                  <a:srgbClr val="1F6FEB"/>
                </a:solidFill>
                <a:latin typeface="Arial"/>
              </a:rPr>
              <a:t>COURSE PORTAL</a:t>
            </a:r>
          </a:p>
        </p:txBody>
      </p:sp>
      <p:sp>
        <p:nvSpPr>
          <p:cNvPr id="4" name="TextBox 3"/>
          <p:cNvSpPr txBox="1"/>
          <p:nvPr/>
        </p:nvSpPr>
        <p:spPr>
          <a:xfrm>
            <a:off x="731520" y="749808"/>
            <a:ext cx="10972800" cy="475488"/>
          </a:xfrm>
          <a:prstGeom prst="rect">
            <a:avLst/>
          </a:prstGeom>
          <a:noFill/>
        </p:spPr>
        <p:txBody>
          <a:bodyPr wrap="square" lIns="0" rIns="0" tIns="0" bIns="0" anchor="t">
            <a:spAutoFit/>
          </a:bodyPr>
          <a:lstStyle/>
          <a:p>
            <a:pPr algn="l">
              <a:lnSpc>
                <a:spcPct val="95000"/>
              </a:lnSpc>
            </a:pPr>
            <a:r>
              <a:rPr sz="2900" b="1" i="0">
                <a:solidFill>
                  <a:srgbClr val="161B26"/>
                </a:solidFill>
                <a:latin typeface="Arial"/>
              </a:rPr>
              <a:t>Login to LMS and Download Course Material</a:t>
            </a:r>
          </a:p>
        </p:txBody>
      </p:sp>
      <p:sp>
        <p:nvSpPr>
          <p:cNvPr id="36" name="TextBox 35"/>
          <p:cNvSpPr txBox="1"/>
          <p:nvPr/>
        </p:nvSpPr>
        <p:spPr>
          <a:xfrm>
            <a:off x="777240" y="6089904"/>
            <a:ext cx="10698480" cy="256032"/>
          </a:xfrm>
          <a:prstGeom prst="rect">
            <a:avLst/>
          </a:prstGeom>
          <a:noFill/>
        </p:spPr>
        <p:txBody>
          <a:bodyPr wrap="square" lIns="0" rIns="0" tIns="0" bIns="0" anchor="t">
            <a:spAutoFit/>
          </a:bodyPr>
          <a:lstStyle/>
          <a:p>
            <a:pPr algn="l">
              <a:lnSpc>
                <a:spcPct val="100000"/>
              </a:lnSpc>
            </a:pPr>
            <a:r>
              <a:rPr sz="1050" b="1" i="0">
                <a:solidFill>
                  <a:srgbClr val="1F6FEB"/>
                </a:solidFill>
                <a:latin typeface="Arial"/>
                <a:hlinkClick r:id="rId2"/>
              </a:rPr>
              <a:t>https://lms-tms.tertiaryinfotech.com/</a:t>
            </a:r>
          </a:p>
        </p:txBody>
      </p:sp>
      <p:sp>
        <p:nvSpPr>
          <p:cNvPr id="37" name="TextBox 36"/>
          <p:cNvSpPr txBox="1"/>
          <p:nvPr/>
        </p:nvSpPr>
        <p:spPr>
          <a:xfrm>
            <a:off x="502920" y="6473952"/>
            <a:ext cx="6035040" cy="274320"/>
          </a:xfrm>
          <a:prstGeom prst="rect">
            <a:avLst/>
          </a:prstGeom>
          <a:noFill/>
        </p:spPr>
        <p:txBody>
          <a:bodyPr wrap="square" lIns="0" rIns="0" tIns="0" bIns="0" anchor="t">
            <a:spAutoFit/>
          </a:bodyPr>
          <a:lstStyle/>
          <a:p>
            <a:pPr algn="l">
              <a:lnSpc>
                <a:spcPct val="100000"/>
              </a:lnSpc>
            </a:pPr>
            <a:r>
              <a:rPr sz="850" b="0" i="0">
                <a:solidFill>
                  <a:srgbClr val="5B6372"/>
                </a:solidFill>
                <a:latin typeface="Arial"/>
              </a:rPr>
              <a:t>© 2026 Tertiary Infotech Academy Pte Ltd</a:t>
            </a:r>
          </a:p>
        </p:txBody>
      </p:sp>
      <p:sp>
        <p:nvSpPr>
          <p:cNvPr id="38" name="TextBox 37"/>
          <p:cNvSpPr txBox="1"/>
          <p:nvPr/>
        </p:nvSpPr>
        <p:spPr>
          <a:xfrm>
            <a:off x="5486400" y="6473952"/>
            <a:ext cx="5486400" cy="274320"/>
          </a:xfrm>
          <a:prstGeom prst="rect">
            <a:avLst/>
          </a:prstGeom>
          <a:noFill/>
        </p:spPr>
        <p:txBody>
          <a:bodyPr wrap="square" lIns="0" rIns="0" tIns="0" bIns="0" anchor="t">
            <a:spAutoFit/>
          </a:bodyPr>
          <a:lstStyle/>
          <a:p>
            <a:pPr algn="r">
              <a:lnSpc>
                <a:spcPct val="100000"/>
              </a:lnSpc>
            </a:pPr>
            <a:r>
              <a:rPr sz="850" b="0" i="0">
                <a:solidFill>
                  <a:srgbClr val="5B6372"/>
                </a:solidFill>
                <a:latin typeface="Arial"/>
              </a:rPr>
              <a:t>Kubernetes and Cloud Native Associate (KCNA) Training  ·  TGS-2023039343</a:t>
            </a:r>
          </a:p>
        </p:txBody>
      </p:sp>
      <p:sp>
        <p:nvSpPr>
          <p:cNvPr id="39" name="TextBox 38"/>
          <p:cNvSpPr txBox="1"/>
          <p:nvPr/>
        </p:nvSpPr>
        <p:spPr>
          <a:xfrm>
            <a:off x="10881360" y="6473952"/>
            <a:ext cx="822960" cy="274320"/>
          </a:xfrm>
          <a:prstGeom prst="rect">
            <a:avLst/>
          </a:prstGeom>
          <a:noFill/>
        </p:spPr>
        <p:txBody>
          <a:bodyPr wrap="square" lIns="0" rIns="0" tIns="0" bIns="0" anchor="t">
            <a:spAutoFit/>
          </a:bodyPr>
          <a:lstStyle/>
          <a:p>
            <a:pPr algn="r">
              <a:lnSpc>
                <a:spcPct val="100000"/>
              </a:lnSpc>
            </a:pPr>
            <a:r>
              <a:rPr sz="900" b="1" i="0">
                <a:solidFill>
                  <a:srgbClr val="5B6372"/>
                </a:solidFill>
                <a:latin typeface="Arial"/>
              </a:rPr>
              <a:t>13</a:t>
            </a:r>
          </a:p>
        </p:txBody>
      </p:sp>
      <p:pic>
        <p:nvPicPr>
          <p:cNvPr id="40" name="Picture 39" descr="ref_login.png"/>
          <p:cNvPicPr>
            <a:picLocks noChangeAspect="1"/>
          </p:cNvPicPr>
          <p:nvPr/>
        </p:nvPicPr>
        <p:blipFill>
          <a:blip r:embed="rId3"/>
          <a:stretch>
            <a:fillRect/>
          </a:stretch>
        </p:blipFill>
        <p:spPr>
          <a:xfrm>
            <a:off x="2047675" y="1431036"/>
            <a:ext cx="8096345" cy="4027932"/>
          </a:xfrm>
          <a:prstGeom prst="rect">
            <a:avLst/>
          </a:prstGeom>
          <a:ln w="12700">
            <a:solidFill>
              <a:srgbClr val="E2E8F0"/>
            </a:solidFill>
          </a:ln>
        </p:spPr>
      </p:pic>
      <p:sp>
        <p:nvSpPr>
          <p:cNvPr id="41" name="TextBox 40"/>
          <p:cNvSpPr txBox="1"/>
          <p:nvPr/>
        </p:nvSpPr>
        <p:spPr>
          <a:xfrm>
            <a:off x="731520" y="5541264"/>
            <a:ext cx="1072865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